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48"/>
  </p:notesMasterIdLst>
  <p:handoutMasterIdLst>
    <p:handoutMasterId r:id="rId49"/>
  </p:handoutMasterIdLst>
  <p:sldIdLst>
    <p:sldId id="410" r:id="rId5"/>
    <p:sldId id="445" r:id="rId6"/>
    <p:sldId id="383" r:id="rId7"/>
    <p:sldId id="409" r:id="rId8"/>
    <p:sldId id="391" r:id="rId9"/>
    <p:sldId id="407" r:id="rId10"/>
    <p:sldId id="411" r:id="rId11"/>
    <p:sldId id="408" r:id="rId12"/>
    <p:sldId id="412" r:id="rId13"/>
    <p:sldId id="416" r:id="rId14"/>
    <p:sldId id="415" r:id="rId15"/>
    <p:sldId id="414" r:id="rId16"/>
    <p:sldId id="417" r:id="rId17"/>
    <p:sldId id="418" r:id="rId18"/>
    <p:sldId id="389" r:id="rId19"/>
    <p:sldId id="419" r:id="rId20"/>
    <p:sldId id="420" r:id="rId21"/>
    <p:sldId id="421" r:id="rId22"/>
    <p:sldId id="422" r:id="rId23"/>
    <p:sldId id="423" r:id="rId24"/>
    <p:sldId id="424" r:id="rId25"/>
    <p:sldId id="425" r:id="rId26"/>
    <p:sldId id="426" r:id="rId27"/>
    <p:sldId id="427" r:id="rId28"/>
    <p:sldId id="428" r:id="rId29"/>
    <p:sldId id="438" r:id="rId30"/>
    <p:sldId id="429" r:id="rId31"/>
    <p:sldId id="439" r:id="rId32"/>
    <p:sldId id="430" r:id="rId33"/>
    <p:sldId id="440" r:id="rId34"/>
    <p:sldId id="431" r:id="rId35"/>
    <p:sldId id="441" r:id="rId36"/>
    <p:sldId id="432" r:id="rId37"/>
    <p:sldId id="433" r:id="rId38"/>
    <p:sldId id="442" r:id="rId39"/>
    <p:sldId id="434" r:id="rId40"/>
    <p:sldId id="443" r:id="rId41"/>
    <p:sldId id="435" r:id="rId42"/>
    <p:sldId id="436" r:id="rId43"/>
    <p:sldId id="437" r:id="rId44"/>
    <p:sldId id="444" r:id="rId45"/>
    <p:sldId id="406" r:id="rId46"/>
    <p:sldId id="39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6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27" autoAdjust="0"/>
  </p:normalViewPr>
  <p:slideViewPr>
    <p:cSldViewPr snapToGrid="0">
      <p:cViewPr varScale="1">
        <p:scale>
          <a:sx n="82" d="100"/>
          <a:sy n="82" d="100"/>
        </p:scale>
        <p:origin x="672"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9/26/2025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9/26/2025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9444-90D8-7635-D92F-B25B902F6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D8F4A-407E-1D24-C7A4-96BD72AE4B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2D085-D1BB-3E3B-964F-F11889DE51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622FE5-52D5-D243-6853-DE7CAB748C6D}"/>
              </a:ext>
            </a:extLst>
          </p:cNvPr>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498601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2730433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85BBE-DD67-53B3-5F5B-7922689E5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04117-4980-DAEA-C26F-B656457838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382BA-03E1-D63C-7154-B31A2FF6D9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2D44C4-C6BD-515F-2497-2DD5CC9A1A48}"/>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1841166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A8E2-D9EE-87A6-9188-DF75D71DB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9BF87-3EC8-E590-965F-96A409B74F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B0171-F6F0-BCF2-D1D0-F81060212F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BFE202-B7F3-2008-1D1C-BF66AC724348}"/>
              </a:ext>
            </a:extLst>
          </p:cNvPr>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3481652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F9E69-16B0-CE6D-6F85-7E370CD18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9CA3B4-6352-F3B6-617A-F50D6831C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F7B4D-9737-75F8-F3F9-A593CE1788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42523-86BE-F1D8-49E9-E907F20A1177}"/>
              </a:ext>
            </a:extLst>
          </p:cNvPr>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3022913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7ABFF-D985-20A4-9B66-5FC2EBE06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44674-B9AA-0764-6473-53589BF724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851E7-DEE8-7D86-D5A1-C9BF61AE7D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1A5625-3E4E-6E6A-C5EA-3838C10C4367}"/>
              </a:ext>
            </a:extLst>
          </p:cNvPr>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924680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C39CE-2534-D14C-8322-A7D5530C2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CE0C5-90FB-FB60-CF1E-CAE5706CF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AD07F-9A89-2DAF-7E26-5334C124B4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A450AB-EE75-43BF-ABFB-D887F7EC46CE}"/>
              </a:ext>
            </a:extLst>
          </p:cNvPr>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1815800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6E2CB-29FF-6E62-B18E-6BBC783FB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5820B-8AE6-0D06-8A8D-6AC99BDB8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67BD4-63A8-A703-A0BE-543513CF4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18281C-4097-5A60-8468-867849C17350}"/>
              </a:ext>
            </a:extLst>
          </p:cNvPr>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1933839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D6BA-9603-1D1A-BC7D-58AA9C6C9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4C33D-6A23-2C8A-472E-A55B576FD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D82DE-82AB-F5AA-45F9-F59ABDBC1A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0201AB-3733-166C-2388-2403A4014E41}"/>
              </a:ext>
            </a:extLst>
          </p:cNvPr>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1211242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8B34C-0427-1C8C-46FB-D56633A7F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7A9A2-F889-8699-7FF3-8D934B691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6C913-AE68-A168-2FEF-D11F3A4F63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48DE77-AABC-9609-6348-B575824E62E9}"/>
              </a:ext>
            </a:extLst>
          </p:cNvPr>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3428142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7F777-D4C0-A541-1B38-20F8F7D8C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F09094-D203-06A8-9523-0FAD5C66C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439F5F-2346-049C-4A33-C90F7218F6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AA5A26-D403-448E-0F01-7BEA53555DA6}"/>
              </a:ext>
            </a:extLst>
          </p:cNvPr>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1718568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1746-FAB6-7857-3F81-0165D0D8B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63D51-5CFC-280B-24B3-6F4617BFF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02E19-F618-FCAE-A5BC-D567ED1D15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7BAE54-C459-415E-13CA-6C05358011A4}"/>
              </a:ext>
            </a:extLst>
          </p:cNvPr>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2620527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F857F-BF91-0A99-DE87-E1A64BD46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6B1F6-6F95-B47E-2820-810628C00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2FD2C-01B0-B714-7D4A-FB56935B33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DF1857-63F9-9BCE-04E0-A05C2A8AEBAE}"/>
              </a:ext>
            </a:extLst>
          </p:cNvPr>
          <p:cNvSpPr>
            <a:spLocks noGrp="1"/>
          </p:cNvSpPr>
          <p:nvPr>
            <p:ph type="sldNum" sz="quarter" idx="5"/>
          </p:nvPr>
        </p:nvSpPr>
        <p:spPr/>
        <p:txBody>
          <a:bodyPr/>
          <a:lstStyle/>
          <a:p>
            <a:fld id="{A89C7E07-3C67-C64C-8DA0-0404F6303970}" type="slidenum">
              <a:rPr lang="en-US" smtClean="0"/>
              <a:t>19</a:t>
            </a:fld>
            <a:endParaRPr lang="en-US" dirty="0"/>
          </a:p>
        </p:txBody>
      </p:sp>
    </p:spTree>
    <p:extLst>
      <p:ext uri="{BB962C8B-B14F-4D97-AF65-F5344CB8AC3E}">
        <p14:creationId xmlns:p14="http://schemas.microsoft.com/office/powerpoint/2010/main" val="456487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3189-746A-8DDD-0B1F-C4EC8D38A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086D7-0915-AD05-F0A7-17BEC5A40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2F3D6-4131-D8EA-B0B9-E97DD4A832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8E2136-E93A-FFF6-2885-EDFEBA8E4F22}"/>
              </a:ext>
            </a:extLst>
          </p:cNvPr>
          <p:cNvSpPr>
            <a:spLocks noGrp="1"/>
          </p:cNvSpPr>
          <p:nvPr>
            <p:ph type="sldNum" sz="quarter" idx="5"/>
          </p:nvPr>
        </p:nvSpPr>
        <p:spPr/>
        <p:txBody>
          <a:bodyPr/>
          <a:lstStyle/>
          <a:p>
            <a:fld id="{A89C7E07-3C67-C64C-8DA0-0404F6303970}" type="slidenum">
              <a:rPr lang="en-US" smtClean="0"/>
              <a:t>20</a:t>
            </a:fld>
            <a:endParaRPr lang="en-US" dirty="0"/>
          </a:p>
        </p:txBody>
      </p:sp>
    </p:spTree>
    <p:extLst>
      <p:ext uri="{BB962C8B-B14F-4D97-AF65-F5344CB8AC3E}">
        <p14:creationId xmlns:p14="http://schemas.microsoft.com/office/powerpoint/2010/main" val="17478719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5BA3-0778-AA9E-AB3D-2046DBE7F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25968-E66E-738B-8F43-F071339F9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6EBBD-726D-1816-42CB-4FA3B4AC1F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2DE6F4-AE69-3A41-85C1-58628BE8BDA0}"/>
              </a:ext>
            </a:extLst>
          </p:cNvPr>
          <p:cNvSpPr>
            <a:spLocks noGrp="1"/>
          </p:cNvSpPr>
          <p:nvPr>
            <p:ph type="sldNum" sz="quarter" idx="5"/>
          </p:nvPr>
        </p:nvSpPr>
        <p:spPr/>
        <p:txBody>
          <a:bodyPr/>
          <a:lstStyle/>
          <a:p>
            <a:fld id="{A89C7E07-3C67-C64C-8DA0-0404F6303970}" type="slidenum">
              <a:rPr lang="en-US" smtClean="0"/>
              <a:t>21</a:t>
            </a:fld>
            <a:endParaRPr lang="en-US" dirty="0"/>
          </a:p>
        </p:txBody>
      </p:sp>
    </p:spTree>
    <p:extLst>
      <p:ext uri="{BB962C8B-B14F-4D97-AF65-F5344CB8AC3E}">
        <p14:creationId xmlns:p14="http://schemas.microsoft.com/office/powerpoint/2010/main" val="3310343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0EB8E-E590-E6CB-3639-CDF43AADB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E961A-070E-A3FE-7157-AF07B498E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A89B9-42C8-3453-94BE-626FF6D45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CA240F-92A4-32DB-4A1C-A0801831616D}"/>
              </a:ext>
            </a:extLst>
          </p:cNvPr>
          <p:cNvSpPr>
            <a:spLocks noGrp="1"/>
          </p:cNvSpPr>
          <p:nvPr>
            <p:ph type="sldNum" sz="quarter" idx="5"/>
          </p:nvPr>
        </p:nvSpPr>
        <p:spPr/>
        <p:txBody>
          <a:bodyPr/>
          <a:lstStyle/>
          <a:p>
            <a:fld id="{A89C7E07-3C67-C64C-8DA0-0404F6303970}" type="slidenum">
              <a:rPr lang="en-US" smtClean="0"/>
              <a:t>22</a:t>
            </a:fld>
            <a:endParaRPr lang="en-US" dirty="0"/>
          </a:p>
        </p:txBody>
      </p:sp>
    </p:spTree>
    <p:extLst>
      <p:ext uri="{BB962C8B-B14F-4D97-AF65-F5344CB8AC3E}">
        <p14:creationId xmlns:p14="http://schemas.microsoft.com/office/powerpoint/2010/main" val="6458691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1B607-AA6A-686D-CCF2-10541DEC8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7A925-F69A-CE0F-901B-6530C08B5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8BAE2-0E07-6F21-9D73-5C12E842EB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3A64E2-0A92-D1EC-3666-67BB098ADEC0}"/>
              </a:ext>
            </a:extLst>
          </p:cNvPr>
          <p:cNvSpPr>
            <a:spLocks noGrp="1"/>
          </p:cNvSpPr>
          <p:nvPr>
            <p:ph type="sldNum" sz="quarter" idx="5"/>
          </p:nvPr>
        </p:nvSpPr>
        <p:spPr/>
        <p:txBody>
          <a:bodyPr/>
          <a:lstStyle/>
          <a:p>
            <a:fld id="{A89C7E07-3C67-C64C-8DA0-0404F6303970}" type="slidenum">
              <a:rPr lang="en-US" smtClean="0"/>
              <a:t>23</a:t>
            </a:fld>
            <a:endParaRPr lang="en-US" dirty="0"/>
          </a:p>
        </p:txBody>
      </p:sp>
    </p:spTree>
    <p:extLst>
      <p:ext uri="{BB962C8B-B14F-4D97-AF65-F5344CB8AC3E}">
        <p14:creationId xmlns:p14="http://schemas.microsoft.com/office/powerpoint/2010/main" val="3801369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BA2BC-F5D6-D8C7-1B07-13515ADBA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4F285-45E9-00B5-8854-09E269E4E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3FDC6-4669-E63F-006E-02D77ABC0F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9749FD-0733-7441-DAF1-C39F8C9D9321}"/>
              </a:ext>
            </a:extLst>
          </p:cNvPr>
          <p:cNvSpPr>
            <a:spLocks noGrp="1"/>
          </p:cNvSpPr>
          <p:nvPr>
            <p:ph type="sldNum" sz="quarter" idx="5"/>
          </p:nvPr>
        </p:nvSpPr>
        <p:spPr/>
        <p:txBody>
          <a:bodyPr/>
          <a:lstStyle/>
          <a:p>
            <a:fld id="{A89C7E07-3C67-C64C-8DA0-0404F6303970}" type="slidenum">
              <a:rPr lang="en-US" smtClean="0"/>
              <a:t>24</a:t>
            </a:fld>
            <a:endParaRPr lang="en-US" dirty="0"/>
          </a:p>
        </p:txBody>
      </p:sp>
    </p:spTree>
    <p:extLst>
      <p:ext uri="{BB962C8B-B14F-4D97-AF65-F5344CB8AC3E}">
        <p14:creationId xmlns:p14="http://schemas.microsoft.com/office/powerpoint/2010/main" val="638153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55CD-4974-99BB-8137-F054C2FFB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33DFB-5794-A91E-102F-81D089FD3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8C725-6DFB-2EFD-E142-40D83D8897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076F30-0D20-4193-86B9-DB807B9FAC08}"/>
              </a:ext>
            </a:extLst>
          </p:cNvPr>
          <p:cNvSpPr>
            <a:spLocks noGrp="1"/>
          </p:cNvSpPr>
          <p:nvPr>
            <p:ph type="sldNum" sz="quarter" idx="5"/>
          </p:nvPr>
        </p:nvSpPr>
        <p:spPr/>
        <p:txBody>
          <a:bodyPr/>
          <a:lstStyle/>
          <a:p>
            <a:fld id="{A89C7E07-3C67-C64C-8DA0-0404F6303970}" type="slidenum">
              <a:rPr lang="en-US" smtClean="0"/>
              <a:t>25</a:t>
            </a:fld>
            <a:endParaRPr lang="en-US" dirty="0"/>
          </a:p>
        </p:txBody>
      </p:sp>
    </p:spTree>
    <p:extLst>
      <p:ext uri="{BB962C8B-B14F-4D97-AF65-F5344CB8AC3E}">
        <p14:creationId xmlns:p14="http://schemas.microsoft.com/office/powerpoint/2010/main" val="1161803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CA25B-0FB7-3455-75C0-FA33D8B41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F2D92-5C57-2948-7B5D-2866E24716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2A74D-683A-A524-8DE9-B83787F8DE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01CA88-93A2-E9EE-6285-E36B47F9326B}"/>
              </a:ext>
            </a:extLst>
          </p:cNvPr>
          <p:cNvSpPr>
            <a:spLocks noGrp="1"/>
          </p:cNvSpPr>
          <p:nvPr>
            <p:ph type="sldNum" sz="quarter" idx="5"/>
          </p:nvPr>
        </p:nvSpPr>
        <p:spPr/>
        <p:txBody>
          <a:bodyPr/>
          <a:lstStyle/>
          <a:p>
            <a:fld id="{A89C7E07-3C67-C64C-8DA0-0404F6303970}" type="slidenum">
              <a:rPr lang="en-US" smtClean="0"/>
              <a:t>26</a:t>
            </a:fld>
            <a:endParaRPr lang="en-US" dirty="0"/>
          </a:p>
        </p:txBody>
      </p:sp>
    </p:spTree>
    <p:extLst>
      <p:ext uri="{BB962C8B-B14F-4D97-AF65-F5344CB8AC3E}">
        <p14:creationId xmlns:p14="http://schemas.microsoft.com/office/powerpoint/2010/main" val="32309376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9FD9D-562B-0FDC-49FC-E561395DE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87DCA-91EA-1073-2F41-0BFD4DFE7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16BA55-82AF-DC64-9740-27B055D763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61E9B3-FF83-FB6C-763D-D7A267EED032}"/>
              </a:ext>
            </a:extLst>
          </p:cNvPr>
          <p:cNvSpPr>
            <a:spLocks noGrp="1"/>
          </p:cNvSpPr>
          <p:nvPr>
            <p:ph type="sldNum" sz="quarter" idx="5"/>
          </p:nvPr>
        </p:nvSpPr>
        <p:spPr/>
        <p:txBody>
          <a:bodyPr/>
          <a:lstStyle/>
          <a:p>
            <a:fld id="{A89C7E07-3C67-C64C-8DA0-0404F6303970}" type="slidenum">
              <a:rPr lang="en-US" smtClean="0"/>
              <a:t>27</a:t>
            </a:fld>
            <a:endParaRPr lang="en-US" dirty="0"/>
          </a:p>
        </p:txBody>
      </p:sp>
    </p:spTree>
    <p:extLst>
      <p:ext uri="{BB962C8B-B14F-4D97-AF65-F5344CB8AC3E}">
        <p14:creationId xmlns:p14="http://schemas.microsoft.com/office/powerpoint/2010/main" val="31407571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6E45-2B13-859C-0C5F-8566F9905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4E7EE-67EB-7DD8-5C03-598548786F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9DFE2-7F44-BB81-E1DB-EF89D8315A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7312C6-93F1-8115-9CCD-297F45AE67BE}"/>
              </a:ext>
            </a:extLst>
          </p:cNvPr>
          <p:cNvSpPr>
            <a:spLocks noGrp="1"/>
          </p:cNvSpPr>
          <p:nvPr>
            <p:ph type="sldNum" sz="quarter" idx="5"/>
          </p:nvPr>
        </p:nvSpPr>
        <p:spPr/>
        <p:txBody>
          <a:bodyPr/>
          <a:lstStyle/>
          <a:p>
            <a:fld id="{A89C7E07-3C67-C64C-8DA0-0404F6303970}" type="slidenum">
              <a:rPr lang="en-US" smtClean="0"/>
              <a:t>28</a:t>
            </a:fld>
            <a:endParaRPr lang="en-US" dirty="0"/>
          </a:p>
        </p:txBody>
      </p:sp>
    </p:spTree>
    <p:extLst>
      <p:ext uri="{BB962C8B-B14F-4D97-AF65-F5344CB8AC3E}">
        <p14:creationId xmlns:p14="http://schemas.microsoft.com/office/powerpoint/2010/main" val="2359617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DCD7E-B805-A5A8-FB66-08DBC655D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074D1-D6DA-733E-209B-74F0F3EED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CAAC2A-E0EF-5845-4835-BC257D2D8F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A7BC68-619F-A0EE-35C0-580A4581E513}"/>
              </a:ext>
            </a:extLst>
          </p:cNvPr>
          <p:cNvSpPr>
            <a:spLocks noGrp="1"/>
          </p:cNvSpPr>
          <p:nvPr>
            <p:ph type="sldNum" sz="quarter" idx="5"/>
          </p:nvPr>
        </p:nvSpPr>
        <p:spPr/>
        <p:txBody>
          <a:bodyPr/>
          <a:lstStyle/>
          <a:p>
            <a:fld id="{A89C7E07-3C67-C64C-8DA0-0404F6303970}" type="slidenum">
              <a:rPr lang="en-US" smtClean="0"/>
              <a:t>29</a:t>
            </a:fld>
            <a:endParaRPr lang="en-US" dirty="0"/>
          </a:p>
        </p:txBody>
      </p:sp>
    </p:spTree>
    <p:extLst>
      <p:ext uri="{BB962C8B-B14F-4D97-AF65-F5344CB8AC3E}">
        <p14:creationId xmlns:p14="http://schemas.microsoft.com/office/powerpoint/2010/main" val="27939291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2F6CF-4407-821C-13A0-5A35942B6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30183-16CB-2E73-6887-706A04F07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F422B-B2A5-4CE7-63BB-D7215D88B6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DD3275-1F2F-5577-6CDF-7492985B4C06}"/>
              </a:ext>
            </a:extLst>
          </p:cNvPr>
          <p:cNvSpPr>
            <a:spLocks noGrp="1"/>
          </p:cNvSpPr>
          <p:nvPr>
            <p:ph type="sldNum" sz="quarter" idx="5"/>
          </p:nvPr>
        </p:nvSpPr>
        <p:spPr/>
        <p:txBody>
          <a:bodyPr/>
          <a:lstStyle/>
          <a:p>
            <a:fld id="{A89C7E07-3C67-C64C-8DA0-0404F6303970}" type="slidenum">
              <a:rPr lang="en-US" smtClean="0"/>
              <a:t>30</a:t>
            </a:fld>
            <a:endParaRPr lang="en-US" dirty="0"/>
          </a:p>
        </p:txBody>
      </p:sp>
    </p:spTree>
    <p:extLst>
      <p:ext uri="{BB962C8B-B14F-4D97-AF65-F5344CB8AC3E}">
        <p14:creationId xmlns:p14="http://schemas.microsoft.com/office/powerpoint/2010/main" val="7907153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F3A2C-9043-8C9A-45DF-4D7AE64CA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0B1A2-00AC-7C29-B08E-F94E3EF93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FEA65-40C6-83B9-4921-79FCA63E12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661096-325C-798E-A8B9-299B673C973F}"/>
              </a:ext>
            </a:extLst>
          </p:cNvPr>
          <p:cNvSpPr>
            <a:spLocks noGrp="1"/>
          </p:cNvSpPr>
          <p:nvPr>
            <p:ph type="sldNum" sz="quarter" idx="5"/>
          </p:nvPr>
        </p:nvSpPr>
        <p:spPr/>
        <p:txBody>
          <a:bodyPr/>
          <a:lstStyle/>
          <a:p>
            <a:fld id="{A89C7E07-3C67-C64C-8DA0-0404F6303970}" type="slidenum">
              <a:rPr lang="en-US" smtClean="0"/>
              <a:t>31</a:t>
            </a:fld>
            <a:endParaRPr lang="en-US" dirty="0"/>
          </a:p>
        </p:txBody>
      </p:sp>
    </p:spTree>
    <p:extLst>
      <p:ext uri="{BB962C8B-B14F-4D97-AF65-F5344CB8AC3E}">
        <p14:creationId xmlns:p14="http://schemas.microsoft.com/office/powerpoint/2010/main" val="2906660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52E2D-5A1E-C6B3-1972-F1002CC20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368F1-A63C-0C92-D149-83998EF0C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C8A9B-4ADF-0B28-0CD5-89F6C2927D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F4572-B558-2680-78C3-BF6483BBCF05}"/>
              </a:ext>
            </a:extLst>
          </p:cNvPr>
          <p:cNvSpPr>
            <a:spLocks noGrp="1"/>
          </p:cNvSpPr>
          <p:nvPr>
            <p:ph type="sldNum" sz="quarter" idx="5"/>
          </p:nvPr>
        </p:nvSpPr>
        <p:spPr/>
        <p:txBody>
          <a:bodyPr/>
          <a:lstStyle/>
          <a:p>
            <a:fld id="{A89C7E07-3C67-C64C-8DA0-0404F6303970}" type="slidenum">
              <a:rPr lang="en-US" smtClean="0"/>
              <a:t>32</a:t>
            </a:fld>
            <a:endParaRPr lang="en-US" dirty="0"/>
          </a:p>
        </p:txBody>
      </p:sp>
    </p:spTree>
    <p:extLst>
      <p:ext uri="{BB962C8B-B14F-4D97-AF65-F5344CB8AC3E}">
        <p14:creationId xmlns:p14="http://schemas.microsoft.com/office/powerpoint/2010/main" val="26379281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58F34-1DBB-974A-4FB1-8DA527871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7EDF2-A53C-0BD7-0512-4E6F0C92C1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658E5-C8B6-2EAA-B9D5-1ECFBE836A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59864F-34CD-99D9-F662-76686F6ECB10}"/>
              </a:ext>
            </a:extLst>
          </p:cNvPr>
          <p:cNvSpPr>
            <a:spLocks noGrp="1"/>
          </p:cNvSpPr>
          <p:nvPr>
            <p:ph type="sldNum" sz="quarter" idx="5"/>
          </p:nvPr>
        </p:nvSpPr>
        <p:spPr/>
        <p:txBody>
          <a:bodyPr/>
          <a:lstStyle/>
          <a:p>
            <a:fld id="{A89C7E07-3C67-C64C-8DA0-0404F6303970}" type="slidenum">
              <a:rPr lang="en-US" smtClean="0"/>
              <a:t>33</a:t>
            </a:fld>
            <a:endParaRPr lang="en-US" dirty="0"/>
          </a:p>
        </p:txBody>
      </p:sp>
    </p:spTree>
    <p:extLst>
      <p:ext uri="{BB962C8B-B14F-4D97-AF65-F5344CB8AC3E}">
        <p14:creationId xmlns:p14="http://schemas.microsoft.com/office/powerpoint/2010/main" val="1393746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52B1B-E375-4553-446E-EA8307087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116DC-48EC-8E6D-800B-19C059951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1EA95-2614-C7FE-8450-F9C15DB778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67F4DE-C765-7DFC-E91D-CBE3F97B6CFC}"/>
              </a:ext>
            </a:extLst>
          </p:cNvPr>
          <p:cNvSpPr>
            <a:spLocks noGrp="1"/>
          </p:cNvSpPr>
          <p:nvPr>
            <p:ph type="sldNum" sz="quarter" idx="5"/>
          </p:nvPr>
        </p:nvSpPr>
        <p:spPr/>
        <p:txBody>
          <a:bodyPr/>
          <a:lstStyle/>
          <a:p>
            <a:fld id="{A89C7E07-3C67-C64C-8DA0-0404F6303970}" type="slidenum">
              <a:rPr lang="en-US" smtClean="0"/>
              <a:t>34</a:t>
            </a:fld>
            <a:endParaRPr lang="en-US" dirty="0"/>
          </a:p>
        </p:txBody>
      </p:sp>
    </p:spTree>
    <p:extLst>
      <p:ext uri="{BB962C8B-B14F-4D97-AF65-F5344CB8AC3E}">
        <p14:creationId xmlns:p14="http://schemas.microsoft.com/office/powerpoint/2010/main" val="3468199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3A251-8431-8EEA-5E42-F48F7F77C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5FBB9A-7357-7348-382A-ED82042BE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5913CB-54FD-BFAB-12E5-37E70AD2C4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91CC4D-78B5-62C5-D67D-FF7C7AD79F15}"/>
              </a:ext>
            </a:extLst>
          </p:cNvPr>
          <p:cNvSpPr>
            <a:spLocks noGrp="1"/>
          </p:cNvSpPr>
          <p:nvPr>
            <p:ph type="sldNum" sz="quarter" idx="5"/>
          </p:nvPr>
        </p:nvSpPr>
        <p:spPr/>
        <p:txBody>
          <a:bodyPr/>
          <a:lstStyle/>
          <a:p>
            <a:fld id="{A89C7E07-3C67-C64C-8DA0-0404F6303970}" type="slidenum">
              <a:rPr lang="en-US" smtClean="0"/>
              <a:t>35</a:t>
            </a:fld>
            <a:endParaRPr lang="en-US" dirty="0"/>
          </a:p>
        </p:txBody>
      </p:sp>
    </p:spTree>
    <p:extLst>
      <p:ext uri="{BB962C8B-B14F-4D97-AF65-F5344CB8AC3E}">
        <p14:creationId xmlns:p14="http://schemas.microsoft.com/office/powerpoint/2010/main" val="29277044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36CE3-8548-91D9-06DE-6AC358E70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68A11-B5AB-8A87-C759-87AC0D6B5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DCD61-C9E9-1112-F0A9-DCC81661CC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2E317D-5D2C-894B-E259-6603CD90DFD1}"/>
              </a:ext>
            </a:extLst>
          </p:cNvPr>
          <p:cNvSpPr>
            <a:spLocks noGrp="1"/>
          </p:cNvSpPr>
          <p:nvPr>
            <p:ph type="sldNum" sz="quarter" idx="5"/>
          </p:nvPr>
        </p:nvSpPr>
        <p:spPr/>
        <p:txBody>
          <a:bodyPr/>
          <a:lstStyle/>
          <a:p>
            <a:fld id="{A89C7E07-3C67-C64C-8DA0-0404F6303970}" type="slidenum">
              <a:rPr lang="en-US" smtClean="0"/>
              <a:t>36</a:t>
            </a:fld>
            <a:endParaRPr lang="en-US" dirty="0"/>
          </a:p>
        </p:txBody>
      </p:sp>
    </p:spTree>
    <p:extLst>
      <p:ext uri="{BB962C8B-B14F-4D97-AF65-F5344CB8AC3E}">
        <p14:creationId xmlns:p14="http://schemas.microsoft.com/office/powerpoint/2010/main" val="39073174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71EB-F6AA-2C94-E071-3ECD7AAD7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C4F7A-BD34-AB5E-8603-D49B03A6D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14A5F-F24C-DDB6-87EA-753D266EBD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B244D8-EEDC-D868-545C-02F28DB23603}"/>
              </a:ext>
            </a:extLst>
          </p:cNvPr>
          <p:cNvSpPr>
            <a:spLocks noGrp="1"/>
          </p:cNvSpPr>
          <p:nvPr>
            <p:ph type="sldNum" sz="quarter" idx="5"/>
          </p:nvPr>
        </p:nvSpPr>
        <p:spPr/>
        <p:txBody>
          <a:bodyPr/>
          <a:lstStyle/>
          <a:p>
            <a:fld id="{A89C7E07-3C67-C64C-8DA0-0404F6303970}" type="slidenum">
              <a:rPr lang="en-US" smtClean="0"/>
              <a:t>37</a:t>
            </a:fld>
            <a:endParaRPr lang="en-US" dirty="0"/>
          </a:p>
        </p:txBody>
      </p:sp>
    </p:spTree>
    <p:extLst>
      <p:ext uri="{BB962C8B-B14F-4D97-AF65-F5344CB8AC3E}">
        <p14:creationId xmlns:p14="http://schemas.microsoft.com/office/powerpoint/2010/main" val="3165130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2BADA-5C08-0633-CEC3-0B1793044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DB1CE-B14C-4F32-4FFB-3F264C4C3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654F5-B6A8-5A23-32B7-1C5724096C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F2F1D7-9289-14CE-90D0-2E6F3476E5B0}"/>
              </a:ext>
            </a:extLst>
          </p:cNvPr>
          <p:cNvSpPr>
            <a:spLocks noGrp="1"/>
          </p:cNvSpPr>
          <p:nvPr>
            <p:ph type="sldNum" sz="quarter" idx="5"/>
          </p:nvPr>
        </p:nvSpPr>
        <p:spPr/>
        <p:txBody>
          <a:bodyPr/>
          <a:lstStyle/>
          <a:p>
            <a:fld id="{A89C7E07-3C67-C64C-8DA0-0404F6303970}" type="slidenum">
              <a:rPr lang="en-US" smtClean="0"/>
              <a:t>38</a:t>
            </a:fld>
            <a:endParaRPr lang="en-US" dirty="0"/>
          </a:p>
        </p:txBody>
      </p:sp>
    </p:spTree>
    <p:extLst>
      <p:ext uri="{BB962C8B-B14F-4D97-AF65-F5344CB8AC3E}">
        <p14:creationId xmlns:p14="http://schemas.microsoft.com/office/powerpoint/2010/main" val="37293116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086D0-95E0-A3EC-9CF3-FE0483924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C37F4-8866-7B26-EAD1-72383C3ED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7C482-F2E8-2F66-C0F9-7914799786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417E32-F65D-8214-69F6-4C7349BACA00}"/>
              </a:ext>
            </a:extLst>
          </p:cNvPr>
          <p:cNvSpPr>
            <a:spLocks noGrp="1"/>
          </p:cNvSpPr>
          <p:nvPr>
            <p:ph type="sldNum" sz="quarter" idx="5"/>
          </p:nvPr>
        </p:nvSpPr>
        <p:spPr/>
        <p:txBody>
          <a:bodyPr/>
          <a:lstStyle/>
          <a:p>
            <a:fld id="{A89C7E07-3C67-C64C-8DA0-0404F6303970}" type="slidenum">
              <a:rPr lang="en-US" smtClean="0"/>
              <a:t>39</a:t>
            </a:fld>
            <a:endParaRPr lang="en-US" dirty="0"/>
          </a:p>
        </p:txBody>
      </p:sp>
    </p:spTree>
    <p:extLst>
      <p:ext uri="{BB962C8B-B14F-4D97-AF65-F5344CB8AC3E}">
        <p14:creationId xmlns:p14="http://schemas.microsoft.com/office/powerpoint/2010/main" val="11319185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B6DDA-E80A-0E6C-ED44-4A56B476E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074B0-8FBB-3DCF-8105-02CF4E7B02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B0EE8-3DF4-847C-65F4-0613B13F11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6C03A-22B7-15EE-6BE2-3E7394B28A7E}"/>
              </a:ext>
            </a:extLst>
          </p:cNvPr>
          <p:cNvSpPr>
            <a:spLocks noGrp="1"/>
          </p:cNvSpPr>
          <p:nvPr>
            <p:ph type="sldNum" sz="quarter" idx="5"/>
          </p:nvPr>
        </p:nvSpPr>
        <p:spPr/>
        <p:txBody>
          <a:bodyPr/>
          <a:lstStyle/>
          <a:p>
            <a:fld id="{A89C7E07-3C67-C64C-8DA0-0404F6303970}" type="slidenum">
              <a:rPr lang="en-US" smtClean="0"/>
              <a:t>40</a:t>
            </a:fld>
            <a:endParaRPr lang="en-US" dirty="0"/>
          </a:p>
        </p:txBody>
      </p:sp>
    </p:spTree>
    <p:extLst>
      <p:ext uri="{BB962C8B-B14F-4D97-AF65-F5344CB8AC3E}">
        <p14:creationId xmlns:p14="http://schemas.microsoft.com/office/powerpoint/2010/main" val="7484750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EDD15-30E1-16EF-56B8-D134D85647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061A5-E7C6-0676-CC61-94167CDE7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8C0FE-A731-0E69-7801-36243E5D22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65C503-8847-1653-EDDF-D42719A9719C}"/>
              </a:ext>
            </a:extLst>
          </p:cNvPr>
          <p:cNvSpPr>
            <a:spLocks noGrp="1"/>
          </p:cNvSpPr>
          <p:nvPr>
            <p:ph type="sldNum" sz="quarter" idx="5"/>
          </p:nvPr>
        </p:nvSpPr>
        <p:spPr/>
        <p:txBody>
          <a:bodyPr/>
          <a:lstStyle/>
          <a:p>
            <a:fld id="{A89C7E07-3C67-C64C-8DA0-0404F6303970}" type="slidenum">
              <a:rPr lang="en-US" smtClean="0"/>
              <a:t>41</a:t>
            </a:fld>
            <a:endParaRPr lang="en-US" dirty="0"/>
          </a:p>
        </p:txBody>
      </p:sp>
    </p:spTree>
    <p:extLst>
      <p:ext uri="{BB962C8B-B14F-4D97-AF65-F5344CB8AC3E}">
        <p14:creationId xmlns:p14="http://schemas.microsoft.com/office/powerpoint/2010/main" val="36129223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42</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43</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example.com/"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25807" y="2719346"/>
            <a:ext cx="5486400" cy="1166854"/>
          </a:xfrm>
        </p:spPr>
        <p:txBody>
          <a:bodyPr/>
          <a:lstStyle/>
          <a:p>
            <a:r>
              <a:rPr lang="en-US" sz="4000" dirty="0" err="1">
                <a:latin typeface="Cambria" panose="02040503050406030204" pitchFamily="18" charset="0"/>
                <a:ea typeface="Cambria" panose="02040503050406030204" pitchFamily="18" charset="0"/>
              </a:rPr>
              <a:t>Tìm</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hiểu</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về</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giao</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thức</a:t>
            </a:r>
            <a:r>
              <a:rPr lang="en-US" sz="4000" dirty="0">
                <a:latin typeface="Cambria" panose="02040503050406030204" pitchFamily="18" charset="0"/>
                <a:ea typeface="Cambria" panose="02040503050406030204" pitchFamily="18" charset="0"/>
              </a:rPr>
              <a:t> HTTP </a:t>
            </a:r>
            <a:r>
              <a:rPr lang="en-US" sz="4000" dirty="0" err="1">
                <a:latin typeface="Cambria" panose="02040503050406030204" pitchFamily="18" charset="0"/>
                <a:ea typeface="Cambria" panose="02040503050406030204" pitchFamily="18" charset="0"/>
              </a:rPr>
              <a:t>và</a:t>
            </a:r>
            <a:r>
              <a:rPr lang="en-US" sz="4000" dirty="0">
                <a:latin typeface="Cambria" panose="02040503050406030204" pitchFamily="18" charset="0"/>
                <a:ea typeface="Cambria" panose="02040503050406030204" pitchFamily="18" charset="0"/>
              </a:rPr>
              <a:t> HTTPS</a:t>
            </a:r>
          </a:p>
        </p:txBody>
      </p:sp>
      <p:sp>
        <p:nvSpPr>
          <p:cNvPr id="6" name="TextBox 5">
            <a:extLst>
              <a:ext uri="{FF2B5EF4-FFF2-40B4-BE49-F238E27FC236}">
                <a16:creationId xmlns:a16="http://schemas.microsoft.com/office/drawing/2014/main" id="{1A6D6580-103D-2010-0E2E-64716CC0E483}"/>
              </a:ext>
            </a:extLst>
          </p:cNvPr>
          <p:cNvSpPr txBox="1"/>
          <p:nvPr/>
        </p:nvSpPr>
        <p:spPr>
          <a:xfrm>
            <a:off x="6230391" y="2113107"/>
            <a:ext cx="4339423" cy="646331"/>
          </a:xfrm>
          <a:prstGeom prst="rect">
            <a:avLst/>
          </a:prstGeom>
          <a:noFill/>
        </p:spPr>
        <p:txBody>
          <a:bodyPr wrap="square">
            <a:spAutoFit/>
          </a:bodyPr>
          <a:lstStyle/>
          <a:p>
            <a:r>
              <a:rPr lang="vi-VN" b="1" dirty="0">
                <a:solidFill>
                  <a:schemeClr val="bg1"/>
                </a:solidFill>
                <a:latin typeface="Cambria" panose="02040503050406030204" pitchFamily="18" charset="0"/>
                <a:ea typeface="Cambria" panose="02040503050406030204" pitchFamily="18" charset="0"/>
              </a:rPr>
              <a:t>TRƯỜNG ĐẠI HỌC XÂY DỰNG HÀ NỘI</a:t>
            </a:r>
            <a:endParaRPr lang="en-US" b="1" dirty="0">
              <a:solidFill>
                <a:schemeClr val="bg1"/>
              </a:solidFill>
              <a:latin typeface="Cambria" panose="02040503050406030204" pitchFamily="18" charset="0"/>
              <a:ea typeface="Cambria" panose="02040503050406030204" pitchFamily="18" charset="0"/>
            </a:endParaRPr>
          </a:p>
          <a:p>
            <a:r>
              <a:rPr lang="vi-VN" b="1" dirty="0">
                <a:solidFill>
                  <a:schemeClr val="bg1"/>
                </a:solidFill>
                <a:latin typeface="Cambria" panose="02040503050406030204" pitchFamily="18" charset="0"/>
                <a:ea typeface="Cambria" panose="02040503050406030204" pitchFamily="18" charset="0"/>
              </a:rPr>
              <a:t>KHOA CÔNG NGHỆ THÔNG TIN</a:t>
            </a:r>
          </a:p>
        </p:txBody>
      </p:sp>
      <p:sp>
        <p:nvSpPr>
          <p:cNvPr id="9" name="TextBox 8">
            <a:extLst>
              <a:ext uri="{FF2B5EF4-FFF2-40B4-BE49-F238E27FC236}">
                <a16:creationId xmlns:a16="http://schemas.microsoft.com/office/drawing/2014/main" id="{F8D7636A-2D74-4D37-61DF-FC1605AA4888}"/>
              </a:ext>
            </a:extLst>
          </p:cNvPr>
          <p:cNvSpPr txBox="1"/>
          <p:nvPr/>
        </p:nvSpPr>
        <p:spPr>
          <a:xfrm>
            <a:off x="6325807" y="4410295"/>
            <a:ext cx="3487237" cy="923330"/>
          </a:xfrm>
          <a:prstGeom prst="rect">
            <a:avLst/>
          </a:prstGeom>
          <a:noFill/>
        </p:spPr>
        <p:txBody>
          <a:bodyPr wrap="none" rtlCol="0">
            <a:spAutoFit/>
          </a:bodyPr>
          <a:lstStyle/>
          <a:p>
            <a:pPr marL="285750" indent="-285750">
              <a:buFont typeface="Arial" panose="020B0604020202020204" pitchFamily="34" charset="0"/>
              <a:buChar char="•"/>
            </a:pPr>
            <a:r>
              <a:rPr lang="vi-VN" dirty="0">
                <a:solidFill>
                  <a:schemeClr val="bg1"/>
                </a:solidFill>
                <a:latin typeface="Cambria" panose="02040503050406030204" pitchFamily="18" charset="0"/>
                <a:ea typeface="Cambria" panose="02040503050406030204" pitchFamily="18" charset="0"/>
              </a:rPr>
              <a:t>Đinh Công Triệu - 0267267</a:t>
            </a:r>
          </a:p>
          <a:p>
            <a:pPr marL="285750" indent="-285750">
              <a:buFont typeface="Arial" panose="020B0604020202020204" pitchFamily="34" charset="0"/>
              <a:buChar char="•"/>
            </a:pPr>
            <a:r>
              <a:rPr lang="vi-VN" dirty="0">
                <a:solidFill>
                  <a:schemeClr val="bg1"/>
                </a:solidFill>
                <a:latin typeface="Cambria" panose="02040503050406030204" pitchFamily="18" charset="0"/>
                <a:ea typeface="Cambria" panose="02040503050406030204" pitchFamily="18" charset="0"/>
              </a:rPr>
              <a:t>Hoàng Trung Thành - 0194867</a:t>
            </a:r>
          </a:p>
          <a:p>
            <a:pPr marL="285750" indent="-285750">
              <a:buFont typeface="Arial" panose="020B0604020202020204" pitchFamily="34" charset="0"/>
              <a:buChar char="•"/>
            </a:pPr>
            <a:r>
              <a:rPr lang="vi-VN" dirty="0">
                <a:solidFill>
                  <a:schemeClr val="bg1"/>
                </a:solidFill>
                <a:latin typeface="Cambria" panose="02040503050406030204" pitchFamily="18" charset="0"/>
                <a:ea typeface="Cambria" panose="02040503050406030204" pitchFamily="18" charset="0"/>
              </a:rPr>
              <a:t>Đoàn Văn Xuân Bắc - </a:t>
            </a:r>
            <a:r>
              <a:rPr lang="en-US" dirty="0">
                <a:solidFill>
                  <a:schemeClr val="bg1"/>
                </a:solidFill>
                <a:latin typeface="Cambria" panose="02040503050406030204" pitchFamily="18" charset="0"/>
                <a:ea typeface="Cambria" panose="02040503050406030204" pitchFamily="18" charset="0"/>
              </a:rPr>
              <a:t>0013067</a:t>
            </a:r>
          </a:p>
        </p:txBody>
      </p:sp>
      <p:sp>
        <p:nvSpPr>
          <p:cNvPr id="10" name="TextBox 9">
            <a:extLst>
              <a:ext uri="{FF2B5EF4-FFF2-40B4-BE49-F238E27FC236}">
                <a16:creationId xmlns:a16="http://schemas.microsoft.com/office/drawing/2014/main" id="{628284FA-9455-2E97-5BCA-691C398EBEA1}"/>
              </a:ext>
            </a:extLst>
          </p:cNvPr>
          <p:cNvSpPr txBox="1"/>
          <p:nvPr/>
        </p:nvSpPr>
        <p:spPr>
          <a:xfrm>
            <a:off x="6230391" y="4040963"/>
            <a:ext cx="3141501" cy="369332"/>
          </a:xfrm>
          <a:prstGeom prst="rect">
            <a:avLst/>
          </a:prstGeom>
          <a:noFill/>
        </p:spPr>
        <p:txBody>
          <a:bodyPr wrap="none" rtlCol="0">
            <a:spAutoFit/>
          </a:bodyPr>
          <a:lstStyle/>
          <a:p>
            <a:r>
              <a:rPr lang="vi-VN" dirty="0">
                <a:solidFill>
                  <a:schemeClr val="bg1"/>
                </a:solidFill>
                <a:latin typeface="Cambria" panose="02040503050406030204" pitchFamily="18" charset="0"/>
                <a:ea typeface="Cambria" panose="02040503050406030204" pitchFamily="18" charset="0"/>
              </a:rPr>
              <a:t>GVHD: Th.S: Nguyễn Việt Nhật</a:t>
            </a:r>
            <a:endParaRPr lang="en-US" dirty="0">
              <a:solidFill>
                <a:schemeClr val="bg1"/>
              </a:solidFill>
              <a:latin typeface="Cambria" panose="02040503050406030204" pitchFamily="18" charset="0"/>
              <a:ea typeface="Cambria" panose="02040503050406030204" pitchFamily="18" charset="0"/>
            </a:endParaRPr>
          </a:p>
        </p:txBody>
      </p:sp>
      <p:sp>
        <p:nvSpPr>
          <p:cNvPr id="11" name="Rectangle 10">
            <a:extLst>
              <a:ext uri="{FF2B5EF4-FFF2-40B4-BE49-F238E27FC236}">
                <a16:creationId xmlns:a16="http://schemas.microsoft.com/office/drawing/2014/main" id="{39185AB7-4DF9-0014-F4A1-8920D63D6E65}"/>
              </a:ext>
            </a:extLst>
          </p:cNvPr>
          <p:cNvSpPr/>
          <p:nvPr/>
        </p:nvSpPr>
        <p:spPr>
          <a:xfrm>
            <a:off x="6325807" y="2759438"/>
            <a:ext cx="5309466" cy="84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77244A8B-49C4-ED71-84C9-BEB7BD840BF5}"/>
              </a:ext>
            </a:extLst>
          </p:cNvPr>
          <p:cNvSpPr txBox="1"/>
          <p:nvPr/>
        </p:nvSpPr>
        <p:spPr>
          <a:xfrm>
            <a:off x="6230391" y="5322488"/>
            <a:ext cx="1146468" cy="369332"/>
          </a:xfrm>
          <a:prstGeom prst="rect">
            <a:avLst/>
          </a:prstGeom>
          <a:noFill/>
        </p:spPr>
        <p:txBody>
          <a:bodyPr wrap="none" rtlCol="0">
            <a:spAutoFit/>
          </a:bodyPr>
          <a:lstStyle/>
          <a:p>
            <a:r>
              <a:rPr lang="vi-VN" dirty="0">
                <a:solidFill>
                  <a:schemeClr val="bg1"/>
                </a:solidFill>
                <a:latin typeface="Cambria" panose="02040503050406030204" pitchFamily="18" charset="0"/>
                <a:ea typeface="Cambria" panose="02040503050406030204" pitchFamily="18" charset="0"/>
              </a:rPr>
              <a:t>Lớp 67CS</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9D891-BDC6-5DAC-9A13-F35A1ACF7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83195E-3EE8-BC72-152C-AA7A9DBA6619}"/>
              </a:ext>
            </a:extLst>
          </p:cNvPr>
          <p:cNvSpPr>
            <a:spLocks noGrp="1"/>
          </p:cNvSpPr>
          <p:nvPr>
            <p:ph type="title"/>
          </p:nvPr>
        </p:nvSpPr>
        <p:spPr>
          <a:xfrm>
            <a:off x="594359" y="584005"/>
            <a:ext cx="5946149" cy="1494596"/>
          </a:xfrm>
        </p:spPr>
        <p:txBody>
          <a:bodyPr/>
          <a:lstStyle/>
          <a:p>
            <a:r>
              <a:rPr lang="vi-VN" dirty="0">
                <a:latin typeface="Cambria" panose="02040503050406030204" pitchFamily="18" charset="0"/>
                <a:ea typeface="Cambria" panose="02040503050406030204" pitchFamily="18" charset="0"/>
              </a:rPr>
              <a:t>Nội dung chính</a:t>
            </a:r>
            <a:endParaRPr lang="en-US"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B6FFA212-E32C-E7EE-BAE9-8EB5D787986E}"/>
              </a:ext>
            </a:extLst>
          </p:cNvPr>
          <p:cNvSpPr txBox="1"/>
          <p:nvPr/>
        </p:nvSpPr>
        <p:spPr>
          <a:xfrm>
            <a:off x="1135534" y="2734565"/>
            <a:ext cx="8161145" cy="3539430"/>
          </a:xfrm>
          <a:prstGeom prst="rect">
            <a:avLst/>
          </a:prstGeom>
          <a:noFill/>
        </p:spPr>
        <p:txBody>
          <a:bodyPr wrap="none" rtlCol="0">
            <a:spAutoFit/>
          </a:bodyPr>
          <a:lstStyle/>
          <a:p>
            <a:pPr marL="571500" indent="-571500">
              <a:buFont typeface="+mj-lt"/>
              <a:buAutoNum type="romanUcPeriod"/>
            </a:pPr>
            <a:r>
              <a:rPr lang="vi-VN" sz="3200" dirty="0">
                <a:solidFill>
                  <a:schemeClr val="bg1"/>
                </a:solidFill>
                <a:latin typeface="Cambria" panose="02040503050406030204" pitchFamily="18" charset="0"/>
                <a:ea typeface="Cambria" panose="02040503050406030204" pitchFamily="18" charset="0"/>
              </a:rPr>
              <a:t>Video khái quát HTTP &amp; HTTPS</a:t>
            </a:r>
          </a:p>
          <a:p>
            <a:pPr marL="571500" indent="-571500">
              <a:buFont typeface="+mj-lt"/>
              <a:buAutoNum type="romanUcPeriod"/>
            </a:pPr>
            <a:endParaRPr lang="vi-VN" sz="3200" dirty="0">
              <a:solidFill>
                <a:schemeClr val="bg1"/>
              </a:solidFill>
              <a:latin typeface="Cambria" panose="02040503050406030204" pitchFamily="18" charset="0"/>
              <a:ea typeface="Cambria" panose="02040503050406030204" pitchFamily="18" charset="0"/>
            </a:endParaRPr>
          </a:p>
          <a:p>
            <a:pPr marL="571500" indent="-571500">
              <a:buFont typeface="+mj-lt"/>
              <a:buAutoNum type="romanUcPeriod"/>
            </a:pPr>
            <a:r>
              <a:rPr lang="vi-VN" sz="3200" dirty="0">
                <a:solidFill>
                  <a:schemeClr val="bg1"/>
                </a:solidFill>
                <a:latin typeface="Cambria" panose="02040503050406030204" pitchFamily="18" charset="0"/>
                <a:ea typeface="Cambria" panose="02040503050406030204" pitchFamily="18" charset="0"/>
              </a:rPr>
              <a:t>Câu </a:t>
            </a:r>
            <a:r>
              <a:rPr lang="vi-VN" sz="3200">
                <a:solidFill>
                  <a:schemeClr val="bg1"/>
                </a:solidFill>
                <a:latin typeface="Cambria" panose="02040503050406030204" pitchFamily="18" charset="0"/>
                <a:ea typeface="Cambria" panose="02040503050406030204" pitchFamily="18" charset="0"/>
              </a:rPr>
              <a:t>hỏi về HTTP &amp; HTTPS:</a:t>
            </a:r>
            <a:endParaRPr lang="vi-VN" sz="3200" dirty="0">
              <a:solidFill>
                <a:schemeClr val="bg1"/>
              </a:solidFill>
              <a:latin typeface="Cambria" panose="02040503050406030204" pitchFamily="18" charset="0"/>
              <a:ea typeface="Cambria" panose="02040503050406030204" pitchFamily="18" charset="0"/>
            </a:endParaRPr>
          </a:p>
          <a:p>
            <a:pPr marL="1028700" lvl="1" indent="-571500">
              <a:buFont typeface="+mj-lt"/>
              <a:buAutoNum type="arabicPeriod"/>
            </a:pPr>
            <a:r>
              <a:rPr lang="vi-VN" sz="3200" dirty="0">
                <a:solidFill>
                  <a:schemeClr val="bg1"/>
                </a:solidFill>
                <a:latin typeface="Cambria" panose="02040503050406030204" pitchFamily="18" charset="0"/>
                <a:ea typeface="Cambria" panose="02040503050406030204" pitchFamily="18" charset="0"/>
              </a:rPr>
              <a:t>Chương 1: Tổng quan về HTTP &amp; HTTPS</a:t>
            </a:r>
          </a:p>
          <a:p>
            <a:pPr marL="1028700" lvl="1" indent="-571500">
              <a:buFont typeface="+mj-lt"/>
              <a:buAutoNum type="arabicPeriod"/>
            </a:pPr>
            <a:r>
              <a:rPr lang="vi-VN" sz="3200" dirty="0">
                <a:solidFill>
                  <a:schemeClr val="bg1"/>
                </a:solidFill>
                <a:latin typeface="Cambria" panose="02040503050406030204" pitchFamily="18" charset="0"/>
                <a:ea typeface="Cambria" panose="02040503050406030204" pitchFamily="18" charset="0"/>
              </a:rPr>
              <a:t>Chương 2: HTTP &amp; HTTPS</a:t>
            </a:r>
          </a:p>
          <a:p>
            <a:pPr marL="1028700" lvl="1" indent="-571500">
              <a:buFont typeface="+mj-lt"/>
              <a:buAutoNum type="arabicPeriod"/>
            </a:pPr>
            <a:endParaRPr lang="vi-VN" sz="3200" dirty="0">
              <a:solidFill>
                <a:schemeClr val="bg1"/>
              </a:solidFill>
              <a:latin typeface="Cambria" panose="02040503050406030204" pitchFamily="18" charset="0"/>
              <a:ea typeface="Cambria" panose="02040503050406030204" pitchFamily="18" charset="0"/>
            </a:endParaRPr>
          </a:p>
          <a:p>
            <a:pPr marL="571500" indent="-571500">
              <a:buFont typeface="+mj-lt"/>
              <a:buAutoNum type="romanUcPeriod"/>
            </a:pPr>
            <a:r>
              <a:rPr lang="vi-VN" sz="3200" dirty="0">
                <a:solidFill>
                  <a:schemeClr val="bg1"/>
                </a:solidFill>
                <a:latin typeface="Cambria" panose="02040503050406030204" pitchFamily="18" charset="0"/>
                <a:ea typeface="Cambria" panose="02040503050406030204" pitchFamily="18" charset="0"/>
              </a:rPr>
              <a:t>Demo bắt gói tin qua Wireshark</a:t>
            </a:r>
          </a:p>
        </p:txBody>
      </p:sp>
    </p:spTree>
    <p:extLst>
      <p:ext uri="{BB962C8B-B14F-4D97-AF65-F5344CB8AC3E}">
        <p14:creationId xmlns:p14="http://schemas.microsoft.com/office/powerpoint/2010/main" val="2501700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HTTP_vs">
            <a:hlinkClick r:id="" action="ppaction://media"/>
            <a:extLst>
              <a:ext uri="{FF2B5EF4-FFF2-40B4-BE49-F238E27FC236}">
                <a16:creationId xmlns:a16="http://schemas.microsoft.com/office/drawing/2014/main" id="{EB48BEC0-E364-E3BE-BFCA-F5DE5A0EFCA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334668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441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lose-up of a plant">
            <a:extLst>
              <a:ext uri="{FF2B5EF4-FFF2-40B4-BE49-F238E27FC236}">
                <a16:creationId xmlns:a16="http://schemas.microsoft.com/office/drawing/2014/main" id="{8DB431A1-9806-9CFE-0E5F-1A5611C2A66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3" r="23"/>
          <a:stretch/>
        </p:blipFill>
        <p:spPr>
          <a:xfrm>
            <a:off x="0" y="0"/>
            <a:ext cx="12192000" cy="6880225"/>
          </a:xfrm>
        </p:spPr>
      </p:pic>
      <p:sp>
        <p:nvSpPr>
          <p:cNvPr id="3" name="Title 2">
            <a:extLst>
              <a:ext uri="{FF2B5EF4-FFF2-40B4-BE49-F238E27FC236}">
                <a16:creationId xmlns:a16="http://schemas.microsoft.com/office/drawing/2014/main" id="{9C37279A-330D-886F-340D-494A5005E5FC}"/>
              </a:ext>
            </a:extLst>
          </p:cNvPr>
          <p:cNvSpPr>
            <a:spLocks noGrp="1"/>
          </p:cNvSpPr>
          <p:nvPr>
            <p:ph type="title"/>
          </p:nvPr>
        </p:nvSpPr>
        <p:spPr>
          <a:xfrm>
            <a:off x="6309359" y="622214"/>
            <a:ext cx="5477479" cy="3291840"/>
          </a:xfrm>
        </p:spPr>
        <p:txBody>
          <a:bodyPr/>
          <a:lstStyle/>
          <a:p>
            <a:r>
              <a:rPr lang="vi-VN" sz="4000" dirty="0">
                <a:latin typeface="Cambria" panose="02040503050406030204" pitchFamily="18" charset="0"/>
                <a:ea typeface="Cambria" panose="02040503050406030204" pitchFamily="18" charset="0"/>
              </a:rPr>
              <a:t>Chương 1:</a:t>
            </a:r>
            <a:br>
              <a:rPr lang="vi-VN" sz="4000" dirty="0">
                <a:latin typeface="Cambria" panose="02040503050406030204" pitchFamily="18" charset="0"/>
                <a:ea typeface="Cambria" panose="02040503050406030204" pitchFamily="18" charset="0"/>
              </a:rPr>
            </a:br>
            <a:r>
              <a:rPr lang="en-US" sz="4000" dirty="0" err="1">
                <a:latin typeface="Cambria" panose="02040503050406030204" pitchFamily="18" charset="0"/>
                <a:ea typeface="Cambria" panose="02040503050406030204" pitchFamily="18" charset="0"/>
              </a:rPr>
              <a:t>Tổng</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quan</a:t>
            </a:r>
            <a:r>
              <a:rPr lang="en-US" sz="4000" dirty="0">
                <a:latin typeface="Cambria" panose="02040503050406030204" pitchFamily="18" charset="0"/>
                <a:ea typeface="Cambria" panose="02040503050406030204" pitchFamily="18" charset="0"/>
              </a:rPr>
              <a:t> </a:t>
            </a:r>
            <a:r>
              <a:rPr lang="en-US" sz="4000" dirty="0" err="1">
                <a:latin typeface="Cambria" panose="02040503050406030204" pitchFamily="18" charset="0"/>
                <a:ea typeface="Cambria" panose="02040503050406030204" pitchFamily="18" charset="0"/>
              </a:rPr>
              <a:t>về</a:t>
            </a:r>
            <a:r>
              <a:rPr lang="en-US" sz="4000" dirty="0">
                <a:latin typeface="Cambria" panose="02040503050406030204" pitchFamily="18" charset="0"/>
                <a:ea typeface="Cambria" panose="02040503050406030204" pitchFamily="18" charset="0"/>
              </a:rPr>
              <a:t> Giao </a:t>
            </a:r>
            <a:r>
              <a:rPr lang="en-US" sz="4000" dirty="0" err="1">
                <a:latin typeface="Cambria" panose="02040503050406030204" pitchFamily="18" charset="0"/>
                <a:ea typeface="Cambria" panose="02040503050406030204" pitchFamily="18" charset="0"/>
              </a:rPr>
              <a:t>thức</a:t>
            </a:r>
            <a:r>
              <a:rPr lang="en-US" sz="4000" dirty="0">
                <a:latin typeface="Cambria" panose="02040503050406030204" pitchFamily="18" charset="0"/>
                <a:ea typeface="Cambria" panose="02040503050406030204" pitchFamily="18" charset="0"/>
              </a:rPr>
              <a:t> HTTP </a:t>
            </a:r>
            <a:r>
              <a:rPr lang="en-US" sz="4000" dirty="0" err="1">
                <a:latin typeface="Cambria" panose="02040503050406030204" pitchFamily="18" charset="0"/>
                <a:ea typeface="Cambria" panose="02040503050406030204" pitchFamily="18" charset="0"/>
              </a:rPr>
              <a:t>và</a:t>
            </a:r>
            <a:r>
              <a:rPr lang="en-US" sz="4000" dirty="0">
                <a:latin typeface="Cambria" panose="02040503050406030204" pitchFamily="18" charset="0"/>
                <a:ea typeface="Cambria" panose="02040503050406030204" pitchFamily="18" charset="0"/>
              </a:rPr>
              <a:t> HTTPS</a:t>
            </a:r>
          </a:p>
        </p:txBody>
      </p:sp>
    </p:spTree>
    <p:extLst>
      <p:ext uri="{BB962C8B-B14F-4D97-AF65-F5344CB8AC3E}">
        <p14:creationId xmlns:p14="http://schemas.microsoft.com/office/powerpoint/2010/main" val="2249372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14D2BC-134B-421C-CB3F-53DBD8227170}"/>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Đ</a:t>
            </a:r>
            <a:r>
              <a:rPr lang="en-US" sz="3000" b="1" dirty="0" err="1">
                <a:solidFill>
                  <a:schemeClr val="bg1"/>
                </a:solidFill>
                <a:latin typeface="Cambria" panose="02040503050406030204" pitchFamily="18" charset="0"/>
                <a:ea typeface="Cambria" panose="02040503050406030204" pitchFamily="18" charset="0"/>
              </a:rPr>
              <a:t>âu</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là</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định</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nghĩa</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chính</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xác</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nhất</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về</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một</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giao</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thức</a:t>
            </a:r>
            <a:r>
              <a:rPr lang="en-US" sz="3000" b="1" dirty="0">
                <a:solidFill>
                  <a:schemeClr val="bg1"/>
                </a:solidFill>
                <a:latin typeface="Cambria" panose="02040503050406030204" pitchFamily="18" charset="0"/>
                <a:ea typeface="Cambria" panose="02040503050406030204" pitchFamily="18" charset="0"/>
              </a:rPr>
              <a:t> </a:t>
            </a:r>
            <a:r>
              <a:rPr lang="en-US" sz="3000" b="1" dirty="0" err="1">
                <a:solidFill>
                  <a:schemeClr val="bg1"/>
                </a:solidFill>
                <a:latin typeface="Cambria" panose="02040503050406030204" pitchFamily="18" charset="0"/>
                <a:ea typeface="Cambria" panose="02040503050406030204" pitchFamily="18" charset="0"/>
              </a:rPr>
              <a:t>mạng</a:t>
            </a:r>
            <a:r>
              <a:rPr lang="en-US" sz="3000" b="1" dirty="0">
                <a:solidFill>
                  <a:schemeClr val="bg1"/>
                </a:solidFill>
                <a:latin typeface="Cambria" panose="02040503050406030204" pitchFamily="18" charset="0"/>
                <a:ea typeface="Cambria" panose="02040503050406030204" pitchFamily="18" charset="0"/>
              </a:rPr>
              <a:t>?</a:t>
            </a:r>
          </a:p>
        </p:txBody>
      </p:sp>
      <p:sp>
        <p:nvSpPr>
          <p:cNvPr id="41" name="Rectangle 40">
            <a:extLst>
              <a:ext uri="{FF2B5EF4-FFF2-40B4-BE49-F238E27FC236}">
                <a16:creationId xmlns:a16="http://schemas.microsoft.com/office/drawing/2014/main" id="{7FBC3903-D7A5-C028-17FD-08647B95F2EE}"/>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8385499E-7C51-265F-18D7-1B90454FF7AD}"/>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E999D21D-A980-24DF-B95C-A9253D2BD690}"/>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63CE30DA-B772-4352-383B-115E8DD6A77F}"/>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E1CA7CD2-8B1B-7458-AD47-A3B6917E9E10}"/>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E76D5211-D256-3AAE-4366-74EBC02479D6}"/>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AE8362DB-396A-9A4C-8EBA-84C4E7633DF7}"/>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44238F9E-1CC8-B9FF-A24B-85852D2FD73A}"/>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2AC04AC4-AC61-16CA-035D-04F30BF55723}"/>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CB4B8AFC-0C39-EAA8-6D84-815F87AD386C}"/>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CC1425A6-255B-3B41-0F8E-83DE61458401}"/>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Một loại phần cứng chuyên dụng để kết nối đến các máy tính trong một mạng cục bộ.</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A47CB0D9-6738-7C45-AC56-06AE6B94DCBC}"/>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Một ngôn ngữ lập trình được sử dụng để phát triển các ứng dụng web và di động.</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5C681376-1E28-C669-0BD1-19E45BEDBC0E}"/>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Tập hợp các quy tắc để định dạng và xử lý dữ liệu, hoạt động như một ngôn ngữ chung giữa các máy tính.</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0431098C-B2DE-1A19-92E3-9DBD8A154BC8}"/>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Một hệ điều hành được tối ưu hóa để quản lý việc truyền tải dữ liệu qua Internet.</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0031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91717"/>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91717"/>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30FC3A"/>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91717"/>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vi-VN" dirty="0">
                <a:latin typeface="Cambria" panose="02040503050406030204" pitchFamily="18" charset="0"/>
                <a:ea typeface="Cambria" panose="02040503050406030204" pitchFamily="18" charset="0"/>
              </a:rPr>
              <a:t>Khái niệm giao thức mạng</a:t>
            </a:r>
            <a:endParaRPr lang="en-US"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674847" y="904449"/>
            <a:ext cx="5198269" cy="5049102"/>
          </a:xfrm>
        </p:spPr>
        <p:txBody>
          <a:bodyPr>
            <a:noAutofit/>
          </a:bodyPr>
          <a:lstStyle/>
          <a:p>
            <a:r>
              <a:rPr lang="vi-VN" sz="3600" dirty="0">
                <a:latin typeface="Cambria" panose="02040503050406030204" pitchFamily="18" charset="0"/>
                <a:ea typeface="Cambria" panose="02040503050406030204" pitchFamily="18" charset="0"/>
              </a:rPr>
              <a:t>Giao thức mạng là tập hợp các quy tắc để định dạng và xử lý dữ liệu, hoạt động như một ngôn ngữ chung giữa các máy tính. Dù phần cứng và phần mềm khác nhau, việc sử dụng giao thức chuẩn cho phép chúng giao tiếp hiệu quả và chính xác.</a:t>
            </a:r>
          </a:p>
        </p:txBody>
      </p:sp>
    </p:spTree>
    <p:extLst>
      <p:ext uri="{BB962C8B-B14F-4D97-AF65-F5344CB8AC3E}">
        <p14:creationId xmlns:p14="http://schemas.microsoft.com/office/powerpoint/2010/main" val="3088225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D9AE4-EF6E-6BED-9687-9D568E72CCA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3CAAD7-21CC-EBD7-52FE-A823036CA645}"/>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Sự khác biệt cơ bản nhất giữa giao thức HTTP và HTTPS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1F2EAEA4-FFBE-691C-000E-EB65B8C7D141}"/>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EE7221FC-9CFC-5EDD-0BBB-7C31E44B9D82}"/>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4032785A-333B-9BE8-6F38-D1F6C117AFFC}"/>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129EF3B1-7BDF-AF68-8412-FAE0DD14E3E7}"/>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60AB8993-E4B0-D447-A265-A9B79F99B50E}"/>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BCC8E722-E65C-0549-188C-86FE5798E539}"/>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BD3BF277-36BA-59C9-2FAF-492F26D180AD}"/>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8CB01C97-C830-C842-3A9B-CBF07A835B30}"/>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B4CF2CE0-BFF0-8363-E9FF-CCEA92C3C58B}"/>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76171459-F0AB-21B2-9DB6-6BF9F7F52DB2}"/>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C116AD21-9DD8-CB71-54E4-16F0FA6B31DB}"/>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HTTP hoạt động ở tầng ứng dụng, trong khi HTTPS hoạt động ở tầng giao vận của mô hình OSI.</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9E0E7EED-D164-1D14-98BA-76980ED9675E}"/>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HTTPS có tốc độ truyền tải dữ liệu nhanh hơn HTTP do được tối ưu hóa tốt hơn.</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18667E50-5EE8-0B04-4A9E-A0F73A0F7AD9}"/>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HTTPS sử dụng mã hóa SSL/TLS để bảo vệ dữ liệu, trong khi HTTP truyền dữ liệu dưới dạng văn bản không được mã hóa.</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FCBD43FB-AA79-5B51-252F-5B2C216611DB}"/>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HTTP được sử dụng cho các trang web thông thường, còn HTTPS chỉ dành riêng cho các trang web chính phủ.</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7917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91717"/>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91717"/>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30FC3A"/>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91717"/>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584005"/>
            <a:ext cx="9778365" cy="1494596"/>
          </a:xfrm>
        </p:spPr>
        <p:txBody>
          <a:bodyPr/>
          <a:lstStyle/>
          <a:p>
            <a:r>
              <a:rPr lang="vi-VN" dirty="0">
                <a:latin typeface="Cambria" panose="02040503050406030204" pitchFamily="18" charset="0"/>
                <a:ea typeface="Cambria" panose="02040503050406030204" pitchFamily="18" charset="0"/>
              </a:rPr>
              <a:t>HTTP &amp; HTTPS</a:t>
            </a:r>
            <a:endParaRPr lang="en-US"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1160665" y="3068214"/>
            <a:ext cx="4490827" cy="2916595"/>
          </a:xfrm>
        </p:spPr>
        <p:txBody>
          <a:bodyPr>
            <a:noAutofit/>
          </a:bodyPr>
          <a:lstStyle/>
          <a:p>
            <a:r>
              <a:rPr lang="en-US" sz="2400" b="1" dirty="0">
                <a:latin typeface="Cambria" panose="02040503050406030204" pitchFamily="18" charset="0"/>
                <a:ea typeface="Cambria" panose="02040503050406030204" pitchFamily="18" charset="0"/>
              </a:rPr>
              <a:t>HTTP (</a:t>
            </a:r>
            <a:r>
              <a:rPr lang="en-US" sz="2400" b="1" dirty="0" err="1">
                <a:latin typeface="Cambria" panose="02040503050406030204" pitchFamily="18" charset="0"/>
                <a:ea typeface="Cambria" panose="02040503050406030204" pitchFamily="18" charset="0"/>
              </a:rPr>
              <a:t>HyperText</a:t>
            </a:r>
            <a:r>
              <a:rPr lang="en-US" sz="2400" b="1" dirty="0">
                <a:latin typeface="Cambria" panose="02040503050406030204" pitchFamily="18" charset="0"/>
                <a:ea typeface="Cambria" panose="02040503050406030204" pitchFamily="18" charset="0"/>
              </a:rPr>
              <a:t> Transfer Protocol)</a:t>
            </a:r>
            <a:endParaRPr lang="vi-VN" sz="2400" b="1" dirty="0">
              <a:latin typeface="Cambria" panose="02040503050406030204" pitchFamily="18" charset="0"/>
              <a:ea typeface="Cambria" panose="02040503050406030204" pitchFamily="18" charset="0"/>
            </a:endParaRPr>
          </a:p>
          <a:p>
            <a:pPr algn="just"/>
            <a:r>
              <a:rPr lang="vi-VN" sz="2400" dirty="0">
                <a:latin typeface="Cambria" panose="02040503050406030204" pitchFamily="18" charset="0"/>
                <a:ea typeface="Cambria" panose="02040503050406030204" pitchFamily="18" charset="0"/>
              </a:rPr>
              <a:t>Là giao thức tầng ứng dụng để truyền tải dữ liệu (văn bản, hình ảnh, video) giữa Web Server và trình duyệt. Thông tin truyền đi không được mã hóa, dễ bị tấn công nghe lén (sniffing).</a:t>
            </a:r>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6"/>
          </p:nvPr>
        </p:nvSpPr>
        <p:spPr>
          <a:xfrm>
            <a:off x="6540509" y="3068214"/>
            <a:ext cx="4490825" cy="2646007"/>
          </a:xfrm>
        </p:spPr>
        <p:txBody>
          <a:bodyPr>
            <a:noAutofit/>
          </a:bodyPr>
          <a:lstStyle/>
          <a:p>
            <a:r>
              <a:rPr lang="en-US" sz="2400" b="1" dirty="0">
                <a:latin typeface="Cambria" panose="02040503050406030204" pitchFamily="18" charset="0"/>
                <a:ea typeface="Cambria" panose="02040503050406030204" pitchFamily="18" charset="0"/>
              </a:rPr>
              <a:t>HTTPS (</a:t>
            </a:r>
            <a:r>
              <a:rPr lang="en-US" sz="2400" b="1" dirty="0" err="1">
                <a:latin typeface="Cambria" panose="02040503050406030204" pitchFamily="18" charset="0"/>
                <a:ea typeface="Cambria" panose="02040503050406030204" pitchFamily="18" charset="0"/>
              </a:rPr>
              <a:t>HyperText</a:t>
            </a:r>
            <a:r>
              <a:rPr lang="en-US" sz="2400" b="1" dirty="0">
                <a:latin typeface="Cambria" panose="02040503050406030204" pitchFamily="18" charset="0"/>
                <a:ea typeface="Cambria" panose="02040503050406030204" pitchFamily="18" charset="0"/>
              </a:rPr>
              <a:t> Transfer Protocol Secure</a:t>
            </a:r>
            <a:endParaRPr lang="vi-VN" sz="2400" b="1" dirty="0">
              <a:latin typeface="Cambria" panose="02040503050406030204" pitchFamily="18" charset="0"/>
              <a:ea typeface="Cambria" panose="02040503050406030204" pitchFamily="18" charset="0"/>
            </a:endParaRPr>
          </a:p>
          <a:p>
            <a:pPr algn="just"/>
            <a:r>
              <a:rPr lang="en-US" sz="2400" dirty="0" err="1">
                <a:latin typeface="Cambria" panose="02040503050406030204" pitchFamily="18" charset="0"/>
                <a:ea typeface="Cambria" panose="02040503050406030204" pitchFamily="18" charset="0"/>
              </a:rPr>
              <a:t>Là</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phiên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bản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bảo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mật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của</a:t>
            </a:r>
            <a:r>
              <a:rPr lang="en-US" sz="2400" dirty="0">
                <a:latin typeface="Cambria" panose="02040503050406030204" pitchFamily="18" charset="0"/>
                <a:ea typeface="Cambria" panose="02040503050406030204" pitchFamily="18" charset="0"/>
              </a:rPr>
              <a:t> HTTP. </a:t>
            </a:r>
            <a:r>
              <a:rPr lang="en-US" sz="2400" dirty="0" err="1">
                <a:latin typeface="Cambria" panose="02040503050406030204" pitchFamily="18" charset="0"/>
                <a:ea typeface="Cambria" panose="02040503050406030204" pitchFamily="18" charset="0"/>
              </a:rPr>
              <a:t>Nó</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tích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hợp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chứng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chỉ</a:t>
            </a:r>
            <a:r>
              <a:rPr lang="en-US" sz="2400" dirty="0">
                <a:latin typeface="Cambria" panose="02040503050406030204" pitchFamily="18" charset="0"/>
                <a:ea typeface="Cambria" panose="02040503050406030204" pitchFamily="18" charset="0"/>
              </a:rPr>
              <a:t> SSL/TLS </a:t>
            </a:r>
            <a:r>
              <a:rPr lang="en-US" sz="2400" dirty="0" err="1">
                <a:latin typeface="Cambria" panose="02040503050406030204" pitchFamily="18" charset="0"/>
                <a:ea typeface="Cambria" panose="02040503050406030204" pitchFamily="18" charset="0"/>
              </a:rPr>
              <a:t>để</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mã</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hóa</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dữ</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liệu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đảm</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bảo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thông</a:t>
            </a:r>
            <a:r>
              <a:rPr lang="en-US" sz="2400" dirty="0">
                <a:latin typeface="Cambria" panose="02040503050406030204" pitchFamily="18" charset="0"/>
                <a:ea typeface="Cambria" panose="02040503050406030204" pitchFamily="18" charset="0"/>
              </a:rPr>
              <a:t> tin </a:t>
            </a:r>
            <a:r>
              <a:rPr lang="en-US" sz="2400" dirty="0" err="1">
                <a:latin typeface="Cambria" panose="02040503050406030204" pitchFamily="18" charset="0"/>
                <a:ea typeface="Cambria" panose="02040503050406030204" pitchFamily="18" charset="0"/>
              </a:rPr>
              <a:t>không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bị</a:t>
            </a:r>
            <a:r>
              <a:rPr lang="en-US" sz="2400" dirty="0">
                <a:latin typeface="Cambria" panose="02040503050406030204" pitchFamily="18" charset="0"/>
                <a:ea typeface="Cambria" panose="02040503050406030204" pitchFamily="18" charset="0"/>
              </a:rPr>
              <a:t> can </a:t>
            </a:r>
            <a:r>
              <a:rPr lang="en-US" sz="2400" dirty="0" err="1">
                <a:latin typeface="Cambria" panose="02040503050406030204" pitchFamily="18" charset="0"/>
                <a:ea typeface="Cambria" panose="02040503050406030204" pitchFamily="18" charset="0"/>
              </a:rPr>
              <a:t>thiệp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hoặc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đọc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trộm</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khi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truyền</a:t>
            </a:r>
            <a:r>
              <a:rPr lang="en-US" sz="2400" dirty="0">
                <a:latin typeface="Cambria" panose="02040503050406030204" pitchFamily="18" charset="0"/>
                <a:ea typeface="Cambria" panose="02040503050406030204" pitchFamily="18" charset="0"/>
              </a:rPr>
              <a:t> qua </a:t>
            </a:r>
            <a:r>
              <a:rPr lang="en-US" sz="2400" dirty="0" err="1">
                <a:latin typeface="Cambria" panose="02040503050406030204" pitchFamily="18" charset="0"/>
                <a:ea typeface="Cambria" panose="02040503050406030204" pitchFamily="18" charset="0"/>
              </a:rPr>
              <a:t>mạng</a:t>
            </a:r>
            <a:r>
              <a:rPr lang="en-US" sz="24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888484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F8C4D-3874-9938-7BF6-572AF1748F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6FF84EC-3F95-2207-7F13-0AD3883CDC50}"/>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Giao thức DNS (Domain Name System) đóng vai trò gì trong mạng máy tính?</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3F562A3D-69EF-B5D5-F34D-2027E26E19FC}"/>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370D4AD2-4216-06DB-1CB6-43A9A852C227}"/>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26B12F25-EBBD-F586-45AE-C41BC7A84DA8}"/>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79ACB256-0AAF-91B4-81CD-3DDF9AD05E70}"/>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AFA5FC95-B2EE-0194-FA29-A8820CEF5B68}"/>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13C8597C-DD43-5D99-0551-57925B6F9F95}"/>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992551E6-9DE2-C26E-2156-A473684E92E1}"/>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09827616-5309-7B61-BD00-99AF287A1180}"/>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1C5E3BC9-AABF-3B10-4DE2-FA78AD9296B9}"/>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F64A0E6B-6F35-B948-73A1-5E089B00DB56}"/>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450AB24E-5329-3E7E-581D-F0B1DB7DDA40}"/>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Chuyển đổi tên miền (ví dụ </a:t>
            </a:r>
            <a:r>
              <a:rPr lang="vi-VN" dirty="0">
                <a:solidFill>
                  <a:schemeClr val="bg1"/>
                </a:solidFill>
                <a:latin typeface="Cambria" panose="02040503050406030204" pitchFamily="18" charset="0"/>
                <a:ea typeface="Cambria" panose="02040503050406030204" pitchFamily="18" charset="0"/>
                <a:hlinkClick r:id="rId3"/>
              </a:rPr>
              <a:t>www.google.com</a:t>
            </a:r>
            <a:r>
              <a:rPr lang="vi-VN" dirty="0">
                <a:solidFill>
                  <a:schemeClr val="bg1"/>
                </a:solidFill>
                <a:latin typeface="Cambria" panose="02040503050406030204" pitchFamily="18" charset="0"/>
                <a:ea typeface="Cambria" panose="02040503050406030204" pitchFamily="18" charset="0"/>
              </a:rPr>
              <a:t>) thành địa chỉ IP mà máy tính có thể hiểu được.</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2E9EA6FE-E696-314D-9C2C-E2D8570200AC}"/>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Đảm bảo các gói dữ liệu được gửi đến đích một cách toàn vẹn và đúng thứ tự.</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B1EBA34B-907C-0044-A7D8-8ACA52DD0A56}"/>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Mã hóa thông tin liên lạc giữa trình duyệt của người dùng và máy chủ web.</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4703CAE1-E859-5203-C8DA-4602F0EDBA70}"/>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Quản lý việc gửi và nhận thư điện tử (email) giữa các máy chủ.</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5637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30FC3A"/>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91717"/>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91717"/>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91717"/>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9825C-941D-C899-D01E-607F3176B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EC212-F0E1-C33F-4B7C-2C7803F3E68C}"/>
              </a:ext>
            </a:extLst>
          </p:cNvPr>
          <p:cNvSpPr>
            <a:spLocks noGrp="1"/>
          </p:cNvSpPr>
          <p:nvPr>
            <p:ph type="title"/>
          </p:nvPr>
        </p:nvSpPr>
        <p:spPr>
          <a:xfrm>
            <a:off x="594360" y="584005"/>
            <a:ext cx="9778365" cy="1494596"/>
          </a:xfrm>
        </p:spPr>
        <p:txBody>
          <a:bodyPr/>
          <a:lstStyle/>
          <a:p>
            <a:r>
              <a:rPr lang="vi-VN" dirty="0">
                <a:latin typeface="Cambria" panose="02040503050406030204" pitchFamily="18" charset="0"/>
                <a:ea typeface="Cambria" panose="02040503050406030204" pitchFamily="18" charset="0"/>
              </a:rPr>
              <a:t>DNS</a:t>
            </a:r>
            <a:endParaRPr lang="en-US"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395F3964-4D66-DD16-D7B8-012E1FD3EB9B}"/>
              </a:ext>
            </a:extLst>
          </p:cNvPr>
          <p:cNvSpPr>
            <a:spLocks noGrp="1"/>
          </p:cNvSpPr>
          <p:nvPr>
            <p:ph sz="quarter" idx="15"/>
          </p:nvPr>
        </p:nvSpPr>
        <p:spPr>
          <a:xfrm>
            <a:off x="1829079" y="2872271"/>
            <a:ext cx="8533841" cy="2916595"/>
          </a:xfrm>
        </p:spPr>
        <p:txBody>
          <a:bodyPr>
            <a:noAutofit/>
          </a:bodyPr>
          <a:lstStyle/>
          <a:p>
            <a:pPr algn="just"/>
            <a:r>
              <a:rPr lang="vi-VN" sz="2600" dirty="0">
                <a:latin typeface="Cambria" panose="02040503050406030204" pitchFamily="18" charset="0"/>
                <a:ea typeface="Cambria" panose="02040503050406030204" pitchFamily="18" charset="0"/>
              </a:rPr>
              <a:t>DNS là Hệ thống Phân giải Tên miền (Domain Name System), hoạt động như "danh bạ" của Internet, giúp chuyển đổi tên miền dễ nhớ của các trang web (như </a:t>
            </a:r>
            <a:r>
              <a:rPr lang="vi-VN" sz="2600" dirty="0">
                <a:latin typeface="Cambria" panose="02040503050406030204" pitchFamily="18" charset="0"/>
                <a:ea typeface="Cambria" panose="02040503050406030204" pitchFamily="18" charset="0"/>
                <a:hlinkClick r:id="rId3"/>
              </a:rPr>
              <a:t>example.com</a:t>
            </a:r>
            <a:r>
              <a:rPr lang="vi-VN" sz="2600" dirty="0">
                <a:latin typeface="Cambria" panose="02040503050406030204" pitchFamily="18" charset="0"/>
                <a:ea typeface="Cambria" panose="02040503050406030204" pitchFamily="18" charset="0"/>
              </a:rPr>
              <a:t>) thành địa chỉ IP số mà máy tính có thể hiểu để truy cập tài nguyên.</a:t>
            </a:r>
          </a:p>
          <a:p>
            <a:pPr algn="just"/>
            <a:r>
              <a:rPr lang="vi-VN" sz="2600" dirty="0">
                <a:latin typeface="Cambria" panose="02040503050406030204" pitchFamily="18" charset="0"/>
                <a:ea typeface="Cambria" panose="02040503050406030204" pitchFamily="18" charset="0"/>
              </a:rPr>
              <a:t>Khi bạn nhập tên miền vào trình duyệt, DNS sẽ tìm và trả về địa chỉ IP tương ứng, cho phép trình duyệt tải đúng trang web mà bạn cần.</a:t>
            </a:r>
          </a:p>
        </p:txBody>
      </p:sp>
    </p:spTree>
    <p:extLst>
      <p:ext uri="{BB962C8B-B14F-4D97-AF65-F5344CB8AC3E}">
        <p14:creationId xmlns:p14="http://schemas.microsoft.com/office/powerpoint/2010/main" val="2192444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A9A2D-D885-D5ED-F5DD-F16703030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9FFF6-C733-FD6D-6839-3DD4E971BED7}"/>
              </a:ext>
            </a:extLst>
          </p:cNvPr>
          <p:cNvSpPr>
            <a:spLocks noGrp="1"/>
          </p:cNvSpPr>
          <p:nvPr>
            <p:ph type="title"/>
          </p:nvPr>
        </p:nvSpPr>
        <p:spPr>
          <a:xfrm>
            <a:off x="594360" y="584005"/>
            <a:ext cx="9778365" cy="1494596"/>
          </a:xfrm>
        </p:spPr>
        <p:txBody>
          <a:bodyPr/>
          <a:lstStyle/>
          <a:p>
            <a:r>
              <a:rPr lang="vi-VN" dirty="0">
                <a:latin typeface="Cambria" panose="02040503050406030204" pitchFamily="18" charset="0"/>
                <a:ea typeface="Cambria" panose="02040503050406030204" pitchFamily="18" charset="0"/>
              </a:rPr>
              <a:t>Vai trò của giao thức mạng</a:t>
            </a:r>
            <a:endParaRPr lang="en-US"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AC702C44-9D45-520C-AA6D-3FF9A33D7636}"/>
              </a:ext>
            </a:extLst>
          </p:cNvPr>
          <p:cNvSpPr>
            <a:spLocks noGrp="1"/>
          </p:cNvSpPr>
          <p:nvPr>
            <p:ph sz="quarter" idx="15"/>
          </p:nvPr>
        </p:nvSpPr>
        <p:spPr>
          <a:xfrm>
            <a:off x="594360" y="2555030"/>
            <a:ext cx="10042538" cy="3537859"/>
          </a:xfrm>
        </p:spPr>
        <p:txBody>
          <a:bodyPr>
            <a:noAutofit/>
          </a:bodyPr>
          <a:lstStyle/>
          <a:p>
            <a:pPr marL="285750" indent="-285750">
              <a:buFont typeface="Arial" panose="020B0604020202020204" pitchFamily="34" charset="0"/>
              <a:buChar char="•"/>
            </a:pPr>
            <a:r>
              <a:rPr lang="vi-VN" sz="1800" b="1" dirty="0">
                <a:latin typeface="Cambria" panose="02040503050406030204" pitchFamily="18" charset="0"/>
                <a:ea typeface="Cambria" panose="02040503050406030204" pitchFamily="18" charset="0"/>
              </a:rPr>
              <a:t>Quản lý giao tiếp và kết nối: </a:t>
            </a:r>
            <a:r>
              <a:rPr lang="vi-VN" sz="1800" dirty="0">
                <a:latin typeface="Cambria" panose="02040503050406030204" pitchFamily="18" charset="0"/>
                <a:ea typeface="Cambria" panose="02040503050406030204" pitchFamily="18" charset="0"/>
              </a:rPr>
              <a:t>Thiết lập, duy trì và kết thúc kết nối (ví dụ: TCP).</a:t>
            </a:r>
          </a:p>
          <a:p>
            <a:pPr marL="285750" indent="-285750">
              <a:buFont typeface="Arial" panose="020B0604020202020204" pitchFamily="34" charset="0"/>
              <a:buChar char="•"/>
            </a:pPr>
            <a:r>
              <a:rPr lang="vi-VN" sz="1800" b="1" dirty="0">
                <a:latin typeface="Cambria" panose="02040503050406030204" pitchFamily="18" charset="0"/>
                <a:ea typeface="Cambria" panose="02040503050406030204" pitchFamily="18" charset="0"/>
              </a:rPr>
              <a:t>Định tuyến và truyền tải dữ liệu: </a:t>
            </a:r>
            <a:r>
              <a:rPr lang="vi-VN" sz="1800" dirty="0">
                <a:latin typeface="Cambria" panose="02040503050406030204" pitchFamily="18" charset="0"/>
                <a:ea typeface="Cambria" panose="02040503050406030204" pitchFamily="18" charset="0"/>
              </a:rPr>
              <a:t>Xác định đường đi tối ưu cho các gói tin (ví dụ: IP).</a:t>
            </a:r>
          </a:p>
          <a:p>
            <a:pPr marL="285750" indent="-285750">
              <a:buFont typeface="Arial" panose="020B0604020202020204" pitchFamily="34" charset="0"/>
              <a:buChar char="•"/>
            </a:pPr>
            <a:r>
              <a:rPr lang="vi-VN" sz="1800" b="1" dirty="0">
                <a:latin typeface="Cambria" panose="02040503050406030204" pitchFamily="18" charset="0"/>
                <a:ea typeface="Cambria" panose="02040503050406030204" pitchFamily="18" charset="0"/>
              </a:rPr>
              <a:t>Đảm bảo tính toàn vẹn và tin cậy: </a:t>
            </a:r>
            <a:r>
              <a:rPr lang="vi-VN" sz="1800" dirty="0">
                <a:latin typeface="Cambria" panose="02040503050406030204" pitchFamily="18" charset="0"/>
                <a:ea typeface="Cambria" panose="02040503050406030204" pitchFamily="18" charset="0"/>
              </a:rPr>
              <a:t>Kiểm tra lỗi và xác nhận dữ liệu (ví dụ: TCP).</a:t>
            </a:r>
          </a:p>
          <a:p>
            <a:pPr marL="285750" indent="-285750">
              <a:buFont typeface="Arial" panose="020B0604020202020204" pitchFamily="34" charset="0"/>
              <a:buChar char="•"/>
            </a:pPr>
            <a:r>
              <a:rPr lang="vi-VN" sz="1800" b="1" dirty="0">
                <a:latin typeface="Cambria" panose="02040503050406030204" pitchFamily="18" charset="0"/>
                <a:ea typeface="Cambria" panose="02040503050406030204" pitchFamily="18" charset="0"/>
              </a:rPr>
              <a:t>Quản lý địa chỉ và định danh: </a:t>
            </a:r>
            <a:r>
              <a:rPr lang="vi-VN" sz="1800" dirty="0">
                <a:latin typeface="Cambria" panose="02040503050406030204" pitchFamily="18" charset="0"/>
                <a:ea typeface="Cambria" panose="02040503050406030204" pitchFamily="18" charset="0"/>
              </a:rPr>
              <a:t>Chuyển đổi địa chỉ IP thành địa chỉ MAC (ví dụ: ARP).</a:t>
            </a:r>
          </a:p>
          <a:p>
            <a:pPr marL="285750" indent="-285750">
              <a:buFont typeface="Arial" panose="020B0604020202020204" pitchFamily="34" charset="0"/>
              <a:buChar char="•"/>
            </a:pPr>
            <a:r>
              <a:rPr lang="vi-VN" sz="1800" b="1" dirty="0">
                <a:latin typeface="Cambria" panose="02040503050406030204" pitchFamily="18" charset="0"/>
                <a:ea typeface="Cambria" panose="02040503050406030204" pitchFamily="18" charset="0"/>
              </a:rPr>
              <a:t>Bảo mật dữ liệu: </a:t>
            </a:r>
            <a:r>
              <a:rPr lang="vi-VN" sz="1800" dirty="0">
                <a:latin typeface="Cambria" panose="02040503050406030204" pitchFamily="18" charset="0"/>
                <a:ea typeface="Cambria" panose="02040503050406030204" pitchFamily="18" charset="0"/>
              </a:rPr>
              <a:t>Mã hóa dữ liệu để bảo vệ thông tin (ví dụ: HTTPS).</a:t>
            </a:r>
          </a:p>
          <a:p>
            <a:pPr marL="285750" indent="-285750">
              <a:buFont typeface="Arial" panose="020B0604020202020204" pitchFamily="34" charset="0"/>
              <a:buChar char="•"/>
            </a:pPr>
            <a:r>
              <a:rPr lang="vi-VN" sz="1800" b="1" dirty="0">
                <a:latin typeface="Cambria" panose="02040503050406030204" pitchFamily="18" charset="0"/>
                <a:ea typeface="Cambria" panose="02040503050406030204" pitchFamily="18" charset="0"/>
              </a:rPr>
              <a:t>Điều khiển lưu lượng và tránh tắc nghẽn: </a:t>
            </a:r>
            <a:r>
              <a:rPr lang="vi-VN" sz="1800" dirty="0">
                <a:latin typeface="Cambria" panose="02040503050406030204" pitchFamily="18" charset="0"/>
                <a:ea typeface="Cambria" panose="02040503050406030204" pitchFamily="18" charset="0"/>
              </a:rPr>
              <a:t>Điều chỉnh tốc độ truyền để mạng hoạt động mượt mà (ví dụ: TCP).</a:t>
            </a:r>
          </a:p>
          <a:p>
            <a:pPr marL="285750" indent="-285750">
              <a:buFont typeface="Arial" panose="020B0604020202020204" pitchFamily="34" charset="0"/>
              <a:buChar char="•"/>
            </a:pPr>
            <a:r>
              <a:rPr lang="vi-VN" sz="1800" b="1" dirty="0">
                <a:latin typeface="Cambria" panose="02040503050406030204" pitchFamily="18" charset="0"/>
                <a:ea typeface="Cambria" panose="02040503050406030204" pitchFamily="18" charset="0"/>
              </a:rPr>
              <a:t>Phân giải tên miền: </a:t>
            </a:r>
            <a:r>
              <a:rPr lang="vi-VN" sz="1800" dirty="0">
                <a:latin typeface="Cambria" panose="02040503050406030204" pitchFamily="18" charset="0"/>
                <a:ea typeface="Cambria" panose="02040503050406030204" pitchFamily="18" charset="0"/>
              </a:rPr>
              <a:t>Chuyển đổi tên miền thành địa chỉ IP (ví dụ: DNS)</a:t>
            </a:r>
          </a:p>
        </p:txBody>
      </p:sp>
    </p:spTree>
    <p:extLst>
      <p:ext uri="{BB962C8B-B14F-4D97-AF65-F5344CB8AC3E}">
        <p14:creationId xmlns:p14="http://schemas.microsoft.com/office/powerpoint/2010/main" val="1866053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D0A72-F567-4BA0-3A80-AD9FBCA8B5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869D20-5026-EEA3-1B5F-B8CBCBA3E109}"/>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Ai là người được ghi nhận đã khởi xướng sự hình thành và phát triển của giao thức HTTP vào năm 1989?</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BDECB76E-81FD-71CE-EB5E-CB2C49A3BA17}"/>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1FBD6AE6-9869-4BEA-91F7-15D36C3EEF06}"/>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B65AE736-4119-6770-D762-C467FF85952B}"/>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F274FBCF-ED59-A530-1E1F-127D0C6791F5}"/>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02E7E3A0-D3DA-FF38-633D-E73FAEFFF1F3}"/>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3E1A5A17-7E4D-F473-197C-8BB2C4692F04}"/>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0D430B3B-B7B3-6D08-8531-6429A77412EA}"/>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0EFD5166-1DE7-BEC1-38B8-4F3AEA8D1030}"/>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6A5C20D6-565B-CCB5-8180-92E968CEF7DC}"/>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58B23DEB-C5F8-6EBA-57E7-3249B1F6B859}"/>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0CBC272A-4A83-F72C-9884-73DA34D5A320}"/>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Lực lượng Đặc nhiệm kỹ thuật Internet (IETF).</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BD9B775D-2E66-518F-BC98-1B04D53E2DBA}"/>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Tập đoàn Netscape Communications.</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6284E467-C22B-C12B-7ADA-D501F1FB692E}"/>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Tim Berners-Lee.</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3063B6D2-B01B-C08B-32B2-7996B2AAF319}"/>
              </a:ext>
            </a:extLst>
          </p:cNvPr>
          <p:cNvSpPr/>
          <p:nvPr/>
        </p:nvSpPr>
        <p:spPr>
          <a:xfrm>
            <a:off x="2970245" y="5564158"/>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Tổ chức World Wide Web Consortium (W3C).</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2864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63 -0.33356 " pathEditMode="relative" rAng="0" ptsTypes="AA">
                                      <p:cBhvr>
                                        <p:cTn id="28" dur="1000" fill="hold"/>
                                        <p:tgtEl>
                                          <p:spTgt spid="5"/>
                                        </p:tgtEl>
                                        <p:attrNameLst>
                                          <p:attrName>ppt_x</p:attrName>
                                          <p:attrName>ppt_y</p:attrName>
                                        </p:attrNameLst>
                                      </p:cBhvr>
                                      <p:rCtr x="-8815" y="-16690"/>
                                    </p:animMotion>
                                  </p:childTnLst>
                                </p:cTn>
                              </p:par>
                              <p:par>
                                <p:cTn id="29" presetID="2" presetClass="entr" presetSubtype="8" fill="hold" grpId="0" nodeType="withEffect">
                                  <p:stCondLst>
                                    <p:cond delay="10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91717"/>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91717"/>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30FC3A"/>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91717"/>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FDB71-BAAD-010C-1C09-1C8897442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2AB4A-DA19-A9C5-7764-5F11E6434C44}"/>
              </a:ext>
            </a:extLst>
          </p:cNvPr>
          <p:cNvSpPr>
            <a:spLocks noGrp="1"/>
          </p:cNvSpPr>
          <p:nvPr>
            <p:ph type="title"/>
          </p:nvPr>
        </p:nvSpPr>
        <p:spPr>
          <a:xfrm>
            <a:off x="594361" y="584005"/>
            <a:ext cx="5265264" cy="1494596"/>
          </a:xfrm>
        </p:spPr>
        <p:txBody>
          <a:bodyPr/>
          <a:lstStyle/>
          <a:p>
            <a:r>
              <a:rPr lang="vi-VN" dirty="0">
                <a:latin typeface="Cambria" panose="02040503050406030204" pitchFamily="18" charset="0"/>
                <a:ea typeface="Cambria" panose="02040503050406030204" pitchFamily="18" charset="0"/>
              </a:rPr>
              <a:t>Lịch sử hình thành HTTP và HTTPS</a:t>
            </a:r>
            <a:endParaRPr lang="en-US"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60651F47-8E09-D913-4534-0E3CA31992B4}"/>
              </a:ext>
            </a:extLst>
          </p:cNvPr>
          <p:cNvSpPr>
            <a:spLocks noGrp="1"/>
          </p:cNvSpPr>
          <p:nvPr>
            <p:ph sz="quarter" idx="15"/>
          </p:nvPr>
        </p:nvSpPr>
        <p:spPr>
          <a:xfrm>
            <a:off x="1160665" y="3068214"/>
            <a:ext cx="4490827" cy="2916595"/>
          </a:xfrm>
        </p:spPr>
        <p:txBody>
          <a:bodyPr>
            <a:noAutofit/>
          </a:bodyPr>
          <a:lstStyle/>
          <a:p>
            <a:pPr algn="just"/>
            <a:r>
              <a:rPr lang="en-US" sz="2400" b="1" dirty="0">
                <a:latin typeface="Cambria" panose="02040503050406030204" pitchFamily="18" charset="0"/>
                <a:ea typeface="Cambria" panose="02040503050406030204" pitchFamily="18" charset="0"/>
              </a:rPr>
              <a:t>HTTP</a:t>
            </a:r>
            <a:endParaRPr lang="vi-VN" sz="2400" b="1" dirty="0">
              <a:latin typeface="Cambria" panose="02040503050406030204" pitchFamily="18" charset="0"/>
              <a:ea typeface="Cambria" panose="02040503050406030204" pitchFamily="18" charset="0"/>
            </a:endParaRPr>
          </a:p>
          <a:p>
            <a:pPr algn="just"/>
            <a:r>
              <a:rPr lang="vi-VN" sz="2400" dirty="0">
                <a:latin typeface="Cambria" panose="02040503050406030204" pitchFamily="18" charset="0"/>
                <a:ea typeface="Cambria" panose="02040503050406030204" pitchFamily="18" charset="0"/>
              </a:rPr>
              <a:t>Khởi xướng bởi Tim Berners-Lee năm 1989. Phát triển qua các phiên bản: HTTP/0.9, HTTP/1.0, HTTP/1.1 (1997 - cải tiến lớn), HTTP/2 (2015 - tăng hiệu suất), và HTTP/3 (2020 - sử dụng QUIC).</a:t>
            </a:r>
          </a:p>
        </p:txBody>
      </p:sp>
      <p:sp>
        <p:nvSpPr>
          <p:cNvPr id="4" name="Content Placeholder 3">
            <a:extLst>
              <a:ext uri="{FF2B5EF4-FFF2-40B4-BE49-F238E27FC236}">
                <a16:creationId xmlns:a16="http://schemas.microsoft.com/office/drawing/2014/main" id="{13C15D0D-D357-3CE5-72C6-731E0BC08166}"/>
              </a:ext>
            </a:extLst>
          </p:cNvPr>
          <p:cNvSpPr>
            <a:spLocks noGrp="1"/>
          </p:cNvSpPr>
          <p:nvPr>
            <p:ph sz="quarter" idx="16"/>
          </p:nvPr>
        </p:nvSpPr>
        <p:spPr>
          <a:xfrm>
            <a:off x="6540509" y="3068214"/>
            <a:ext cx="4490825" cy="2646007"/>
          </a:xfrm>
        </p:spPr>
        <p:txBody>
          <a:bodyPr>
            <a:noAutofit/>
          </a:bodyPr>
          <a:lstStyle/>
          <a:p>
            <a:pPr algn="just"/>
            <a:r>
              <a:rPr lang="en-US" sz="2400" b="1" dirty="0">
                <a:latin typeface="Cambria" panose="02040503050406030204" pitchFamily="18" charset="0"/>
                <a:ea typeface="Cambria" panose="02040503050406030204" pitchFamily="18" charset="0"/>
              </a:rPr>
              <a:t>HTTPS</a:t>
            </a:r>
            <a:endParaRPr lang="vi-VN" sz="2400" b="1" dirty="0">
              <a:latin typeface="Cambria" panose="02040503050406030204" pitchFamily="18" charset="0"/>
              <a:ea typeface="Cambria" panose="02040503050406030204" pitchFamily="18" charset="0"/>
            </a:endParaRPr>
          </a:p>
          <a:p>
            <a:pPr algn="just"/>
            <a:r>
              <a:rPr lang="vi-VN" sz="2400" dirty="0">
                <a:latin typeface="Cambria" panose="02040503050406030204" pitchFamily="18" charset="0"/>
                <a:ea typeface="Cambria" panose="02040503050406030204" pitchFamily="18" charset="0"/>
              </a:rPr>
              <a:t>Xuất hiện vào giữa những năm 1990 khi Netscape phát triển SSL. SSL 2.0 ra mắt năm 1995, sau đó được cải tiến thành SSL 3.0 và TLS (Transport Layer Security) để tăng cường bảo mật.</a:t>
            </a:r>
          </a:p>
        </p:txBody>
      </p:sp>
    </p:spTree>
    <p:extLst>
      <p:ext uri="{BB962C8B-B14F-4D97-AF65-F5344CB8AC3E}">
        <p14:creationId xmlns:p14="http://schemas.microsoft.com/office/powerpoint/2010/main" val="2563876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7670E-1F4F-159A-3349-7956DA976E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15E2FA-5B4A-0B4E-750A-72D646619844}"/>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Giao thức HTTP (HyperText Transfer Protocol) hoạt động ở tầng nào của mô hình OSI và TCP/IP?</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7AF6CE15-ED9B-92F1-D0CE-D5F28B4FD0D2}"/>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5AA600FC-2BA2-87AA-6D12-FE962351392A}"/>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58787E15-9CD0-F0D5-B348-0CE97D5280D7}"/>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198BA772-C369-6CF7-6395-906FAEAE2558}"/>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313D251E-9E72-D285-BDA4-5780A01A8331}"/>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7844253D-785F-682D-1523-0C4EBA4AA63E}"/>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5CEE0660-D853-3D29-1531-5B150FA732F4}"/>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D8C67DB2-6673-6D7A-96F4-447EDDF9971F}"/>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6FC85AD3-E917-AF4B-61F0-35ECA54BF8EF}"/>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7458978E-C020-8F36-DF3F-83ADD0504E8D}"/>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2534DE46-BB44-055A-AB5D-01D241960873}"/>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Tầng Mạng (Network Layer).</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26CD4335-BF9A-ECB6-EA3C-42F8E74668DD}"/>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Tầng Ứng dụng (Application Layer).</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7B2D99E3-2CA6-1EB1-82B7-A8B3BF68BDE7}"/>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Tầng Liên kết dữ liệu (Data Link Layer).</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DE8C58E4-DA06-A1AE-B4B2-600D811E3FAD}"/>
              </a:ext>
            </a:extLst>
          </p:cNvPr>
          <p:cNvSpPr/>
          <p:nvPr/>
        </p:nvSpPr>
        <p:spPr>
          <a:xfrm>
            <a:off x="2970245" y="5564158"/>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Tầng Giao vận (Transport Layer).</a:t>
            </a:r>
            <a:endParaRPr lang="en-US" dirty="0">
              <a:solidFill>
                <a:schemeClr val="bg1"/>
              </a:solidFill>
              <a:latin typeface="Cambria" panose="02040503050406030204" pitchFamily="18" charset="0"/>
              <a:ea typeface="Cambria" panose="02040503050406030204" pitchFamily="18" charset="0"/>
            </a:endParaRPr>
          </a:p>
        </p:txBody>
      </p:sp>
      <p:sp>
        <p:nvSpPr>
          <p:cNvPr id="2" name="Content Placeholder 2">
            <a:extLst>
              <a:ext uri="{FF2B5EF4-FFF2-40B4-BE49-F238E27FC236}">
                <a16:creationId xmlns:a16="http://schemas.microsoft.com/office/drawing/2014/main" id="{81493CFA-D293-8EA3-DA3D-137BBE75030F}"/>
              </a:ext>
            </a:extLst>
          </p:cNvPr>
          <p:cNvSpPr txBox="1">
            <a:spLocks/>
          </p:cNvSpPr>
          <p:nvPr/>
        </p:nvSpPr>
        <p:spPr>
          <a:xfrm>
            <a:off x="2202304" y="2871795"/>
            <a:ext cx="7787392" cy="2916595"/>
          </a:xfrm>
          <a:prstGeom prst="rect">
            <a:avLst/>
          </a:prstGeom>
        </p:spPr>
        <p:txBody>
          <a:bodyPr>
            <a:noAutofit/>
          </a:bodyPr>
          <a:lst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Cambria" panose="02040503050406030204" pitchFamily="18" charset="0"/>
                <a:ea typeface="Cambria" panose="02040503050406030204" pitchFamily="18" charset="0"/>
              </a:rPr>
              <a:t>HTTP (</a:t>
            </a:r>
            <a:r>
              <a:rPr lang="en-US" sz="2400" b="1" dirty="0" err="1">
                <a:latin typeface="Cambria" panose="02040503050406030204" pitchFamily="18" charset="0"/>
                <a:ea typeface="Cambria" panose="02040503050406030204" pitchFamily="18" charset="0"/>
              </a:rPr>
              <a:t>HyperText</a:t>
            </a:r>
            <a:r>
              <a:rPr lang="en-US" sz="2400" b="1" dirty="0">
                <a:latin typeface="Cambria" panose="02040503050406030204" pitchFamily="18" charset="0"/>
                <a:ea typeface="Cambria" panose="02040503050406030204" pitchFamily="18" charset="0"/>
              </a:rPr>
              <a:t> Transfer Protocol)</a:t>
            </a:r>
            <a:endParaRPr lang="vi-VN" sz="2400" b="1" dirty="0">
              <a:latin typeface="Cambria" panose="02040503050406030204" pitchFamily="18" charset="0"/>
              <a:ea typeface="Cambria" panose="02040503050406030204" pitchFamily="18" charset="0"/>
            </a:endParaRPr>
          </a:p>
          <a:p>
            <a:pPr marL="0" indent="0" algn="just">
              <a:buNone/>
            </a:pPr>
            <a:r>
              <a:rPr lang="vi-VN" sz="2400" dirty="0">
                <a:latin typeface="Cambria" panose="02040503050406030204" pitchFamily="18" charset="0"/>
                <a:ea typeface="Cambria" panose="02040503050406030204" pitchFamily="18" charset="0"/>
              </a:rPr>
              <a:t>Là giao thức tầng ứng dụng để truyền tải dữ liệu (văn bản, hình ảnh, video) giữa Web Server và trình duyệt. Thông tin truyền đi không được mã hóa, dễ bị tấn công nghe lén (sniffing).</a:t>
            </a:r>
          </a:p>
        </p:txBody>
      </p:sp>
    </p:spTree>
    <p:extLst>
      <p:ext uri="{BB962C8B-B14F-4D97-AF65-F5344CB8AC3E}">
        <p14:creationId xmlns:p14="http://schemas.microsoft.com/office/powerpoint/2010/main" val="422180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63 -0.33356 " pathEditMode="relative" rAng="0" ptsTypes="AA">
                                      <p:cBhvr>
                                        <p:cTn id="28" dur="1000" fill="hold"/>
                                        <p:tgtEl>
                                          <p:spTgt spid="5"/>
                                        </p:tgtEl>
                                        <p:attrNameLst>
                                          <p:attrName>ppt_x</p:attrName>
                                          <p:attrName>ppt_y</p:attrName>
                                        </p:attrNameLst>
                                      </p:cBhvr>
                                      <p:rCtr x="-8815" y="-16690"/>
                                    </p:animMotion>
                                  </p:childTnLst>
                                </p:cTn>
                              </p:par>
                              <p:par>
                                <p:cTn id="29" presetID="2" presetClass="entr" presetSubtype="8" fill="hold" grpId="0" nodeType="withEffect">
                                  <p:stCondLst>
                                    <p:cond delay="10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53"/>
                                        </p:tgtEl>
                                      </p:cBhvr>
                                    </p:animEffect>
                                    <p:set>
                                      <p:cBhvr>
                                        <p:cTn id="49" dur="1" fill="hold">
                                          <p:stCondLst>
                                            <p:cond delay="499"/>
                                          </p:stCondLst>
                                        </p:cTn>
                                        <p:tgtEl>
                                          <p:spTgt spid="5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54"/>
                                        </p:tgtEl>
                                      </p:cBhvr>
                                    </p:animEffect>
                                    <p:set>
                                      <p:cBhvr>
                                        <p:cTn id="52" dur="1" fill="hold">
                                          <p:stCondLst>
                                            <p:cond delay="499"/>
                                          </p:stCondLst>
                                        </p:cTn>
                                        <p:tgtEl>
                                          <p:spTgt spid="54"/>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55"/>
                                        </p:tgtEl>
                                      </p:cBhvr>
                                    </p:animEffect>
                                    <p:set>
                                      <p:cBhvr>
                                        <p:cTn id="55" dur="1" fill="hold">
                                          <p:stCondLst>
                                            <p:cond delay="499"/>
                                          </p:stCondLst>
                                        </p:cTn>
                                        <p:tgtEl>
                                          <p:spTgt spid="55"/>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56"/>
                                        </p:tgtEl>
                                      </p:cBhvr>
                                    </p:animEffect>
                                    <p:set>
                                      <p:cBhvr>
                                        <p:cTn id="58" dur="1" fill="hold">
                                          <p:stCondLst>
                                            <p:cond delay="4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fade">
                                      <p:cBhvr>
                                        <p:cTn id="6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4" restart="whenNotActive" fill="hold" evtFilter="cancelBubble" nodeType="interactiveSeq">
                <p:stCondLst>
                  <p:cond evt="onClick" delay="0">
                    <p:tgtEl>
                      <p:spTgt spid="53"/>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clickEffect">
                                  <p:stCondLst>
                                    <p:cond delay="0"/>
                                  </p:stCondLst>
                                  <p:childTnLst>
                                    <p:animClr clrSpc="rgb" dir="cw">
                                      <p:cBhvr>
                                        <p:cTn id="68" dur="500" fill="hold"/>
                                        <p:tgtEl>
                                          <p:spTgt spid="53"/>
                                        </p:tgtEl>
                                        <p:attrNameLst>
                                          <p:attrName>fillcolor</p:attrName>
                                        </p:attrNameLst>
                                      </p:cBhvr>
                                      <p:to>
                                        <a:srgbClr val="F91717"/>
                                      </p:to>
                                    </p:animClr>
                                    <p:set>
                                      <p:cBhvr>
                                        <p:cTn id="69" dur="500" fill="hold"/>
                                        <p:tgtEl>
                                          <p:spTgt spid="53"/>
                                        </p:tgtEl>
                                        <p:attrNameLst>
                                          <p:attrName>fill.type</p:attrName>
                                        </p:attrNameLst>
                                      </p:cBhvr>
                                      <p:to>
                                        <p:strVal val="solid"/>
                                      </p:to>
                                    </p:set>
                                    <p:set>
                                      <p:cBhvr>
                                        <p:cTn id="70"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71" restart="whenNotActive" fill="hold" evtFilter="cancelBubble" nodeType="interactiveSeq">
                <p:stCondLst>
                  <p:cond evt="onClick" delay="0">
                    <p:tgtEl>
                      <p:spTgt spid="54"/>
                    </p:tgtEl>
                  </p:cond>
                </p:stCondLst>
                <p:endSync evt="end" delay="0">
                  <p:rtn val="all"/>
                </p:endSync>
                <p:childTnLst>
                  <p:par>
                    <p:cTn id="72" fill="hold">
                      <p:stCondLst>
                        <p:cond delay="0"/>
                      </p:stCondLst>
                      <p:childTnLst>
                        <p:par>
                          <p:cTn id="73" fill="hold">
                            <p:stCondLst>
                              <p:cond delay="0"/>
                            </p:stCondLst>
                            <p:childTnLst>
                              <p:par>
                                <p:cTn id="74" presetID="1" presetClass="emph" presetSubtype="2" fill="hold" nodeType="clickEffect">
                                  <p:stCondLst>
                                    <p:cond delay="0"/>
                                  </p:stCondLst>
                                  <p:childTnLst>
                                    <p:animClr clrSpc="rgb" dir="cw">
                                      <p:cBhvr>
                                        <p:cTn id="75" dur="500" fill="hold"/>
                                        <p:tgtEl>
                                          <p:spTgt spid="54"/>
                                        </p:tgtEl>
                                        <p:attrNameLst>
                                          <p:attrName>fillcolor</p:attrName>
                                        </p:attrNameLst>
                                      </p:cBhvr>
                                      <p:to>
                                        <a:srgbClr val="11FF1C"/>
                                      </p:to>
                                    </p:animClr>
                                    <p:set>
                                      <p:cBhvr>
                                        <p:cTn id="76" dur="500" fill="hold"/>
                                        <p:tgtEl>
                                          <p:spTgt spid="54"/>
                                        </p:tgtEl>
                                        <p:attrNameLst>
                                          <p:attrName>fill.type</p:attrName>
                                        </p:attrNameLst>
                                      </p:cBhvr>
                                      <p:to>
                                        <p:strVal val="solid"/>
                                      </p:to>
                                    </p:set>
                                    <p:set>
                                      <p:cBhvr>
                                        <p:cTn id="77"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78" restart="whenNotActive" fill="hold" evtFilter="cancelBubble" nodeType="interactiveSeq">
                <p:stCondLst>
                  <p:cond evt="onClick" delay="0">
                    <p:tgtEl>
                      <p:spTgt spid="55"/>
                    </p:tgtEl>
                  </p:cond>
                </p:stCondLst>
                <p:endSync evt="end" delay="0">
                  <p:rtn val="all"/>
                </p:endSync>
                <p:childTnLst>
                  <p:par>
                    <p:cTn id="79" fill="hold">
                      <p:stCondLst>
                        <p:cond delay="0"/>
                      </p:stCondLst>
                      <p:childTnLst>
                        <p:par>
                          <p:cTn id="80" fill="hold">
                            <p:stCondLst>
                              <p:cond delay="0"/>
                            </p:stCondLst>
                            <p:childTnLst>
                              <p:par>
                                <p:cTn id="81" presetID="1" presetClass="emph" presetSubtype="2" fill="hold" nodeType="clickEffect">
                                  <p:stCondLst>
                                    <p:cond delay="0"/>
                                  </p:stCondLst>
                                  <p:childTnLst>
                                    <p:animClr clrSpc="rgb" dir="cw">
                                      <p:cBhvr>
                                        <p:cTn id="82" dur="500" fill="hold"/>
                                        <p:tgtEl>
                                          <p:spTgt spid="55"/>
                                        </p:tgtEl>
                                        <p:attrNameLst>
                                          <p:attrName>fillcolor</p:attrName>
                                        </p:attrNameLst>
                                      </p:cBhvr>
                                      <p:to>
                                        <a:srgbClr val="FF1111"/>
                                      </p:to>
                                    </p:animClr>
                                    <p:set>
                                      <p:cBhvr>
                                        <p:cTn id="83" dur="500" fill="hold"/>
                                        <p:tgtEl>
                                          <p:spTgt spid="55"/>
                                        </p:tgtEl>
                                        <p:attrNameLst>
                                          <p:attrName>fill.type</p:attrName>
                                        </p:attrNameLst>
                                      </p:cBhvr>
                                      <p:to>
                                        <p:strVal val="solid"/>
                                      </p:to>
                                    </p:set>
                                    <p:set>
                                      <p:cBhvr>
                                        <p:cTn id="84"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85" restart="whenNotActive" fill="hold" evtFilter="cancelBubble" nodeType="interactiveSeq">
                <p:stCondLst>
                  <p:cond evt="onClick" delay="0">
                    <p:tgtEl>
                      <p:spTgt spid="56"/>
                    </p:tgtEl>
                  </p:cond>
                </p:stCondLst>
                <p:endSync evt="end" delay="0">
                  <p:rtn val="all"/>
                </p:endSync>
                <p:childTnLst>
                  <p:par>
                    <p:cTn id="86" fill="hold">
                      <p:stCondLst>
                        <p:cond delay="0"/>
                      </p:stCondLst>
                      <p:childTnLst>
                        <p:par>
                          <p:cTn id="87" fill="hold">
                            <p:stCondLst>
                              <p:cond delay="0"/>
                            </p:stCondLst>
                            <p:childTnLst>
                              <p:par>
                                <p:cTn id="88" presetID="1" presetClass="emph" presetSubtype="2" fill="hold" nodeType="clickEffect">
                                  <p:stCondLst>
                                    <p:cond delay="0"/>
                                  </p:stCondLst>
                                  <p:childTnLst>
                                    <p:animClr clrSpc="rgb" dir="cw">
                                      <p:cBhvr>
                                        <p:cTn id="89" dur="500" fill="hold"/>
                                        <p:tgtEl>
                                          <p:spTgt spid="56"/>
                                        </p:tgtEl>
                                        <p:attrNameLst>
                                          <p:attrName>fillcolor</p:attrName>
                                        </p:attrNameLst>
                                      </p:cBhvr>
                                      <p:to>
                                        <a:srgbClr val="F91717"/>
                                      </p:to>
                                    </p:animClr>
                                    <p:set>
                                      <p:cBhvr>
                                        <p:cTn id="90" dur="500" fill="hold"/>
                                        <p:tgtEl>
                                          <p:spTgt spid="56"/>
                                        </p:tgtEl>
                                        <p:attrNameLst>
                                          <p:attrName>fill.type</p:attrName>
                                        </p:attrNameLst>
                                      </p:cBhvr>
                                      <p:to>
                                        <p:strVal val="solid"/>
                                      </p:to>
                                    </p:set>
                                    <p:set>
                                      <p:cBhvr>
                                        <p:cTn id="91"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3" grpId="1" animBg="1"/>
      <p:bldP spid="54" grpId="0" animBg="1"/>
      <p:bldP spid="54" grpId="1" animBg="1"/>
      <p:bldP spid="55" grpId="0" animBg="1"/>
      <p:bldP spid="55" grpId="1" animBg="1"/>
      <p:bldP spid="56" grpId="0" animBg="1"/>
      <p:bldP spid="56" grpId="1" animBg="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CE60-587E-1D5C-8B50-ED3441BA49CE}"/>
              </a:ext>
            </a:extLst>
          </p:cNvPr>
          <p:cNvSpPr>
            <a:spLocks noGrp="1"/>
          </p:cNvSpPr>
          <p:nvPr>
            <p:ph type="ctrTitle"/>
          </p:nvPr>
        </p:nvSpPr>
        <p:spPr>
          <a:xfrm>
            <a:off x="6290502" y="561158"/>
            <a:ext cx="5791200" cy="3291840"/>
          </a:xfrm>
        </p:spPr>
        <p:txBody>
          <a:bodyPr/>
          <a:lstStyle/>
          <a:p>
            <a:r>
              <a:rPr lang="vi-VN" sz="4400" dirty="0">
                <a:latin typeface="Cambria" panose="02040503050406030204" pitchFamily="18" charset="0"/>
                <a:ea typeface="Cambria" panose="02040503050406030204" pitchFamily="18" charset="0"/>
              </a:rPr>
              <a:t>Chương 2: Giao thức HTTP và HTTPS</a:t>
            </a:r>
            <a:endParaRPr lang="en-US" sz="4400" dirty="0">
              <a:latin typeface="Cambria" panose="02040503050406030204" pitchFamily="18" charset="0"/>
              <a:ea typeface="Cambria" panose="02040503050406030204" pitchFamily="18" charset="0"/>
            </a:endParaRPr>
          </a:p>
        </p:txBody>
      </p:sp>
      <p:pic>
        <p:nvPicPr>
          <p:cNvPr id="12" name="Picture Placeholder 4" descr="A close-up of a wood grain">
            <a:extLst>
              <a:ext uri="{FF2B5EF4-FFF2-40B4-BE49-F238E27FC236}">
                <a16:creationId xmlns:a16="http://schemas.microsoft.com/office/drawing/2014/main" id="{7D5BDB53-9169-3BBC-9362-0539514AC7DD}"/>
              </a:ext>
            </a:extLst>
          </p:cNvPr>
          <p:cNvPicPr>
            <a:picLocks noGrp="1" noChangeAspect="1"/>
          </p:cNvPicPr>
          <p:nvPr>
            <p:ph type="pic" sz="quarter" idx="12"/>
          </p:nvPr>
        </p:nvPicPr>
        <p:blipFill rotWithShape="1">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rcRect/>
          <a:stretch/>
        </p:blipFill>
        <p:spPr>
          <a:xfrm>
            <a:off x="0" y="-11113"/>
            <a:ext cx="5791200" cy="6880226"/>
          </a:xfrm>
        </p:spPr>
      </p:pic>
    </p:spTree>
    <p:extLst>
      <p:ext uri="{BB962C8B-B14F-4D97-AF65-F5344CB8AC3E}">
        <p14:creationId xmlns:p14="http://schemas.microsoft.com/office/powerpoint/2010/main" val="1440871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BB9CC-2A1F-67D7-5A50-2667C745DF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D165BF6-E5F1-890D-B1F9-6B0B2DA6D3D1}"/>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Trong mô hình Client – Server, vai trò chính của Client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0146C348-23D0-2627-3F76-3E8B8CC2E489}"/>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D2F04A4A-78DB-D2A0-D83A-12671F8BFD7A}"/>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B05005F0-0BF3-B814-9E3A-88D1424B7CD7}"/>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57511237-CA2F-05ED-3907-CA351FB7B74C}"/>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2E10EAE3-197C-DABD-776B-9F6AA8EAEE20}"/>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361E4B81-7E35-48F9-51CB-434AB5BBC6FF}"/>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58907D6D-D0A8-5783-5B3E-5E791B51C203}"/>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AA3D6150-919D-B9B0-0787-D8E93E0205EC}"/>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6F3F2DDF-0039-70A3-5B74-6740EA7157AF}"/>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278ECA5B-2AC2-229B-1D3F-3F57E595C9C5}"/>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42538D25-C95A-D0F0-874A-494D95027A8C}"/>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Gửi yêu cầu đến các máy chủ để được xử lý và nhận lại kết quả.</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DDB4820E-77D8-283A-2650-558559B0AF9E}"/>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Cung cấp tài nguyên và dịch vụ cho các máy tính khác trong mạng.</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6DFF7FFF-572F-5B3E-39E4-03069AFA0807}"/>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Quản lý và điều phối kết nối mạng giữa nhiều máy khách.</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39B4493B-8B4D-10CE-55F3-B109B03396C5}"/>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Xử lý yêu cầu và trả kết quả về cho máy chủ.</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2156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11FF1C"/>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91717"/>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91717"/>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10F7E-CC26-AFAD-4030-253A5669D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2A771-D825-6523-DD20-62BB2499A8E1}"/>
              </a:ext>
            </a:extLst>
          </p:cNvPr>
          <p:cNvSpPr>
            <a:spLocks noGrp="1"/>
          </p:cNvSpPr>
          <p:nvPr>
            <p:ph type="title"/>
          </p:nvPr>
        </p:nvSpPr>
        <p:spPr>
          <a:xfrm>
            <a:off x="594359" y="584005"/>
            <a:ext cx="5946149" cy="1494596"/>
          </a:xfrm>
        </p:spPr>
        <p:txBody>
          <a:bodyPr/>
          <a:lstStyle/>
          <a:p>
            <a:r>
              <a:rPr lang="vi-VN">
                <a:latin typeface="Cambria" panose="02040503050406030204" pitchFamily="18" charset="0"/>
                <a:ea typeface="Cambria" panose="02040503050406030204" pitchFamily="18" charset="0"/>
              </a:rPr>
              <a:t>Mô hình Client-Server</a:t>
            </a:r>
            <a:endParaRPr lang="en-US"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86020A89-F2C8-F9B0-8A80-313E29B96F0F}"/>
              </a:ext>
            </a:extLst>
          </p:cNvPr>
          <p:cNvSpPr>
            <a:spLocks noGrp="1"/>
          </p:cNvSpPr>
          <p:nvPr>
            <p:ph sz="quarter" idx="15"/>
          </p:nvPr>
        </p:nvSpPr>
        <p:spPr>
          <a:xfrm>
            <a:off x="1160665" y="3068214"/>
            <a:ext cx="4490827" cy="2916595"/>
          </a:xfrm>
        </p:spPr>
        <p:txBody>
          <a:bodyPr>
            <a:noAutofit/>
          </a:bodyPr>
          <a:lstStyle/>
          <a:p>
            <a:pPr algn="just"/>
            <a:r>
              <a:rPr lang="vi-VN" sz="2400" dirty="0">
                <a:latin typeface="Cambria" panose="02040503050406030204" pitchFamily="18" charset="0"/>
                <a:ea typeface="Cambria" panose="02040503050406030204" pitchFamily="18" charset="0"/>
              </a:rPr>
              <a:t>Mô hình Client Server là mô hình mạng máy tính trong đó các máy tính con được đóng vai trò như một máy khách, chúng làm nhiệm vụ gửi yêu cầu đến các máy chủ. Để máy chủ xử lý yêu cầu và trả kết quả về cho máy khách đó.</a:t>
            </a:r>
          </a:p>
        </p:txBody>
      </p:sp>
      <p:pic>
        <p:nvPicPr>
          <p:cNvPr id="7" name="Image 7" descr="Ảnh có chứa văn bản, ảnh chụp màn hình, biểu đồ, hàng&#10;&#10;Nội dung do AI tạo ra có thể không chính xác.">
            <a:extLst>
              <a:ext uri="{FF2B5EF4-FFF2-40B4-BE49-F238E27FC236}">
                <a16:creationId xmlns:a16="http://schemas.microsoft.com/office/drawing/2014/main" id="{C8E71FFA-1955-EA02-6826-758952FCB4FB}"/>
              </a:ext>
            </a:extLst>
          </p:cNvPr>
          <p:cNvPicPr>
            <a:picLocks/>
          </p:cNvPicPr>
          <p:nvPr/>
        </p:nvPicPr>
        <p:blipFill>
          <a:blip r:embed="rId3" cstate="print"/>
          <a:stretch>
            <a:fillRect/>
          </a:stretch>
        </p:blipFill>
        <p:spPr>
          <a:xfrm>
            <a:off x="6096000" y="2904272"/>
            <a:ext cx="5270592" cy="3080537"/>
          </a:xfrm>
          <a:prstGeom prst="rect">
            <a:avLst/>
          </a:prstGeom>
        </p:spPr>
      </p:pic>
    </p:spTree>
    <p:extLst>
      <p:ext uri="{BB962C8B-B14F-4D97-AF65-F5344CB8AC3E}">
        <p14:creationId xmlns:p14="http://schemas.microsoft.com/office/powerpoint/2010/main" val="4063775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1B94C-218E-8F1E-23B3-0786754FEF2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2A91EB-B97B-4A5A-4AB6-920AD13D4350}"/>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Đặc trưng nào sau đây KHÔNG phải là đặc trưng cơ bản của giao thức HTTP?</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E4B3E1B3-FE96-23FC-A8E2-1A6D190DCC94}"/>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8202E142-0D49-55C4-50C3-A5EAAB294901}"/>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B2C9FA74-2925-AD00-CFB8-7F09AC2D45C8}"/>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05AE15D1-0B98-93B2-719C-DAC26D619521}"/>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8464F18F-960E-C521-7FB4-D1A613659047}"/>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430F1D57-F5F5-9DFF-7212-F7E31FDAF867}"/>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8D52CED6-6C61-136A-FB89-8C89D4BC0FBC}"/>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F4B8C2BD-9EDE-3DB1-E953-72CEFB471E03}"/>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A92E16BB-D6DA-2D3B-F97A-B1C65A26DFB8}"/>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C1420799-DD1D-DEE7-8D9C-216460E6FA41}"/>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515683B1-B11B-FEF8-4594-14C3CB91AA7B}"/>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Stateless (Không lưu trạng thái)</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5A717A85-7A91-7C7D-6131-2C0A3873E174}"/>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Media independence (Độc lập truyền thông)</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27DA9BFE-A2A6-784A-8284-09FB87C37107}"/>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Stateful (Có lưu trạng thái).</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FD3F2A65-9F83-9CF4-925A-732E10372F3F}"/>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Connectionless (Kết nối không liên tục)</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3950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91717"/>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11FF1C"/>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91717"/>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0152-68EE-FC1A-5AB0-BB4CD95B1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A5F634-68AC-E10F-B4D7-81CFECCA387F}"/>
              </a:ext>
            </a:extLst>
          </p:cNvPr>
          <p:cNvSpPr>
            <a:spLocks noGrp="1"/>
          </p:cNvSpPr>
          <p:nvPr>
            <p:ph type="title"/>
          </p:nvPr>
        </p:nvSpPr>
        <p:spPr>
          <a:xfrm>
            <a:off x="594359" y="584005"/>
            <a:ext cx="4808065" cy="1494596"/>
          </a:xfrm>
        </p:spPr>
        <p:txBody>
          <a:bodyPr/>
          <a:lstStyle/>
          <a:p>
            <a:r>
              <a:rPr lang="vi-VN" dirty="0">
                <a:latin typeface="Cambria" panose="02040503050406030204" pitchFamily="18" charset="0"/>
                <a:ea typeface="Cambria" panose="02040503050406030204" pitchFamily="18" charset="0"/>
              </a:rPr>
              <a:t>Đặc trưng cơ bản của HTTP</a:t>
            </a:r>
            <a:endParaRPr lang="en-US"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80487391-CB0B-F9AD-0005-58C2050C4FC8}"/>
              </a:ext>
            </a:extLst>
          </p:cNvPr>
          <p:cNvSpPr txBox="1"/>
          <p:nvPr/>
        </p:nvSpPr>
        <p:spPr>
          <a:xfrm>
            <a:off x="671804" y="3816220"/>
            <a:ext cx="3470987" cy="1754326"/>
          </a:xfrm>
          <a:prstGeom prst="rect">
            <a:avLst/>
          </a:prstGeom>
          <a:noFill/>
        </p:spPr>
        <p:txBody>
          <a:bodyPr wrap="square" rtlCol="0">
            <a:spAutoFit/>
          </a:bodyPr>
          <a:lstStyle/>
          <a:p>
            <a:pPr algn="ctr"/>
            <a:r>
              <a:rPr lang="en-US" b="1" dirty="0">
                <a:solidFill>
                  <a:schemeClr val="bg1"/>
                </a:solidFill>
              </a:rPr>
              <a:t>Connectionless (</a:t>
            </a:r>
            <a:r>
              <a:rPr lang="en-US" b="1" dirty="0" err="1">
                <a:solidFill>
                  <a:schemeClr val="bg1"/>
                </a:solidFill>
              </a:rPr>
              <a:t>Không</a:t>
            </a:r>
            <a:r>
              <a:rPr lang="en-US" b="1" dirty="0">
                <a:solidFill>
                  <a:schemeClr val="bg1"/>
                </a:solidFill>
              </a:rPr>
              <a:t> </a:t>
            </a:r>
            <a:r>
              <a:rPr lang="en-US" b="1" dirty="0" err="1">
                <a:solidFill>
                  <a:schemeClr val="bg1"/>
                </a:solidFill>
              </a:rPr>
              <a:t>kết</a:t>
            </a:r>
            <a:r>
              <a:rPr lang="en-US" b="1" dirty="0">
                <a:solidFill>
                  <a:schemeClr val="bg1"/>
                </a:solidFill>
              </a:rPr>
              <a:t> </a:t>
            </a:r>
            <a:r>
              <a:rPr lang="en-US" b="1" dirty="0" err="1">
                <a:solidFill>
                  <a:schemeClr val="bg1"/>
                </a:solidFill>
              </a:rPr>
              <a:t>nối</a:t>
            </a:r>
            <a:r>
              <a:rPr lang="en-US" b="1" dirty="0">
                <a:solidFill>
                  <a:schemeClr val="bg1"/>
                </a:solidFill>
              </a:rPr>
              <a:t>)</a:t>
            </a:r>
            <a:endParaRPr lang="vi-VN" b="1" dirty="0">
              <a:solidFill>
                <a:schemeClr val="bg1"/>
              </a:solidFill>
            </a:endParaRPr>
          </a:p>
          <a:p>
            <a:pPr algn="ctr"/>
            <a:endParaRPr lang="en-US" dirty="0">
              <a:solidFill>
                <a:schemeClr val="bg1"/>
              </a:solidFill>
            </a:endParaRPr>
          </a:p>
          <a:p>
            <a:pPr algn="ctr"/>
            <a:r>
              <a:rPr lang="vi-VN" dirty="0">
                <a:solidFill>
                  <a:schemeClr val="bg1"/>
                </a:solidFill>
              </a:rPr>
              <a:t>Mỗi cặp yêu cầu và phản hồi là một giao tiếp độc lập. Kết nối được đóng sau mỗi lần trao đổi.</a:t>
            </a:r>
          </a:p>
          <a:p>
            <a:pPr algn="ctr"/>
            <a:endParaRPr lang="en-US" dirty="0"/>
          </a:p>
        </p:txBody>
      </p:sp>
      <p:sp>
        <p:nvSpPr>
          <p:cNvPr id="8" name="TextBox 7">
            <a:extLst>
              <a:ext uri="{FF2B5EF4-FFF2-40B4-BE49-F238E27FC236}">
                <a16:creationId xmlns:a16="http://schemas.microsoft.com/office/drawing/2014/main" id="{D8B721EA-F4CD-D56B-F1F0-09EE8ECDED42}"/>
              </a:ext>
            </a:extLst>
          </p:cNvPr>
          <p:cNvSpPr txBox="1"/>
          <p:nvPr/>
        </p:nvSpPr>
        <p:spPr>
          <a:xfrm>
            <a:off x="4360506" y="3816220"/>
            <a:ext cx="3470987" cy="1754326"/>
          </a:xfrm>
          <a:prstGeom prst="rect">
            <a:avLst/>
          </a:prstGeom>
          <a:noFill/>
        </p:spPr>
        <p:txBody>
          <a:bodyPr wrap="square" rtlCol="0">
            <a:spAutoFit/>
          </a:bodyPr>
          <a:lstStyle/>
          <a:p>
            <a:pPr algn="ctr"/>
            <a:r>
              <a:rPr lang="vi-VN" b="1" dirty="0">
                <a:solidFill>
                  <a:schemeClr val="bg1"/>
                </a:solidFill>
              </a:rPr>
              <a:t>Stateless (Không lưu trạng thái)</a:t>
            </a:r>
          </a:p>
          <a:p>
            <a:pPr algn="ctr"/>
            <a:endParaRPr lang="en-US" dirty="0">
              <a:solidFill>
                <a:schemeClr val="bg1"/>
              </a:solidFill>
            </a:endParaRPr>
          </a:p>
          <a:p>
            <a:pPr algn="ctr"/>
            <a:r>
              <a:rPr lang="vi-VN" dirty="0">
                <a:solidFill>
                  <a:schemeClr val="bg1"/>
                </a:solidFill>
              </a:rPr>
              <a:t>Mỗi yêu cầu từ client là độc lập, server không lưu trữ thông tin về các yêu cầu trước đó.</a:t>
            </a:r>
          </a:p>
          <a:p>
            <a:pPr algn="ctr"/>
            <a:endParaRPr lang="en-US" dirty="0"/>
          </a:p>
        </p:txBody>
      </p:sp>
      <p:sp>
        <p:nvSpPr>
          <p:cNvPr id="9" name="TextBox 8">
            <a:extLst>
              <a:ext uri="{FF2B5EF4-FFF2-40B4-BE49-F238E27FC236}">
                <a16:creationId xmlns:a16="http://schemas.microsoft.com/office/drawing/2014/main" id="{DBB0215A-7099-F5AB-27C0-7DE93C94E989}"/>
              </a:ext>
            </a:extLst>
          </p:cNvPr>
          <p:cNvSpPr txBox="1"/>
          <p:nvPr/>
        </p:nvSpPr>
        <p:spPr>
          <a:xfrm>
            <a:off x="8049209" y="3816220"/>
            <a:ext cx="3470987" cy="1477328"/>
          </a:xfrm>
          <a:prstGeom prst="rect">
            <a:avLst/>
          </a:prstGeom>
          <a:noFill/>
        </p:spPr>
        <p:txBody>
          <a:bodyPr wrap="square" rtlCol="0">
            <a:spAutoFit/>
          </a:bodyPr>
          <a:lstStyle/>
          <a:p>
            <a:pPr algn="ctr"/>
            <a:r>
              <a:rPr lang="vi-VN" b="1" dirty="0">
                <a:solidFill>
                  <a:schemeClr val="bg1"/>
                </a:solidFill>
              </a:rPr>
              <a:t>Media Independence (Độc lập phương tiện)</a:t>
            </a:r>
            <a:endParaRPr lang="en-US" dirty="0">
              <a:solidFill>
                <a:schemeClr val="bg1"/>
              </a:solidFill>
            </a:endParaRPr>
          </a:p>
          <a:p>
            <a:pPr algn="ctr"/>
            <a:r>
              <a:rPr lang="vi-VN" dirty="0">
                <a:solidFill>
                  <a:schemeClr val="bg1"/>
                </a:solidFill>
              </a:rPr>
              <a:t>Dữ liệu có thể được truyền miễn là cả client và server đều hiểu cách xử lý nội dung đó.</a:t>
            </a:r>
            <a:endParaRPr lang="en-US" dirty="0"/>
          </a:p>
        </p:txBody>
      </p:sp>
      <p:cxnSp>
        <p:nvCxnSpPr>
          <p:cNvPr id="11" name="Straight Connector 10">
            <a:extLst>
              <a:ext uri="{FF2B5EF4-FFF2-40B4-BE49-F238E27FC236}">
                <a16:creationId xmlns:a16="http://schemas.microsoft.com/office/drawing/2014/main" id="{A20809C8-6FF0-4BD3-52DF-82DA9FECD08F}"/>
              </a:ext>
            </a:extLst>
          </p:cNvPr>
          <p:cNvCxnSpPr/>
          <p:nvPr/>
        </p:nvCxnSpPr>
        <p:spPr>
          <a:xfrm>
            <a:off x="979714" y="3116424"/>
            <a:ext cx="10254343" cy="0"/>
          </a:xfrm>
          <a:prstGeom prst="line">
            <a:avLst/>
          </a:prstGeom>
          <a:ln>
            <a:solidFill>
              <a:schemeClr val="accent1">
                <a:lumMod val="75000"/>
              </a:schemeClr>
            </a:solidFill>
          </a:ln>
        </p:spPr>
        <p:style>
          <a:lnRef idx="3">
            <a:schemeClr val="accent1"/>
          </a:lnRef>
          <a:fillRef idx="0">
            <a:schemeClr val="accent1"/>
          </a:fillRef>
          <a:effectRef idx="2">
            <a:schemeClr val="accent1"/>
          </a:effectRef>
          <a:fontRef idx="minor">
            <a:schemeClr val="tx1"/>
          </a:fontRef>
        </p:style>
      </p:cxnSp>
      <p:sp>
        <p:nvSpPr>
          <p:cNvPr id="12" name="Rectangle: Rounded Corners 11">
            <a:extLst>
              <a:ext uri="{FF2B5EF4-FFF2-40B4-BE49-F238E27FC236}">
                <a16:creationId xmlns:a16="http://schemas.microsoft.com/office/drawing/2014/main" id="{7928AEBD-FDAC-45D0-FCF7-47D157B8E4BF}"/>
              </a:ext>
            </a:extLst>
          </p:cNvPr>
          <p:cNvSpPr/>
          <p:nvPr/>
        </p:nvSpPr>
        <p:spPr>
          <a:xfrm>
            <a:off x="2216019" y="2934483"/>
            <a:ext cx="382556" cy="354560"/>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A6498C1-774C-6439-E344-5A12B3159C52}"/>
              </a:ext>
            </a:extLst>
          </p:cNvPr>
          <p:cNvSpPr/>
          <p:nvPr/>
        </p:nvSpPr>
        <p:spPr>
          <a:xfrm>
            <a:off x="5904721" y="2934483"/>
            <a:ext cx="382556" cy="354560"/>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73A7E0C-5805-A9BB-5BE1-7E9658299F19}"/>
              </a:ext>
            </a:extLst>
          </p:cNvPr>
          <p:cNvSpPr/>
          <p:nvPr/>
        </p:nvSpPr>
        <p:spPr>
          <a:xfrm>
            <a:off x="9593423" y="2934483"/>
            <a:ext cx="382556" cy="354560"/>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5381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F33F2-10EF-AF4F-0F5D-2BA827074D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80303B-6453-EFFA-36AB-381DE6A5D948}"/>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Phương thức HTTP nào được sử dụng để yêu cầu máy chủ truy xuất một tài nguyên?</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ABDD0F4D-4BCA-3FAB-38F5-DDBEBB82E9B2}"/>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C2AF5E3D-E415-0C90-2199-D51513A37BE7}"/>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3476AE3F-B265-6F1E-AF7F-F451832B4171}"/>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9D0DF5BC-8EE7-9368-833B-AB496DEF1625}"/>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017934C8-5ED7-D6E6-C76D-7FE5CC94709F}"/>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70A4F414-BFE2-0348-8801-DC7D47CB2813}"/>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88E25A6C-72C4-EB8F-82C8-B9FEC090B116}"/>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18884D56-AE8F-E02F-C148-D1EA95ED4F07}"/>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FF4F8D90-6F23-6358-5F53-3BE5ED23D31F}"/>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D0528981-BE4E-729D-1C2A-331ED687E0DE}"/>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11886A21-93FD-13D8-BD3B-9E0295978E54}"/>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PUT</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0197A104-F315-C5EB-6ADB-675AB99E14A7}"/>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DELETE</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9D5AA728-93A6-D304-37EF-9CC64E40D67A}"/>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POST</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E09373F7-EA0D-48DD-B1F8-94CF06B850EB}"/>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GET</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7877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318 -0.33634 " pathEditMode="relative" rAng="0" ptsTypes="AA">
                                      <p:cBhvr>
                                        <p:cTn id="28" dur="1000" fill="hold"/>
                                        <p:tgtEl>
                                          <p:spTgt spid="5"/>
                                        </p:tgtEl>
                                        <p:attrNameLst>
                                          <p:attrName>ppt_x</p:attrName>
                                          <p:attrName>ppt_y</p:attrName>
                                        </p:attrNameLst>
                                      </p:cBhvr>
                                      <p:rCtr x="-8659" y="-16829"/>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91717"/>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11FF1C"/>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78ED4-0C90-2443-7F25-112F22394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FF162-8041-74A9-A8D9-3FFD677EE24C}"/>
              </a:ext>
            </a:extLst>
          </p:cNvPr>
          <p:cNvSpPr>
            <a:spLocks noGrp="1"/>
          </p:cNvSpPr>
          <p:nvPr>
            <p:ph type="title"/>
          </p:nvPr>
        </p:nvSpPr>
        <p:spPr>
          <a:xfrm>
            <a:off x="594359" y="584005"/>
            <a:ext cx="4808065" cy="1494596"/>
          </a:xfrm>
        </p:spPr>
        <p:txBody>
          <a:bodyPr/>
          <a:lstStyle/>
          <a:p>
            <a:r>
              <a:rPr lang="vi-VN" dirty="0">
                <a:latin typeface="Cambria" panose="02040503050406030204" pitchFamily="18" charset="0"/>
                <a:ea typeface="Cambria" panose="02040503050406030204" pitchFamily="18" charset="0"/>
              </a:rPr>
              <a:t>Một số phương thức phổ biến</a:t>
            </a:r>
            <a:endParaRPr lang="en-US" dirty="0">
              <a:latin typeface="Cambria" panose="02040503050406030204" pitchFamily="18" charset="0"/>
              <a:ea typeface="Cambria" panose="02040503050406030204" pitchFamily="18" charset="0"/>
            </a:endParaRPr>
          </a:p>
        </p:txBody>
      </p:sp>
      <p:graphicFrame>
        <p:nvGraphicFramePr>
          <p:cNvPr id="5" name="Table 4">
            <a:extLst>
              <a:ext uri="{FF2B5EF4-FFF2-40B4-BE49-F238E27FC236}">
                <a16:creationId xmlns:a16="http://schemas.microsoft.com/office/drawing/2014/main" id="{9C1E0C54-D5B4-E4EA-A451-109E9675026F}"/>
              </a:ext>
            </a:extLst>
          </p:cNvPr>
          <p:cNvGraphicFramePr>
            <a:graphicFrameLocks noGrp="1"/>
          </p:cNvGraphicFramePr>
          <p:nvPr>
            <p:extLst>
              <p:ext uri="{D42A27DB-BD31-4B8C-83A1-F6EECF244321}">
                <p14:modId xmlns:p14="http://schemas.microsoft.com/office/powerpoint/2010/main" val="768634985"/>
              </p:ext>
            </p:extLst>
          </p:nvPr>
        </p:nvGraphicFramePr>
        <p:xfrm>
          <a:off x="1611604" y="2995127"/>
          <a:ext cx="8968792" cy="2776758"/>
        </p:xfrm>
        <a:graphic>
          <a:graphicData uri="http://schemas.openxmlformats.org/drawingml/2006/table">
            <a:tbl>
              <a:tblPr firstRow="1" bandRow="1">
                <a:tableStyleId>{8A107856-5554-42FB-B03E-39F5DBC370BA}</a:tableStyleId>
              </a:tblPr>
              <a:tblGrid>
                <a:gridCol w="1907012">
                  <a:extLst>
                    <a:ext uri="{9D8B030D-6E8A-4147-A177-3AD203B41FA5}">
                      <a16:colId xmlns:a16="http://schemas.microsoft.com/office/drawing/2014/main" val="3144255802"/>
                    </a:ext>
                  </a:extLst>
                </a:gridCol>
                <a:gridCol w="7061780">
                  <a:extLst>
                    <a:ext uri="{9D8B030D-6E8A-4147-A177-3AD203B41FA5}">
                      <a16:colId xmlns:a16="http://schemas.microsoft.com/office/drawing/2014/main" val="522806457"/>
                    </a:ext>
                  </a:extLst>
                </a:gridCol>
              </a:tblGrid>
              <a:tr h="462793">
                <a:tc>
                  <a:txBody>
                    <a:bodyPr/>
                    <a:lstStyle/>
                    <a:p>
                      <a:pPr algn="ctr"/>
                      <a:r>
                        <a:rPr lang="vi-VN" dirty="0">
                          <a:latin typeface="Cambria" panose="02040503050406030204" pitchFamily="18" charset="0"/>
                          <a:ea typeface="Cambria" panose="02040503050406030204" pitchFamily="18" charset="0"/>
                        </a:rPr>
                        <a:t>Phương thức</a:t>
                      </a:r>
                      <a:endParaRPr lang="en-US" dirty="0">
                        <a:latin typeface="Cambria" panose="02040503050406030204" pitchFamily="18" charset="0"/>
                        <a:ea typeface="Cambria" panose="02040503050406030204" pitchFamily="18" charset="0"/>
                      </a:endParaRPr>
                    </a:p>
                  </a:txBody>
                  <a:tcPr/>
                </a:tc>
                <a:tc>
                  <a:txBody>
                    <a:bodyPr/>
                    <a:lstStyle/>
                    <a:p>
                      <a:pPr algn="ctr"/>
                      <a:r>
                        <a:rPr lang="vi-VN" dirty="0">
                          <a:latin typeface="Cambria" panose="02040503050406030204" pitchFamily="18" charset="0"/>
                          <a:ea typeface="Cambria" panose="02040503050406030204" pitchFamily="18" charset="0"/>
                        </a:rPr>
                        <a:t>Ý nghĩa</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343879547"/>
                  </a:ext>
                </a:extLst>
              </a:tr>
              <a:tr h="462793">
                <a:tc>
                  <a:txBody>
                    <a:bodyPr/>
                    <a:lstStyle/>
                    <a:p>
                      <a:r>
                        <a:rPr lang="vi-VN" dirty="0">
                          <a:latin typeface="Cambria" panose="02040503050406030204" pitchFamily="18" charset="0"/>
                          <a:ea typeface="Cambria" panose="02040503050406030204" pitchFamily="18" charset="0"/>
                        </a:rPr>
                        <a:t>HEAD</a:t>
                      </a:r>
                      <a:endParaRPr lang="en-US" dirty="0">
                        <a:latin typeface="Cambria" panose="02040503050406030204" pitchFamily="18" charset="0"/>
                        <a:ea typeface="Cambria" panose="02040503050406030204" pitchFamily="18" charset="0"/>
                      </a:endParaRPr>
                    </a:p>
                  </a:txBody>
                  <a:tcPr/>
                </a:tc>
                <a:tc>
                  <a:txBody>
                    <a:bodyPr/>
                    <a:lstStyle/>
                    <a:p>
                      <a:r>
                        <a:rPr lang="vi-VN" dirty="0">
                          <a:latin typeface="Cambria" panose="02040503050406030204" pitchFamily="18" charset="0"/>
                          <a:ea typeface="Cambria" panose="02040503050406030204" pitchFamily="18" charset="0"/>
                        </a:rPr>
                        <a:t>Yêu cầu Server về trạng thái (size, availability) của tài nguyên</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4221569639"/>
                  </a:ext>
                </a:extLst>
              </a:tr>
              <a:tr h="462793">
                <a:tc>
                  <a:txBody>
                    <a:bodyPr/>
                    <a:lstStyle/>
                    <a:p>
                      <a:r>
                        <a:rPr lang="vi-VN" dirty="0">
                          <a:latin typeface="Cambria" panose="02040503050406030204" pitchFamily="18" charset="0"/>
                          <a:ea typeface="Cambria" panose="02040503050406030204" pitchFamily="18" charset="0"/>
                        </a:rPr>
                        <a:t>GET</a:t>
                      </a:r>
                      <a:endParaRPr lang="en-US" dirty="0">
                        <a:latin typeface="Cambria" panose="02040503050406030204" pitchFamily="18" charset="0"/>
                        <a:ea typeface="Cambria" panose="02040503050406030204" pitchFamily="18" charset="0"/>
                      </a:endParaRPr>
                    </a:p>
                  </a:txBody>
                  <a:tcPr/>
                </a:tc>
                <a:tc>
                  <a:txBody>
                    <a:bodyPr/>
                    <a:lstStyle/>
                    <a:p>
                      <a:r>
                        <a:rPr lang="vi-VN" dirty="0">
                          <a:latin typeface="Cambria" panose="02040503050406030204" pitchFamily="18" charset="0"/>
                          <a:ea typeface="Cambria" panose="02040503050406030204" pitchFamily="18" charset="0"/>
                        </a:rPr>
                        <a:t>Yên cầu Server truy xuất tài nguyên</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65869034"/>
                  </a:ext>
                </a:extLst>
              </a:tr>
              <a:tr h="462793">
                <a:tc>
                  <a:txBody>
                    <a:bodyPr/>
                    <a:lstStyle/>
                    <a:p>
                      <a:r>
                        <a:rPr lang="vi-VN" dirty="0">
                          <a:latin typeface="Cambria" panose="02040503050406030204" pitchFamily="18" charset="0"/>
                          <a:ea typeface="Cambria" panose="02040503050406030204" pitchFamily="18" charset="0"/>
                        </a:rPr>
                        <a:t>POST</a:t>
                      </a:r>
                      <a:endParaRPr lang="en-US" dirty="0">
                        <a:latin typeface="Cambria" panose="02040503050406030204" pitchFamily="18" charset="0"/>
                        <a:ea typeface="Cambria" panose="02040503050406030204" pitchFamily="18" charset="0"/>
                      </a:endParaRPr>
                    </a:p>
                  </a:txBody>
                  <a:tcPr/>
                </a:tc>
                <a:tc>
                  <a:txBody>
                    <a:bodyPr/>
                    <a:lstStyle/>
                    <a:p>
                      <a:r>
                        <a:rPr lang="vi-VN" dirty="0">
                          <a:latin typeface="Cambria" panose="02040503050406030204" pitchFamily="18" charset="0"/>
                          <a:ea typeface="Cambria" panose="02040503050406030204" pitchFamily="18" charset="0"/>
                        </a:rPr>
                        <a:t>Yêu cầu Server tạo một tài nguyên mới</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587775640"/>
                  </a:ext>
                </a:extLst>
              </a:tr>
              <a:tr h="462793">
                <a:tc>
                  <a:txBody>
                    <a:bodyPr/>
                    <a:lstStyle/>
                    <a:p>
                      <a:r>
                        <a:rPr lang="vi-VN" dirty="0">
                          <a:latin typeface="Cambria" panose="02040503050406030204" pitchFamily="18" charset="0"/>
                          <a:ea typeface="Cambria" panose="02040503050406030204" pitchFamily="18" charset="0"/>
                        </a:rPr>
                        <a:t>PUT</a:t>
                      </a:r>
                      <a:endParaRPr lang="en-US" dirty="0">
                        <a:latin typeface="Cambria" panose="02040503050406030204" pitchFamily="18" charset="0"/>
                        <a:ea typeface="Cambria" panose="02040503050406030204" pitchFamily="18" charset="0"/>
                      </a:endParaRPr>
                    </a:p>
                  </a:txBody>
                  <a:tcPr/>
                </a:tc>
                <a:tc>
                  <a:txBody>
                    <a:bodyPr/>
                    <a:lstStyle/>
                    <a:p>
                      <a:r>
                        <a:rPr lang="vi-VN" dirty="0">
                          <a:latin typeface="Cambria" panose="02040503050406030204" pitchFamily="18" charset="0"/>
                          <a:ea typeface="Cambria" panose="02040503050406030204" pitchFamily="18" charset="0"/>
                        </a:rPr>
                        <a:t>Yêu cầu Server edit/update một tài nguyên có sẵn</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500489469"/>
                  </a:ext>
                </a:extLst>
              </a:tr>
              <a:tr h="462793">
                <a:tc>
                  <a:txBody>
                    <a:bodyPr/>
                    <a:lstStyle/>
                    <a:p>
                      <a:r>
                        <a:rPr lang="vi-VN" dirty="0">
                          <a:latin typeface="Cambria" panose="02040503050406030204" pitchFamily="18" charset="0"/>
                          <a:ea typeface="Cambria" panose="02040503050406030204" pitchFamily="18" charset="0"/>
                        </a:rPr>
                        <a:t>DELETE</a:t>
                      </a:r>
                      <a:endParaRPr lang="en-US" dirty="0">
                        <a:latin typeface="Cambria" panose="02040503050406030204" pitchFamily="18" charset="0"/>
                        <a:ea typeface="Cambria" panose="02040503050406030204" pitchFamily="18" charset="0"/>
                      </a:endParaRPr>
                    </a:p>
                  </a:txBody>
                  <a:tcPr/>
                </a:tc>
                <a:tc>
                  <a:txBody>
                    <a:bodyPr/>
                    <a:lstStyle/>
                    <a:p>
                      <a:r>
                        <a:rPr lang="vi-VN" dirty="0">
                          <a:latin typeface="Cambria" panose="02040503050406030204" pitchFamily="18" charset="0"/>
                          <a:ea typeface="Cambria" panose="02040503050406030204" pitchFamily="18" charset="0"/>
                        </a:rPr>
                        <a:t>Yêu cầu Server xóa một tài nguyên</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260367882"/>
                  </a:ext>
                </a:extLst>
              </a:tr>
            </a:tbl>
          </a:graphicData>
        </a:graphic>
      </p:graphicFrame>
    </p:spTree>
    <p:extLst>
      <p:ext uri="{BB962C8B-B14F-4D97-AF65-F5344CB8AC3E}">
        <p14:creationId xmlns:p14="http://schemas.microsoft.com/office/powerpoint/2010/main" val="779410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890AB-F31F-6D82-026B-30391B3651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2CEF3F-81EE-DCF6-0D64-E4C141EBD798}"/>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Một gói tin HTTP Request bao gồm ba thành phần chính nào?</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9A71D0FE-F64F-8F5D-CD49-C757F277FB9D}"/>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172C4B40-17A6-77D4-8531-BF35FB97BBD9}"/>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77D27818-D4BB-5512-828A-1F5AF28C39FA}"/>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0649445A-6608-097D-4BCD-1572BAC40585}"/>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7CE77749-D068-2557-AC7A-8009BE34CEA5}"/>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8E38BB11-8339-5826-4424-D645A72CC1CC}"/>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E14CAB70-3582-EB22-BD80-B61130FCB1C6}"/>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B77ADD26-1CCC-915F-9F19-E3B8B204CD51}"/>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D0EED3A9-8C14-D912-2F19-38B4EF7B5891}"/>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7F9F0441-3B8F-C7F7-AFF4-7C631BCBB4A4}"/>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9C6107AA-CC69-A1EE-5348-D9C77C5334C2}"/>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Method, URL và Version.</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8451EC7A-320A-AF59-264A-23DE62797BC0}"/>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a:t>
            </a:r>
            <a:r>
              <a:rPr lang="en-US" dirty="0">
                <a:solidFill>
                  <a:schemeClr val="bg1"/>
                </a:solidFill>
                <a:latin typeface="Cambria" panose="02040503050406030204" pitchFamily="18" charset="0"/>
                <a:ea typeface="Cambria" panose="02040503050406030204" pitchFamily="18" charset="0"/>
              </a:rPr>
              <a:t>Request line, Headers </a:t>
            </a:r>
            <a:r>
              <a:rPr lang="en-US" dirty="0" err="1">
                <a:solidFill>
                  <a:schemeClr val="bg1"/>
                </a:solidFill>
                <a:latin typeface="Cambria" panose="02040503050406030204" pitchFamily="18" charset="0"/>
                <a:ea typeface="Cambria" panose="02040503050406030204" pitchFamily="18" charset="0"/>
              </a:rPr>
              <a:t>và</a:t>
            </a:r>
            <a:r>
              <a:rPr lang="en-US" dirty="0">
                <a:solidFill>
                  <a:schemeClr val="bg1"/>
                </a:solidFill>
                <a:latin typeface="Cambria" panose="02040503050406030204" pitchFamily="18" charset="0"/>
                <a:ea typeface="Cambria" panose="02040503050406030204" pitchFamily="18" charset="0"/>
              </a:rPr>
              <a:t> </a:t>
            </a:r>
            <a:r>
              <a:rPr lang="vi-VN" dirty="0">
                <a:solidFill>
                  <a:schemeClr val="bg1"/>
                </a:solidFill>
                <a:latin typeface="Cambria" panose="02040503050406030204" pitchFamily="18" charset="0"/>
                <a:ea typeface="Cambria" panose="02040503050406030204" pitchFamily="18" charset="0"/>
              </a:rPr>
              <a:t>Body.</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E339B10D-49CE-672A-A97A-84A326929861}"/>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Protocol, Hostname và Port.</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ECF79583-C130-E111-733C-BE6B9A257C8D}"/>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a:t>
            </a:r>
            <a:r>
              <a:rPr lang="en-US" dirty="0">
                <a:solidFill>
                  <a:schemeClr val="bg1"/>
                </a:solidFill>
                <a:latin typeface="Cambria" panose="02040503050406030204" pitchFamily="18" charset="0"/>
                <a:ea typeface="Cambria" panose="02040503050406030204" pitchFamily="18" charset="0"/>
              </a:rPr>
              <a:t>Status line, Headers </a:t>
            </a:r>
            <a:r>
              <a:rPr lang="en-US" dirty="0" err="1">
                <a:solidFill>
                  <a:schemeClr val="bg1"/>
                </a:solidFill>
                <a:latin typeface="Cambria" panose="02040503050406030204" pitchFamily="18" charset="0"/>
                <a:ea typeface="Cambria" panose="02040503050406030204" pitchFamily="18" charset="0"/>
              </a:rPr>
              <a:t>và</a:t>
            </a:r>
            <a:r>
              <a:rPr lang="en-US" dirty="0">
                <a:solidFill>
                  <a:schemeClr val="bg1"/>
                </a:solidFill>
                <a:latin typeface="Cambria" panose="02040503050406030204" pitchFamily="18" charset="0"/>
                <a:ea typeface="Cambria" panose="02040503050406030204" pitchFamily="18" charset="0"/>
              </a:rPr>
              <a:t> </a:t>
            </a:r>
            <a:r>
              <a:rPr lang="vi-VN" dirty="0">
                <a:solidFill>
                  <a:schemeClr val="bg1"/>
                </a:solidFill>
                <a:latin typeface="Cambria" panose="02040503050406030204" pitchFamily="18" charset="0"/>
                <a:ea typeface="Cambria" panose="02040503050406030204" pitchFamily="18" charset="0"/>
              </a:rPr>
              <a:t>Body.</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845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11FF1C"/>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F1111"/>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6CEF8-8D5A-8F03-AB4B-C7A5B7DC6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EAF1E-A222-1103-F95B-CA02CB63BF04}"/>
              </a:ext>
            </a:extLst>
          </p:cNvPr>
          <p:cNvSpPr>
            <a:spLocks noGrp="1"/>
          </p:cNvSpPr>
          <p:nvPr>
            <p:ph type="title"/>
          </p:nvPr>
        </p:nvSpPr>
        <p:spPr>
          <a:xfrm>
            <a:off x="594359" y="584005"/>
            <a:ext cx="4808065" cy="1494596"/>
          </a:xfrm>
        </p:spPr>
        <p:txBody>
          <a:bodyPr/>
          <a:lstStyle/>
          <a:p>
            <a:r>
              <a:rPr lang="vi-VN" dirty="0">
                <a:latin typeface="Cambria" panose="02040503050406030204" pitchFamily="18" charset="0"/>
                <a:ea typeface="Cambria" panose="02040503050406030204" pitchFamily="18" charset="0"/>
              </a:rPr>
              <a:t>Định dạng gói tin HTTP Request</a:t>
            </a:r>
            <a:endParaRPr lang="en-US"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E17CCEAF-99F1-DCD5-5867-A862D84092BC}"/>
              </a:ext>
            </a:extLst>
          </p:cNvPr>
          <p:cNvSpPr txBox="1"/>
          <p:nvPr/>
        </p:nvSpPr>
        <p:spPr>
          <a:xfrm>
            <a:off x="594359" y="2642643"/>
            <a:ext cx="8465198" cy="707886"/>
          </a:xfrm>
          <a:prstGeom prst="rect">
            <a:avLst/>
          </a:prstGeom>
          <a:noFill/>
        </p:spPr>
        <p:txBody>
          <a:bodyPr wrap="square">
            <a:spAutoFit/>
          </a:bodyPr>
          <a:lstStyle/>
          <a:p>
            <a:r>
              <a:rPr lang="vi-VN" sz="2000" dirty="0">
                <a:solidFill>
                  <a:schemeClr val="bg1"/>
                </a:solidFill>
                <a:latin typeface="Cambria" panose="02040503050406030204" pitchFamily="18" charset="0"/>
                <a:ea typeface="Cambria" panose="02040503050406030204" pitchFamily="18" charset="0"/>
              </a:rPr>
              <a:t>Một yêu cầu HTTP bao gồm 3 phần chính: Request Line (dòng yêu cầu), Headers (các trường thông tin bổ sung), và Body (phần thân chứa dữ liệu).</a:t>
            </a:r>
            <a:endParaRPr lang="en-US" sz="2000" dirty="0">
              <a:solidFill>
                <a:schemeClr val="bg1"/>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1EEDEF33-314F-8011-EAC2-D2BF74134691}"/>
              </a:ext>
            </a:extLst>
          </p:cNvPr>
          <p:cNvSpPr txBox="1"/>
          <p:nvPr/>
        </p:nvSpPr>
        <p:spPr>
          <a:xfrm>
            <a:off x="594359" y="3914571"/>
            <a:ext cx="10770327" cy="1323439"/>
          </a:xfrm>
          <a:prstGeom prst="rect">
            <a:avLst/>
          </a:prstGeom>
          <a:noFill/>
        </p:spPr>
        <p:txBody>
          <a:bodyPr wrap="square">
            <a:spAutoFit/>
          </a:bodyPr>
          <a:lstStyle/>
          <a:p>
            <a:r>
              <a:rPr lang="vi-VN" sz="2000" b="1" dirty="0">
                <a:solidFill>
                  <a:schemeClr val="bg1"/>
                </a:solidFill>
                <a:latin typeface="Cambria" panose="02040503050406030204" pitchFamily="18" charset="0"/>
                <a:ea typeface="Cambria" panose="02040503050406030204" pitchFamily="18" charset="0"/>
              </a:rPr>
              <a:t>Cấu trúc:</a:t>
            </a:r>
          </a:p>
          <a:p>
            <a:pPr marL="285750" indent="-285750">
              <a:buFont typeface="Arial" panose="020B0604020202020204" pitchFamily="34" charset="0"/>
              <a:buChar char="•"/>
            </a:pPr>
            <a:r>
              <a:rPr lang="vi-VN" sz="2000" dirty="0">
                <a:solidFill>
                  <a:schemeClr val="bg1"/>
                </a:solidFill>
                <a:latin typeface="Cambria" panose="02040503050406030204" pitchFamily="18" charset="0"/>
                <a:ea typeface="Cambria" panose="02040503050406030204" pitchFamily="18" charset="0"/>
              </a:rPr>
              <a:t>Request Line: `</a:t>
            </a:r>
            <a:r>
              <a:rPr lang="vi-VN" sz="2000" dirty="0">
                <a:solidFill>
                  <a:schemeClr val="accent1">
                    <a:lumMod val="50000"/>
                  </a:schemeClr>
                </a:solidFill>
                <a:latin typeface="Cambria" panose="02040503050406030204" pitchFamily="18" charset="0"/>
                <a:ea typeface="Cambria" panose="02040503050406030204" pitchFamily="18" charset="0"/>
              </a:rPr>
              <a:t>GET /path/to/resource HTTP/1.1</a:t>
            </a:r>
            <a:r>
              <a:rPr lang="vi-VN" sz="2000" dirty="0">
                <a:solidFill>
                  <a:schemeClr val="bg1"/>
                </a:solidFill>
                <a:latin typeface="Cambria" panose="02040503050406030204" pitchFamily="18" charset="0"/>
                <a:ea typeface="Cambria" panose="02040503050406030204" pitchFamily="18" charset="0"/>
              </a:rPr>
              <a:t>` (Phương thức, Đường dẫn, Phiên bản HTTP).</a:t>
            </a:r>
          </a:p>
          <a:p>
            <a:pPr marL="285750" indent="-285750">
              <a:buFont typeface="Arial" panose="020B0604020202020204" pitchFamily="34" charset="0"/>
              <a:buChar char="•"/>
            </a:pPr>
            <a:r>
              <a:rPr lang="vi-VN" sz="2000" dirty="0">
                <a:solidFill>
                  <a:schemeClr val="bg1"/>
                </a:solidFill>
                <a:latin typeface="Cambria" panose="02040503050406030204" pitchFamily="18" charset="0"/>
                <a:ea typeface="Cambria" panose="02040503050406030204" pitchFamily="18" charset="0"/>
              </a:rPr>
              <a:t>Headers: `</a:t>
            </a:r>
            <a:r>
              <a:rPr lang="vi-VN" sz="2000" dirty="0">
                <a:solidFill>
                  <a:schemeClr val="accent1">
                    <a:lumMod val="50000"/>
                  </a:schemeClr>
                </a:solidFill>
                <a:latin typeface="Cambria" panose="02040503050406030204" pitchFamily="18" charset="0"/>
                <a:ea typeface="Cambria" panose="02040503050406030204" pitchFamily="18" charset="0"/>
              </a:rPr>
              <a:t>Host: example.com</a:t>
            </a:r>
            <a:r>
              <a:rPr lang="vi-VN" sz="2000" dirty="0">
                <a:solidFill>
                  <a:schemeClr val="bg1"/>
                </a:solidFill>
                <a:latin typeface="Cambria" panose="02040503050406030204" pitchFamily="18" charset="0"/>
                <a:ea typeface="Cambria" panose="02040503050406030204" pitchFamily="18" charset="0"/>
              </a:rPr>
              <a:t>`, `</a:t>
            </a:r>
            <a:r>
              <a:rPr lang="vi-VN" sz="2000" dirty="0">
                <a:solidFill>
                  <a:schemeClr val="accent1">
                    <a:lumMod val="50000"/>
                  </a:schemeClr>
                </a:solidFill>
                <a:latin typeface="Cambria" panose="02040503050406030204" pitchFamily="18" charset="0"/>
                <a:ea typeface="Cambria" panose="02040503050406030204" pitchFamily="18" charset="0"/>
              </a:rPr>
              <a:t>User-Agent: Chrome/123...</a:t>
            </a:r>
            <a:r>
              <a:rPr lang="vi-VN" sz="2000" dirty="0">
                <a:solidFill>
                  <a:schemeClr val="bg1"/>
                </a:solidFill>
                <a:latin typeface="Cambria" panose="02040503050406030204" pitchFamily="18" charset="0"/>
                <a:ea typeface="Cambria" panose="02040503050406030204" pitchFamily="18" charset="0"/>
              </a:rPr>
              <a:t>`, `</a:t>
            </a:r>
            <a:r>
              <a:rPr lang="vi-VN" sz="2000" dirty="0">
                <a:solidFill>
                  <a:schemeClr val="accent1">
                    <a:lumMod val="50000"/>
                  </a:schemeClr>
                </a:solidFill>
                <a:latin typeface="Cambria" panose="02040503050406030204" pitchFamily="18" charset="0"/>
                <a:ea typeface="Cambria" panose="02040503050406030204" pitchFamily="18" charset="0"/>
              </a:rPr>
              <a:t>Accept: text/html</a:t>
            </a:r>
            <a:r>
              <a:rPr lang="vi-VN" sz="2000" dirty="0">
                <a:solidFill>
                  <a:schemeClr val="bg1"/>
                </a:solidFill>
                <a:latin typeface="Cambria" panose="02040503050406030204" pitchFamily="18" charset="0"/>
                <a:ea typeface="Cambria" panose="02040503050406030204" pitchFamily="18" charset="0"/>
              </a:rPr>
              <a:t>`.</a:t>
            </a:r>
          </a:p>
          <a:p>
            <a:pPr marL="285750" indent="-285750">
              <a:buFont typeface="Arial" panose="020B0604020202020204" pitchFamily="34" charset="0"/>
              <a:buChar char="•"/>
            </a:pPr>
            <a:r>
              <a:rPr lang="vi-VN" sz="2000" dirty="0">
                <a:solidFill>
                  <a:schemeClr val="bg1"/>
                </a:solidFill>
                <a:latin typeface="Cambria" panose="02040503050406030204" pitchFamily="18" charset="0"/>
                <a:ea typeface="Cambria" panose="02040503050406030204" pitchFamily="18" charset="0"/>
              </a:rPr>
              <a:t>Body: Chứa dữ liệu gửi đi với các phương thức như POST, PUT (ví dụ: dữ liệu form).</a:t>
            </a:r>
            <a:endParaRPr lang="en-US" sz="2000"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61636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8CE0-F8F0-DB98-C274-F82313B7573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B5715B1-6C14-0751-B6B4-5C1B13536050}"/>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Giao thức HTTPS sử dụng cơ chế nào để bảo mật dữ liệu truyền tải so với HTTP?</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FB4AE0E4-815B-7735-C262-28ED8CDC1345}"/>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34102977-FB79-9798-0760-3C0A0F1EAD0F}"/>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25CDB05B-869C-6288-1E01-E461905F7E55}"/>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31854F6D-D2F3-1228-88AF-41AB9499018E}"/>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AEA59AA6-92EB-31F1-AF03-0F41F3F8745C}"/>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C28D044D-0DE5-EFF6-C510-267F66F8C017}"/>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B4B78350-6AB7-2928-749E-2E9BDBE9E22D}"/>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81D34FB7-764B-CC70-ED5B-59E704FD72E8}"/>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1CC27B93-5FFE-34EB-A118-210CAF473637}"/>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531DD530-3D0F-5355-495E-13A015374717}"/>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5B084A8C-7D10-72CD-43DB-6862E539541E}"/>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Sử dụng cổng 80.</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E601BE91-403F-648B-17FA-4561EEB66511}"/>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a:t>
            </a:r>
            <a:r>
              <a:rPr lang="en-US" dirty="0" err="1">
                <a:solidFill>
                  <a:schemeClr val="bg1"/>
                </a:solidFill>
                <a:latin typeface="Cambria" panose="02040503050406030204" pitchFamily="18" charset="0"/>
                <a:ea typeface="Cambria" panose="02040503050406030204" pitchFamily="18" charset="0"/>
              </a:rPr>
              <a:t>Xác</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thực</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bằng</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địa</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chỉ</a:t>
            </a:r>
            <a:r>
              <a:rPr lang="en-US" dirty="0">
                <a:solidFill>
                  <a:schemeClr val="bg1"/>
                </a:solidFill>
                <a:latin typeface="Cambria" panose="02040503050406030204" pitchFamily="18" charset="0"/>
                <a:ea typeface="Cambria" panose="02040503050406030204" pitchFamily="18" charset="0"/>
              </a:rPr>
              <a:t> </a:t>
            </a:r>
            <a:r>
              <a:rPr lang="vi-VN" dirty="0">
                <a:solidFill>
                  <a:schemeClr val="bg1"/>
                </a:solidFill>
                <a:latin typeface="Cambria" panose="02040503050406030204" pitchFamily="18" charset="0"/>
                <a:ea typeface="Cambria" panose="02040503050406030204" pitchFamily="18" charset="0"/>
              </a:rPr>
              <a:t>IP.</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59D418C0-C77D-1C9E-CA86-97ABE3DEE8A1}"/>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Nén dữ liệu trước khi gửi.</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5D69FFC7-FC83-108E-B362-960FC9BCE07F}"/>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a:t>
            </a:r>
            <a:r>
              <a:rPr lang="en-US" dirty="0" err="1">
                <a:solidFill>
                  <a:schemeClr val="bg1"/>
                </a:solidFill>
                <a:latin typeface="Cambria" panose="02040503050406030204" pitchFamily="18" charset="0"/>
                <a:ea typeface="Cambria" panose="02040503050406030204" pitchFamily="18" charset="0"/>
              </a:rPr>
              <a:t>Mã</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hóa</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dữ</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liệu</a:t>
            </a:r>
            <a:r>
              <a:rPr lang="en-US" dirty="0">
                <a:solidFill>
                  <a:schemeClr val="bg1"/>
                </a:solidFill>
                <a:latin typeface="Cambria" panose="02040503050406030204" pitchFamily="18" charset="0"/>
                <a:ea typeface="Cambria" panose="02040503050406030204" pitchFamily="18" charset="0"/>
              </a:rPr>
              <a:t> </a:t>
            </a:r>
            <a:r>
              <a:rPr lang="en-US" dirty="0" err="1">
                <a:solidFill>
                  <a:schemeClr val="bg1"/>
                </a:solidFill>
                <a:latin typeface="Cambria" panose="02040503050406030204" pitchFamily="18" charset="0"/>
                <a:ea typeface="Cambria" panose="02040503050406030204" pitchFamily="18" charset="0"/>
              </a:rPr>
              <a:t>bằng</a:t>
            </a:r>
            <a:r>
              <a:rPr lang="en-US" dirty="0">
                <a:solidFill>
                  <a:schemeClr val="bg1"/>
                </a:solidFill>
                <a:latin typeface="Cambria" panose="02040503050406030204" pitchFamily="18" charset="0"/>
                <a:ea typeface="Cambria" panose="02040503050406030204" pitchFamily="18" charset="0"/>
              </a:rPr>
              <a:t> SSL/TLS</a:t>
            </a:r>
            <a:r>
              <a:rPr lang="vi-VN" dirty="0">
                <a:solidFill>
                  <a:schemeClr val="bg1"/>
                </a:solidFill>
                <a:latin typeface="Cambria" panose="02040503050406030204" pitchFamily="18" charset="0"/>
                <a:ea typeface="Cambria" panose="02040503050406030204" pitchFamily="18" charset="0"/>
              </a:rPr>
              <a:t>.</a:t>
            </a:r>
            <a:endParaRPr lang="en-US"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9D13CE8D-36BC-CF62-3D7F-70DF58351BF9}"/>
              </a:ext>
            </a:extLst>
          </p:cNvPr>
          <p:cNvSpPr txBox="1"/>
          <p:nvPr/>
        </p:nvSpPr>
        <p:spPr>
          <a:xfrm>
            <a:off x="2516544" y="2859167"/>
            <a:ext cx="7158912" cy="1938992"/>
          </a:xfrm>
          <a:prstGeom prst="rect">
            <a:avLst/>
          </a:prstGeom>
          <a:noFill/>
        </p:spPr>
        <p:txBody>
          <a:bodyPr wrap="square">
            <a:spAutoFit/>
          </a:bodyPr>
          <a:lstStyle/>
          <a:p>
            <a:r>
              <a:rPr lang="en-US" sz="2400" b="1" dirty="0">
                <a:solidFill>
                  <a:schemeClr val="bg1"/>
                </a:solidFill>
                <a:latin typeface="Cambria" panose="02040503050406030204" pitchFamily="18" charset="0"/>
                <a:ea typeface="Cambria" panose="02040503050406030204" pitchFamily="18" charset="0"/>
              </a:rPr>
              <a:t>HTTPS (</a:t>
            </a:r>
            <a:r>
              <a:rPr lang="en-US" sz="2400" b="1" dirty="0" err="1">
                <a:solidFill>
                  <a:schemeClr val="bg1"/>
                </a:solidFill>
                <a:latin typeface="Cambria" panose="02040503050406030204" pitchFamily="18" charset="0"/>
                <a:ea typeface="Cambria" panose="02040503050406030204" pitchFamily="18" charset="0"/>
              </a:rPr>
              <a:t>HyperText</a:t>
            </a:r>
            <a:r>
              <a:rPr lang="en-US" sz="2400" b="1" dirty="0">
                <a:solidFill>
                  <a:schemeClr val="bg1"/>
                </a:solidFill>
                <a:latin typeface="Cambria" panose="02040503050406030204" pitchFamily="18" charset="0"/>
                <a:ea typeface="Cambria" panose="02040503050406030204" pitchFamily="18" charset="0"/>
              </a:rPr>
              <a:t> Transfer Protocol Secure</a:t>
            </a:r>
            <a:endParaRPr lang="vi-VN" sz="2400" b="1" dirty="0">
              <a:solidFill>
                <a:schemeClr val="bg1"/>
              </a:solidFill>
              <a:latin typeface="Cambria" panose="02040503050406030204" pitchFamily="18" charset="0"/>
              <a:ea typeface="Cambria" panose="02040503050406030204" pitchFamily="18" charset="0"/>
            </a:endParaRPr>
          </a:p>
          <a:p>
            <a:pPr algn="just"/>
            <a:r>
              <a:rPr lang="en-US" sz="2400" dirty="0" err="1">
                <a:solidFill>
                  <a:schemeClr val="bg1"/>
                </a:solidFill>
                <a:latin typeface="Cambria" panose="02040503050406030204" pitchFamily="18" charset="0"/>
                <a:ea typeface="Cambria" panose="02040503050406030204" pitchFamily="18" charset="0"/>
              </a:rPr>
              <a:t>Là</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phiên</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bản</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bảo</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mật</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của</a:t>
            </a:r>
            <a:r>
              <a:rPr lang="en-US" sz="2400" dirty="0">
                <a:solidFill>
                  <a:schemeClr val="bg1"/>
                </a:solidFill>
                <a:latin typeface="Cambria" panose="02040503050406030204" pitchFamily="18" charset="0"/>
                <a:ea typeface="Cambria" panose="02040503050406030204" pitchFamily="18" charset="0"/>
              </a:rPr>
              <a:t> HTTP. </a:t>
            </a:r>
            <a:r>
              <a:rPr lang="en-US" sz="2400" dirty="0" err="1">
                <a:solidFill>
                  <a:schemeClr val="bg1"/>
                </a:solidFill>
                <a:latin typeface="Cambria" panose="02040503050406030204" pitchFamily="18" charset="0"/>
                <a:ea typeface="Cambria" panose="02040503050406030204" pitchFamily="18" charset="0"/>
              </a:rPr>
              <a:t>Nó</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tích</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hợp</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chứng</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chỉ</a:t>
            </a:r>
            <a:r>
              <a:rPr lang="en-US" sz="2400" dirty="0">
                <a:solidFill>
                  <a:schemeClr val="bg1"/>
                </a:solidFill>
                <a:latin typeface="Cambria" panose="02040503050406030204" pitchFamily="18" charset="0"/>
                <a:ea typeface="Cambria" panose="02040503050406030204" pitchFamily="18" charset="0"/>
              </a:rPr>
              <a:t> SSL/TLS </a:t>
            </a:r>
            <a:r>
              <a:rPr lang="en-US" sz="2400" dirty="0" err="1">
                <a:solidFill>
                  <a:schemeClr val="bg1"/>
                </a:solidFill>
                <a:latin typeface="Cambria" panose="02040503050406030204" pitchFamily="18" charset="0"/>
                <a:ea typeface="Cambria" panose="02040503050406030204" pitchFamily="18" charset="0"/>
              </a:rPr>
              <a:t>để</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mã</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hóa</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dữ</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liệu</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đảm</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bảo</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thông</a:t>
            </a:r>
            <a:r>
              <a:rPr lang="en-US" sz="2400" dirty="0">
                <a:solidFill>
                  <a:schemeClr val="bg1"/>
                </a:solidFill>
                <a:latin typeface="Cambria" panose="02040503050406030204" pitchFamily="18" charset="0"/>
                <a:ea typeface="Cambria" panose="02040503050406030204" pitchFamily="18" charset="0"/>
              </a:rPr>
              <a:t> tin </a:t>
            </a:r>
            <a:r>
              <a:rPr lang="en-US" sz="2400" dirty="0" err="1">
                <a:solidFill>
                  <a:schemeClr val="bg1"/>
                </a:solidFill>
                <a:latin typeface="Cambria" panose="02040503050406030204" pitchFamily="18" charset="0"/>
                <a:ea typeface="Cambria" panose="02040503050406030204" pitchFamily="18" charset="0"/>
              </a:rPr>
              <a:t>không</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bị</a:t>
            </a:r>
            <a:r>
              <a:rPr lang="en-US" sz="2400" dirty="0">
                <a:solidFill>
                  <a:schemeClr val="bg1"/>
                </a:solidFill>
                <a:latin typeface="Cambria" panose="02040503050406030204" pitchFamily="18" charset="0"/>
                <a:ea typeface="Cambria" panose="02040503050406030204" pitchFamily="18" charset="0"/>
              </a:rPr>
              <a:t> can </a:t>
            </a:r>
            <a:r>
              <a:rPr lang="en-US" sz="2400" dirty="0" err="1">
                <a:solidFill>
                  <a:schemeClr val="bg1"/>
                </a:solidFill>
                <a:latin typeface="Cambria" panose="02040503050406030204" pitchFamily="18" charset="0"/>
                <a:ea typeface="Cambria" panose="02040503050406030204" pitchFamily="18" charset="0"/>
              </a:rPr>
              <a:t>thiệp</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hoặc</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đọc</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trộm</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khi</a:t>
            </a:r>
            <a:r>
              <a:rPr lang="en-US" sz="2400" dirty="0">
                <a:solidFill>
                  <a:schemeClr val="bg1"/>
                </a:solidFill>
                <a:latin typeface="Cambria" panose="02040503050406030204" pitchFamily="18" charset="0"/>
                <a:ea typeface="Cambria" panose="02040503050406030204" pitchFamily="18" charset="0"/>
              </a:rPr>
              <a:t> </a:t>
            </a:r>
            <a:r>
              <a:rPr lang="en-US" sz="2400" dirty="0" err="1">
                <a:solidFill>
                  <a:schemeClr val="bg1"/>
                </a:solidFill>
                <a:latin typeface="Cambria" panose="02040503050406030204" pitchFamily="18" charset="0"/>
                <a:ea typeface="Cambria" panose="02040503050406030204" pitchFamily="18" charset="0"/>
              </a:rPr>
              <a:t>truyền</a:t>
            </a:r>
            <a:r>
              <a:rPr lang="en-US" sz="2400" dirty="0">
                <a:solidFill>
                  <a:schemeClr val="bg1"/>
                </a:solidFill>
                <a:latin typeface="Cambria" panose="02040503050406030204" pitchFamily="18" charset="0"/>
                <a:ea typeface="Cambria" panose="02040503050406030204" pitchFamily="18" charset="0"/>
              </a:rPr>
              <a:t> qua </a:t>
            </a:r>
            <a:r>
              <a:rPr lang="en-US" sz="2400" dirty="0" err="1">
                <a:solidFill>
                  <a:schemeClr val="bg1"/>
                </a:solidFill>
                <a:latin typeface="Cambria" panose="02040503050406030204" pitchFamily="18" charset="0"/>
                <a:ea typeface="Cambria" panose="02040503050406030204" pitchFamily="18" charset="0"/>
              </a:rPr>
              <a:t>mạng</a:t>
            </a:r>
            <a:r>
              <a:rPr lang="en-US" sz="2400" dirty="0">
                <a:solidFill>
                  <a:schemeClr val="bg1"/>
                </a:solidFill>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5740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474 -0.33634 " pathEditMode="relative" rAng="0" ptsTypes="AA">
                                      <p:cBhvr>
                                        <p:cTn id="28" dur="1000" fill="hold"/>
                                        <p:tgtEl>
                                          <p:spTgt spid="5"/>
                                        </p:tgtEl>
                                        <p:attrNameLst>
                                          <p:attrName>ppt_x</p:attrName>
                                          <p:attrName>ppt_y</p:attrName>
                                        </p:attrNameLst>
                                      </p:cBhvr>
                                      <p:rCtr x="-8737" y="-16829"/>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53"/>
                                        </p:tgtEl>
                                      </p:cBhvr>
                                    </p:animEffect>
                                    <p:set>
                                      <p:cBhvr>
                                        <p:cTn id="49" dur="1" fill="hold">
                                          <p:stCondLst>
                                            <p:cond delay="499"/>
                                          </p:stCondLst>
                                        </p:cTn>
                                        <p:tgtEl>
                                          <p:spTgt spid="5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54"/>
                                        </p:tgtEl>
                                      </p:cBhvr>
                                    </p:animEffect>
                                    <p:set>
                                      <p:cBhvr>
                                        <p:cTn id="52" dur="1" fill="hold">
                                          <p:stCondLst>
                                            <p:cond delay="499"/>
                                          </p:stCondLst>
                                        </p:cTn>
                                        <p:tgtEl>
                                          <p:spTgt spid="54"/>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55"/>
                                        </p:tgtEl>
                                      </p:cBhvr>
                                    </p:animEffect>
                                    <p:set>
                                      <p:cBhvr>
                                        <p:cTn id="55" dur="1" fill="hold">
                                          <p:stCondLst>
                                            <p:cond delay="499"/>
                                          </p:stCondLst>
                                        </p:cTn>
                                        <p:tgtEl>
                                          <p:spTgt spid="55"/>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56"/>
                                        </p:tgtEl>
                                      </p:cBhvr>
                                    </p:animEffect>
                                    <p:set>
                                      <p:cBhvr>
                                        <p:cTn id="58" dur="1" fill="hold">
                                          <p:stCondLst>
                                            <p:cond delay="4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4" restart="whenNotActive" fill="hold" evtFilter="cancelBubble" nodeType="interactiveSeq">
                <p:stCondLst>
                  <p:cond evt="onClick" delay="0">
                    <p:tgtEl>
                      <p:spTgt spid="53"/>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clickEffect">
                                  <p:stCondLst>
                                    <p:cond delay="0"/>
                                  </p:stCondLst>
                                  <p:childTnLst>
                                    <p:animClr clrSpc="rgb" dir="cw">
                                      <p:cBhvr>
                                        <p:cTn id="68" dur="500" fill="hold"/>
                                        <p:tgtEl>
                                          <p:spTgt spid="53"/>
                                        </p:tgtEl>
                                        <p:attrNameLst>
                                          <p:attrName>fillcolor</p:attrName>
                                        </p:attrNameLst>
                                      </p:cBhvr>
                                      <p:to>
                                        <a:srgbClr val="FF1111"/>
                                      </p:to>
                                    </p:animClr>
                                    <p:set>
                                      <p:cBhvr>
                                        <p:cTn id="69" dur="500" fill="hold"/>
                                        <p:tgtEl>
                                          <p:spTgt spid="53"/>
                                        </p:tgtEl>
                                        <p:attrNameLst>
                                          <p:attrName>fill.type</p:attrName>
                                        </p:attrNameLst>
                                      </p:cBhvr>
                                      <p:to>
                                        <p:strVal val="solid"/>
                                      </p:to>
                                    </p:set>
                                    <p:set>
                                      <p:cBhvr>
                                        <p:cTn id="70"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71" restart="whenNotActive" fill="hold" evtFilter="cancelBubble" nodeType="interactiveSeq">
                <p:stCondLst>
                  <p:cond evt="onClick" delay="0">
                    <p:tgtEl>
                      <p:spTgt spid="54"/>
                    </p:tgtEl>
                  </p:cond>
                </p:stCondLst>
                <p:endSync evt="end" delay="0">
                  <p:rtn val="all"/>
                </p:endSync>
                <p:childTnLst>
                  <p:par>
                    <p:cTn id="72" fill="hold">
                      <p:stCondLst>
                        <p:cond delay="0"/>
                      </p:stCondLst>
                      <p:childTnLst>
                        <p:par>
                          <p:cTn id="73" fill="hold">
                            <p:stCondLst>
                              <p:cond delay="0"/>
                            </p:stCondLst>
                            <p:childTnLst>
                              <p:par>
                                <p:cTn id="74" presetID="1" presetClass="emph" presetSubtype="2" fill="hold" nodeType="clickEffect">
                                  <p:stCondLst>
                                    <p:cond delay="0"/>
                                  </p:stCondLst>
                                  <p:childTnLst>
                                    <p:animClr clrSpc="rgb" dir="cw">
                                      <p:cBhvr>
                                        <p:cTn id="75" dur="500" fill="hold"/>
                                        <p:tgtEl>
                                          <p:spTgt spid="54"/>
                                        </p:tgtEl>
                                        <p:attrNameLst>
                                          <p:attrName>fillcolor</p:attrName>
                                        </p:attrNameLst>
                                      </p:cBhvr>
                                      <p:to>
                                        <a:srgbClr val="FF1111"/>
                                      </p:to>
                                    </p:animClr>
                                    <p:set>
                                      <p:cBhvr>
                                        <p:cTn id="76" dur="500" fill="hold"/>
                                        <p:tgtEl>
                                          <p:spTgt spid="54"/>
                                        </p:tgtEl>
                                        <p:attrNameLst>
                                          <p:attrName>fill.type</p:attrName>
                                        </p:attrNameLst>
                                      </p:cBhvr>
                                      <p:to>
                                        <p:strVal val="solid"/>
                                      </p:to>
                                    </p:set>
                                    <p:set>
                                      <p:cBhvr>
                                        <p:cTn id="77"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78" restart="whenNotActive" fill="hold" evtFilter="cancelBubble" nodeType="interactiveSeq">
                <p:stCondLst>
                  <p:cond evt="onClick" delay="0">
                    <p:tgtEl>
                      <p:spTgt spid="55"/>
                    </p:tgtEl>
                  </p:cond>
                </p:stCondLst>
                <p:endSync evt="end" delay="0">
                  <p:rtn val="all"/>
                </p:endSync>
                <p:childTnLst>
                  <p:par>
                    <p:cTn id="79" fill="hold">
                      <p:stCondLst>
                        <p:cond delay="0"/>
                      </p:stCondLst>
                      <p:childTnLst>
                        <p:par>
                          <p:cTn id="80" fill="hold">
                            <p:stCondLst>
                              <p:cond delay="0"/>
                            </p:stCondLst>
                            <p:childTnLst>
                              <p:par>
                                <p:cTn id="81" presetID="1" presetClass="emph" presetSubtype="2" fill="hold" nodeType="clickEffect">
                                  <p:stCondLst>
                                    <p:cond delay="0"/>
                                  </p:stCondLst>
                                  <p:childTnLst>
                                    <p:animClr clrSpc="rgb" dir="cw">
                                      <p:cBhvr>
                                        <p:cTn id="82" dur="500" fill="hold"/>
                                        <p:tgtEl>
                                          <p:spTgt spid="55"/>
                                        </p:tgtEl>
                                        <p:attrNameLst>
                                          <p:attrName>fillcolor</p:attrName>
                                        </p:attrNameLst>
                                      </p:cBhvr>
                                      <p:to>
                                        <a:srgbClr val="FF1111"/>
                                      </p:to>
                                    </p:animClr>
                                    <p:set>
                                      <p:cBhvr>
                                        <p:cTn id="83" dur="500" fill="hold"/>
                                        <p:tgtEl>
                                          <p:spTgt spid="55"/>
                                        </p:tgtEl>
                                        <p:attrNameLst>
                                          <p:attrName>fill.type</p:attrName>
                                        </p:attrNameLst>
                                      </p:cBhvr>
                                      <p:to>
                                        <p:strVal val="solid"/>
                                      </p:to>
                                    </p:set>
                                    <p:set>
                                      <p:cBhvr>
                                        <p:cTn id="84"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85" restart="whenNotActive" fill="hold" evtFilter="cancelBubble" nodeType="interactiveSeq">
                <p:stCondLst>
                  <p:cond evt="onClick" delay="0">
                    <p:tgtEl>
                      <p:spTgt spid="56"/>
                    </p:tgtEl>
                  </p:cond>
                </p:stCondLst>
                <p:endSync evt="end" delay="0">
                  <p:rtn val="all"/>
                </p:endSync>
                <p:childTnLst>
                  <p:par>
                    <p:cTn id="86" fill="hold">
                      <p:stCondLst>
                        <p:cond delay="0"/>
                      </p:stCondLst>
                      <p:childTnLst>
                        <p:par>
                          <p:cTn id="87" fill="hold">
                            <p:stCondLst>
                              <p:cond delay="0"/>
                            </p:stCondLst>
                            <p:childTnLst>
                              <p:par>
                                <p:cTn id="88" presetID="1" presetClass="emph" presetSubtype="2" fill="hold" nodeType="clickEffect">
                                  <p:stCondLst>
                                    <p:cond delay="0"/>
                                  </p:stCondLst>
                                  <p:childTnLst>
                                    <p:animClr clrSpc="rgb" dir="cw">
                                      <p:cBhvr>
                                        <p:cTn id="89" dur="500" fill="hold"/>
                                        <p:tgtEl>
                                          <p:spTgt spid="56"/>
                                        </p:tgtEl>
                                        <p:attrNameLst>
                                          <p:attrName>fillcolor</p:attrName>
                                        </p:attrNameLst>
                                      </p:cBhvr>
                                      <p:to>
                                        <a:srgbClr val="11FF1C"/>
                                      </p:to>
                                    </p:animClr>
                                    <p:set>
                                      <p:cBhvr>
                                        <p:cTn id="90" dur="500" fill="hold"/>
                                        <p:tgtEl>
                                          <p:spTgt spid="56"/>
                                        </p:tgtEl>
                                        <p:attrNameLst>
                                          <p:attrName>fill.type</p:attrName>
                                        </p:attrNameLst>
                                      </p:cBhvr>
                                      <p:to>
                                        <p:strVal val="solid"/>
                                      </p:to>
                                    </p:set>
                                    <p:set>
                                      <p:cBhvr>
                                        <p:cTn id="91"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3" grpId="1" animBg="1"/>
      <p:bldP spid="54" grpId="0" animBg="1"/>
      <p:bldP spid="54" grpId="1" animBg="1"/>
      <p:bldP spid="55" grpId="0" animBg="1"/>
      <p:bldP spid="55" grpId="1" animBg="1"/>
      <p:bldP spid="56" grpId="0" animBg="1"/>
      <p:bldP spid="56" grpId="1" animBg="1"/>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1EC6-544D-06A9-4FBB-21875EC7CA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F820D1-C1DC-CF9A-FD52-A6C01E745B71}"/>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Trong quá trình bắt tay SSL/TLS, thông điệp đầu tiên được gửi từ Client đến Server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216BC6A1-A195-B020-F2F2-E970A7AE555A}"/>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B1B5D2C4-6CB3-C87E-353F-99597EA6BCA6}"/>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D69AE3BB-C82C-98D3-8EDA-FDA22DB5B62C}"/>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C5F6C2EB-52A8-E32B-EE52-57B61C6487BE}"/>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AA81D956-4F83-C48F-2B85-CF8E7E5E1ECC}"/>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2C3DF475-1357-0476-66C3-09C0839A03A1}"/>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3F5F29FC-CA48-4A40-6EB8-E1913E8F75A7}"/>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4EA63E5C-B0C3-4AFB-124D-1B481929F844}"/>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2DC6F90E-CE68-4EE7-023E-57B098375D55}"/>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0EDCEEEE-19F8-965D-9180-C99A4114EC0D}"/>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859B2B22-A464-554A-895B-885A48678E68}"/>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Client Key Exchange.</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CFCC748E-D241-D734-45B8-A1A25DC2EF2F}"/>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Server Hello.</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3CDB0293-D686-C4E2-AA23-2F2F55BE4B08}"/>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Certificate.</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CA192598-0A03-7705-0E19-2BD282A9AB8B}"/>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Client Hello.</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26871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474 -0.33634 " pathEditMode="relative" rAng="0" ptsTypes="AA">
                                      <p:cBhvr>
                                        <p:cTn id="28" dur="1000" fill="hold"/>
                                        <p:tgtEl>
                                          <p:spTgt spid="5"/>
                                        </p:tgtEl>
                                        <p:attrNameLst>
                                          <p:attrName>ppt_x</p:attrName>
                                          <p:attrName>ppt_y</p:attrName>
                                        </p:attrNameLst>
                                      </p:cBhvr>
                                      <p:rCtr x="-8737" y="-16829"/>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F1111"/>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11FF1C"/>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1A478-3B64-35D3-BFCB-3E8D94685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5168A-BA06-2A56-E7DA-F0175D5A983E}"/>
              </a:ext>
            </a:extLst>
          </p:cNvPr>
          <p:cNvSpPr>
            <a:spLocks noGrp="1"/>
          </p:cNvSpPr>
          <p:nvPr>
            <p:ph type="title"/>
          </p:nvPr>
        </p:nvSpPr>
        <p:spPr>
          <a:xfrm>
            <a:off x="594359" y="584005"/>
            <a:ext cx="4808065" cy="1494596"/>
          </a:xfrm>
        </p:spPr>
        <p:txBody>
          <a:bodyPr/>
          <a:lstStyle/>
          <a:p>
            <a:r>
              <a:rPr lang="vi-VN" dirty="0">
                <a:latin typeface="Cambria" panose="02040503050406030204" pitchFamily="18" charset="0"/>
                <a:ea typeface="Cambria" panose="02040503050406030204" pitchFamily="18" charset="0"/>
              </a:rPr>
              <a:t>Quá trình bắt tay SSL/TLS</a:t>
            </a:r>
            <a:endParaRPr lang="en-US" dirty="0">
              <a:latin typeface="Cambria" panose="02040503050406030204" pitchFamily="18" charset="0"/>
              <a:ea typeface="Cambria" panose="02040503050406030204" pitchFamily="18" charset="0"/>
            </a:endParaRPr>
          </a:p>
        </p:txBody>
      </p:sp>
      <p:pic>
        <p:nvPicPr>
          <p:cNvPr id="3" name="Image 40" descr="A screenshot of a diagram&#10;&#10;AI-generated content may be incorrect.">
            <a:extLst>
              <a:ext uri="{FF2B5EF4-FFF2-40B4-BE49-F238E27FC236}">
                <a16:creationId xmlns:a16="http://schemas.microsoft.com/office/drawing/2014/main" id="{43125644-0902-8826-9D3D-A34EB8F4E43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224975" y="2402959"/>
            <a:ext cx="7987107" cy="4141887"/>
          </a:xfrm>
          <a:prstGeom prst="rect">
            <a:avLst/>
          </a:prstGeom>
        </p:spPr>
      </p:pic>
    </p:spTree>
    <p:extLst>
      <p:ext uri="{BB962C8B-B14F-4D97-AF65-F5344CB8AC3E}">
        <p14:creationId xmlns:p14="http://schemas.microsoft.com/office/powerpoint/2010/main" val="2970835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A8D7F-2139-5710-5347-B5E7C54C91E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1C8B49-71D2-9935-B811-9CC3CF58B550}"/>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Cổng mặc định được sử dụng cho giao thức HTTPS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481BAA42-68AD-5B58-1924-FDFA08A3806B}"/>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A06C187A-284C-3963-BE6A-203CA6ADEA66}"/>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69E72101-B448-3582-1AF2-1FA6A30F8970}"/>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F53DFB6D-96B8-16B4-B4EE-F19269749349}"/>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F6479AB6-78CB-85EF-027A-C5C8B0577252}"/>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6BD5E74B-D811-E38A-92A4-CB5F0E00D521}"/>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8D59311F-77AC-EC18-744C-455AD50CCC58}"/>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56348EBB-55AF-6CFC-F5F3-0A7564C45714}"/>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658D8802-007A-B8D5-4592-2C8F371BB360}"/>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7DFEE095-0503-FBF5-5937-F511F15DFC09}"/>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05DBBA42-907F-A1AC-E353-5C3D8DDB6739}"/>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443</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21E2EDCF-1076-3855-620F-95A4B350A3AC}"/>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80</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67A2F60E-C110-4B0D-C6F5-F539CD4930C2}"/>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8080</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ED0A04CA-8389-F34F-C3CA-5474CBF4FCCA}"/>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21</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1941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11FF1C"/>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F1111"/>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F1111"/>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53021-604B-2A73-169E-3F7C5C225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8F22F-7AB7-26FF-1FC9-8CD6AF4D46D2}"/>
              </a:ext>
            </a:extLst>
          </p:cNvPr>
          <p:cNvSpPr>
            <a:spLocks noGrp="1"/>
          </p:cNvSpPr>
          <p:nvPr>
            <p:ph type="title"/>
          </p:nvPr>
        </p:nvSpPr>
        <p:spPr>
          <a:xfrm>
            <a:off x="594359" y="584005"/>
            <a:ext cx="5501641" cy="1494596"/>
          </a:xfrm>
        </p:spPr>
        <p:txBody>
          <a:bodyPr/>
          <a:lstStyle/>
          <a:p>
            <a:r>
              <a:rPr lang="vi-VN" dirty="0">
                <a:latin typeface="Cambria" panose="02040503050406030204" pitchFamily="18" charset="0"/>
                <a:ea typeface="Cambria" panose="02040503050406030204" pitchFamily="18" charset="0"/>
              </a:rPr>
              <a:t>Sự khác nhau giữa HTTP và HTTPS</a:t>
            </a:r>
            <a:endParaRPr lang="en-US"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87C8F469-4099-21EA-DA72-EDEFF8969BB2}"/>
              </a:ext>
            </a:extLst>
          </p:cNvPr>
          <p:cNvGraphicFramePr>
            <a:graphicFrameLocks noGrp="1"/>
          </p:cNvGraphicFramePr>
          <p:nvPr>
            <p:extLst>
              <p:ext uri="{D42A27DB-BD31-4B8C-83A1-F6EECF244321}">
                <p14:modId xmlns:p14="http://schemas.microsoft.com/office/powerpoint/2010/main" val="837435803"/>
              </p:ext>
            </p:extLst>
          </p:nvPr>
        </p:nvGraphicFramePr>
        <p:xfrm>
          <a:off x="1415661" y="2590995"/>
          <a:ext cx="9360678" cy="3408680"/>
        </p:xfrm>
        <a:graphic>
          <a:graphicData uri="http://schemas.openxmlformats.org/drawingml/2006/table">
            <a:tbl>
              <a:tblPr firstRow="1" bandRow="1">
                <a:tableStyleId>{8A107856-5554-42FB-B03E-39F5DBC370BA}</a:tableStyleId>
              </a:tblPr>
              <a:tblGrid>
                <a:gridCol w="4680339">
                  <a:extLst>
                    <a:ext uri="{9D8B030D-6E8A-4147-A177-3AD203B41FA5}">
                      <a16:colId xmlns:a16="http://schemas.microsoft.com/office/drawing/2014/main" val="2256407697"/>
                    </a:ext>
                  </a:extLst>
                </a:gridCol>
                <a:gridCol w="4680339">
                  <a:extLst>
                    <a:ext uri="{9D8B030D-6E8A-4147-A177-3AD203B41FA5}">
                      <a16:colId xmlns:a16="http://schemas.microsoft.com/office/drawing/2014/main" val="633492106"/>
                    </a:ext>
                  </a:extLst>
                </a:gridCol>
              </a:tblGrid>
              <a:tr h="370840">
                <a:tc>
                  <a:txBody>
                    <a:bodyPr/>
                    <a:lstStyle/>
                    <a:p>
                      <a:pPr algn="ctr"/>
                      <a:r>
                        <a:rPr lang="vi-VN" b="1" dirty="0">
                          <a:latin typeface="Cambria" panose="02040503050406030204" pitchFamily="18" charset="0"/>
                          <a:ea typeface="Cambria" panose="02040503050406030204" pitchFamily="18" charset="0"/>
                        </a:rPr>
                        <a:t>HTTP</a:t>
                      </a:r>
                      <a:endParaRPr lang="en-US" b="1" dirty="0">
                        <a:latin typeface="Cambria" panose="02040503050406030204" pitchFamily="18" charset="0"/>
                        <a:ea typeface="Cambria" panose="02040503050406030204" pitchFamily="18" charset="0"/>
                      </a:endParaRPr>
                    </a:p>
                  </a:txBody>
                  <a:tcPr/>
                </a:tc>
                <a:tc>
                  <a:txBody>
                    <a:bodyPr/>
                    <a:lstStyle/>
                    <a:p>
                      <a:pPr algn="ctr"/>
                      <a:r>
                        <a:rPr lang="vi-VN" dirty="0">
                          <a:latin typeface="Cambria" panose="02040503050406030204" pitchFamily="18" charset="0"/>
                          <a:ea typeface="Cambria" panose="02040503050406030204" pitchFamily="18" charset="0"/>
                        </a:rPr>
                        <a:t>HTTPS</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921642014"/>
                  </a:ext>
                </a:extLst>
              </a:tr>
              <a:tr h="370840">
                <a:tc>
                  <a:txBody>
                    <a:bodyPr/>
                    <a:lstStyle/>
                    <a:p>
                      <a:r>
                        <a:rPr lang="en-US" dirty="0" err="1">
                          <a:latin typeface="Cambria" panose="02040503050406030204" pitchFamily="18" charset="0"/>
                          <a:ea typeface="Cambria" panose="02040503050406030204" pitchFamily="18" charset="0"/>
                        </a:rPr>
                        <a:t>Truyền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dữ</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liệu</a:t>
                      </a:r>
                      <a:r>
                        <a:rPr lang="en-US" dirty="0">
                          <a:latin typeface="Cambria" panose="02040503050406030204" pitchFamily="18" charset="0"/>
                          <a:ea typeface="Cambria" panose="02040503050406030204" pitchFamily="18" charset="0"/>
                        </a:rPr>
                        <a:t> ở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dạng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siêu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văn</a:t>
                      </a:r>
                      <a:endParaRPr lang="en-US" dirty="0">
                        <a:latin typeface="Cambria" panose="02040503050406030204" pitchFamily="18" charset="0"/>
                        <a:ea typeface="Cambria" panose="02040503050406030204" pitchFamily="18" charset="0"/>
                      </a:endParaRPr>
                    </a:p>
                    <a:p>
                      <a:r>
                        <a:rPr lang="en-US" dirty="0" err="1">
                          <a:latin typeface="Cambria" panose="02040503050406030204" pitchFamily="18" charset="0"/>
                          <a:ea typeface="Cambria" panose="02040503050406030204" pitchFamily="18" charset="0"/>
                        </a:rPr>
                        <a:t>bản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văn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bản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cấu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trúc</a:t>
                      </a:r>
                      <a:r>
                        <a:rPr lang="en-US" dirty="0">
                          <a:latin typeface="Cambria" panose="02040503050406030204" pitchFamily="18" charset="0"/>
                          <a:ea typeface="Cambria" panose="02040503050406030204" pitchFamily="18" charset="0"/>
                        </a:rPr>
                        <a:t>)</a:t>
                      </a:r>
                    </a:p>
                  </a:txBody>
                  <a:tcPr/>
                </a:tc>
                <a:tc>
                  <a:txBody>
                    <a:bodyPr/>
                    <a:lstStyle/>
                    <a:p>
                      <a:r>
                        <a:rPr lang="vi-VN" dirty="0">
                          <a:latin typeface="Cambria" panose="02040503050406030204" pitchFamily="18" charset="0"/>
                          <a:ea typeface="Cambria" panose="02040503050406030204" pitchFamily="18" charset="0"/>
                        </a:rPr>
                        <a:t>Truyền dữ liệu ở định dạng được mã</a:t>
                      </a:r>
                    </a:p>
                    <a:p>
                      <a:r>
                        <a:rPr lang="vi-VN" dirty="0">
                          <a:latin typeface="Cambria" panose="02040503050406030204" pitchFamily="18" charset="0"/>
                          <a:ea typeface="Cambria" panose="02040503050406030204" pitchFamily="18" charset="0"/>
                        </a:rPr>
                        <a:t>hóa</a:t>
                      </a:r>
                    </a:p>
                  </a:txBody>
                  <a:tcPr/>
                </a:tc>
                <a:extLst>
                  <a:ext uri="{0D108BD9-81ED-4DB2-BD59-A6C34878D82A}">
                    <a16:rowId xmlns:a16="http://schemas.microsoft.com/office/drawing/2014/main" val="3131091495"/>
                  </a:ext>
                </a:extLst>
              </a:tr>
              <a:tr h="370840">
                <a:tc>
                  <a:txBody>
                    <a:bodyPr/>
                    <a:lstStyle/>
                    <a:p>
                      <a:r>
                        <a:rPr lang="en-US" dirty="0" err="1">
                          <a:latin typeface="Cambria" panose="02040503050406030204" pitchFamily="18" charset="0"/>
                          <a:ea typeface="Cambria" panose="02040503050406030204" pitchFamily="18" charset="0"/>
                        </a:rPr>
                        <a:t>Sử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cổng</a:t>
                      </a:r>
                      <a:r>
                        <a:rPr lang="en-US" dirty="0">
                          <a:latin typeface="Cambria" panose="02040503050406030204" pitchFamily="18" charset="0"/>
                          <a:ea typeface="Cambria" panose="02040503050406030204" pitchFamily="18" charset="0"/>
                        </a:rPr>
                        <a:t> 80 </a:t>
                      </a:r>
                      <a:r>
                        <a:rPr lang="en-US" dirty="0" err="1">
                          <a:latin typeface="Cambria" panose="02040503050406030204" pitchFamily="18" charset="0"/>
                          <a:ea typeface="Cambria" panose="02040503050406030204" pitchFamily="18" charset="0"/>
                        </a:rPr>
                        <a:t>theo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endParaRPr lang="en-US" dirty="0">
                        <a:latin typeface="Cambria" panose="02040503050406030204" pitchFamily="18" charset="0"/>
                        <a:ea typeface="Cambria" panose="02040503050406030204" pitchFamily="18" charset="0"/>
                      </a:endParaRPr>
                    </a:p>
                  </a:txBody>
                  <a:tcPr/>
                </a:tc>
                <a:tc>
                  <a:txBody>
                    <a:bodyPr/>
                    <a:lstStyle/>
                    <a:p>
                      <a:r>
                        <a:rPr lang="en-US" dirty="0" err="1">
                          <a:latin typeface="Cambria" panose="02040503050406030204" pitchFamily="18" charset="0"/>
                          <a:ea typeface="Cambria" panose="02040503050406030204" pitchFamily="18" charset="0"/>
                        </a:rPr>
                        <a:t>Sử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cổng</a:t>
                      </a:r>
                      <a:r>
                        <a:rPr lang="en-US" dirty="0">
                          <a:latin typeface="Cambria" panose="02040503050406030204" pitchFamily="18" charset="0"/>
                          <a:ea typeface="Cambria" panose="02040503050406030204" pitchFamily="18" charset="0"/>
                        </a:rPr>
                        <a:t> 443 </a:t>
                      </a:r>
                      <a:r>
                        <a:rPr lang="en-US" dirty="0" err="1">
                          <a:latin typeface="Cambria" panose="02040503050406030204" pitchFamily="18" charset="0"/>
                          <a:ea typeface="Cambria" panose="02040503050406030204" pitchFamily="18" charset="0"/>
                        </a:rPr>
                        <a:t>theo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mặc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định</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080203208"/>
                  </a:ext>
                </a:extLst>
              </a:tr>
              <a:tr h="370840">
                <a:tc>
                  <a:txBody>
                    <a:bodyPr/>
                    <a:lstStyle/>
                    <a:p>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an </a:t>
                      </a:r>
                      <a:r>
                        <a:rPr lang="en-US" dirty="0" err="1">
                          <a:latin typeface="Cambria" panose="02040503050406030204" pitchFamily="18" charset="0"/>
                          <a:ea typeface="Cambria" panose="02040503050406030204" pitchFamily="18" charset="0"/>
                        </a:rPr>
                        <a:t>toàn</a:t>
                      </a:r>
                      <a:endParaRPr lang="en-US" dirty="0">
                        <a:latin typeface="Cambria" panose="02040503050406030204" pitchFamily="18" charset="0"/>
                        <a:ea typeface="Cambria" panose="02040503050406030204" pitchFamily="18" charset="0"/>
                      </a:endParaRPr>
                    </a:p>
                  </a:txBody>
                  <a:tcPr/>
                </a:tc>
                <a:tc>
                  <a:txBody>
                    <a:bodyPr/>
                    <a:lstStyle/>
                    <a:p>
                      <a:r>
                        <a:rPr lang="vi-VN" dirty="0">
                          <a:latin typeface="Cambria" panose="02040503050406030204" pitchFamily="18" charset="0"/>
                          <a:ea typeface="Cambria" panose="02040503050406030204" pitchFamily="18" charset="0"/>
                        </a:rPr>
                        <a:t>Được bảo mật bằng công nghệ SSL</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56741672"/>
                  </a:ext>
                </a:extLst>
              </a:tr>
              <a:tr h="370840">
                <a:tc>
                  <a:txBody>
                    <a:bodyPr/>
                    <a:lstStyle/>
                    <a:p>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bằng</a:t>
                      </a:r>
                      <a:r>
                        <a:rPr lang="en-US" dirty="0">
                          <a:latin typeface="Cambria" panose="02040503050406030204" pitchFamily="18" charset="0"/>
                          <a:ea typeface="Cambria" panose="02040503050406030204" pitchFamily="18" charset="0"/>
                        </a:rPr>
                        <a:t> http : //</a:t>
                      </a:r>
                    </a:p>
                  </a:txBody>
                  <a:tcPr/>
                </a:tc>
                <a:tc>
                  <a:txBody>
                    <a:bodyPr/>
                    <a:lstStyle/>
                    <a:p>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bằng</a:t>
                      </a:r>
                      <a:r>
                        <a:rPr lang="en-US" dirty="0">
                          <a:latin typeface="Cambria" panose="02040503050406030204" pitchFamily="18" charset="0"/>
                          <a:ea typeface="Cambria" panose="02040503050406030204" pitchFamily="18" charset="0"/>
                        </a:rPr>
                        <a:t> https : //</a:t>
                      </a:r>
                    </a:p>
                  </a:txBody>
                  <a:tcPr/>
                </a:tc>
                <a:extLst>
                  <a:ext uri="{0D108BD9-81ED-4DB2-BD59-A6C34878D82A}">
                    <a16:rowId xmlns:a16="http://schemas.microsoft.com/office/drawing/2014/main" val="260337512"/>
                  </a:ext>
                </a:extLst>
              </a:tr>
              <a:tr h="370840">
                <a:tc>
                  <a:txBody>
                    <a:bodyPr/>
                    <a:lstStyle/>
                    <a:p>
                      <a:r>
                        <a:rPr lang="en-US" dirty="0" err="1">
                          <a:latin typeface="Cambria" panose="02040503050406030204" pitchFamily="18" charset="0"/>
                          <a:ea typeface="Cambria" panose="02040503050406030204" pitchFamily="18" charset="0"/>
                        </a:rPr>
                        <a:t>Hoạt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động</a:t>
                      </a:r>
                      <a:r>
                        <a:rPr lang="en-US" dirty="0">
                          <a:latin typeface="Cambria" panose="02040503050406030204" pitchFamily="18" charset="0"/>
                          <a:ea typeface="Cambria" panose="02040503050406030204" pitchFamily="18" charset="0"/>
                        </a:rPr>
                        <a:t> ở </a:t>
                      </a:r>
                      <a:r>
                        <a:rPr lang="en-US" dirty="0" err="1">
                          <a:latin typeface="Cambria" panose="02040503050406030204" pitchFamily="18" charset="0"/>
                          <a:ea typeface="Cambria" panose="02040503050406030204" pitchFamily="18" charset="0"/>
                        </a:rPr>
                        <a:t>tầng</a:t>
                      </a:r>
                      <a:r>
                        <a:rPr lang="en-US" dirty="0">
                          <a:latin typeface="Cambria" panose="02040503050406030204" pitchFamily="18" charset="0"/>
                          <a:ea typeface="Cambria" panose="02040503050406030204" pitchFamily="18" charset="0"/>
                        </a:rPr>
                        <a:t> Application</a:t>
                      </a:r>
                    </a:p>
                  </a:txBody>
                  <a:tcPr/>
                </a:tc>
                <a:tc>
                  <a:txBody>
                    <a:bodyPr/>
                    <a:lstStyle/>
                    <a:p>
                      <a:r>
                        <a:rPr lang="en-US" dirty="0" err="1">
                          <a:latin typeface="Cambria" panose="02040503050406030204" pitchFamily="18" charset="0"/>
                          <a:ea typeface="Cambria" panose="02040503050406030204" pitchFamily="18" charset="0"/>
                        </a:rPr>
                        <a:t>Hoạt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động</a:t>
                      </a:r>
                      <a:r>
                        <a:rPr lang="en-US" dirty="0">
                          <a:latin typeface="Cambria" panose="02040503050406030204" pitchFamily="18" charset="0"/>
                          <a:ea typeface="Cambria" panose="02040503050406030204" pitchFamily="18" charset="0"/>
                        </a:rPr>
                        <a:t> ở </a:t>
                      </a:r>
                      <a:r>
                        <a:rPr lang="en-US" dirty="0" err="1">
                          <a:latin typeface="Cambria" panose="02040503050406030204" pitchFamily="18" charset="0"/>
                          <a:ea typeface="Cambria" panose="02040503050406030204" pitchFamily="18" charset="0"/>
                        </a:rPr>
                        <a:t>tầng</a:t>
                      </a:r>
                      <a:r>
                        <a:rPr lang="en-US" dirty="0">
                          <a:latin typeface="Cambria" panose="02040503050406030204" pitchFamily="18" charset="0"/>
                          <a:ea typeface="Cambria" panose="02040503050406030204" pitchFamily="18" charset="0"/>
                        </a:rPr>
                        <a:t> Transport</a:t>
                      </a:r>
                    </a:p>
                  </a:txBody>
                  <a:tcPr/>
                </a:tc>
                <a:extLst>
                  <a:ext uri="{0D108BD9-81ED-4DB2-BD59-A6C34878D82A}">
                    <a16:rowId xmlns:a16="http://schemas.microsoft.com/office/drawing/2014/main" val="3532338371"/>
                  </a:ext>
                </a:extLst>
              </a:tr>
              <a:tr h="370840">
                <a:tc>
                  <a:txBody>
                    <a:bodyPr/>
                    <a:lstStyle/>
                    <a:p>
                      <a:r>
                        <a:rPr lang="en-US" dirty="0" err="1">
                          <a:latin typeface="Cambria" panose="02040503050406030204" pitchFamily="18" charset="0"/>
                          <a:ea typeface="Cambria" panose="02040503050406030204" pitchFamily="18" charset="0"/>
                        </a:rPr>
                        <a:t>Không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yêu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miền</a:t>
                      </a:r>
                      <a:endParaRPr lang="en-US" dirty="0">
                        <a:latin typeface="Cambria" panose="02040503050406030204" pitchFamily="18" charset="0"/>
                        <a:ea typeface="Cambria" panose="02040503050406030204" pitchFamily="18" charset="0"/>
                      </a:endParaRPr>
                    </a:p>
                  </a:txBody>
                  <a:tcPr/>
                </a:tc>
                <a:tc>
                  <a:txBody>
                    <a:bodyPr/>
                    <a:lstStyle/>
                    <a:p>
                      <a:r>
                        <a:rPr lang="en-US" dirty="0" err="1">
                          <a:latin typeface="Cambria" panose="02040503050406030204" pitchFamily="18" charset="0"/>
                          <a:ea typeface="Cambria" panose="02040503050406030204" pitchFamily="18" charset="0"/>
                        </a:rPr>
                        <a:t>Yêu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miền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chứng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chỉ</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còn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yêu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cầu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tài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liệu</a:t>
                      </a:r>
                      <a:endParaRPr lang="en-US" dirty="0">
                        <a:latin typeface="Cambria" panose="02040503050406030204" pitchFamily="18" charset="0"/>
                        <a:ea typeface="Cambria" panose="02040503050406030204" pitchFamily="18" charset="0"/>
                      </a:endParaRPr>
                    </a:p>
                    <a:p>
                      <a:r>
                        <a:rPr lang="en-US" dirty="0" err="1">
                          <a:latin typeface="Cambria" panose="02040503050406030204" pitchFamily="18" charset="0"/>
                          <a:ea typeface="Cambria" panose="02040503050406030204" pitchFamily="18" charset="0"/>
                        </a:rPr>
                        <a:t>pháp</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lý</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047453967"/>
                  </a:ext>
                </a:extLst>
              </a:tr>
            </a:tbl>
          </a:graphicData>
        </a:graphic>
      </p:graphicFrame>
    </p:spTree>
    <p:extLst>
      <p:ext uri="{BB962C8B-B14F-4D97-AF65-F5344CB8AC3E}">
        <p14:creationId xmlns:p14="http://schemas.microsoft.com/office/powerpoint/2010/main" val="2505360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CC01-FE72-AE23-2FBE-EDE139E3BF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A4975FB-CDD5-3C85-C563-FD24537801D6}"/>
              </a:ext>
            </a:extLst>
          </p:cNvPr>
          <p:cNvSpPr txBox="1"/>
          <p:nvPr/>
        </p:nvSpPr>
        <p:spPr>
          <a:xfrm>
            <a:off x="2646716" y="2921168"/>
            <a:ext cx="7103774"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Mã trạng thái HTTP (Status Code) trong khoảng 500–599 cho biết điều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8705B1C2-6D14-4D5F-49DD-20DCFB454CBD}"/>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D434E5DF-CF8A-5D1A-E9F8-C51F216DB281}"/>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6CDEA8E3-8DCF-0D8E-487C-6254AEFE4A17}"/>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1151A1D3-6140-07A2-0F63-80697921794C}"/>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60EA0574-57FB-0DD4-E1BE-9B20BF037B2F}"/>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AF0F3940-A376-02F1-31EC-206A318D4079}"/>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7AAE5B97-5DE7-BE8D-9ADA-732AD200DDD1}"/>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9D581BE3-7A09-F050-707F-54C0DC60A24C}"/>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A5C46979-B91A-2B8F-4F3E-2858DDDCBA96}"/>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EDF02B25-8B03-239D-8FD4-9A4263F82DC7}"/>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54C6229E-63DB-D28A-41F2-0AA7DBB23A2F}"/>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Lỗi từ phía Client.</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17E371C2-D206-A660-B813-BAC154690C35}"/>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Yêu cầu đã thành công.</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DEFA5603-A2CC-19D9-F021-957B52E7A410}"/>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Thông báo điều hướng.</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149136D5-A089-0BD5-939D-8C8B7D7DC320}"/>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Lỗi từ phía Server.</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6753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3.33333E-6 0 L -0.17539 -0.26875 " pathEditMode="relative" rAng="0" ptsTypes="AA">
                                      <p:cBhvr>
                                        <p:cTn id="28" dur="1000" fill="hold"/>
                                        <p:tgtEl>
                                          <p:spTgt spid="5"/>
                                        </p:tgtEl>
                                        <p:attrNameLst>
                                          <p:attrName>ppt_x</p:attrName>
                                          <p:attrName>ppt_y</p:attrName>
                                        </p:attrNameLst>
                                      </p:cBhvr>
                                      <p:rCtr x="-8776" y="-13449"/>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F1111"/>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11FF1C"/>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6B2EA-1DC4-8DF6-C8D3-FD3A87EBB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B8F218-1FC7-377A-D623-1EA131AC99CD}"/>
              </a:ext>
            </a:extLst>
          </p:cNvPr>
          <p:cNvSpPr>
            <a:spLocks noGrp="1"/>
          </p:cNvSpPr>
          <p:nvPr>
            <p:ph type="title"/>
          </p:nvPr>
        </p:nvSpPr>
        <p:spPr>
          <a:xfrm>
            <a:off x="594360" y="584005"/>
            <a:ext cx="4117600" cy="1494596"/>
          </a:xfrm>
        </p:spPr>
        <p:txBody>
          <a:bodyPr/>
          <a:lstStyle/>
          <a:p>
            <a:r>
              <a:rPr lang="vi-VN" dirty="0">
                <a:latin typeface="Cambria" panose="02040503050406030204" pitchFamily="18" charset="0"/>
                <a:ea typeface="Cambria" panose="02040503050406030204" pitchFamily="18" charset="0"/>
              </a:rPr>
              <a:t>Status Code (Mã trạng thái)</a:t>
            </a:r>
            <a:endParaRPr lang="en-US"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B0369B0-7D8D-E078-A258-F7476E084B67}"/>
              </a:ext>
            </a:extLst>
          </p:cNvPr>
          <p:cNvSpPr txBox="1"/>
          <p:nvPr/>
        </p:nvSpPr>
        <p:spPr>
          <a:xfrm>
            <a:off x="1583288" y="2772722"/>
            <a:ext cx="9025424" cy="3167534"/>
          </a:xfrm>
          <a:prstGeom prst="rect">
            <a:avLst/>
          </a:prstGeom>
          <a:noFill/>
        </p:spPr>
        <p:txBody>
          <a:bodyPr wrap="square">
            <a:spAutoFit/>
          </a:bodyPr>
          <a:lstStyle/>
          <a:p>
            <a:pPr marL="0" marR="0">
              <a:spcBef>
                <a:spcPts val="1115"/>
              </a:spcBef>
              <a:buNone/>
            </a:pPr>
            <a:r>
              <a:rPr lang="vi-VN" sz="2200" dirty="0">
                <a:solidFill>
                  <a:schemeClr val="bg1"/>
                </a:solidFill>
                <a:effectLst/>
                <a:latin typeface="Cambria" panose="02040503050406030204" pitchFamily="18" charset="0"/>
                <a:ea typeface="Cambria" panose="02040503050406030204" pitchFamily="18" charset="0"/>
              </a:rPr>
              <a:t>Mã</a:t>
            </a:r>
            <a:r>
              <a:rPr lang="vi-VN" sz="2200" spc="-35"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trạng</a:t>
            </a:r>
            <a:r>
              <a:rPr lang="vi-VN" sz="2200" spc="-30"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thái</a:t>
            </a:r>
            <a:r>
              <a:rPr lang="vi-VN" sz="2200" spc="-35"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được</a:t>
            </a:r>
            <a:r>
              <a:rPr lang="vi-VN" sz="2200" spc="-30"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phân</a:t>
            </a:r>
            <a:r>
              <a:rPr lang="vi-VN" sz="2200" spc="-30"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loại</a:t>
            </a:r>
            <a:r>
              <a:rPr lang="vi-VN" sz="2200" spc="-30"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thành</a:t>
            </a:r>
            <a:r>
              <a:rPr lang="vi-VN" sz="2200" spc="-30"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năm</a:t>
            </a:r>
            <a:r>
              <a:rPr lang="vi-VN" sz="2200" spc="-40" dirty="0">
                <a:solidFill>
                  <a:schemeClr val="bg1"/>
                </a:solidFill>
                <a:effectLst/>
                <a:latin typeface="Cambria" panose="02040503050406030204" pitchFamily="18" charset="0"/>
                <a:ea typeface="Cambria" panose="02040503050406030204" pitchFamily="18" charset="0"/>
              </a:rPr>
              <a:t> </a:t>
            </a:r>
            <a:r>
              <a:rPr lang="vi-VN" sz="2200" dirty="0">
                <a:solidFill>
                  <a:schemeClr val="bg1"/>
                </a:solidFill>
                <a:effectLst/>
                <a:latin typeface="Cambria" panose="02040503050406030204" pitchFamily="18" charset="0"/>
                <a:ea typeface="Cambria" panose="02040503050406030204" pitchFamily="18" charset="0"/>
              </a:rPr>
              <a:t>nhóm</a:t>
            </a:r>
            <a:r>
              <a:rPr lang="vi-VN" sz="2200" spc="-35" dirty="0">
                <a:solidFill>
                  <a:schemeClr val="bg1"/>
                </a:solidFill>
                <a:effectLst/>
                <a:latin typeface="Cambria" panose="02040503050406030204" pitchFamily="18" charset="0"/>
                <a:ea typeface="Cambria" panose="02040503050406030204" pitchFamily="18" charset="0"/>
              </a:rPr>
              <a:t> </a:t>
            </a:r>
            <a:r>
              <a:rPr lang="vi-VN" sz="2200" spc="-10" dirty="0">
                <a:solidFill>
                  <a:schemeClr val="bg1"/>
                </a:solidFill>
                <a:effectLst/>
                <a:latin typeface="Cambria" panose="02040503050406030204" pitchFamily="18" charset="0"/>
                <a:ea typeface="Cambria" panose="02040503050406030204" pitchFamily="18" charset="0"/>
              </a:rPr>
              <a:t>chính:</a:t>
            </a:r>
            <a:endParaRPr lang="en-US" sz="2200" dirty="0">
              <a:solidFill>
                <a:schemeClr val="bg1"/>
              </a:solidFill>
              <a:effectLst/>
              <a:latin typeface="Cambria" panose="02040503050406030204" pitchFamily="18" charset="0"/>
              <a:ea typeface="Cambria" panose="02040503050406030204" pitchFamily="18" charset="0"/>
            </a:endParaRPr>
          </a:p>
          <a:p>
            <a:pPr marL="342900" marR="0" lvl="0" indent="-342900">
              <a:spcBef>
                <a:spcPts val="1115"/>
              </a:spcBef>
              <a:buFont typeface="Times New Roman" panose="02020603050405020304" pitchFamily="18" charset="0"/>
              <a:buChar char="-"/>
            </a:pPr>
            <a:r>
              <a:rPr lang="en-US" sz="2200" dirty="0" err="1">
                <a:solidFill>
                  <a:schemeClr val="bg1"/>
                </a:solidFill>
                <a:effectLst/>
                <a:latin typeface="Cambria" panose="02040503050406030204" pitchFamily="18" charset="0"/>
                <a:ea typeface="Cambria" panose="02040503050406030204" pitchFamily="18" charset="0"/>
              </a:rPr>
              <a:t>Mã</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trạng</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thái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có</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giá</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trị</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từ</a:t>
            </a:r>
            <a:r>
              <a:rPr lang="en-US" sz="2200" dirty="0">
                <a:solidFill>
                  <a:schemeClr val="bg1"/>
                </a:solidFill>
                <a:effectLst/>
                <a:latin typeface="Cambria" panose="02040503050406030204" pitchFamily="18" charset="0"/>
                <a:ea typeface="Cambria" panose="02040503050406030204" pitchFamily="18" charset="0"/>
              </a:rPr>
              <a:t> 100 </a:t>
            </a:r>
            <a:r>
              <a:rPr lang="en-US" sz="2200" dirty="0" err="1">
                <a:solidFill>
                  <a:schemeClr val="bg1"/>
                </a:solidFill>
                <a:effectLst/>
                <a:latin typeface="Cambria" panose="02040503050406030204" pitchFamily="18" charset="0"/>
                <a:ea typeface="Cambria" panose="02040503050406030204" pitchFamily="18" charset="0"/>
              </a:rPr>
              <a:t>đến</a:t>
            </a:r>
            <a:r>
              <a:rPr lang="en-US" sz="2200" dirty="0">
                <a:solidFill>
                  <a:schemeClr val="bg1"/>
                </a:solidFill>
                <a:effectLst/>
                <a:latin typeface="Cambria" panose="02040503050406030204" pitchFamily="18" charset="0"/>
                <a:ea typeface="Cambria" panose="02040503050406030204" pitchFamily="18" charset="0"/>
              </a:rPr>
              <a:t> 199: Thông tin.</a:t>
            </a:r>
          </a:p>
          <a:p>
            <a:pPr marL="342900" marR="0" lvl="0" indent="-342900">
              <a:spcBef>
                <a:spcPts val="1115"/>
              </a:spcBef>
              <a:buFont typeface="Times New Roman" panose="02020603050405020304" pitchFamily="18" charset="0"/>
              <a:buChar char="-"/>
            </a:pPr>
            <a:r>
              <a:rPr lang="en-US" sz="2200" dirty="0" err="1">
                <a:solidFill>
                  <a:schemeClr val="bg1"/>
                </a:solidFill>
                <a:effectLst/>
                <a:latin typeface="Cambria" panose="02040503050406030204" pitchFamily="18" charset="0"/>
                <a:ea typeface="Cambria" panose="02040503050406030204" pitchFamily="18" charset="0"/>
              </a:rPr>
              <a:t>Mã</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trạng</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thái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có</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giá</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trị</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từ</a:t>
            </a:r>
            <a:r>
              <a:rPr lang="en-US" sz="2200" dirty="0">
                <a:solidFill>
                  <a:schemeClr val="bg1"/>
                </a:solidFill>
                <a:effectLst/>
                <a:latin typeface="Cambria" panose="02040503050406030204" pitchFamily="18" charset="0"/>
                <a:ea typeface="Cambria" panose="02040503050406030204" pitchFamily="18" charset="0"/>
              </a:rPr>
              <a:t> 200 </a:t>
            </a:r>
            <a:r>
              <a:rPr lang="en-US" sz="2200" dirty="0" err="1">
                <a:solidFill>
                  <a:schemeClr val="bg1"/>
                </a:solidFill>
                <a:effectLst/>
                <a:latin typeface="Cambria" panose="02040503050406030204" pitchFamily="18" charset="0"/>
                <a:ea typeface="Cambria" panose="02040503050406030204" pitchFamily="18" charset="0"/>
              </a:rPr>
              <a:t>đến</a:t>
            </a:r>
            <a:r>
              <a:rPr lang="en-US" sz="2200" dirty="0">
                <a:solidFill>
                  <a:schemeClr val="bg1"/>
                </a:solidFill>
                <a:effectLst/>
                <a:latin typeface="Cambria" panose="02040503050406030204" pitchFamily="18" charset="0"/>
                <a:ea typeface="Cambria" panose="02040503050406030204" pitchFamily="18" charset="0"/>
              </a:rPr>
              <a:t> 299: Các request </a:t>
            </a:r>
            <a:r>
              <a:rPr lang="en-US" sz="2200" dirty="0" err="1">
                <a:solidFill>
                  <a:schemeClr val="bg1"/>
                </a:solidFill>
                <a:effectLst/>
                <a:latin typeface="Cambria" panose="02040503050406030204" pitchFamily="18" charset="0"/>
                <a:ea typeface="Cambria" panose="02040503050406030204" pitchFamily="18" charset="0"/>
              </a:rPr>
              <a:t>được</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chấp</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nhận</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yêu</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cầu</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thành</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công</a:t>
            </a:r>
            <a:r>
              <a:rPr lang="en-US" sz="2200" dirty="0">
                <a:solidFill>
                  <a:schemeClr val="bg1"/>
                </a:solidFill>
                <a:effectLst/>
                <a:latin typeface="Cambria" panose="02040503050406030204" pitchFamily="18" charset="0"/>
                <a:ea typeface="Cambria" panose="02040503050406030204" pitchFamily="18" charset="0"/>
              </a:rPr>
              <a:t>.</a:t>
            </a:r>
          </a:p>
          <a:p>
            <a:pPr marL="342900" marR="0" lvl="0" indent="-342900">
              <a:spcBef>
                <a:spcPts val="1115"/>
              </a:spcBef>
              <a:buFont typeface="Times New Roman" panose="02020603050405020304" pitchFamily="18" charset="0"/>
              <a:buChar char="-"/>
            </a:pPr>
            <a:r>
              <a:rPr lang="en-US" sz="2200" dirty="0" err="1">
                <a:solidFill>
                  <a:schemeClr val="bg1"/>
                </a:solidFill>
                <a:effectLst/>
                <a:latin typeface="Cambria" panose="02040503050406030204" pitchFamily="18" charset="0"/>
                <a:ea typeface="Cambria" panose="02040503050406030204" pitchFamily="18" charset="0"/>
              </a:rPr>
              <a:t>Mã</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trạng</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thái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có</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giá</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trị</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từ</a:t>
            </a:r>
            <a:r>
              <a:rPr lang="en-US" sz="2200" dirty="0">
                <a:solidFill>
                  <a:schemeClr val="bg1"/>
                </a:solidFill>
                <a:effectLst/>
                <a:latin typeface="Cambria" panose="02040503050406030204" pitchFamily="18" charset="0"/>
                <a:ea typeface="Cambria" panose="02040503050406030204" pitchFamily="18" charset="0"/>
              </a:rPr>
              <a:t> 300 </a:t>
            </a:r>
            <a:r>
              <a:rPr lang="en-US" sz="2200" dirty="0" err="1">
                <a:solidFill>
                  <a:schemeClr val="bg1"/>
                </a:solidFill>
                <a:effectLst/>
                <a:latin typeface="Cambria" panose="02040503050406030204" pitchFamily="18" charset="0"/>
                <a:ea typeface="Cambria" panose="02040503050406030204" pitchFamily="18" charset="0"/>
              </a:rPr>
              <a:t>đến</a:t>
            </a:r>
            <a:r>
              <a:rPr lang="en-US" sz="2200" dirty="0">
                <a:solidFill>
                  <a:schemeClr val="bg1"/>
                </a:solidFill>
                <a:effectLst/>
                <a:latin typeface="Cambria" panose="02040503050406030204" pitchFamily="18" charset="0"/>
                <a:ea typeface="Cambria" panose="02040503050406030204" pitchFamily="18" charset="0"/>
              </a:rPr>
              <a:t> 399: Thông </a:t>
            </a:r>
            <a:r>
              <a:rPr lang="en-US" sz="2200" dirty="0" err="1">
                <a:solidFill>
                  <a:schemeClr val="bg1"/>
                </a:solidFill>
                <a:effectLst/>
                <a:latin typeface="Cambria" panose="02040503050406030204" pitchFamily="18" charset="0"/>
                <a:ea typeface="Cambria" panose="02040503050406030204" pitchFamily="18" charset="0"/>
              </a:rPr>
              <a:t>báo</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điều</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hướng</a:t>
            </a:r>
            <a:r>
              <a:rPr lang="en-US" sz="2200" dirty="0">
                <a:solidFill>
                  <a:schemeClr val="bg1"/>
                </a:solidFill>
                <a:effectLst/>
                <a:latin typeface="Cambria" panose="02040503050406030204" pitchFamily="18" charset="0"/>
                <a:ea typeface="Cambria" panose="02040503050406030204" pitchFamily="18" charset="0"/>
              </a:rPr>
              <a:t>.</a:t>
            </a:r>
          </a:p>
          <a:p>
            <a:pPr marL="342900" marR="0" lvl="0" indent="-342900">
              <a:spcBef>
                <a:spcPts val="1115"/>
              </a:spcBef>
              <a:buFont typeface="Times New Roman" panose="02020603050405020304" pitchFamily="18" charset="0"/>
              <a:buChar char="-"/>
            </a:pPr>
            <a:r>
              <a:rPr lang="en-US" sz="2200" dirty="0" err="1">
                <a:solidFill>
                  <a:schemeClr val="bg1"/>
                </a:solidFill>
                <a:effectLst/>
                <a:latin typeface="Cambria" panose="02040503050406030204" pitchFamily="18" charset="0"/>
                <a:ea typeface="Cambria" panose="02040503050406030204" pitchFamily="18" charset="0"/>
              </a:rPr>
              <a:t>Mã</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trạng</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thái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có</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giá</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trị</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từ</a:t>
            </a:r>
            <a:r>
              <a:rPr lang="en-US" sz="2200" dirty="0">
                <a:solidFill>
                  <a:schemeClr val="bg1"/>
                </a:solidFill>
                <a:effectLst/>
                <a:latin typeface="Cambria" panose="02040503050406030204" pitchFamily="18" charset="0"/>
                <a:ea typeface="Cambria" panose="02040503050406030204" pitchFamily="18" charset="0"/>
              </a:rPr>
              <a:t> 400 </a:t>
            </a:r>
            <a:r>
              <a:rPr lang="en-US" sz="2200" dirty="0" err="1">
                <a:solidFill>
                  <a:schemeClr val="bg1"/>
                </a:solidFill>
                <a:effectLst/>
                <a:latin typeface="Cambria" panose="02040503050406030204" pitchFamily="18" charset="0"/>
                <a:ea typeface="Cambria" panose="02040503050406030204" pitchFamily="18" charset="0"/>
              </a:rPr>
              <a:t>đến</a:t>
            </a:r>
            <a:r>
              <a:rPr lang="en-US" sz="2200" dirty="0">
                <a:solidFill>
                  <a:schemeClr val="bg1"/>
                </a:solidFill>
                <a:effectLst/>
                <a:latin typeface="Cambria" panose="02040503050406030204" pitchFamily="18" charset="0"/>
                <a:ea typeface="Cambria" panose="02040503050406030204" pitchFamily="18" charset="0"/>
              </a:rPr>
              <a:t> 499: </a:t>
            </a:r>
            <a:r>
              <a:rPr lang="en-US" sz="2200" dirty="0" err="1">
                <a:solidFill>
                  <a:schemeClr val="bg1"/>
                </a:solidFill>
                <a:effectLst/>
                <a:latin typeface="Cambria" panose="02040503050406030204" pitchFamily="18" charset="0"/>
                <a:ea typeface="Cambria" panose="02040503050406030204" pitchFamily="18" charset="0"/>
              </a:rPr>
              <a:t>Lỗi</a:t>
            </a:r>
            <a:r>
              <a:rPr lang="en-US" sz="2200" dirty="0">
                <a:solidFill>
                  <a:schemeClr val="bg1"/>
                </a:solidFill>
                <a:effectLst/>
                <a:latin typeface="Cambria" panose="02040503050406030204" pitchFamily="18" charset="0"/>
                <a:ea typeface="Cambria" panose="02040503050406030204" pitchFamily="18" charset="0"/>
              </a:rPr>
              <a:t> request </a:t>
            </a:r>
            <a:r>
              <a:rPr lang="en-US" sz="2200" dirty="0" err="1">
                <a:solidFill>
                  <a:schemeClr val="bg1"/>
                </a:solidFill>
                <a:effectLst/>
                <a:latin typeface="Cambria" panose="02040503050406030204" pitchFamily="18" charset="0"/>
                <a:ea typeface="Cambria" panose="02040503050406030204" pitchFamily="18" charset="0"/>
              </a:rPr>
              <a:t>bên</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phía</a:t>
            </a:r>
            <a:r>
              <a:rPr lang="en-US" sz="2200" dirty="0">
                <a:solidFill>
                  <a:schemeClr val="bg1"/>
                </a:solidFill>
                <a:effectLst/>
                <a:latin typeface="Cambria" panose="02040503050406030204" pitchFamily="18" charset="0"/>
                <a:ea typeface="Cambria" panose="02040503050406030204" pitchFamily="18" charset="0"/>
              </a:rPr>
              <a:t> Client.</a:t>
            </a:r>
          </a:p>
          <a:p>
            <a:pPr marL="342900" marR="0" lvl="0" indent="-342900">
              <a:spcBef>
                <a:spcPts val="1115"/>
              </a:spcBef>
              <a:buFont typeface="Times New Roman" panose="02020603050405020304" pitchFamily="18" charset="0"/>
              <a:buChar char="-"/>
            </a:pPr>
            <a:r>
              <a:rPr lang="en-US" sz="2200" dirty="0" err="1">
                <a:solidFill>
                  <a:schemeClr val="bg1"/>
                </a:solidFill>
                <a:effectLst/>
                <a:latin typeface="Cambria" panose="02040503050406030204" pitchFamily="18" charset="0"/>
                <a:ea typeface="Cambria" panose="02040503050406030204" pitchFamily="18" charset="0"/>
              </a:rPr>
              <a:t>Mã</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trạng</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thái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có</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giá</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trị</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từ</a:t>
            </a:r>
            <a:r>
              <a:rPr lang="en-US" sz="2200" dirty="0">
                <a:solidFill>
                  <a:schemeClr val="bg1"/>
                </a:solidFill>
                <a:effectLst/>
                <a:latin typeface="Cambria" panose="02040503050406030204" pitchFamily="18" charset="0"/>
                <a:ea typeface="Cambria" panose="02040503050406030204" pitchFamily="18" charset="0"/>
              </a:rPr>
              <a:t> 500 </a:t>
            </a:r>
            <a:r>
              <a:rPr lang="en-US" sz="2200" dirty="0" err="1">
                <a:solidFill>
                  <a:schemeClr val="bg1"/>
                </a:solidFill>
                <a:effectLst/>
                <a:latin typeface="Cambria" panose="02040503050406030204" pitchFamily="18" charset="0"/>
                <a:ea typeface="Cambria" panose="02040503050406030204" pitchFamily="18" charset="0"/>
              </a:rPr>
              <a:t>đến</a:t>
            </a:r>
            <a:r>
              <a:rPr lang="en-US" sz="2200" dirty="0">
                <a:solidFill>
                  <a:schemeClr val="bg1"/>
                </a:solidFill>
                <a:effectLst/>
                <a:latin typeface="Cambria" panose="02040503050406030204" pitchFamily="18" charset="0"/>
                <a:ea typeface="Cambria" panose="02040503050406030204" pitchFamily="18" charset="0"/>
              </a:rPr>
              <a:t> 599: </a:t>
            </a:r>
            <a:r>
              <a:rPr lang="en-US" sz="2200" dirty="0" err="1">
                <a:solidFill>
                  <a:schemeClr val="bg1"/>
                </a:solidFill>
                <a:effectLst/>
                <a:latin typeface="Cambria" panose="02040503050406030204" pitchFamily="18" charset="0"/>
                <a:ea typeface="Cambria" panose="02040503050406030204" pitchFamily="18" charset="0"/>
              </a:rPr>
              <a:t>Lỗi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bên</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phía</a:t>
            </a:r>
            <a:r>
              <a:rPr lang="en-US" sz="2200" dirty="0">
                <a:solidFill>
                  <a:schemeClr val="bg1"/>
                </a:solidFill>
                <a:effectLst/>
                <a:latin typeface="Cambria" panose="02040503050406030204" pitchFamily="18" charset="0"/>
                <a:ea typeface="Cambria" panose="02040503050406030204" pitchFamily="18" charset="0"/>
              </a:rPr>
              <a:t> Server.</a:t>
            </a:r>
          </a:p>
        </p:txBody>
      </p:sp>
    </p:spTree>
    <p:extLst>
      <p:ext uri="{BB962C8B-B14F-4D97-AF65-F5344CB8AC3E}">
        <p14:creationId xmlns:p14="http://schemas.microsoft.com/office/powerpoint/2010/main" val="855779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C74EB-EFC7-70AF-BD78-69FC11D103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BFA7EF-88D3-81D5-46BE-4EE76900B78D}"/>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Trong quá trình bắt tay TCP 3 bước (Three-Way Handshake), gói tin thứ hai được trao đổi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3A737B8D-3A83-E228-1661-42B228CD3611}"/>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3511A830-5378-407E-CBAE-DAFC638E26D6}"/>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819D9BCC-75B8-C4B3-B13A-87EC67608053}"/>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D181C1AC-9248-2A04-D357-E4A4EDC4F5DD}"/>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B63A30EA-ECC8-6E7F-3F9F-CF1208C1ADAC}"/>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FEB198B3-05F2-0A6A-1676-0B1C7C99F777}"/>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180A47D4-F7A3-0B3B-5F2D-D4B9426D3C6B}"/>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5DB7EB1B-9916-D6E4-3C3B-CE5E781D297D}"/>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3EE92ACC-60BB-6438-3669-FB0091859C7B}"/>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D994D13A-4AE5-466D-CDBC-EC318054CE06}"/>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502E898C-9BF3-F15D-DDE7-D93C43B2753E}"/>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SYN</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3720E06E-6B87-4CBA-F992-39856671E2C6}"/>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ACK</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DBFE8C9B-767E-AFD8-8113-507833CCB368}"/>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SYN-ACK</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6D2BA51D-FFA6-1999-EEB1-589D74E1CEB5}"/>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FIN.</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6814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552 -0.33495 " pathEditMode="relative" rAng="0" ptsTypes="AA">
                                      <p:cBhvr>
                                        <p:cTn id="28" dur="1000" fill="hold"/>
                                        <p:tgtEl>
                                          <p:spTgt spid="5"/>
                                        </p:tgtEl>
                                        <p:attrNameLst>
                                          <p:attrName>ppt_x</p:attrName>
                                          <p:attrName>ppt_y</p:attrName>
                                        </p:attrNameLst>
                                      </p:cBhvr>
                                      <p:rCtr x="-8776" y="-16759"/>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F1111"/>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11FF1C"/>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F1111"/>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CEE23-0801-415A-4CD8-383F31F7A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1D4062-0047-57B0-3180-2FCA89221661}"/>
              </a:ext>
            </a:extLst>
          </p:cNvPr>
          <p:cNvSpPr>
            <a:spLocks noGrp="1"/>
          </p:cNvSpPr>
          <p:nvPr>
            <p:ph type="title"/>
          </p:nvPr>
        </p:nvSpPr>
        <p:spPr>
          <a:xfrm>
            <a:off x="594360" y="584005"/>
            <a:ext cx="4117600" cy="1494596"/>
          </a:xfrm>
        </p:spPr>
        <p:txBody>
          <a:bodyPr/>
          <a:lstStyle/>
          <a:p>
            <a:r>
              <a:rPr lang="vi-VN" dirty="0">
                <a:latin typeface="Cambria" panose="02040503050406030204" pitchFamily="18" charset="0"/>
                <a:ea typeface="Cambria" panose="02040503050406030204" pitchFamily="18" charset="0"/>
              </a:rPr>
              <a:t>Status Code (Mã trạng thái)</a:t>
            </a:r>
            <a:endParaRPr lang="en-US"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8ACCEC46-3995-9920-83DA-45C813F1D5C7}"/>
              </a:ext>
            </a:extLst>
          </p:cNvPr>
          <p:cNvSpPr txBox="1"/>
          <p:nvPr/>
        </p:nvSpPr>
        <p:spPr>
          <a:xfrm>
            <a:off x="5774035" y="2718795"/>
            <a:ext cx="5721279" cy="3539430"/>
          </a:xfrm>
          <a:prstGeom prst="rect">
            <a:avLst/>
          </a:prstGeom>
          <a:noFill/>
        </p:spPr>
        <p:txBody>
          <a:bodyPr wrap="square">
            <a:spAutoFit/>
          </a:bodyPr>
          <a:lstStyle/>
          <a:p>
            <a:pPr marL="342900" indent="-342900" algn="just">
              <a:buFont typeface="Arial" panose="020B0604020202020204" pitchFamily="34" charset="0"/>
              <a:buChar char="•"/>
            </a:pPr>
            <a:r>
              <a:rPr lang="vi-VN" sz="1600" dirty="0">
                <a:solidFill>
                  <a:schemeClr val="bg1"/>
                </a:solidFill>
                <a:latin typeface="Cambria" panose="02040503050406030204" pitchFamily="18" charset="0"/>
                <a:ea typeface="Cambria" panose="02040503050406030204" pitchFamily="18" charset="0"/>
              </a:rPr>
              <a:t>Bước 1 (SYN): Client gửi một gói tin có cờ SYN (Synchronize) đến Server để mở một kết nối. Gói tin này chứa một số ngẫu nhiên (ISN - Initial Sequence Number) để xác định dữ liệu truyền tải.</a:t>
            </a:r>
          </a:p>
          <a:p>
            <a:endParaRPr lang="en-US" sz="1600" dirty="0">
              <a:solidFill>
                <a:schemeClr val="bg1"/>
              </a:solidFill>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vi-VN" sz="1600" dirty="0">
                <a:solidFill>
                  <a:schemeClr val="bg1"/>
                </a:solidFill>
                <a:latin typeface="Cambria" panose="02040503050406030204" pitchFamily="18" charset="0"/>
                <a:ea typeface="Cambria" panose="02040503050406030204" pitchFamily="18" charset="0"/>
              </a:rPr>
              <a:t>Bước 2 (SYN-ACK): Server nhận được gói tin SYN, và nó sẽ gửi lại một gói tin có cờ SYN và ACK (Acknowledgment) để đồng ý mở kết nối. Gói tin này cũng bao gồm một số ngẫu nhiên và xác định ACK của Client.</a:t>
            </a:r>
          </a:p>
          <a:p>
            <a:endParaRPr lang="en-US" sz="1600" dirty="0">
              <a:solidFill>
                <a:schemeClr val="bg1"/>
              </a:solidFill>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pPr>
            <a:r>
              <a:rPr lang="vi-VN" sz="1600" dirty="0">
                <a:solidFill>
                  <a:schemeClr val="bg1"/>
                </a:solidFill>
                <a:latin typeface="Cambria" panose="02040503050406030204" pitchFamily="18" charset="0"/>
                <a:ea typeface="Cambria" panose="02040503050406030204" pitchFamily="18" charset="0"/>
              </a:rPr>
              <a:t>Bước 3 (ACK): Sau khi nhận được gói tin SYN-ACK, Client sẽ gửi lại một gói tin có cờ ACK để xác nhận rằng nó đã nhận được gói tin của Server. Khi Server nhận được gói tin ACK này, quá trình ba bước đã hoàn tất và kết nối được thiết lập</a:t>
            </a:r>
            <a:r>
              <a:rPr lang="en-US" sz="1600" dirty="0">
                <a:solidFill>
                  <a:schemeClr val="bg1"/>
                </a:solidFill>
                <a:latin typeface="Cambria" panose="02040503050406030204" pitchFamily="18" charset="0"/>
                <a:ea typeface="Cambria" panose="02040503050406030204" pitchFamily="18" charset="0"/>
              </a:rPr>
              <a:t>.</a:t>
            </a:r>
          </a:p>
        </p:txBody>
      </p:sp>
      <p:pic>
        <p:nvPicPr>
          <p:cNvPr id="1026" name="Picture 2" descr="Các bước kết nối trong TCP | Viettelco.vn">
            <a:extLst>
              <a:ext uri="{FF2B5EF4-FFF2-40B4-BE49-F238E27FC236}">
                <a16:creationId xmlns:a16="http://schemas.microsoft.com/office/drawing/2014/main" id="{F24767BC-BB26-8CC5-E27D-ACC7EECB0A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 y="2718795"/>
            <a:ext cx="4881096" cy="353943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274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F8B55-A55A-7718-71C3-756B64913F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DF8E19C-A739-F016-1C58-7EB51020D45B}"/>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Nhược điểm chính về bảo mật của giao thức HTTP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D731DE5E-FCD9-FDAC-DF33-C85404AE6E90}"/>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E49183BE-D1BD-D758-246B-2CF9999BD1AB}"/>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AC7658B1-235F-9894-FB1A-DEC5C9A997C5}"/>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2863E976-2E56-98F0-1220-9FA00E5788D4}"/>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3367B8AF-2B82-84C5-7438-4C5BB430DA5B}"/>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C22AB803-34FA-8F36-6FE3-FCA0F5AC1632}"/>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678FBACA-4428-9949-91F0-9BB4C7726FDD}"/>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6C5DBC87-4E7F-D353-FD77-82A820240F42}"/>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58B977D8-614B-B1C9-68E1-A3EBFA251DB6}"/>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6B899D28-9782-1369-B5FB-308570B731F1}"/>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A43E0F5D-A07F-9E8B-8F07-AAC0605B6F1C}"/>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Không hỗ trợ truyền tải các tệp đa phương tiện.</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A388A19D-6766-B3B5-C5C3-0CD4EB8D33DA}"/>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Tốc độ truyền tải chậm hơn so với HTTPS.</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93E32AA6-AAFD-86EC-D8A8-86E8FBC64CAA}"/>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Yêu cầu xác thực phức tạp từ phía người dùng.</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3FDEB8FE-9238-E3FA-3F9A-304400F13DFE}"/>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Dữ liệu được truyền dưới dạng văn bản thuần túy không được mã hóa.</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284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F1111"/>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11FF1C"/>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F8864-38F0-C2A8-5A3C-27DC9843B8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1E37B4-C991-2778-8731-34BEC8524B45}"/>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Giao thức con nào của SSL chịu trách nhiệm phân mảnh, nén, tính MAC và mã hóa dữ liệu?</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078553D9-4366-530B-2B33-7BD13B698406}"/>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73326F81-787F-CE01-B15C-A4A7DDB5FD9A}"/>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DBD116A4-0A7C-15CE-C4C6-2EEC1EE4C977}"/>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CC366646-413C-DFE9-B7D0-864A22877189}"/>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5E366B63-AD4D-AE63-9EB4-AE23F78C42BF}"/>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19549436-D684-5CB6-8FB5-0B74A39A1C08}"/>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54E7C6B8-67AE-8860-B127-D8AB3CD027DD}"/>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7B8C9806-F137-1701-20B8-39AB17FC7AE0}"/>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58D4EF31-BE8D-573C-3A5A-64F809C82EEA}"/>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E18DBDF6-80A1-0027-8513-0E55F16C25B5}"/>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23BE4F7D-CA88-DE1F-6137-0068AA5F9DB6}"/>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SSL Change Cipher Spec Protocol.</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627A5C1C-C74A-146A-808A-1409AE56479F}"/>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SSL Record Protocol.</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48075E4D-7B5D-9915-D76A-4659639FCF99}"/>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SSL Alert Protocol.</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EADEF25A-DFDC-E0D0-A5EA-F7078B1648AC}"/>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SSL Handshake Protocol.</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41579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552 -0.33773 " pathEditMode="relative" rAng="0" ptsTypes="AA">
                                      <p:cBhvr>
                                        <p:cTn id="28" dur="1000" fill="hold"/>
                                        <p:tgtEl>
                                          <p:spTgt spid="5"/>
                                        </p:tgtEl>
                                        <p:attrNameLst>
                                          <p:attrName>ppt_x</p:attrName>
                                          <p:attrName>ppt_y</p:attrName>
                                        </p:attrNameLst>
                                      </p:cBhvr>
                                      <p:rCtr x="-8776" y="-16898"/>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11FF1C"/>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F1111"/>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CD059-A532-3C35-DB81-79F2D5C7E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11F11-738F-946D-A0C1-AC086495D4A7}"/>
              </a:ext>
            </a:extLst>
          </p:cNvPr>
          <p:cNvSpPr>
            <a:spLocks noGrp="1"/>
          </p:cNvSpPr>
          <p:nvPr>
            <p:ph type="title"/>
          </p:nvPr>
        </p:nvSpPr>
        <p:spPr>
          <a:xfrm>
            <a:off x="594359" y="584005"/>
            <a:ext cx="4705429" cy="1494596"/>
          </a:xfrm>
        </p:spPr>
        <p:txBody>
          <a:bodyPr/>
          <a:lstStyle/>
          <a:p>
            <a:r>
              <a:rPr lang="vi-VN" dirty="0">
                <a:latin typeface="Cambria" panose="02040503050406030204" pitchFamily="18" charset="0"/>
                <a:ea typeface="Cambria" panose="02040503050406030204" pitchFamily="18" charset="0"/>
              </a:rPr>
              <a:t>Giao thức con của giao thức SSL</a:t>
            </a:r>
            <a:endParaRPr lang="en-US"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12ACBF7A-63CE-CDB9-2E68-5E69C920EA71}"/>
              </a:ext>
            </a:extLst>
          </p:cNvPr>
          <p:cNvGraphicFramePr>
            <a:graphicFrameLocks noGrp="1"/>
          </p:cNvGraphicFramePr>
          <p:nvPr>
            <p:extLst>
              <p:ext uri="{D42A27DB-BD31-4B8C-83A1-F6EECF244321}">
                <p14:modId xmlns:p14="http://schemas.microsoft.com/office/powerpoint/2010/main" val="2905984146"/>
              </p:ext>
            </p:extLst>
          </p:nvPr>
        </p:nvGraphicFramePr>
        <p:xfrm>
          <a:off x="1331686" y="2912360"/>
          <a:ext cx="9528628" cy="2941320"/>
        </p:xfrm>
        <a:graphic>
          <a:graphicData uri="http://schemas.openxmlformats.org/drawingml/2006/table">
            <a:tbl>
              <a:tblPr firstRow="1" bandRow="1">
                <a:tableStyleId>{8A107856-5554-42FB-B03E-39F5DBC370BA}</a:tableStyleId>
              </a:tblPr>
              <a:tblGrid>
                <a:gridCol w="3445069">
                  <a:extLst>
                    <a:ext uri="{9D8B030D-6E8A-4147-A177-3AD203B41FA5}">
                      <a16:colId xmlns:a16="http://schemas.microsoft.com/office/drawing/2014/main" val="2096993805"/>
                    </a:ext>
                  </a:extLst>
                </a:gridCol>
                <a:gridCol w="6083559">
                  <a:extLst>
                    <a:ext uri="{9D8B030D-6E8A-4147-A177-3AD203B41FA5}">
                      <a16:colId xmlns:a16="http://schemas.microsoft.com/office/drawing/2014/main" val="2823193022"/>
                    </a:ext>
                  </a:extLst>
                </a:gridCol>
              </a:tblGrid>
              <a:tr h="370840">
                <a:tc>
                  <a:txBody>
                    <a:bodyPr/>
                    <a:lstStyle/>
                    <a:p>
                      <a:pPr algn="ctr"/>
                      <a:r>
                        <a:rPr lang="vi-VN" dirty="0">
                          <a:latin typeface="Cambria" panose="02040503050406030204" pitchFamily="18" charset="0"/>
                          <a:ea typeface="Cambria" panose="02040503050406030204" pitchFamily="18" charset="0"/>
                        </a:rPr>
                        <a:t>TÊN GIAO THỨC</a:t>
                      </a:r>
                      <a:endParaRPr lang="en-US" dirty="0">
                        <a:latin typeface="Cambria" panose="02040503050406030204" pitchFamily="18" charset="0"/>
                        <a:ea typeface="Cambria" panose="02040503050406030204" pitchFamily="18" charset="0"/>
                      </a:endParaRPr>
                    </a:p>
                  </a:txBody>
                  <a:tcPr/>
                </a:tc>
                <a:tc>
                  <a:txBody>
                    <a:bodyPr/>
                    <a:lstStyle/>
                    <a:p>
                      <a:pPr algn="ctr"/>
                      <a:r>
                        <a:rPr lang="vi-VN" dirty="0">
                          <a:latin typeface="Cambria" panose="02040503050406030204" pitchFamily="18" charset="0"/>
                          <a:ea typeface="Cambria" panose="02040503050406030204" pitchFamily="18" charset="0"/>
                        </a:rPr>
                        <a:t>TRÁCH NHIỆM</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942577191"/>
                  </a:ext>
                </a:extLst>
              </a:tr>
              <a:tr h="370840">
                <a:tc>
                  <a:txBody>
                    <a:bodyPr/>
                    <a:lstStyle/>
                    <a:p>
                      <a:r>
                        <a:rPr lang="en-US" dirty="0">
                          <a:latin typeface="Cambria" panose="02040503050406030204" pitchFamily="18" charset="0"/>
                          <a:ea typeface="Cambria" panose="02040503050406030204" pitchFamily="18" charset="0"/>
                        </a:rPr>
                        <a:t>SSL Record Protocol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200" dirty="0">
                          <a:solidFill>
                            <a:schemeClr val="dk1"/>
                          </a:solidFill>
                          <a:effectLst/>
                          <a:latin typeface="Cambria" panose="02040503050406030204" pitchFamily="18" charset="0"/>
                          <a:ea typeface="Cambria" panose="02040503050406030204" pitchFamily="18" charset="0"/>
                          <a:cs typeface="+mn-cs"/>
                        </a:rPr>
                        <a:t>P</a:t>
                      </a:r>
                      <a:r>
                        <a:rPr lang="en-US" sz="1800" kern="1200" dirty="0" err="1">
                          <a:solidFill>
                            <a:schemeClr val="dk1"/>
                          </a:solidFill>
                          <a:effectLst/>
                          <a:latin typeface="Cambria" panose="02040503050406030204" pitchFamily="18" charset="0"/>
                          <a:ea typeface="Cambria" panose="02040503050406030204" pitchFamily="18" charset="0"/>
                          <a:cs typeface="+mn-cs"/>
                        </a:rPr>
                        <a:t>hân</a:t>
                      </a:r>
                      <a:r>
                        <a:rPr lang="en-US" sz="1800" kern="1200" dirty="0">
                          <a:solidFill>
                            <a:schemeClr val="dk1"/>
                          </a:solidFill>
                          <a:effectLst/>
                          <a:latin typeface="Cambria" panose="02040503050406030204" pitchFamily="18" charset="0"/>
                          <a:ea typeface="Cambria" panose="02040503050406030204" pitchFamily="18" charset="0"/>
                          <a:cs typeface="+mn-cs"/>
                        </a:rPr>
                        <a:t> </a:t>
                      </a:r>
                      <a:r>
                        <a:rPr lang="en-US" sz="1800" kern="1200" dirty="0" err="1">
                          <a:solidFill>
                            <a:schemeClr val="dk1"/>
                          </a:solidFill>
                          <a:effectLst/>
                          <a:latin typeface="Cambria" panose="02040503050406030204" pitchFamily="18" charset="0"/>
                          <a:ea typeface="Cambria" panose="02040503050406030204" pitchFamily="18" charset="0"/>
                          <a:cs typeface="+mn-cs"/>
                        </a:rPr>
                        <a:t>mảnh</a:t>
                      </a:r>
                      <a:r>
                        <a:rPr lang="en-US" sz="1800" kern="1200" dirty="0">
                          <a:solidFill>
                            <a:schemeClr val="dk1"/>
                          </a:solidFill>
                          <a:effectLst/>
                          <a:latin typeface="Cambria" panose="02040503050406030204" pitchFamily="18" charset="0"/>
                          <a:ea typeface="Cambria" panose="02040503050406030204" pitchFamily="18" charset="0"/>
                          <a:cs typeface="+mn-cs"/>
                        </a:rPr>
                        <a:t>, </a:t>
                      </a:r>
                      <a:r>
                        <a:rPr lang="en-US" sz="1800" kern="1200" dirty="0" err="1">
                          <a:solidFill>
                            <a:schemeClr val="dk1"/>
                          </a:solidFill>
                          <a:effectLst/>
                          <a:latin typeface="Cambria" panose="02040503050406030204" pitchFamily="18" charset="0"/>
                          <a:ea typeface="Cambria" panose="02040503050406030204" pitchFamily="18" charset="0"/>
                          <a:cs typeface="+mn-cs"/>
                        </a:rPr>
                        <a:t>nén</a:t>
                      </a:r>
                      <a:r>
                        <a:rPr lang="en-US" sz="1800" kern="1200" dirty="0">
                          <a:solidFill>
                            <a:schemeClr val="dk1"/>
                          </a:solidFill>
                          <a:effectLst/>
                          <a:latin typeface="Cambria" panose="02040503050406030204" pitchFamily="18" charset="0"/>
                          <a:ea typeface="Cambria" panose="02040503050406030204" pitchFamily="18" charset="0"/>
                          <a:cs typeface="+mn-cs"/>
                        </a:rPr>
                        <a:t>, </a:t>
                      </a:r>
                      <a:r>
                        <a:rPr lang="en-US" sz="1800" kern="1200" dirty="0" err="1">
                          <a:solidFill>
                            <a:schemeClr val="dk1"/>
                          </a:solidFill>
                          <a:effectLst/>
                          <a:latin typeface="Cambria" panose="02040503050406030204" pitchFamily="18" charset="0"/>
                          <a:ea typeface="Cambria" panose="02040503050406030204" pitchFamily="18" charset="0"/>
                          <a:cs typeface="+mn-cs"/>
                        </a:rPr>
                        <a:t>tính</a:t>
                      </a:r>
                      <a:r>
                        <a:rPr lang="en-US" sz="1800" kern="1200" dirty="0">
                          <a:solidFill>
                            <a:schemeClr val="dk1"/>
                          </a:solidFill>
                          <a:effectLst/>
                          <a:latin typeface="Cambria" panose="02040503050406030204" pitchFamily="18" charset="0"/>
                          <a:ea typeface="Cambria" panose="02040503050406030204" pitchFamily="18" charset="0"/>
                          <a:cs typeface="+mn-cs"/>
                        </a:rPr>
                        <a:t> MAC, </a:t>
                      </a:r>
                      <a:r>
                        <a:rPr lang="en-US" sz="1800" kern="1200" dirty="0" err="1">
                          <a:solidFill>
                            <a:schemeClr val="dk1"/>
                          </a:solidFill>
                          <a:effectLst/>
                          <a:latin typeface="Cambria" panose="02040503050406030204" pitchFamily="18" charset="0"/>
                          <a:ea typeface="Cambria" panose="02040503050406030204" pitchFamily="18" charset="0"/>
                          <a:cs typeface="+mn-cs"/>
                        </a:rPr>
                        <a:t>mã</a:t>
                      </a:r>
                      <a:r>
                        <a:rPr lang="en-US" sz="1800" kern="1200" dirty="0">
                          <a:solidFill>
                            <a:schemeClr val="dk1"/>
                          </a:solidFill>
                          <a:effectLst/>
                          <a:latin typeface="Cambria" panose="02040503050406030204" pitchFamily="18" charset="0"/>
                          <a:ea typeface="Cambria" panose="02040503050406030204" pitchFamily="18" charset="0"/>
                          <a:cs typeface="+mn-cs"/>
                        </a:rPr>
                        <a:t> </a:t>
                      </a:r>
                      <a:r>
                        <a:rPr lang="en-US" sz="1800" kern="1200" dirty="0" err="1">
                          <a:solidFill>
                            <a:schemeClr val="dk1"/>
                          </a:solidFill>
                          <a:effectLst/>
                          <a:latin typeface="Cambria" panose="02040503050406030204" pitchFamily="18" charset="0"/>
                          <a:ea typeface="Cambria" panose="02040503050406030204" pitchFamily="18" charset="0"/>
                          <a:cs typeface="+mn-cs"/>
                        </a:rPr>
                        <a:t>hóa</a:t>
                      </a:r>
                      <a:r>
                        <a:rPr lang="en-US" sz="1800" kern="1200" dirty="0">
                          <a:solidFill>
                            <a:schemeClr val="dk1"/>
                          </a:solidFill>
                          <a:effectLst/>
                          <a:latin typeface="Cambria" panose="02040503050406030204" pitchFamily="18" charset="0"/>
                          <a:ea typeface="Cambria" panose="02040503050406030204" pitchFamily="18" charset="0"/>
                          <a:cs typeface="+mn-cs"/>
                        </a:rPr>
                        <a:t> </a:t>
                      </a:r>
                      <a:r>
                        <a:rPr lang="en-US" sz="1800" kern="1200" dirty="0" err="1">
                          <a:solidFill>
                            <a:schemeClr val="dk1"/>
                          </a:solidFill>
                          <a:effectLst/>
                          <a:latin typeface="Cambria" panose="02040503050406030204" pitchFamily="18" charset="0"/>
                          <a:ea typeface="Cambria" panose="02040503050406030204" pitchFamily="18" charset="0"/>
                          <a:cs typeface="+mn-cs"/>
                        </a:rPr>
                        <a:t>dữ</a:t>
                      </a:r>
                      <a:r>
                        <a:rPr lang="en-US" sz="1800" kern="1200" dirty="0">
                          <a:solidFill>
                            <a:schemeClr val="dk1"/>
                          </a:solidFill>
                          <a:effectLst/>
                          <a:latin typeface="Cambria" panose="02040503050406030204" pitchFamily="18" charset="0"/>
                          <a:ea typeface="Cambria" panose="02040503050406030204" pitchFamily="18" charset="0"/>
                          <a:cs typeface="+mn-cs"/>
                        </a:rPr>
                        <a:t> </a:t>
                      </a:r>
                      <a:r>
                        <a:rPr lang="en-US" sz="1800" kern="1200" dirty="0" err="1">
                          <a:solidFill>
                            <a:schemeClr val="dk1"/>
                          </a:solidFill>
                          <a:effectLst/>
                          <a:latin typeface="Cambria" panose="02040503050406030204" pitchFamily="18" charset="0"/>
                          <a:ea typeface="Cambria" panose="02040503050406030204" pitchFamily="18" charset="0"/>
                          <a:cs typeface="+mn-cs"/>
                        </a:rPr>
                        <a:t>liệu</a:t>
                      </a:r>
                      <a:r>
                        <a:rPr lang="en-US" sz="1800" kern="1200" dirty="0">
                          <a:solidFill>
                            <a:schemeClr val="dk1"/>
                          </a:solidFill>
                          <a:effectLst/>
                          <a:latin typeface="Cambria" panose="02040503050406030204" pitchFamily="18" charset="0"/>
                          <a:ea typeface="Cambria" panose="02040503050406030204" pitchFamily="18" charset="0"/>
                          <a:cs typeface="+mn-cs"/>
                        </a:rPr>
                        <a:t>.</a:t>
                      </a:r>
                    </a:p>
                  </a:txBody>
                  <a:tcPr/>
                </a:tc>
                <a:extLst>
                  <a:ext uri="{0D108BD9-81ED-4DB2-BD59-A6C34878D82A}">
                    <a16:rowId xmlns:a16="http://schemas.microsoft.com/office/drawing/2014/main" val="3409786532"/>
                  </a:ext>
                </a:extLst>
              </a:tr>
              <a:tr h="370840">
                <a:tc>
                  <a:txBody>
                    <a:bodyPr/>
                    <a:lstStyle/>
                    <a:p>
                      <a:r>
                        <a:rPr lang="en-US" dirty="0">
                          <a:latin typeface="Cambria" panose="02040503050406030204" pitchFamily="18" charset="0"/>
                          <a:ea typeface="Cambria" panose="02040503050406030204" pitchFamily="18" charset="0"/>
                        </a:rPr>
                        <a:t>SSL Handshake Protocol</a:t>
                      </a:r>
                    </a:p>
                  </a:txBody>
                  <a:tcPr/>
                </a:tc>
                <a:tc>
                  <a:txBody>
                    <a:bodyPr/>
                    <a:lstStyle/>
                    <a:p>
                      <a:r>
                        <a:rPr lang="vi-VN" dirty="0">
                          <a:latin typeface="Cambria" panose="02040503050406030204" pitchFamily="18" charset="0"/>
                          <a:ea typeface="Cambria" panose="02040503050406030204" pitchFamily="18" charset="0"/>
                        </a:rPr>
                        <a:t>T</a:t>
                      </a:r>
                      <a:r>
                        <a:rPr lang="en-US" dirty="0" err="1">
                          <a:latin typeface="Cambria" panose="02040503050406030204" pitchFamily="18" charset="0"/>
                          <a:ea typeface="Cambria" panose="02040503050406030204" pitchFamily="18" charset="0"/>
                        </a:rPr>
                        <a:t>hực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chức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năng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thỏa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thuận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thuật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toán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tham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trao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đổi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khóa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thực</a:t>
                      </a:r>
                      <a:r>
                        <a:rPr lang="en-US" dirty="0">
                          <a:latin typeface="Cambria" panose="02040503050406030204" pitchFamily="18" charset="0"/>
                          <a:ea typeface="Cambria" panose="02040503050406030204" pitchFamily="18" charset="0"/>
                        </a:rPr>
                        <a:t> Server (</a:t>
                      </a:r>
                      <a:r>
                        <a:rPr lang="en-US" dirty="0" err="1">
                          <a:latin typeface="Cambria" panose="02040503050406030204" pitchFamily="18" charset="0"/>
                          <a:ea typeface="Cambria" panose="02040503050406030204" pitchFamily="18" charset="0"/>
                        </a:rPr>
                        <a:t>bắt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buộc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và</a:t>
                      </a:r>
                      <a:r>
                        <a:rPr lang="en-US" dirty="0">
                          <a:latin typeface="Cambria" panose="02040503050406030204" pitchFamily="18" charset="0"/>
                          <a:ea typeface="Cambria" panose="02040503050406030204" pitchFamily="18" charset="0"/>
                        </a:rPr>
                        <a:t> Client (</a:t>
                      </a:r>
                      <a:r>
                        <a:rPr lang="en-US" dirty="0" err="1">
                          <a:latin typeface="Cambria" panose="02040503050406030204" pitchFamily="18" charset="0"/>
                          <a:ea typeface="Cambria" panose="02040503050406030204" pitchFamily="18" charset="0"/>
                        </a:rPr>
                        <a:t>nếu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lựa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chọn</a:t>
                      </a:r>
                      <a:r>
                        <a:rPr lang="en-US" dirty="0">
                          <a:latin typeface="Cambria" panose="02040503050406030204" pitchFamily="18" charset="0"/>
                          <a:ea typeface="Cambria" panose="02040503050406030204" pitchFamily="18" charset="0"/>
                        </a:rPr>
                        <a:t>).</a:t>
                      </a:r>
                    </a:p>
                  </a:txBody>
                  <a:tcPr/>
                </a:tc>
                <a:extLst>
                  <a:ext uri="{0D108BD9-81ED-4DB2-BD59-A6C34878D82A}">
                    <a16:rowId xmlns:a16="http://schemas.microsoft.com/office/drawing/2014/main" val="198290367"/>
                  </a:ext>
                </a:extLst>
              </a:tr>
              <a:tr h="370840">
                <a:tc>
                  <a:txBody>
                    <a:bodyPr/>
                    <a:lstStyle/>
                    <a:p>
                      <a:r>
                        <a:rPr lang="en-US" dirty="0">
                          <a:latin typeface="Cambria" panose="02040503050406030204" pitchFamily="18" charset="0"/>
                          <a:ea typeface="Cambria" panose="02040503050406030204" pitchFamily="18" charset="0"/>
                        </a:rPr>
                        <a:t>SSL Alert Protocol</a:t>
                      </a:r>
                    </a:p>
                  </a:txBody>
                  <a:tcPr/>
                </a:tc>
                <a:tc>
                  <a:txBody>
                    <a:bodyPr/>
                    <a:lstStyle/>
                    <a:p>
                      <a:r>
                        <a:rPr lang="vi-VN" dirty="0">
                          <a:latin typeface="Cambria" panose="02040503050406030204" pitchFamily="18" charset="0"/>
                          <a:ea typeface="Cambria" panose="02040503050406030204" pitchFamily="18" charset="0"/>
                        </a:rPr>
                        <a:t>Đưa ra cảnh báo như không thể thiết lập các thông số bảo mật được đưa ra từ lựa chọn có sẵn, certificate nhận được không hợp lệ, hoặc certificate đã hết hạn đăng ký, v.v.</a:t>
                      </a: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060225458"/>
                  </a:ext>
                </a:extLst>
              </a:tr>
              <a:tr h="370840">
                <a:tc>
                  <a:txBody>
                    <a:bodyPr/>
                    <a:lstStyle/>
                    <a:p>
                      <a:r>
                        <a:rPr lang="en-US" dirty="0">
                          <a:latin typeface="Cambria" panose="02040503050406030204" pitchFamily="18" charset="0"/>
                          <a:ea typeface="Cambria" panose="02040503050406030204" pitchFamily="18" charset="0"/>
                        </a:rPr>
                        <a:t>SSL Change Cipher Spec Protocol</a:t>
                      </a:r>
                    </a:p>
                  </a:txBody>
                  <a:tcPr/>
                </a:tc>
                <a:tc>
                  <a:txBody>
                    <a:bodyPr/>
                    <a:lstStyle/>
                    <a:p>
                      <a:r>
                        <a:rPr lang="vi-VN" dirty="0">
                          <a:latin typeface="Cambria" panose="02040503050406030204" pitchFamily="18" charset="0"/>
                          <a:ea typeface="Cambria" panose="02040503050406030204" pitchFamily="18" charset="0"/>
                        </a:rPr>
                        <a:t>T</a:t>
                      </a:r>
                      <a:r>
                        <a:rPr lang="en-US" dirty="0" err="1">
                          <a:latin typeface="Cambria" panose="02040503050406030204" pitchFamily="18" charset="0"/>
                          <a:ea typeface="Cambria" panose="02040503050406030204" pitchFamily="18" charset="0"/>
                        </a:rPr>
                        <a:t>hông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báo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xác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nhận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kết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thúc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giai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đoạn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HandShake</a:t>
                      </a:r>
                      <a:r>
                        <a:rPr lang="en-US" dirty="0">
                          <a:latin typeface="Cambria" panose="02040503050406030204" pitchFamily="18" charset="0"/>
                          <a:ea typeface="Cambria" panose="02040503050406030204" pitchFamily="18" charset="0"/>
                        </a:rPr>
                        <a:t> Protocol.</a:t>
                      </a:r>
                    </a:p>
                  </a:txBody>
                  <a:tcPr/>
                </a:tc>
                <a:extLst>
                  <a:ext uri="{0D108BD9-81ED-4DB2-BD59-A6C34878D82A}">
                    <a16:rowId xmlns:a16="http://schemas.microsoft.com/office/drawing/2014/main" val="2838131560"/>
                  </a:ext>
                </a:extLst>
              </a:tr>
            </a:tbl>
          </a:graphicData>
        </a:graphic>
      </p:graphicFrame>
    </p:spTree>
    <p:extLst>
      <p:ext uri="{BB962C8B-B14F-4D97-AF65-F5344CB8AC3E}">
        <p14:creationId xmlns:p14="http://schemas.microsoft.com/office/powerpoint/2010/main" val="3222328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75D2-5F7C-9960-C96A-76DCD31D750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D34F73-8DFC-73EE-CB38-92F5B1B1FC86}"/>
              </a:ext>
            </a:extLst>
          </p:cNvPr>
          <p:cNvSpPr txBox="1"/>
          <p:nvPr/>
        </p:nvSpPr>
        <p:spPr>
          <a:xfrm>
            <a:off x="2646716" y="2921168"/>
            <a:ext cx="689856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Trong gói tin HTTP Response, trường Header nào chỉ định loại nội dung của phản hồi (ví dụ: text/html)?</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5FD1911A-898F-68F6-10A2-A0CEAD7997EA}"/>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CD3F1225-ED32-F516-035F-0ADE9B2CE221}"/>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822EFCE8-283E-5374-92E6-ABDCEECF77F5}"/>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1ED46171-EB68-F905-A552-633A33F81E61}"/>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3C4623BF-210D-9EAE-7E9F-18D3C548694D}"/>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B069066E-37E4-6E83-32C9-92CAD6757FAB}"/>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444B65DB-DEDE-629B-60F9-44969CCD745C}"/>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B571D42E-1369-3A3C-F68C-5A108B0E6994}"/>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AC58D53B-3892-377C-D974-3FB704FD14D9}"/>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454B358D-DA80-41DC-9E9C-07DDE6BD9780}"/>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067F615E-E2C5-7D5C-0C4B-66C301A69EB5}"/>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Date</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8EB700DC-58FA-F62A-4B0F-CD9ADCF86961}"/>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Server</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4AFB938E-39CB-2F75-B83C-B07207914179}"/>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Content-Type</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331ED830-4B3C-F0EF-E76A-E9AB38EE6D89}"/>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Content-Length.</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2360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4.81481E-6 L -0.17474 -0.33634 " pathEditMode="relative" rAng="0" ptsTypes="AA">
                                      <p:cBhvr>
                                        <p:cTn id="28" dur="1000" fill="hold"/>
                                        <p:tgtEl>
                                          <p:spTgt spid="5"/>
                                        </p:tgtEl>
                                        <p:attrNameLst>
                                          <p:attrName>ppt_x</p:attrName>
                                          <p:attrName>ppt_y</p:attrName>
                                        </p:attrNameLst>
                                      </p:cBhvr>
                                      <p:rCtr x="-8737" y="-16829"/>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F1111"/>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11FF1C"/>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FF1111"/>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D8177-3B02-FDB9-A7A3-73F65FBA0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4D17B-155C-C01A-2646-C14D2E3FC149}"/>
              </a:ext>
            </a:extLst>
          </p:cNvPr>
          <p:cNvSpPr>
            <a:spLocks noGrp="1"/>
          </p:cNvSpPr>
          <p:nvPr>
            <p:ph type="title"/>
          </p:nvPr>
        </p:nvSpPr>
        <p:spPr>
          <a:xfrm>
            <a:off x="594359" y="584005"/>
            <a:ext cx="6244980" cy="1494596"/>
          </a:xfrm>
        </p:spPr>
        <p:txBody>
          <a:bodyPr/>
          <a:lstStyle/>
          <a:p>
            <a:r>
              <a:rPr lang="vi-VN" dirty="0">
                <a:latin typeface="Cambria" panose="02040503050406030204" pitchFamily="18" charset="0"/>
                <a:ea typeface="Cambria" panose="02040503050406030204" pitchFamily="18" charset="0"/>
              </a:rPr>
              <a:t>Một số HTTP Response Header thường gặp</a:t>
            </a:r>
            <a:endParaRPr lang="en-US" dirty="0">
              <a:latin typeface="Cambria" panose="02040503050406030204" pitchFamily="18" charset="0"/>
              <a:ea typeface="Cambria" panose="02040503050406030204" pitchFamily="18" charset="0"/>
            </a:endParaRPr>
          </a:p>
        </p:txBody>
      </p:sp>
      <p:graphicFrame>
        <p:nvGraphicFramePr>
          <p:cNvPr id="5" name="Table 4">
            <a:extLst>
              <a:ext uri="{FF2B5EF4-FFF2-40B4-BE49-F238E27FC236}">
                <a16:creationId xmlns:a16="http://schemas.microsoft.com/office/drawing/2014/main" id="{B0063943-AC4F-8597-5B4F-80A1F34C8758}"/>
              </a:ext>
            </a:extLst>
          </p:cNvPr>
          <p:cNvGraphicFramePr>
            <a:graphicFrameLocks noGrp="1"/>
          </p:cNvGraphicFramePr>
          <p:nvPr>
            <p:extLst>
              <p:ext uri="{D42A27DB-BD31-4B8C-83A1-F6EECF244321}">
                <p14:modId xmlns:p14="http://schemas.microsoft.com/office/powerpoint/2010/main" val="2440324442"/>
              </p:ext>
            </p:extLst>
          </p:nvPr>
        </p:nvGraphicFramePr>
        <p:xfrm>
          <a:off x="1317690" y="2462958"/>
          <a:ext cx="9556620" cy="4150360"/>
        </p:xfrm>
        <a:graphic>
          <a:graphicData uri="http://schemas.openxmlformats.org/drawingml/2006/table">
            <a:tbl>
              <a:tblPr firstRow="1" bandRow="1">
                <a:tableStyleId>{8A107856-5554-42FB-B03E-39F5DBC370BA}</a:tableStyleId>
              </a:tblPr>
              <a:tblGrid>
                <a:gridCol w="3227797">
                  <a:extLst>
                    <a:ext uri="{9D8B030D-6E8A-4147-A177-3AD203B41FA5}">
                      <a16:colId xmlns:a16="http://schemas.microsoft.com/office/drawing/2014/main" val="1034578592"/>
                    </a:ext>
                  </a:extLst>
                </a:gridCol>
                <a:gridCol w="6328823">
                  <a:extLst>
                    <a:ext uri="{9D8B030D-6E8A-4147-A177-3AD203B41FA5}">
                      <a16:colId xmlns:a16="http://schemas.microsoft.com/office/drawing/2014/main" val="1473895213"/>
                    </a:ext>
                  </a:extLst>
                </a:gridCol>
              </a:tblGrid>
              <a:tr h="370840">
                <a:tc>
                  <a:txBody>
                    <a:bodyPr/>
                    <a:lstStyle/>
                    <a:p>
                      <a:r>
                        <a:rPr lang="vi-VN" sz="1400" b="1" dirty="0">
                          <a:latin typeface="Cambria" panose="02040503050406030204" pitchFamily="18" charset="0"/>
                          <a:ea typeface="Cambria" panose="02040503050406030204" pitchFamily="18" charset="0"/>
                        </a:rPr>
                        <a:t>Content-type</a:t>
                      </a:r>
                      <a:endParaRPr lang="en-US" sz="1400" b="1" dirty="0">
                        <a:latin typeface="Cambria" panose="02040503050406030204" pitchFamily="18" charset="0"/>
                        <a:ea typeface="Cambria" panose="02040503050406030204" pitchFamily="18" charset="0"/>
                      </a:endParaRPr>
                    </a:p>
                  </a:txBody>
                  <a:tcPr/>
                </a:tc>
                <a:tc>
                  <a:txBody>
                    <a:bodyPr/>
                    <a:lstStyle/>
                    <a:p>
                      <a:r>
                        <a:rPr lang="vi-VN" sz="1400" b="0" dirty="0">
                          <a:latin typeface="Cambria" panose="02040503050406030204" pitchFamily="18" charset="0"/>
                          <a:ea typeface="Cambria" panose="02040503050406030204" pitchFamily="18" charset="0"/>
                        </a:rPr>
                        <a:t>Xác định loại nội dung phản hồi</a:t>
                      </a:r>
                      <a:endParaRPr lang="en-US" sz="1400"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922886287"/>
                  </a:ext>
                </a:extLst>
              </a:tr>
              <a:tr h="370840">
                <a:tc>
                  <a:txBody>
                    <a:bodyPr/>
                    <a:lstStyle/>
                    <a:p>
                      <a:r>
                        <a:rPr lang="vi-VN" sz="1400" b="1" dirty="0">
                          <a:latin typeface="Cambria" panose="02040503050406030204" pitchFamily="18" charset="0"/>
                          <a:ea typeface="Cambria" panose="02040503050406030204" pitchFamily="18" charset="0"/>
                        </a:rPr>
                        <a:t>Content-Length</a:t>
                      </a:r>
                      <a:endParaRPr lang="en-US" sz="1400" b="1" dirty="0">
                        <a:latin typeface="Cambria" panose="02040503050406030204" pitchFamily="18" charset="0"/>
                        <a:ea typeface="Cambria" panose="02040503050406030204" pitchFamily="18" charset="0"/>
                      </a:endParaRPr>
                    </a:p>
                  </a:txBody>
                  <a:tcPr/>
                </a:tc>
                <a:tc>
                  <a:txBody>
                    <a:bodyPr/>
                    <a:lstStyle/>
                    <a:p>
                      <a:r>
                        <a:rPr lang="vi-VN" sz="1400" dirty="0">
                          <a:latin typeface="Cambria" panose="02040503050406030204" pitchFamily="18" charset="0"/>
                          <a:ea typeface="Cambria" panose="02040503050406030204" pitchFamily="18" charset="0"/>
                        </a:rPr>
                        <a:t>Chỉ định độ dài của nội dung trong phản hồi tính bằng byte</a:t>
                      </a:r>
                      <a:endParaRPr lang="en-US" sz="1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4220640450"/>
                  </a:ext>
                </a:extLst>
              </a:tr>
              <a:tr h="370840">
                <a:tc>
                  <a:txBody>
                    <a:bodyPr/>
                    <a:lstStyle/>
                    <a:p>
                      <a:r>
                        <a:rPr lang="vi-VN" sz="1400" b="1" dirty="0">
                          <a:latin typeface="Cambria" panose="02040503050406030204" pitchFamily="18" charset="0"/>
                          <a:ea typeface="Cambria" panose="02040503050406030204" pitchFamily="18" charset="0"/>
                        </a:rPr>
                        <a:t>Date</a:t>
                      </a:r>
                      <a:endParaRPr lang="en-US" sz="1400" b="1" dirty="0">
                        <a:latin typeface="Cambria" panose="02040503050406030204" pitchFamily="18" charset="0"/>
                        <a:ea typeface="Cambria" panose="02040503050406030204" pitchFamily="18" charset="0"/>
                      </a:endParaRPr>
                    </a:p>
                  </a:txBody>
                  <a:tcPr/>
                </a:tc>
                <a:tc>
                  <a:txBody>
                    <a:bodyPr/>
                    <a:lstStyle/>
                    <a:p>
                      <a:r>
                        <a:rPr lang="vi-VN" sz="1400" dirty="0">
                          <a:latin typeface="Cambria" panose="02040503050406030204" pitchFamily="18" charset="0"/>
                          <a:ea typeface="Cambria" panose="02040503050406030204" pitchFamily="18" charset="0"/>
                        </a:rPr>
                        <a:t>Chỉ ra ngày và giờ phản hồi được gửi từ server</a:t>
                      </a:r>
                      <a:endParaRPr lang="en-US" sz="1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085545480"/>
                  </a:ext>
                </a:extLst>
              </a:tr>
              <a:tr h="370840">
                <a:tc>
                  <a:txBody>
                    <a:bodyPr/>
                    <a:lstStyle/>
                    <a:p>
                      <a:r>
                        <a:rPr lang="vi-VN" sz="1400" b="1" dirty="0">
                          <a:latin typeface="Cambria" panose="02040503050406030204" pitchFamily="18" charset="0"/>
                          <a:ea typeface="Cambria" panose="02040503050406030204" pitchFamily="18" charset="0"/>
                        </a:rPr>
                        <a:t>Server</a:t>
                      </a:r>
                      <a:endParaRPr lang="en-US" sz="1400" b="1" dirty="0">
                        <a:latin typeface="Cambria" panose="02040503050406030204" pitchFamily="18" charset="0"/>
                        <a:ea typeface="Cambria" panose="02040503050406030204" pitchFamily="18" charset="0"/>
                      </a:endParaRPr>
                    </a:p>
                  </a:txBody>
                  <a:tcPr/>
                </a:tc>
                <a:tc>
                  <a:txBody>
                    <a:bodyPr/>
                    <a:lstStyle/>
                    <a:p>
                      <a:r>
                        <a:rPr lang="vi-VN" sz="1400" dirty="0">
                          <a:latin typeface="Cambria" panose="02040503050406030204" pitchFamily="18" charset="0"/>
                          <a:ea typeface="Cambria" panose="02040503050406030204" pitchFamily="18" charset="0"/>
                        </a:rPr>
                        <a:t>Cung cấp thông tin về server gửi phản hồi</a:t>
                      </a:r>
                      <a:endParaRPr lang="en-US" sz="1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869996098"/>
                  </a:ext>
                </a:extLst>
              </a:tr>
              <a:tr h="370840">
                <a:tc>
                  <a:txBody>
                    <a:bodyPr/>
                    <a:lstStyle/>
                    <a:p>
                      <a:r>
                        <a:rPr lang="vi-VN" sz="1400" b="1" dirty="0">
                          <a:latin typeface="Cambria" panose="02040503050406030204" pitchFamily="18" charset="0"/>
                          <a:ea typeface="Cambria" panose="02040503050406030204" pitchFamily="18" charset="0"/>
                        </a:rPr>
                        <a:t>Set-Cookie</a:t>
                      </a:r>
                      <a:endParaRPr lang="en-US" sz="1400" b="1" dirty="0">
                        <a:latin typeface="Cambria" panose="02040503050406030204" pitchFamily="18" charset="0"/>
                        <a:ea typeface="Cambria" panose="02040503050406030204" pitchFamily="18" charset="0"/>
                      </a:endParaRPr>
                    </a:p>
                  </a:txBody>
                  <a:tcPr/>
                </a:tc>
                <a:tc>
                  <a:txBody>
                    <a:bodyPr/>
                    <a:lstStyle/>
                    <a:p>
                      <a:r>
                        <a:rPr lang="vi-VN" sz="1400" dirty="0">
                          <a:latin typeface="Cambria" panose="02040503050406030204" pitchFamily="18" charset="0"/>
                          <a:ea typeface="Cambria" panose="02040503050406030204" pitchFamily="18" charset="0"/>
                        </a:rPr>
                        <a:t>Gửi cookie từ server đến client để lưu trữ</a:t>
                      </a:r>
                      <a:endParaRPr lang="en-US" sz="1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771114872"/>
                  </a:ext>
                </a:extLst>
              </a:tr>
              <a:tr h="370840">
                <a:tc>
                  <a:txBody>
                    <a:bodyPr/>
                    <a:lstStyle/>
                    <a:p>
                      <a:r>
                        <a:rPr lang="vi-VN" sz="1400" b="1" dirty="0">
                          <a:latin typeface="Cambria" panose="02040503050406030204" pitchFamily="18" charset="0"/>
                          <a:ea typeface="Cambria" panose="02040503050406030204" pitchFamily="18" charset="0"/>
                        </a:rPr>
                        <a:t>Cache-Control</a:t>
                      </a:r>
                      <a:endParaRPr lang="en-US" sz="1400" b="1" dirty="0">
                        <a:latin typeface="Cambria" panose="02040503050406030204" pitchFamily="18" charset="0"/>
                        <a:ea typeface="Cambria" panose="02040503050406030204" pitchFamily="18" charset="0"/>
                      </a:endParaRPr>
                    </a:p>
                  </a:txBody>
                  <a:tcPr/>
                </a:tc>
                <a:tc>
                  <a:txBody>
                    <a:bodyPr/>
                    <a:lstStyle/>
                    <a:p>
                      <a:r>
                        <a:rPr lang="vi-VN" sz="1400" dirty="0">
                          <a:latin typeface="Cambria" panose="02040503050406030204" pitchFamily="18" charset="0"/>
                          <a:ea typeface="Cambria" panose="02040503050406030204" pitchFamily="18" charset="0"/>
                        </a:rPr>
                        <a:t>Hướng dẫn về cách lưu trữ và duy trì bộ nhớ đệm của nội dung</a:t>
                      </a:r>
                      <a:endParaRPr lang="en-US" sz="1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897498487"/>
                  </a:ext>
                </a:extLst>
              </a:tr>
              <a:tr h="370840">
                <a:tc>
                  <a:txBody>
                    <a:bodyPr/>
                    <a:lstStyle/>
                    <a:p>
                      <a:r>
                        <a:rPr lang="en-US" sz="1400" b="1" dirty="0">
                          <a:latin typeface="Cambria" panose="02040503050406030204" pitchFamily="18" charset="0"/>
                          <a:ea typeface="Cambria" panose="02040503050406030204" pitchFamily="18" charset="0"/>
                        </a:rPr>
                        <a:t>Location</a:t>
                      </a:r>
                    </a:p>
                  </a:txBody>
                  <a:tcPr/>
                </a:tc>
                <a:tc>
                  <a:txBody>
                    <a:bodyPr/>
                    <a:lstStyle/>
                    <a:p>
                      <a:r>
                        <a:rPr lang="vi-VN" sz="1400" dirty="0">
                          <a:latin typeface="Cambria" panose="02040503050406030204" pitchFamily="18" charset="0"/>
                          <a:ea typeface="Cambria" panose="02040503050406030204" pitchFamily="18" charset="0"/>
                        </a:rPr>
                        <a:t>Chỉ ra URL mới của tài nguyên khi tài nguyên đã được di chuyển (thường dùng trong phản hồi 3xx)</a:t>
                      </a:r>
                    </a:p>
                  </a:txBody>
                  <a:tcPr/>
                </a:tc>
                <a:extLst>
                  <a:ext uri="{0D108BD9-81ED-4DB2-BD59-A6C34878D82A}">
                    <a16:rowId xmlns:a16="http://schemas.microsoft.com/office/drawing/2014/main" val="2980164901"/>
                  </a:ext>
                </a:extLst>
              </a:tr>
              <a:tr h="370840">
                <a:tc>
                  <a:txBody>
                    <a:bodyPr/>
                    <a:lstStyle/>
                    <a:p>
                      <a:r>
                        <a:rPr lang="en-US" sz="1400" b="1" dirty="0">
                          <a:latin typeface="Cambria" panose="02040503050406030204" pitchFamily="18" charset="0"/>
                          <a:ea typeface="Cambria" panose="02040503050406030204" pitchFamily="18" charset="0"/>
                        </a:rPr>
                        <a:t>Content-Encoding</a:t>
                      </a:r>
                    </a:p>
                  </a:txBody>
                  <a:tcPr/>
                </a:tc>
                <a:tc>
                  <a:txBody>
                    <a:bodyPr/>
                    <a:lstStyle/>
                    <a:p>
                      <a:r>
                        <a:rPr lang="vi-VN" sz="1400" dirty="0">
                          <a:latin typeface="Cambria" panose="02040503050406030204" pitchFamily="18" charset="0"/>
                          <a:ea typeface="Cambria" panose="02040503050406030204" pitchFamily="18" charset="0"/>
                        </a:rPr>
                        <a:t>Chỉ định phương pháp nén mà server sử dụng để nén phản hồi</a:t>
                      </a:r>
                      <a:endParaRPr lang="en-US" sz="1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14113112"/>
                  </a:ext>
                </a:extLst>
              </a:tr>
              <a:tr h="370840">
                <a:tc>
                  <a:txBody>
                    <a:bodyPr/>
                    <a:lstStyle/>
                    <a:p>
                      <a:r>
                        <a:rPr lang="en-US" sz="1400" b="1" dirty="0">
                          <a:latin typeface="Cambria" panose="02040503050406030204" pitchFamily="18" charset="0"/>
                          <a:ea typeface="Cambria" panose="02040503050406030204" pitchFamily="18" charset="0"/>
                        </a:rPr>
                        <a:t>Connection</a:t>
                      </a:r>
                    </a:p>
                  </a:txBody>
                  <a:tcPr/>
                </a:tc>
                <a:tc>
                  <a:txBody>
                    <a:bodyPr/>
                    <a:lstStyle/>
                    <a:p>
                      <a:r>
                        <a:rPr lang="vi-VN" sz="1400" dirty="0">
                          <a:latin typeface="Cambria" panose="02040503050406030204" pitchFamily="18" charset="0"/>
                          <a:ea typeface="Cambria" panose="02040503050406030204" pitchFamily="18" charset="0"/>
                        </a:rPr>
                        <a:t>Chỉ định trạng thái của kết nối, cho biết liệu kết nối nên được giữ mở hay đóng sau phản hồi</a:t>
                      </a:r>
                    </a:p>
                  </a:txBody>
                  <a:tcPr/>
                </a:tc>
                <a:extLst>
                  <a:ext uri="{0D108BD9-81ED-4DB2-BD59-A6C34878D82A}">
                    <a16:rowId xmlns:a16="http://schemas.microsoft.com/office/drawing/2014/main" val="3840648847"/>
                  </a:ext>
                </a:extLst>
              </a:tr>
              <a:tr h="370840">
                <a:tc>
                  <a:txBody>
                    <a:bodyPr/>
                    <a:lstStyle/>
                    <a:p>
                      <a:r>
                        <a:rPr lang="en-US" sz="1400" b="1" dirty="0">
                          <a:latin typeface="Cambria" panose="02040503050406030204" pitchFamily="18" charset="0"/>
                          <a:ea typeface="Cambria" panose="02040503050406030204" pitchFamily="18" charset="0"/>
                        </a:rPr>
                        <a:t>Access- Control-</a:t>
                      </a:r>
                    </a:p>
                    <a:p>
                      <a:r>
                        <a:rPr lang="en-US" sz="1400" b="1" dirty="0">
                          <a:latin typeface="Cambria" panose="02040503050406030204" pitchFamily="18" charset="0"/>
                          <a:ea typeface="Cambria" panose="02040503050406030204" pitchFamily="18" charset="0"/>
                        </a:rPr>
                        <a:t>Allow-Origin</a:t>
                      </a:r>
                    </a:p>
                  </a:txBody>
                  <a:tcPr/>
                </a:tc>
                <a:tc>
                  <a:txBody>
                    <a:bodyPr/>
                    <a:lstStyle/>
                    <a:p>
                      <a:r>
                        <a:rPr lang="vi-VN" sz="1400" dirty="0">
                          <a:latin typeface="Cambria" panose="02040503050406030204" pitchFamily="18" charset="0"/>
                          <a:ea typeface="Cambria" panose="02040503050406030204" pitchFamily="18" charset="0"/>
                        </a:rPr>
                        <a:t>Chỉ định các nguồn được phép truy cập tài nguyên từ server, dùng trong CORS (Cross-Origin Resource Sharing)</a:t>
                      </a:r>
                      <a:endParaRPr lang="en-US" sz="1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4075907284"/>
                  </a:ext>
                </a:extLst>
              </a:tr>
            </a:tbl>
          </a:graphicData>
        </a:graphic>
      </p:graphicFrame>
    </p:spTree>
    <p:extLst>
      <p:ext uri="{BB962C8B-B14F-4D97-AF65-F5344CB8AC3E}">
        <p14:creationId xmlns:p14="http://schemas.microsoft.com/office/powerpoint/2010/main" val="139301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2DF02-364D-E70B-BB3F-2DC6A6E1D96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26A733-9797-C44D-BD40-0E1199281DA6}"/>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Mục đích của chứng chỉ SSL trong giao thức HTTPS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523B26D9-E3FD-0450-3587-44E3DAE085EF}"/>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51EA3065-306C-4855-6FA7-266AB951EC0D}"/>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77F8DD30-422E-8AEB-5D30-C369FC8A4D63}"/>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487D4C57-63E7-F8BE-AE8C-39FBF0C8C99F}"/>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4C037526-C5A6-C93C-8E84-570E1B8081B2}"/>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CC7EC5B5-8EA5-689B-60C9-896FDE94033E}"/>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CA64B0CF-7517-EC63-CBCC-EE197E97C79D}"/>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DB259006-42E4-1E4C-BFC3-11B9E2034FBD}"/>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170A86EC-3163-12B8-F265-66FA0CB38B92}"/>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61C85443-655D-0B5E-76CD-BD7ECB970037}"/>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DA514D38-F1F4-8AD6-F18D-9331EC20E2E0}"/>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Để nén dữ liệu và tăng tốc độ tải trang.</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B62758D4-EF0C-1A93-345F-0BC8BE3B6252}"/>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Để xác thực danh tính của máy chủ và cung cấp khóa công khai.</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477FD7BC-1A07-6AA1-9CB8-3F3E60EE4240}"/>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Để phân giải tên miền thành địa chỉ IP.</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54BDF755-CFB4-3357-5BCC-971570E43D47}"/>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Để lưu trữ thông tin phiên làm việc của người dùng.</a:t>
            </a:r>
            <a:endParaRPr lang="en-US"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C1DD3331-5C84-DA7E-ED2D-6F55A077E963}"/>
              </a:ext>
            </a:extLst>
          </p:cNvPr>
          <p:cNvSpPr txBox="1"/>
          <p:nvPr/>
        </p:nvSpPr>
        <p:spPr>
          <a:xfrm>
            <a:off x="2353258" y="3228498"/>
            <a:ext cx="7485483" cy="1200329"/>
          </a:xfrm>
          <a:prstGeom prst="rect">
            <a:avLst/>
          </a:prstGeom>
          <a:noFill/>
        </p:spPr>
        <p:txBody>
          <a:bodyPr wrap="square">
            <a:spAutoFit/>
          </a:bodyPr>
          <a:lstStyle/>
          <a:p>
            <a:r>
              <a:rPr lang="vi-VN" sz="2400" dirty="0">
                <a:solidFill>
                  <a:schemeClr val="bg1"/>
                </a:solidFill>
                <a:latin typeface="Cambria" panose="02040503050406030204" pitchFamily="18" charset="0"/>
                <a:ea typeface="Cambria" panose="02040503050406030204" pitchFamily="18" charset="0"/>
              </a:rPr>
              <a:t>Chứng chỉ SSL xác thực danh tính server và phân phối khóa công khai cho client. Nhờ đó, client tin tưởng server và thiết lập kênh mã hóa an toàn.</a:t>
            </a:r>
            <a:endParaRPr lang="en-US" sz="2400"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9404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53"/>
                                        </p:tgtEl>
                                      </p:cBhvr>
                                    </p:animEffect>
                                    <p:set>
                                      <p:cBhvr>
                                        <p:cTn id="49" dur="1" fill="hold">
                                          <p:stCondLst>
                                            <p:cond delay="499"/>
                                          </p:stCondLst>
                                        </p:cTn>
                                        <p:tgtEl>
                                          <p:spTgt spid="5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54"/>
                                        </p:tgtEl>
                                      </p:cBhvr>
                                    </p:animEffect>
                                    <p:set>
                                      <p:cBhvr>
                                        <p:cTn id="52" dur="1" fill="hold">
                                          <p:stCondLst>
                                            <p:cond delay="499"/>
                                          </p:stCondLst>
                                        </p:cTn>
                                        <p:tgtEl>
                                          <p:spTgt spid="54"/>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55"/>
                                        </p:tgtEl>
                                      </p:cBhvr>
                                    </p:animEffect>
                                    <p:set>
                                      <p:cBhvr>
                                        <p:cTn id="55" dur="1" fill="hold">
                                          <p:stCondLst>
                                            <p:cond delay="499"/>
                                          </p:stCondLst>
                                        </p:cTn>
                                        <p:tgtEl>
                                          <p:spTgt spid="55"/>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56"/>
                                        </p:tgtEl>
                                      </p:cBhvr>
                                    </p:animEffect>
                                    <p:set>
                                      <p:cBhvr>
                                        <p:cTn id="58" dur="1" fill="hold">
                                          <p:stCondLst>
                                            <p:cond delay="4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4" restart="whenNotActive" fill="hold" evtFilter="cancelBubble" nodeType="interactiveSeq">
                <p:stCondLst>
                  <p:cond evt="onClick" delay="0">
                    <p:tgtEl>
                      <p:spTgt spid="53"/>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clickEffect">
                                  <p:stCondLst>
                                    <p:cond delay="0"/>
                                  </p:stCondLst>
                                  <p:childTnLst>
                                    <p:animClr clrSpc="rgb" dir="cw">
                                      <p:cBhvr>
                                        <p:cTn id="68" dur="500" fill="hold"/>
                                        <p:tgtEl>
                                          <p:spTgt spid="53"/>
                                        </p:tgtEl>
                                        <p:attrNameLst>
                                          <p:attrName>fillcolor</p:attrName>
                                        </p:attrNameLst>
                                      </p:cBhvr>
                                      <p:to>
                                        <a:srgbClr val="FF1111"/>
                                      </p:to>
                                    </p:animClr>
                                    <p:set>
                                      <p:cBhvr>
                                        <p:cTn id="69" dur="500" fill="hold"/>
                                        <p:tgtEl>
                                          <p:spTgt spid="53"/>
                                        </p:tgtEl>
                                        <p:attrNameLst>
                                          <p:attrName>fill.type</p:attrName>
                                        </p:attrNameLst>
                                      </p:cBhvr>
                                      <p:to>
                                        <p:strVal val="solid"/>
                                      </p:to>
                                    </p:set>
                                    <p:set>
                                      <p:cBhvr>
                                        <p:cTn id="70"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71" restart="whenNotActive" fill="hold" evtFilter="cancelBubble" nodeType="interactiveSeq">
                <p:stCondLst>
                  <p:cond evt="onClick" delay="0">
                    <p:tgtEl>
                      <p:spTgt spid="54"/>
                    </p:tgtEl>
                  </p:cond>
                </p:stCondLst>
                <p:endSync evt="end" delay="0">
                  <p:rtn val="all"/>
                </p:endSync>
                <p:childTnLst>
                  <p:par>
                    <p:cTn id="72" fill="hold">
                      <p:stCondLst>
                        <p:cond delay="0"/>
                      </p:stCondLst>
                      <p:childTnLst>
                        <p:par>
                          <p:cTn id="73" fill="hold">
                            <p:stCondLst>
                              <p:cond delay="0"/>
                            </p:stCondLst>
                            <p:childTnLst>
                              <p:par>
                                <p:cTn id="74" presetID="1" presetClass="emph" presetSubtype="2" fill="hold" nodeType="clickEffect">
                                  <p:stCondLst>
                                    <p:cond delay="0"/>
                                  </p:stCondLst>
                                  <p:childTnLst>
                                    <p:animClr clrSpc="rgb" dir="cw">
                                      <p:cBhvr>
                                        <p:cTn id="75" dur="500" fill="hold"/>
                                        <p:tgtEl>
                                          <p:spTgt spid="54"/>
                                        </p:tgtEl>
                                        <p:attrNameLst>
                                          <p:attrName>fillcolor</p:attrName>
                                        </p:attrNameLst>
                                      </p:cBhvr>
                                      <p:to>
                                        <a:srgbClr val="11FF1C"/>
                                      </p:to>
                                    </p:animClr>
                                    <p:set>
                                      <p:cBhvr>
                                        <p:cTn id="76" dur="500" fill="hold"/>
                                        <p:tgtEl>
                                          <p:spTgt spid="54"/>
                                        </p:tgtEl>
                                        <p:attrNameLst>
                                          <p:attrName>fill.type</p:attrName>
                                        </p:attrNameLst>
                                      </p:cBhvr>
                                      <p:to>
                                        <p:strVal val="solid"/>
                                      </p:to>
                                    </p:set>
                                    <p:set>
                                      <p:cBhvr>
                                        <p:cTn id="77"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78" restart="whenNotActive" fill="hold" evtFilter="cancelBubble" nodeType="interactiveSeq">
                <p:stCondLst>
                  <p:cond evt="onClick" delay="0">
                    <p:tgtEl>
                      <p:spTgt spid="55"/>
                    </p:tgtEl>
                  </p:cond>
                </p:stCondLst>
                <p:endSync evt="end" delay="0">
                  <p:rtn val="all"/>
                </p:endSync>
                <p:childTnLst>
                  <p:par>
                    <p:cTn id="79" fill="hold">
                      <p:stCondLst>
                        <p:cond delay="0"/>
                      </p:stCondLst>
                      <p:childTnLst>
                        <p:par>
                          <p:cTn id="80" fill="hold">
                            <p:stCondLst>
                              <p:cond delay="0"/>
                            </p:stCondLst>
                            <p:childTnLst>
                              <p:par>
                                <p:cTn id="81" presetID="1" presetClass="emph" presetSubtype="2" fill="hold" nodeType="clickEffect">
                                  <p:stCondLst>
                                    <p:cond delay="0"/>
                                  </p:stCondLst>
                                  <p:childTnLst>
                                    <p:animClr clrSpc="rgb" dir="cw">
                                      <p:cBhvr>
                                        <p:cTn id="82" dur="500" fill="hold"/>
                                        <p:tgtEl>
                                          <p:spTgt spid="55"/>
                                        </p:tgtEl>
                                        <p:attrNameLst>
                                          <p:attrName>fillcolor</p:attrName>
                                        </p:attrNameLst>
                                      </p:cBhvr>
                                      <p:to>
                                        <a:srgbClr val="FF1111"/>
                                      </p:to>
                                    </p:animClr>
                                    <p:set>
                                      <p:cBhvr>
                                        <p:cTn id="83" dur="500" fill="hold"/>
                                        <p:tgtEl>
                                          <p:spTgt spid="55"/>
                                        </p:tgtEl>
                                        <p:attrNameLst>
                                          <p:attrName>fill.type</p:attrName>
                                        </p:attrNameLst>
                                      </p:cBhvr>
                                      <p:to>
                                        <p:strVal val="solid"/>
                                      </p:to>
                                    </p:set>
                                    <p:set>
                                      <p:cBhvr>
                                        <p:cTn id="84"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85" restart="whenNotActive" fill="hold" evtFilter="cancelBubble" nodeType="interactiveSeq">
                <p:stCondLst>
                  <p:cond evt="onClick" delay="0">
                    <p:tgtEl>
                      <p:spTgt spid="56"/>
                    </p:tgtEl>
                  </p:cond>
                </p:stCondLst>
                <p:endSync evt="end" delay="0">
                  <p:rtn val="all"/>
                </p:endSync>
                <p:childTnLst>
                  <p:par>
                    <p:cTn id="86" fill="hold">
                      <p:stCondLst>
                        <p:cond delay="0"/>
                      </p:stCondLst>
                      <p:childTnLst>
                        <p:par>
                          <p:cTn id="87" fill="hold">
                            <p:stCondLst>
                              <p:cond delay="0"/>
                            </p:stCondLst>
                            <p:childTnLst>
                              <p:par>
                                <p:cTn id="88" presetID="1" presetClass="emph" presetSubtype="2" fill="hold" nodeType="clickEffect">
                                  <p:stCondLst>
                                    <p:cond delay="0"/>
                                  </p:stCondLst>
                                  <p:childTnLst>
                                    <p:animClr clrSpc="rgb" dir="cw">
                                      <p:cBhvr>
                                        <p:cTn id="89" dur="500" fill="hold"/>
                                        <p:tgtEl>
                                          <p:spTgt spid="56"/>
                                        </p:tgtEl>
                                        <p:attrNameLst>
                                          <p:attrName>fillcolor</p:attrName>
                                        </p:attrNameLst>
                                      </p:cBhvr>
                                      <p:to>
                                        <a:srgbClr val="FF1111"/>
                                      </p:to>
                                    </p:animClr>
                                    <p:set>
                                      <p:cBhvr>
                                        <p:cTn id="90" dur="500" fill="hold"/>
                                        <p:tgtEl>
                                          <p:spTgt spid="56"/>
                                        </p:tgtEl>
                                        <p:attrNameLst>
                                          <p:attrName>fill.type</p:attrName>
                                        </p:attrNameLst>
                                      </p:cBhvr>
                                      <p:to>
                                        <p:strVal val="solid"/>
                                      </p:to>
                                    </p:set>
                                    <p:set>
                                      <p:cBhvr>
                                        <p:cTn id="91"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3" grpId="1" animBg="1"/>
      <p:bldP spid="54" grpId="0" animBg="1"/>
      <p:bldP spid="54" grpId="1" animBg="1"/>
      <p:bldP spid="55" grpId="0" animBg="1"/>
      <p:bldP spid="55" grpId="1" animBg="1"/>
      <p:bldP spid="56" grpId="0" animBg="1"/>
      <p:bldP spid="56" grpId="1" animBg="1"/>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87F44-93CA-90AF-B368-B00E3A5BED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D7B860-9753-90F0-71A5-023DB4AB6EA4}"/>
              </a:ext>
            </a:extLst>
          </p:cNvPr>
          <p:cNvSpPr txBox="1"/>
          <p:nvPr/>
        </p:nvSpPr>
        <p:spPr>
          <a:xfrm>
            <a:off x="2646716" y="2921168"/>
            <a:ext cx="6898568" cy="1015663"/>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URI (Uniform Resource Identifiers) được chia thành hai loại chính là gì?</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78932E35-638D-553F-EB1E-1AAF2D8CB339}"/>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825D684E-42DC-B82E-98FB-CDD23AD15252}"/>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A98454AA-1589-62B6-09D0-F90D90A2AB69}"/>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CE4800A3-BDE5-6BEE-9A3C-948540AB7550}"/>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0544A1BA-A20D-1F46-A1F0-8FAA42115DED}"/>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18C8A7AD-3F29-62E2-DED9-9FEA31455111}"/>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C50BFE54-31C6-1B5F-17CA-AFC7CC126C55}"/>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826B82C7-35E4-8B27-1FDD-36F2634A2C92}"/>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8DF29216-49A0-3683-F8A5-03F6C0C2BA34}"/>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CC20EEDC-0D55-143B-92C2-41BDEAD21849}"/>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E746028D-8629-8093-6D63-17101FEE47D1}"/>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HTTP và HTTPS.</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FD6D1B44-9A8E-4709-691E-F97AEEA1CF72}"/>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TCP và IP.</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33E93F92-1B55-A2AF-0917-3419F2DFFB04}"/>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Client và Server.</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AA4C950C-4413-D0A5-F34D-50835628FDC0}"/>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URL và URN.</a:t>
            </a:r>
            <a:endParaRPr lang="en-US"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8FA515C-AB80-8306-A7A3-385A0D2CB2A6}"/>
              </a:ext>
            </a:extLst>
          </p:cNvPr>
          <p:cNvSpPr txBox="1"/>
          <p:nvPr/>
        </p:nvSpPr>
        <p:spPr>
          <a:xfrm>
            <a:off x="2721817" y="2936111"/>
            <a:ext cx="6748365" cy="1785104"/>
          </a:xfrm>
          <a:prstGeom prst="rect">
            <a:avLst/>
          </a:prstGeom>
          <a:noFill/>
        </p:spPr>
        <p:txBody>
          <a:bodyPr wrap="square">
            <a:spAutoFit/>
          </a:bodyPr>
          <a:lstStyle/>
          <a:p>
            <a:pPr algn="just"/>
            <a:r>
              <a:rPr lang="en-US" sz="2200" dirty="0">
                <a:solidFill>
                  <a:schemeClr val="bg1"/>
                </a:solidFill>
                <a:effectLst/>
                <a:latin typeface="Cambria" panose="02040503050406030204" pitchFamily="18" charset="0"/>
                <a:ea typeface="Cambria" panose="02040503050406030204" pitchFamily="18" charset="0"/>
              </a:rPr>
              <a:t>URI</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được</a:t>
            </a:r>
            <a:r>
              <a:rPr lang="en-US" sz="2200" spc="-85"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sử</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dụng</a:t>
            </a:r>
            <a:r>
              <a:rPr lang="en-US" sz="2200" spc="-85"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xuyên</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suốt</a:t>
            </a:r>
            <a:r>
              <a:rPr lang="en-US" sz="2200" spc="-85" dirty="0">
                <a:solidFill>
                  <a:schemeClr val="bg1"/>
                </a:solidFill>
                <a:effectLst/>
                <a:latin typeface="Cambria" panose="02040503050406030204" pitchFamily="18" charset="0"/>
                <a:ea typeface="Cambria" panose="02040503050406030204" pitchFamily="18" charset="0"/>
              </a:rPr>
              <a:t> </a:t>
            </a:r>
            <a:r>
              <a:rPr lang="en-US" sz="2200" dirty="0">
                <a:solidFill>
                  <a:schemeClr val="bg1"/>
                </a:solidFill>
                <a:effectLst/>
                <a:latin typeface="Cambria" panose="02040503050406030204" pitchFamily="18" charset="0"/>
                <a:ea typeface="Cambria" panose="02040503050406030204" pitchFamily="18" charset="0"/>
              </a:rPr>
              <a:t>HTTP</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như</a:t>
            </a:r>
            <a:r>
              <a:rPr lang="en-US" sz="2200" spc="-85"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một</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phương</a:t>
            </a:r>
            <a:r>
              <a:rPr lang="en-US" sz="2200" spc="-85"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tiện</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để</a:t>
            </a:r>
            <a:r>
              <a:rPr lang="en-US" sz="2200" spc="-85"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xác</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định</a:t>
            </a:r>
            <a:r>
              <a:rPr lang="en-US" sz="2200" spc="-85"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tài</a:t>
            </a:r>
            <a:r>
              <a:rPr lang="en-US" sz="2200" spc="-9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nguyên</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mà</a:t>
            </a:r>
            <a:r>
              <a:rPr lang="en-US" sz="2200" dirty="0">
                <a:solidFill>
                  <a:schemeClr val="bg1"/>
                </a:solidFill>
                <a:effectLst/>
                <a:latin typeface="Cambria" panose="02040503050406030204" pitchFamily="18" charset="0"/>
                <a:ea typeface="Cambria" panose="02040503050406030204" pitchFamily="18" charset="0"/>
              </a:rPr>
              <a:t> Client </a:t>
            </a:r>
            <a:r>
              <a:rPr lang="en-US" sz="2200" dirty="0" err="1">
                <a:solidFill>
                  <a:schemeClr val="bg1"/>
                </a:solidFill>
                <a:effectLst/>
                <a:latin typeface="Cambria" panose="02040503050406030204" pitchFamily="18" charset="0"/>
                <a:ea typeface="Cambria" panose="02040503050406030204" pitchFamily="18" charset="0"/>
              </a:rPr>
              <a:t>muốn</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truy</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cập</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trên</a:t>
            </a:r>
            <a:r>
              <a:rPr lang="en-US" sz="2200" dirty="0">
                <a:solidFill>
                  <a:schemeClr val="bg1"/>
                </a:solidFill>
                <a:effectLst/>
                <a:latin typeface="Cambria" panose="02040503050406030204" pitchFamily="18" charset="0"/>
                <a:ea typeface="Cambria" panose="02040503050406030204" pitchFamily="18" charset="0"/>
              </a:rPr>
              <a:t> Server. Khi Client </a:t>
            </a:r>
            <a:r>
              <a:rPr lang="en-US" sz="2200" dirty="0" err="1">
                <a:solidFill>
                  <a:schemeClr val="bg1"/>
                </a:solidFill>
                <a:effectLst/>
                <a:latin typeface="Cambria" panose="02040503050406030204" pitchFamily="18" charset="0"/>
                <a:ea typeface="Cambria" panose="02040503050406030204" pitchFamily="18" charset="0"/>
              </a:rPr>
              <a:t>gửi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yêu</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cầu</a:t>
            </a:r>
            <a:r>
              <a:rPr lang="en-US" sz="2200" dirty="0">
                <a:solidFill>
                  <a:schemeClr val="bg1"/>
                </a:solidFill>
                <a:effectLst/>
                <a:latin typeface="Cambria" panose="02040503050406030204" pitchFamily="18" charset="0"/>
                <a:ea typeface="Cambria" panose="02040503050406030204" pitchFamily="18" charset="0"/>
              </a:rPr>
              <a:t> HTTP, </a:t>
            </a:r>
            <a:r>
              <a:rPr lang="en-US" sz="2200" dirty="0" err="1">
                <a:solidFill>
                  <a:schemeClr val="bg1"/>
                </a:solidFill>
                <a:effectLst/>
                <a:latin typeface="Cambria" panose="02040503050406030204" pitchFamily="18" charset="0"/>
                <a:ea typeface="Cambria" panose="02040503050406030204" pitchFamily="18" charset="0"/>
              </a:rPr>
              <a:t>nó</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sử</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dụng</a:t>
            </a:r>
            <a:r>
              <a:rPr lang="en-US" sz="2200" dirty="0">
                <a:solidFill>
                  <a:schemeClr val="bg1"/>
                </a:solidFill>
                <a:effectLst/>
                <a:latin typeface="Cambria" panose="02040503050406030204" pitchFamily="18" charset="0"/>
                <a:ea typeface="Cambria" panose="02040503050406030204" pitchFamily="18" charset="0"/>
              </a:rPr>
              <a:t> URI </a:t>
            </a:r>
            <a:r>
              <a:rPr lang="en-US" sz="2200" dirty="0" err="1">
                <a:solidFill>
                  <a:schemeClr val="bg1"/>
                </a:solidFill>
                <a:effectLst/>
                <a:latin typeface="Cambria" panose="02040503050406030204" pitchFamily="18" charset="0"/>
                <a:ea typeface="Cambria" panose="02040503050406030204" pitchFamily="18" charset="0"/>
              </a:rPr>
              <a:t>để</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chỉ</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định</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tài</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nguyên</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cần</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truy</a:t>
            </a:r>
            <a:r>
              <a:rPr lang="en-US" sz="2200" dirty="0">
                <a:solidFill>
                  <a:schemeClr val="bg1"/>
                </a:solidFill>
                <a:effectLst/>
                <a:latin typeface="Cambria" panose="02040503050406030204" pitchFamily="18" charset="0"/>
                <a:ea typeface="Cambria" panose="02040503050406030204" pitchFamily="18" charset="0"/>
              </a:rPr>
              <a:t> </a:t>
            </a:r>
            <a:r>
              <a:rPr lang="en-US" sz="2200" dirty="0" err="1">
                <a:solidFill>
                  <a:schemeClr val="bg1"/>
                </a:solidFill>
                <a:effectLst/>
                <a:latin typeface="Cambria" panose="02040503050406030204" pitchFamily="18" charset="0"/>
                <a:ea typeface="Cambria" panose="02040503050406030204" pitchFamily="18" charset="0"/>
              </a:rPr>
              <a:t>cập</a:t>
            </a:r>
            <a:r>
              <a:rPr lang="en-US" sz="2200" dirty="0">
                <a:solidFill>
                  <a:schemeClr val="bg1"/>
                </a:solidFill>
                <a:effectLst/>
                <a:latin typeface="Cambria" panose="02040503050406030204" pitchFamily="18" charset="0"/>
                <a:ea typeface="Cambria" panose="02040503050406030204" pitchFamily="18" charset="0"/>
              </a:rPr>
              <a:t>. URI </a:t>
            </a:r>
            <a:r>
              <a:rPr lang="en-US" sz="2200" dirty="0" err="1">
                <a:solidFill>
                  <a:schemeClr val="bg1"/>
                </a:solidFill>
                <a:effectLst/>
                <a:latin typeface="Cambria" panose="02040503050406030204" pitchFamily="18" charset="0"/>
                <a:ea typeface="Cambria" panose="02040503050406030204" pitchFamily="18" charset="0"/>
              </a:rPr>
              <a:t>được</a:t>
            </a:r>
            <a:r>
              <a:rPr lang="en-US" sz="2200" dirty="0">
                <a:solidFill>
                  <a:schemeClr val="bg1"/>
                </a:solidFill>
                <a:effectLst/>
                <a:latin typeface="Cambria" panose="02040503050406030204" pitchFamily="18" charset="0"/>
                <a:ea typeface="Cambria" panose="02040503050406030204" pitchFamily="18" charset="0"/>
              </a:rPr>
              <a:t> chia </a:t>
            </a:r>
            <a:r>
              <a:rPr lang="en-US" sz="2200" dirty="0" err="1">
                <a:solidFill>
                  <a:schemeClr val="bg1"/>
                </a:solidFill>
                <a:effectLst/>
                <a:latin typeface="Cambria" panose="02040503050406030204" pitchFamily="18" charset="0"/>
                <a:ea typeface="Cambria" panose="02040503050406030204" pitchFamily="18" charset="0"/>
              </a:rPr>
              <a:t>thành</a:t>
            </a:r>
            <a:r>
              <a:rPr lang="en-US" sz="2200" dirty="0">
                <a:solidFill>
                  <a:schemeClr val="bg1"/>
                </a:solidFill>
                <a:effectLst/>
                <a:latin typeface="Cambria" panose="02040503050406030204" pitchFamily="18" charset="0"/>
                <a:ea typeface="Cambria" panose="02040503050406030204" pitchFamily="18" charset="0"/>
              </a:rPr>
              <a:t> 2 </a:t>
            </a:r>
            <a:r>
              <a:rPr lang="en-US" sz="2200" dirty="0" err="1">
                <a:solidFill>
                  <a:schemeClr val="bg1"/>
                </a:solidFill>
                <a:effectLst/>
                <a:latin typeface="Cambria" panose="02040503050406030204" pitchFamily="18" charset="0"/>
                <a:ea typeface="Cambria" panose="02040503050406030204" pitchFamily="18" charset="0"/>
              </a:rPr>
              <a:t>loại</a:t>
            </a:r>
            <a:r>
              <a:rPr lang="en-US" sz="2200" dirty="0">
                <a:solidFill>
                  <a:schemeClr val="bg1"/>
                </a:solidFill>
                <a:effectLst/>
                <a:latin typeface="Cambria" panose="02040503050406030204" pitchFamily="18" charset="0"/>
                <a:ea typeface="Cambria" panose="02040503050406030204" pitchFamily="18" charset="0"/>
              </a:rPr>
              <a:t> URL </a:t>
            </a:r>
            <a:r>
              <a:rPr lang="en-US" sz="2200" dirty="0" err="1">
                <a:solidFill>
                  <a:schemeClr val="bg1"/>
                </a:solidFill>
                <a:effectLst/>
                <a:latin typeface="Cambria" panose="02040503050406030204" pitchFamily="18" charset="0"/>
                <a:ea typeface="Cambria" panose="02040503050406030204" pitchFamily="18" charset="0"/>
              </a:rPr>
              <a:t>và</a:t>
            </a:r>
            <a:r>
              <a:rPr lang="en-US" sz="2200" dirty="0">
                <a:solidFill>
                  <a:schemeClr val="bg1"/>
                </a:solidFill>
                <a:effectLst/>
                <a:latin typeface="Cambria" panose="02040503050406030204" pitchFamily="18" charset="0"/>
                <a:ea typeface="Cambria" panose="02040503050406030204" pitchFamily="18" charset="0"/>
              </a:rPr>
              <a:t> URN</a:t>
            </a:r>
            <a:endParaRPr lang="en-US" sz="2200"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1002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 0 L -0.17474 -0.26736 " pathEditMode="relative" rAng="0" ptsTypes="AA">
                                      <p:cBhvr>
                                        <p:cTn id="28" dur="1000" fill="hold"/>
                                        <p:tgtEl>
                                          <p:spTgt spid="5"/>
                                        </p:tgtEl>
                                        <p:attrNameLst>
                                          <p:attrName>ppt_x</p:attrName>
                                          <p:attrName>ppt_y</p:attrName>
                                        </p:attrNameLst>
                                      </p:cBhvr>
                                      <p:rCtr x="-8737" y="-13380"/>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53"/>
                                        </p:tgtEl>
                                      </p:cBhvr>
                                    </p:animEffect>
                                    <p:set>
                                      <p:cBhvr>
                                        <p:cTn id="49" dur="1" fill="hold">
                                          <p:stCondLst>
                                            <p:cond delay="499"/>
                                          </p:stCondLst>
                                        </p:cTn>
                                        <p:tgtEl>
                                          <p:spTgt spid="53"/>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54"/>
                                        </p:tgtEl>
                                      </p:cBhvr>
                                    </p:animEffect>
                                    <p:set>
                                      <p:cBhvr>
                                        <p:cTn id="52" dur="1" fill="hold">
                                          <p:stCondLst>
                                            <p:cond delay="499"/>
                                          </p:stCondLst>
                                        </p:cTn>
                                        <p:tgtEl>
                                          <p:spTgt spid="54"/>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55"/>
                                        </p:tgtEl>
                                      </p:cBhvr>
                                    </p:animEffect>
                                    <p:set>
                                      <p:cBhvr>
                                        <p:cTn id="55" dur="1" fill="hold">
                                          <p:stCondLst>
                                            <p:cond delay="499"/>
                                          </p:stCondLst>
                                        </p:cTn>
                                        <p:tgtEl>
                                          <p:spTgt spid="55"/>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56"/>
                                        </p:tgtEl>
                                      </p:cBhvr>
                                    </p:animEffect>
                                    <p:set>
                                      <p:cBhvr>
                                        <p:cTn id="58" dur="1" fill="hold">
                                          <p:stCondLst>
                                            <p:cond delay="499"/>
                                          </p:stCondLst>
                                        </p:cTn>
                                        <p:tgtEl>
                                          <p:spTgt spid="56"/>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4" restart="whenNotActive" fill="hold" evtFilter="cancelBubble" nodeType="interactiveSeq">
                <p:stCondLst>
                  <p:cond evt="onClick" delay="0">
                    <p:tgtEl>
                      <p:spTgt spid="53"/>
                    </p:tgtEl>
                  </p:cond>
                </p:stCondLst>
                <p:endSync evt="end" delay="0">
                  <p:rtn val="all"/>
                </p:endSync>
                <p:childTnLst>
                  <p:par>
                    <p:cTn id="65" fill="hold">
                      <p:stCondLst>
                        <p:cond delay="0"/>
                      </p:stCondLst>
                      <p:childTnLst>
                        <p:par>
                          <p:cTn id="66" fill="hold">
                            <p:stCondLst>
                              <p:cond delay="0"/>
                            </p:stCondLst>
                            <p:childTnLst>
                              <p:par>
                                <p:cTn id="67" presetID="1" presetClass="emph" presetSubtype="2" fill="hold" nodeType="clickEffect">
                                  <p:stCondLst>
                                    <p:cond delay="0"/>
                                  </p:stCondLst>
                                  <p:childTnLst>
                                    <p:animClr clrSpc="rgb" dir="cw">
                                      <p:cBhvr>
                                        <p:cTn id="68" dur="500" fill="hold"/>
                                        <p:tgtEl>
                                          <p:spTgt spid="53"/>
                                        </p:tgtEl>
                                        <p:attrNameLst>
                                          <p:attrName>fillcolor</p:attrName>
                                        </p:attrNameLst>
                                      </p:cBhvr>
                                      <p:to>
                                        <a:srgbClr val="FF1111"/>
                                      </p:to>
                                    </p:animClr>
                                    <p:set>
                                      <p:cBhvr>
                                        <p:cTn id="69" dur="500" fill="hold"/>
                                        <p:tgtEl>
                                          <p:spTgt spid="53"/>
                                        </p:tgtEl>
                                        <p:attrNameLst>
                                          <p:attrName>fill.type</p:attrName>
                                        </p:attrNameLst>
                                      </p:cBhvr>
                                      <p:to>
                                        <p:strVal val="solid"/>
                                      </p:to>
                                    </p:set>
                                    <p:set>
                                      <p:cBhvr>
                                        <p:cTn id="70"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71" restart="whenNotActive" fill="hold" evtFilter="cancelBubble" nodeType="interactiveSeq">
                <p:stCondLst>
                  <p:cond evt="onClick" delay="0">
                    <p:tgtEl>
                      <p:spTgt spid="54"/>
                    </p:tgtEl>
                  </p:cond>
                </p:stCondLst>
                <p:endSync evt="end" delay="0">
                  <p:rtn val="all"/>
                </p:endSync>
                <p:childTnLst>
                  <p:par>
                    <p:cTn id="72" fill="hold">
                      <p:stCondLst>
                        <p:cond delay="0"/>
                      </p:stCondLst>
                      <p:childTnLst>
                        <p:par>
                          <p:cTn id="73" fill="hold">
                            <p:stCondLst>
                              <p:cond delay="0"/>
                            </p:stCondLst>
                            <p:childTnLst>
                              <p:par>
                                <p:cTn id="74" presetID="1" presetClass="emph" presetSubtype="2" fill="hold" nodeType="clickEffect">
                                  <p:stCondLst>
                                    <p:cond delay="0"/>
                                  </p:stCondLst>
                                  <p:childTnLst>
                                    <p:animClr clrSpc="rgb" dir="cw">
                                      <p:cBhvr>
                                        <p:cTn id="75" dur="500" fill="hold"/>
                                        <p:tgtEl>
                                          <p:spTgt spid="54"/>
                                        </p:tgtEl>
                                        <p:attrNameLst>
                                          <p:attrName>fillcolor</p:attrName>
                                        </p:attrNameLst>
                                      </p:cBhvr>
                                      <p:to>
                                        <a:srgbClr val="FF1111"/>
                                      </p:to>
                                    </p:animClr>
                                    <p:set>
                                      <p:cBhvr>
                                        <p:cTn id="76" dur="500" fill="hold"/>
                                        <p:tgtEl>
                                          <p:spTgt spid="54"/>
                                        </p:tgtEl>
                                        <p:attrNameLst>
                                          <p:attrName>fill.type</p:attrName>
                                        </p:attrNameLst>
                                      </p:cBhvr>
                                      <p:to>
                                        <p:strVal val="solid"/>
                                      </p:to>
                                    </p:set>
                                    <p:set>
                                      <p:cBhvr>
                                        <p:cTn id="77"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78" restart="whenNotActive" fill="hold" evtFilter="cancelBubble" nodeType="interactiveSeq">
                <p:stCondLst>
                  <p:cond evt="onClick" delay="0">
                    <p:tgtEl>
                      <p:spTgt spid="55"/>
                    </p:tgtEl>
                  </p:cond>
                </p:stCondLst>
                <p:endSync evt="end" delay="0">
                  <p:rtn val="all"/>
                </p:endSync>
                <p:childTnLst>
                  <p:par>
                    <p:cTn id="79" fill="hold">
                      <p:stCondLst>
                        <p:cond delay="0"/>
                      </p:stCondLst>
                      <p:childTnLst>
                        <p:par>
                          <p:cTn id="80" fill="hold">
                            <p:stCondLst>
                              <p:cond delay="0"/>
                            </p:stCondLst>
                            <p:childTnLst>
                              <p:par>
                                <p:cTn id="81" presetID="1" presetClass="emph" presetSubtype="2" fill="hold" nodeType="clickEffect">
                                  <p:stCondLst>
                                    <p:cond delay="0"/>
                                  </p:stCondLst>
                                  <p:childTnLst>
                                    <p:animClr clrSpc="rgb" dir="cw">
                                      <p:cBhvr>
                                        <p:cTn id="82" dur="500" fill="hold"/>
                                        <p:tgtEl>
                                          <p:spTgt spid="55"/>
                                        </p:tgtEl>
                                        <p:attrNameLst>
                                          <p:attrName>fillcolor</p:attrName>
                                        </p:attrNameLst>
                                      </p:cBhvr>
                                      <p:to>
                                        <a:srgbClr val="FF1111"/>
                                      </p:to>
                                    </p:animClr>
                                    <p:set>
                                      <p:cBhvr>
                                        <p:cTn id="83" dur="500" fill="hold"/>
                                        <p:tgtEl>
                                          <p:spTgt spid="55"/>
                                        </p:tgtEl>
                                        <p:attrNameLst>
                                          <p:attrName>fill.type</p:attrName>
                                        </p:attrNameLst>
                                      </p:cBhvr>
                                      <p:to>
                                        <p:strVal val="solid"/>
                                      </p:to>
                                    </p:set>
                                    <p:set>
                                      <p:cBhvr>
                                        <p:cTn id="84"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85" restart="whenNotActive" fill="hold" evtFilter="cancelBubble" nodeType="interactiveSeq">
                <p:stCondLst>
                  <p:cond evt="onClick" delay="0">
                    <p:tgtEl>
                      <p:spTgt spid="56"/>
                    </p:tgtEl>
                  </p:cond>
                </p:stCondLst>
                <p:endSync evt="end" delay="0">
                  <p:rtn val="all"/>
                </p:endSync>
                <p:childTnLst>
                  <p:par>
                    <p:cTn id="86" fill="hold">
                      <p:stCondLst>
                        <p:cond delay="0"/>
                      </p:stCondLst>
                      <p:childTnLst>
                        <p:par>
                          <p:cTn id="87" fill="hold">
                            <p:stCondLst>
                              <p:cond delay="0"/>
                            </p:stCondLst>
                            <p:childTnLst>
                              <p:par>
                                <p:cTn id="88" presetID="1" presetClass="emph" presetSubtype="2" fill="hold" nodeType="clickEffect">
                                  <p:stCondLst>
                                    <p:cond delay="0"/>
                                  </p:stCondLst>
                                  <p:childTnLst>
                                    <p:animClr clrSpc="rgb" dir="cw">
                                      <p:cBhvr>
                                        <p:cTn id="89" dur="500" fill="hold"/>
                                        <p:tgtEl>
                                          <p:spTgt spid="56"/>
                                        </p:tgtEl>
                                        <p:attrNameLst>
                                          <p:attrName>fillcolor</p:attrName>
                                        </p:attrNameLst>
                                      </p:cBhvr>
                                      <p:to>
                                        <a:srgbClr val="11FF1C"/>
                                      </p:to>
                                    </p:animClr>
                                    <p:set>
                                      <p:cBhvr>
                                        <p:cTn id="90" dur="500" fill="hold"/>
                                        <p:tgtEl>
                                          <p:spTgt spid="56"/>
                                        </p:tgtEl>
                                        <p:attrNameLst>
                                          <p:attrName>fill.type</p:attrName>
                                        </p:attrNameLst>
                                      </p:cBhvr>
                                      <p:to>
                                        <p:strVal val="solid"/>
                                      </p:to>
                                    </p:set>
                                    <p:set>
                                      <p:cBhvr>
                                        <p:cTn id="91"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3" grpId="1" animBg="1"/>
      <p:bldP spid="54" grpId="0" animBg="1"/>
      <p:bldP spid="54" grpId="1" animBg="1"/>
      <p:bldP spid="55" grpId="0" animBg="1"/>
      <p:bldP spid="55" grpId="1" animBg="1"/>
      <p:bldP spid="56" grpId="0" animBg="1"/>
      <p:bldP spid="56" grpId="1" animBg="1"/>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D47DF-5D15-F2FA-26CD-B783CC37E4A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969EB2-DADC-D8AE-0486-9DBF4B13E5B5}"/>
              </a:ext>
            </a:extLst>
          </p:cNvPr>
          <p:cNvSpPr txBox="1"/>
          <p:nvPr/>
        </p:nvSpPr>
        <p:spPr>
          <a:xfrm>
            <a:off x="2646716" y="2921168"/>
            <a:ext cx="7626288" cy="1477328"/>
          </a:xfrm>
          <a:prstGeom prst="rect">
            <a:avLst/>
          </a:prstGeom>
          <a:noFill/>
        </p:spPr>
        <p:txBody>
          <a:bodyPr wrap="square" rtlCol="0">
            <a:spAutoFit/>
          </a:bodyPr>
          <a:lstStyle/>
          <a:p>
            <a:r>
              <a:rPr lang="vi-VN" sz="3000" b="1" dirty="0">
                <a:solidFill>
                  <a:schemeClr val="bg1"/>
                </a:solidFill>
                <a:latin typeface="Cambria" panose="02040503050406030204" pitchFamily="18" charset="0"/>
                <a:ea typeface="Cambria" panose="02040503050406030204" pitchFamily="18" charset="0"/>
              </a:rPr>
              <a:t>Trong quá trình bắt tay SSL (xác thực 1 chiều), sau khi Client xác minh chứng chỉ SSL của Server, Client sẽ làm gì tiếp theo?</a:t>
            </a:r>
            <a:endParaRPr lang="en-US" sz="3000" b="1" dirty="0">
              <a:solidFill>
                <a:schemeClr val="bg1"/>
              </a:solidFill>
              <a:latin typeface="Cambria" panose="02040503050406030204" pitchFamily="18" charset="0"/>
              <a:ea typeface="Cambria" panose="02040503050406030204" pitchFamily="18" charset="0"/>
            </a:endParaRPr>
          </a:p>
        </p:txBody>
      </p:sp>
      <p:sp>
        <p:nvSpPr>
          <p:cNvPr id="41" name="Rectangle 40">
            <a:extLst>
              <a:ext uri="{FF2B5EF4-FFF2-40B4-BE49-F238E27FC236}">
                <a16:creationId xmlns:a16="http://schemas.microsoft.com/office/drawing/2014/main" id="{4CC2F345-3AB4-BBF7-3196-B3783985BB79}"/>
              </a:ext>
            </a:extLst>
          </p:cNvPr>
          <p:cNvSpPr/>
          <p:nvPr/>
        </p:nvSpPr>
        <p:spPr>
          <a:xfrm>
            <a:off x="11112759" y="419878"/>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10</a:t>
            </a:r>
            <a:endParaRPr lang="en-US" dirty="0"/>
          </a:p>
        </p:txBody>
      </p:sp>
      <p:sp>
        <p:nvSpPr>
          <p:cNvPr id="42" name="Rectangle 41">
            <a:extLst>
              <a:ext uri="{FF2B5EF4-FFF2-40B4-BE49-F238E27FC236}">
                <a16:creationId xmlns:a16="http://schemas.microsoft.com/office/drawing/2014/main" id="{FDC7A18E-21EC-9877-4F27-EC41F4DB237F}"/>
              </a:ext>
            </a:extLst>
          </p:cNvPr>
          <p:cNvSpPr/>
          <p:nvPr/>
        </p:nvSpPr>
        <p:spPr>
          <a:xfrm>
            <a:off x="11112759" y="1055915"/>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9</a:t>
            </a:r>
            <a:endParaRPr lang="en-US" dirty="0"/>
          </a:p>
        </p:txBody>
      </p:sp>
      <p:sp>
        <p:nvSpPr>
          <p:cNvPr id="43" name="Rectangle 42">
            <a:extLst>
              <a:ext uri="{FF2B5EF4-FFF2-40B4-BE49-F238E27FC236}">
                <a16:creationId xmlns:a16="http://schemas.microsoft.com/office/drawing/2014/main" id="{72B6F322-3E2A-408F-D68A-4D67C82CCA9B}"/>
              </a:ext>
            </a:extLst>
          </p:cNvPr>
          <p:cNvSpPr/>
          <p:nvPr/>
        </p:nvSpPr>
        <p:spPr>
          <a:xfrm>
            <a:off x="11112759" y="1691952"/>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8</a:t>
            </a:r>
            <a:endParaRPr lang="en-US" dirty="0"/>
          </a:p>
        </p:txBody>
      </p:sp>
      <p:sp>
        <p:nvSpPr>
          <p:cNvPr id="44" name="Rectangle 43">
            <a:extLst>
              <a:ext uri="{FF2B5EF4-FFF2-40B4-BE49-F238E27FC236}">
                <a16:creationId xmlns:a16="http://schemas.microsoft.com/office/drawing/2014/main" id="{1121F26D-BD12-1533-C622-A3C32A92246D}"/>
              </a:ext>
            </a:extLst>
          </p:cNvPr>
          <p:cNvSpPr/>
          <p:nvPr/>
        </p:nvSpPr>
        <p:spPr>
          <a:xfrm>
            <a:off x="11112759" y="2327989"/>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7</a:t>
            </a:r>
            <a:endParaRPr lang="en-US" dirty="0"/>
          </a:p>
        </p:txBody>
      </p:sp>
      <p:sp>
        <p:nvSpPr>
          <p:cNvPr id="45" name="Rectangle 44">
            <a:extLst>
              <a:ext uri="{FF2B5EF4-FFF2-40B4-BE49-F238E27FC236}">
                <a16:creationId xmlns:a16="http://schemas.microsoft.com/office/drawing/2014/main" id="{C3D99AD1-2D5B-8DA2-C9B7-8291B8A69EFF}"/>
              </a:ext>
            </a:extLst>
          </p:cNvPr>
          <p:cNvSpPr/>
          <p:nvPr/>
        </p:nvSpPr>
        <p:spPr>
          <a:xfrm>
            <a:off x="11112759" y="2964026"/>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6</a:t>
            </a:r>
            <a:endParaRPr lang="en-US" dirty="0"/>
          </a:p>
        </p:txBody>
      </p:sp>
      <p:sp>
        <p:nvSpPr>
          <p:cNvPr id="46" name="Rectangle 45">
            <a:extLst>
              <a:ext uri="{FF2B5EF4-FFF2-40B4-BE49-F238E27FC236}">
                <a16:creationId xmlns:a16="http://schemas.microsoft.com/office/drawing/2014/main" id="{9EF25D5A-9C56-C43C-B849-91B486A4EA2D}"/>
              </a:ext>
            </a:extLst>
          </p:cNvPr>
          <p:cNvSpPr/>
          <p:nvPr/>
        </p:nvSpPr>
        <p:spPr>
          <a:xfrm>
            <a:off x="11112758" y="3600063"/>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5</a:t>
            </a:r>
            <a:endParaRPr lang="en-US" dirty="0"/>
          </a:p>
        </p:txBody>
      </p:sp>
      <p:sp>
        <p:nvSpPr>
          <p:cNvPr id="47" name="Rectangle 46">
            <a:extLst>
              <a:ext uri="{FF2B5EF4-FFF2-40B4-BE49-F238E27FC236}">
                <a16:creationId xmlns:a16="http://schemas.microsoft.com/office/drawing/2014/main" id="{40F4EF3E-6DF2-B1FD-D5BD-31F946605980}"/>
              </a:ext>
            </a:extLst>
          </p:cNvPr>
          <p:cNvSpPr/>
          <p:nvPr/>
        </p:nvSpPr>
        <p:spPr>
          <a:xfrm>
            <a:off x="11112758" y="4236100"/>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4</a:t>
            </a:r>
            <a:endParaRPr lang="en-US" dirty="0"/>
          </a:p>
        </p:txBody>
      </p:sp>
      <p:sp>
        <p:nvSpPr>
          <p:cNvPr id="48" name="Rectangle 47">
            <a:extLst>
              <a:ext uri="{FF2B5EF4-FFF2-40B4-BE49-F238E27FC236}">
                <a16:creationId xmlns:a16="http://schemas.microsoft.com/office/drawing/2014/main" id="{A74D62AC-DF56-EFAB-4BE0-76547205D21C}"/>
              </a:ext>
            </a:extLst>
          </p:cNvPr>
          <p:cNvSpPr/>
          <p:nvPr/>
        </p:nvSpPr>
        <p:spPr>
          <a:xfrm>
            <a:off x="11112757" y="4872137"/>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3</a:t>
            </a:r>
            <a:endParaRPr lang="en-US" dirty="0"/>
          </a:p>
        </p:txBody>
      </p:sp>
      <p:sp>
        <p:nvSpPr>
          <p:cNvPr id="49" name="Rectangle 48">
            <a:extLst>
              <a:ext uri="{FF2B5EF4-FFF2-40B4-BE49-F238E27FC236}">
                <a16:creationId xmlns:a16="http://schemas.microsoft.com/office/drawing/2014/main" id="{65F8551D-F223-020F-3731-EA43F97549C9}"/>
              </a:ext>
            </a:extLst>
          </p:cNvPr>
          <p:cNvSpPr/>
          <p:nvPr/>
        </p:nvSpPr>
        <p:spPr>
          <a:xfrm>
            <a:off x="11112757" y="5508174"/>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2</a:t>
            </a:r>
            <a:endParaRPr lang="en-US" dirty="0"/>
          </a:p>
        </p:txBody>
      </p:sp>
      <p:sp>
        <p:nvSpPr>
          <p:cNvPr id="51" name="Rectangle 50">
            <a:extLst>
              <a:ext uri="{FF2B5EF4-FFF2-40B4-BE49-F238E27FC236}">
                <a16:creationId xmlns:a16="http://schemas.microsoft.com/office/drawing/2014/main" id="{7C2234A7-4EA5-DB03-1491-3237F9FF8040}"/>
              </a:ext>
            </a:extLst>
          </p:cNvPr>
          <p:cNvSpPr/>
          <p:nvPr/>
        </p:nvSpPr>
        <p:spPr>
          <a:xfrm>
            <a:off x="11112757" y="6144211"/>
            <a:ext cx="774441" cy="4572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1</a:t>
            </a:r>
            <a:endParaRPr lang="en-US" dirty="0"/>
          </a:p>
        </p:txBody>
      </p:sp>
      <p:sp>
        <p:nvSpPr>
          <p:cNvPr id="53" name="Rectangle: Rounded Corners 52">
            <a:extLst>
              <a:ext uri="{FF2B5EF4-FFF2-40B4-BE49-F238E27FC236}">
                <a16:creationId xmlns:a16="http://schemas.microsoft.com/office/drawing/2014/main" id="{18DE5225-C1F5-2008-EC40-01C648BB5889}"/>
              </a:ext>
            </a:extLst>
          </p:cNvPr>
          <p:cNvSpPr/>
          <p:nvPr/>
        </p:nvSpPr>
        <p:spPr>
          <a:xfrm>
            <a:off x="2970245" y="2519952"/>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A. Gửi thông điệp 'Finished' ngay lập tức..</a:t>
            </a:r>
            <a:endParaRPr lang="en-US" dirty="0">
              <a:solidFill>
                <a:schemeClr val="bg1"/>
              </a:solidFill>
              <a:latin typeface="Cambria" panose="02040503050406030204" pitchFamily="18" charset="0"/>
              <a:ea typeface="Cambria" panose="02040503050406030204" pitchFamily="18" charset="0"/>
            </a:endParaRPr>
          </a:p>
        </p:txBody>
      </p:sp>
      <p:sp>
        <p:nvSpPr>
          <p:cNvPr id="54" name="Rectangle: Rounded Corners 53">
            <a:extLst>
              <a:ext uri="{FF2B5EF4-FFF2-40B4-BE49-F238E27FC236}">
                <a16:creationId xmlns:a16="http://schemas.microsoft.com/office/drawing/2014/main" id="{346E231F-1B98-07FB-E72B-D2C0FD5DAF62}"/>
              </a:ext>
            </a:extLst>
          </p:cNvPr>
          <p:cNvSpPr/>
          <p:nvPr/>
        </p:nvSpPr>
        <p:spPr>
          <a:xfrm>
            <a:off x="2970245" y="3527661"/>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B. Yêu cầu Server gửi lại chứng chỉ..</a:t>
            </a:r>
            <a:endParaRPr lang="en-US" dirty="0">
              <a:solidFill>
                <a:schemeClr val="bg1"/>
              </a:solidFill>
              <a:latin typeface="Cambria" panose="02040503050406030204" pitchFamily="18" charset="0"/>
              <a:ea typeface="Cambria" panose="02040503050406030204" pitchFamily="18" charset="0"/>
            </a:endParaRPr>
          </a:p>
        </p:txBody>
      </p:sp>
      <p:sp>
        <p:nvSpPr>
          <p:cNvPr id="55" name="Rectangle: Rounded Corners 54">
            <a:extLst>
              <a:ext uri="{FF2B5EF4-FFF2-40B4-BE49-F238E27FC236}">
                <a16:creationId xmlns:a16="http://schemas.microsoft.com/office/drawing/2014/main" id="{95BFD363-4C3A-D0FB-5F89-20AC1D96659B}"/>
              </a:ext>
            </a:extLst>
          </p:cNvPr>
          <p:cNvSpPr/>
          <p:nvPr/>
        </p:nvSpPr>
        <p:spPr>
          <a:xfrm>
            <a:off x="2970245" y="4535370"/>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C. Ngắt kết nối và báo lỗi..</a:t>
            </a:r>
            <a:endParaRPr lang="en-US" dirty="0">
              <a:solidFill>
                <a:schemeClr val="bg1"/>
              </a:solidFill>
              <a:latin typeface="Cambria" panose="02040503050406030204" pitchFamily="18" charset="0"/>
              <a:ea typeface="Cambria" panose="02040503050406030204" pitchFamily="18" charset="0"/>
            </a:endParaRPr>
          </a:p>
        </p:txBody>
      </p:sp>
      <p:sp>
        <p:nvSpPr>
          <p:cNvPr id="56" name="Rectangle: Rounded Corners 55">
            <a:extLst>
              <a:ext uri="{FF2B5EF4-FFF2-40B4-BE49-F238E27FC236}">
                <a16:creationId xmlns:a16="http://schemas.microsoft.com/office/drawing/2014/main" id="{39273FF2-49BA-72A0-5DAA-624F04831541}"/>
              </a:ext>
            </a:extLst>
          </p:cNvPr>
          <p:cNvSpPr/>
          <p:nvPr/>
        </p:nvSpPr>
        <p:spPr>
          <a:xfrm>
            <a:off x="2970245" y="5543079"/>
            <a:ext cx="6251510" cy="802432"/>
          </a:xfrm>
          <a:prstGeom prst="roundRect">
            <a:avLst/>
          </a:prstGeom>
          <a:solidFill>
            <a:srgbClr val="FFD6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dirty="0">
                <a:solidFill>
                  <a:schemeClr val="bg1"/>
                </a:solidFill>
                <a:latin typeface="Cambria" panose="02040503050406030204" pitchFamily="18" charset="0"/>
                <a:ea typeface="Cambria" panose="02040503050406030204" pitchFamily="18" charset="0"/>
              </a:rPr>
              <a:t>D. Sinh ra khóa Pre_Master_Secret, mã hóa bằng khóa công khai của Server và gửi đi.</a:t>
            </a:r>
            <a:endParaRPr lang="en-US"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74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grpId="0" nodeType="withEffect">
                                  <p:stCondLst>
                                    <p:cond delay="1000"/>
                                  </p:stCondLst>
                                  <p:childTnLst>
                                    <p:set>
                                      <p:cBhvr>
                                        <p:cTn id="8" dur="1" fill="hold">
                                          <p:stCondLst>
                                            <p:cond delay="0"/>
                                          </p:stCondLst>
                                        </p:cTn>
                                        <p:tgtEl>
                                          <p:spTgt spid="42"/>
                                        </p:tgtEl>
                                        <p:attrNameLst>
                                          <p:attrName>style.visibility</p:attrName>
                                        </p:attrNameLst>
                                      </p:cBhvr>
                                      <p:to>
                                        <p:strVal val="hidden"/>
                                      </p:to>
                                    </p:set>
                                  </p:childTnLst>
                                </p:cTn>
                              </p:par>
                              <p:par>
                                <p:cTn id="9" presetID="1" presetClass="exit" presetSubtype="0" fill="hold" grpId="0" nodeType="withEffect">
                                  <p:stCondLst>
                                    <p:cond delay="2000"/>
                                  </p:stCondLst>
                                  <p:childTnLst>
                                    <p:set>
                                      <p:cBhvr>
                                        <p:cTn id="10" dur="1" fill="hold">
                                          <p:stCondLst>
                                            <p:cond delay="0"/>
                                          </p:stCondLst>
                                        </p:cTn>
                                        <p:tgtEl>
                                          <p:spTgt spid="43"/>
                                        </p:tgtEl>
                                        <p:attrNameLst>
                                          <p:attrName>style.visibility</p:attrName>
                                        </p:attrNameLst>
                                      </p:cBhvr>
                                      <p:to>
                                        <p:strVal val="hidden"/>
                                      </p:to>
                                    </p:set>
                                  </p:childTnLst>
                                </p:cTn>
                              </p:par>
                              <p:par>
                                <p:cTn id="11" presetID="1" presetClass="exit" presetSubtype="0" fill="hold" grpId="0" nodeType="withEffect">
                                  <p:stCondLst>
                                    <p:cond delay="300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xit" presetSubtype="0" fill="hold" grpId="0" nodeType="withEffect">
                                  <p:stCondLst>
                                    <p:cond delay="4000"/>
                                  </p:stCondLst>
                                  <p:childTnLst>
                                    <p:set>
                                      <p:cBhvr>
                                        <p:cTn id="14" dur="1" fill="hold">
                                          <p:stCondLst>
                                            <p:cond delay="0"/>
                                          </p:stCondLst>
                                        </p:cTn>
                                        <p:tgtEl>
                                          <p:spTgt spid="45"/>
                                        </p:tgtEl>
                                        <p:attrNameLst>
                                          <p:attrName>style.visibility</p:attrName>
                                        </p:attrNameLst>
                                      </p:cBhvr>
                                      <p:to>
                                        <p:strVal val="hidden"/>
                                      </p:to>
                                    </p:set>
                                  </p:childTnLst>
                                </p:cTn>
                              </p:par>
                              <p:par>
                                <p:cTn id="15" presetID="1" presetClass="exit" presetSubtype="0" fill="hold" grpId="0" nodeType="withEffect">
                                  <p:stCondLst>
                                    <p:cond delay="5000"/>
                                  </p:stCondLst>
                                  <p:childTnLst>
                                    <p:set>
                                      <p:cBhvr>
                                        <p:cTn id="16" dur="1" fill="hold">
                                          <p:stCondLst>
                                            <p:cond delay="0"/>
                                          </p:stCondLst>
                                        </p:cTn>
                                        <p:tgtEl>
                                          <p:spTgt spid="46"/>
                                        </p:tgtEl>
                                        <p:attrNameLst>
                                          <p:attrName>style.visibility</p:attrName>
                                        </p:attrNameLst>
                                      </p:cBhvr>
                                      <p:to>
                                        <p:strVal val="hidden"/>
                                      </p:to>
                                    </p:set>
                                  </p:childTnLst>
                                </p:cTn>
                              </p:par>
                              <p:par>
                                <p:cTn id="17" presetID="1" presetClass="exit" presetSubtype="0" fill="hold" grpId="0" nodeType="withEffect">
                                  <p:stCondLst>
                                    <p:cond delay="6000"/>
                                  </p:stCondLst>
                                  <p:childTnLst>
                                    <p:set>
                                      <p:cBhvr>
                                        <p:cTn id="18" dur="1" fill="hold">
                                          <p:stCondLst>
                                            <p:cond delay="0"/>
                                          </p:stCondLst>
                                        </p:cTn>
                                        <p:tgtEl>
                                          <p:spTgt spid="47"/>
                                        </p:tgtEl>
                                        <p:attrNameLst>
                                          <p:attrName>style.visibility</p:attrName>
                                        </p:attrNameLst>
                                      </p:cBhvr>
                                      <p:to>
                                        <p:strVal val="hidden"/>
                                      </p:to>
                                    </p:set>
                                  </p:childTnLst>
                                </p:cTn>
                              </p:par>
                              <p:par>
                                <p:cTn id="19" presetID="1" presetClass="exit" presetSubtype="0" fill="hold" grpId="0" nodeType="withEffect">
                                  <p:stCondLst>
                                    <p:cond delay="7000"/>
                                  </p:stCondLst>
                                  <p:childTnLst>
                                    <p:set>
                                      <p:cBhvr>
                                        <p:cTn id="20" dur="1" fill="hold">
                                          <p:stCondLst>
                                            <p:cond delay="0"/>
                                          </p:stCondLst>
                                        </p:cTn>
                                        <p:tgtEl>
                                          <p:spTgt spid="48"/>
                                        </p:tgtEl>
                                        <p:attrNameLst>
                                          <p:attrName>style.visibility</p:attrName>
                                        </p:attrNameLst>
                                      </p:cBhvr>
                                      <p:to>
                                        <p:strVal val="hidden"/>
                                      </p:to>
                                    </p:set>
                                  </p:childTnLst>
                                </p:cTn>
                              </p:par>
                              <p:par>
                                <p:cTn id="21" presetID="1" presetClass="exit" presetSubtype="0" fill="hold" grpId="0" nodeType="withEffect">
                                  <p:stCondLst>
                                    <p:cond delay="8000"/>
                                  </p:stCondLst>
                                  <p:childTnLst>
                                    <p:set>
                                      <p:cBhvr>
                                        <p:cTn id="22" dur="1" fill="hold">
                                          <p:stCondLst>
                                            <p:cond delay="0"/>
                                          </p:stCondLst>
                                        </p:cTn>
                                        <p:tgtEl>
                                          <p:spTgt spid="49"/>
                                        </p:tgtEl>
                                        <p:attrNameLst>
                                          <p:attrName>style.visibility</p:attrName>
                                        </p:attrNameLst>
                                      </p:cBhvr>
                                      <p:to>
                                        <p:strVal val="hidden"/>
                                      </p:to>
                                    </p:set>
                                  </p:childTnLst>
                                </p:cTn>
                              </p:par>
                              <p:par>
                                <p:cTn id="23" presetID="1" presetClass="exit" presetSubtype="0" fill="hold" grpId="0" nodeType="withEffect">
                                  <p:stCondLst>
                                    <p:cond delay="9000"/>
                                  </p:stCondLst>
                                  <p:childTnLst>
                                    <p:set>
                                      <p:cBhvr>
                                        <p:cTn id="24" dur="1" fill="hold">
                                          <p:stCondLst>
                                            <p:cond delay="0"/>
                                          </p:stCondLst>
                                        </p:cTn>
                                        <p:tgtEl>
                                          <p:spTgt spid="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2.29167E-6 -4.81481E-6 L -0.17552 -0.33634 " pathEditMode="relative" rAng="0" ptsTypes="AA">
                                      <p:cBhvr>
                                        <p:cTn id="28" dur="1000" fill="hold"/>
                                        <p:tgtEl>
                                          <p:spTgt spid="5"/>
                                        </p:tgtEl>
                                        <p:attrNameLst>
                                          <p:attrName>ppt_x</p:attrName>
                                          <p:attrName>ppt_y</p:attrName>
                                        </p:attrNameLst>
                                      </p:cBhvr>
                                      <p:rCtr x="-8776" y="-16829"/>
                                    </p:animMotion>
                                  </p:childTnLst>
                                </p:cTn>
                              </p:par>
                              <p:par>
                                <p:cTn id="29" presetID="2" presetClass="entr" presetSubtype="8"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750" fill="hold"/>
                                        <p:tgtEl>
                                          <p:spTgt spid="53"/>
                                        </p:tgtEl>
                                        <p:attrNameLst>
                                          <p:attrName>ppt_x</p:attrName>
                                        </p:attrNameLst>
                                      </p:cBhvr>
                                      <p:tavLst>
                                        <p:tav tm="0">
                                          <p:val>
                                            <p:strVal val="0-#ppt_w/2"/>
                                          </p:val>
                                        </p:tav>
                                        <p:tav tm="100000">
                                          <p:val>
                                            <p:strVal val="#ppt_x"/>
                                          </p:val>
                                        </p:tav>
                                      </p:tavLst>
                                    </p:anim>
                                    <p:anim calcmode="lin" valueType="num">
                                      <p:cBhvr additive="base">
                                        <p:cTn id="32" dur="750" fill="hold"/>
                                        <p:tgtEl>
                                          <p:spTgt spid="53"/>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750" fill="hold"/>
                                        <p:tgtEl>
                                          <p:spTgt spid="54"/>
                                        </p:tgtEl>
                                        <p:attrNameLst>
                                          <p:attrName>ppt_x</p:attrName>
                                        </p:attrNameLst>
                                      </p:cBhvr>
                                      <p:tavLst>
                                        <p:tav tm="0">
                                          <p:val>
                                            <p:strVal val="1+#ppt_w/2"/>
                                          </p:val>
                                        </p:tav>
                                        <p:tav tm="100000">
                                          <p:val>
                                            <p:strVal val="#ppt_x"/>
                                          </p:val>
                                        </p:tav>
                                      </p:tavLst>
                                    </p:anim>
                                    <p:anim calcmode="lin" valueType="num">
                                      <p:cBhvr additive="base">
                                        <p:cTn id="36" dur="750" fill="hold"/>
                                        <p:tgtEl>
                                          <p:spTgt spid="5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750" fill="hold"/>
                                        <p:tgtEl>
                                          <p:spTgt spid="55"/>
                                        </p:tgtEl>
                                        <p:attrNameLst>
                                          <p:attrName>ppt_x</p:attrName>
                                        </p:attrNameLst>
                                      </p:cBhvr>
                                      <p:tavLst>
                                        <p:tav tm="0">
                                          <p:val>
                                            <p:strVal val="0-#ppt_w/2"/>
                                          </p:val>
                                        </p:tav>
                                        <p:tav tm="100000">
                                          <p:val>
                                            <p:strVal val="#ppt_x"/>
                                          </p:val>
                                        </p:tav>
                                      </p:tavLst>
                                    </p:anim>
                                    <p:anim calcmode="lin" valueType="num">
                                      <p:cBhvr additive="base">
                                        <p:cTn id="40" dur="750" fill="hold"/>
                                        <p:tgtEl>
                                          <p:spTgt spid="5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750" fill="hold"/>
                                        <p:tgtEl>
                                          <p:spTgt spid="56"/>
                                        </p:tgtEl>
                                        <p:attrNameLst>
                                          <p:attrName>ppt_x</p:attrName>
                                        </p:attrNameLst>
                                      </p:cBhvr>
                                      <p:tavLst>
                                        <p:tav tm="0">
                                          <p:val>
                                            <p:strVal val="1+#ppt_w/2"/>
                                          </p:val>
                                        </p:tav>
                                        <p:tav tm="100000">
                                          <p:val>
                                            <p:strVal val="#ppt_x"/>
                                          </p:val>
                                        </p:tav>
                                      </p:tavLst>
                                    </p:anim>
                                    <p:anim calcmode="lin" valueType="num">
                                      <p:cBhvr additive="base">
                                        <p:cTn id="44" dur="750" fill="hold"/>
                                        <p:tgtEl>
                                          <p:spTgt spid="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53"/>
                    </p:tgtEl>
                  </p:cond>
                </p:stCondLst>
                <p:endSync evt="end" delay="0">
                  <p:rtn val="all"/>
                </p:endSync>
                <p:childTnLst>
                  <p:par>
                    <p:cTn id="46" fill="hold">
                      <p:stCondLst>
                        <p:cond delay="0"/>
                      </p:stCondLst>
                      <p:childTnLst>
                        <p:par>
                          <p:cTn id="47" fill="hold">
                            <p:stCondLst>
                              <p:cond delay="0"/>
                            </p:stCondLst>
                            <p:childTnLst>
                              <p:par>
                                <p:cTn id="48" presetID="1" presetClass="emph" presetSubtype="2" fill="hold" nodeType="clickEffect">
                                  <p:stCondLst>
                                    <p:cond delay="0"/>
                                  </p:stCondLst>
                                  <p:childTnLst>
                                    <p:animClr clrSpc="rgb" dir="cw">
                                      <p:cBhvr>
                                        <p:cTn id="49" dur="500" fill="hold"/>
                                        <p:tgtEl>
                                          <p:spTgt spid="53"/>
                                        </p:tgtEl>
                                        <p:attrNameLst>
                                          <p:attrName>fillcolor</p:attrName>
                                        </p:attrNameLst>
                                      </p:cBhvr>
                                      <p:to>
                                        <a:srgbClr val="FF1111"/>
                                      </p:to>
                                    </p:animClr>
                                    <p:set>
                                      <p:cBhvr>
                                        <p:cTn id="50" dur="500" fill="hold"/>
                                        <p:tgtEl>
                                          <p:spTgt spid="53"/>
                                        </p:tgtEl>
                                        <p:attrNameLst>
                                          <p:attrName>fill.type</p:attrName>
                                        </p:attrNameLst>
                                      </p:cBhvr>
                                      <p:to>
                                        <p:strVal val="solid"/>
                                      </p:to>
                                    </p:set>
                                    <p:set>
                                      <p:cBhvr>
                                        <p:cTn id="51" dur="500" fill="hold"/>
                                        <p:tgtEl>
                                          <p:spTgt spid="53"/>
                                        </p:tgtEl>
                                        <p:attrNameLst>
                                          <p:attrName>fill.on</p:attrName>
                                        </p:attrNameLst>
                                      </p:cBhvr>
                                      <p:to>
                                        <p:strVal val="true"/>
                                      </p:to>
                                    </p:set>
                                  </p:childTnLst>
                                </p:cTn>
                              </p:par>
                            </p:childTnLst>
                          </p:cTn>
                        </p:par>
                      </p:childTnLst>
                    </p:cTn>
                  </p:par>
                </p:childTnLst>
              </p:cTn>
              <p:nextCondLst>
                <p:cond evt="onClick" delay="0">
                  <p:tgtEl>
                    <p:spTgt spid="53"/>
                  </p:tgtEl>
                </p:cond>
              </p:nextCondLst>
            </p:seq>
            <p:seq concurrent="1" nextAc="seek">
              <p:cTn id="52" restart="whenNotActive" fill="hold" evtFilter="cancelBubble" nodeType="interactiveSeq">
                <p:stCondLst>
                  <p:cond evt="onClick" delay="0">
                    <p:tgtEl>
                      <p:spTgt spid="54"/>
                    </p:tgtEl>
                  </p:cond>
                </p:stCondLst>
                <p:endSync evt="end" delay="0">
                  <p:rtn val="all"/>
                </p:endSync>
                <p:childTnLst>
                  <p:par>
                    <p:cTn id="53" fill="hold">
                      <p:stCondLst>
                        <p:cond delay="0"/>
                      </p:stCondLst>
                      <p:childTnLst>
                        <p:par>
                          <p:cTn id="54" fill="hold">
                            <p:stCondLst>
                              <p:cond delay="0"/>
                            </p:stCondLst>
                            <p:childTnLst>
                              <p:par>
                                <p:cTn id="55" presetID="1" presetClass="emph" presetSubtype="2" fill="hold" nodeType="clickEffect">
                                  <p:stCondLst>
                                    <p:cond delay="0"/>
                                  </p:stCondLst>
                                  <p:childTnLst>
                                    <p:animClr clrSpc="rgb" dir="cw">
                                      <p:cBhvr>
                                        <p:cTn id="56" dur="500" fill="hold"/>
                                        <p:tgtEl>
                                          <p:spTgt spid="54"/>
                                        </p:tgtEl>
                                        <p:attrNameLst>
                                          <p:attrName>fillcolor</p:attrName>
                                        </p:attrNameLst>
                                      </p:cBhvr>
                                      <p:to>
                                        <a:srgbClr val="FF1111"/>
                                      </p:to>
                                    </p:animClr>
                                    <p:set>
                                      <p:cBhvr>
                                        <p:cTn id="57" dur="500" fill="hold"/>
                                        <p:tgtEl>
                                          <p:spTgt spid="54"/>
                                        </p:tgtEl>
                                        <p:attrNameLst>
                                          <p:attrName>fill.type</p:attrName>
                                        </p:attrNameLst>
                                      </p:cBhvr>
                                      <p:to>
                                        <p:strVal val="solid"/>
                                      </p:to>
                                    </p:set>
                                    <p:set>
                                      <p:cBhvr>
                                        <p:cTn id="58" dur="500" fill="hold"/>
                                        <p:tgtEl>
                                          <p:spTgt spid="54"/>
                                        </p:tgtEl>
                                        <p:attrNameLst>
                                          <p:attrName>fill.on</p:attrName>
                                        </p:attrNameLst>
                                      </p:cBhvr>
                                      <p:to>
                                        <p:strVal val="true"/>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55"/>
                    </p:tgtEl>
                  </p:cond>
                </p:stCondLst>
                <p:endSync evt="end" delay="0">
                  <p:rtn val="all"/>
                </p:endSync>
                <p:childTnLst>
                  <p:par>
                    <p:cTn id="60" fill="hold">
                      <p:stCondLst>
                        <p:cond delay="0"/>
                      </p:stCondLst>
                      <p:childTnLst>
                        <p:par>
                          <p:cTn id="61" fill="hold">
                            <p:stCondLst>
                              <p:cond delay="0"/>
                            </p:stCondLst>
                            <p:childTnLst>
                              <p:par>
                                <p:cTn id="62" presetID="1" presetClass="emph" presetSubtype="2" fill="hold" nodeType="clickEffect">
                                  <p:stCondLst>
                                    <p:cond delay="0"/>
                                  </p:stCondLst>
                                  <p:childTnLst>
                                    <p:animClr clrSpc="rgb" dir="cw">
                                      <p:cBhvr>
                                        <p:cTn id="63" dur="500" fill="hold"/>
                                        <p:tgtEl>
                                          <p:spTgt spid="55"/>
                                        </p:tgtEl>
                                        <p:attrNameLst>
                                          <p:attrName>fillcolor</p:attrName>
                                        </p:attrNameLst>
                                      </p:cBhvr>
                                      <p:to>
                                        <a:srgbClr val="FF1111"/>
                                      </p:to>
                                    </p:animClr>
                                    <p:set>
                                      <p:cBhvr>
                                        <p:cTn id="64" dur="500" fill="hold"/>
                                        <p:tgtEl>
                                          <p:spTgt spid="55"/>
                                        </p:tgtEl>
                                        <p:attrNameLst>
                                          <p:attrName>fill.type</p:attrName>
                                        </p:attrNameLst>
                                      </p:cBhvr>
                                      <p:to>
                                        <p:strVal val="solid"/>
                                      </p:to>
                                    </p:set>
                                    <p:set>
                                      <p:cBhvr>
                                        <p:cTn id="65" dur="500" fill="hold"/>
                                        <p:tgtEl>
                                          <p:spTgt spid="55"/>
                                        </p:tgtEl>
                                        <p:attrNameLst>
                                          <p:attrName>fill.on</p:attrName>
                                        </p:attrNameLst>
                                      </p:cBhvr>
                                      <p:to>
                                        <p:strVal val="true"/>
                                      </p:to>
                                    </p:set>
                                  </p:childTnLst>
                                </p:cTn>
                              </p:par>
                            </p:childTnLst>
                          </p:cTn>
                        </p:par>
                      </p:childTnLst>
                    </p:cTn>
                  </p:par>
                </p:childTnLst>
              </p:cTn>
              <p:nextCondLst>
                <p:cond evt="onClick" delay="0">
                  <p:tgtEl>
                    <p:spTgt spid="55"/>
                  </p:tgtEl>
                </p:cond>
              </p:nextCondLst>
            </p:seq>
            <p:seq concurrent="1" nextAc="seek">
              <p:cTn id="66" restart="whenNotActive" fill="hold" evtFilter="cancelBubble" nodeType="interactiveSeq">
                <p:stCondLst>
                  <p:cond evt="onClick" delay="0">
                    <p:tgtEl>
                      <p:spTgt spid="56"/>
                    </p:tgtEl>
                  </p:cond>
                </p:stCondLst>
                <p:endSync evt="end" delay="0">
                  <p:rtn val="all"/>
                </p:endSync>
                <p:childTnLst>
                  <p:par>
                    <p:cTn id="67" fill="hold">
                      <p:stCondLst>
                        <p:cond delay="0"/>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56"/>
                                        </p:tgtEl>
                                        <p:attrNameLst>
                                          <p:attrName>fillcolor</p:attrName>
                                        </p:attrNameLst>
                                      </p:cBhvr>
                                      <p:to>
                                        <a:srgbClr val="11FF1C"/>
                                      </p:to>
                                    </p:animClr>
                                    <p:set>
                                      <p:cBhvr>
                                        <p:cTn id="71" dur="500" fill="hold"/>
                                        <p:tgtEl>
                                          <p:spTgt spid="56"/>
                                        </p:tgtEl>
                                        <p:attrNameLst>
                                          <p:attrName>fill.type</p:attrName>
                                        </p:attrNameLst>
                                      </p:cBhvr>
                                      <p:to>
                                        <p:strVal val="solid"/>
                                      </p:to>
                                    </p:set>
                                    <p:set>
                                      <p:cBhvr>
                                        <p:cTn id="72" dur="500" fill="hold"/>
                                        <p:tgtEl>
                                          <p:spTgt spid="56"/>
                                        </p:tgtEl>
                                        <p:attrNameLst>
                                          <p:attrName>fill.on</p:attrName>
                                        </p:attrNameLst>
                                      </p:cBhvr>
                                      <p:to>
                                        <p:strVal val="true"/>
                                      </p:to>
                                    </p:set>
                                  </p:childTnLst>
                                </p:cTn>
                              </p:par>
                            </p:childTnLst>
                          </p:cTn>
                        </p:par>
                      </p:childTnLst>
                    </p:cTn>
                  </p:par>
                </p:childTnLst>
              </p:cTn>
              <p:nextCondLst>
                <p:cond evt="onClick" delay="0">
                  <p:tgtEl>
                    <p:spTgt spid="56"/>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1" grpId="0" animBg="1"/>
      <p:bldP spid="53" grpId="0" animBg="1"/>
      <p:bldP spid="54" grpId="0" animBg="1"/>
      <p:bldP spid="55" grpId="0" animBg="1"/>
      <p:bldP spid="5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61CF-39CA-BCCE-62DF-BB848815B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46E69-0E2B-B93C-6EBF-3CB50139C9C8}"/>
              </a:ext>
            </a:extLst>
          </p:cNvPr>
          <p:cNvSpPr>
            <a:spLocks noGrp="1"/>
          </p:cNvSpPr>
          <p:nvPr>
            <p:ph type="title"/>
          </p:nvPr>
        </p:nvSpPr>
        <p:spPr>
          <a:xfrm>
            <a:off x="594359" y="584005"/>
            <a:ext cx="6244980" cy="1494596"/>
          </a:xfrm>
        </p:spPr>
        <p:txBody>
          <a:bodyPr/>
          <a:lstStyle/>
          <a:p>
            <a:r>
              <a:rPr lang="vi-VN" dirty="0">
                <a:latin typeface="Cambria" panose="02040503050406030204" pitchFamily="18" charset="0"/>
                <a:ea typeface="Cambria" panose="02040503050406030204" pitchFamily="18" charset="0"/>
              </a:rPr>
              <a:t>Một số HTTP Response Header thường gặp</a:t>
            </a:r>
            <a:endParaRPr lang="en-US"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6CF130EB-793A-4288-6A74-BE81DB98B035}"/>
              </a:ext>
            </a:extLst>
          </p:cNvPr>
          <p:cNvSpPr txBox="1"/>
          <p:nvPr/>
        </p:nvSpPr>
        <p:spPr>
          <a:xfrm>
            <a:off x="6780713" y="3418083"/>
            <a:ext cx="4816928" cy="2005870"/>
          </a:xfrm>
          <a:prstGeom prst="rect">
            <a:avLst/>
          </a:prstGeom>
          <a:noFill/>
        </p:spPr>
        <p:txBody>
          <a:bodyPr wrap="square">
            <a:spAutoFit/>
          </a:bodyPr>
          <a:lstStyle/>
          <a:p>
            <a:pPr marL="0" marR="0" algn="just">
              <a:lnSpc>
                <a:spcPct val="115000"/>
              </a:lnSpc>
              <a:spcAft>
                <a:spcPts val="1000"/>
              </a:spcAft>
              <a:buNone/>
            </a:pP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Sau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khi</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xác</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minh</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chứng</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chỉ</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server, client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sinh</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ra</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Pre_Master_Secret</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mã</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hóa</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bằng</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public key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của</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server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và</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gửi</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đi</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Từ</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đó</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hai</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bên</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tạo</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khóa</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phiên</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cho</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kết</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nối</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 an </a:t>
            </a:r>
            <a:r>
              <a:rPr lang="en-US" sz="2200" dirty="0" err="1">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toàn</a:t>
            </a:r>
            <a:r>
              <a:rPr lang="en-US" sz="22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rPr>
              <a:t>.</a:t>
            </a:r>
          </a:p>
        </p:txBody>
      </p:sp>
      <p:pic>
        <p:nvPicPr>
          <p:cNvPr id="3074" name="Picture 2">
            <a:extLst>
              <a:ext uri="{FF2B5EF4-FFF2-40B4-BE49-F238E27FC236}">
                <a16:creationId xmlns:a16="http://schemas.microsoft.com/office/drawing/2014/main" id="{70089071-B03A-1DF7-EC92-76C9F1952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59" y="2568041"/>
            <a:ext cx="5660571" cy="3705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401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93970" y="1789688"/>
            <a:ext cx="4248617" cy="2354026"/>
          </a:xfrm>
        </p:spPr>
        <p:txBody>
          <a:bodyPr/>
          <a:lstStyle/>
          <a:p>
            <a:r>
              <a:rPr lang="vi-VN" sz="3600" dirty="0">
                <a:latin typeface="Cambria" panose="02040503050406030204" pitchFamily="18" charset="0"/>
                <a:ea typeface="Cambria" panose="02040503050406030204" pitchFamily="18" charset="0"/>
              </a:rPr>
              <a:t>CHƯƠNG 3:</a:t>
            </a:r>
            <a:br>
              <a:rPr lang="vi-VN" sz="3600" dirty="0">
                <a:latin typeface="Cambria" panose="02040503050406030204" pitchFamily="18" charset="0"/>
                <a:ea typeface="Cambria" panose="02040503050406030204" pitchFamily="18" charset="0"/>
              </a:rPr>
            </a:br>
            <a:br>
              <a:rPr lang="vi-VN" sz="3600" dirty="0">
                <a:latin typeface="Cambria" panose="02040503050406030204" pitchFamily="18" charset="0"/>
                <a:ea typeface="Cambria" panose="02040503050406030204" pitchFamily="18" charset="0"/>
              </a:rPr>
            </a:br>
            <a:r>
              <a:rPr lang="vi-VN" sz="3600" dirty="0">
                <a:latin typeface="Cambria" panose="02040503050406030204" pitchFamily="18" charset="0"/>
                <a:ea typeface="Cambria" panose="02040503050406030204" pitchFamily="18" charset="0"/>
              </a:rPr>
              <a:t>Demo bắt gói tin qua Wireshark</a:t>
            </a:r>
            <a:endParaRPr lang="en-US" sz="3600" dirty="0">
              <a:latin typeface="Cambria" panose="02040503050406030204" pitchFamily="18" charset="0"/>
              <a:ea typeface="Cambria" panose="02040503050406030204" pitchFamily="18" charset="0"/>
            </a:endParaRPr>
          </a:p>
        </p:txBody>
      </p:sp>
      <p:pic>
        <p:nvPicPr>
          <p:cNvPr id="5" name="Picture Placeholder 52" descr="Hanging lightbulbs">
            <a:extLst>
              <a:ext uri="{FF2B5EF4-FFF2-40B4-BE49-F238E27FC236}">
                <a16:creationId xmlns:a16="http://schemas.microsoft.com/office/drawing/2014/main" id="{F2B2501C-600C-11B3-1ECD-912D988906A5}"/>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6" r="16"/>
          <a:stretch/>
        </p:blipFill>
        <p:spPr>
          <a:xfrm>
            <a:off x="6096000" y="0"/>
            <a:ext cx="6118225" cy="6858000"/>
          </a:xfrm>
        </p:spPr>
      </p:pic>
    </p:spTree>
    <p:extLst>
      <p:ext uri="{BB962C8B-B14F-4D97-AF65-F5344CB8AC3E}">
        <p14:creationId xmlns:p14="http://schemas.microsoft.com/office/powerpoint/2010/main" val="2983645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{58DADF0F-2382-4861-9EB7-45319CCA88E6}TFd3b75063-ff25-434d-b12c-efeaf07d16c3292f62b5_win32-75a75c970d8e</Template>
  <TotalTime>371</TotalTime>
  <Words>3307</Words>
  <Application>Microsoft Office PowerPoint</Application>
  <PresentationFormat>Widescreen</PresentationFormat>
  <Paragraphs>489</Paragraphs>
  <Slides>43</Slides>
  <Notes>43</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Cambria</vt:lpstr>
      <vt:lpstr>Franklin Gothic Book</vt:lpstr>
      <vt:lpstr>Franklin Gothic Demi</vt:lpstr>
      <vt:lpstr>Times New Roman</vt:lpstr>
      <vt:lpstr>Custom</vt:lpstr>
      <vt:lpstr>Tìm hiểu về giao thức HTTP và HTTPS</vt:lpstr>
      <vt:lpstr>Nội dung chính</vt:lpstr>
      <vt:lpstr>PowerPoint Presentation</vt:lpstr>
      <vt:lpstr>Chương 1: Tổng quan về Giao thức HTTP và HTTPS</vt:lpstr>
      <vt:lpstr>PowerPoint Presentation</vt:lpstr>
      <vt:lpstr>Khái niệm giao thức mạng</vt:lpstr>
      <vt:lpstr>PowerPoint Presentation</vt:lpstr>
      <vt:lpstr>HTTP &amp; HTTPS</vt:lpstr>
      <vt:lpstr>PowerPoint Presentation</vt:lpstr>
      <vt:lpstr>DNS</vt:lpstr>
      <vt:lpstr>Vai trò của giao thức mạng</vt:lpstr>
      <vt:lpstr>PowerPoint Presentation</vt:lpstr>
      <vt:lpstr>Lịch sử hình thành HTTP và HTTPS</vt:lpstr>
      <vt:lpstr>PowerPoint Presentation</vt:lpstr>
      <vt:lpstr>Chương 2: Giao thức HTTP và HTTPS</vt:lpstr>
      <vt:lpstr>PowerPoint Presentation</vt:lpstr>
      <vt:lpstr>Mô hình Client-Server</vt:lpstr>
      <vt:lpstr>PowerPoint Presentation</vt:lpstr>
      <vt:lpstr>Đặc trưng cơ bản của HTTP</vt:lpstr>
      <vt:lpstr>PowerPoint Presentation</vt:lpstr>
      <vt:lpstr>Một số phương thức phổ biến</vt:lpstr>
      <vt:lpstr>PowerPoint Presentation</vt:lpstr>
      <vt:lpstr>Định dạng gói tin HTTP Request</vt:lpstr>
      <vt:lpstr>PowerPoint Presentation</vt:lpstr>
      <vt:lpstr>PowerPoint Presentation</vt:lpstr>
      <vt:lpstr>Quá trình bắt tay SSL/TLS</vt:lpstr>
      <vt:lpstr>PowerPoint Presentation</vt:lpstr>
      <vt:lpstr>Sự khác nhau giữa HTTP và HTTPS</vt:lpstr>
      <vt:lpstr>PowerPoint Presentation</vt:lpstr>
      <vt:lpstr>Status Code (Mã trạng thái)</vt:lpstr>
      <vt:lpstr>PowerPoint Presentation</vt:lpstr>
      <vt:lpstr>Status Code (Mã trạng thái)</vt:lpstr>
      <vt:lpstr>PowerPoint Presentation</vt:lpstr>
      <vt:lpstr>PowerPoint Presentation</vt:lpstr>
      <vt:lpstr>Giao thức con của giao thức SSL</vt:lpstr>
      <vt:lpstr>PowerPoint Presentation</vt:lpstr>
      <vt:lpstr>Một số HTTP Response Header thường gặp</vt:lpstr>
      <vt:lpstr>PowerPoint Presentation</vt:lpstr>
      <vt:lpstr>PowerPoint Presentation</vt:lpstr>
      <vt:lpstr>PowerPoint Presentation</vt:lpstr>
      <vt:lpstr>Một số HTTP Response Header thường gặp</vt:lpstr>
      <vt:lpstr>CHƯƠNG 3:  Demo bắt gói tin qua Wireshark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Đinh Công Triệu - 67CS3</dc:creator>
  <cp:lastModifiedBy>Đinh Công Triệu - 67CS3</cp:lastModifiedBy>
  <cp:revision>10</cp:revision>
  <dcterms:created xsi:type="dcterms:W3CDTF">2025-09-22T14:27:28Z</dcterms:created>
  <dcterms:modified xsi:type="dcterms:W3CDTF">2025-09-26T09:21:26Z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