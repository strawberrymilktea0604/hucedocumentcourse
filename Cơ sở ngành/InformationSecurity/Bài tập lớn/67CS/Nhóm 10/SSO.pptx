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8229600" cx="14630400"/>
  <p:notesSz cx="8229600" cy="14630400"/>
  <p:embeddedFontLst>
    <p:embeddedFont>
      <p:font typeface="Playfair Display SemiBold"/>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gbj62UIFsBKNyDmLC9Nz3mSm54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PlayfairDisplaySemiBold-bold.fntdata"/><Relationship Id="rId21" Type="http://schemas.openxmlformats.org/officeDocument/2006/relationships/font" Target="fonts/PlayfairDisplaySemiBold-regular.fntdata"/><Relationship Id="rId24" Type="http://schemas.openxmlformats.org/officeDocument/2006/relationships/font" Target="fonts/PlayfairDisplaySemiBold-boldItalic.fntdata"/><Relationship Id="rId23" Type="http://schemas.openxmlformats.org/officeDocument/2006/relationships/font" Target="fonts/PlayfairDisplaySemi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 name="Google Shape;4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0" name="Google Shape;5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 name="Google Shape;6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1" name="Google Shape;61;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0" name="Google Shape;9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6" name="Google Shape;116;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7" name="Google Shape;137;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2" name="Google Shape;16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7" name="Google Shape;18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5" name="Google Shape;205;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6" name="Google Shape;21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7" name="Google Shape;227;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9" name="Google Shape;239;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50" name="Google Shape;250;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64" name="Google Shape;264;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 name="Google Shape;27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77" name="Google Shape;277;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99" name="Google Shape;29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12" name="Google Shape;312;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6" name="Shape 6"/>
        <p:cNvGrpSpPr/>
        <p:nvPr/>
      </p:nvGrpSpPr>
      <p:grpSpPr>
        <a:xfrm>
          <a:off x="0" y="0"/>
          <a:ext cx="0" cy="0"/>
          <a:chOff x="0" y="0"/>
          <a:chExt cx="0" cy="0"/>
        </a:xfrm>
      </p:grpSpPr>
      <p:pic>
        <p:nvPicPr>
          <p:cNvPr descr="preencoded.png" id="7" name="Google Shape;7;p1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8" name="Google Shape;8;p18"/>
          <p:cNvSpPr/>
          <p:nvPr/>
        </p:nvSpPr>
        <p:spPr>
          <a:xfrm>
            <a:off x="0" y="0"/>
            <a:ext cx="14630400" cy="8229600"/>
          </a:xfrm>
          <a:prstGeom prst="rect">
            <a:avLst/>
          </a:prstGeom>
          <a:solidFill>
            <a:srgbClr val="FFFA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 name="Google Shape;9;p18">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10" name="Shape 10"/>
        <p:cNvGrpSpPr/>
        <p:nvPr/>
      </p:nvGrpSpPr>
      <p:grpSpPr>
        <a:xfrm>
          <a:off x="0" y="0"/>
          <a:ext cx="0" cy="0"/>
          <a:chOff x="0" y="0"/>
          <a:chExt cx="0" cy="0"/>
        </a:xfrm>
      </p:grpSpPr>
      <p:pic>
        <p:nvPicPr>
          <p:cNvPr descr="preencoded.png" id="11" name="Google Shape;11;p1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 name="Google Shape;12;p19"/>
          <p:cNvSpPr/>
          <p:nvPr/>
        </p:nvSpPr>
        <p:spPr>
          <a:xfrm>
            <a:off x="0" y="0"/>
            <a:ext cx="14630400" cy="8229600"/>
          </a:xfrm>
          <a:prstGeom prst="rect">
            <a:avLst/>
          </a:prstGeom>
          <a:solidFill>
            <a:srgbClr val="FFFA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19">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pic>
        <p:nvPicPr>
          <p:cNvPr descr="preencoded.png" id="15" name="Google Shape;15;p20"/>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6" name="Google Shape;16;p20"/>
          <p:cNvSpPr/>
          <p:nvPr/>
        </p:nvSpPr>
        <p:spPr>
          <a:xfrm>
            <a:off x="0" y="0"/>
            <a:ext cx="14630400" cy="8229600"/>
          </a:xfrm>
          <a:prstGeom prst="rect">
            <a:avLst/>
          </a:prstGeom>
          <a:solidFill>
            <a:srgbClr val="FFFA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20">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pic>
        <p:nvPicPr>
          <p:cNvPr descr="preencoded.png" id="19" name="Google Shape;19;p21"/>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0" name="Google Shape;20;p21"/>
          <p:cNvSpPr/>
          <p:nvPr/>
        </p:nvSpPr>
        <p:spPr>
          <a:xfrm>
            <a:off x="0" y="0"/>
            <a:ext cx="14630400" cy="8229600"/>
          </a:xfrm>
          <a:prstGeom prst="rect">
            <a:avLst/>
          </a:prstGeom>
          <a:solidFill>
            <a:srgbClr val="FFFA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21">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pic>
        <p:nvPicPr>
          <p:cNvPr descr="preencoded.png" id="23" name="Google Shape;23;p2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4" name="Google Shape;24;p22"/>
          <p:cNvSpPr/>
          <p:nvPr/>
        </p:nvSpPr>
        <p:spPr>
          <a:xfrm>
            <a:off x="0" y="0"/>
            <a:ext cx="14630400" cy="8229600"/>
          </a:xfrm>
          <a:prstGeom prst="rect">
            <a:avLst/>
          </a:prstGeom>
          <a:solidFill>
            <a:srgbClr val="FFFA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22">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pic>
        <p:nvPicPr>
          <p:cNvPr descr="preencoded.png" id="27" name="Google Shape;27;p2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8" name="Google Shape;28;p23"/>
          <p:cNvSpPr/>
          <p:nvPr/>
        </p:nvSpPr>
        <p:spPr>
          <a:xfrm>
            <a:off x="0" y="0"/>
            <a:ext cx="14630400" cy="8229600"/>
          </a:xfrm>
          <a:prstGeom prst="rect">
            <a:avLst/>
          </a:prstGeom>
          <a:solidFill>
            <a:srgbClr val="FFFA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23">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0" name="Shape 30"/>
        <p:cNvGrpSpPr/>
        <p:nvPr/>
      </p:nvGrpSpPr>
      <p:grpSpPr>
        <a:xfrm>
          <a:off x="0" y="0"/>
          <a:ext cx="0" cy="0"/>
          <a:chOff x="0" y="0"/>
          <a:chExt cx="0" cy="0"/>
        </a:xfrm>
      </p:grpSpPr>
      <p:pic>
        <p:nvPicPr>
          <p:cNvPr descr="preencoded.png" id="31" name="Google Shape;31;p2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2" name="Google Shape;32;p24"/>
          <p:cNvSpPr/>
          <p:nvPr/>
        </p:nvSpPr>
        <p:spPr>
          <a:xfrm>
            <a:off x="0" y="0"/>
            <a:ext cx="14630400" cy="8229600"/>
          </a:xfrm>
          <a:prstGeom prst="rect">
            <a:avLst/>
          </a:prstGeom>
          <a:solidFill>
            <a:srgbClr val="FFFA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24">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4" name="Shape 34"/>
        <p:cNvGrpSpPr/>
        <p:nvPr/>
      </p:nvGrpSpPr>
      <p:grpSpPr>
        <a:xfrm>
          <a:off x="0" y="0"/>
          <a:ext cx="0" cy="0"/>
          <a:chOff x="0" y="0"/>
          <a:chExt cx="0" cy="0"/>
        </a:xfrm>
      </p:grpSpPr>
      <p:pic>
        <p:nvPicPr>
          <p:cNvPr descr="preencoded.png" id="35" name="Google Shape;35;p2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6" name="Google Shape;36;p25"/>
          <p:cNvSpPr/>
          <p:nvPr/>
        </p:nvSpPr>
        <p:spPr>
          <a:xfrm>
            <a:off x="0" y="0"/>
            <a:ext cx="14630400" cy="8229600"/>
          </a:xfrm>
          <a:prstGeom prst="rect">
            <a:avLst/>
          </a:prstGeom>
          <a:solidFill>
            <a:srgbClr val="FFFA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25">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8" name="Shape 38"/>
        <p:cNvGrpSpPr/>
        <p:nvPr/>
      </p:nvGrpSpPr>
      <p:grpSpPr>
        <a:xfrm>
          <a:off x="0" y="0"/>
          <a:ext cx="0" cy="0"/>
          <a:chOff x="0" y="0"/>
          <a:chExt cx="0" cy="0"/>
        </a:xfrm>
      </p:grpSpPr>
      <p:pic>
        <p:nvPicPr>
          <p:cNvPr descr="preencoded.png" id="39" name="Google Shape;39;p2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0" name="Google Shape;40;p26"/>
          <p:cNvSpPr/>
          <p:nvPr/>
        </p:nvSpPr>
        <p:spPr>
          <a:xfrm>
            <a:off x="0" y="0"/>
            <a:ext cx="14630400" cy="8229600"/>
          </a:xfrm>
          <a:prstGeom prst="rect">
            <a:avLst/>
          </a:prstGeom>
          <a:solidFill>
            <a:srgbClr val="FFFA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26">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2" name="Shape 42"/>
        <p:cNvGrpSpPr/>
        <p:nvPr/>
      </p:nvGrpSpPr>
      <p:grpSpPr>
        <a:xfrm>
          <a:off x="0" y="0"/>
          <a:ext cx="0" cy="0"/>
          <a:chOff x="0" y="0"/>
          <a:chExt cx="0" cy="0"/>
        </a:xfrm>
      </p:grpSpPr>
      <p:pic>
        <p:nvPicPr>
          <p:cNvPr descr="preencoded.png" id="43" name="Google Shape;43;p2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4" name="Google Shape;44;p27"/>
          <p:cNvSpPr/>
          <p:nvPr/>
        </p:nvSpPr>
        <p:spPr>
          <a:xfrm>
            <a:off x="0" y="0"/>
            <a:ext cx="14630400" cy="8229600"/>
          </a:xfrm>
          <a:prstGeom prst="rect">
            <a:avLst/>
          </a:prstGeom>
          <a:solidFill>
            <a:srgbClr val="FFFA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27">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6" name="Shape 4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3.png"/><Relationship Id="rId7"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22.png"/><Relationship Id="rId11" Type="http://schemas.openxmlformats.org/officeDocument/2006/relationships/image" Target="../media/image10.png"/><Relationship Id="rId10" Type="http://schemas.openxmlformats.org/officeDocument/2006/relationships/image" Target="../media/image21.png"/><Relationship Id="rId9" Type="http://schemas.openxmlformats.org/officeDocument/2006/relationships/image" Target="../media/image16.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0.png"/><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5.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10.png"/><Relationship Id="rId5"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
          <p:cNvSpPr/>
          <p:nvPr/>
        </p:nvSpPr>
        <p:spPr>
          <a:xfrm>
            <a:off x="793790" y="2563808"/>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4B6981"/>
              </a:buClr>
              <a:buSzPts val="4450"/>
              <a:buFont typeface="Playfair Display SemiBold"/>
              <a:buNone/>
            </a:pPr>
            <a:r>
              <a:rPr b="1" i="0" lang="en-US" sz="4450" u="none" cap="none" strike="noStrike">
                <a:solidFill>
                  <a:srgbClr val="4B6981"/>
                </a:solidFill>
                <a:latin typeface="Playfair Display SemiBold"/>
                <a:ea typeface="Playfair Display SemiBold"/>
                <a:cs typeface="Playfair Display SemiBold"/>
                <a:sym typeface="Playfair Display SemiBold"/>
              </a:rPr>
              <a:t>HỆ THỐNG ĐĂNG NHẬP MỘT LẦN (SSO)</a:t>
            </a:r>
            <a:endParaRPr b="1" i="0" sz="4450" u="none" cap="none" strike="noStrike">
              <a:solidFill>
                <a:schemeClr val="dk1"/>
              </a:solidFill>
              <a:latin typeface="Calibri"/>
              <a:ea typeface="Calibri"/>
              <a:cs typeface="Calibri"/>
              <a:sym typeface="Calibri"/>
            </a:endParaRPr>
          </a:p>
        </p:txBody>
      </p:sp>
      <p:sp>
        <p:nvSpPr>
          <p:cNvPr id="53" name="Google Shape;53;p1"/>
          <p:cNvSpPr/>
          <p:nvPr/>
        </p:nvSpPr>
        <p:spPr>
          <a:xfrm>
            <a:off x="793790" y="4114800"/>
            <a:ext cx="4346922" cy="1714463"/>
          </a:xfrm>
          <a:prstGeom prst="rect">
            <a:avLst/>
          </a:prstGeom>
          <a:noFill/>
          <a:ln>
            <a:noFill/>
          </a:ln>
        </p:spPr>
        <p:txBody>
          <a:bodyPr anchorCtr="0" anchor="t" bIns="0" lIns="0" spcFirstLastPara="1" rIns="0" wrap="square" tIns="0">
            <a:noAutofit/>
          </a:bodyPr>
          <a:lstStyle/>
          <a:p>
            <a:pPr indent="0" lvl="0" marL="0" marR="0" rtl="0" algn="l">
              <a:lnSpc>
                <a:spcPct val="118750"/>
              </a:lnSpc>
              <a:spcBef>
                <a:spcPts val="0"/>
              </a:spcBef>
              <a:spcAft>
                <a:spcPts val="0"/>
              </a:spcAft>
              <a:buClr>
                <a:srgbClr val="6F655D"/>
              </a:buClr>
              <a:buSzPts val="2400"/>
              <a:buFont typeface="Times New Roman"/>
              <a:buNone/>
            </a:pPr>
            <a:r>
              <a:rPr b="0" i="0" lang="en-US" sz="2400" u="none" cap="none" strike="noStrike">
                <a:solidFill>
                  <a:srgbClr val="6F655D"/>
                </a:solidFill>
                <a:latin typeface="Times New Roman"/>
                <a:ea typeface="Times New Roman"/>
                <a:cs typeface="Times New Roman"/>
                <a:sym typeface="Times New Roman"/>
              </a:rPr>
              <a:t>Trần Phạm Nhật Quân – 0305067</a:t>
            </a:r>
            <a:endParaRPr/>
          </a:p>
          <a:p>
            <a:pPr indent="0" lvl="0" marL="0" marR="0" rtl="0" algn="l">
              <a:lnSpc>
                <a:spcPct val="118750"/>
              </a:lnSpc>
              <a:spcBef>
                <a:spcPts val="0"/>
              </a:spcBef>
              <a:spcAft>
                <a:spcPts val="0"/>
              </a:spcAft>
              <a:buClr>
                <a:srgbClr val="6F655D"/>
              </a:buClr>
              <a:buSzPts val="2400"/>
              <a:buFont typeface="Times New Roman"/>
              <a:buNone/>
            </a:pPr>
            <a:r>
              <a:rPr b="0" i="0" lang="en-US" sz="2400" u="none" cap="none" strike="noStrike">
                <a:solidFill>
                  <a:srgbClr val="6F655D"/>
                </a:solidFill>
                <a:latin typeface="Times New Roman"/>
                <a:ea typeface="Times New Roman"/>
                <a:cs typeface="Times New Roman"/>
                <a:sym typeface="Times New Roman"/>
              </a:rPr>
              <a:t>Trần Vũ Minh Quang – 0317467</a:t>
            </a:r>
            <a:endParaRPr/>
          </a:p>
          <a:p>
            <a:pPr indent="0" lvl="0" marL="0" marR="0" rtl="0" algn="l">
              <a:lnSpc>
                <a:spcPct val="118750"/>
              </a:lnSpc>
              <a:spcBef>
                <a:spcPts val="0"/>
              </a:spcBef>
              <a:spcAft>
                <a:spcPts val="0"/>
              </a:spcAft>
              <a:buClr>
                <a:srgbClr val="6F655D"/>
              </a:buClr>
              <a:buSzPts val="2400"/>
              <a:buFont typeface="Times New Roman"/>
              <a:buNone/>
            </a:pPr>
            <a:r>
              <a:rPr b="0" i="0" lang="en-US" sz="2400" u="none" cap="none" strike="noStrike">
                <a:solidFill>
                  <a:srgbClr val="6F655D"/>
                </a:solidFill>
                <a:latin typeface="Times New Roman"/>
                <a:ea typeface="Times New Roman"/>
                <a:cs typeface="Times New Roman"/>
                <a:sym typeface="Times New Roman"/>
              </a:rPr>
              <a:t>Phạm Xuân Nguyên – 0203667</a:t>
            </a:r>
            <a:endParaRPr/>
          </a:p>
          <a:p>
            <a:pPr indent="0" lvl="0" marL="0" marR="0" rtl="0" algn="l">
              <a:lnSpc>
                <a:spcPct val="118750"/>
              </a:lnSpc>
              <a:spcBef>
                <a:spcPts val="0"/>
              </a:spcBef>
              <a:spcAft>
                <a:spcPts val="0"/>
              </a:spcAft>
              <a:buClr>
                <a:srgbClr val="6F655D"/>
              </a:buClr>
              <a:buSzPts val="2400"/>
              <a:buFont typeface="Times New Roman"/>
              <a:buNone/>
            </a:pPr>
            <a:r>
              <a:rPr b="0" i="0" lang="en-US" sz="2400" u="none" cap="none" strike="noStrike">
                <a:solidFill>
                  <a:srgbClr val="6F655D"/>
                </a:solidFill>
                <a:latin typeface="Times New Roman"/>
                <a:ea typeface="Times New Roman"/>
                <a:cs typeface="Times New Roman"/>
                <a:sym typeface="Times New Roman"/>
              </a:rPr>
              <a:t>Hoàng Thọ Tú – 0096667 </a:t>
            </a:r>
            <a:endParaRPr b="0" i="0" sz="2400" u="none" cap="none" strike="noStrike">
              <a:solidFill>
                <a:schemeClr val="dk1"/>
              </a:solidFill>
              <a:latin typeface="Times New Roman"/>
              <a:ea typeface="Times New Roman"/>
              <a:cs typeface="Times New Roman"/>
              <a:sym typeface="Times New Roman"/>
            </a:endParaRPr>
          </a:p>
        </p:txBody>
      </p:sp>
      <p:pic>
        <p:nvPicPr>
          <p:cNvPr descr="Single Sign On (SSO) Authentication – The Cybersecurity Man" id="54" name="Google Shape;54;p1"/>
          <p:cNvPicPr preferRelativeResize="0"/>
          <p:nvPr/>
        </p:nvPicPr>
        <p:blipFill rotWithShape="1">
          <a:blip r:embed="rId3">
            <a:alphaModFix/>
          </a:blip>
          <a:srcRect b="0" l="0" r="0" t="0"/>
          <a:stretch/>
        </p:blipFill>
        <p:spPr>
          <a:xfrm>
            <a:off x="8249813" y="1218052"/>
            <a:ext cx="5889935" cy="5889935"/>
          </a:xfrm>
          <a:prstGeom prst="rect">
            <a:avLst/>
          </a:prstGeom>
          <a:noFill/>
          <a:ln>
            <a:noFill/>
          </a:ln>
        </p:spPr>
      </p:pic>
      <p:pic>
        <p:nvPicPr>
          <p:cNvPr id="55" name="Google Shape;55;p1"/>
          <p:cNvPicPr preferRelativeResize="0"/>
          <p:nvPr/>
        </p:nvPicPr>
        <p:blipFill rotWithShape="1">
          <a:blip r:embed="rId4">
            <a:alphaModFix/>
          </a:blip>
          <a:srcRect b="0" l="0" r="0" t="0"/>
          <a:stretch/>
        </p:blipFill>
        <p:spPr>
          <a:xfrm>
            <a:off x="12344081" y="7534178"/>
            <a:ext cx="2286319" cy="695422"/>
          </a:xfrm>
          <a:prstGeom prst="rect">
            <a:avLst/>
          </a:prstGeom>
          <a:noFill/>
          <a:ln>
            <a:noFill/>
          </a:ln>
        </p:spPr>
      </p:pic>
      <p:sp>
        <p:nvSpPr>
          <p:cNvPr id="56" name="Google Shape;56;p1"/>
          <p:cNvSpPr/>
          <p:nvPr/>
        </p:nvSpPr>
        <p:spPr>
          <a:xfrm>
            <a:off x="13002322" y="7534178"/>
            <a:ext cx="1393902" cy="490654"/>
          </a:xfrm>
          <a:prstGeom prst="ellipse">
            <a:avLst/>
          </a:prstGeom>
          <a:solidFill>
            <a:schemeClr val="l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7" name="Google Shape;57;p1"/>
          <p:cNvSpPr txBox="1"/>
          <p:nvPr/>
        </p:nvSpPr>
        <p:spPr>
          <a:xfrm>
            <a:off x="13225346" y="7548672"/>
            <a:ext cx="94785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chemeClr val="dk1"/>
                </a:solidFill>
                <a:latin typeface="Times New Roman"/>
                <a:ea typeface="Times New Roman"/>
                <a:cs typeface="Times New Roman"/>
                <a:sym typeface="Times New Roman"/>
              </a:rPr>
              <a:t>1</a:t>
            </a:r>
            <a:endParaRPr b="1"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2"/>
          <p:cNvSpPr/>
          <p:nvPr/>
        </p:nvSpPr>
        <p:spPr>
          <a:xfrm>
            <a:off x="2472809" y="2921437"/>
            <a:ext cx="249079" cy="311348"/>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chemeClr val="dk1"/>
              </a:buClr>
              <a:buSzPts val="2400"/>
              <a:buFont typeface="Calibri"/>
              <a:buNone/>
            </a:pPr>
            <a:r>
              <a:t/>
            </a:r>
            <a:endParaRPr sz="2400">
              <a:solidFill>
                <a:schemeClr val="dk1"/>
              </a:solidFill>
              <a:latin typeface="Times New Roman"/>
              <a:ea typeface="Times New Roman"/>
              <a:cs typeface="Times New Roman"/>
              <a:sym typeface="Times New Roman"/>
            </a:endParaRPr>
          </a:p>
        </p:txBody>
      </p:sp>
      <p:sp>
        <p:nvSpPr>
          <p:cNvPr id="64" name="Google Shape;64;p2"/>
          <p:cNvSpPr/>
          <p:nvPr/>
        </p:nvSpPr>
        <p:spPr>
          <a:xfrm>
            <a:off x="2170745" y="1482864"/>
            <a:ext cx="4867889" cy="2229445"/>
          </a:xfrm>
          <a:prstGeom prst="roundRect">
            <a:avLst>
              <a:gd fmla="val 4273" name="adj"/>
            </a:avLst>
          </a:prstGeom>
          <a:solidFill>
            <a:schemeClr val="lt1"/>
          </a:solidFill>
          <a:ln cap="flat" cmpd="sng" w="9525">
            <a:solidFill>
              <a:schemeClr val="accent1"/>
            </a:solidFill>
            <a:prstDash val="solid"/>
            <a:round/>
            <a:headEnd len="sm" w="sm" type="none"/>
            <a:tailEnd len="sm" w="sm" type="none"/>
          </a:ln>
          <a:effectLst>
            <a:outerShdw rotWithShape="0" algn="bl" dir="2700000" dist="20320">
              <a:srgbClr val="E1C2C2"/>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65" name="Google Shape;65;p2"/>
          <p:cNvSpPr/>
          <p:nvPr/>
        </p:nvSpPr>
        <p:spPr>
          <a:xfrm>
            <a:off x="7591766" y="1482863"/>
            <a:ext cx="4867889" cy="2229445"/>
          </a:xfrm>
          <a:prstGeom prst="roundRect">
            <a:avLst>
              <a:gd fmla="val 4273" name="adj"/>
            </a:avLst>
          </a:prstGeom>
          <a:solidFill>
            <a:schemeClr val="lt1"/>
          </a:solidFill>
          <a:ln cap="flat" cmpd="sng" w="9525">
            <a:solidFill>
              <a:schemeClr val="accent2"/>
            </a:solidFill>
            <a:prstDash val="solid"/>
            <a:round/>
            <a:headEnd len="sm" w="sm" type="none"/>
            <a:tailEnd len="sm" w="sm" type="none"/>
          </a:ln>
          <a:effectLst>
            <a:outerShdw rotWithShape="0" algn="bl" dir="2700000" dist="20320">
              <a:srgbClr val="E1C2C2"/>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66" name="Google Shape;66;p2"/>
          <p:cNvSpPr/>
          <p:nvPr/>
        </p:nvSpPr>
        <p:spPr>
          <a:xfrm>
            <a:off x="2170747" y="4316819"/>
            <a:ext cx="4867889" cy="2229445"/>
          </a:xfrm>
          <a:prstGeom prst="roundRect">
            <a:avLst>
              <a:gd fmla="val 4273" name="adj"/>
            </a:avLst>
          </a:prstGeom>
          <a:solidFill>
            <a:schemeClr val="lt1"/>
          </a:solidFill>
          <a:ln cap="flat" cmpd="sng" w="9525">
            <a:solidFill>
              <a:schemeClr val="accent4"/>
            </a:solidFill>
            <a:prstDash val="solid"/>
            <a:round/>
            <a:headEnd len="sm" w="sm" type="none"/>
            <a:tailEnd len="sm" w="sm" type="none"/>
          </a:ln>
          <a:effectLst>
            <a:outerShdw rotWithShape="0" algn="bl" dir="2700000" dist="20320">
              <a:srgbClr val="E1C2C2"/>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67" name="Google Shape;67;p2"/>
          <p:cNvSpPr/>
          <p:nvPr/>
        </p:nvSpPr>
        <p:spPr>
          <a:xfrm>
            <a:off x="7591766" y="4316819"/>
            <a:ext cx="4867889" cy="2229445"/>
          </a:xfrm>
          <a:prstGeom prst="roundRect">
            <a:avLst>
              <a:gd fmla="val 4273" name="adj"/>
            </a:avLst>
          </a:prstGeom>
          <a:solidFill>
            <a:schemeClr val="lt1"/>
          </a:solidFill>
          <a:ln cap="flat" cmpd="sng" w="9525">
            <a:solidFill>
              <a:srgbClr val="548135"/>
            </a:solidFill>
            <a:prstDash val="solid"/>
            <a:round/>
            <a:headEnd len="sm" w="sm" type="none"/>
            <a:tailEnd len="sm" w="sm" type="none"/>
          </a:ln>
          <a:effectLst>
            <a:outerShdw rotWithShape="0" algn="bl" dir="2700000" dist="20320">
              <a:srgbClr val="E1C2C2"/>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68" name="Google Shape;68;p2"/>
          <p:cNvSpPr/>
          <p:nvPr/>
        </p:nvSpPr>
        <p:spPr>
          <a:xfrm>
            <a:off x="2170745" y="1459919"/>
            <a:ext cx="4867887" cy="89082"/>
          </a:xfrm>
          <a:prstGeom prst="roundRect">
            <a:avLst>
              <a:gd fmla="val 16667" name="adj"/>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69" name="Google Shape;69;p2"/>
          <p:cNvSpPr/>
          <p:nvPr/>
        </p:nvSpPr>
        <p:spPr>
          <a:xfrm>
            <a:off x="7591768" y="1459919"/>
            <a:ext cx="4867887" cy="89082"/>
          </a:xfrm>
          <a:prstGeom prst="roundRect">
            <a:avLst>
              <a:gd fmla="val 16667" name="adj"/>
            </a:avLst>
          </a:prstGeom>
          <a:solidFill>
            <a:schemeClr val="accent2"/>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70" name="Google Shape;70;p2"/>
          <p:cNvSpPr/>
          <p:nvPr/>
        </p:nvSpPr>
        <p:spPr>
          <a:xfrm>
            <a:off x="2170749" y="4316819"/>
            <a:ext cx="4867887" cy="89082"/>
          </a:xfrm>
          <a:prstGeom prst="roundRect">
            <a:avLst>
              <a:gd fmla="val 16667" name="adj"/>
            </a:avLst>
          </a:prstGeom>
          <a:solidFill>
            <a:schemeClr val="accent4"/>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71" name="Google Shape;71;p2"/>
          <p:cNvSpPr/>
          <p:nvPr/>
        </p:nvSpPr>
        <p:spPr>
          <a:xfrm>
            <a:off x="7591768" y="4316819"/>
            <a:ext cx="4867887" cy="89082"/>
          </a:xfrm>
          <a:prstGeom prst="roundRect">
            <a:avLst>
              <a:gd fmla="val 16667" name="adj"/>
            </a:avLst>
          </a:prstGeom>
          <a:solidFill>
            <a:srgbClr val="548135"/>
          </a:solidFill>
          <a:ln cap="flat" cmpd="sng" w="12700">
            <a:solidFill>
              <a:srgbClr val="54813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72" name="Google Shape;72;p2"/>
          <p:cNvSpPr txBox="1"/>
          <p:nvPr/>
        </p:nvSpPr>
        <p:spPr>
          <a:xfrm>
            <a:off x="3848276" y="2386218"/>
            <a:ext cx="151282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SSO là gì</a:t>
            </a:r>
            <a:endParaRPr sz="2400">
              <a:solidFill>
                <a:schemeClr val="dk1"/>
              </a:solidFill>
              <a:latin typeface="Times New Roman"/>
              <a:ea typeface="Times New Roman"/>
              <a:cs typeface="Times New Roman"/>
              <a:sym typeface="Times New Roman"/>
            </a:endParaRPr>
          </a:p>
        </p:txBody>
      </p:sp>
      <p:sp>
        <p:nvSpPr>
          <p:cNvPr id="73" name="Google Shape;73;p2"/>
          <p:cNvSpPr txBox="1"/>
          <p:nvPr/>
        </p:nvSpPr>
        <p:spPr>
          <a:xfrm>
            <a:off x="8381942" y="2153512"/>
            <a:ext cx="3287533"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Thành phần &amp; Cơ chế hoạt động</a:t>
            </a:r>
            <a:endParaRPr sz="2400">
              <a:solidFill>
                <a:schemeClr val="dk1"/>
              </a:solidFill>
              <a:latin typeface="Times New Roman"/>
              <a:ea typeface="Times New Roman"/>
              <a:cs typeface="Times New Roman"/>
              <a:sym typeface="Times New Roman"/>
            </a:endParaRPr>
          </a:p>
        </p:txBody>
      </p:sp>
      <p:sp>
        <p:nvSpPr>
          <p:cNvPr id="74" name="Google Shape;74;p2"/>
          <p:cNvSpPr txBox="1"/>
          <p:nvPr/>
        </p:nvSpPr>
        <p:spPr>
          <a:xfrm>
            <a:off x="3227568" y="5060584"/>
            <a:ext cx="2754238"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Các giao thức SSO phổ biến</a:t>
            </a:r>
            <a:endParaRPr sz="2400">
              <a:solidFill>
                <a:schemeClr val="dk1"/>
              </a:solidFill>
              <a:latin typeface="Times New Roman"/>
              <a:ea typeface="Times New Roman"/>
              <a:cs typeface="Times New Roman"/>
              <a:sym typeface="Times New Roman"/>
            </a:endParaRPr>
          </a:p>
        </p:txBody>
      </p:sp>
      <p:sp>
        <p:nvSpPr>
          <p:cNvPr id="75" name="Google Shape;75;p2"/>
          <p:cNvSpPr txBox="1"/>
          <p:nvPr/>
        </p:nvSpPr>
        <p:spPr>
          <a:xfrm>
            <a:off x="8196909" y="5010412"/>
            <a:ext cx="3657600"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Lợi ích, Rủi ro, và Giải pháp bảo mật</a:t>
            </a:r>
            <a:r>
              <a:rPr b="0" i="0" lang="en-US" sz="2000" u="none" cap="none" strike="noStrike">
                <a:solidFill>
                  <a:schemeClr val="dk1"/>
                </a:solidFill>
                <a:latin typeface="Times New Roman"/>
                <a:ea typeface="Times New Roman"/>
                <a:cs typeface="Times New Roman"/>
                <a:sym typeface="Times New Roman"/>
              </a:rPr>
              <a:t> </a:t>
            </a:r>
            <a:endParaRPr b="0" i="0" sz="4800" u="none" cap="none" strike="noStrike">
              <a:solidFill>
                <a:schemeClr val="dk1"/>
              </a:solidFill>
              <a:latin typeface="Times New Roman"/>
              <a:ea typeface="Times New Roman"/>
              <a:cs typeface="Times New Roman"/>
              <a:sym typeface="Times New Roman"/>
            </a:endParaRPr>
          </a:p>
        </p:txBody>
      </p:sp>
      <p:pic>
        <p:nvPicPr>
          <p:cNvPr id="76" name="Google Shape;76;p2"/>
          <p:cNvPicPr preferRelativeResize="0"/>
          <p:nvPr/>
        </p:nvPicPr>
        <p:blipFill rotWithShape="1">
          <a:blip r:embed="rId3">
            <a:alphaModFix/>
          </a:blip>
          <a:srcRect b="0" l="0" r="0" t="0"/>
          <a:stretch/>
        </p:blipFill>
        <p:spPr>
          <a:xfrm>
            <a:off x="10400710" y="7486546"/>
            <a:ext cx="4229690" cy="743054"/>
          </a:xfrm>
          <a:prstGeom prst="rect">
            <a:avLst/>
          </a:prstGeom>
          <a:noFill/>
          <a:ln>
            <a:noFill/>
          </a:ln>
        </p:spPr>
      </p:pic>
      <p:sp>
        <p:nvSpPr>
          <p:cNvPr id="77" name="Google Shape;77;p2"/>
          <p:cNvSpPr/>
          <p:nvPr/>
        </p:nvSpPr>
        <p:spPr>
          <a:xfrm>
            <a:off x="1896423" y="1231255"/>
            <a:ext cx="548640" cy="546409"/>
          </a:xfrm>
          <a:prstGeom prst="ellipse">
            <a:avLst/>
          </a:prstGeom>
          <a:solidFill>
            <a:schemeClr val="accen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 name="Google Shape;78;p2"/>
          <p:cNvSpPr/>
          <p:nvPr/>
        </p:nvSpPr>
        <p:spPr>
          <a:xfrm>
            <a:off x="7312954" y="1209659"/>
            <a:ext cx="548640" cy="546409"/>
          </a:xfrm>
          <a:prstGeom prst="ellipse">
            <a:avLst/>
          </a:prstGeom>
          <a:solidFill>
            <a:schemeClr val="accent2"/>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 name="Google Shape;79;p2"/>
          <p:cNvSpPr/>
          <p:nvPr/>
        </p:nvSpPr>
        <p:spPr>
          <a:xfrm>
            <a:off x="1896423" y="4088155"/>
            <a:ext cx="548640" cy="546409"/>
          </a:xfrm>
          <a:prstGeom prst="ellipse">
            <a:avLst/>
          </a:prstGeom>
          <a:solidFill>
            <a:schemeClr val="accent4"/>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 name="Google Shape;80;p2"/>
          <p:cNvSpPr/>
          <p:nvPr/>
        </p:nvSpPr>
        <p:spPr>
          <a:xfrm>
            <a:off x="7312954" y="4043614"/>
            <a:ext cx="548640" cy="546409"/>
          </a:xfrm>
          <a:prstGeom prst="ellipse">
            <a:avLst/>
          </a:prstGeom>
          <a:solidFill>
            <a:srgbClr val="548135"/>
          </a:solidFill>
          <a:ln cap="flat" cmpd="sng" w="12700">
            <a:solidFill>
              <a:srgbClr val="54813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 name="Google Shape;81;p2"/>
          <p:cNvSpPr txBox="1"/>
          <p:nvPr/>
        </p:nvSpPr>
        <p:spPr>
          <a:xfrm>
            <a:off x="1790288" y="1304404"/>
            <a:ext cx="760922"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chemeClr val="dk1"/>
                </a:solidFill>
                <a:latin typeface="Times New Roman"/>
                <a:ea typeface="Times New Roman"/>
                <a:cs typeface="Times New Roman"/>
                <a:sym typeface="Times New Roman"/>
              </a:rPr>
              <a:t>1</a:t>
            </a:r>
            <a:endParaRPr b="1" sz="2000">
              <a:solidFill>
                <a:schemeClr val="dk1"/>
              </a:solidFill>
              <a:latin typeface="Times New Roman"/>
              <a:ea typeface="Times New Roman"/>
              <a:cs typeface="Times New Roman"/>
              <a:sym typeface="Times New Roman"/>
            </a:endParaRPr>
          </a:p>
        </p:txBody>
      </p:sp>
      <p:sp>
        <p:nvSpPr>
          <p:cNvPr id="82" name="Google Shape;82;p2"/>
          <p:cNvSpPr txBox="1"/>
          <p:nvPr/>
        </p:nvSpPr>
        <p:spPr>
          <a:xfrm>
            <a:off x="7211307" y="1298741"/>
            <a:ext cx="760922"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chemeClr val="dk1"/>
                </a:solidFill>
                <a:latin typeface="Times New Roman"/>
                <a:ea typeface="Times New Roman"/>
                <a:cs typeface="Times New Roman"/>
                <a:sym typeface="Times New Roman"/>
              </a:rPr>
              <a:t>2</a:t>
            </a:r>
            <a:endParaRPr b="1" sz="2000">
              <a:solidFill>
                <a:schemeClr val="dk1"/>
              </a:solidFill>
              <a:latin typeface="Times New Roman"/>
              <a:ea typeface="Times New Roman"/>
              <a:cs typeface="Times New Roman"/>
              <a:sym typeface="Times New Roman"/>
            </a:endParaRPr>
          </a:p>
        </p:txBody>
      </p:sp>
      <p:sp>
        <p:nvSpPr>
          <p:cNvPr id="83" name="Google Shape;83;p2"/>
          <p:cNvSpPr txBox="1"/>
          <p:nvPr/>
        </p:nvSpPr>
        <p:spPr>
          <a:xfrm>
            <a:off x="1790288" y="4161304"/>
            <a:ext cx="760922"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chemeClr val="dk1"/>
                </a:solidFill>
                <a:latin typeface="Times New Roman"/>
                <a:ea typeface="Times New Roman"/>
                <a:cs typeface="Times New Roman"/>
                <a:sym typeface="Times New Roman"/>
              </a:rPr>
              <a:t>3</a:t>
            </a:r>
            <a:endParaRPr b="1" sz="2000">
              <a:solidFill>
                <a:schemeClr val="dk1"/>
              </a:solidFill>
              <a:latin typeface="Times New Roman"/>
              <a:ea typeface="Times New Roman"/>
              <a:cs typeface="Times New Roman"/>
              <a:sym typeface="Times New Roman"/>
            </a:endParaRPr>
          </a:p>
        </p:txBody>
      </p:sp>
      <p:sp>
        <p:nvSpPr>
          <p:cNvPr id="84" name="Google Shape;84;p2"/>
          <p:cNvSpPr txBox="1"/>
          <p:nvPr/>
        </p:nvSpPr>
        <p:spPr>
          <a:xfrm>
            <a:off x="7211307" y="4117183"/>
            <a:ext cx="760922"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chemeClr val="dk1"/>
                </a:solidFill>
                <a:latin typeface="Times New Roman"/>
                <a:ea typeface="Times New Roman"/>
                <a:cs typeface="Times New Roman"/>
                <a:sym typeface="Times New Roman"/>
              </a:rPr>
              <a:t>4</a:t>
            </a:r>
            <a:endParaRPr b="1" sz="2000">
              <a:solidFill>
                <a:schemeClr val="dk1"/>
              </a:solidFill>
              <a:latin typeface="Times New Roman"/>
              <a:ea typeface="Times New Roman"/>
              <a:cs typeface="Times New Roman"/>
              <a:sym typeface="Times New Roman"/>
            </a:endParaRPr>
          </a:p>
        </p:txBody>
      </p:sp>
      <p:sp>
        <p:nvSpPr>
          <p:cNvPr id="85" name="Google Shape;85;p2"/>
          <p:cNvSpPr/>
          <p:nvPr/>
        </p:nvSpPr>
        <p:spPr>
          <a:xfrm>
            <a:off x="13002322" y="7534178"/>
            <a:ext cx="1393902" cy="490654"/>
          </a:xfrm>
          <a:prstGeom prst="ellipse">
            <a:avLst/>
          </a:prstGeom>
          <a:solidFill>
            <a:schemeClr val="l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 name="Google Shape;86;p2"/>
          <p:cNvSpPr txBox="1"/>
          <p:nvPr/>
        </p:nvSpPr>
        <p:spPr>
          <a:xfrm>
            <a:off x="13225346" y="7548672"/>
            <a:ext cx="94785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Times New Roman"/>
                <a:ea typeface="Times New Roman"/>
                <a:cs typeface="Times New Roman"/>
                <a:sym typeface="Times New Roman"/>
              </a:rPr>
              <a:t>2</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3"/>
          <p:cNvSpPr/>
          <p:nvPr/>
        </p:nvSpPr>
        <p:spPr>
          <a:xfrm>
            <a:off x="726519" y="907971"/>
            <a:ext cx="5190053" cy="648653"/>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4B6981"/>
              </a:buClr>
              <a:buSzPts val="4050"/>
              <a:buFont typeface="Times New Roman"/>
              <a:buNone/>
            </a:pPr>
            <a:r>
              <a:rPr lang="en-US" sz="4050">
                <a:solidFill>
                  <a:srgbClr val="4B6981"/>
                </a:solidFill>
                <a:latin typeface="Times New Roman"/>
                <a:ea typeface="Times New Roman"/>
                <a:cs typeface="Times New Roman"/>
                <a:sym typeface="Times New Roman"/>
              </a:rPr>
              <a:t>SSO là gì?</a:t>
            </a:r>
            <a:endParaRPr sz="4050">
              <a:solidFill>
                <a:schemeClr val="dk1"/>
              </a:solidFill>
              <a:latin typeface="Times New Roman"/>
              <a:ea typeface="Times New Roman"/>
              <a:cs typeface="Times New Roman"/>
              <a:sym typeface="Times New Roman"/>
            </a:endParaRPr>
          </a:p>
        </p:txBody>
      </p:sp>
      <p:sp>
        <p:nvSpPr>
          <p:cNvPr id="93" name="Google Shape;93;p3"/>
          <p:cNvSpPr/>
          <p:nvPr/>
        </p:nvSpPr>
        <p:spPr>
          <a:xfrm>
            <a:off x="726519" y="1826300"/>
            <a:ext cx="8473237" cy="664369"/>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2000"/>
              <a:buFont typeface="Times New Roman"/>
              <a:buNone/>
            </a:pPr>
            <a:r>
              <a:rPr lang="en-US" sz="2000">
                <a:solidFill>
                  <a:schemeClr val="dk1"/>
                </a:solidFill>
                <a:latin typeface="Times New Roman"/>
                <a:ea typeface="Times New Roman"/>
                <a:cs typeface="Times New Roman"/>
                <a:sym typeface="Times New Roman"/>
              </a:rPr>
              <a:t>Single Sign-On (SSO) là phương thức xác thực cho phép người dùng đăng nhập vào nhiều ứng dụng và dịch vụ chỉ với một lần nhập thông tin tài khoản duy nhất.</a:t>
            </a:r>
            <a:endParaRPr sz="2000">
              <a:solidFill>
                <a:schemeClr val="dk1"/>
              </a:solidFill>
              <a:latin typeface="Times New Roman"/>
              <a:ea typeface="Times New Roman"/>
              <a:cs typeface="Times New Roman"/>
              <a:sym typeface="Times New Roman"/>
            </a:endParaRPr>
          </a:p>
        </p:txBody>
      </p:sp>
      <p:sp>
        <p:nvSpPr>
          <p:cNvPr id="94" name="Google Shape;94;p3"/>
          <p:cNvSpPr/>
          <p:nvPr/>
        </p:nvSpPr>
        <p:spPr>
          <a:xfrm>
            <a:off x="726519" y="3077170"/>
            <a:ext cx="3741658" cy="2194917"/>
          </a:xfrm>
          <a:prstGeom prst="roundRect">
            <a:avLst>
              <a:gd fmla="val 4999" name="adj"/>
            </a:avLst>
          </a:prstGeom>
          <a:solidFill>
            <a:srgbClr val="FFFAF6"/>
          </a:solidFill>
          <a:ln>
            <a:noFill/>
          </a:ln>
          <a:effectLst>
            <a:outerShdw rotWithShape="0" algn="bl" dir="2700000" dist="19050">
              <a:srgbClr val="E1C2C2"/>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95" name="Google Shape;95;p3"/>
          <p:cNvSpPr/>
          <p:nvPr/>
        </p:nvSpPr>
        <p:spPr>
          <a:xfrm>
            <a:off x="726519" y="3054310"/>
            <a:ext cx="3741658" cy="91440"/>
          </a:xfrm>
          <a:prstGeom prst="roundRect">
            <a:avLst>
              <a:gd fmla="val 95357" name="adj"/>
            </a:avLst>
          </a:prstGeom>
          <a:solidFill>
            <a:srgbClr val="E1C2C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96" name="Google Shape;96;p3"/>
          <p:cNvSpPr/>
          <p:nvPr/>
        </p:nvSpPr>
        <p:spPr>
          <a:xfrm>
            <a:off x="2472808" y="2921437"/>
            <a:ext cx="249079" cy="311348"/>
          </a:xfrm>
          <a:prstGeom prst="rect">
            <a:avLst/>
          </a:prstGeom>
          <a:noFill/>
          <a:ln>
            <a:noFill/>
          </a:ln>
        </p:spPr>
        <p:txBody>
          <a:bodyPr anchorCtr="0" anchor="t" bIns="0" lIns="0" spcFirstLastPara="1" rIns="0" wrap="square" tIns="0">
            <a:noAutofit/>
          </a:bodyPr>
          <a:lstStyle/>
          <a:p>
            <a:pPr indent="0" lvl="0" marL="0" marR="0" rtl="0" algn="ctr">
              <a:lnSpc>
                <a:spcPct val="158974"/>
              </a:lnSpc>
              <a:spcBef>
                <a:spcPts val="0"/>
              </a:spcBef>
              <a:spcAft>
                <a:spcPts val="0"/>
              </a:spcAft>
              <a:buClr>
                <a:schemeClr val="dk1"/>
              </a:buClr>
              <a:buSzPts val="1950"/>
              <a:buFont typeface="Calibri"/>
              <a:buNone/>
            </a:pPr>
            <a:r>
              <a:t/>
            </a:r>
            <a:endParaRPr sz="1950">
              <a:solidFill>
                <a:schemeClr val="dk1"/>
              </a:solidFill>
              <a:latin typeface="Times New Roman"/>
              <a:ea typeface="Times New Roman"/>
              <a:cs typeface="Times New Roman"/>
              <a:sym typeface="Times New Roman"/>
            </a:endParaRPr>
          </a:p>
        </p:txBody>
      </p:sp>
      <p:sp>
        <p:nvSpPr>
          <p:cNvPr id="97" name="Google Shape;97;p3"/>
          <p:cNvSpPr/>
          <p:nvPr/>
        </p:nvSpPr>
        <p:spPr>
          <a:xfrm>
            <a:off x="956905" y="3596164"/>
            <a:ext cx="2594967" cy="324445"/>
          </a:xfrm>
          <a:prstGeom prst="rect">
            <a:avLst/>
          </a:prstGeom>
          <a:noFill/>
          <a:ln>
            <a:noFill/>
          </a:ln>
        </p:spPr>
        <p:txBody>
          <a:bodyPr anchorCtr="0" anchor="t" bIns="0" lIns="0" spcFirstLastPara="1" rIns="0" wrap="square" tIns="0">
            <a:noAutofit/>
          </a:bodyPr>
          <a:lstStyle/>
          <a:p>
            <a:pPr indent="0" lvl="0" marL="0" marR="0" rtl="0" algn="l">
              <a:lnSpc>
                <a:spcPct val="91071"/>
              </a:lnSpc>
              <a:spcBef>
                <a:spcPts val="0"/>
              </a:spcBef>
              <a:spcAft>
                <a:spcPts val="0"/>
              </a:spcAft>
              <a:buClr>
                <a:schemeClr val="dk1"/>
              </a:buClr>
              <a:buSzPts val="2800"/>
              <a:buFont typeface="Times New Roman"/>
              <a:buNone/>
            </a:pPr>
            <a:r>
              <a:rPr lang="en-US" sz="2800">
                <a:solidFill>
                  <a:schemeClr val="dk1"/>
                </a:solidFill>
                <a:latin typeface="Times New Roman"/>
                <a:ea typeface="Times New Roman"/>
                <a:cs typeface="Times New Roman"/>
                <a:sym typeface="Times New Roman"/>
              </a:rPr>
              <a:t>Đăng nhập một lần</a:t>
            </a:r>
            <a:endParaRPr sz="2800">
              <a:solidFill>
                <a:schemeClr val="dk1"/>
              </a:solidFill>
              <a:latin typeface="Times New Roman"/>
              <a:ea typeface="Times New Roman"/>
              <a:cs typeface="Times New Roman"/>
              <a:sym typeface="Times New Roman"/>
            </a:endParaRPr>
          </a:p>
        </p:txBody>
      </p:sp>
      <p:sp>
        <p:nvSpPr>
          <p:cNvPr id="98" name="Google Shape;98;p3"/>
          <p:cNvSpPr/>
          <p:nvPr/>
        </p:nvSpPr>
        <p:spPr>
          <a:xfrm>
            <a:off x="956905" y="4045148"/>
            <a:ext cx="3280886" cy="664369"/>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2000"/>
              <a:buFont typeface="Times New Roman"/>
              <a:buNone/>
            </a:pPr>
            <a:r>
              <a:rPr lang="en-US" sz="2000">
                <a:solidFill>
                  <a:schemeClr val="dk1"/>
                </a:solidFill>
                <a:latin typeface="Times New Roman"/>
                <a:ea typeface="Times New Roman"/>
                <a:cs typeface="Times New Roman"/>
                <a:sym typeface="Times New Roman"/>
              </a:rPr>
              <a:t>Chỉ cần nhập tên đăng nhập và mật khẩu một lần.</a:t>
            </a:r>
            <a:endParaRPr sz="2000">
              <a:solidFill>
                <a:schemeClr val="dk1"/>
              </a:solidFill>
              <a:latin typeface="Times New Roman"/>
              <a:ea typeface="Times New Roman"/>
              <a:cs typeface="Times New Roman"/>
              <a:sym typeface="Times New Roman"/>
            </a:endParaRPr>
          </a:p>
        </p:txBody>
      </p:sp>
      <p:sp>
        <p:nvSpPr>
          <p:cNvPr id="99" name="Google Shape;99;p3"/>
          <p:cNvSpPr/>
          <p:nvPr/>
        </p:nvSpPr>
        <p:spPr>
          <a:xfrm>
            <a:off x="4675703" y="3077170"/>
            <a:ext cx="3741777" cy="2194917"/>
          </a:xfrm>
          <a:prstGeom prst="roundRect">
            <a:avLst>
              <a:gd fmla="val 4999" name="adj"/>
            </a:avLst>
          </a:prstGeom>
          <a:solidFill>
            <a:srgbClr val="FFFAF6"/>
          </a:solidFill>
          <a:ln>
            <a:noFill/>
          </a:ln>
          <a:effectLst>
            <a:outerShdw rotWithShape="0" algn="bl" dir="2700000" dist="19050">
              <a:srgbClr val="CCC4EC"/>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00" name="Google Shape;100;p3"/>
          <p:cNvSpPr/>
          <p:nvPr/>
        </p:nvSpPr>
        <p:spPr>
          <a:xfrm>
            <a:off x="4675703" y="3054310"/>
            <a:ext cx="3741777" cy="91440"/>
          </a:xfrm>
          <a:prstGeom prst="roundRect">
            <a:avLst>
              <a:gd fmla="val 95357" name="adj"/>
            </a:avLst>
          </a:prstGeom>
          <a:solidFill>
            <a:srgbClr val="CCC4E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01" name="Google Shape;101;p3"/>
          <p:cNvSpPr/>
          <p:nvPr/>
        </p:nvSpPr>
        <p:spPr>
          <a:xfrm>
            <a:off x="6421993" y="2921437"/>
            <a:ext cx="249079" cy="311348"/>
          </a:xfrm>
          <a:prstGeom prst="rect">
            <a:avLst/>
          </a:prstGeom>
          <a:noFill/>
          <a:ln>
            <a:noFill/>
          </a:ln>
        </p:spPr>
        <p:txBody>
          <a:bodyPr anchorCtr="0" anchor="t" bIns="0" lIns="0" spcFirstLastPara="1" rIns="0" wrap="square" tIns="0">
            <a:noAutofit/>
          </a:bodyPr>
          <a:lstStyle/>
          <a:p>
            <a:pPr indent="0" lvl="0" marL="0" marR="0" rtl="0" algn="ctr">
              <a:lnSpc>
                <a:spcPct val="158974"/>
              </a:lnSpc>
              <a:spcBef>
                <a:spcPts val="0"/>
              </a:spcBef>
              <a:spcAft>
                <a:spcPts val="0"/>
              </a:spcAft>
              <a:buClr>
                <a:schemeClr val="dk1"/>
              </a:buClr>
              <a:buSzPts val="1950"/>
              <a:buFont typeface="Calibri"/>
              <a:buNone/>
            </a:pPr>
            <a:r>
              <a:t/>
            </a:r>
            <a:endParaRPr sz="1950">
              <a:solidFill>
                <a:schemeClr val="dk1"/>
              </a:solidFill>
              <a:latin typeface="Times New Roman"/>
              <a:ea typeface="Times New Roman"/>
              <a:cs typeface="Times New Roman"/>
              <a:sym typeface="Times New Roman"/>
            </a:endParaRPr>
          </a:p>
        </p:txBody>
      </p:sp>
      <p:sp>
        <p:nvSpPr>
          <p:cNvPr id="102" name="Google Shape;102;p3"/>
          <p:cNvSpPr/>
          <p:nvPr/>
        </p:nvSpPr>
        <p:spPr>
          <a:xfrm>
            <a:off x="4906089" y="3596164"/>
            <a:ext cx="2594967" cy="324445"/>
          </a:xfrm>
          <a:prstGeom prst="rect">
            <a:avLst/>
          </a:prstGeom>
          <a:noFill/>
          <a:ln>
            <a:noFill/>
          </a:ln>
        </p:spPr>
        <p:txBody>
          <a:bodyPr anchorCtr="0" anchor="t" bIns="0" lIns="0" spcFirstLastPara="1" rIns="0" wrap="square" tIns="0">
            <a:noAutofit/>
          </a:bodyPr>
          <a:lstStyle/>
          <a:p>
            <a:pPr indent="0" lvl="0" marL="0" marR="0" rtl="0" algn="l">
              <a:lnSpc>
                <a:spcPct val="91071"/>
              </a:lnSpc>
              <a:spcBef>
                <a:spcPts val="0"/>
              </a:spcBef>
              <a:spcAft>
                <a:spcPts val="0"/>
              </a:spcAft>
              <a:buClr>
                <a:schemeClr val="dk1"/>
              </a:buClr>
              <a:buSzPts val="2800"/>
              <a:buFont typeface="Times New Roman"/>
              <a:buNone/>
            </a:pPr>
            <a:r>
              <a:rPr lang="en-US" sz="2800">
                <a:solidFill>
                  <a:schemeClr val="dk1"/>
                </a:solidFill>
                <a:latin typeface="Times New Roman"/>
                <a:ea typeface="Times New Roman"/>
                <a:cs typeface="Times New Roman"/>
                <a:sym typeface="Times New Roman"/>
              </a:rPr>
              <a:t>Truy cập đa dịch vụ</a:t>
            </a:r>
            <a:endParaRPr sz="2800">
              <a:solidFill>
                <a:schemeClr val="dk1"/>
              </a:solidFill>
              <a:latin typeface="Times New Roman"/>
              <a:ea typeface="Times New Roman"/>
              <a:cs typeface="Times New Roman"/>
              <a:sym typeface="Times New Roman"/>
            </a:endParaRPr>
          </a:p>
        </p:txBody>
      </p:sp>
      <p:sp>
        <p:nvSpPr>
          <p:cNvPr id="103" name="Google Shape;103;p3"/>
          <p:cNvSpPr/>
          <p:nvPr/>
        </p:nvSpPr>
        <p:spPr>
          <a:xfrm>
            <a:off x="4906089" y="4045148"/>
            <a:ext cx="3281005" cy="99655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2000"/>
              <a:buFont typeface="Times New Roman"/>
              <a:buNone/>
            </a:pPr>
            <a:r>
              <a:rPr lang="en-US" sz="2000">
                <a:solidFill>
                  <a:schemeClr val="dk1"/>
                </a:solidFill>
                <a:latin typeface="Times New Roman"/>
                <a:ea typeface="Times New Roman"/>
                <a:cs typeface="Times New Roman"/>
                <a:sym typeface="Times New Roman"/>
              </a:rPr>
              <a:t>Sau đó có thể truy cập các dịch vụ liên quan mà không cần đăng nhập lại.</a:t>
            </a:r>
            <a:endParaRPr sz="2000">
              <a:solidFill>
                <a:schemeClr val="dk1"/>
              </a:solidFill>
              <a:latin typeface="Times New Roman"/>
              <a:ea typeface="Times New Roman"/>
              <a:cs typeface="Times New Roman"/>
              <a:sym typeface="Times New Roman"/>
            </a:endParaRPr>
          </a:p>
        </p:txBody>
      </p:sp>
      <p:sp>
        <p:nvSpPr>
          <p:cNvPr id="104" name="Google Shape;104;p3"/>
          <p:cNvSpPr/>
          <p:nvPr/>
        </p:nvSpPr>
        <p:spPr>
          <a:xfrm>
            <a:off x="726519" y="5790962"/>
            <a:ext cx="7690961" cy="1530548"/>
          </a:xfrm>
          <a:prstGeom prst="roundRect">
            <a:avLst>
              <a:gd fmla="val 7169" name="adj"/>
            </a:avLst>
          </a:prstGeom>
          <a:solidFill>
            <a:srgbClr val="FFFAF6"/>
          </a:solidFill>
          <a:ln>
            <a:noFill/>
          </a:ln>
          <a:effectLst>
            <a:outerShdw rotWithShape="0" algn="bl" dir="2700000" dist="19050">
              <a:srgbClr val="B4DAE4"/>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05" name="Google Shape;105;p3"/>
          <p:cNvSpPr/>
          <p:nvPr/>
        </p:nvSpPr>
        <p:spPr>
          <a:xfrm>
            <a:off x="726519" y="5768102"/>
            <a:ext cx="7690961" cy="91440"/>
          </a:xfrm>
          <a:prstGeom prst="roundRect">
            <a:avLst>
              <a:gd fmla="val 95357" name="adj"/>
            </a:avLst>
          </a:prstGeom>
          <a:solidFill>
            <a:srgbClr val="B4DAE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06" name="Google Shape;106;p3"/>
          <p:cNvSpPr/>
          <p:nvPr/>
        </p:nvSpPr>
        <p:spPr>
          <a:xfrm>
            <a:off x="4436309" y="5609194"/>
            <a:ext cx="249079" cy="311348"/>
          </a:xfrm>
          <a:prstGeom prst="rect">
            <a:avLst/>
          </a:prstGeom>
          <a:noFill/>
          <a:ln>
            <a:noFill/>
          </a:ln>
        </p:spPr>
        <p:txBody>
          <a:bodyPr anchorCtr="0" anchor="t" bIns="0" lIns="0" spcFirstLastPara="1" rIns="0" wrap="square" tIns="0">
            <a:noAutofit/>
          </a:bodyPr>
          <a:lstStyle/>
          <a:p>
            <a:pPr indent="0" lvl="0" marL="0" marR="0" rtl="0" algn="ctr">
              <a:lnSpc>
                <a:spcPct val="158974"/>
              </a:lnSpc>
              <a:spcBef>
                <a:spcPts val="0"/>
              </a:spcBef>
              <a:spcAft>
                <a:spcPts val="0"/>
              </a:spcAft>
              <a:buClr>
                <a:schemeClr val="dk1"/>
              </a:buClr>
              <a:buSzPts val="1950"/>
              <a:buFont typeface="Calibri"/>
              <a:buNone/>
            </a:pPr>
            <a:r>
              <a:t/>
            </a:r>
            <a:endParaRPr sz="1950">
              <a:solidFill>
                <a:schemeClr val="dk1"/>
              </a:solidFill>
              <a:latin typeface="Times New Roman"/>
              <a:ea typeface="Times New Roman"/>
              <a:cs typeface="Times New Roman"/>
              <a:sym typeface="Times New Roman"/>
            </a:endParaRPr>
          </a:p>
        </p:txBody>
      </p:sp>
      <p:sp>
        <p:nvSpPr>
          <p:cNvPr id="107" name="Google Shape;107;p3"/>
          <p:cNvSpPr/>
          <p:nvPr/>
        </p:nvSpPr>
        <p:spPr>
          <a:xfrm>
            <a:off x="956905" y="6309955"/>
            <a:ext cx="2594967" cy="324445"/>
          </a:xfrm>
          <a:prstGeom prst="rect">
            <a:avLst/>
          </a:prstGeom>
          <a:noFill/>
          <a:ln>
            <a:noFill/>
          </a:ln>
        </p:spPr>
        <p:txBody>
          <a:bodyPr anchorCtr="0" anchor="t" bIns="0" lIns="0" spcFirstLastPara="1" rIns="0" wrap="square" tIns="0">
            <a:noAutofit/>
          </a:bodyPr>
          <a:lstStyle/>
          <a:p>
            <a:pPr indent="0" lvl="0" marL="0" marR="0" rtl="0" algn="l">
              <a:lnSpc>
                <a:spcPct val="91071"/>
              </a:lnSpc>
              <a:spcBef>
                <a:spcPts val="0"/>
              </a:spcBef>
              <a:spcAft>
                <a:spcPts val="0"/>
              </a:spcAft>
              <a:buClr>
                <a:schemeClr val="dk1"/>
              </a:buClr>
              <a:buSzPts val="2800"/>
              <a:buFont typeface="Times New Roman"/>
              <a:buNone/>
            </a:pPr>
            <a:r>
              <a:rPr lang="en-US" sz="2800">
                <a:solidFill>
                  <a:schemeClr val="dk1"/>
                </a:solidFill>
                <a:latin typeface="Times New Roman"/>
                <a:ea typeface="Times New Roman"/>
                <a:cs typeface="Times New Roman"/>
                <a:sym typeface="Times New Roman"/>
              </a:rPr>
              <a:t>Ví dụ thực tế</a:t>
            </a:r>
            <a:endParaRPr sz="2800">
              <a:solidFill>
                <a:schemeClr val="dk1"/>
              </a:solidFill>
              <a:latin typeface="Times New Roman"/>
              <a:ea typeface="Times New Roman"/>
              <a:cs typeface="Times New Roman"/>
              <a:sym typeface="Times New Roman"/>
            </a:endParaRPr>
          </a:p>
        </p:txBody>
      </p:sp>
      <p:sp>
        <p:nvSpPr>
          <p:cNvPr id="108" name="Google Shape;108;p3"/>
          <p:cNvSpPr/>
          <p:nvPr/>
        </p:nvSpPr>
        <p:spPr>
          <a:xfrm>
            <a:off x="956905" y="6758940"/>
            <a:ext cx="7230189" cy="33218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chemeClr val="dk1"/>
              </a:buClr>
              <a:buSzPts val="2000"/>
              <a:buFont typeface="Times New Roman"/>
              <a:buNone/>
            </a:pPr>
            <a:r>
              <a:rPr lang="en-US" sz="2000">
                <a:solidFill>
                  <a:schemeClr val="dk1"/>
                </a:solidFill>
                <a:latin typeface="Times New Roman"/>
                <a:ea typeface="Times New Roman"/>
                <a:cs typeface="Times New Roman"/>
                <a:sym typeface="Times New Roman"/>
              </a:rPr>
              <a:t>Google SSO, Facebook SSO, Microsoft SSO là những ví dụ phổ biến.</a:t>
            </a:r>
            <a:endParaRPr sz="2000">
              <a:solidFill>
                <a:schemeClr val="dk1"/>
              </a:solidFill>
              <a:latin typeface="Times New Roman"/>
              <a:ea typeface="Times New Roman"/>
              <a:cs typeface="Times New Roman"/>
              <a:sym typeface="Times New Roman"/>
            </a:endParaRPr>
          </a:p>
        </p:txBody>
      </p:sp>
      <p:pic>
        <p:nvPicPr>
          <p:cNvPr descr="A computer keys and a pencil&#10;&#10;AI-generated content may be incorrect." id="109" name="Google Shape;109;p3"/>
          <p:cNvPicPr preferRelativeResize="0"/>
          <p:nvPr/>
        </p:nvPicPr>
        <p:blipFill rotWithShape="1">
          <a:blip r:embed="rId3">
            <a:alphaModFix/>
          </a:blip>
          <a:srcRect b="0" l="0" r="0" t="0"/>
          <a:stretch/>
        </p:blipFill>
        <p:spPr>
          <a:xfrm>
            <a:off x="8663619" y="2980491"/>
            <a:ext cx="5966781" cy="3329464"/>
          </a:xfrm>
          <a:prstGeom prst="rect">
            <a:avLst/>
          </a:prstGeom>
          <a:noFill/>
          <a:ln>
            <a:noFill/>
          </a:ln>
        </p:spPr>
      </p:pic>
      <p:pic>
        <p:nvPicPr>
          <p:cNvPr id="110" name="Google Shape;110;p3"/>
          <p:cNvPicPr preferRelativeResize="0"/>
          <p:nvPr/>
        </p:nvPicPr>
        <p:blipFill rotWithShape="1">
          <a:blip r:embed="rId4">
            <a:alphaModFix/>
          </a:blip>
          <a:srcRect b="0" l="0" r="0" t="0"/>
          <a:stretch/>
        </p:blipFill>
        <p:spPr>
          <a:xfrm>
            <a:off x="10318764" y="7486546"/>
            <a:ext cx="4229690" cy="743054"/>
          </a:xfrm>
          <a:prstGeom prst="rect">
            <a:avLst/>
          </a:prstGeom>
          <a:noFill/>
          <a:ln>
            <a:noFill/>
          </a:ln>
        </p:spPr>
      </p:pic>
      <p:sp>
        <p:nvSpPr>
          <p:cNvPr id="111" name="Google Shape;111;p3"/>
          <p:cNvSpPr/>
          <p:nvPr/>
        </p:nvSpPr>
        <p:spPr>
          <a:xfrm>
            <a:off x="13002322" y="7534178"/>
            <a:ext cx="1393902" cy="490654"/>
          </a:xfrm>
          <a:prstGeom prst="ellipse">
            <a:avLst/>
          </a:prstGeom>
          <a:solidFill>
            <a:schemeClr val="l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 name="Google Shape;112;p3"/>
          <p:cNvSpPr txBox="1"/>
          <p:nvPr/>
        </p:nvSpPr>
        <p:spPr>
          <a:xfrm>
            <a:off x="13225346" y="7548672"/>
            <a:ext cx="94785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Times New Roman"/>
                <a:ea typeface="Times New Roman"/>
                <a:cs typeface="Times New Roman"/>
                <a:sym typeface="Times New Roman"/>
              </a:rPr>
              <a:t>3</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descr="preencoded.png" id="118" name="Google Shape;118;p4"/>
          <p:cNvPicPr preferRelativeResize="0"/>
          <p:nvPr/>
        </p:nvPicPr>
        <p:blipFill rotWithShape="1">
          <a:blip r:embed="rId3">
            <a:alphaModFix/>
          </a:blip>
          <a:srcRect b="0" l="0" r="0" t="0"/>
          <a:stretch/>
        </p:blipFill>
        <p:spPr>
          <a:xfrm>
            <a:off x="8595360" y="0"/>
            <a:ext cx="6035040" cy="8229600"/>
          </a:xfrm>
          <a:prstGeom prst="rect">
            <a:avLst/>
          </a:prstGeom>
          <a:noFill/>
          <a:ln>
            <a:noFill/>
          </a:ln>
        </p:spPr>
      </p:pic>
      <p:sp>
        <p:nvSpPr>
          <p:cNvPr id="119" name="Google Shape;119;p4"/>
          <p:cNvSpPr/>
          <p:nvPr/>
        </p:nvSpPr>
        <p:spPr>
          <a:xfrm>
            <a:off x="721043" y="896422"/>
            <a:ext cx="6418898" cy="643771"/>
          </a:xfrm>
          <a:prstGeom prst="rect">
            <a:avLst/>
          </a:prstGeom>
          <a:noFill/>
          <a:ln>
            <a:noFill/>
          </a:ln>
        </p:spPr>
        <p:txBody>
          <a:bodyPr anchorCtr="0" anchor="t" bIns="0" lIns="0" spcFirstLastPara="1" rIns="0" wrap="square" tIns="0">
            <a:noAutofit/>
          </a:bodyPr>
          <a:lstStyle/>
          <a:p>
            <a:pPr indent="0" lvl="0" marL="0" marR="0" rtl="0" algn="l">
              <a:lnSpc>
                <a:spcPct val="124691"/>
              </a:lnSpc>
              <a:spcBef>
                <a:spcPts val="0"/>
              </a:spcBef>
              <a:spcAft>
                <a:spcPts val="0"/>
              </a:spcAft>
              <a:buClr>
                <a:srgbClr val="4B6981"/>
              </a:buClr>
              <a:buSzPts val="4050"/>
              <a:buFont typeface="Times New Roman"/>
              <a:buNone/>
            </a:pPr>
            <a:r>
              <a:rPr lang="en-US" sz="4050">
                <a:solidFill>
                  <a:srgbClr val="4B6981"/>
                </a:solidFill>
                <a:latin typeface="Times New Roman"/>
                <a:ea typeface="Times New Roman"/>
                <a:cs typeface="Times New Roman"/>
                <a:sym typeface="Times New Roman"/>
              </a:rPr>
              <a:t>Tại sao SSO lại quan trọng?</a:t>
            </a:r>
            <a:endParaRPr sz="4050">
              <a:solidFill>
                <a:schemeClr val="dk1"/>
              </a:solidFill>
              <a:latin typeface="Times New Roman"/>
              <a:ea typeface="Times New Roman"/>
              <a:cs typeface="Times New Roman"/>
              <a:sym typeface="Times New Roman"/>
            </a:endParaRPr>
          </a:p>
        </p:txBody>
      </p:sp>
      <p:pic>
        <p:nvPicPr>
          <p:cNvPr descr="preencoded.png" id="120" name="Google Shape;120;p4"/>
          <p:cNvPicPr preferRelativeResize="0"/>
          <p:nvPr/>
        </p:nvPicPr>
        <p:blipFill rotWithShape="1">
          <a:blip r:embed="rId4">
            <a:alphaModFix/>
          </a:blip>
          <a:srcRect b="0" l="0" r="0" t="0"/>
          <a:stretch/>
        </p:blipFill>
        <p:spPr>
          <a:xfrm>
            <a:off x="721043" y="2182460"/>
            <a:ext cx="515064" cy="515064"/>
          </a:xfrm>
          <a:prstGeom prst="rect">
            <a:avLst/>
          </a:prstGeom>
          <a:noFill/>
          <a:ln>
            <a:noFill/>
          </a:ln>
        </p:spPr>
      </p:pic>
      <p:sp>
        <p:nvSpPr>
          <p:cNvPr id="121" name="Google Shape;121;p4"/>
          <p:cNvSpPr/>
          <p:nvPr/>
        </p:nvSpPr>
        <p:spPr>
          <a:xfrm>
            <a:off x="1493654" y="1971424"/>
            <a:ext cx="3477300" cy="329700"/>
          </a:xfrm>
          <a:prstGeom prst="rect">
            <a:avLst/>
          </a:prstGeom>
          <a:noFill/>
          <a:ln>
            <a:noFill/>
          </a:ln>
        </p:spPr>
        <p:txBody>
          <a:bodyPr anchorCtr="0" anchor="t" bIns="0" lIns="0" spcFirstLastPara="1" rIns="0" wrap="square" tIns="0">
            <a:noAutofit/>
          </a:bodyPr>
          <a:lstStyle/>
          <a:p>
            <a:pPr indent="0" lvl="0" marL="0" marR="0" rtl="0" algn="l">
              <a:lnSpc>
                <a:spcPct val="89285"/>
              </a:lnSpc>
              <a:spcBef>
                <a:spcPts val="0"/>
              </a:spcBef>
              <a:spcAft>
                <a:spcPts val="0"/>
              </a:spcAft>
              <a:buClr>
                <a:schemeClr val="dk1"/>
              </a:buClr>
              <a:buSzPts val="2800"/>
              <a:buFont typeface="Times New Roman"/>
              <a:buNone/>
            </a:pPr>
            <a:r>
              <a:rPr lang="en-US" sz="2800">
                <a:solidFill>
                  <a:schemeClr val="dk1"/>
                </a:solidFill>
                <a:latin typeface="Times New Roman"/>
                <a:ea typeface="Times New Roman"/>
                <a:cs typeface="Times New Roman"/>
                <a:sym typeface="Times New Roman"/>
              </a:rPr>
              <a:t>Tăng cường bảo mật</a:t>
            </a:r>
            <a:endParaRPr sz="2800">
              <a:solidFill>
                <a:schemeClr val="dk1"/>
              </a:solidFill>
              <a:latin typeface="Times New Roman"/>
              <a:ea typeface="Times New Roman"/>
              <a:cs typeface="Times New Roman"/>
              <a:sym typeface="Times New Roman"/>
            </a:endParaRPr>
          </a:p>
        </p:txBody>
      </p:sp>
      <p:sp>
        <p:nvSpPr>
          <p:cNvPr id="122" name="Google Shape;122;p4"/>
          <p:cNvSpPr/>
          <p:nvPr/>
        </p:nvSpPr>
        <p:spPr>
          <a:xfrm>
            <a:off x="1493639" y="2416850"/>
            <a:ext cx="6929318" cy="659130"/>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chemeClr val="dk1"/>
              </a:buClr>
              <a:buSzPts val="2000"/>
              <a:buFont typeface="Times New Roman"/>
              <a:buNone/>
            </a:pPr>
            <a:r>
              <a:rPr lang="en-US" sz="2000">
                <a:solidFill>
                  <a:schemeClr val="dk1"/>
                </a:solidFill>
                <a:latin typeface="Times New Roman"/>
                <a:ea typeface="Times New Roman"/>
                <a:cs typeface="Times New Roman"/>
                <a:sym typeface="Times New Roman"/>
              </a:rPr>
              <a:t>Giảm số lượng mật khẩu cần quản lý, tránh dùng mật khẩu yếu hoặc lặp lại.</a:t>
            </a:r>
            <a:endParaRPr sz="2000">
              <a:solidFill>
                <a:schemeClr val="dk1"/>
              </a:solidFill>
              <a:latin typeface="Times New Roman"/>
              <a:ea typeface="Times New Roman"/>
              <a:cs typeface="Times New Roman"/>
              <a:sym typeface="Times New Roman"/>
            </a:endParaRPr>
          </a:p>
        </p:txBody>
      </p:sp>
      <p:pic>
        <p:nvPicPr>
          <p:cNvPr descr="preencoded.png" id="123" name="Google Shape;123;p4"/>
          <p:cNvPicPr preferRelativeResize="0"/>
          <p:nvPr/>
        </p:nvPicPr>
        <p:blipFill rotWithShape="1">
          <a:blip r:embed="rId5">
            <a:alphaModFix/>
          </a:blip>
          <a:srcRect b="0" l="0" r="0" t="0"/>
          <a:stretch/>
        </p:blipFill>
        <p:spPr>
          <a:xfrm>
            <a:off x="711498" y="3870127"/>
            <a:ext cx="515064" cy="515064"/>
          </a:xfrm>
          <a:prstGeom prst="rect">
            <a:avLst/>
          </a:prstGeom>
          <a:noFill/>
          <a:ln>
            <a:noFill/>
          </a:ln>
        </p:spPr>
      </p:pic>
      <p:sp>
        <p:nvSpPr>
          <p:cNvPr id="124" name="Google Shape;124;p4"/>
          <p:cNvSpPr/>
          <p:nvPr/>
        </p:nvSpPr>
        <p:spPr>
          <a:xfrm>
            <a:off x="1493653" y="3610227"/>
            <a:ext cx="3288300" cy="355200"/>
          </a:xfrm>
          <a:prstGeom prst="rect">
            <a:avLst/>
          </a:prstGeom>
          <a:noFill/>
          <a:ln>
            <a:noFill/>
          </a:ln>
        </p:spPr>
        <p:txBody>
          <a:bodyPr anchorCtr="0" anchor="t" bIns="0" lIns="0" spcFirstLastPara="1" rIns="0" wrap="square" tIns="0">
            <a:noAutofit/>
          </a:bodyPr>
          <a:lstStyle/>
          <a:p>
            <a:pPr indent="0" lvl="0" marL="0" marR="0" rtl="0" algn="l">
              <a:lnSpc>
                <a:spcPct val="89285"/>
              </a:lnSpc>
              <a:spcBef>
                <a:spcPts val="0"/>
              </a:spcBef>
              <a:spcAft>
                <a:spcPts val="0"/>
              </a:spcAft>
              <a:buClr>
                <a:schemeClr val="dk1"/>
              </a:buClr>
              <a:buSzPts val="2800"/>
              <a:buFont typeface="Times New Roman"/>
              <a:buNone/>
            </a:pPr>
            <a:r>
              <a:rPr lang="en-US" sz="2800">
                <a:solidFill>
                  <a:schemeClr val="dk1"/>
                </a:solidFill>
                <a:latin typeface="Times New Roman"/>
                <a:ea typeface="Times New Roman"/>
                <a:cs typeface="Times New Roman"/>
                <a:sym typeface="Times New Roman"/>
              </a:rPr>
              <a:t>Cải thiện năng suất</a:t>
            </a:r>
            <a:endParaRPr sz="2800">
              <a:solidFill>
                <a:schemeClr val="dk1"/>
              </a:solidFill>
              <a:latin typeface="Times New Roman"/>
              <a:ea typeface="Times New Roman"/>
              <a:cs typeface="Times New Roman"/>
              <a:sym typeface="Times New Roman"/>
            </a:endParaRPr>
          </a:p>
        </p:txBody>
      </p:sp>
      <p:sp>
        <p:nvSpPr>
          <p:cNvPr id="125" name="Google Shape;125;p4"/>
          <p:cNvSpPr/>
          <p:nvPr/>
        </p:nvSpPr>
        <p:spPr>
          <a:xfrm>
            <a:off x="1493639" y="4055626"/>
            <a:ext cx="6929318" cy="659130"/>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chemeClr val="dk1"/>
              </a:buClr>
              <a:buSzPts val="2000"/>
              <a:buFont typeface="Times New Roman"/>
              <a:buNone/>
            </a:pPr>
            <a:r>
              <a:rPr lang="en-US" sz="2000">
                <a:solidFill>
                  <a:schemeClr val="dk1"/>
                </a:solidFill>
                <a:latin typeface="Times New Roman"/>
                <a:ea typeface="Times New Roman"/>
                <a:cs typeface="Times New Roman"/>
                <a:sym typeface="Times New Roman"/>
              </a:rPr>
              <a:t>Người dùng không cần nhập thông tin đăng nhập lặp lại, tiết kiệm thời gian.</a:t>
            </a:r>
            <a:endParaRPr sz="2000">
              <a:solidFill>
                <a:schemeClr val="dk1"/>
              </a:solidFill>
              <a:latin typeface="Times New Roman"/>
              <a:ea typeface="Times New Roman"/>
              <a:cs typeface="Times New Roman"/>
              <a:sym typeface="Times New Roman"/>
            </a:endParaRPr>
          </a:p>
        </p:txBody>
      </p:sp>
      <p:pic>
        <p:nvPicPr>
          <p:cNvPr descr="preencoded.png" id="126" name="Google Shape;126;p4"/>
          <p:cNvPicPr preferRelativeResize="0"/>
          <p:nvPr/>
        </p:nvPicPr>
        <p:blipFill rotWithShape="1">
          <a:blip r:embed="rId6">
            <a:alphaModFix/>
          </a:blip>
          <a:srcRect b="0" l="0" r="0" t="0"/>
          <a:stretch/>
        </p:blipFill>
        <p:spPr>
          <a:xfrm>
            <a:off x="721043" y="5344120"/>
            <a:ext cx="515064" cy="515064"/>
          </a:xfrm>
          <a:prstGeom prst="rect">
            <a:avLst/>
          </a:prstGeom>
          <a:noFill/>
          <a:ln>
            <a:noFill/>
          </a:ln>
        </p:spPr>
      </p:pic>
      <p:sp>
        <p:nvSpPr>
          <p:cNvPr id="127" name="Google Shape;127;p4"/>
          <p:cNvSpPr/>
          <p:nvPr/>
        </p:nvSpPr>
        <p:spPr>
          <a:xfrm>
            <a:off x="1493639" y="5248989"/>
            <a:ext cx="2575322" cy="321826"/>
          </a:xfrm>
          <a:prstGeom prst="rect">
            <a:avLst/>
          </a:prstGeom>
          <a:noFill/>
          <a:ln>
            <a:noFill/>
          </a:ln>
        </p:spPr>
        <p:txBody>
          <a:bodyPr anchorCtr="0" anchor="t" bIns="0" lIns="0" spcFirstLastPara="1" rIns="0" wrap="square" tIns="0">
            <a:noAutofit/>
          </a:bodyPr>
          <a:lstStyle/>
          <a:p>
            <a:pPr indent="0" lvl="0" marL="0" marR="0" rtl="0" algn="l">
              <a:lnSpc>
                <a:spcPct val="89285"/>
              </a:lnSpc>
              <a:spcBef>
                <a:spcPts val="0"/>
              </a:spcBef>
              <a:spcAft>
                <a:spcPts val="0"/>
              </a:spcAft>
              <a:buClr>
                <a:schemeClr val="dk1"/>
              </a:buClr>
              <a:buSzPts val="2800"/>
              <a:buFont typeface="Times New Roman"/>
              <a:buNone/>
            </a:pPr>
            <a:r>
              <a:rPr lang="en-US" sz="2800">
                <a:solidFill>
                  <a:schemeClr val="dk1"/>
                </a:solidFill>
                <a:latin typeface="Times New Roman"/>
                <a:ea typeface="Times New Roman"/>
                <a:cs typeface="Times New Roman"/>
                <a:sym typeface="Times New Roman"/>
              </a:rPr>
              <a:t>Giảm chi phí IT</a:t>
            </a:r>
            <a:endParaRPr sz="2800">
              <a:solidFill>
                <a:schemeClr val="dk1"/>
              </a:solidFill>
              <a:latin typeface="Times New Roman"/>
              <a:ea typeface="Times New Roman"/>
              <a:cs typeface="Times New Roman"/>
              <a:sym typeface="Times New Roman"/>
            </a:endParaRPr>
          </a:p>
        </p:txBody>
      </p:sp>
      <p:sp>
        <p:nvSpPr>
          <p:cNvPr id="128" name="Google Shape;128;p4"/>
          <p:cNvSpPr/>
          <p:nvPr/>
        </p:nvSpPr>
        <p:spPr>
          <a:xfrm>
            <a:off x="1493639" y="5694402"/>
            <a:ext cx="6929318" cy="329565"/>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chemeClr val="dk1"/>
              </a:buClr>
              <a:buSzPts val="2000"/>
              <a:buFont typeface="Times New Roman"/>
              <a:buNone/>
            </a:pPr>
            <a:r>
              <a:rPr lang="en-US" sz="2000">
                <a:solidFill>
                  <a:schemeClr val="dk1"/>
                </a:solidFill>
                <a:latin typeface="Times New Roman"/>
                <a:ea typeface="Times New Roman"/>
                <a:cs typeface="Times New Roman"/>
                <a:sym typeface="Times New Roman"/>
              </a:rPr>
              <a:t>Đơn giản hóa quản lý tài khoản và mật khẩu, giảm gánh nặng cho IT.</a:t>
            </a:r>
            <a:endParaRPr sz="2000">
              <a:solidFill>
                <a:schemeClr val="dk1"/>
              </a:solidFill>
              <a:latin typeface="Times New Roman"/>
              <a:ea typeface="Times New Roman"/>
              <a:cs typeface="Times New Roman"/>
              <a:sym typeface="Times New Roman"/>
            </a:endParaRPr>
          </a:p>
        </p:txBody>
      </p:sp>
      <p:pic>
        <p:nvPicPr>
          <p:cNvPr descr="preencoded.png" id="129" name="Google Shape;129;p4"/>
          <p:cNvPicPr preferRelativeResize="0"/>
          <p:nvPr/>
        </p:nvPicPr>
        <p:blipFill rotWithShape="1">
          <a:blip r:embed="rId7">
            <a:alphaModFix/>
          </a:blip>
          <a:srcRect b="0" l="0" r="0" t="0"/>
          <a:stretch/>
        </p:blipFill>
        <p:spPr>
          <a:xfrm>
            <a:off x="721043" y="6622495"/>
            <a:ext cx="515064" cy="515064"/>
          </a:xfrm>
          <a:prstGeom prst="rect">
            <a:avLst/>
          </a:prstGeom>
          <a:noFill/>
          <a:ln>
            <a:noFill/>
          </a:ln>
        </p:spPr>
      </p:pic>
      <p:sp>
        <p:nvSpPr>
          <p:cNvPr id="130" name="Google Shape;130;p4"/>
          <p:cNvSpPr/>
          <p:nvPr/>
        </p:nvSpPr>
        <p:spPr>
          <a:xfrm>
            <a:off x="1493653" y="6558200"/>
            <a:ext cx="3736800" cy="329700"/>
          </a:xfrm>
          <a:prstGeom prst="rect">
            <a:avLst/>
          </a:prstGeom>
          <a:noFill/>
          <a:ln>
            <a:noFill/>
          </a:ln>
        </p:spPr>
        <p:txBody>
          <a:bodyPr anchorCtr="0" anchor="t" bIns="0" lIns="0" spcFirstLastPara="1" rIns="0" wrap="square" tIns="0">
            <a:noAutofit/>
          </a:bodyPr>
          <a:lstStyle/>
          <a:p>
            <a:pPr indent="0" lvl="0" marL="0" marR="0" rtl="0" algn="l">
              <a:lnSpc>
                <a:spcPct val="89285"/>
              </a:lnSpc>
              <a:spcBef>
                <a:spcPts val="0"/>
              </a:spcBef>
              <a:spcAft>
                <a:spcPts val="0"/>
              </a:spcAft>
              <a:buClr>
                <a:schemeClr val="dk1"/>
              </a:buClr>
              <a:buSzPts val="2800"/>
              <a:buFont typeface="Times New Roman"/>
              <a:buNone/>
            </a:pPr>
            <a:r>
              <a:rPr lang="en-US" sz="2800">
                <a:solidFill>
                  <a:schemeClr val="dk1"/>
                </a:solidFill>
                <a:latin typeface="Times New Roman"/>
                <a:ea typeface="Times New Roman"/>
                <a:cs typeface="Times New Roman"/>
                <a:sym typeface="Times New Roman"/>
              </a:rPr>
              <a:t>Trải nghiệm người dùng</a:t>
            </a:r>
            <a:endParaRPr sz="2800">
              <a:solidFill>
                <a:schemeClr val="dk1"/>
              </a:solidFill>
              <a:latin typeface="Times New Roman"/>
              <a:ea typeface="Times New Roman"/>
              <a:cs typeface="Times New Roman"/>
              <a:sym typeface="Times New Roman"/>
            </a:endParaRPr>
          </a:p>
        </p:txBody>
      </p:sp>
      <p:sp>
        <p:nvSpPr>
          <p:cNvPr id="131" name="Google Shape;131;p4"/>
          <p:cNvSpPr/>
          <p:nvPr/>
        </p:nvSpPr>
        <p:spPr>
          <a:xfrm>
            <a:off x="1493639" y="7003613"/>
            <a:ext cx="6929318" cy="329565"/>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chemeClr val="dk1"/>
              </a:buClr>
              <a:buSzPts val="2000"/>
              <a:buFont typeface="Times New Roman"/>
              <a:buNone/>
            </a:pPr>
            <a:r>
              <a:rPr lang="en-US" sz="2000">
                <a:solidFill>
                  <a:schemeClr val="dk1"/>
                </a:solidFill>
                <a:latin typeface="Times New Roman"/>
                <a:ea typeface="Times New Roman"/>
                <a:cs typeface="Times New Roman"/>
                <a:sym typeface="Times New Roman"/>
              </a:rPr>
              <a:t>Trải nghiệm mượt mà, không cần nhớ nhiều mật khẩu, tăng sự hài lòng.</a:t>
            </a:r>
            <a:endParaRPr sz="2000">
              <a:solidFill>
                <a:schemeClr val="dk1"/>
              </a:solidFill>
              <a:latin typeface="Times New Roman"/>
              <a:ea typeface="Times New Roman"/>
              <a:cs typeface="Times New Roman"/>
              <a:sym typeface="Times New Roman"/>
            </a:endParaRPr>
          </a:p>
        </p:txBody>
      </p:sp>
      <p:sp>
        <p:nvSpPr>
          <p:cNvPr id="132" name="Google Shape;132;p4"/>
          <p:cNvSpPr/>
          <p:nvPr/>
        </p:nvSpPr>
        <p:spPr>
          <a:xfrm>
            <a:off x="13002322" y="7534178"/>
            <a:ext cx="1393902" cy="490654"/>
          </a:xfrm>
          <a:prstGeom prst="ellipse">
            <a:avLst/>
          </a:prstGeom>
          <a:solidFill>
            <a:schemeClr val="l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 name="Google Shape;133;p4"/>
          <p:cNvSpPr txBox="1"/>
          <p:nvPr/>
        </p:nvSpPr>
        <p:spPr>
          <a:xfrm>
            <a:off x="13225346" y="7548672"/>
            <a:ext cx="94785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Times New Roman"/>
                <a:ea typeface="Times New Roman"/>
                <a:cs typeface="Times New Roman"/>
                <a:sym typeface="Times New Roman"/>
              </a:rPr>
              <a:t>4</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5"/>
          <p:cNvSpPr/>
          <p:nvPr/>
        </p:nvSpPr>
        <p:spPr>
          <a:xfrm>
            <a:off x="793790" y="1251109"/>
            <a:ext cx="10830401"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4B6981"/>
              </a:buClr>
              <a:buSzPts val="4450"/>
              <a:buFont typeface="Times New Roman"/>
              <a:buNone/>
            </a:pPr>
            <a:r>
              <a:rPr lang="en-US" sz="4450">
                <a:solidFill>
                  <a:srgbClr val="4B6981"/>
                </a:solidFill>
                <a:latin typeface="Times New Roman"/>
                <a:ea typeface="Times New Roman"/>
                <a:cs typeface="Times New Roman"/>
                <a:sym typeface="Times New Roman"/>
              </a:rPr>
              <a:t>Các thành phần chính trong hệ thống SSO</a:t>
            </a:r>
            <a:endParaRPr sz="4450">
              <a:solidFill>
                <a:schemeClr val="dk1"/>
              </a:solidFill>
              <a:latin typeface="Times New Roman"/>
              <a:ea typeface="Times New Roman"/>
              <a:cs typeface="Times New Roman"/>
              <a:sym typeface="Times New Roman"/>
            </a:endParaRPr>
          </a:p>
        </p:txBody>
      </p:sp>
      <p:sp>
        <p:nvSpPr>
          <p:cNvPr id="140" name="Google Shape;140;p5"/>
          <p:cNvSpPr/>
          <p:nvPr/>
        </p:nvSpPr>
        <p:spPr>
          <a:xfrm>
            <a:off x="1003601" y="2770800"/>
            <a:ext cx="3688800" cy="354300"/>
          </a:xfrm>
          <a:prstGeom prst="rect">
            <a:avLst/>
          </a:prstGeom>
          <a:noFill/>
          <a:ln>
            <a:noFill/>
          </a:ln>
        </p:spPr>
        <p:txBody>
          <a:bodyPr anchorCtr="0" anchor="t" bIns="0" lIns="0" spcFirstLastPara="1" rIns="0" wrap="square" tIns="0">
            <a:noAutofit/>
          </a:bodyPr>
          <a:lstStyle/>
          <a:p>
            <a:pPr indent="0" lvl="0" marL="0" marR="0" rtl="0" algn="r">
              <a:lnSpc>
                <a:spcPct val="98214"/>
              </a:lnSpc>
              <a:spcBef>
                <a:spcPts val="0"/>
              </a:spcBef>
              <a:spcAft>
                <a:spcPts val="0"/>
              </a:spcAft>
              <a:buClr>
                <a:schemeClr val="dk1"/>
              </a:buClr>
              <a:buSzPts val="2800"/>
              <a:buFont typeface="Times New Roman"/>
              <a:buNone/>
            </a:pPr>
            <a:r>
              <a:rPr lang="en-US" sz="2800">
                <a:solidFill>
                  <a:schemeClr val="dk1"/>
                </a:solidFill>
                <a:latin typeface="Times New Roman"/>
                <a:ea typeface="Times New Roman"/>
                <a:cs typeface="Times New Roman"/>
                <a:sym typeface="Times New Roman"/>
              </a:rPr>
              <a:t>Identity Provider (IdP)</a:t>
            </a:r>
            <a:endParaRPr sz="2800">
              <a:solidFill>
                <a:schemeClr val="dk1"/>
              </a:solidFill>
              <a:latin typeface="Times New Roman"/>
              <a:ea typeface="Times New Roman"/>
              <a:cs typeface="Times New Roman"/>
              <a:sym typeface="Times New Roman"/>
            </a:endParaRPr>
          </a:p>
        </p:txBody>
      </p:sp>
      <p:sp>
        <p:nvSpPr>
          <p:cNvPr id="141" name="Google Shape;141;p5"/>
          <p:cNvSpPr/>
          <p:nvPr/>
        </p:nvSpPr>
        <p:spPr>
          <a:xfrm>
            <a:off x="793790" y="3261241"/>
            <a:ext cx="3898702" cy="725805"/>
          </a:xfrm>
          <a:prstGeom prst="rect">
            <a:avLst/>
          </a:prstGeom>
          <a:noFill/>
          <a:ln>
            <a:noFill/>
          </a:ln>
        </p:spPr>
        <p:txBody>
          <a:bodyPr anchorCtr="0" anchor="t" bIns="0" lIns="0" spcFirstLastPara="1" rIns="0" wrap="square" tIns="0">
            <a:noAutofit/>
          </a:bodyPr>
          <a:lstStyle/>
          <a:p>
            <a:pPr indent="0" lvl="0" marL="0" marR="0" rtl="0" algn="r">
              <a:lnSpc>
                <a:spcPct val="142500"/>
              </a:lnSpc>
              <a:spcBef>
                <a:spcPts val="0"/>
              </a:spcBef>
              <a:spcAft>
                <a:spcPts val="0"/>
              </a:spcAft>
              <a:buClr>
                <a:schemeClr val="dk1"/>
              </a:buClr>
              <a:buSzPts val="2000"/>
              <a:buFont typeface="Times New Roman"/>
              <a:buNone/>
            </a:pPr>
            <a:r>
              <a:rPr lang="en-US" sz="2000">
                <a:solidFill>
                  <a:schemeClr val="dk1"/>
                </a:solidFill>
                <a:latin typeface="Times New Roman"/>
                <a:ea typeface="Times New Roman"/>
                <a:cs typeface="Times New Roman"/>
                <a:sym typeface="Times New Roman"/>
              </a:rPr>
              <a:t>Nơi xác minh danh tính người dùng (ví dụ: Google, Facebook).</a:t>
            </a:r>
            <a:endParaRPr sz="2000">
              <a:solidFill>
                <a:schemeClr val="dk1"/>
              </a:solidFill>
              <a:latin typeface="Times New Roman"/>
              <a:ea typeface="Times New Roman"/>
              <a:cs typeface="Times New Roman"/>
              <a:sym typeface="Times New Roman"/>
            </a:endParaRPr>
          </a:p>
        </p:txBody>
      </p:sp>
      <p:pic>
        <p:nvPicPr>
          <p:cNvPr descr="preencoded.png" id="142" name="Google Shape;142;p5"/>
          <p:cNvPicPr preferRelativeResize="0"/>
          <p:nvPr/>
        </p:nvPicPr>
        <p:blipFill rotWithShape="1">
          <a:blip r:embed="rId3">
            <a:alphaModFix/>
          </a:blip>
          <a:srcRect b="0" l="0" r="0" t="0"/>
          <a:stretch/>
        </p:blipFill>
        <p:spPr>
          <a:xfrm>
            <a:off x="5032653" y="2413516"/>
            <a:ext cx="4564975" cy="4564975"/>
          </a:xfrm>
          <a:prstGeom prst="rect">
            <a:avLst/>
          </a:prstGeom>
          <a:noFill/>
          <a:ln>
            <a:noFill/>
          </a:ln>
        </p:spPr>
      </p:pic>
      <p:pic>
        <p:nvPicPr>
          <p:cNvPr descr="preencoded.png" id="143" name="Google Shape;143;p5"/>
          <p:cNvPicPr preferRelativeResize="0"/>
          <p:nvPr/>
        </p:nvPicPr>
        <p:blipFill rotWithShape="1">
          <a:blip r:embed="rId4">
            <a:alphaModFix/>
          </a:blip>
          <a:srcRect b="0" l="0" r="0" t="0"/>
          <a:stretch/>
        </p:blipFill>
        <p:spPr>
          <a:xfrm>
            <a:off x="6226731" y="3176588"/>
            <a:ext cx="339328" cy="424220"/>
          </a:xfrm>
          <a:prstGeom prst="rect">
            <a:avLst/>
          </a:prstGeom>
          <a:noFill/>
          <a:ln>
            <a:noFill/>
          </a:ln>
        </p:spPr>
      </p:pic>
      <p:sp>
        <p:nvSpPr>
          <p:cNvPr id="144" name="Google Shape;144;p5"/>
          <p:cNvSpPr/>
          <p:nvPr/>
        </p:nvSpPr>
        <p:spPr>
          <a:xfrm>
            <a:off x="9937803" y="2770825"/>
            <a:ext cx="3605100" cy="354300"/>
          </a:xfrm>
          <a:prstGeom prst="rect">
            <a:avLst/>
          </a:prstGeom>
          <a:noFill/>
          <a:ln>
            <a:noFill/>
          </a:ln>
        </p:spPr>
        <p:txBody>
          <a:bodyPr anchorCtr="0" anchor="t" bIns="0" lIns="0" spcFirstLastPara="1" rIns="0" wrap="square" tIns="0">
            <a:noAutofit/>
          </a:bodyPr>
          <a:lstStyle/>
          <a:p>
            <a:pPr indent="0" lvl="0" marL="0" marR="0" rtl="0" algn="l">
              <a:lnSpc>
                <a:spcPct val="98214"/>
              </a:lnSpc>
              <a:spcBef>
                <a:spcPts val="0"/>
              </a:spcBef>
              <a:spcAft>
                <a:spcPts val="0"/>
              </a:spcAft>
              <a:buClr>
                <a:schemeClr val="dk1"/>
              </a:buClr>
              <a:buSzPts val="2800"/>
              <a:buFont typeface="Times New Roman"/>
              <a:buNone/>
            </a:pPr>
            <a:r>
              <a:rPr lang="en-US" sz="2800">
                <a:solidFill>
                  <a:schemeClr val="dk1"/>
                </a:solidFill>
                <a:latin typeface="Times New Roman"/>
                <a:ea typeface="Times New Roman"/>
                <a:cs typeface="Times New Roman"/>
                <a:sym typeface="Times New Roman"/>
              </a:rPr>
              <a:t>Service Provider (SP)</a:t>
            </a:r>
            <a:endParaRPr sz="2800">
              <a:solidFill>
                <a:schemeClr val="dk1"/>
              </a:solidFill>
              <a:latin typeface="Times New Roman"/>
              <a:ea typeface="Times New Roman"/>
              <a:cs typeface="Times New Roman"/>
              <a:sym typeface="Times New Roman"/>
            </a:endParaRPr>
          </a:p>
        </p:txBody>
      </p:sp>
      <p:sp>
        <p:nvSpPr>
          <p:cNvPr id="145" name="Google Shape;145;p5"/>
          <p:cNvSpPr/>
          <p:nvPr/>
        </p:nvSpPr>
        <p:spPr>
          <a:xfrm>
            <a:off x="9937790" y="3261241"/>
            <a:ext cx="3898821" cy="725805"/>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chemeClr val="dk1"/>
              </a:buClr>
              <a:buSzPts val="2000"/>
              <a:buFont typeface="Times New Roman"/>
              <a:buNone/>
            </a:pPr>
            <a:r>
              <a:rPr lang="en-US" sz="2000">
                <a:solidFill>
                  <a:schemeClr val="dk1"/>
                </a:solidFill>
                <a:latin typeface="Times New Roman"/>
                <a:ea typeface="Times New Roman"/>
                <a:cs typeface="Times New Roman"/>
                <a:sym typeface="Times New Roman"/>
              </a:rPr>
              <a:t>Ứng dụng/website người dùng muốn truy cập, tin tưởng IdP.</a:t>
            </a:r>
            <a:endParaRPr sz="2000">
              <a:solidFill>
                <a:schemeClr val="dk1"/>
              </a:solidFill>
              <a:latin typeface="Times New Roman"/>
              <a:ea typeface="Times New Roman"/>
              <a:cs typeface="Times New Roman"/>
              <a:sym typeface="Times New Roman"/>
            </a:endParaRPr>
          </a:p>
        </p:txBody>
      </p:sp>
      <p:pic>
        <p:nvPicPr>
          <p:cNvPr descr="preencoded.png" id="146" name="Google Shape;146;p5"/>
          <p:cNvPicPr preferRelativeResize="0"/>
          <p:nvPr/>
        </p:nvPicPr>
        <p:blipFill rotWithShape="1">
          <a:blip r:embed="rId5">
            <a:alphaModFix/>
          </a:blip>
          <a:srcRect b="0" l="0" r="0" t="0"/>
          <a:stretch/>
        </p:blipFill>
        <p:spPr>
          <a:xfrm>
            <a:off x="5032653" y="2413516"/>
            <a:ext cx="4564975" cy="4564975"/>
          </a:xfrm>
          <a:prstGeom prst="rect">
            <a:avLst/>
          </a:prstGeom>
          <a:noFill/>
          <a:ln>
            <a:noFill/>
          </a:ln>
        </p:spPr>
      </p:pic>
      <p:pic>
        <p:nvPicPr>
          <p:cNvPr descr="preencoded.png" id="147" name="Google Shape;147;p5"/>
          <p:cNvPicPr preferRelativeResize="0"/>
          <p:nvPr/>
        </p:nvPicPr>
        <p:blipFill rotWithShape="1">
          <a:blip r:embed="rId6">
            <a:alphaModFix/>
          </a:blip>
          <a:srcRect b="0" l="0" r="0" t="0"/>
          <a:stretch/>
        </p:blipFill>
        <p:spPr>
          <a:xfrm>
            <a:off x="8452604" y="3565088"/>
            <a:ext cx="339328" cy="424220"/>
          </a:xfrm>
          <a:prstGeom prst="rect">
            <a:avLst/>
          </a:prstGeom>
          <a:noFill/>
          <a:ln>
            <a:noFill/>
          </a:ln>
        </p:spPr>
      </p:pic>
      <p:sp>
        <p:nvSpPr>
          <p:cNvPr id="148" name="Google Shape;148;p5"/>
          <p:cNvSpPr/>
          <p:nvPr/>
        </p:nvSpPr>
        <p:spPr>
          <a:xfrm>
            <a:off x="9937790" y="5223391"/>
            <a:ext cx="2835235" cy="354330"/>
          </a:xfrm>
          <a:prstGeom prst="rect">
            <a:avLst/>
          </a:prstGeom>
          <a:noFill/>
          <a:ln>
            <a:noFill/>
          </a:ln>
        </p:spPr>
        <p:txBody>
          <a:bodyPr anchorCtr="0" anchor="t" bIns="0" lIns="0" spcFirstLastPara="1" rIns="0" wrap="square" tIns="0">
            <a:noAutofit/>
          </a:bodyPr>
          <a:lstStyle/>
          <a:p>
            <a:pPr indent="0" lvl="0" marL="0" marR="0" rtl="0" algn="l">
              <a:lnSpc>
                <a:spcPct val="98214"/>
              </a:lnSpc>
              <a:spcBef>
                <a:spcPts val="0"/>
              </a:spcBef>
              <a:spcAft>
                <a:spcPts val="0"/>
              </a:spcAft>
              <a:buClr>
                <a:schemeClr val="dk1"/>
              </a:buClr>
              <a:buSzPts val="2800"/>
              <a:buFont typeface="Times New Roman"/>
              <a:buNone/>
            </a:pPr>
            <a:r>
              <a:rPr lang="en-US" sz="2800">
                <a:solidFill>
                  <a:schemeClr val="dk1"/>
                </a:solidFill>
                <a:latin typeface="Times New Roman"/>
                <a:ea typeface="Times New Roman"/>
                <a:cs typeface="Times New Roman"/>
                <a:sym typeface="Times New Roman"/>
              </a:rPr>
              <a:t>Session</a:t>
            </a:r>
            <a:endParaRPr sz="2800">
              <a:solidFill>
                <a:schemeClr val="dk1"/>
              </a:solidFill>
              <a:latin typeface="Times New Roman"/>
              <a:ea typeface="Times New Roman"/>
              <a:cs typeface="Times New Roman"/>
              <a:sym typeface="Times New Roman"/>
            </a:endParaRPr>
          </a:p>
        </p:txBody>
      </p:sp>
      <p:sp>
        <p:nvSpPr>
          <p:cNvPr id="149" name="Google Shape;149;p5"/>
          <p:cNvSpPr/>
          <p:nvPr/>
        </p:nvSpPr>
        <p:spPr>
          <a:xfrm>
            <a:off x="9937790" y="5713809"/>
            <a:ext cx="3898821" cy="725805"/>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chemeClr val="dk1"/>
              </a:buClr>
              <a:buSzPts val="2000"/>
              <a:buFont typeface="Times New Roman"/>
              <a:buNone/>
            </a:pPr>
            <a:r>
              <a:rPr lang="en-US" sz="2000">
                <a:solidFill>
                  <a:schemeClr val="dk1"/>
                </a:solidFill>
                <a:latin typeface="Times New Roman"/>
                <a:ea typeface="Times New Roman"/>
                <a:cs typeface="Times New Roman"/>
                <a:sym typeface="Times New Roman"/>
              </a:rPr>
              <a:t>Khoảng thời gian người dùng đã đăng nhập, lưu giữ thông tin.</a:t>
            </a:r>
            <a:endParaRPr sz="2000">
              <a:solidFill>
                <a:schemeClr val="dk1"/>
              </a:solidFill>
              <a:latin typeface="Times New Roman"/>
              <a:ea typeface="Times New Roman"/>
              <a:cs typeface="Times New Roman"/>
              <a:sym typeface="Times New Roman"/>
            </a:endParaRPr>
          </a:p>
        </p:txBody>
      </p:sp>
      <p:pic>
        <p:nvPicPr>
          <p:cNvPr descr="preencoded.png" id="150" name="Google Shape;150;p5"/>
          <p:cNvPicPr preferRelativeResize="0"/>
          <p:nvPr/>
        </p:nvPicPr>
        <p:blipFill rotWithShape="1">
          <a:blip r:embed="rId7">
            <a:alphaModFix/>
          </a:blip>
          <a:srcRect b="0" l="0" r="0" t="0"/>
          <a:stretch/>
        </p:blipFill>
        <p:spPr>
          <a:xfrm>
            <a:off x="5032653" y="2413516"/>
            <a:ext cx="4564975" cy="4564975"/>
          </a:xfrm>
          <a:prstGeom prst="rect">
            <a:avLst/>
          </a:prstGeom>
          <a:noFill/>
          <a:ln>
            <a:noFill/>
          </a:ln>
        </p:spPr>
      </p:pic>
      <p:pic>
        <p:nvPicPr>
          <p:cNvPr descr="preencoded.png" id="151" name="Google Shape;151;p5"/>
          <p:cNvPicPr preferRelativeResize="0"/>
          <p:nvPr/>
        </p:nvPicPr>
        <p:blipFill rotWithShape="1">
          <a:blip r:embed="rId8">
            <a:alphaModFix/>
          </a:blip>
          <a:srcRect b="0" l="0" r="0" t="0"/>
          <a:stretch/>
        </p:blipFill>
        <p:spPr>
          <a:xfrm>
            <a:off x="8064103" y="5790962"/>
            <a:ext cx="339328" cy="424220"/>
          </a:xfrm>
          <a:prstGeom prst="rect">
            <a:avLst/>
          </a:prstGeom>
          <a:noFill/>
          <a:ln>
            <a:noFill/>
          </a:ln>
        </p:spPr>
      </p:pic>
      <p:sp>
        <p:nvSpPr>
          <p:cNvPr id="152" name="Google Shape;152;p5"/>
          <p:cNvSpPr/>
          <p:nvPr/>
        </p:nvSpPr>
        <p:spPr>
          <a:xfrm>
            <a:off x="1857256" y="5041940"/>
            <a:ext cx="2835235" cy="354330"/>
          </a:xfrm>
          <a:prstGeom prst="rect">
            <a:avLst/>
          </a:prstGeom>
          <a:noFill/>
          <a:ln>
            <a:noFill/>
          </a:ln>
        </p:spPr>
        <p:txBody>
          <a:bodyPr anchorCtr="0" anchor="t" bIns="0" lIns="0" spcFirstLastPara="1" rIns="0" wrap="square" tIns="0">
            <a:noAutofit/>
          </a:bodyPr>
          <a:lstStyle/>
          <a:p>
            <a:pPr indent="0" lvl="0" marL="0" marR="0" rtl="0" algn="r">
              <a:lnSpc>
                <a:spcPct val="98214"/>
              </a:lnSpc>
              <a:spcBef>
                <a:spcPts val="0"/>
              </a:spcBef>
              <a:spcAft>
                <a:spcPts val="0"/>
              </a:spcAft>
              <a:buClr>
                <a:schemeClr val="dk1"/>
              </a:buClr>
              <a:buSzPts val="2800"/>
              <a:buFont typeface="Times New Roman"/>
              <a:buNone/>
            </a:pPr>
            <a:r>
              <a:rPr lang="en-US" sz="2800">
                <a:solidFill>
                  <a:schemeClr val="dk1"/>
                </a:solidFill>
                <a:latin typeface="Times New Roman"/>
                <a:ea typeface="Times New Roman"/>
                <a:cs typeface="Times New Roman"/>
                <a:sym typeface="Times New Roman"/>
              </a:rPr>
              <a:t>Token</a:t>
            </a:r>
            <a:endParaRPr sz="2800">
              <a:solidFill>
                <a:schemeClr val="dk1"/>
              </a:solidFill>
              <a:latin typeface="Times New Roman"/>
              <a:ea typeface="Times New Roman"/>
              <a:cs typeface="Times New Roman"/>
              <a:sym typeface="Times New Roman"/>
            </a:endParaRPr>
          </a:p>
        </p:txBody>
      </p:sp>
      <p:sp>
        <p:nvSpPr>
          <p:cNvPr id="153" name="Google Shape;153;p5"/>
          <p:cNvSpPr/>
          <p:nvPr/>
        </p:nvSpPr>
        <p:spPr>
          <a:xfrm>
            <a:off x="793790" y="5532358"/>
            <a:ext cx="3898702" cy="1088708"/>
          </a:xfrm>
          <a:prstGeom prst="rect">
            <a:avLst/>
          </a:prstGeom>
          <a:noFill/>
          <a:ln>
            <a:noFill/>
          </a:ln>
        </p:spPr>
        <p:txBody>
          <a:bodyPr anchorCtr="0" anchor="t" bIns="0" lIns="0" spcFirstLastPara="1" rIns="0" wrap="square" tIns="0">
            <a:noAutofit/>
          </a:bodyPr>
          <a:lstStyle/>
          <a:p>
            <a:pPr indent="0" lvl="0" marL="0" marR="0" rtl="0" algn="r">
              <a:lnSpc>
                <a:spcPct val="142500"/>
              </a:lnSpc>
              <a:spcBef>
                <a:spcPts val="0"/>
              </a:spcBef>
              <a:spcAft>
                <a:spcPts val="0"/>
              </a:spcAft>
              <a:buClr>
                <a:schemeClr val="dk1"/>
              </a:buClr>
              <a:buSzPts val="2000"/>
              <a:buFont typeface="Times New Roman"/>
              <a:buNone/>
            </a:pPr>
            <a:r>
              <a:rPr lang="en-US" sz="2000">
                <a:solidFill>
                  <a:schemeClr val="dk1"/>
                </a:solidFill>
                <a:latin typeface="Times New Roman"/>
                <a:ea typeface="Times New Roman"/>
                <a:cs typeface="Times New Roman"/>
                <a:sym typeface="Times New Roman"/>
              </a:rPr>
              <a:t>Chuỗi mã hóa đại diện phiên làm việc, IdP gửi cho SP để xác nhận danh tính.</a:t>
            </a:r>
            <a:endParaRPr sz="2000">
              <a:solidFill>
                <a:schemeClr val="dk1"/>
              </a:solidFill>
              <a:latin typeface="Times New Roman"/>
              <a:ea typeface="Times New Roman"/>
              <a:cs typeface="Times New Roman"/>
              <a:sym typeface="Times New Roman"/>
            </a:endParaRPr>
          </a:p>
        </p:txBody>
      </p:sp>
      <p:pic>
        <p:nvPicPr>
          <p:cNvPr descr="preencoded.png" id="154" name="Google Shape;154;p5"/>
          <p:cNvPicPr preferRelativeResize="0"/>
          <p:nvPr/>
        </p:nvPicPr>
        <p:blipFill rotWithShape="1">
          <a:blip r:embed="rId9">
            <a:alphaModFix/>
          </a:blip>
          <a:srcRect b="0" l="0" r="0" t="0"/>
          <a:stretch/>
        </p:blipFill>
        <p:spPr>
          <a:xfrm>
            <a:off x="5032653" y="2413516"/>
            <a:ext cx="4564975" cy="4564975"/>
          </a:xfrm>
          <a:prstGeom prst="rect">
            <a:avLst/>
          </a:prstGeom>
          <a:noFill/>
          <a:ln>
            <a:noFill/>
          </a:ln>
        </p:spPr>
      </p:pic>
      <p:pic>
        <p:nvPicPr>
          <p:cNvPr descr="preencoded.png" id="155" name="Google Shape;155;p5"/>
          <p:cNvPicPr preferRelativeResize="0"/>
          <p:nvPr/>
        </p:nvPicPr>
        <p:blipFill rotWithShape="1">
          <a:blip r:embed="rId10">
            <a:alphaModFix/>
          </a:blip>
          <a:srcRect b="0" l="0" r="0" t="0"/>
          <a:stretch/>
        </p:blipFill>
        <p:spPr>
          <a:xfrm>
            <a:off x="5838230" y="5402461"/>
            <a:ext cx="339328" cy="424220"/>
          </a:xfrm>
          <a:prstGeom prst="rect">
            <a:avLst/>
          </a:prstGeom>
          <a:noFill/>
          <a:ln>
            <a:noFill/>
          </a:ln>
        </p:spPr>
      </p:pic>
      <p:pic>
        <p:nvPicPr>
          <p:cNvPr id="156" name="Google Shape;156;p5"/>
          <p:cNvPicPr preferRelativeResize="0"/>
          <p:nvPr/>
        </p:nvPicPr>
        <p:blipFill rotWithShape="1">
          <a:blip r:embed="rId11">
            <a:alphaModFix/>
          </a:blip>
          <a:srcRect b="0" l="0" r="0" t="0"/>
          <a:stretch/>
        </p:blipFill>
        <p:spPr>
          <a:xfrm>
            <a:off x="10400710" y="7486546"/>
            <a:ext cx="4229690" cy="743054"/>
          </a:xfrm>
          <a:prstGeom prst="rect">
            <a:avLst/>
          </a:prstGeom>
          <a:noFill/>
          <a:ln>
            <a:noFill/>
          </a:ln>
        </p:spPr>
      </p:pic>
      <p:sp>
        <p:nvSpPr>
          <p:cNvPr id="157" name="Google Shape;157;p5"/>
          <p:cNvSpPr/>
          <p:nvPr/>
        </p:nvSpPr>
        <p:spPr>
          <a:xfrm>
            <a:off x="13002322" y="7534178"/>
            <a:ext cx="1393902" cy="490654"/>
          </a:xfrm>
          <a:prstGeom prst="ellipse">
            <a:avLst/>
          </a:prstGeom>
          <a:solidFill>
            <a:schemeClr val="l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 name="Google Shape;158;p5"/>
          <p:cNvSpPr txBox="1"/>
          <p:nvPr/>
        </p:nvSpPr>
        <p:spPr>
          <a:xfrm>
            <a:off x="13225346" y="7548672"/>
            <a:ext cx="94785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Times New Roman"/>
                <a:ea typeface="Times New Roman"/>
                <a:cs typeface="Times New Roman"/>
                <a:sym typeface="Times New Roman"/>
              </a:rPr>
              <a:t>5</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6"/>
          <p:cNvPicPr preferRelativeResize="0"/>
          <p:nvPr/>
        </p:nvPicPr>
        <p:blipFill rotWithShape="1">
          <a:blip r:embed="rId3">
            <a:alphaModFix/>
          </a:blip>
          <a:srcRect b="0" l="0" r="0" t="0"/>
          <a:stretch/>
        </p:blipFill>
        <p:spPr>
          <a:xfrm>
            <a:off x="12229764" y="7742133"/>
            <a:ext cx="2400635" cy="476316"/>
          </a:xfrm>
          <a:prstGeom prst="rect">
            <a:avLst/>
          </a:prstGeom>
          <a:noFill/>
          <a:ln>
            <a:noFill/>
          </a:ln>
        </p:spPr>
      </p:pic>
      <p:sp>
        <p:nvSpPr>
          <p:cNvPr id="165" name="Google Shape;165;p6"/>
          <p:cNvSpPr/>
          <p:nvPr/>
        </p:nvSpPr>
        <p:spPr>
          <a:xfrm>
            <a:off x="788748" y="376375"/>
            <a:ext cx="9081900" cy="7074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4B6981"/>
              </a:buClr>
              <a:buSzPts val="4450"/>
              <a:buFont typeface="Playfair Display SemiBold"/>
              <a:buNone/>
            </a:pPr>
            <a:r>
              <a:rPr b="1" lang="en-US" sz="4450">
                <a:solidFill>
                  <a:srgbClr val="4B6981"/>
                </a:solidFill>
                <a:latin typeface="Playfair Display SemiBold"/>
                <a:ea typeface="Playfair Display SemiBold"/>
                <a:cs typeface="Playfair Display SemiBold"/>
                <a:sym typeface="Playfair Display SemiBold"/>
              </a:rPr>
              <a:t>Cách thức hoạt động của SSO</a:t>
            </a:r>
            <a:endParaRPr sz="4450">
              <a:solidFill>
                <a:schemeClr val="dk1"/>
              </a:solidFill>
              <a:latin typeface="Calibri"/>
              <a:ea typeface="Calibri"/>
              <a:cs typeface="Calibri"/>
              <a:sym typeface="Calibri"/>
            </a:endParaRPr>
          </a:p>
        </p:txBody>
      </p:sp>
      <p:sp>
        <p:nvSpPr>
          <p:cNvPr id="166" name="Google Shape;166;p6"/>
          <p:cNvSpPr/>
          <p:nvPr/>
        </p:nvSpPr>
        <p:spPr>
          <a:xfrm>
            <a:off x="791528" y="1923753"/>
            <a:ext cx="6409611" cy="30480"/>
          </a:xfrm>
          <a:prstGeom prst="rect">
            <a:avLst/>
          </a:prstGeom>
          <a:solidFill>
            <a:srgbClr val="E1C2C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6"/>
          <p:cNvSpPr/>
          <p:nvPr/>
        </p:nvSpPr>
        <p:spPr>
          <a:xfrm>
            <a:off x="791290" y="1520005"/>
            <a:ext cx="2829997" cy="35373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chemeClr val="dk1"/>
              </a:buClr>
              <a:buSzPts val="2200"/>
              <a:buFont typeface="Times New Roman"/>
              <a:buNone/>
            </a:pPr>
            <a:r>
              <a:rPr lang="en-US" sz="2200">
                <a:solidFill>
                  <a:schemeClr val="dk1"/>
                </a:solidFill>
                <a:latin typeface="Times New Roman"/>
                <a:ea typeface="Times New Roman"/>
                <a:cs typeface="Times New Roman"/>
                <a:sym typeface="Times New Roman"/>
              </a:rPr>
              <a:t>Truy cập SP</a:t>
            </a:r>
            <a:endParaRPr sz="2200">
              <a:solidFill>
                <a:schemeClr val="dk1"/>
              </a:solidFill>
              <a:latin typeface="Times New Roman"/>
              <a:ea typeface="Times New Roman"/>
              <a:cs typeface="Times New Roman"/>
              <a:sym typeface="Times New Roman"/>
            </a:endParaRPr>
          </a:p>
        </p:txBody>
      </p:sp>
      <p:sp>
        <p:nvSpPr>
          <p:cNvPr id="168" name="Google Shape;168;p6"/>
          <p:cNvSpPr/>
          <p:nvPr/>
        </p:nvSpPr>
        <p:spPr>
          <a:xfrm>
            <a:off x="788879" y="2006207"/>
            <a:ext cx="5274735" cy="362307"/>
          </a:xfrm>
          <a:prstGeom prst="rect">
            <a:avLst/>
          </a:prstGeom>
          <a:noFill/>
          <a:ln>
            <a:noFill/>
          </a:ln>
        </p:spPr>
        <p:txBody>
          <a:bodyPr anchorCtr="0" anchor="t" bIns="0" lIns="0" spcFirstLastPara="1" rIns="0" wrap="square" tIns="0">
            <a:noAutofit/>
          </a:bodyPr>
          <a:lstStyle/>
          <a:p>
            <a:pPr indent="0" lvl="0" marL="0" marR="0" rtl="0" algn="l">
              <a:lnSpc>
                <a:spcPct val="158333"/>
              </a:lnSpc>
              <a:spcBef>
                <a:spcPts val="0"/>
              </a:spcBef>
              <a:spcAft>
                <a:spcPts val="0"/>
              </a:spcAft>
              <a:buNone/>
            </a:pPr>
            <a:r>
              <a:rPr lang="en-US" sz="1800">
                <a:solidFill>
                  <a:schemeClr val="dk1"/>
                </a:solidFill>
                <a:latin typeface="Times New Roman"/>
                <a:ea typeface="Times New Roman"/>
                <a:cs typeface="Times New Roman"/>
                <a:sym typeface="Times New Roman"/>
              </a:rPr>
              <a:t>Người dùng truy cập SP, được chuyển hướng đến IdP</a:t>
            </a:r>
            <a:endParaRPr sz="1750">
              <a:solidFill>
                <a:schemeClr val="dk1"/>
              </a:solidFill>
              <a:latin typeface="Times New Roman"/>
              <a:ea typeface="Times New Roman"/>
              <a:cs typeface="Times New Roman"/>
              <a:sym typeface="Times New Roman"/>
            </a:endParaRPr>
          </a:p>
        </p:txBody>
      </p:sp>
      <p:sp>
        <p:nvSpPr>
          <p:cNvPr id="169" name="Google Shape;169;p6"/>
          <p:cNvSpPr/>
          <p:nvPr/>
        </p:nvSpPr>
        <p:spPr>
          <a:xfrm>
            <a:off x="792361" y="3194765"/>
            <a:ext cx="6409611" cy="30480"/>
          </a:xfrm>
          <a:prstGeom prst="rect">
            <a:avLst/>
          </a:prstGeom>
          <a:solidFill>
            <a:srgbClr val="B4DAE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6"/>
          <p:cNvSpPr/>
          <p:nvPr/>
        </p:nvSpPr>
        <p:spPr>
          <a:xfrm>
            <a:off x="792361" y="2812766"/>
            <a:ext cx="2829997" cy="35373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chemeClr val="dk1"/>
              </a:buClr>
              <a:buSzPts val="2200"/>
              <a:buFont typeface="Times New Roman"/>
              <a:buNone/>
            </a:pPr>
            <a:r>
              <a:rPr lang="en-US" sz="2200">
                <a:solidFill>
                  <a:schemeClr val="dk1"/>
                </a:solidFill>
                <a:latin typeface="Times New Roman"/>
                <a:ea typeface="Times New Roman"/>
                <a:cs typeface="Times New Roman"/>
                <a:sym typeface="Times New Roman"/>
              </a:rPr>
              <a:t>Xác thực tại IdP</a:t>
            </a:r>
            <a:endParaRPr sz="2200">
              <a:solidFill>
                <a:schemeClr val="dk1"/>
              </a:solidFill>
              <a:latin typeface="Times New Roman"/>
              <a:ea typeface="Times New Roman"/>
              <a:cs typeface="Times New Roman"/>
              <a:sym typeface="Times New Roman"/>
            </a:endParaRPr>
          </a:p>
        </p:txBody>
      </p:sp>
      <p:sp>
        <p:nvSpPr>
          <p:cNvPr id="171" name="Google Shape;171;p6"/>
          <p:cNvSpPr/>
          <p:nvPr/>
        </p:nvSpPr>
        <p:spPr>
          <a:xfrm>
            <a:off x="791290" y="3293726"/>
            <a:ext cx="2944369" cy="362307"/>
          </a:xfrm>
          <a:prstGeom prst="rect">
            <a:avLst/>
          </a:prstGeom>
          <a:noFill/>
          <a:ln>
            <a:noFill/>
          </a:ln>
        </p:spPr>
        <p:txBody>
          <a:bodyPr anchorCtr="0" anchor="t" bIns="0" lIns="0" spcFirstLastPara="1" rIns="0" wrap="square" tIns="0">
            <a:noAutofit/>
          </a:bodyPr>
          <a:lstStyle/>
          <a:p>
            <a:pPr indent="0" lvl="0" marL="0" marR="0" rtl="0" algn="l">
              <a:lnSpc>
                <a:spcPct val="158333"/>
              </a:lnSpc>
              <a:spcBef>
                <a:spcPts val="0"/>
              </a:spcBef>
              <a:spcAft>
                <a:spcPts val="0"/>
              </a:spcAft>
              <a:buNone/>
            </a:pPr>
            <a:r>
              <a:rPr lang="en-US" sz="1800">
                <a:solidFill>
                  <a:schemeClr val="dk1"/>
                </a:solidFill>
                <a:latin typeface="Times New Roman"/>
                <a:ea typeface="Times New Roman"/>
                <a:cs typeface="Times New Roman"/>
                <a:sym typeface="Times New Roman"/>
              </a:rPr>
              <a:t>IdP xác thực (có thể kèm 2FA</a:t>
            </a:r>
            <a:endParaRPr sz="1750">
              <a:solidFill>
                <a:schemeClr val="dk1"/>
              </a:solidFill>
              <a:latin typeface="Times New Roman"/>
              <a:ea typeface="Times New Roman"/>
              <a:cs typeface="Times New Roman"/>
              <a:sym typeface="Times New Roman"/>
            </a:endParaRPr>
          </a:p>
        </p:txBody>
      </p:sp>
      <p:sp>
        <p:nvSpPr>
          <p:cNvPr id="172" name="Google Shape;172;p6"/>
          <p:cNvSpPr/>
          <p:nvPr/>
        </p:nvSpPr>
        <p:spPr>
          <a:xfrm>
            <a:off x="788760" y="4512546"/>
            <a:ext cx="6409730" cy="30480"/>
          </a:xfrm>
          <a:prstGeom prst="rect">
            <a:avLst/>
          </a:prstGeom>
          <a:solidFill>
            <a:srgbClr val="E1C2C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6"/>
          <p:cNvSpPr/>
          <p:nvPr/>
        </p:nvSpPr>
        <p:spPr>
          <a:xfrm>
            <a:off x="792361" y="4103396"/>
            <a:ext cx="2829997" cy="35373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chemeClr val="dk1"/>
              </a:buClr>
              <a:buSzPts val="2200"/>
              <a:buFont typeface="Times New Roman"/>
              <a:buNone/>
            </a:pPr>
            <a:r>
              <a:rPr lang="en-US" sz="2200">
                <a:solidFill>
                  <a:schemeClr val="dk1"/>
                </a:solidFill>
                <a:latin typeface="Times New Roman"/>
                <a:ea typeface="Times New Roman"/>
                <a:cs typeface="Times New Roman"/>
                <a:sym typeface="Times New Roman"/>
              </a:rPr>
              <a:t>Tạo &amp; Gửi Token</a:t>
            </a:r>
            <a:endParaRPr sz="2200">
              <a:solidFill>
                <a:schemeClr val="dk1"/>
              </a:solidFill>
              <a:latin typeface="Times New Roman"/>
              <a:ea typeface="Times New Roman"/>
              <a:cs typeface="Times New Roman"/>
              <a:sym typeface="Times New Roman"/>
            </a:endParaRPr>
          </a:p>
        </p:txBody>
      </p:sp>
      <p:sp>
        <p:nvSpPr>
          <p:cNvPr id="174" name="Google Shape;174;p6"/>
          <p:cNvSpPr/>
          <p:nvPr/>
        </p:nvSpPr>
        <p:spPr>
          <a:xfrm>
            <a:off x="791647" y="4676085"/>
            <a:ext cx="5271967" cy="362307"/>
          </a:xfrm>
          <a:prstGeom prst="rect">
            <a:avLst/>
          </a:prstGeom>
          <a:noFill/>
          <a:ln>
            <a:noFill/>
          </a:ln>
        </p:spPr>
        <p:txBody>
          <a:bodyPr anchorCtr="0" anchor="t" bIns="0" lIns="0" spcFirstLastPara="1" rIns="0" wrap="square" tIns="0">
            <a:noAutofit/>
          </a:bodyPr>
          <a:lstStyle/>
          <a:p>
            <a:pPr indent="0" lvl="0" marL="0" marR="0" rtl="0" algn="l">
              <a:lnSpc>
                <a:spcPct val="158333"/>
              </a:lnSpc>
              <a:spcBef>
                <a:spcPts val="0"/>
              </a:spcBef>
              <a:spcAft>
                <a:spcPts val="0"/>
              </a:spcAft>
              <a:buNone/>
            </a:pPr>
            <a:r>
              <a:rPr lang="en-US" sz="1800">
                <a:solidFill>
                  <a:schemeClr val="dk1"/>
                </a:solidFill>
                <a:latin typeface="Times New Roman"/>
                <a:ea typeface="Times New Roman"/>
                <a:cs typeface="Times New Roman"/>
                <a:sym typeface="Times New Roman"/>
              </a:rPr>
              <a:t>IdP tạo ra </a:t>
            </a:r>
            <a:r>
              <a:rPr b="1" lang="en-US" sz="1800">
                <a:solidFill>
                  <a:schemeClr val="dk1"/>
                </a:solidFill>
                <a:latin typeface="Times New Roman"/>
                <a:ea typeface="Times New Roman"/>
                <a:cs typeface="Times New Roman"/>
                <a:sym typeface="Times New Roman"/>
              </a:rPr>
              <a:t>token</a:t>
            </a:r>
            <a:r>
              <a:rPr lang="en-US" sz="1800">
                <a:solidFill>
                  <a:schemeClr val="dk1"/>
                </a:solidFill>
                <a:latin typeface="Times New Roman"/>
                <a:ea typeface="Times New Roman"/>
                <a:cs typeface="Times New Roman"/>
                <a:sym typeface="Times New Roman"/>
              </a:rPr>
              <a:t> (thường là JWT hoặc SAML assertion).</a:t>
            </a:r>
            <a:endParaRPr sz="1750">
              <a:solidFill>
                <a:schemeClr val="dk1"/>
              </a:solidFill>
              <a:latin typeface="Times New Roman"/>
              <a:ea typeface="Times New Roman"/>
              <a:cs typeface="Times New Roman"/>
              <a:sym typeface="Times New Roman"/>
            </a:endParaRPr>
          </a:p>
        </p:txBody>
      </p:sp>
      <p:sp>
        <p:nvSpPr>
          <p:cNvPr id="175" name="Google Shape;175;p6"/>
          <p:cNvSpPr/>
          <p:nvPr/>
        </p:nvSpPr>
        <p:spPr>
          <a:xfrm>
            <a:off x="800640" y="5897943"/>
            <a:ext cx="6409611" cy="30480"/>
          </a:xfrm>
          <a:prstGeom prst="rect">
            <a:avLst/>
          </a:prstGeom>
          <a:solidFill>
            <a:srgbClr val="CCC4E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 name="Google Shape;176;p6"/>
          <p:cNvSpPr/>
          <p:nvPr/>
        </p:nvSpPr>
        <p:spPr>
          <a:xfrm>
            <a:off x="788760" y="5488711"/>
            <a:ext cx="3383994" cy="35373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chemeClr val="dk1"/>
              </a:buClr>
              <a:buSzPts val="2200"/>
              <a:buFont typeface="Times New Roman"/>
              <a:buNone/>
            </a:pPr>
            <a:r>
              <a:rPr lang="en-US" sz="2200">
                <a:solidFill>
                  <a:schemeClr val="dk1"/>
                </a:solidFill>
                <a:latin typeface="Times New Roman"/>
                <a:ea typeface="Times New Roman"/>
                <a:cs typeface="Times New Roman"/>
                <a:sym typeface="Times New Roman"/>
              </a:rPr>
              <a:t>SP xác nhận &amp; tạo Session</a:t>
            </a:r>
            <a:endParaRPr sz="2200">
              <a:solidFill>
                <a:schemeClr val="dk1"/>
              </a:solidFill>
              <a:latin typeface="Times New Roman"/>
              <a:ea typeface="Times New Roman"/>
              <a:cs typeface="Times New Roman"/>
              <a:sym typeface="Times New Roman"/>
            </a:endParaRPr>
          </a:p>
        </p:txBody>
      </p:sp>
      <p:sp>
        <p:nvSpPr>
          <p:cNvPr id="177" name="Google Shape;177;p6"/>
          <p:cNvSpPr/>
          <p:nvPr/>
        </p:nvSpPr>
        <p:spPr>
          <a:xfrm>
            <a:off x="800640" y="6051552"/>
            <a:ext cx="3969805" cy="362307"/>
          </a:xfrm>
          <a:prstGeom prst="rect">
            <a:avLst/>
          </a:prstGeom>
          <a:noFill/>
          <a:ln>
            <a:noFill/>
          </a:ln>
        </p:spPr>
        <p:txBody>
          <a:bodyPr anchorCtr="0" anchor="t" bIns="0" lIns="0" spcFirstLastPara="1" rIns="0" wrap="square" tIns="0">
            <a:noAutofit/>
          </a:bodyPr>
          <a:lstStyle/>
          <a:p>
            <a:pPr indent="0" lvl="0" marL="0" marR="0" rtl="0" algn="l">
              <a:lnSpc>
                <a:spcPct val="158333"/>
              </a:lnSpc>
              <a:spcBef>
                <a:spcPts val="0"/>
              </a:spcBef>
              <a:spcAft>
                <a:spcPts val="0"/>
              </a:spcAft>
              <a:buNone/>
            </a:pPr>
            <a:r>
              <a:rPr lang="en-US" sz="1800">
                <a:solidFill>
                  <a:schemeClr val="dk1"/>
                </a:solidFill>
                <a:latin typeface="Times New Roman"/>
                <a:ea typeface="Times New Roman"/>
                <a:cs typeface="Times New Roman"/>
                <a:sym typeface="Times New Roman"/>
              </a:rPr>
              <a:t>Token gửi về SP để kiểm tra tính hợp lệ</a:t>
            </a:r>
            <a:endParaRPr sz="1750">
              <a:solidFill>
                <a:schemeClr val="dk1"/>
              </a:solidFill>
              <a:latin typeface="Times New Roman"/>
              <a:ea typeface="Times New Roman"/>
              <a:cs typeface="Times New Roman"/>
              <a:sym typeface="Times New Roman"/>
            </a:endParaRPr>
          </a:p>
        </p:txBody>
      </p:sp>
      <p:sp>
        <p:nvSpPr>
          <p:cNvPr id="178" name="Google Shape;178;p6"/>
          <p:cNvSpPr/>
          <p:nvPr/>
        </p:nvSpPr>
        <p:spPr>
          <a:xfrm>
            <a:off x="792361" y="7268100"/>
            <a:ext cx="6409730" cy="30480"/>
          </a:xfrm>
          <a:prstGeom prst="rect">
            <a:avLst/>
          </a:prstGeom>
          <a:solidFill>
            <a:srgbClr val="B4DAE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6"/>
          <p:cNvSpPr/>
          <p:nvPr/>
        </p:nvSpPr>
        <p:spPr>
          <a:xfrm>
            <a:off x="800640" y="6857844"/>
            <a:ext cx="2829997" cy="35373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chemeClr val="dk1"/>
              </a:buClr>
              <a:buSzPts val="2200"/>
              <a:buFont typeface="Times New Roman"/>
              <a:buNone/>
            </a:pPr>
            <a:r>
              <a:rPr lang="en-US" sz="2200">
                <a:solidFill>
                  <a:schemeClr val="dk1"/>
                </a:solidFill>
                <a:latin typeface="Times New Roman"/>
                <a:ea typeface="Times New Roman"/>
                <a:cs typeface="Times New Roman"/>
                <a:sym typeface="Times New Roman"/>
              </a:rPr>
              <a:t>Truy cập dịch vụ</a:t>
            </a:r>
            <a:endParaRPr sz="2200">
              <a:solidFill>
                <a:schemeClr val="dk1"/>
              </a:solidFill>
              <a:latin typeface="Times New Roman"/>
              <a:ea typeface="Times New Roman"/>
              <a:cs typeface="Times New Roman"/>
              <a:sym typeface="Times New Roman"/>
            </a:endParaRPr>
          </a:p>
        </p:txBody>
      </p:sp>
      <p:sp>
        <p:nvSpPr>
          <p:cNvPr id="180" name="Google Shape;180;p6"/>
          <p:cNvSpPr/>
          <p:nvPr/>
        </p:nvSpPr>
        <p:spPr>
          <a:xfrm>
            <a:off x="788760" y="7490824"/>
            <a:ext cx="6409730" cy="329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SP thiết lập session, người dùng truy cập không cần đăng nhập lại.</a:t>
            </a:r>
            <a:r>
              <a:rPr lang="en-US" sz="1600">
                <a:solidFill>
                  <a:schemeClr val="dk1"/>
                </a:solidFill>
                <a:latin typeface="Times New Roman"/>
                <a:ea typeface="Times New Roman"/>
                <a:cs typeface="Times New Roman"/>
                <a:sym typeface="Times New Roman"/>
              </a:rPr>
              <a:t> </a:t>
            </a:r>
            <a:endParaRPr sz="4000">
              <a:solidFill>
                <a:schemeClr val="dk1"/>
              </a:solidFill>
              <a:latin typeface="Times New Roman"/>
              <a:ea typeface="Times New Roman"/>
              <a:cs typeface="Times New Roman"/>
              <a:sym typeface="Times New Roman"/>
            </a:endParaRPr>
          </a:p>
        </p:txBody>
      </p:sp>
      <p:sp>
        <p:nvSpPr>
          <p:cNvPr id="181" name="Google Shape;181;p6"/>
          <p:cNvSpPr/>
          <p:nvPr/>
        </p:nvSpPr>
        <p:spPr>
          <a:xfrm>
            <a:off x="13002322" y="7534178"/>
            <a:ext cx="1393902" cy="490654"/>
          </a:xfrm>
          <a:prstGeom prst="ellipse">
            <a:avLst/>
          </a:prstGeom>
          <a:solidFill>
            <a:schemeClr val="l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2" name="Google Shape;182;p6"/>
          <p:cNvSpPr txBox="1"/>
          <p:nvPr/>
        </p:nvSpPr>
        <p:spPr>
          <a:xfrm>
            <a:off x="13225346" y="7548672"/>
            <a:ext cx="94785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Times New Roman"/>
                <a:ea typeface="Times New Roman"/>
                <a:cs typeface="Times New Roman"/>
                <a:sym typeface="Times New Roman"/>
              </a:rPr>
              <a:t>6</a:t>
            </a:r>
            <a:endParaRPr b="1" sz="2400">
              <a:solidFill>
                <a:schemeClr val="dk1"/>
              </a:solidFill>
              <a:latin typeface="Times New Roman"/>
              <a:ea typeface="Times New Roman"/>
              <a:cs typeface="Times New Roman"/>
              <a:sym typeface="Times New Roman"/>
            </a:endParaRPr>
          </a:p>
        </p:txBody>
      </p:sp>
      <p:pic>
        <p:nvPicPr>
          <p:cNvPr id="183" name="Google Shape;183;p6"/>
          <p:cNvPicPr preferRelativeResize="0"/>
          <p:nvPr/>
        </p:nvPicPr>
        <p:blipFill rotWithShape="1">
          <a:blip r:embed="rId4">
            <a:alphaModFix/>
          </a:blip>
          <a:srcRect b="0" l="0" r="0" t="0"/>
          <a:stretch/>
        </p:blipFill>
        <p:spPr>
          <a:xfrm>
            <a:off x="7428311" y="1291792"/>
            <a:ext cx="7070270" cy="614263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7"/>
          <p:cNvSpPr/>
          <p:nvPr/>
        </p:nvSpPr>
        <p:spPr>
          <a:xfrm>
            <a:off x="396834" y="524024"/>
            <a:ext cx="6532895" cy="354330"/>
          </a:xfrm>
          <a:prstGeom prst="rect">
            <a:avLst/>
          </a:prstGeom>
          <a:noFill/>
          <a:ln>
            <a:noFill/>
          </a:ln>
        </p:spPr>
        <p:txBody>
          <a:bodyPr anchorCtr="0" anchor="t" bIns="0" lIns="0" spcFirstLastPara="1" rIns="0" wrap="square" tIns="0">
            <a:noAutofit/>
          </a:bodyPr>
          <a:lstStyle/>
          <a:p>
            <a:pPr indent="0" lvl="0" marL="0" marR="0" rtl="0" algn="l">
              <a:lnSpc>
                <a:spcPct val="61797"/>
              </a:lnSpc>
              <a:spcBef>
                <a:spcPts val="0"/>
              </a:spcBef>
              <a:spcAft>
                <a:spcPts val="0"/>
              </a:spcAft>
              <a:buClr>
                <a:srgbClr val="4B6981"/>
              </a:buClr>
              <a:buSzPts val="4450"/>
              <a:buFont typeface="Times New Roman"/>
              <a:buNone/>
            </a:pPr>
            <a:r>
              <a:rPr lang="en-US" sz="4450">
                <a:solidFill>
                  <a:srgbClr val="4B6981"/>
                </a:solidFill>
                <a:latin typeface="Times New Roman"/>
                <a:ea typeface="Times New Roman"/>
                <a:cs typeface="Times New Roman"/>
                <a:sym typeface="Times New Roman"/>
              </a:rPr>
              <a:t>Các giao thức SSO phổ biến</a:t>
            </a:r>
            <a:endParaRPr sz="4450">
              <a:solidFill>
                <a:schemeClr val="dk1"/>
              </a:solidFill>
              <a:latin typeface="Times New Roman"/>
              <a:ea typeface="Times New Roman"/>
              <a:cs typeface="Times New Roman"/>
              <a:sym typeface="Times New Roman"/>
            </a:endParaRPr>
          </a:p>
        </p:txBody>
      </p:sp>
      <p:sp>
        <p:nvSpPr>
          <p:cNvPr id="190" name="Google Shape;190;p7"/>
          <p:cNvSpPr/>
          <p:nvPr/>
        </p:nvSpPr>
        <p:spPr>
          <a:xfrm>
            <a:off x="2472809" y="2921437"/>
            <a:ext cx="249079" cy="311348"/>
          </a:xfrm>
          <a:prstGeom prst="rect">
            <a:avLst/>
          </a:prstGeom>
          <a:noFill/>
          <a:ln>
            <a:noFill/>
          </a:ln>
        </p:spPr>
        <p:txBody>
          <a:bodyPr anchorCtr="0" anchor="t" bIns="0" lIns="0" spcFirstLastPara="1" rIns="0" wrap="square" tIns="0">
            <a:noAutofit/>
          </a:bodyPr>
          <a:lstStyle/>
          <a:p>
            <a:pPr indent="0" lvl="0" marL="0" marR="0" rtl="0" algn="l">
              <a:lnSpc>
                <a:spcPct val="158974"/>
              </a:lnSpc>
              <a:spcBef>
                <a:spcPts val="0"/>
              </a:spcBef>
              <a:spcAft>
                <a:spcPts val="0"/>
              </a:spcAft>
              <a:buClr>
                <a:schemeClr val="dk1"/>
              </a:buClr>
              <a:buSzPts val="1950"/>
              <a:buFont typeface="Calibri"/>
              <a:buNone/>
            </a:pPr>
            <a:r>
              <a:t/>
            </a:r>
            <a:endParaRPr sz="1950">
              <a:solidFill>
                <a:schemeClr val="dk1"/>
              </a:solidFill>
              <a:latin typeface="Calibri"/>
              <a:ea typeface="Calibri"/>
              <a:cs typeface="Calibri"/>
              <a:sym typeface="Calibri"/>
            </a:endParaRPr>
          </a:p>
        </p:txBody>
      </p:sp>
      <p:sp>
        <p:nvSpPr>
          <p:cNvPr id="191" name="Google Shape;191;p7"/>
          <p:cNvSpPr/>
          <p:nvPr/>
        </p:nvSpPr>
        <p:spPr>
          <a:xfrm>
            <a:off x="2170745" y="1482864"/>
            <a:ext cx="4867889" cy="2229445"/>
          </a:xfrm>
          <a:prstGeom prst="roundRect">
            <a:avLst>
              <a:gd fmla="val 4273" name="adj"/>
            </a:avLst>
          </a:prstGeom>
          <a:solidFill>
            <a:srgbClr val="F0DEDC"/>
          </a:solidFill>
          <a:ln cap="flat" cmpd="sng" w="9525">
            <a:solidFill>
              <a:srgbClr val="E1C2C2"/>
            </a:solidFill>
            <a:prstDash val="solid"/>
            <a:round/>
            <a:headEnd len="sm" w="sm" type="none"/>
            <a:tailEnd len="sm" w="sm" type="none"/>
          </a:ln>
          <a:effectLst>
            <a:outerShdw rotWithShape="0" algn="bl" dir="2700000" dist="20320">
              <a:srgbClr val="E1C2C2"/>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7"/>
          <p:cNvSpPr/>
          <p:nvPr/>
        </p:nvSpPr>
        <p:spPr>
          <a:xfrm>
            <a:off x="7591766" y="1482863"/>
            <a:ext cx="4867889" cy="2229445"/>
          </a:xfrm>
          <a:prstGeom prst="roundRect">
            <a:avLst>
              <a:gd fmla="val 4273" name="adj"/>
            </a:avLst>
          </a:prstGeom>
          <a:solidFill>
            <a:srgbClr val="F0DEDC"/>
          </a:solidFill>
          <a:ln cap="flat" cmpd="sng" w="9525">
            <a:solidFill>
              <a:srgbClr val="E1C2C2"/>
            </a:solidFill>
            <a:prstDash val="solid"/>
            <a:round/>
            <a:headEnd len="sm" w="sm" type="none"/>
            <a:tailEnd len="sm" w="sm" type="none"/>
          </a:ln>
          <a:effectLst>
            <a:outerShdw rotWithShape="0" algn="bl" dir="2700000" dist="20320">
              <a:srgbClr val="E1C2C2"/>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7"/>
          <p:cNvSpPr/>
          <p:nvPr/>
        </p:nvSpPr>
        <p:spPr>
          <a:xfrm>
            <a:off x="2170747" y="4316819"/>
            <a:ext cx="4867889" cy="2229445"/>
          </a:xfrm>
          <a:prstGeom prst="roundRect">
            <a:avLst>
              <a:gd fmla="val 4273" name="adj"/>
            </a:avLst>
          </a:prstGeom>
          <a:solidFill>
            <a:srgbClr val="F0DEDC"/>
          </a:solidFill>
          <a:ln cap="flat" cmpd="sng" w="9525">
            <a:solidFill>
              <a:srgbClr val="E1C2C2"/>
            </a:solidFill>
            <a:prstDash val="solid"/>
            <a:round/>
            <a:headEnd len="sm" w="sm" type="none"/>
            <a:tailEnd len="sm" w="sm" type="none"/>
          </a:ln>
          <a:effectLst>
            <a:outerShdw rotWithShape="0" algn="bl" dir="2700000" dist="20320">
              <a:srgbClr val="E1C2C2"/>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7"/>
          <p:cNvSpPr/>
          <p:nvPr/>
        </p:nvSpPr>
        <p:spPr>
          <a:xfrm>
            <a:off x="7591766" y="4316819"/>
            <a:ext cx="4867889" cy="2229445"/>
          </a:xfrm>
          <a:prstGeom prst="roundRect">
            <a:avLst>
              <a:gd fmla="val 4273" name="adj"/>
            </a:avLst>
          </a:prstGeom>
          <a:solidFill>
            <a:srgbClr val="F0DEDC"/>
          </a:solidFill>
          <a:ln cap="flat" cmpd="sng" w="9525">
            <a:solidFill>
              <a:srgbClr val="E1C2C2"/>
            </a:solidFill>
            <a:prstDash val="solid"/>
            <a:round/>
            <a:headEnd len="sm" w="sm" type="none"/>
            <a:tailEnd len="sm" w="sm" type="none"/>
          </a:ln>
          <a:effectLst>
            <a:outerShdw rotWithShape="0" algn="bl" dir="2700000" dist="20320">
              <a:srgbClr val="E1C2C2"/>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7"/>
          <p:cNvSpPr txBox="1"/>
          <p:nvPr/>
        </p:nvSpPr>
        <p:spPr>
          <a:xfrm>
            <a:off x="2721888" y="2412919"/>
            <a:ext cx="3878758"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a:solidFill>
                  <a:schemeClr val="dk1"/>
                </a:solidFill>
                <a:latin typeface="Arial"/>
                <a:ea typeface="Arial"/>
                <a:cs typeface="Arial"/>
                <a:sym typeface="Arial"/>
              </a:rPr>
              <a:t>GIAO THỨC OAUTH 2.0 (Ủy quyền)</a:t>
            </a:r>
            <a:endParaRPr sz="2000">
              <a:solidFill>
                <a:schemeClr val="dk1"/>
              </a:solidFill>
              <a:latin typeface="Calibri"/>
              <a:ea typeface="Calibri"/>
              <a:cs typeface="Calibri"/>
              <a:sym typeface="Calibri"/>
            </a:endParaRPr>
          </a:p>
        </p:txBody>
      </p:sp>
      <p:sp>
        <p:nvSpPr>
          <p:cNvPr id="196" name="Google Shape;196;p7"/>
          <p:cNvSpPr txBox="1"/>
          <p:nvPr/>
        </p:nvSpPr>
        <p:spPr>
          <a:xfrm>
            <a:off x="8142911" y="2412919"/>
            <a:ext cx="3878758"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a:solidFill>
                  <a:schemeClr val="dk1"/>
                </a:solidFill>
                <a:latin typeface="Arial"/>
                <a:ea typeface="Arial"/>
                <a:cs typeface="Arial"/>
                <a:sym typeface="Arial"/>
              </a:rPr>
              <a:t>GIAO THỨC SAML (Ứng dụng Web)</a:t>
            </a:r>
            <a:endParaRPr sz="2000">
              <a:solidFill>
                <a:schemeClr val="dk1"/>
              </a:solidFill>
              <a:latin typeface="Calibri"/>
              <a:ea typeface="Calibri"/>
              <a:cs typeface="Calibri"/>
              <a:sym typeface="Calibri"/>
            </a:endParaRPr>
          </a:p>
        </p:txBody>
      </p:sp>
      <p:sp>
        <p:nvSpPr>
          <p:cNvPr id="197" name="Google Shape;197;p7"/>
          <p:cNvSpPr txBox="1"/>
          <p:nvPr/>
        </p:nvSpPr>
        <p:spPr>
          <a:xfrm>
            <a:off x="2418799" y="5246875"/>
            <a:ext cx="4510931"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a:solidFill>
                  <a:schemeClr val="dk1"/>
                </a:solidFill>
                <a:latin typeface="Arial"/>
                <a:ea typeface="Arial"/>
                <a:cs typeface="Arial"/>
                <a:sym typeface="Arial"/>
              </a:rPr>
              <a:t>GIAO THỨC KERBEROS (Mạng Nội bộ)</a:t>
            </a:r>
            <a:endParaRPr sz="2000">
              <a:solidFill>
                <a:schemeClr val="dk1"/>
              </a:solidFill>
              <a:latin typeface="Calibri"/>
              <a:ea typeface="Calibri"/>
              <a:cs typeface="Calibri"/>
              <a:sym typeface="Calibri"/>
            </a:endParaRPr>
          </a:p>
        </p:txBody>
      </p:sp>
      <p:sp>
        <p:nvSpPr>
          <p:cNvPr id="198" name="Google Shape;198;p7"/>
          <p:cNvSpPr txBox="1"/>
          <p:nvPr/>
        </p:nvSpPr>
        <p:spPr>
          <a:xfrm>
            <a:off x="8121942" y="5251743"/>
            <a:ext cx="3922489"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a:solidFill>
                  <a:schemeClr val="dk1"/>
                </a:solidFill>
                <a:latin typeface="Arial"/>
                <a:ea typeface="Arial"/>
                <a:cs typeface="Arial"/>
                <a:sym typeface="Arial"/>
              </a:rPr>
              <a:t>GIAO THỨC OPENID CONNECT (OIDC)</a:t>
            </a:r>
            <a:endParaRPr sz="2000">
              <a:solidFill>
                <a:schemeClr val="dk1"/>
              </a:solidFill>
              <a:latin typeface="Calibri"/>
              <a:ea typeface="Calibri"/>
              <a:cs typeface="Calibri"/>
              <a:sym typeface="Calibri"/>
            </a:endParaRPr>
          </a:p>
        </p:txBody>
      </p:sp>
      <p:pic>
        <p:nvPicPr>
          <p:cNvPr id="199" name="Google Shape;199;p7"/>
          <p:cNvPicPr preferRelativeResize="0"/>
          <p:nvPr/>
        </p:nvPicPr>
        <p:blipFill rotWithShape="1">
          <a:blip r:embed="rId3">
            <a:alphaModFix/>
          </a:blip>
          <a:srcRect b="0" l="0" r="0" t="0"/>
          <a:stretch/>
        </p:blipFill>
        <p:spPr>
          <a:xfrm>
            <a:off x="10318764" y="7486546"/>
            <a:ext cx="4229690" cy="743054"/>
          </a:xfrm>
          <a:prstGeom prst="rect">
            <a:avLst/>
          </a:prstGeom>
          <a:noFill/>
          <a:ln>
            <a:noFill/>
          </a:ln>
        </p:spPr>
      </p:pic>
      <p:sp>
        <p:nvSpPr>
          <p:cNvPr id="200" name="Google Shape;200;p7"/>
          <p:cNvSpPr/>
          <p:nvPr/>
        </p:nvSpPr>
        <p:spPr>
          <a:xfrm>
            <a:off x="13002322" y="7534178"/>
            <a:ext cx="1393902" cy="490654"/>
          </a:xfrm>
          <a:prstGeom prst="ellipse">
            <a:avLst/>
          </a:prstGeom>
          <a:solidFill>
            <a:schemeClr val="l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1" name="Google Shape;201;p7"/>
          <p:cNvSpPr txBox="1"/>
          <p:nvPr/>
        </p:nvSpPr>
        <p:spPr>
          <a:xfrm>
            <a:off x="13225346" y="7548672"/>
            <a:ext cx="94785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Times New Roman"/>
                <a:ea typeface="Times New Roman"/>
                <a:cs typeface="Times New Roman"/>
                <a:sym typeface="Times New Roman"/>
              </a:rPr>
              <a:t>7</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8"/>
          <p:cNvSpPr/>
          <p:nvPr/>
        </p:nvSpPr>
        <p:spPr>
          <a:xfrm>
            <a:off x="396820" y="666150"/>
            <a:ext cx="7915500" cy="384600"/>
          </a:xfrm>
          <a:prstGeom prst="rect">
            <a:avLst/>
          </a:prstGeom>
          <a:noFill/>
          <a:ln>
            <a:noFill/>
          </a:ln>
        </p:spPr>
        <p:txBody>
          <a:bodyPr anchorCtr="0" anchor="t" bIns="0" lIns="0" spcFirstLastPara="1" rIns="0" wrap="square" tIns="0">
            <a:noAutofit/>
          </a:bodyPr>
          <a:lstStyle/>
          <a:p>
            <a:pPr indent="0" lvl="0" marL="0" marR="0" rtl="0" algn="l">
              <a:lnSpc>
                <a:spcPct val="61797"/>
              </a:lnSpc>
              <a:spcBef>
                <a:spcPts val="0"/>
              </a:spcBef>
              <a:spcAft>
                <a:spcPts val="0"/>
              </a:spcAft>
              <a:buClr>
                <a:srgbClr val="4B6981"/>
              </a:buClr>
              <a:buSzPts val="4450"/>
              <a:buFont typeface="Times New Roman"/>
              <a:buNone/>
            </a:pPr>
            <a:r>
              <a:rPr lang="en-US" sz="4450">
                <a:solidFill>
                  <a:srgbClr val="4B6981"/>
                </a:solidFill>
                <a:latin typeface="Times New Roman"/>
                <a:ea typeface="Times New Roman"/>
                <a:cs typeface="Times New Roman"/>
                <a:sym typeface="Times New Roman"/>
              </a:rPr>
              <a:t>Giao thức OAuth2 ( Ủy quyền )</a:t>
            </a:r>
            <a:endParaRPr sz="4450">
              <a:solidFill>
                <a:schemeClr val="dk1"/>
              </a:solidFill>
              <a:latin typeface="Times New Roman"/>
              <a:ea typeface="Times New Roman"/>
              <a:cs typeface="Times New Roman"/>
              <a:sym typeface="Times New Roman"/>
            </a:endParaRPr>
          </a:p>
        </p:txBody>
      </p:sp>
      <p:sp>
        <p:nvSpPr>
          <p:cNvPr id="208" name="Google Shape;208;p8"/>
          <p:cNvSpPr txBox="1"/>
          <p:nvPr/>
        </p:nvSpPr>
        <p:spPr>
          <a:xfrm>
            <a:off x="396834" y="2678672"/>
            <a:ext cx="6147077"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Mục đích:</a:t>
            </a:r>
            <a:r>
              <a:rPr b="0" i="0" lang="en-US" sz="2400" u="none" cap="none" strike="noStrike">
                <a:solidFill>
                  <a:schemeClr val="dk1"/>
                </a:solidFill>
                <a:latin typeface="Times New Roman"/>
                <a:ea typeface="Times New Roman"/>
                <a:cs typeface="Times New Roman"/>
                <a:sym typeface="Times New Roman"/>
              </a:rPr>
              <a:t> </a:t>
            </a:r>
            <a:r>
              <a:rPr b="1" i="0" lang="en-US" sz="2400" u="none" cap="none" strike="noStrike">
                <a:solidFill>
                  <a:schemeClr val="dk1"/>
                </a:solidFill>
                <a:latin typeface="Times New Roman"/>
                <a:ea typeface="Times New Roman"/>
                <a:cs typeface="Times New Roman"/>
                <a:sym typeface="Times New Roman"/>
              </a:rPr>
              <a:t>Ủy quyền truy cập</a:t>
            </a:r>
            <a:r>
              <a:rPr b="0" i="0" lang="en-US" sz="2400" u="none" cap="none" strike="noStrike">
                <a:solidFill>
                  <a:schemeClr val="dk1"/>
                </a:solidFill>
                <a:latin typeface="Times New Roman"/>
                <a:ea typeface="Times New Roman"/>
                <a:cs typeface="Times New Roman"/>
                <a:sym typeface="Times New Roman"/>
              </a:rPr>
              <a:t> cho ứng dụng bên thứ ba mà không cần chia sẻ mật khẩu.</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Token:</a:t>
            </a:r>
            <a:r>
              <a:rPr b="0" i="0" lang="en-US" sz="2400" u="none" cap="none" strike="noStrike">
                <a:solidFill>
                  <a:schemeClr val="dk1"/>
                </a:solidFill>
                <a:latin typeface="Times New Roman"/>
                <a:ea typeface="Times New Roman"/>
                <a:cs typeface="Times New Roman"/>
                <a:sym typeface="Times New Roman"/>
              </a:rPr>
              <a:t> Sử dụng Access Token.</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Các thành phần chính:</a:t>
            </a:r>
            <a:r>
              <a:rPr b="0" i="0" lang="en-US" sz="2400" u="none" cap="none" strike="noStrike">
                <a:solidFill>
                  <a:schemeClr val="dk1"/>
                </a:solidFill>
                <a:latin typeface="Times New Roman"/>
                <a:ea typeface="Times New Roman"/>
                <a:cs typeface="Times New Roman"/>
                <a:sym typeface="Times New Roman"/>
              </a:rPr>
              <a:t> Resource Owner, Resource Server, Client, Authorization Server.</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Ứng dụng:</a:t>
            </a:r>
            <a:r>
              <a:rPr b="0" i="0" lang="en-US" sz="2400" u="none" cap="none" strike="noStrike">
                <a:solidFill>
                  <a:schemeClr val="dk1"/>
                </a:solidFill>
                <a:latin typeface="Times New Roman"/>
                <a:ea typeface="Times New Roman"/>
                <a:cs typeface="Times New Roman"/>
                <a:sym typeface="Times New Roman"/>
              </a:rPr>
              <a:t> API, ứng dụng mobile/web của bên thứ ba (ví dụ: Google API).</a:t>
            </a:r>
            <a:r>
              <a:rPr b="0" i="0" lang="en-US" sz="2000" u="none" cap="none" strike="noStrike">
                <a:solidFill>
                  <a:schemeClr val="dk1"/>
                </a:solidFill>
                <a:latin typeface="Times New Roman"/>
                <a:ea typeface="Times New Roman"/>
                <a:cs typeface="Times New Roman"/>
                <a:sym typeface="Times New Roman"/>
              </a:rPr>
              <a:t>  </a:t>
            </a:r>
            <a:endParaRPr b="0" i="0" sz="4800" u="none" cap="none" strike="noStrike">
              <a:solidFill>
                <a:schemeClr val="dk1"/>
              </a:solidFill>
              <a:latin typeface="Times New Roman"/>
              <a:ea typeface="Times New Roman"/>
              <a:cs typeface="Times New Roman"/>
              <a:sym typeface="Times New Roman"/>
            </a:endParaRPr>
          </a:p>
        </p:txBody>
      </p:sp>
      <p:pic>
        <p:nvPicPr>
          <p:cNvPr descr="A diagram of a software system&#10;&#10;AI-generated content may be incorrect." id="209" name="Google Shape;209;p8"/>
          <p:cNvPicPr preferRelativeResize="0"/>
          <p:nvPr/>
        </p:nvPicPr>
        <p:blipFill rotWithShape="1">
          <a:blip r:embed="rId3">
            <a:alphaModFix/>
          </a:blip>
          <a:srcRect b="0" l="0" r="0" t="0"/>
          <a:stretch/>
        </p:blipFill>
        <p:spPr>
          <a:xfrm>
            <a:off x="6634314" y="1503458"/>
            <a:ext cx="7996086" cy="5588718"/>
          </a:xfrm>
          <a:prstGeom prst="rect">
            <a:avLst/>
          </a:prstGeom>
          <a:noFill/>
          <a:ln>
            <a:noFill/>
          </a:ln>
        </p:spPr>
      </p:pic>
      <p:pic>
        <p:nvPicPr>
          <p:cNvPr id="210" name="Google Shape;210;p8"/>
          <p:cNvPicPr preferRelativeResize="0"/>
          <p:nvPr/>
        </p:nvPicPr>
        <p:blipFill rotWithShape="1">
          <a:blip r:embed="rId4">
            <a:alphaModFix/>
          </a:blip>
          <a:srcRect b="0" l="0" r="0" t="0"/>
          <a:stretch/>
        </p:blipFill>
        <p:spPr>
          <a:xfrm>
            <a:off x="10318764" y="7486546"/>
            <a:ext cx="4229690" cy="743054"/>
          </a:xfrm>
          <a:prstGeom prst="rect">
            <a:avLst/>
          </a:prstGeom>
          <a:noFill/>
          <a:ln>
            <a:noFill/>
          </a:ln>
        </p:spPr>
      </p:pic>
      <p:sp>
        <p:nvSpPr>
          <p:cNvPr id="211" name="Google Shape;211;p8"/>
          <p:cNvSpPr/>
          <p:nvPr/>
        </p:nvSpPr>
        <p:spPr>
          <a:xfrm>
            <a:off x="13002322" y="7534178"/>
            <a:ext cx="1393902" cy="490654"/>
          </a:xfrm>
          <a:prstGeom prst="ellipse">
            <a:avLst/>
          </a:prstGeom>
          <a:solidFill>
            <a:schemeClr val="l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2" name="Google Shape;212;p8"/>
          <p:cNvSpPr txBox="1"/>
          <p:nvPr/>
        </p:nvSpPr>
        <p:spPr>
          <a:xfrm>
            <a:off x="13225346" y="7548672"/>
            <a:ext cx="94785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Times New Roman"/>
                <a:ea typeface="Times New Roman"/>
                <a:cs typeface="Times New Roman"/>
                <a:sym typeface="Times New Roman"/>
              </a:rPr>
              <a:t>8</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9"/>
          <p:cNvSpPr/>
          <p:nvPr/>
        </p:nvSpPr>
        <p:spPr>
          <a:xfrm>
            <a:off x="396811" y="311825"/>
            <a:ext cx="8588400" cy="384900"/>
          </a:xfrm>
          <a:prstGeom prst="rect">
            <a:avLst/>
          </a:prstGeom>
          <a:noFill/>
          <a:ln>
            <a:noFill/>
          </a:ln>
        </p:spPr>
        <p:txBody>
          <a:bodyPr anchorCtr="0" anchor="t" bIns="0" lIns="0" spcFirstLastPara="1" rIns="0" wrap="square" tIns="0">
            <a:noAutofit/>
          </a:bodyPr>
          <a:lstStyle/>
          <a:p>
            <a:pPr indent="0" lvl="0" marL="0" marR="0" rtl="0" algn="l">
              <a:lnSpc>
                <a:spcPct val="61797"/>
              </a:lnSpc>
              <a:spcBef>
                <a:spcPts val="0"/>
              </a:spcBef>
              <a:spcAft>
                <a:spcPts val="0"/>
              </a:spcAft>
              <a:buClr>
                <a:srgbClr val="4B6981"/>
              </a:buClr>
              <a:buSzPts val="4450"/>
              <a:buFont typeface="Times New Roman"/>
              <a:buNone/>
            </a:pPr>
            <a:r>
              <a:rPr lang="en-US" sz="4450">
                <a:solidFill>
                  <a:srgbClr val="4B6981"/>
                </a:solidFill>
                <a:latin typeface="Times New Roman"/>
                <a:ea typeface="Times New Roman"/>
                <a:cs typeface="Times New Roman"/>
                <a:sym typeface="Times New Roman"/>
              </a:rPr>
              <a:t>Giao thức SAML ( Ứng dụng Web )</a:t>
            </a:r>
            <a:endParaRPr sz="4450">
              <a:solidFill>
                <a:schemeClr val="dk1"/>
              </a:solidFill>
              <a:latin typeface="Times New Roman"/>
              <a:ea typeface="Times New Roman"/>
              <a:cs typeface="Times New Roman"/>
              <a:sym typeface="Times New Roman"/>
            </a:endParaRPr>
          </a:p>
        </p:txBody>
      </p:sp>
      <p:sp>
        <p:nvSpPr>
          <p:cNvPr id="219" name="Google Shape;219;p9"/>
          <p:cNvSpPr txBox="1"/>
          <p:nvPr/>
        </p:nvSpPr>
        <p:spPr>
          <a:xfrm>
            <a:off x="396835" y="2399891"/>
            <a:ext cx="6906365"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Mục đích:</a:t>
            </a:r>
            <a:r>
              <a:rPr lang="en-US" sz="2400">
                <a:solidFill>
                  <a:schemeClr val="dk1"/>
                </a:solidFill>
                <a:latin typeface="Times New Roman"/>
                <a:ea typeface="Times New Roman"/>
                <a:cs typeface="Times New Roman"/>
                <a:sym typeface="Times New Roman"/>
              </a:rPr>
              <a:t> Xác thực và ủy quyền dựa trên </a:t>
            </a:r>
            <a:r>
              <a:rPr b="1" lang="en-US" sz="2400">
                <a:solidFill>
                  <a:schemeClr val="dk1"/>
                </a:solidFill>
                <a:latin typeface="Times New Roman"/>
                <a:ea typeface="Times New Roman"/>
                <a:cs typeface="Times New Roman"/>
                <a:sym typeface="Times New Roman"/>
              </a:rPr>
              <a:t>XML</a:t>
            </a:r>
            <a:r>
              <a:rPr lang="en-US" sz="2400">
                <a:solidFill>
                  <a:schemeClr val="dk1"/>
                </a:solidFill>
                <a:latin typeface="Times New Roman"/>
                <a:ea typeface="Times New Roman"/>
                <a:cs typeface="Times New Roman"/>
                <a:sym typeface="Times New Roman"/>
              </a:rPr>
              <a:t> cho ứng dụng web.</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Cho phép người dùng đăng nhập một lần để truy cập nhiều ứng dụng/dịch vụ web.</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Hoạt động:</a:t>
            </a:r>
            <a:r>
              <a:rPr lang="en-US" sz="2400">
                <a:solidFill>
                  <a:schemeClr val="dk1"/>
                </a:solidFill>
                <a:latin typeface="Times New Roman"/>
                <a:ea typeface="Times New Roman"/>
                <a:cs typeface="Times New Roman"/>
                <a:sym typeface="Times New Roman"/>
              </a:rPr>
              <a:t> IdP gửi </a:t>
            </a:r>
            <a:r>
              <a:rPr b="1" lang="en-US" sz="2400">
                <a:solidFill>
                  <a:schemeClr val="dk1"/>
                </a:solidFill>
                <a:latin typeface="Times New Roman"/>
                <a:ea typeface="Times New Roman"/>
                <a:cs typeface="Times New Roman"/>
                <a:sym typeface="Times New Roman"/>
              </a:rPr>
              <a:t>SAML Assertion</a:t>
            </a:r>
            <a:r>
              <a:rPr lang="en-US" sz="2400">
                <a:solidFill>
                  <a:schemeClr val="dk1"/>
                </a:solidFill>
                <a:latin typeface="Times New Roman"/>
                <a:ea typeface="Times New Roman"/>
                <a:cs typeface="Times New Roman"/>
                <a:sym typeface="Times New Roman"/>
              </a:rPr>
              <a:t> (được ký số) đến SP qua trình duyệt.</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Ứng dụng:</a:t>
            </a:r>
            <a:r>
              <a:rPr lang="en-US" sz="2400">
                <a:solidFill>
                  <a:schemeClr val="dk1"/>
                </a:solidFill>
                <a:latin typeface="Times New Roman"/>
                <a:ea typeface="Times New Roman"/>
                <a:cs typeface="Times New Roman"/>
                <a:sym typeface="Times New Roman"/>
              </a:rPr>
              <a:t> Doanh nghiệp, giáo dục, ứng dụng web phức tạp (ví dụ: Salesforce). </a:t>
            </a:r>
            <a:endParaRPr/>
          </a:p>
        </p:txBody>
      </p:sp>
      <p:pic>
        <p:nvPicPr>
          <p:cNvPr descr="Quy trình SAML" id="220" name="Google Shape;220;p9"/>
          <p:cNvPicPr preferRelativeResize="0"/>
          <p:nvPr/>
        </p:nvPicPr>
        <p:blipFill rotWithShape="1">
          <a:blip r:embed="rId3">
            <a:alphaModFix/>
          </a:blip>
          <a:srcRect b="0" l="0" r="0" t="0"/>
          <a:stretch/>
        </p:blipFill>
        <p:spPr>
          <a:xfrm>
            <a:off x="7382108" y="1002115"/>
            <a:ext cx="7248292" cy="6413445"/>
          </a:xfrm>
          <a:prstGeom prst="rect">
            <a:avLst/>
          </a:prstGeom>
          <a:noFill/>
          <a:ln>
            <a:noFill/>
          </a:ln>
        </p:spPr>
      </p:pic>
      <p:pic>
        <p:nvPicPr>
          <p:cNvPr id="221" name="Google Shape;221;p9"/>
          <p:cNvPicPr preferRelativeResize="0"/>
          <p:nvPr/>
        </p:nvPicPr>
        <p:blipFill rotWithShape="1">
          <a:blip r:embed="rId4">
            <a:alphaModFix/>
          </a:blip>
          <a:srcRect b="0" l="0" r="0" t="0"/>
          <a:stretch/>
        </p:blipFill>
        <p:spPr>
          <a:xfrm>
            <a:off x="10318764" y="7486546"/>
            <a:ext cx="4229690" cy="743054"/>
          </a:xfrm>
          <a:prstGeom prst="rect">
            <a:avLst/>
          </a:prstGeom>
          <a:noFill/>
          <a:ln>
            <a:noFill/>
          </a:ln>
        </p:spPr>
      </p:pic>
      <p:sp>
        <p:nvSpPr>
          <p:cNvPr id="222" name="Google Shape;222;p9"/>
          <p:cNvSpPr/>
          <p:nvPr/>
        </p:nvSpPr>
        <p:spPr>
          <a:xfrm>
            <a:off x="13002322" y="7534178"/>
            <a:ext cx="1393902" cy="490654"/>
          </a:xfrm>
          <a:prstGeom prst="ellipse">
            <a:avLst/>
          </a:prstGeom>
          <a:solidFill>
            <a:schemeClr val="l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 name="Google Shape;223;p9"/>
          <p:cNvSpPr txBox="1"/>
          <p:nvPr/>
        </p:nvSpPr>
        <p:spPr>
          <a:xfrm>
            <a:off x="13225346" y="7548672"/>
            <a:ext cx="94785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Times New Roman"/>
                <a:ea typeface="Times New Roman"/>
                <a:cs typeface="Times New Roman"/>
                <a:sym typeface="Times New Roman"/>
              </a:rPr>
              <a:t>9</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0"/>
          <p:cNvSpPr/>
          <p:nvPr/>
        </p:nvSpPr>
        <p:spPr>
          <a:xfrm>
            <a:off x="396835" y="540628"/>
            <a:ext cx="8301116" cy="457609"/>
          </a:xfrm>
          <a:prstGeom prst="rect">
            <a:avLst/>
          </a:prstGeom>
          <a:noFill/>
          <a:ln>
            <a:noFill/>
          </a:ln>
        </p:spPr>
        <p:txBody>
          <a:bodyPr anchorCtr="0" anchor="t" bIns="0" lIns="0" spcFirstLastPara="1" rIns="0" wrap="square" tIns="0">
            <a:noAutofit/>
          </a:bodyPr>
          <a:lstStyle/>
          <a:p>
            <a:pPr indent="0" lvl="0" marL="0" marR="0" rtl="0" algn="l">
              <a:lnSpc>
                <a:spcPct val="61797"/>
              </a:lnSpc>
              <a:spcBef>
                <a:spcPts val="0"/>
              </a:spcBef>
              <a:spcAft>
                <a:spcPts val="0"/>
              </a:spcAft>
              <a:buClr>
                <a:srgbClr val="4B6981"/>
              </a:buClr>
              <a:buSzPts val="4450"/>
              <a:buFont typeface="Times New Roman"/>
              <a:buNone/>
            </a:pPr>
            <a:r>
              <a:rPr lang="en-US" sz="4450">
                <a:solidFill>
                  <a:srgbClr val="4B6981"/>
                </a:solidFill>
                <a:latin typeface="Times New Roman"/>
                <a:ea typeface="Times New Roman"/>
                <a:cs typeface="Times New Roman"/>
                <a:sym typeface="Times New Roman"/>
              </a:rPr>
              <a:t>Giao thức Kerberos ( Mạng nội bộ )</a:t>
            </a:r>
            <a:endParaRPr sz="4450">
              <a:solidFill>
                <a:schemeClr val="dk1"/>
              </a:solidFill>
              <a:latin typeface="Times New Roman"/>
              <a:ea typeface="Times New Roman"/>
              <a:cs typeface="Times New Roman"/>
              <a:sym typeface="Times New Roman"/>
            </a:endParaRPr>
          </a:p>
        </p:txBody>
      </p:sp>
      <p:sp>
        <p:nvSpPr>
          <p:cNvPr id="230" name="Google Shape;230;p10"/>
          <p:cNvSpPr txBox="1"/>
          <p:nvPr/>
        </p:nvSpPr>
        <p:spPr>
          <a:xfrm>
            <a:off x="491477" y="2399891"/>
            <a:ext cx="6132348"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Mục đích:</a:t>
            </a:r>
            <a:r>
              <a:rPr lang="en-US" sz="2400">
                <a:solidFill>
                  <a:schemeClr val="dk1"/>
                </a:solidFill>
                <a:latin typeface="Times New Roman"/>
                <a:ea typeface="Times New Roman"/>
                <a:cs typeface="Times New Roman"/>
                <a:sym typeface="Times New Roman"/>
              </a:rPr>
              <a:t> </a:t>
            </a:r>
            <a:r>
              <a:rPr b="1" lang="en-US" sz="2400">
                <a:solidFill>
                  <a:schemeClr val="dk1"/>
                </a:solidFill>
                <a:latin typeface="Times New Roman"/>
                <a:ea typeface="Times New Roman"/>
                <a:cs typeface="Times New Roman"/>
                <a:sym typeface="Times New Roman"/>
              </a:rPr>
              <a:t>Xác thực đáng tin cậy</a:t>
            </a:r>
            <a:r>
              <a:rPr lang="en-US" sz="2400">
                <a:solidFill>
                  <a:schemeClr val="dk1"/>
                </a:solidFill>
                <a:latin typeface="Times New Roman"/>
                <a:ea typeface="Times New Roman"/>
                <a:cs typeface="Times New Roman"/>
                <a:sym typeface="Times New Roman"/>
              </a:rPr>
              <a:t> trong môi trường mạng không an toàn. Chủ yếu dùng trong </a:t>
            </a:r>
            <a:r>
              <a:rPr b="1" lang="en-US" sz="2400">
                <a:solidFill>
                  <a:schemeClr val="dk1"/>
                </a:solidFill>
                <a:latin typeface="Times New Roman"/>
                <a:ea typeface="Times New Roman"/>
                <a:cs typeface="Times New Roman"/>
                <a:sym typeface="Times New Roman"/>
              </a:rPr>
              <a:t>mạng nội bộ (LAN)</a:t>
            </a:r>
            <a:r>
              <a:rPr lang="en-US" sz="2400">
                <a:solidFill>
                  <a:schemeClr val="dk1"/>
                </a:solidFill>
                <a:latin typeface="Times New Roman"/>
                <a:ea typeface="Times New Roman"/>
                <a:cs typeface="Times New Roman"/>
                <a:sym typeface="Times New Roman"/>
              </a:rPr>
              <a:t>.</a:t>
            </a:r>
            <a:endParaRPr/>
          </a:p>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Token:</a:t>
            </a:r>
            <a:r>
              <a:rPr lang="en-US" sz="2400">
                <a:solidFill>
                  <a:schemeClr val="dk1"/>
                </a:solidFill>
                <a:latin typeface="Times New Roman"/>
                <a:ea typeface="Times New Roman"/>
                <a:cs typeface="Times New Roman"/>
                <a:sym typeface="Times New Roman"/>
              </a:rPr>
              <a:t> Sử dụng </a:t>
            </a:r>
            <a:r>
              <a:rPr b="1" lang="en-US" sz="2400">
                <a:solidFill>
                  <a:schemeClr val="dk1"/>
                </a:solidFill>
                <a:latin typeface="Times New Roman"/>
                <a:ea typeface="Times New Roman"/>
                <a:cs typeface="Times New Roman"/>
                <a:sym typeface="Times New Roman"/>
              </a:rPr>
              <a:t>Ticket</a:t>
            </a:r>
            <a:r>
              <a:rPr lang="en-US" sz="2400">
                <a:solidFill>
                  <a:schemeClr val="dk1"/>
                </a:solidFill>
                <a:latin typeface="Times New Roman"/>
                <a:ea typeface="Times New Roman"/>
                <a:cs typeface="Times New Roman"/>
                <a:sym typeface="Times New Roman"/>
              </a:rPr>
              <a:t> (TGT, Service Ticket).</a:t>
            </a:r>
            <a:endParaRPr/>
          </a:p>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Hạn chế:</a:t>
            </a:r>
            <a:r>
              <a:rPr lang="en-US" sz="2400">
                <a:solidFill>
                  <a:schemeClr val="dk1"/>
                </a:solidFill>
                <a:latin typeface="Times New Roman"/>
                <a:ea typeface="Times New Roman"/>
                <a:cs typeface="Times New Roman"/>
                <a:sym typeface="Times New Roman"/>
              </a:rPr>
              <a:t> Không hỗ trợ SSO hay ủy quyền như OAuth2 và SAML.</a:t>
            </a:r>
            <a:endParaRPr/>
          </a:p>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Ứng dụng:</a:t>
            </a:r>
            <a:r>
              <a:rPr lang="en-US" sz="2400">
                <a:solidFill>
                  <a:schemeClr val="dk1"/>
                </a:solidFill>
                <a:latin typeface="Times New Roman"/>
                <a:ea typeface="Times New Roman"/>
                <a:cs typeface="Times New Roman"/>
                <a:sym typeface="Times New Roman"/>
              </a:rPr>
              <a:t> Active Directory, Windows domain, mạng doanh nghiệp nội bộ.</a:t>
            </a:r>
            <a:endParaRPr sz="2400">
              <a:solidFill>
                <a:schemeClr val="dk1"/>
              </a:solidFill>
              <a:latin typeface="Times New Roman"/>
              <a:ea typeface="Times New Roman"/>
              <a:cs typeface="Times New Roman"/>
              <a:sym typeface="Times New Roman"/>
            </a:endParaRPr>
          </a:p>
        </p:txBody>
      </p:sp>
      <p:sp>
        <p:nvSpPr>
          <p:cNvPr id="231" name="Google Shape;231;p10"/>
          <p:cNvSpPr/>
          <p:nvPr/>
        </p:nvSpPr>
        <p:spPr>
          <a:xfrm>
            <a:off x="1006475" y="3609073"/>
            <a:ext cx="184731" cy="6463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br>
              <a:rPr b="0" i="0" lang="en-US" sz="1800" u="none" cap="none" strike="noStrike">
                <a:solidFill>
                  <a:schemeClr val="dk1"/>
                </a:solidFill>
                <a:latin typeface="Times New Roman"/>
                <a:ea typeface="Times New Roman"/>
                <a:cs typeface="Times New Roman"/>
                <a:sym typeface="Times New Roman"/>
              </a:rPr>
            </a:br>
            <a:endParaRPr b="0" i="0" sz="1800" u="none" cap="none" strike="noStrike">
              <a:solidFill>
                <a:schemeClr val="dk1"/>
              </a:solidFill>
              <a:latin typeface="Times New Roman"/>
              <a:ea typeface="Times New Roman"/>
              <a:cs typeface="Times New Roman"/>
              <a:sym typeface="Times New Roman"/>
            </a:endParaRPr>
          </a:p>
        </p:txBody>
      </p:sp>
      <p:pic>
        <p:nvPicPr>
          <p:cNvPr descr="quy trình Kerberos cơ bản" id="232" name="Google Shape;232;p10"/>
          <p:cNvPicPr preferRelativeResize="0"/>
          <p:nvPr/>
        </p:nvPicPr>
        <p:blipFill rotWithShape="1">
          <a:blip r:embed="rId3">
            <a:alphaModFix/>
          </a:blip>
          <a:srcRect b="0" l="0" r="0" t="0"/>
          <a:stretch/>
        </p:blipFill>
        <p:spPr>
          <a:xfrm>
            <a:off x="7097626" y="1352082"/>
            <a:ext cx="7532774" cy="6018873"/>
          </a:xfrm>
          <a:prstGeom prst="rect">
            <a:avLst/>
          </a:prstGeom>
          <a:noFill/>
          <a:ln>
            <a:noFill/>
          </a:ln>
        </p:spPr>
      </p:pic>
      <p:pic>
        <p:nvPicPr>
          <p:cNvPr id="233" name="Google Shape;233;p10"/>
          <p:cNvPicPr preferRelativeResize="0"/>
          <p:nvPr/>
        </p:nvPicPr>
        <p:blipFill rotWithShape="1">
          <a:blip r:embed="rId4">
            <a:alphaModFix/>
          </a:blip>
          <a:srcRect b="0" l="0" r="0" t="0"/>
          <a:stretch/>
        </p:blipFill>
        <p:spPr>
          <a:xfrm>
            <a:off x="10318764" y="7486546"/>
            <a:ext cx="4229690" cy="743054"/>
          </a:xfrm>
          <a:prstGeom prst="rect">
            <a:avLst/>
          </a:prstGeom>
          <a:noFill/>
          <a:ln>
            <a:noFill/>
          </a:ln>
        </p:spPr>
      </p:pic>
      <p:sp>
        <p:nvSpPr>
          <p:cNvPr id="234" name="Google Shape;234;p10"/>
          <p:cNvSpPr/>
          <p:nvPr/>
        </p:nvSpPr>
        <p:spPr>
          <a:xfrm>
            <a:off x="13002322" y="7534178"/>
            <a:ext cx="1393902" cy="490654"/>
          </a:xfrm>
          <a:prstGeom prst="ellipse">
            <a:avLst/>
          </a:prstGeom>
          <a:solidFill>
            <a:schemeClr val="l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 name="Google Shape;235;p10"/>
          <p:cNvSpPr txBox="1"/>
          <p:nvPr/>
        </p:nvSpPr>
        <p:spPr>
          <a:xfrm>
            <a:off x="13225346" y="7548672"/>
            <a:ext cx="94785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Times New Roman"/>
                <a:ea typeface="Times New Roman"/>
                <a:cs typeface="Times New Roman"/>
                <a:sym typeface="Times New Roman"/>
              </a:rPr>
              <a:t>10</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1"/>
          <p:cNvSpPr/>
          <p:nvPr/>
        </p:nvSpPr>
        <p:spPr>
          <a:xfrm>
            <a:off x="396834" y="557355"/>
            <a:ext cx="8713711" cy="491063"/>
          </a:xfrm>
          <a:prstGeom prst="rect">
            <a:avLst/>
          </a:prstGeom>
          <a:noFill/>
          <a:ln>
            <a:noFill/>
          </a:ln>
        </p:spPr>
        <p:txBody>
          <a:bodyPr anchorCtr="0" anchor="t" bIns="0" lIns="0" spcFirstLastPara="1" rIns="0" wrap="square" tIns="0">
            <a:noAutofit/>
          </a:bodyPr>
          <a:lstStyle/>
          <a:p>
            <a:pPr indent="0" lvl="0" marL="0" marR="0" rtl="0" algn="l">
              <a:lnSpc>
                <a:spcPct val="61797"/>
              </a:lnSpc>
              <a:spcBef>
                <a:spcPts val="0"/>
              </a:spcBef>
              <a:spcAft>
                <a:spcPts val="0"/>
              </a:spcAft>
              <a:buClr>
                <a:srgbClr val="4B6981"/>
              </a:buClr>
              <a:buSzPts val="4450"/>
              <a:buFont typeface="Times New Roman"/>
              <a:buNone/>
            </a:pPr>
            <a:r>
              <a:rPr lang="en-US" sz="4450">
                <a:solidFill>
                  <a:srgbClr val="4B6981"/>
                </a:solidFill>
                <a:latin typeface="Times New Roman"/>
                <a:ea typeface="Times New Roman"/>
                <a:cs typeface="Times New Roman"/>
                <a:sym typeface="Times New Roman"/>
              </a:rPr>
              <a:t>Giao thức OpenID Connect ( OIDC )</a:t>
            </a:r>
            <a:endParaRPr sz="4450">
              <a:solidFill>
                <a:schemeClr val="dk1"/>
              </a:solidFill>
              <a:latin typeface="Times New Roman"/>
              <a:ea typeface="Times New Roman"/>
              <a:cs typeface="Times New Roman"/>
              <a:sym typeface="Times New Roman"/>
            </a:endParaRPr>
          </a:p>
        </p:txBody>
      </p:sp>
      <p:sp>
        <p:nvSpPr>
          <p:cNvPr id="242" name="Google Shape;242;p11"/>
          <p:cNvSpPr txBox="1"/>
          <p:nvPr/>
        </p:nvSpPr>
        <p:spPr>
          <a:xfrm>
            <a:off x="491476" y="2399891"/>
            <a:ext cx="6444583"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Mục đích:</a:t>
            </a:r>
            <a:r>
              <a:rPr lang="en-US" sz="2400">
                <a:solidFill>
                  <a:schemeClr val="dk1"/>
                </a:solidFill>
                <a:latin typeface="Times New Roman"/>
                <a:ea typeface="Times New Roman"/>
                <a:cs typeface="Times New Roman"/>
                <a:sym typeface="Times New Roman"/>
              </a:rPr>
              <a:t> </a:t>
            </a:r>
            <a:r>
              <a:rPr b="1" lang="en-US" sz="2400">
                <a:solidFill>
                  <a:schemeClr val="dk1"/>
                </a:solidFill>
                <a:latin typeface="Times New Roman"/>
                <a:ea typeface="Times New Roman"/>
                <a:cs typeface="Times New Roman"/>
                <a:sym typeface="Times New Roman"/>
              </a:rPr>
              <a:t>Xác thực người dùng</a:t>
            </a:r>
            <a:r>
              <a:rPr lang="en-US" sz="2400">
                <a:solidFill>
                  <a:schemeClr val="dk1"/>
                </a:solidFill>
                <a:latin typeface="Times New Roman"/>
                <a:ea typeface="Times New Roman"/>
                <a:cs typeface="Times New Roman"/>
                <a:sym typeface="Times New Roman"/>
              </a:rPr>
              <a:t> dựa trên nền tảng OAuth2.</a:t>
            </a:r>
            <a:endParaRPr/>
          </a:p>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Token:</a:t>
            </a:r>
            <a:r>
              <a:rPr lang="en-US" sz="2400">
                <a:solidFill>
                  <a:schemeClr val="dk1"/>
                </a:solidFill>
                <a:latin typeface="Times New Roman"/>
                <a:ea typeface="Times New Roman"/>
                <a:cs typeface="Times New Roman"/>
                <a:sym typeface="Times New Roman"/>
              </a:rPr>
              <a:t> Cung cấp </a:t>
            </a:r>
            <a:r>
              <a:rPr b="1" lang="en-US" sz="2400">
                <a:solidFill>
                  <a:schemeClr val="dk1"/>
                </a:solidFill>
                <a:latin typeface="Times New Roman"/>
                <a:ea typeface="Times New Roman"/>
                <a:cs typeface="Times New Roman"/>
                <a:sym typeface="Times New Roman"/>
              </a:rPr>
              <a:t>ID Token (JWT)</a:t>
            </a:r>
            <a:r>
              <a:rPr lang="en-US" sz="2400">
                <a:solidFill>
                  <a:schemeClr val="dk1"/>
                </a:solidFill>
                <a:latin typeface="Times New Roman"/>
                <a:ea typeface="Times New Roman"/>
                <a:cs typeface="Times New Roman"/>
                <a:sym typeface="Times New Roman"/>
              </a:rPr>
              <a:t> để xác minh danh tính người dùng.</a:t>
            </a:r>
            <a:endParaRPr/>
          </a:p>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Ứng dụng:</a:t>
            </a:r>
            <a:r>
              <a:rPr lang="en-US" sz="2400">
                <a:solidFill>
                  <a:schemeClr val="dk1"/>
                </a:solidFill>
                <a:latin typeface="Times New Roman"/>
                <a:ea typeface="Times New Roman"/>
                <a:cs typeface="Times New Roman"/>
                <a:sym typeface="Times New Roman"/>
              </a:rPr>
              <a:t> Đăng nhập bằng Google, Facebook, Microsoft (phù hợp web/app hiện đại).</a:t>
            </a:r>
            <a:endParaRPr sz="2400">
              <a:solidFill>
                <a:schemeClr val="dk1"/>
              </a:solidFill>
              <a:latin typeface="Times New Roman"/>
              <a:ea typeface="Times New Roman"/>
              <a:cs typeface="Times New Roman"/>
              <a:sym typeface="Times New Roman"/>
            </a:endParaRPr>
          </a:p>
        </p:txBody>
      </p:sp>
      <p:pic>
        <p:nvPicPr>
          <p:cNvPr descr="A screen shot of a computer&#10;&#10;AI-generated content may be incorrect." id="243" name="Google Shape;243;p11"/>
          <p:cNvPicPr preferRelativeResize="0"/>
          <p:nvPr/>
        </p:nvPicPr>
        <p:blipFill rotWithShape="1">
          <a:blip r:embed="rId3">
            <a:alphaModFix/>
          </a:blip>
          <a:srcRect b="0" l="0" r="0" t="0"/>
          <a:stretch/>
        </p:blipFill>
        <p:spPr>
          <a:xfrm>
            <a:off x="6695239" y="1623650"/>
            <a:ext cx="7935161" cy="5290107"/>
          </a:xfrm>
          <a:prstGeom prst="rect">
            <a:avLst/>
          </a:prstGeom>
          <a:noFill/>
          <a:ln>
            <a:noFill/>
          </a:ln>
        </p:spPr>
      </p:pic>
      <p:pic>
        <p:nvPicPr>
          <p:cNvPr id="244" name="Google Shape;244;p11"/>
          <p:cNvPicPr preferRelativeResize="0"/>
          <p:nvPr/>
        </p:nvPicPr>
        <p:blipFill rotWithShape="1">
          <a:blip r:embed="rId4">
            <a:alphaModFix/>
          </a:blip>
          <a:srcRect b="0" l="0" r="0" t="0"/>
          <a:stretch/>
        </p:blipFill>
        <p:spPr>
          <a:xfrm>
            <a:off x="10318764" y="7486546"/>
            <a:ext cx="4229690" cy="743054"/>
          </a:xfrm>
          <a:prstGeom prst="rect">
            <a:avLst/>
          </a:prstGeom>
          <a:noFill/>
          <a:ln>
            <a:noFill/>
          </a:ln>
        </p:spPr>
      </p:pic>
      <p:sp>
        <p:nvSpPr>
          <p:cNvPr id="245" name="Google Shape;245;p11"/>
          <p:cNvSpPr/>
          <p:nvPr/>
        </p:nvSpPr>
        <p:spPr>
          <a:xfrm>
            <a:off x="13002322" y="7534178"/>
            <a:ext cx="1393902" cy="490654"/>
          </a:xfrm>
          <a:prstGeom prst="ellipse">
            <a:avLst/>
          </a:prstGeom>
          <a:solidFill>
            <a:schemeClr val="l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 name="Google Shape;246;p11"/>
          <p:cNvSpPr txBox="1"/>
          <p:nvPr/>
        </p:nvSpPr>
        <p:spPr>
          <a:xfrm>
            <a:off x="13225346" y="7548672"/>
            <a:ext cx="94785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Times New Roman"/>
                <a:ea typeface="Times New Roman"/>
                <a:cs typeface="Times New Roman"/>
                <a:sym typeface="Times New Roman"/>
              </a:rPr>
              <a:t>11</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2"/>
          <p:cNvSpPr/>
          <p:nvPr/>
        </p:nvSpPr>
        <p:spPr>
          <a:xfrm>
            <a:off x="6280190" y="1065967"/>
            <a:ext cx="6817876"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4B6981"/>
              </a:buClr>
              <a:buSzPts val="4450"/>
              <a:buFont typeface="Times New Roman"/>
              <a:buNone/>
            </a:pPr>
            <a:r>
              <a:rPr lang="en-US" sz="4450">
                <a:solidFill>
                  <a:srgbClr val="4B6981"/>
                </a:solidFill>
                <a:latin typeface="Times New Roman"/>
                <a:ea typeface="Times New Roman"/>
                <a:cs typeface="Times New Roman"/>
                <a:sym typeface="Times New Roman"/>
              </a:rPr>
              <a:t>Lợi ích của SSO</a:t>
            </a:r>
            <a:endParaRPr sz="4450">
              <a:solidFill>
                <a:schemeClr val="dk1"/>
              </a:solidFill>
              <a:latin typeface="Times New Roman"/>
              <a:ea typeface="Times New Roman"/>
              <a:cs typeface="Times New Roman"/>
              <a:sym typeface="Times New Roman"/>
            </a:endParaRPr>
          </a:p>
        </p:txBody>
      </p:sp>
      <p:sp>
        <p:nvSpPr>
          <p:cNvPr id="253" name="Google Shape;253;p12"/>
          <p:cNvSpPr/>
          <p:nvPr/>
        </p:nvSpPr>
        <p:spPr>
          <a:xfrm>
            <a:off x="6280190" y="2114907"/>
            <a:ext cx="7556421" cy="2229445"/>
          </a:xfrm>
          <a:prstGeom prst="roundRect">
            <a:avLst>
              <a:gd fmla="val 4273" name="adj"/>
            </a:avLst>
          </a:prstGeom>
          <a:solidFill>
            <a:srgbClr val="F0DEDC"/>
          </a:solidFill>
          <a:ln cap="flat" cmpd="sng" w="9525">
            <a:solidFill>
              <a:srgbClr val="E1C2C2"/>
            </a:solidFill>
            <a:prstDash val="solid"/>
            <a:round/>
            <a:headEnd len="sm" w="sm" type="none"/>
            <a:tailEnd len="sm" w="sm" type="none"/>
          </a:ln>
          <a:effectLst>
            <a:outerShdw rotWithShape="0" algn="bl" dir="2700000" dist="20320">
              <a:srgbClr val="E1C2C2"/>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54" name="Google Shape;254;p12"/>
          <p:cNvSpPr/>
          <p:nvPr/>
        </p:nvSpPr>
        <p:spPr>
          <a:xfrm>
            <a:off x="6280190" y="4571167"/>
            <a:ext cx="7556421" cy="2592348"/>
          </a:xfrm>
          <a:prstGeom prst="roundRect">
            <a:avLst>
              <a:gd fmla="val 3675" name="adj"/>
            </a:avLst>
          </a:prstGeom>
          <a:solidFill>
            <a:srgbClr val="F0DEDC"/>
          </a:solidFill>
          <a:ln cap="flat" cmpd="sng" w="9525">
            <a:solidFill>
              <a:srgbClr val="CCC4EC"/>
            </a:solidFill>
            <a:prstDash val="solid"/>
            <a:round/>
            <a:headEnd len="sm" w="sm" type="none"/>
            <a:tailEnd len="sm" w="sm" type="none"/>
          </a:ln>
          <a:effectLst>
            <a:outerShdw rotWithShape="0" algn="bl" dir="2700000" dist="20320">
              <a:srgbClr val="CCC4EC"/>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55" name="Google Shape;255;p12"/>
          <p:cNvSpPr txBox="1"/>
          <p:nvPr/>
        </p:nvSpPr>
        <p:spPr>
          <a:xfrm>
            <a:off x="6400800" y="2814130"/>
            <a:ext cx="73152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Người dùng:</a:t>
            </a:r>
            <a:r>
              <a:rPr b="0" i="0" lang="en-US" sz="2400" u="none" cap="none" strike="noStrike">
                <a:solidFill>
                  <a:schemeClr val="dk1"/>
                </a:solidFill>
                <a:latin typeface="Times New Roman"/>
                <a:ea typeface="Times New Roman"/>
                <a:cs typeface="Times New Roman"/>
                <a:sym typeface="Times New Roman"/>
              </a:rPr>
              <a:t> Đơn giản, tiện lợi, tiết kiệm thời gian, trải nghiệm tốt hơn.</a:t>
            </a:r>
            <a:endParaRPr b="0" i="0" sz="4800" u="none" cap="none" strike="noStrike">
              <a:solidFill>
                <a:schemeClr val="dk1"/>
              </a:solidFill>
              <a:latin typeface="Times New Roman"/>
              <a:ea typeface="Times New Roman"/>
              <a:cs typeface="Times New Roman"/>
              <a:sym typeface="Times New Roman"/>
            </a:endParaRPr>
          </a:p>
        </p:txBody>
      </p:sp>
      <p:sp>
        <p:nvSpPr>
          <p:cNvPr id="256" name="Google Shape;256;p12"/>
          <p:cNvSpPr txBox="1"/>
          <p:nvPr/>
        </p:nvSpPr>
        <p:spPr>
          <a:xfrm>
            <a:off x="6400800" y="5267176"/>
            <a:ext cx="73152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dk1"/>
                </a:solidFill>
                <a:latin typeface="Times New Roman"/>
                <a:ea typeface="Times New Roman"/>
                <a:cs typeface="Times New Roman"/>
                <a:sym typeface="Times New Roman"/>
              </a:rPr>
              <a:t>Doanh nghiệp:</a:t>
            </a:r>
            <a:r>
              <a:rPr b="0" i="0" lang="en-US" sz="2400" u="none" cap="none" strike="noStrike">
                <a:solidFill>
                  <a:schemeClr val="dk1"/>
                </a:solidFill>
                <a:latin typeface="Times New Roman"/>
                <a:ea typeface="Times New Roman"/>
                <a:cs typeface="Times New Roman"/>
                <a:sym typeface="Times New Roman"/>
              </a:rPr>
              <a:t> Tăng cường bảo mật (giảm mật khẩu yếu, dễ tích hợp MFA). Quản lý tập trung, giảm chi phí IT (giảm yêu cầu quên mật khẩu). </a:t>
            </a:r>
            <a:endParaRPr sz="2400">
              <a:solidFill>
                <a:schemeClr val="dk1"/>
              </a:solidFill>
              <a:latin typeface="Times New Roman"/>
              <a:ea typeface="Times New Roman"/>
              <a:cs typeface="Times New Roman"/>
              <a:sym typeface="Times New Roman"/>
            </a:endParaRPr>
          </a:p>
        </p:txBody>
      </p:sp>
      <p:pic>
        <p:nvPicPr>
          <p:cNvPr id="257" name="Google Shape;257;p12"/>
          <p:cNvPicPr preferRelativeResize="0"/>
          <p:nvPr/>
        </p:nvPicPr>
        <p:blipFill rotWithShape="1">
          <a:blip r:embed="rId3">
            <a:alphaModFix/>
          </a:blip>
          <a:srcRect b="0" l="0" r="0" t="0"/>
          <a:stretch/>
        </p:blipFill>
        <p:spPr>
          <a:xfrm>
            <a:off x="10318764" y="7486546"/>
            <a:ext cx="4229690" cy="743054"/>
          </a:xfrm>
          <a:prstGeom prst="rect">
            <a:avLst/>
          </a:prstGeom>
          <a:noFill/>
          <a:ln>
            <a:noFill/>
          </a:ln>
        </p:spPr>
      </p:pic>
      <p:sp>
        <p:nvSpPr>
          <p:cNvPr id="258" name="Google Shape;258;p12"/>
          <p:cNvSpPr/>
          <p:nvPr/>
        </p:nvSpPr>
        <p:spPr>
          <a:xfrm>
            <a:off x="13002322" y="7534178"/>
            <a:ext cx="1393902" cy="490654"/>
          </a:xfrm>
          <a:prstGeom prst="ellipse">
            <a:avLst/>
          </a:prstGeom>
          <a:solidFill>
            <a:schemeClr val="l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9" name="Google Shape;259;p12"/>
          <p:cNvSpPr txBox="1"/>
          <p:nvPr/>
        </p:nvSpPr>
        <p:spPr>
          <a:xfrm>
            <a:off x="13225346" y="7548672"/>
            <a:ext cx="94785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Times New Roman"/>
                <a:ea typeface="Times New Roman"/>
                <a:cs typeface="Times New Roman"/>
                <a:sym typeface="Times New Roman"/>
              </a:rPr>
              <a:t>12</a:t>
            </a:r>
            <a:endParaRPr b="1" sz="2400">
              <a:solidFill>
                <a:schemeClr val="dk1"/>
              </a:solidFill>
              <a:latin typeface="Times New Roman"/>
              <a:ea typeface="Times New Roman"/>
              <a:cs typeface="Times New Roman"/>
              <a:sym typeface="Times New Roman"/>
            </a:endParaRPr>
          </a:p>
        </p:txBody>
      </p:sp>
      <p:pic>
        <p:nvPicPr>
          <p:cNvPr descr="preencoded.png" id="260" name="Google Shape;260;p12"/>
          <p:cNvPicPr preferRelativeResize="0"/>
          <p:nvPr/>
        </p:nvPicPr>
        <p:blipFill rotWithShape="1">
          <a:blip r:embed="rId4">
            <a:alphaModFix/>
          </a:blip>
          <a:srcRect b="0" l="0" r="0" t="0"/>
          <a:stretch/>
        </p:blipFill>
        <p:spPr>
          <a:xfrm>
            <a:off x="0" y="1550020"/>
            <a:ext cx="5943255" cy="561349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3"/>
          <p:cNvSpPr/>
          <p:nvPr/>
        </p:nvSpPr>
        <p:spPr>
          <a:xfrm>
            <a:off x="793790" y="1186279"/>
            <a:ext cx="7411522"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4B6981"/>
              </a:buClr>
              <a:buSzPts val="4450"/>
              <a:buFont typeface="Times New Roman"/>
              <a:buNone/>
            </a:pPr>
            <a:r>
              <a:rPr lang="en-US" sz="4450">
                <a:solidFill>
                  <a:srgbClr val="4B6981"/>
                </a:solidFill>
                <a:latin typeface="Times New Roman"/>
                <a:ea typeface="Times New Roman"/>
                <a:cs typeface="Times New Roman"/>
                <a:sym typeface="Times New Roman"/>
              </a:rPr>
              <a:t>Rủi ro và thách thức của SSO</a:t>
            </a:r>
            <a:endParaRPr sz="4450">
              <a:solidFill>
                <a:schemeClr val="dk1"/>
              </a:solidFill>
              <a:latin typeface="Times New Roman"/>
              <a:ea typeface="Times New Roman"/>
              <a:cs typeface="Times New Roman"/>
              <a:sym typeface="Times New Roman"/>
            </a:endParaRPr>
          </a:p>
        </p:txBody>
      </p:sp>
      <p:sp>
        <p:nvSpPr>
          <p:cNvPr id="267" name="Google Shape;267;p13"/>
          <p:cNvSpPr/>
          <p:nvPr/>
        </p:nvSpPr>
        <p:spPr>
          <a:xfrm>
            <a:off x="793790" y="2286722"/>
            <a:ext cx="3402330" cy="425291"/>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4B6981"/>
              </a:buClr>
              <a:buSzPts val="2650"/>
              <a:buFont typeface="Times New Roman"/>
              <a:buNone/>
            </a:pPr>
            <a:r>
              <a:rPr lang="en-US" sz="2650">
                <a:solidFill>
                  <a:srgbClr val="4B6981"/>
                </a:solidFill>
                <a:latin typeface="Times New Roman"/>
                <a:ea typeface="Times New Roman"/>
                <a:cs typeface="Times New Roman"/>
                <a:sym typeface="Times New Roman"/>
              </a:rPr>
              <a:t>Rủi ro bảo mật</a:t>
            </a:r>
            <a:endParaRPr sz="2650">
              <a:solidFill>
                <a:schemeClr val="dk1"/>
              </a:solidFill>
              <a:latin typeface="Times New Roman"/>
              <a:ea typeface="Times New Roman"/>
              <a:cs typeface="Times New Roman"/>
              <a:sym typeface="Times New Roman"/>
            </a:endParaRPr>
          </a:p>
        </p:txBody>
      </p:sp>
      <p:sp>
        <p:nvSpPr>
          <p:cNvPr id="268" name="Google Shape;268;p13"/>
          <p:cNvSpPr/>
          <p:nvPr/>
        </p:nvSpPr>
        <p:spPr>
          <a:xfrm>
            <a:off x="786171" y="2913917"/>
            <a:ext cx="5335850" cy="3445227"/>
          </a:xfrm>
          <a:prstGeom prst="rect">
            <a:avLst/>
          </a:prstGeom>
          <a:noFill/>
          <a:ln>
            <a:noFill/>
          </a:ln>
        </p:spPr>
        <p:txBody>
          <a:bodyPr anchorCtr="0" anchor="t" bIns="0" lIns="0" spcFirstLastPara="1" rIns="0" wrap="square" tIns="0">
            <a:noAutofit/>
          </a:bodyPr>
          <a:lstStyle/>
          <a:p>
            <a:pPr indent="-342900" lvl="0" marL="342900" marR="0" rtl="0" algn="l">
              <a:lnSpc>
                <a:spcPct val="118750"/>
              </a:lnSpc>
              <a:spcBef>
                <a:spcPts val="0"/>
              </a:spcBef>
              <a:spcAft>
                <a:spcPts val="0"/>
              </a:spcAft>
              <a:buClr>
                <a:srgbClr val="6F655D"/>
              </a:buClr>
              <a:buSzPts val="2400"/>
              <a:buFont typeface="Noto Sans Symbols"/>
              <a:buChar char="−"/>
            </a:pPr>
            <a:r>
              <a:rPr lang="en-US" sz="2400">
                <a:solidFill>
                  <a:srgbClr val="6F655D"/>
                </a:solidFill>
                <a:latin typeface="Times New Roman"/>
                <a:ea typeface="Times New Roman"/>
                <a:cs typeface="Times New Roman"/>
                <a:sym typeface="Times New Roman"/>
              </a:rPr>
              <a:t>Điểm tấn công duy nhất: Nếu tài khoản SSO chính bị xâm nhập, tất cả hệ thống liên kết đều gặp rủi ro.</a:t>
            </a:r>
            <a:endParaRPr/>
          </a:p>
          <a:p>
            <a:pPr indent="-342900" lvl="0" marL="342900" marR="0" rtl="0" algn="l">
              <a:lnSpc>
                <a:spcPct val="118750"/>
              </a:lnSpc>
              <a:spcBef>
                <a:spcPts val="0"/>
              </a:spcBef>
              <a:spcAft>
                <a:spcPts val="0"/>
              </a:spcAft>
              <a:buClr>
                <a:srgbClr val="6F655D"/>
              </a:buClr>
              <a:buSzPts val="2400"/>
              <a:buFont typeface="Noto Sans Symbols"/>
              <a:buChar char="−"/>
            </a:pPr>
            <a:r>
              <a:rPr lang="en-US" sz="2400">
                <a:solidFill>
                  <a:srgbClr val="6F655D"/>
                </a:solidFill>
                <a:latin typeface="Times New Roman"/>
                <a:ea typeface="Times New Roman"/>
                <a:cs typeface="Times New Roman"/>
                <a:sym typeface="Times New Roman"/>
              </a:rPr>
              <a:t>Mất kiểm soát khi rời tổ chức: Nhân viên cũ vẫn có thể truy cập nếu không quản lý tốt.</a:t>
            </a:r>
            <a:endParaRPr/>
          </a:p>
          <a:p>
            <a:pPr indent="-342900" lvl="0" marL="342900" marR="0" rtl="0" algn="l">
              <a:lnSpc>
                <a:spcPct val="118750"/>
              </a:lnSpc>
              <a:spcBef>
                <a:spcPts val="0"/>
              </a:spcBef>
              <a:spcAft>
                <a:spcPts val="0"/>
              </a:spcAft>
              <a:buClr>
                <a:srgbClr val="6F655D"/>
              </a:buClr>
              <a:buSzPts val="2400"/>
              <a:buFont typeface="Noto Sans Symbols"/>
              <a:buChar char="−"/>
            </a:pPr>
            <a:r>
              <a:rPr lang="en-US" sz="2400">
                <a:solidFill>
                  <a:srgbClr val="6F655D"/>
                </a:solidFill>
                <a:latin typeface="Times New Roman"/>
                <a:ea typeface="Times New Roman"/>
                <a:cs typeface="Times New Roman"/>
                <a:sym typeface="Times New Roman"/>
              </a:rPr>
              <a:t>Phụ thuộc nhà cung cấp: Sự cố của IdP ảnh hưởng toàn bộ hệ thống doanh nghiệp.</a:t>
            </a:r>
            <a:endParaRPr/>
          </a:p>
          <a:p>
            <a:pPr indent="-342900" lvl="0" marL="342900" marR="0" rtl="0" algn="l">
              <a:lnSpc>
                <a:spcPct val="118750"/>
              </a:lnSpc>
              <a:spcBef>
                <a:spcPts val="0"/>
              </a:spcBef>
              <a:spcAft>
                <a:spcPts val="0"/>
              </a:spcAft>
              <a:buClr>
                <a:srgbClr val="6F655D"/>
              </a:buClr>
              <a:buSzPts val="2400"/>
              <a:buFont typeface="Noto Sans Symbols"/>
              <a:buChar char="−"/>
            </a:pPr>
            <a:r>
              <a:rPr lang="en-US" sz="2400">
                <a:solidFill>
                  <a:srgbClr val="6F655D"/>
                </a:solidFill>
                <a:latin typeface="Times New Roman"/>
                <a:ea typeface="Times New Roman"/>
                <a:cs typeface="Times New Roman"/>
                <a:sym typeface="Times New Roman"/>
              </a:rPr>
              <a:t>Tấn công phishing nâng cao: Kẻ tấn công có thể đánh cắp thông tin SSO qua trang giả mạo.</a:t>
            </a:r>
            <a:endParaRPr sz="2400">
              <a:solidFill>
                <a:schemeClr val="dk1"/>
              </a:solidFill>
              <a:latin typeface="Times New Roman"/>
              <a:ea typeface="Times New Roman"/>
              <a:cs typeface="Times New Roman"/>
              <a:sym typeface="Times New Roman"/>
            </a:endParaRPr>
          </a:p>
          <a:p>
            <a:pPr indent="0" lvl="0" marL="0" marR="0" rtl="0" algn="l">
              <a:lnSpc>
                <a:spcPct val="11875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lnSpc>
                <a:spcPct val="11875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lnSpc>
                <a:spcPct val="118750"/>
              </a:lnSpc>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69" name="Google Shape;269;p13"/>
          <p:cNvSpPr/>
          <p:nvPr/>
        </p:nvSpPr>
        <p:spPr>
          <a:xfrm>
            <a:off x="7599521" y="2286722"/>
            <a:ext cx="3402330" cy="425291"/>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4B6981"/>
              </a:buClr>
              <a:buSzPts val="2650"/>
              <a:buFont typeface="Times New Roman"/>
              <a:buNone/>
            </a:pPr>
            <a:r>
              <a:rPr lang="en-US" sz="2650">
                <a:solidFill>
                  <a:srgbClr val="4B6981"/>
                </a:solidFill>
                <a:latin typeface="Times New Roman"/>
                <a:ea typeface="Times New Roman"/>
                <a:cs typeface="Times New Roman"/>
                <a:sym typeface="Times New Roman"/>
              </a:rPr>
              <a:t>Thách thức kỹ thuật</a:t>
            </a:r>
            <a:endParaRPr sz="2650">
              <a:solidFill>
                <a:schemeClr val="dk1"/>
              </a:solidFill>
              <a:latin typeface="Times New Roman"/>
              <a:ea typeface="Times New Roman"/>
              <a:cs typeface="Times New Roman"/>
              <a:sym typeface="Times New Roman"/>
            </a:endParaRPr>
          </a:p>
        </p:txBody>
      </p:sp>
      <p:sp>
        <p:nvSpPr>
          <p:cNvPr id="270" name="Google Shape;270;p13"/>
          <p:cNvSpPr/>
          <p:nvPr/>
        </p:nvSpPr>
        <p:spPr>
          <a:xfrm>
            <a:off x="7599522" y="2913917"/>
            <a:ext cx="5335850" cy="3222203"/>
          </a:xfrm>
          <a:prstGeom prst="rect">
            <a:avLst/>
          </a:prstGeom>
          <a:noFill/>
          <a:ln>
            <a:noFill/>
          </a:ln>
        </p:spPr>
        <p:txBody>
          <a:bodyPr anchorCtr="0" anchor="t" bIns="0" lIns="0" spcFirstLastPara="1" rIns="0" wrap="square" tIns="0">
            <a:noAutofit/>
          </a:bodyPr>
          <a:lstStyle/>
          <a:p>
            <a:pPr indent="-342900" lvl="0" marL="342900" marR="0" rtl="0" algn="l">
              <a:lnSpc>
                <a:spcPct val="118750"/>
              </a:lnSpc>
              <a:spcBef>
                <a:spcPts val="0"/>
              </a:spcBef>
              <a:spcAft>
                <a:spcPts val="0"/>
              </a:spcAft>
              <a:buClr>
                <a:srgbClr val="6F655D"/>
              </a:buClr>
              <a:buSzPts val="2400"/>
              <a:buFont typeface="Noto Sans Symbols"/>
              <a:buChar char="−"/>
            </a:pPr>
            <a:r>
              <a:rPr lang="en-US" sz="2400">
                <a:solidFill>
                  <a:srgbClr val="6F655D"/>
                </a:solidFill>
                <a:latin typeface="Times New Roman"/>
                <a:ea typeface="Times New Roman"/>
                <a:cs typeface="Times New Roman"/>
                <a:sym typeface="Times New Roman"/>
              </a:rPr>
              <a:t>Triển khai phức tạp: Tích hợp SSO với nhiều ứng dụng (cũ và mới) tốn thời gian, chi phí.</a:t>
            </a:r>
            <a:endParaRPr/>
          </a:p>
          <a:p>
            <a:pPr indent="-342900" lvl="0" marL="342900" marR="0" rtl="0" algn="l">
              <a:lnSpc>
                <a:spcPct val="118750"/>
              </a:lnSpc>
              <a:spcBef>
                <a:spcPts val="0"/>
              </a:spcBef>
              <a:spcAft>
                <a:spcPts val="0"/>
              </a:spcAft>
              <a:buClr>
                <a:srgbClr val="6F655D"/>
              </a:buClr>
              <a:buSzPts val="2400"/>
              <a:buFont typeface="Noto Sans Symbols"/>
              <a:buChar char="−"/>
            </a:pPr>
            <a:r>
              <a:rPr lang="en-US" sz="2400">
                <a:solidFill>
                  <a:srgbClr val="6F655D"/>
                </a:solidFill>
                <a:latin typeface="Times New Roman"/>
                <a:ea typeface="Times New Roman"/>
                <a:cs typeface="Times New Roman"/>
                <a:sym typeface="Times New Roman"/>
              </a:rPr>
              <a:t>Khả năng tương thích: Không phải ứng dụng nào cũng hỗ trợ chuẩn SSO.</a:t>
            </a:r>
            <a:endParaRPr/>
          </a:p>
          <a:p>
            <a:pPr indent="-342900" lvl="0" marL="342900" marR="0" rtl="0" algn="l">
              <a:lnSpc>
                <a:spcPct val="118750"/>
              </a:lnSpc>
              <a:spcBef>
                <a:spcPts val="0"/>
              </a:spcBef>
              <a:spcAft>
                <a:spcPts val="0"/>
              </a:spcAft>
              <a:buClr>
                <a:srgbClr val="6F655D"/>
              </a:buClr>
              <a:buSzPts val="2400"/>
              <a:buFont typeface="Noto Sans Symbols"/>
              <a:buChar char="−"/>
            </a:pPr>
            <a:r>
              <a:rPr lang="en-US" sz="2400">
                <a:solidFill>
                  <a:srgbClr val="6F655D"/>
                </a:solidFill>
                <a:latin typeface="Times New Roman"/>
                <a:ea typeface="Times New Roman"/>
                <a:cs typeface="Times New Roman"/>
                <a:sym typeface="Times New Roman"/>
              </a:rPr>
              <a:t>Hiệu năng và độ trễ: Hệ thống SSO quá tải ảnh hưởng trải nghiệm người dùng.</a:t>
            </a:r>
            <a:endParaRPr/>
          </a:p>
          <a:p>
            <a:pPr indent="-342900" lvl="0" marL="342900" marR="0" rtl="0" algn="l">
              <a:lnSpc>
                <a:spcPct val="118750"/>
              </a:lnSpc>
              <a:spcBef>
                <a:spcPts val="0"/>
              </a:spcBef>
              <a:spcAft>
                <a:spcPts val="0"/>
              </a:spcAft>
              <a:buClr>
                <a:srgbClr val="6F655D"/>
              </a:buClr>
              <a:buSzPts val="2400"/>
              <a:buFont typeface="Noto Sans Symbols"/>
              <a:buChar char="−"/>
            </a:pPr>
            <a:r>
              <a:rPr lang="en-US" sz="2400">
                <a:solidFill>
                  <a:srgbClr val="6F655D"/>
                </a:solidFill>
                <a:latin typeface="Times New Roman"/>
                <a:ea typeface="Times New Roman"/>
                <a:cs typeface="Times New Roman"/>
                <a:sym typeface="Times New Roman"/>
              </a:rPr>
              <a:t>Quản lý vòng đời người dùng: Cần cơ chế đồng bộ và thu hồi quyền hiệu quả.</a:t>
            </a:r>
            <a:endParaRPr sz="2400">
              <a:solidFill>
                <a:schemeClr val="dk1"/>
              </a:solidFill>
              <a:latin typeface="Times New Roman"/>
              <a:ea typeface="Times New Roman"/>
              <a:cs typeface="Times New Roman"/>
              <a:sym typeface="Times New Roman"/>
            </a:endParaRPr>
          </a:p>
          <a:p>
            <a:pPr indent="0" lvl="0" marL="0" marR="0" rtl="0" algn="l">
              <a:lnSpc>
                <a:spcPct val="11875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lnSpc>
                <a:spcPct val="11875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lnSpc>
                <a:spcPct val="118750"/>
              </a:lnSpc>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pic>
        <p:nvPicPr>
          <p:cNvPr id="271" name="Google Shape;271;p13"/>
          <p:cNvPicPr preferRelativeResize="0"/>
          <p:nvPr/>
        </p:nvPicPr>
        <p:blipFill rotWithShape="1">
          <a:blip r:embed="rId3">
            <a:alphaModFix/>
          </a:blip>
          <a:srcRect b="0" l="0" r="0" t="0"/>
          <a:stretch/>
        </p:blipFill>
        <p:spPr>
          <a:xfrm>
            <a:off x="10318764" y="7486546"/>
            <a:ext cx="4229690" cy="743054"/>
          </a:xfrm>
          <a:prstGeom prst="rect">
            <a:avLst/>
          </a:prstGeom>
          <a:noFill/>
          <a:ln>
            <a:noFill/>
          </a:ln>
        </p:spPr>
      </p:pic>
      <p:sp>
        <p:nvSpPr>
          <p:cNvPr id="272" name="Google Shape;272;p13"/>
          <p:cNvSpPr/>
          <p:nvPr/>
        </p:nvSpPr>
        <p:spPr>
          <a:xfrm>
            <a:off x="13002322" y="7534178"/>
            <a:ext cx="1393902" cy="490654"/>
          </a:xfrm>
          <a:prstGeom prst="ellipse">
            <a:avLst/>
          </a:prstGeom>
          <a:solidFill>
            <a:schemeClr val="l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3" name="Google Shape;273;p13"/>
          <p:cNvSpPr txBox="1"/>
          <p:nvPr/>
        </p:nvSpPr>
        <p:spPr>
          <a:xfrm>
            <a:off x="13225346" y="7548672"/>
            <a:ext cx="94785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Times New Roman"/>
                <a:ea typeface="Times New Roman"/>
                <a:cs typeface="Times New Roman"/>
                <a:sym typeface="Times New Roman"/>
              </a:rPr>
              <a:t>13</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descr="preencoded.png" id="279" name="Google Shape;279;p14"/>
          <p:cNvPicPr preferRelativeResize="0"/>
          <p:nvPr/>
        </p:nvPicPr>
        <p:blipFill rotWithShape="1">
          <a:blip r:embed="rId3">
            <a:alphaModFix/>
          </a:blip>
          <a:srcRect b="0" l="0" r="0" t="0"/>
          <a:stretch/>
        </p:blipFill>
        <p:spPr>
          <a:xfrm>
            <a:off x="0" y="0"/>
            <a:ext cx="6035040" cy="8229600"/>
          </a:xfrm>
          <a:prstGeom prst="rect">
            <a:avLst/>
          </a:prstGeom>
          <a:noFill/>
          <a:ln>
            <a:noFill/>
          </a:ln>
        </p:spPr>
      </p:pic>
      <p:sp>
        <p:nvSpPr>
          <p:cNvPr id="280" name="Google Shape;280;p14"/>
          <p:cNvSpPr/>
          <p:nvPr/>
        </p:nvSpPr>
        <p:spPr>
          <a:xfrm>
            <a:off x="6280190" y="670203"/>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4B6981"/>
              </a:buClr>
              <a:buSzPts val="4450"/>
              <a:buFont typeface="Times New Roman"/>
              <a:buNone/>
            </a:pPr>
            <a:r>
              <a:rPr lang="en-US" sz="4450">
                <a:solidFill>
                  <a:srgbClr val="4B6981"/>
                </a:solidFill>
                <a:latin typeface="Times New Roman"/>
                <a:ea typeface="Times New Roman"/>
                <a:cs typeface="Times New Roman"/>
                <a:sym typeface="Times New Roman"/>
              </a:rPr>
              <a:t>Các phương pháp bảo mật SSO</a:t>
            </a:r>
            <a:endParaRPr sz="4450">
              <a:solidFill>
                <a:schemeClr val="dk1"/>
              </a:solidFill>
              <a:latin typeface="Times New Roman"/>
              <a:ea typeface="Times New Roman"/>
              <a:cs typeface="Times New Roman"/>
              <a:sym typeface="Times New Roman"/>
            </a:endParaRPr>
          </a:p>
        </p:txBody>
      </p:sp>
      <p:sp>
        <p:nvSpPr>
          <p:cNvPr id="281" name="Google Shape;281;p14"/>
          <p:cNvSpPr/>
          <p:nvPr/>
        </p:nvSpPr>
        <p:spPr>
          <a:xfrm>
            <a:off x="6280190" y="2427922"/>
            <a:ext cx="3664744" cy="2448044"/>
          </a:xfrm>
          <a:prstGeom prst="roundRect">
            <a:avLst>
              <a:gd fmla="val 5976" name="adj"/>
            </a:avLst>
          </a:prstGeom>
          <a:solidFill>
            <a:srgbClr val="FFFAF6"/>
          </a:solidFill>
          <a:ln cap="flat" cmpd="sng" w="30475">
            <a:solidFill>
              <a:srgbClr val="E1C2C2"/>
            </a:solidFill>
            <a:prstDash val="solid"/>
            <a:round/>
            <a:headEnd len="sm" w="sm" type="none"/>
            <a:tailEnd len="sm" w="sm" type="none"/>
          </a:ln>
          <a:effectLst>
            <a:outerShdw rotWithShape="0" algn="bl" dir="2700000" dist="20320">
              <a:srgbClr val="E1C2C2"/>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82" name="Google Shape;282;p14"/>
          <p:cNvSpPr/>
          <p:nvPr/>
        </p:nvSpPr>
        <p:spPr>
          <a:xfrm>
            <a:off x="6249710" y="2427922"/>
            <a:ext cx="121920" cy="2448044"/>
          </a:xfrm>
          <a:prstGeom prst="roundRect">
            <a:avLst>
              <a:gd fmla="val 78139" name="adj"/>
            </a:avLst>
          </a:prstGeom>
          <a:solidFill>
            <a:srgbClr val="E1C2C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83" name="Google Shape;283;p14"/>
          <p:cNvSpPr/>
          <p:nvPr/>
        </p:nvSpPr>
        <p:spPr>
          <a:xfrm>
            <a:off x="6417350" y="2671000"/>
            <a:ext cx="3466624" cy="708660"/>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Clr>
                <a:schemeClr val="dk1"/>
              </a:buClr>
              <a:buSzPts val="2400"/>
              <a:buFont typeface="Times New Roman"/>
              <a:buNone/>
            </a:pPr>
            <a:r>
              <a:rPr b="1" lang="en-US" sz="2400">
                <a:solidFill>
                  <a:schemeClr val="dk1"/>
                </a:solidFill>
                <a:latin typeface="Times New Roman"/>
                <a:ea typeface="Times New Roman"/>
                <a:cs typeface="Times New Roman"/>
                <a:sym typeface="Times New Roman"/>
              </a:rPr>
              <a:t>Tăng cường xác thực người dùng</a:t>
            </a:r>
            <a:endParaRPr b="1" sz="2400">
              <a:solidFill>
                <a:schemeClr val="dk1"/>
              </a:solidFill>
              <a:latin typeface="Times New Roman"/>
              <a:ea typeface="Times New Roman"/>
              <a:cs typeface="Times New Roman"/>
              <a:sym typeface="Times New Roman"/>
            </a:endParaRPr>
          </a:p>
        </p:txBody>
      </p:sp>
      <p:sp>
        <p:nvSpPr>
          <p:cNvPr id="284" name="Google Shape;284;p14"/>
          <p:cNvSpPr/>
          <p:nvPr/>
        </p:nvSpPr>
        <p:spPr>
          <a:xfrm>
            <a:off x="6417350" y="3499076"/>
            <a:ext cx="3481864" cy="1088708"/>
          </a:xfrm>
          <a:prstGeom prst="rect">
            <a:avLst/>
          </a:prstGeom>
          <a:noFill/>
          <a:ln>
            <a:noFill/>
          </a:ln>
        </p:spPr>
        <p:txBody>
          <a:bodyPr anchorCtr="0" anchor="t" bIns="0" lIns="0" spcFirstLastPara="1" rIns="0" wrap="square" tIns="0">
            <a:noAutofit/>
          </a:bodyPr>
          <a:lstStyle/>
          <a:p>
            <a:pPr indent="0" lvl="0" marL="0" marR="0" rtl="0" algn="l">
              <a:lnSpc>
                <a:spcPct val="129545"/>
              </a:lnSpc>
              <a:spcBef>
                <a:spcPts val="0"/>
              </a:spcBef>
              <a:spcAft>
                <a:spcPts val="0"/>
              </a:spcAft>
              <a:buClr>
                <a:schemeClr val="dk1"/>
              </a:buClr>
              <a:buSzPts val="2200"/>
              <a:buFont typeface="Times New Roman"/>
              <a:buNone/>
            </a:pPr>
            <a:r>
              <a:rPr lang="en-US" sz="2200">
                <a:solidFill>
                  <a:schemeClr val="dk1"/>
                </a:solidFill>
                <a:latin typeface="Times New Roman"/>
                <a:ea typeface="Times New Roman"/>
                <a:cs typeface="Times New Roman"/>
                <a:sym typeface="Times New Roman"/>
              </a:rPr>
              <a:t>Sử dụng MFA, xác thực thích ứng, hoặc xác thực không mật khẩu (passwordless).</a:t>
            </a:r>
            <a:endParaRPr sz="2200">
              <a:solidFill>
                <a:schemeClr val="dk1"/>
              </a:solidFill>
              <a:latin typeface="Times New Roman"/>
              <a:ea typeface="Times New Roman"/>
              <a:cs typeface="Times New Roman"/>
              <a:sym typeface="Times New Roman"/>
            </a:endParaRPr>
          </a:p>
        </p:txBody>
      </p:sp>
      <p:sp>
        <p:nvSpPr>
          <p:cNvPr id="285" name="Google Shape;285;p14"/>
          <p:cNvSpPr/>
          <p:nvPr/>
        </p:nvSpPr>
        <p:spPr>
          <a:xfrm>
            <a:off x="10171748" y="2427922"/>
            <a:ext cx="3664863" cy="2448044"/>
          </a:xfrm>
          <a:prstGeom prst="roundRect">
            <a:avLst>
              <a:gd fmla="val 5976" name="adj"/>
            </a:avLst>
          </a:prstGeom>
          <a:solidFill>
            <a:srgbClr val="FFFAF6"/>
          </a:solidFill>
          <a:ln cap="flat" cmpd="sng" w="30475">
            <a:solidFill>
              <a:srgbClr val="CCC4EC"/>
            </a:solidFill>
            <a:prstDash val="solid"/>
            <a:round/>
            <a:headEnd len="sm" w="sm" type="none"/>
            <a:tailEnd len="sm" w="sm" type="none"/>
          </a:ln>
          <a:effectLst>
            <a:outerShdw rotWithShape="0" algn="bl" dir="2700000" dist="20320">
              <a:srgbClr val="CCC4EC"/>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86" name="Google Shape;286;p14"/>
          <p:cNvSpPr/>
          <p:nvPr/>
        </p:nvSpPr>
        <p:spPr>
          <a:xfrm>
            <a:off x="10141268" y="2427922"/>
            <a:ext cx="121920" cy="2448044"/>
          </a:xfrm>
          <a:prstGeom prst="roundRect">
            <a:avLst>
              <a:gd fmla="val 78139" name="adj"/>
            </a:avLst>
          </a:prstGeom>
          <a:solidFill>
            <a:srgbClr val="CCC4E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87" name="Google Shape;287;p14"/>
          <p:cNvSpPr/>
          <p:nvPr/>
        </p:nvSpPr>
        <p:spPr>
          <a:xfrm>
            <a:off x="10293668" y="2691632"/>
            <a:ext cx="2856667" cy="354330"/>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Clr>
                <a:schemeClr val="dk1"/>
              </a:buClr>
              <a:buSzPts val="2400"/>
              <a:buFont typeface="Times New Roman"/>
              <a:buNone/>
            </a:pPr>
            <a:r>
              <a:rPr b="1" lang="en-US" sz="2400">
                <a:solidFill>
                  <a:schemeClr val="dk1"/>
                </a:solidFill>
                <a:latin typeface="Times New Roman"/>
                <a:ea typeface="Times New Roman"/>
                <a:cs typeface="Times New Roman"/>
                <a:sym typeface="Times New Roman"/>
              </a:rPr>
              <a:t>Bảo mật hệ thống SSO</a:t>
            </a:r>
            <a:endParaRPr b="1" sz="2400">
              <a:solidFill>
                <a:schemeClr val="dk1"/>
              </a:solidFill>
              <a:latin typeface="Times New Roman"/>
              <a:ea typeface="Times New Roman"/>
              <a:cs typeface="Times New Roman"/>
              <a:sym typeface="Times New Roman"/>
            </a:endParaRPr>
          </a:p>
        </p:txBody>
      </p:sp>
      <p:sp>
        <p:nvSpPr>
          <p:cNvPr id="288" name="Google Shape;288;p14"/>
          <p:cNvSpPr/>
          <p:nvPr/>
        </p:nvSpPr>
        <p:spPr>
          <a:xfrm>
            <a:off x="10293668" y="3454863"/>
            <a:ext cx="3573423" cy="1088708"/>
          </a:xfrm>
          <a:prstGeom prst="rect">
            <a:avLst/>
          </a:prstGeom>
          <a:noFill/>
          <a:ln>
            <a:noFill/>
          </a:ln>
        </p:spPr>
        <p:txBody>
          <a:bodyPr anchorCtr="0" anchor="t" bIns="0" lIns="0" spcFirstLastPara="1" rIns="0" wrap="square" tIns="0">
            <a:noAutofit/>
          </a:bodyPr>
          <a:lstStyle/>
          <a:p>
            <a:pPr indent="0" lvl="0" marL="0" marR="0" rtl="0" algn="l">
              <a:lnSpc>
                <a:spcPct val="129545"/>
              </a:lnSpc>
              <a:spcBef>
                <a:spcPts val="0"/>
              </a:spcBef>
              <a:spcAft>
                <a:spcPts val="0"/>
              </a:spcAft>
              <a:buClr>
                <a:schemeClr val="dk1"/>
              </a:buClr>
              <a:buSzPts val="2200"/>
              <a:buFont typeface="Times New Roman"/>
              <a:buNone/>
            </a:pPr>
            <a:r>
              <a:rPr lang="en-US" sz="2200">
                <a:solidFill>
                  <a:schemeClr val="dk1"/>
                </a:solidFill>
                <a:latin typeface="Times New Roman"/>
                <a:ea typeface="Times New Roman"/>
                <a:cs typeface="Times New Roman"/>
                <a:sym typeface="Times New Roman"/>
              </a:rPr>
              <a:t>Mã hóa truyền thông (HTTPS/TLS), bảo vệ token (JWT, TTL), quản lý session.</a:t>
            </a:r>
            <a:endParaRPr sz="2200">
              <a:solidFill>
                <a:schemeClr val="dk1"/>
              </a:solidFill>
              <a:latin typeface="Times New Roman"/>
              <a:ea typeface="Times New Roman"/>
              <a:cs typeface="Times New Roman"/>
              <a:sym typeface="Times New Roman"/>
            </a:endParaRPr>
          </a:p>
        </p:txBody>
      </p:sp>
      <p:sp>
        <p:nvSpPr>
          <p:cNvPr id="289" name="Google Shape;289;p14"/>
          <p:cNvSpPr/>
          <p:nvPr/>
        </p:nvSpPr>
        <p:spPr>
          <a:xfrm>
            <a:off x="6280190" y="5102781"/>
            <a:ext cx="3664744" cy="2456617"/>
          </a:xfrm>
          <a:prstGeom prst="roundRect">
            <a:avLst>
              <a:gd fmla="val 5956" name="adj"/>
            </a:avLst>
          </a:prstGeom>
          <a:solidFill>
            <a:srgbClr val="FFFAF6"/>
          </a:solidFill>
          <a:ln cap="flat" cmpd="sng" w="30475">
            <a:solidFill>
              <a:srgbClr val="B4DAE4"/>
            </a:solidFill>
            <a:prstDash val="solid"/>
            <a:round/>
            <a:headEnd len="sm" w="sm" type="none"/>
            <a:tailEnd len="sm" w="sm" type="none"/>
          </a:ln>
          <a:effectLst>
            <a:outerShdw rotWithShape="0" algn="bl" dir="2700000" dist="20320">
              <a:srgbClr val="B4DAE4"/>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90" name="Google Shape;290;p14"/>
          <p:cNvSpPr/>
          <p:nvPr/>
        </p:nvSpPr>
        <p:spPr>
          <a:xfrm>
            <a:off x="6249710" y="5102781"/>
            <a:ext cx="121920" cy="2456617"/>
          </a:xfrm>
          <a:prstGeom prst="roundRect">
            <a:avLst>
              <a:gd fmla="val 78139" name="adj"/>
            </a:avLst>
          </a:prstGeom>
          <a:solidFill>
            <a:srgbClr val="B4DAE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91" name="Google Shape;291;p14"/>
          <p:cNvSpPr/>
          <p:nvPr/>
        </p:nvSpPr>
        <p:spPr>
          <a:xfrm>
            <a:off x="6417350" y="5360075"/>
            <a:ext cx="2835235" cy="354330"/>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Clr>
                <a:schemeClr val="dk1"/>
              </a:buClr>
              <a:buSzPts val="2400"/>
              <a:buFont typeface="Times New Roman"/>
              <a:buNone/>
            </a:pPr>
            <a:r>
              <a:rPr b="1" lang="en-US" sz="2400">
                <a:solidFill>
                  <a:schemeClr val="dk1"/>
                </a:solidFill>
                <a:latin typeface="Times New Roman"/>
                <a:ea typeface="Times New Roman"/>
                <a:cs typeface="Times New Roman"/>
                <a:sym typeface="Times New Roman"/>
              </a:rPr>
              <a:t>Quản trị và giám sát</a:t>
            </a:r>
            <a:endParaRPr b="1" sz="2400">
              <a:solidFill>
                <a:schemeClr val="dk1"/>
              </a:solidFill>
              <a:latin typeface="Times New Roman"/>
              <a:ea typeface="Times New Roman"/>
              <a:cs typeface="Times New Roman"/>
              <a:sym typeface="Times New Roman"/>
            </a:endParaRPr>
          </a:p>
        </p:txBody>
      </p:sp>
      <p:sp>
        <p:nvSpPr>
          <p:cNvPr id="292" name="Google Shape;292;p14"/>
          <p:cNvSpPr/>
          <p:nvPr/>
        </p:nvSpPr>
        <p:spPr>
          <a:xfrm>
            <a:off x="6402110" y="5850493"/>
            <a:ext cx="3255050" cy="1451610"/>
          </a:xfrm>
          <a:prstGeom prst="rect">
            <a:avLst/>
          </a:prstGeom>
          <a:noFill/>
          <a:ln>
            <a:noFill/>
          </a:ln>
        </p:spPr>
        <p:txBody>
          <a:bodyPr anchorCtr="0" anchor="t" bIns="0" lIns="0" spcFirstLastPara="1" rIns="0" wrap="square" tIns="0">
            <a:noAutofit/>
          </a:bodyPr>
          <a:lstStyle/>
          <a:p>
            <a:pPr indent="0" lvl="0" marL="0" marR="0" rtl="0" algn="l">
              <a:lnSpc>
                <a:spcPct val="129545"/>
              </a:lnSpc>
              <a:spcBef>
                <a:spcPts val="0"/>
              </a:spcBef>
              <a:spcAft>
                <a:spcPts val="0"/>
              </a:spcAft>
              <a:buClr>
                <a:schemeClr val="dk1"/>
              </a:buClr>
              <a:buSzPts val="2200"/>
              <a:buFont typeface="Times New Roman"/>
              <a:buNone/>
            </a:pPr>
            <a:r>
              <a:rPr lang="en-US" sz="2200">
                <a:solidFill>
                  <a:schemeClr val="dk1"/>
                </a:solidFill>
                <a:latin typeface="Times New Roman"/>
                <a:ea typeface="Times New Roman"/>
                <a:cs typeface="Times New Roman"/>
                <a:sym typeface="Times New Roman"/>
              </a:rPr>
              <a:t>Áp dụng mô hình Zero Trust, giám sát log hoạt động, chính sách vòng đời tài khoản, audit định kỳ.</a:t>
            </a:r>
            <a:endParaRPr sz="2200">
              <a:solidFill>
                <a:schemeClr val="dk1"/>
              </a:solidFill>
              <a:latin typeface="Times New Roman"/>
              <a:ea typeface="Times New Roman"/>
              <a:cs typeface="Times New Roman"/>
              <a:sym typeface="Times New Roman"/>
            </a:endParaRPr>
          </a:p>
        </p:txBody>
      </p:sp>
      <p:pic>
        <p:nvPicPr>
          <p:cNvPr id="293" name="Google Shape;293;p14"/>
          <p:cNvPicPr preferRelativeResize="0"/>
          <p:nvPr/>
        </p:nvPicPr>
        <p:blipFill rotWithShape="1">
          <a:blip r:embed="rId4">
            <a:alphaModFix/>
          </a:blip>
          <a:srcRect b="0" l="0" r="0" t="0"/>
          <a:stretch/>
        </p:blipFill>
        <p:spPr>
          <a:xfrm>
            <a:off x="10318764" y="7486546"/>
            <a:ext cx="4229690" cy="743054"/>
          </a:xfrm>
          <a:prstGeom prst="rect">
            <a:avLst/>
          </a:prstGeom>
          <a:noFill/>
          <a:ln>
            <a:noFill/>
          </a:ln>
        </p:spPr>
      </p:pic>
      <p:sp>
        <p:nvSpPr>
          <p:cNvPr id="294" name="Google Shape;294;p14"/>
          <p:cNvSpPr/>
          <p:nvPr/>
        </p:nvSpPr>
        <p:spPr>
          <a:xfrm>
            <a:off x="13002322" y="7534178"/>
            <a:ext cx="1393902" cy="490654"/>
          </a:xfrm>
          <a:prstGeom prst="ellipse">
            <a:avLst/>
          </a:prstGeom>
          <a:solidFill>
            <a:schemeClr val="l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5" name="Google Shape;295;p14"/>
          <p:cNvSpPr txBox="1"/>
          <p:nvPr/>
        </p:nvSpPr>
        <p:spPr>
          <a:xfrm>
            <a:off x="13225346" y="7548672"/>
            <a:ext cx="94785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Times New Roman"/>
                <a:ea typeface="Times New Roman"/>
                <a:cs typeface="Times New Roman"/>
                <a:sym typeface="Times New Roman"/>
              </a:rPr>
              <a:t>14</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descr="preencoded.png" id="301" name="Google Shape;301;p15"/>
          <p:cNvPicPr preferRelativeResize="0"/>
          <p:nvPr/>
        </p:nvPicPr>
        <p:blipFill rotWithShape="1">
          <a:blip r:embed="rId3">
            <a:alphaModFix/>
          </a:blip>
          <a:srcRect b="0" l="0" r="0" t="0"/>
          <a:stretch/>
        </p:blipFill>
        <p:spPr>
          <a:xfrm>
            <a:off x="0" y="0"/>
            <a:ext cx="6035040" cy="8229600"/>
          </a:xfrm>
          <a:prstGeom prst="rect">
            <a:avLst/>
          </a:prstGeom>
          <a:noFill/>
          <a:ln>
            <a:noFill/>
          </a:ln>
        </p:spPr>
      </p:pic>
      <p:sp>
        <p:nvSpPr>
          <p:cNvPr id="302" name="Google Shape;302;p15"/>
          <p:cNvSpPr/>
          <p:nvPr/>
        </p:nvSpPr>
        <p:spPr>
          <a:xfrm>
            <a:off x="6280190" y="3431532"/>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4B6981"/>
              </a:buClr>
              <a:buSzPts val="4450"/>
              <a:buFont typeface="Times New Roman"/>
              <a:buNone/>
            </a:pPr>
            <a:r>
              <a:rPr lang="en-US" sz="4450">
                <a:solidFill>
                  <a:srgbClr val="4B6981"/>
                </a:solidFill>
                <a:latin typeface="Times New Roman"/>
                <a:ea typeface="Times New Roman"/>
                <a:cs typeface="Times New Roman"/>
                <a:sym typeface="Times New Roman"/>
              </a:rPr>
              <a:t>Kết luận</a:t>
            </a:r>
            <a:endParaRPr sz="4450">
              <a:solidFill>
                <a:schemeClr val="dk1"/>
              </a:solidFill>
              <a:latin typeface="Times New Roman"/>
              <a:ea typeface="Times New Roman"/>
              <a:cs typeface="Times New Roman"/>
              <a:sym typeface="Times New Roman"/>
            </a:endParaRPr>
          </a:p>
        </p:txBody>
      </p:sp>
      <p:sp>
        <p:nvSpPr>
          <p:cNvPr id="303" name="Google Shape;303;p15"/>
          <p:cNvSpPr/>
          <p:nvPr/>
        </p:nvSpPr>
        <p:spPr>
          <a:xfrm>
            <a:off x="6555820" y="4402216"/>
            <a:ext cx="7386178" cy="2324814"/>
          </a:xfrm>
          <a:prstGeom prst="rect">
            <a:avLst/>
          </a:prstGeom>
          <a:noFill/>
          <a:ln>
            <a:noFill/>
          </a:ln>
        </p:spPr>
        <p:txBody>
          <a:bodyPr anchorCtr="0" anchor="t" bIns="0" lIns="0" spcFirstLastPara="1" rIns="0" wrap="square" tIns="0">
            <a:noAutofit/>
          </a:bodyPr>
          <a:lstStyle/>
          <a:p>
            <a:pPr indent="0" lvl="0" marL="0" marR="0" rtl="0" algn="l">
              <a:lnSpc>
                <a:spcPct val="118750"/>
              </a:lnSpc>
              <a:spcBef>
                <a:spcPts val="0"/>
              </a:spcBef>
              <a:spcAft>
                <a:spcPts val="0"/>
              </a:spcAft>
              <a:buClr>
                <a:schemeClr val="dk1"/>
              </a:buClr>
              <a:buSzPts val="2400"/>
              <a:buFont typeface="Times New Roman"/>
              <a:buNone/>
            </a:pPr>
            <a:r>
              <a:rPr lang="en-US" sz="2400">
                <a:solidFill>
                  <a:schemeClr val="dk1"/>
                </a:solidFill>
                <a:latin typeface="Times New Roman"/>
                <a:ea typeface="Times New Roman"/>
                <a:cs typeface="Times New Roman"/>
                <a:sym typeface="Times New Roman"/>
              </a:rPr>
              <a:t>SSO mang lại nhiều lợi ích cho cả người dùng lẫn tổ chức, doanh nghiệp, từ việc nâng cao trải nghiệm người dùng cho đến việc quản lý bảo mật cách hiệu quả hơn. Tuy nhiên, khi triển khai SSO đối với tổ chức, doanh nghiệp cần phải thận trọng để đảm bảo hệ thống được bảo mật kỹ lưỡng và tránh các rủi ro.</a:t>
            </a:r>
            <a:endParaRPr sz="2400">
              <a:solidFill>
                <a:schemeClr val="dk1"/>
              </a:solidFill>
              <a:latin typeface="Times New Roman"/>
              <a:ea typeface="Times New Roman"/>
              <a:cs typeface="Times New Roman"/>
              <a:sym typeface="Times New Roman"/>
            </a:endParaRPr>
          </a:p>
        </p:txBody>
      </p:sp>
      <p:sp>
        <p:nvSpPr>
          <p:cNvPr id="304" name="Google Shape;304;p15"/>
          <p:cNvSpPr/>
          <p:nvPr/>
        </p:nvSpPr>
        <p:spPr>
          <a:xfrm>
            <a:off x="6280190" y="4367047"/>
            <a:ext cx="30480" cy="2324814"/>
          </a:xfrm>
          <a:prstGeom prst="rect">
            <a:avLst/>
          </a:prstGeom>
          <a:solidFill>
            <a:srgbClr val="E1C2C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pic>
        <p:nvPicPr>
          <p:cNvPr id="305" name="Google Shape;305;p15"/>
          <p:cNvPicPr preferRelativeResize="0"/>
          <p:nvPr/>
        </p:nvPicPr>
        <p:blipFill rotWithShape="1">
          <a:blip r:embed="rId4">
            <a:alphaModFix/>
          </a:blip>
          <a:srcRect b="0" l="0" r="0" t="0"/>
          <a:stretch/>
        </p:blipFill>
        <p:spPr>
          <a:xfrm>
            <a:off x="10318764" y="7486546"/>
            <a:ext cx="4229690" cy="743054"/>
          </a:xfrm>
          <a:prstGeom prst="rect">
            <a:avLst/>
          </a:prstGeom>
          <a:noFill/>
          <a:ln>
            <a:noFill/>
          </a:ln>
        </p:spPr>
      </p:pic>
      <p:sp>
        <p:nvSpPr>
          <p:cNvPr id="306" name="Google Shape;306;p15"/>
          <p:cNvSpPr/>
          <p:nvPr/>
        </p:nvSpPr>
        <p:spPr>
          <a:xfrm>
            <a:off x="13002322" y="7534178"/>
            <a:ext cx="1393902" cy="490654"/>
          </a:xfrm>
          <a:prstGeom prst="ellipse">
            <a:avLst/>
          </a:prstGeom>
          <a:solidFill>
            <a:schemeClr val="l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7" name="Google Shape;307;p15"/>
          <p:cNvSpPr txBox="1"/>
          <p:nvPr/>
        </p:nvSpPr>
        <p:spPr>
          <a:xfrm>
            <a:off x="13225346" y="7548672"/>
            <a:ext cx="94785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Times New Roman"/>
                <a:ea typeface="Times New Roman"/>
                <a:cs typeface="Times New Roman"/>
                <a:sym typeface="Times New Roman"/>
              </a:rPr>
              <a:t>15</a:t>
            </a:r>
            <a:endParaRPr b="1" sz="2400">
              <a:solidFill>
                <a:schemeClr val="dk1"/>
              </a:solidFill>
              <a:latin typeface="Times New Roman"/>
              <a:ea typeface="Times New Roman"/>
              <a:cs typeface="Times New Roman"/>
              <a:sym typeface="Times New Roman"/>
            </a:endParaRPr>
          </a:p>
        </p:txBody>
      </p:sp>
      <p:pic>
        <p:nvPicPr>
          <p:cNvPr descr="preencoded.png" id="308" name="Google Shape;308;p15"/>
          <p:cNvPicPr preferRelativeResize="0"/>
          <p:nvPr/>
        </p:nvPicPr>
        <p:blipFill rotWithShape="1">
          <a:blip r:embed="rId5">
            <a:alphaModFix/>
          </a:blip>
          <a:srcRect b="0" l="0" r="0" t="0"/>
          <a:stretch/>
        </p:blipFill>
        <p:spPr>
          <a:xfrm>
            <a:off x="0" y="0"/>
            <a:ext cx="14630400" cy="293917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6"/>
          <p:cNvSpPr/>
          <p:nvPr/>
        </p:nvSpPr>
        <p:spPr>
          <a:xfrm>
            <a:off x="2467138" y="3398821"/>
            <a:ext cx="9696124" cy="708779"/>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4B6981"/>
              </a:buClr>
              <a:buSzPts val="4450"/>
              <a:buFont typeface="Playfair Display SemiBold"/>
              <a:buNone/>
            </a:pPr>
            <a:r>
              <a:rPr b="1" lang="en-US" sz="4450">
                <a:solidFill>
                  <a:srgbClr val="4B6981"/>
                </a:solidFill>
                <a:latin typeface="Playfair Display SemiBold"/>
                <a:ea typeface="Playfair Display SemiBold"/>
                <a:cs typeface="Playfair Display SemiBold"/>
                <a:sym typeface="Playfair Display SemiBold"/>
              </a:rPr>
              <a:t>Cám ơn thầy và các bạn đã lắng nghe</a:t>
            </a:r>
            <a:endParaRPr sz="4450">
              <a:solidFill>
                <a:schemeClr val="dk1"/>
              </a:solidFill>
              <a:latin typeface="Calibri"/>
              <a:ea typeface="Calibri"/>
              <a:cs typeface="Calibri"/>
              <a:sym typeface="Calibri"/>
            </a:endParaRPr>
          </a:p>
        </p:txBody>
      </p:sp>
      <p:pic>
        <p:nvPicPr>
          <p:cNvPr id="315" name="Google Shape;315;p16"/>
          <p:cNvPicPr preferRelativeResize="0"/>
          <p:nvPr/>
        </p:nvPicPr>
        <p:blipFill rotWithShape="1">
          <a:blip r:embed="rId3">
            <a:alphaModFix/>
          </a:blip>
          <a:srcRect b="0" l="0" r="0" t="0"/>
          <a:stretch/>
        </p:blipFill>
        <p:spPr>
          <a:xfrm>
            <a:off x="10318764" y="7486546"/>
            <a:ext cx="4229690" cy="743054"/>
          </a:xfrm>
          <a:prstGeom prst="rect">
            <a:avLst/>
          </a:prstGeom>
          <a:noFill/>
          <a:ln>
            <a:noFill/>
          </a:ln>
        </p:spPr>
      </p:pic>
      <p:sp>
        <p:nvSpPr>
          <p:cNvPr id="316" name="Google Shape;316;p16"/>
          <p:cNvSpPr/>
          <p:nvPr/>
        </p:nvSpPr>
        <p:spPr>
          <a:xfrm>
            <a:off x="13002322" y="7534178"/>
            <a:ext cx="1393902" cy="490654"/>
          </a:xfrm>
          <a:prstGeom prst="ellipse">
            <a:avLst/>
          </a:prstGeom>
          <a:solidFill>
            <a:schemeClr val="l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 name="Google Shape;317;p16"/>
          <p:cNvSpPr txBox="1"/>
          <p:nvPr/>
        </p:nvSpPr>
        <p:spPr>
          <a:xfrm>
            <a:off x="13225346" y="7548672"/>
            <a:ext cx="94785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Times New Roman"/>
                <a:ea typeface="Times New Roman"/>
                <a:cs typeface="Times New Roman"/>
                <a:sym typeface="Times New Roman"/>
              </a:rPr>
              <a:t>16</a:t>
            </a:r>
            <a:endParaRPr b="1" sz="2400">
              <a:solidFill>
                <a:schemeClr val="dk1"/>
              </a:solidFill>
              <a:latin typeface="Times New Roman"/>
              <a:ea typeface="Times New Roman"/>
              <a:cs typeface="Times New Roman"/>
              <a:sym typeface="Times New Roman"/>
            </a:endParaRPr>
          </a:p>
        </p:txBody>
      </p:sp>
      <p:pic>
        <p:nvPicPr>
          <p:cNvPr descr="preencoded.png" id="318" name="Google Shape;318;p16"/>
          <p:cNvPicPr preferRelativeResize="0"/>
          <p:nvPr/>
        </p:nvPicPr>
        <p:blipFill rotWithShape="1">
          <a:blip r:embed="rId4">
            <a:alphaModFix/>
          </a:blip>
          <a:srcRect b="0" l="0" r="0" t="0"/>
          <a:stretch/>
        </p:blipFill>
        <p:spPr>
          <a:xfrm>
            <a:off x="0" y="0"/>
            <a:ext cx="14630400" cy="290857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2025-09-25T05:59:58Z</dcterms:created>
</cp:coreProperties>
</file>