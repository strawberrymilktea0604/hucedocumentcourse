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0"/>
  </p:notesMasterIdLst>
  <p:sldIdLst>
    <p:sldId id="256" r:id="rId2"/>
    <p:sldId id="258" r:id="rId3"/>
    <p:sldId id="260" r:id="rId4"/>
    <p:sldId id="261" r:id="rId5"/>
    <p:sldId id="264" r:id="rId6"/>
    <p:sldId id="311" r:id="rId7"/>
    <p:sldId id="318" r:id="rId8"/>
    <p:sldId id="319" r:id="rId9"/>
    <p:sldId id="320" r:id="rId10"/>
    <p:sldId id="321" r:id="rId11"/>
    <p:sldId id="312" r:id="rId12"/>
    <p:sldId id="263" r:id="rId13"/>
    <p:sldId id="273" r:id="rId14"/>
    <p:sldId id="315" r:id="rId15"/>
    <p:sldId id="313" r:id="rId16"/>
    <p:sldId id="322" r:id="rId17"/>
    <p:sldId id="323" r:id="rId18"/>
    <p:sldId id="290" r:id="rId19"/>
  </p:sldIdLst>
  <p:sldSz cx="9144000" cy="5143500" type="screen16x9"/>
  <p:notesSz cx="6858000" cy="9144000"/>
  <p:embeddedFontLst>
    <p:embeddedFont>
      <p:font typeface="Albert Sans" panose="020B0604020202020204" charset="0"/>
      <p:regular r:id="rId21"/>
      <p:bold r:id="rId22"/>
      <p:italic r:id="rId23"/>
      <p:boldItalic r:id="rId24"/>
    </p:embeddedFont>
    <p:embeddedFont>
      <p:font typeface="Alexandria" panose="020B0604020202020204" charset="-78"/>
      <p:regular r:id="rId25"/>
      <p:bold r:id="rId26"/>
    </p:embeddedFont>
    <p:embeddedFont>
      <p:font typeface="Alexandria Medium" panose="020B0604020202020204" charset="-78"/>
      <p:regular r:id="rId27"/>
      <p:bold r:id="rId28"/>
    </p:embeddedFont>
    <p:embeddedFont>
      <p:font typeface="Helvetica" panose="020B060402020202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FA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3B494C-4793-46E8-AB19-BB0AF9C8D2B5}">
  <a:tblStyle styleId="{D43B494C-4793-46E8-AB19-BB0AF9C8D2B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514A2FA-7872-4A84-AC84-6EEC5ED78BC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86" autoAdjust="0"/>
    <p:restoredTop sz="94660"/>
  </p:normalViewPr>
  <p:slideViewPr>
    <p:cSldViewPr snapToGrid="0">
      <p:cViewPr varScale="1">
        <p:scale>
          <a:sx n="120" d="100"/>
          <a:sy n="120" d="100"/>
        </p:scale>
        <p:origin x="99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558abb5f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558abb5f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553b51d4ff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553b51d4ff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558abb5fb3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58abb5fb3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5685abcf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5685abcf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0CF3C79C-A9FF-045F-C687-0951663FB53B}"/>
            </a:ext>
          </a:extLst>
        </p:cNvPr>
        <p:cNvGrpSpPr/>
        <p:nvPr/>
      </p:nvGrpSpPr>
      <p:grpSpPr>
        <a:xfrm>
          <a:off x="0" y="0"/>
          <a:ext cx="0" cy="0"/>
          <a:chOff x="0" y="0"/>
          <a:chExt cx="0" cy="0"/>
        </a:xfrm>
      </p:grpSpPr>
      <p:sp>
        <p:nvSpPr>
          <p:cNvPr id="231" name="Google Shape;231;g2558abb5fb3_0_94:notes">
            <a:extLst>
              <a:ext uri="{FF2B5EF4-FFF2-40B4-BE49-F238E27FC236}">
                <a16:creationId xmlns:a16="http://schemas.microsoft.com/office/drawing/2014/main" id="{9CDC99B3-C572-9C8E-462C-C1CA82DB86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58abb5fb3_0_94:notes">
            <a:extLst>
              <a:ext uri="{FF2B5EF4-FFF2-40B4-BE49-F238E27FC236}">
                <a16:creationId xmlns:a16="http://schemas.microsoft.com/office/drawing/2014/main" id="{2D8423F9-074F-8F53-3006-249B806C76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0971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E7F60235-8E8D-E4F4-76C7-AC1C71D78C2F}"/>
            </a:ext>
          </a:extLst>
        </p:cNvPr>
        <p:cNvGrpSpPr/>
        <p:nvPr/>
      </p:nvGrpSpPr>
      <p:grpSpPr>
        <a:xfrm>
          <a:off x="0" y="0"/>
          <a:ext cx="0" cy="0"/>
          <a:chOff x="0" y="0"/>
          <a:chExt cx="0" cy="0"/>
        </a:xfrm>
      </p:grpSpPr>
      <p:sp>
        <p:nvSpPr>
          <p:cNvPr id="260" name="Google Shape;260;g25703cb3a7b_0_64:notes">
            <a:extLst>
              <a:ext uri="{FF2B5EF4-FFF2-40B4-BE49-F238E27FC236}">
                <a16:creationId xmlns:a16="http://schemas.microsoft.com/office/drawing/2014/main" id="{5DCA6042-BD58-8BBF-B4F9-E593FC941A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a:extLst>
              <a:ext uri="{FF2B5EF4-FFF2-40B4-BE49-F238E27FC236}">
                <a16:creationId xmlns:a16="http://schemas.microsoft.com/office/drawing/2014/main" id="{F7413EE2-8741-1938-E570-4880E31B65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2507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FE6AD630-0B36-B183-B36C-E3815AA9A8EF}"/>
            </a:ext>
          </a:extLst>
        </p:cNvPr>
        <p:cNvGrpSpPr/>
        <p:nvPr/>
      </p:nvGrpSpPr>
      <p:grpSpPr>
        <a:xfrm>
          <a:off x="0" y="0"/>
          <a:ext cx="0" cy="0"/>
          <a:chOff x="0" y="0"/>
          <a:chExt cx="0" cy="0"/>
        </a:xfrm>
      </p:grpSpPr>
      <p:sp>
        <p:nvSpPr>
          <p:cNvPr id="260" name="Google Shape;260;g25703cb3a7b_0_64:notes">
            <a:extLst>
              <a:ext uri="{FF2B5EF4-FFF2-40B4-BE49-F238E27FC236}">
                <a16:creationId xmlns:a16="http://schemas.microsoft.com/office/drawing/2014/main" id="{B06FBA37-33EF-D346-2B94-AC6AF27A90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a:extLst>
              <a:ext uri="{FF2B5EF4-FFF2-40B4-BE49-F238E27FC236}">
                <a16:creationId xmlns:a16="http://schemas.microsoft.com/office/drawing/2014/main" id="{40EA6E95-E7A9-7714-4C64-6F8AC09CF4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5107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31E61C14-2B21-A89D-EE28-306B12B2F9F8}"/>
            </a:ext>
          </a:extLst>
        </p:cNvPr>
        <p:cNvGrpSpPr/>
        <p:nvPr/>
      </p:nvGrpSpPr>
      <p:grpSpPr>
        <a:xfrm>
          <a:off x="0" y="0"/>
          <a:ext cx="0" cy="0"/>
          <a:chOff x="0" y="0"/>
          <a:chExt cx="0" cy="0"/>
        </a:xfrm>
      </p:grpSpPr>
      <p:sp>
        <p:nvSpPr>
          <p:cNvPr id="260" name="Google Shape;260;g25703cb3a7b_0_64:notes">
            <a:extLst>
              <a:ext uri="{FF2B5EF4-FFF2-40B4-BE49-F238E27FC236}">
                <a16:creationId xmlns:a16="http://schemas.microsoft.com/office/drawing/2014/main" id="{89C04BDB-0CC5-80AB-F6FD-8E53AFD20C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a:extLst>
              <a:ext uri="{FF2B5EF4-FFF2-40B4-BE49-F238E27FC236}">
                <a16:creationId xmlns:a16="http://schemas.microsoft.com/office/drawing/2014/main" id="{7A765C4D-43FE-46FE-A36B-E1144C83EE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0321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309EEF20-40B8-BC5D-ACA4-05B141CF4BF0}"/>
            </a:ext>
          </a:extLst>
        </p:cNvPr>
        <p:cNvGrpSpPr/>
        <p:nvPr/>
      </p:nvGrpSpPr>
      <p:grpSpPr>
        <a:xfrm>
          <a:off x="0" y="0"/>
          <a:ext cx="0" cy="0"/>
          <a:chOff x="0" y="0"/>
          <a:chExt cx="0" cy="0"/>
        </a:xfrm>
      </p:grpSpPr>
      <p:sp>
        <p:nvSpPr>
          <p:cNvPr id="260" name="Google Shape;260;g25703cb3a7b_0_64:notes">
            <a:extLst>
              <a:ext uri="{FF2B5EF4-FFF2-40B4-BE49-F238E27FC236}">
                <a16:creationId xmlns:a16="http://schemas.microsoft.com/office/drawing/2014/main" id="{C2625D78-3F4D-AC63-6B1E-03CD8642A5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a:extLst>
              <a:ext uri="{FF2B5EF4-FFF2-40B4-BE49-F238E27FC236}">
                <a16:creationId xmlns:a16="http://schemas.microsoft.com/office/drawing/2014/main" id="{CA0C94E4-C99D-8EC6-81DF-E15A81668F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16662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B463AD66-BA79-D9AF-8F7E-E81B73594B36}"/>
            </a:ext>
          </a:extLst>
        </p:cNvPr>
        <p:cNvGrpSpPr/>
        <p:nvPr/>
      </p:nvGrpSpPr>
      <p:grpSpPr>
        <a:xfrm>
          <a:off x="0" y="0"/>
          <a:ext cx="0" cy="0"/>
          <a:chOff x="0" y="0"/>
          <a:chExt cx="0" cy="0"/>
        </a:xfrm>
      </p:grpSpPr>
      <p:sp>
        <p:nvSpPr>
          <p:cNvPr id="231" name="Google Shape;231;g2558abb5fb3_0_94:notes">
            <a:extLst>
              <a:ext uri="{FF2B5EF4-FFF2-40B4-BE49-F238E27FC236}">
                <a16:creationId xmlns:a16="http://schemas.microsoft.com/office/drawing/2014/main" id="{C4907A8D-D9E3-7007-97E7-BCA110FA64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58abb5fb3_0_94:notes">
            <a:extLst>
              <a:ext uri="{FF2B5EF4-FFF2-40B4-BE49-F238E27FC236}">
                <a16:creationId xmlns:a16="http://schemas.microsoft.com/office/drawing/2014/main" id="{EF0A01AE-57D1-05DA-E0C0-5C125931D3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0152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703cb3a7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5703cb3a7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572bee519d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572bee519d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a:extLst>
            <a:ext uri="{FF2B5EF4-FFF2-40B4-BE49-F238E27FC236}">
              <a16:creationId xmlns:a16="http://schemas.microsoft.com/office/drawing/2014/main" id="{2F54396E-4A23-8684-FD64-3E6D5A44D0FF}"/>
            </a:ext>
          </a:extLst>
        </p:cNvPr>
        <p:cNvGrpSpPr/>
        <p:nvPr/>
      </p:nvGrpSpPr>
      <p:grpSpPr>
        <a:xfrm>
          <a:off x="0" y="0"/>
          <a:ext cx="0" cy="0"/>
          <a:chOff x="0" y="0"/>
          <a:chExt cx="0" cy="0"/>
        </a:xfrm>
      </p:grpSpPr>
      <p:sp>
        <p:nvSpPr>
          <p:cNvPr id="388" name="Google Shape;388;g2572bee519d_0_237:notes">
            <a:extLst>
              <a:ext uri="{FF2B5EF4-FFF2-40B4-BE49-F238E27FC236}">
                <a16:creationId xmlns:a16="http://schemas.microsoft.com/office/drawing/2014/main" id="{8350D9B8-A5D4-B8D2-C30B-9F11F1A86F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572bee519d_0_237:notes">
            <a:extLst>
              <a:ext uri="{FF2B5EF4-FFF2-40B4-BE49-F238E27FC236}">
                <a16:creationId xmlns:a16="http://schemas.microsoft.com/office/drawing/2014/main" id="{A0E8CCC2-16DD-661F-23E6-B0F74070E9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2856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C62D7FA3-6BE6-4CAF-B103-B3A415FAC3EE}"/>
            </a:ext>
          </a:extLst>
        </p:cNvPr>
        <p:cNvGrpSpPr/>
        <p:nvPr/>
      </p:nvGrpSpPr>
      <p:grpSpPr>
        <a:xfrm>
          <a:off x="0" y="0"/>
          <a:ext cx="0" cy="0"/>
          <a:chOff x="0" y="0"/>
          <a:chExt cx="0" cy="0"/>
        </a:xfrm>
      </p:grpSpPr>
      <p:sp>
        <p:nvSpPr>
          <p:cNvPr id="231" name="Google Shape;231;g2558abb5fb3_0_94:notes">
            <a:extLst>
              <a:ext uri="{FF2B5EF4-FFF2-40B4-BE49-F238E27FC236}">
                <a16:creationId xmlns:a16="http://schemas.microsoft.com/office/drawing/2014/main" id="{18E28B9D-E3D5-CE8B-2F62-87F3298D2F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58abb5fb3_0_94:notes">
            <a:extLst>
              <a:ext uri="{FF2B5EF4-FFF2-40B4-BE49-F238E27FC236}">
                <a16:creationId xmlns:a16="http://schemas.microsoft.com/office/drawing/2014/main" id="{3CC85F3E-AB1D-F03B-1C81-8702B710FB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0455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4C2A3A04-1D4F-FE19-9719-DE94AA23B2EB}"/>
            </a:ext>
          </a:extLst>
        </p:cNvPr>
        <p:cNvGrpSpPr/>
        <p:nvPr/>
      </p:nvGrpSpPr>
      <p:grpSpPr>
        <a:xfrm>
          <a:off x="0" y="0"/>
          <a:ext cx="0" cy="0"/>
          <a:chOff x="0" y="0"/>
          <a:chExt cx="0" cy="0"/>
        </a:xfrm>
      </p:grpSpPr>
      <p:sp>
        <p:nvSpPr>
          <p:cNvPr id="260" name="Google Shape;260;g25703cb3a7b_0_64:notes">
            <a:extLst>
              <a:ext uri="{FF2B5EF4-FFF2-40B4-BE49-F238E27FC236}">
                <a16:creationId xmlns:a16="http://schemas.microsoft.com/office/drawing/2014/main" id="{C5815893-16B6-9B0F-C648-702962DE74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a:extLst>
              <a:ext uri="{FF2B5EF4-FFF2-40B4-BE49-F238E27FC236}">
                <a16:creationId xmlns:a16="http://schemas.microsoft.com/office/drawing/2014/main" id="{B0FA3A5D-0231-095C-6136-2AAB0B1AE4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9148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6E53D532-7ECE-E108-16F4-F73AF08E27EB}"/>
            </a:ext>
          </a:extLst>
        </p:cNvPr>
        <p:cNvGrpSpPr/>
        <p:nvPr/>
      </p:nvGrpSpPr>
      <p:grpSpPr>
        <a:xfrm>
          <a:off x="0" y="0"/>
          <a:ext cx="0" cy="0"/>
          <a:chOff x="0" y="0"/>
          <a:chExt cx="0" cy="0"/>
        </a:xfrm>
      </p:grpSpPr>
      <p:sp>
        <p:nvSpPr>
          <p:cNvPr id="260" name="Google Shape;260;g25703cb3a7b_0_64:notes">
            <a:extLst>
              <a:ext uri="{FF2B5EF4-FFF2-40B4-BE49-F238E27FC236}">
                <a16:creationId xmlns:a16="http://schemas.microsoft.com/office/drawing/2014/main" id="{50787C88-45EF-65E5-2AAE-DC83F809D6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a:extLst>
              <a:ext uri="{FF2B5EF4-FFF2-40B4-BE49-F238E27FC236}">
                <a16:creationId xmlns:a16="http://schemas.microsoft.com/office/drawing/2014/main" id="{0CD0FCD9-198B-5059-45D6-59F26411E7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91786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2572bee519d_0_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2572bee519d_0_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55210" t="50562" r="55209" b="-6811"/>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l="-19689" t="41478" r="19690" b="2272"/>
          <a:stretch/>
        </p:blipFill>
        <p:spPr>
          <a:xfrm>
            <a:off x="0" y="0"/>
            <a:ext cx="9144000" cy="5143500"/>
          </a:xfrm>
          <a:prstGeom prst="rect">
            <a:avLst/>
          </a:prstGeom>
          <a:noFill/>
          <a:ln>
            <a:noFill/>
          </a:ln>
        </p:spPr>
      </p:pic>
      <p:sp>
        <p:nvSpPr>
          <p:cNvPr id="11" name="Google Shape;11;p2"/>
          <p:cNvSpPr txBox="1">
            <a:spLocks noGrp="1"/>
          </p:cNvSpPr>
          <p:nvPr>
            <p:ph type="ctrTitle"/>
          </p:nvPr>
        </p:nvSpPr>
        <p:spPr>
          <a:xfrm>
            <a:off x="711750" y="1958600"/>
            <a:ext cx="4280100" cy="26499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4572000" y="535000"/>
            <a:ext cx="3860400" cy="3882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l="-55210" t="50562" r="55209" b="-6811"/>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l="36283" t="30" r="-6" b="-40"/>
          <a:stretch/>
        </p:blipFill>
        <p:spPr>
          <a:xfrm rot="10800000">
            <a:off x="5864950" y="-3275"/>
            <a:ext cx="3279050" cy="5146775"/>
          </a:xfrm>
          <a:prstGeom prst="rect">
            <a:avLst/>
          </a:prstGeom>
          <a:noFill/>
          <a:ln>
            <a:noFill/>
          </a:ln>
        </p:spPr>
      </p:pic>
      <p:sp>
        <p:nvSpPr>
          <p:cNvPr id="16" name="Google Shape;16;p3"/>
          <p:cNvSpPr txBox="1">
            <a:spLocks noGrp="1"/>
          </p:cNvSpPr>
          <p:nvPr>
            <p:ph type="title"/>
          </p:nvPr>
        </p:nvSpPr>
        <p:spPr>
          <a:xfrm>
            <a:off x="715100" y="3328050"/>
            <a:ext cx="7708800" cy="1253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715100" y="2074250"/>
            <a:ext cx="7708800" cy="1253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6000"/>
              <a:buNone/>
              <a:defRPr sz="7000">
                <a:solidFill>
                  <a:schemeClr val="lt2"/>
                </a:solidFill>
              </a:defRPr>
            </a:lvl1pPr>
            <a:lvl2pPr lvl="1" algn="ctr" rtl="0">
              <a:spcBef>
                <a:spcPts val="0"/>
              </a:spcBef>
              <a:spcAft>
                <a:spcPts val="0"/>
              </a:spcAft>
              <a:buClr>
                <a:schemeClr val="lt2"/>
              </a:buClr>
              <a:buSzPts val="6000"/>
              <a:buNone/>
              <a:defRPr sz="6000">
                <a:solidFill>
                  <a:schemeClr val="lt2"/>
                </a:solidFill>
              </a:defRPr>
            </a:lvl2pPr>
            <a:lvl3pPr lvl="2" algn="ctr" rtl="0">
              <a:spcBef>
                <a:spcPts val="0"/>
              </a:spcBef>
              <a:spcAft>
                <a:spcPts val="0"/>
              </a:spcAft>
              <a:buClr>
                <a:schemeClr val="lt2"/>
              </a:buClr>
              <a:buSzPts val="6000"/>
              <a:buNone/>
              <a:defRPr sz="6000">
                <a:solidFill>
                  <a:schemeClr val="lt2"/>
                </a:solidFill>
              </a:defRPr>
            </a:lvl3pPr>
            <a:lvl4pPr lvl="3" algn="ctr" rtl="0">
              <a:spcBef>
                <a:spcPts val="0"/>
              </a:spcBef>
              <a:spcAft>
                <a:spcPts val="0"/>
              </a:spcAft>
              <a:buClr>
                <a:schemeClr val="lt2"/>
              </a:buClr>
              <a:buSzPts val="6000"/>
              <a:buNone/>
              <a:defRPr sz="6000">
                <a:solidFill>
                  <a:schemeClr val="lt2"/>
                </a:solidFill>
              </a:defRPr>
            </a:lvl4pPr>
            <a:lvl5pPr lvl="4" algn="ctr" rtl="0">
              <a:spcBef>
                <a:spcPts val="0"/>
              </a:spcBef>
              <a:spcAft>
                <a:spcPts val="0"/>
              </a:spcAft>
              <a:buClr>
                <a:schemeClr val="lt2"/>
              </a:buClr>
              <a:buSzPts val="6000"/>
              <a:buNone/>
              <a:defRPr sz="6000">
                <a:solidFill>
                  <a:schemeClr val="lt2"/>
                </a:solidFill>
              </a:defRPr>
            </a:lvl5pPr>
            <a:lvl6pPr lvl="5" algn="ctr" rtl="0">
              <a:spcBef>
                <a:spcPts val="0"/>
              </a:spcBef>
              <a:spcAft>
                <a:spcPts val="0"/>
              </a:spcAft>
              <a:buClr>
                <a:schemeClr val="lt2"/>
              </a:buClr>
              <a:buSzPts val="6000"/>
              <a:buNone/>
              <a:defRPr sz="6000">
                <a:solidFill>
                  <a:schemeClr val="lt2"/>
                </a:solidFill>
              </a:defRPr>
            </a:lvl6pPr>
            <a:lvl7pPr lvl="6" algn="ctr" rtl="0">
              <a:spcBef>
                <a:spcPts val="0"/>
              </a:spcBef>
              <a:spcAft>
                <a:spcPts val="0"/>
              </a:spcAft>
              <a:buClr>
                <a:schemeClr val="lt2"/>
              </a:buClr>
              <a:buSzPts val="6000"/>
              <a:buNone/>
              <a:defRPr sz="6000">
                <a:solidFill>
                  <a:schemeClr val="lt2"/>
                </a:solidFill>
              </a:defRPr>
            </a:lvl7pPr>
            <a:lvl8pPr lvl="7" algn="ctr" rtl="0">
              <a:spcBef>
                <a:spcPts val="0"/>
              </a:spcBef>
              <a:spcAft>
                <a:spcPts val="0"/>
              </a:spcAft>
              <a:buClr>
                <a:schemeClr val="lt2"/>
              </a:buClr>
              <a:buSzPts val="6000"/>
              <a:buNone/>
              <a:defRPr sz="6000">
                <a:solidFill>
                  <a:schemeClr val="lt2"/>
                </a:solidFill>
              </a:defRPr>
            </a:lvl8pPr>
            <a:lvl9pPr lvl="8" algn="ctr" rtl="0">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l="174697" t="-83399" r="177064" b="41635"/>
          <a:stretch/>
        </p:blipFill>
        <p:spPr>
          <a:xfrm>
            <a:off x="1325" y="-1637"/>
            <a:ext cx="9141450" cy="5146775"/>
          </a:xfrm>
          <a:prstGeom prst="rect">
            <a:avLst/>
          </a:prstGeom>
          <a:noFill/>
          <a:ln>
            <a:noFill/>
          </a:ln>
        </p:spPr>
      </p:pic>
      <p:sp>
        <p:nvSpPr>
          <p:cNvPr id="21" name="Google Shape;21;p4"/>
          <p:cNvSpPr txBox="1">
            <a:spLocks noGrp="1"/>
          </p:cNvSpPr>
          <p:nvPr>
            <p:ph type="title"/>
          </p:nvPr>
        </p:nvSpPr>
        <p:spPr>
          <a:xfrm>
            <a:off x="715100" y="535000"/>
            <a:ext cx="3856800" cy="9489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22" name="Google Shape;22;p4"/>
          <p:cNvSpPr txBox="1">
            <a:spLocks noGrp="1"/>
          </p:cNvSpPr>
          <p:nvPr>
            <p:ph type="body" idx="1"/>
          </p:nvPr>
        </p:nvSpPr>
        <p:spPr>
          <a:xfrm>
            <a:off x="715100" y="1636300"/>
            <a:ext cx="3856800" cy="1894800"/>
          </a:xfrm>
          <a:prstGeom prst="rect">
            <a:avLst/>
          </a:prstGeom>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sz="1200">
                <a:solidFill>
                  <a:schemeClr val="dk1"/>
                </a:solidFill>
              </a:defRPr>
            </a:lvl1pPr>
            <a:lvl2pPr marL="914400" lvl="1" indent="-304800" rtl="0">
              <a:lnSpc>
                <a:spcPct val="100000"/>
              </a:lnSpc>
              <a:spcBef>
                <a:spcPts val="0"/>
              </a:spcBef>
              <a:spcAft>
                <a:spcPts val="0"/>
              </a:spcAft>
              <a:buClr>
                <a:schemeClr val="dk1"/>
              </a:buClr>
              <a:buSzPts val="1200"/>
              <a:buChar char="○"/>
              <a:defRPr sz="1200">
                <a:solidFill>
                  <a:schemeClr val="dk1"/>
                </a:solidFill>
              </a:defRPr>
            </a:lvl2pPr>
            <a:lvl3pPr marL="1371600" lvl="2" indent="-304800" rtl="0">
              <a:lnSpc>
                <a:spcPct val="100000"/>
              </a:lnSpc>
              <a:spcBef>
                <a:spcPts val="0"/>
              </a:spcBef>
              <a:spcAft>
                <a:spcPts val="0"/>
              </a:spcAft>
              <a:buClr>
                <a:schemeClr val="dk1"/>
              </a:buClr>
              <a:buSzPts val="1200"/>
              <a:buChar char="■"/>
              <a:defRPr sz="1200">
                <a:solidFill>
                  <a:schemeClr val="dk1"/>
                </a:solidFill>
              </a:defRPr>
            </a:lvl3pPr>
            <a:lvl4pPr marL="1828800" lvl="3" indent="-304800" rtl="0">
              <a:lnSpc>
                <a:spcPct val="100000"/>
              </a:lnSpc>
              <a:spcBef>
                <a:spcPts val="0"/>
              </a:spcBef>
              <a:spcAft>
                <a:spcPts val="0"/>
              </a:spcAft>
              <a:buClr>
                <a:schemeClr val="dk1"/>
              </a:buClr>
              <a:buSzPts val="1200"/>
              <a:buChar char="●"/>
              <a:defRPr sz="1200">
                <a:solidFill>
                  <a:schemeClr val="dk1"/>
                </a:solidFill>
              </a:defRPr>
            </a:lvl4pPr>
            <a:lvl5pPr marL="2286000" lvl="4" indent="-304800" rtl="0">
              <a:lnSpc>
                <a:spcPct val="100000"/>
              </a:lnSpc>
              <a:spcBef>
                <a:spcPts val="0"/>
              </a:spcBef>
              <a:spcAft>
                <a:spcPts val="0"/>
              </a:spcAft>
              <a:buClr>
                <a:schemeClr val="dk1"/>
              </a:buClr>
              <a:buSzPts val="1200"/>
              <a:buChar char="○"/>
              <a:defRPr sz="1200">
                <a:solidFill>
                  <a:schemeClr val="dk1"/>
                </a:solidFill>
              </a:defRPr>
            </a:lvl5pPr>
            <a:lvl6pPr marL="2743200" lvl="5" indent="-304800" rtl="0">
              <a:lnSpc>
                <a:spcPct val="100000"/>
              </a:lnSpc>
              <a:spcBef>
                <a:spcPts val="0"/>
              </a:spcBef>
              <a:spcAft>
                <a:spcPts val="0"/>
              </a:spcAft>
              <a:buClr>
                <a:schemeClr val="dk1"/>
              </a:buClr>
              <a:buSzPts val="1200"/>
              <a:buChar char="■"/>
              <a:defRPr sz="1200">
                <a:solidFill>
                  <a:schemeClr val="dk1"/>
                </a:solidFill>
              </a:defRPr>
            </a:lvl6pPr>
            <a:lvl7pPr marL="3200400" lvl="6" indent="-304800" rtl="0">
              <a:lnSpc>
                <a:spcPct val="100000"/>
              </a:lnSpc>
              <a:spcBef>
                <a:spcPts val="0"/>
              </a:spcBef>
              <a:spcAft>
                <a:spcPts val="0"/>
              </a:spcAft>
              <a:buClr>
                <a:schemeClr val="dk1"/>
              </a:buClr>
              <a:buSzPts val="1200"/>
              <a:buChar char="●"/>
              <a:defRPr sz="1200">
                <a:solidFill>
                  <a:schemeClr val="dk1"/>
                </a:solidFill>
              </a:defRPr>
            </a:lvl7pPr>
            <a:lvl8pPr marL="3657600" lvl="7" indent="-304800" rtl="0">
              <a:lnSpc>
                <a:spcPct val="100000"/>
              </a:lnSpc>
              <a:spcBef>
                <a:spcPts val="0"/>
              </a:spcBef>
              <a:spcAft>
                <a:spcPts val="0"/>
              </a:spcAft>
              <a:buClr>
                <a:schemeClr val="dk1"/>
              </a:buClr>
              <a:buSzPts val="1200"/>
              <a:buChar char="○"/>
              <a:defRPr sz="1200">
                <a:solidFill>
                  <a:schemeClr val="dk1"/>
                </a:solidFill>
              </a:defRPr>
            </a:lvl8pPr>
            <a:lvl9pPr marL="4114800" lvl="8" indent="-304800" rtl="0">
              <a:lnSpc>
                <a:spcPct val="100000"/>
              </a:lnSpc>
              <a:spcBef>
                <a:spcPts val="0"/>
              </a:spcBef>
              <a:spcAft>
                <a:spcPts val="0"/>
              </a:spcAft>
              <a:buClr>
                <a:schemeClr val="dk1"/>
              </a:buClr>
              <a:buSzPts val="1200"/>
              <a:buChar char="■"/>
              <a:defRPr sz="1200">
                <a:solidFill>
                  <a:schemeClr val="dk1"/>
                </a:solidFill>
              </a:defRPr>
            </a:lvl9pPr>
          </a:lstStyle>
          <a:p>
            <a:endParaRPr/>
          </a:p>
        </p:txBody>
      </p:sp>
      <p:sp>
        <p:nvSpPr>
          <p:cNvPr id="23" name="Google Shape;23;p4"/>
          <p:cNvSpPr>
            <a:spLocks noGrp="1"/>
          </p:cNvSpPr>
          <p:nvPr>
            <p:ph type="pic" idx="2"/>
          </p:nvPr>
        </p:nvSpPr>
        <p:spPr>
          <a:xfrm>
            <a:off x="5715175" y="75"/>
            <a:ext cx="34290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lt1"/>
        </a:solidFill>
        <a:effectLst/>
      </p:bgPr>
    </p:bg>
    <p:spTree>
      <p:nvGrpSpPr>
        <p:cNvPr id="1"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l="130683" t="-50527" r="175247" b="34585"/>
          <a:stretch/>
        </p:blipFill>
        <p:spPr>
          <a:xfrm>
            <a:off x="1325" y="-1637"/>
            <a:ext cx="9141450" cy="5146775"/>
          </a:xfrm>
          <a:prstGeom prst="rect">
            <a:avLst/>
          </a:prstGeom>
          <a:noFill/>
          <a:ln>
            <a:noFill/>
          </a:ln>
        </p:spPr>
      </p:pic>
      <p:sp>
        <p:nvSpPr>
          <p:cNvPr id="34" name="Google Shape;34;p7"/>
          <p:cNvSpPr txBox="1">
            <a:spLocks noGrp="1"/>
          </p:cNvSpPr>
          <p:nvPr>
            <p:ph type="title"/>
          </p:nvPr>
        </p:nvSpPr>
        <p:spPr>
          <a:xfrm>
            <a:off x="715100" y="535000"/>
            <a:ext cx="3856800" cy="954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35" name="Google Shape;35;p7"/>
          <p:cNvSpPr txBox="1">
            <a:spLocks noGrp="1"/>
          </p:cNvSpPr>
          <p:nvPr>
            <p:ph type="body" idx="1"/>
          </p:nvPr>
        </p:nvSpPr>
        <p:spPr>
          <a:xfrm>
            <a:off x="715100" y="1641400"/>
            <a:ext cx="3856800" cy="726300"/>
          </a:xfrm>
          <a:prstGeom prst="rect">
            <a:avLst/>
          </a:prstGeom>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sz="1200">
                <a:solidFill>
                  <a:schemeClr val="dk1"/>
                </a:solidFill>
              </a:defRPr>
            </a:lvl1pPr>
            <a:lvl2pPr marL="914400" lvl="1" indent="-304800" rtl="0">
              <a:lnSpc>
                <a:spcPct val="100000"/>
              </a:lnSpc>
              <a:spcBef>
                <a:spcPts val="0"/>
              </a:spcBef>
              <a:spcAft>
                <a:spcPts val="0"/>
              </a:spcAft>
              <a:buClr>
                <a:schemeClr val="dk1"/>
              </a:buClr>
              <a:buSzPts val="1200"/>
              <a:buChar char="○"/>
              <a:defRPr sz="1200">
                <a:solidFill>
                  <a:schemeClr val="dk1"/>
                </a:solidFill>
              </a:defRPr>
            </a:lvl2pPr>
            <a:lvl3pPr marL="1371600" lvl="2" indent="-304800" rtl="0">
              <a:lnSpc>
                <a:spcPct val="100000"/>
              </a:lnSpc>
              <a:spcBef>
                <a:spcPts val="0"/>
              </a:spcBef>
              <a:spcAft>
                <a:spcPts val="0"/>
              </a:spcAft>
              <a:buClr>
                <a:schemeClr val="dk1"/>
              </a:buClr>
              <a:buSzPts val="1200"/>
              <a:buChar char="■"/>
              <a:defRPr sz="1200">
                <a:solidFill>
                  <a:schemeClr val="dk1"/>
                </a:solidFill>
              </a:defRPr>
            </a:lvl3pPr>
            <a:lvl4pPr marL="1828800" lvl="3" indent="-304800" rtl="0">
              <a:lnSpc>
                <a:spcPct val="100000"/>
              </a:lnSpc>
              <a:spcBef>
                <a:spcPts val="0"/>
              </a:spcBef>
              <a:spcAft>
                <a:spcPts val="0"/>
              </a:spcAft>
              <a:buClr>
                <a:schemeClr val="dk1"/>
              </a:buClr>
              <a:buSzPts val="1200"/>
              <a:buChar char="●"/>
              <a:defRPr sz="1200">
                <a:solidFill>
                  <a:schemeClr val="dk1"/>
                </a:solidFill>
              </a:defRPr>
            </a:lvl4pPr>
            <a:lvl5pPr marL="2286000" lvl="4" indent="-304800" rtl="0">
              <a:lnSpc>
                <a:spcPct val="100000"/>
              </a:lnSpc>
              <a:spcBef>
                <a:spcPts val="0"/>
              </a:spcBef>
              <a:spcAft>
                <a:spcPts val="0"/>
              </a:spcAft>
              <a:buClr>
                <a:schemeClr val="dk1"/>
              </a:buClr>
              <a:buSzPts val="1200"/>
              <a:buChar char="○"/>
              <a:defRPr sz="1200">
                <a:solidFill>
                  <a:schemeClr val="dk1"/>
                </a:solidFill>
              </a:defRPr>
            </a:lvl5pPr>
            <a:lvl6pPr marL="2743200" lvl="5" indent="-304800" rtl="0">
              <a:lnSpc>
                <a:spcPct val="100000"/>
              </a:lnSpc>
              <a:spcBef>
                <a:spcPts val="0"/>
              </a:spcBef>
              <a:spcAft>
                <a:spcPts val="0"/>
              </a:spcAft>
              <a:buClr>
                <a:schemeClr val="dk1"/>
              </a:buClr>
              <a:buSzPts val="1200"/>
              <a:buChar char="■"/>
              <a:defRPr sz="1200">
                <a:solidFill>
                  <a:schemeClr val="dk1"/>
                </a:solidFill>
              </a:defRPr>
            </a:lvl6pPr>
            <a:lvl7pPr marL="3200400" lvl="6" indent="-304800" rtl="0">
              <a:lnSpc>
                <a:spcPct val="100000"/>
              </a:lnSpc>
              <a:spcBef>
                <a:spcPts val="0"/>
              </a:spcBef>
              <a:spcAft>
                <a:spcPts val="0"/>
              </a:spcAft>
              <a:buClr>
                <a:schemeClr val="dk1"/>
              </a:buClr>
              <a:buSzPts val="1200"/>
              <a:buChar char="●"/>
              <a:defRPr sz="1200">
                <a:solidFill>
                  <a:schemeClr val="dk1"/>
                </a:solidFill>
              </a:defRPr>
            </a:lvl7pPr>
            <a:lvl8pPr marL="3657600" lvl="7" indent="-304800" rtl="0">
              <a:lnSpc>
                <a:spcPct val="100000"/>
              </a:lnSpc>
              <a:spcBef>
                <a:spcPts val="0"/>
              </a:spcBef>
              <a:spcAft>
                <a:spcPts val="0"/>
              </a:spcAft>
              <a:buClr>
                <a:schemeClr val="dk1"/>
              </a:buClr>
              <a:buSzPts val="1200"/>
              <a:buChar char="○"/>
              <a:defRPr sz="1200">
                <a:solidFill>
                  <a:schemeClr val="dk1"/>
                </a:solidFill>
              </a:defRPr>
            </a:lvl8pPr>
            <a:lvl9pPr marL="4114800" lvl="8" indent="-304800" rtl="0">
              <a:lnSpc>
                <a:spcPct val="100000"/>
              </a:lnSpc>
              <a:spcBef>
                <a:spcPts val="0"/>
              </a:spcBef>
              <a:spcAft>
                <a:spcPts val="0"/>
              </a:spcAft>
              <a:buClr>
                <a:schemeClr val="dk1"/>
              </a:buClr>
              <a:buSzPts val="1200"/>
              <a:buChar char="■"/>
              <a:defRPr sz="1200">
                <a:solidFill>
                  <a:schemeClr val="dk1"/>
                </a:solidFill>
              </a:defRPr>
            </a:lvl9pPr>
          </a:lstStyle>
          <a:p>
            <a:endParaRPr/>
          </a:p>
        </p:txBody>
      </p:sp>
      <p:sp>
        <p:nvSpPr>
          <p:cNvPr id="36" name="Google Shape;36;p7"/>
          <p:cNvSpPr>
            <a:spLocks noGrp="1"/>
          </p:cNvSpPr>
          <p:nvPr>
            <p:ph type="pic" idx="2"/>
          </p:nvPr>
        </p:nvSpPr>
        <p:spPr>
          <a:xfrm>
            <a:off x="5714900" y="-75"/>
            <a:ext cx="3429000" cy="51435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l="7043" t="47434" r="-48486" b="-26994"/>
          <a:stretch/>
        </p:blipFill>
        <p:spPr>
          <a:xfrm rot="10800000" flipH="1">
            <a:off x="-12" y="-2285"/>
            <a:ext cx="9144000" cy="5148070"/>
          </a:xfrm>
          <a:prstGeom prst="rect">
            <a:avLst/>
          </a:prstGeom>
          <a:noFill/>
          <a:ln>
            <a:noFill/>
          </a:ln>
        </p:spPr>
      </p:pic>
      <p:sp>
        <p:nvSpPr>
          <p:cNvPr id="42" name="Google Shape;42;p9"/>
          <p:cNvSpPr txBox="1">
            <a:spLocks noGrp="1"/>
          </p:cNvSpPr>
          <p:nvPr>
            <p:ph type="title"/>
          </p:nvPr>
        </p:nvSpPr>
        <p:spPr>
          <a:xfrm>
            <a:off x="720000" y="535000"/>
            <a:ext cx="5925300" cy="1250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7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3" name="Google Shape;43;p9"/>
          <p:cNvSpPr txBox="1">
            <a:spLocks noGrp="1"/>
          </p:cNvSpPr>
          <p:nvPr>
            <p:ph type="subTitle" idx="1"/>
          </p:nvPr>
        </p:nvSpPr>
        <p:spPr>
          <a:xfrm>
            <a:off x="4572000" y="3358100"/>
            <a:ext cx="3856800" cy="125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
    <p:bg>
      <p:bgPr>
        <a:solidFill>
          <a:schemeClr val="lt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l="-235242" t="44962" r="44460" b="-108521"/>
          <a:stretch/>
        </p:blipFill>
        <p:spPr>
          <a:xfrm rot="10800000">
            <a:off x="-10150" y="0"/>
            <a:ext cx="9154150" cy="5148375"/>
          </a:xfrm>
          <a:prstGeom prst="rect">
            <a:avLst/>
          </a:prstGeom>
          <a:noFill/>
          <a:ln>
            <a:noFill/>
          </a:ln>
        </p:spPr>
      </p:pic>
      <p:sp>
        <p:nvSpPr>
          <p:cNvPr id="55" name="Google Shape;55;p13"/>
          <p:cNvSpPr txBox="1">
            <a:spLocks noGrp="1"/>
          </p:cNvSpPr>
          <p:nvPr>
            <p:ph type="title" hasCustomPrompt="1"/>
          </p:nvPr>
        </p:nvSpPr>
        <p:spPr>
          <a:xfrm>
            <a:off x="1070650" y="1367325"/>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subTitle" idx="1"/>
          </p:nvPr>
        </p:nvSpPr>
        <p:spPr>
          <a:xfrm>
            <a:off x="1609075" y="1367325"/>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57" name="Google Shape;57;p13"/>
          <p:cNvSpPr txBox="1">
            <a:spLocks noGrp="1"/>
          </p:cNvSpPr>
          <p:nvPr>
            <p:ph type="title" idx="2"/>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sp>
        <p:nvSpPr>
          <p:cNvPr id="58" name="Google Shape;58;p13"/>
          <p:cNvSpPr txBox="1">
            <a:spLocks noGrp="1"/>
          </p:cNvSpPr>
          <p:nvPr>
            <p:ph type="title" idx="3" hasCustomPrompt="1"/>
          </p:nvPr>
        </p:nvSpPr>
        <p:spPr>
          <a:xfrm>
            <a:off x="1070650" y="2103525"/>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4"/>
          </p:nvPr>
        </p:nvSpPr>
        <p:spPr>
          <a:xfrm>
            <a:off x="1609075" y="2103524"/>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0" name="Google Shape;60;p13"/>
          <p:cNvSpPr txBox="1">
            <a:spLocks noGrp="1"/>
          </p:cNvSpPr>
          <p:nvPr>
            <p:ph type="title" idx="5" hasCustomPrompt="1"/>
          </p:nvPr>
        </p:nvSpPr>
        <p:spPr>
          <a:xfrm>
            <a:off x="1070650" y="2839750"/>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a:spLocks noGrp="1"/>
          </p:cNvSpPr>
          <p:nvPr>
            <p:ph type="subTitle" idx="6"/>
          </p:nvPr>
        </p:nvSpPr>
        <p:spPr>
          <a:xfrm>
            <a:off x="1609075" y="2839748"/>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2" name="Google Shape;62;p13"/>
          <p:cNvSpPr txBox="1">
            <a:spLocks noGrp="1"/>
          </p:cNvSpPr>
          <p:nvPr>
            <p:ph type="title" idx="7" hasCustomPrompt="1"/>
          </p:nvPr>
        </p:nvSpPr>
        <p:spPr>
          <a:xfrm>
            <a:off x="1070650" y="3575950"/>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a:spLocks noGrp="1"/>
          </p:cNvSpPr>
          <p:nvPr>
            <p:ph type="subTitle" idx="8"/>
          </p:nvPr>
        </p:nvSpPr>
        <p:spPr>
          <a:xfrm>
            <a:off x="1609075" y="3575948"/>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4" name="Google Shape;64;p13"/>
          <p:cNvSpPr txBox="1">
            <a:spLocks noGrp="1"/>
          </p:cNvSpPr>
          <p:nvPr>
            <p:ph type="title" idx="9" hasCustomPrompt="1"/>
          </p:nvPr>
        </p:nvSpPr>
        <p:spPr>
          <a:xfrm>
            <a:off x="4927449" y="1367325"/>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a:spLocks noGrp="1"/>
          </p:cNvSpPr>
          <p:nvPr>
            <p:ph type="subTitle" idx="13"/>
          </p:nvPr>
        </p:nvSpPr>
        <p:spPr>
          <a:xfrm>
            <a:off x="5465950" y="1367325"/>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6" name="Google Shape;66;p13"/>
          <p:cNvSpPr txBox="1">
            <a:spLocks noGrp="1"/>
          </p:cNvSpPr>
          <p:nvPr>
            <p:ph type="title" idx="14" hasCustomPrompt="1"/>
          </p:nvPr>
        </p:nvSpPr>
        <p:spPr>
          <a:xfrm>
            <a:off x="4927449" y="2103522"/>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subTitle" idx="15"/>
          </p:nvPr>
        </p:nvSpPr>
        <p:spPr>
          <a:xfrm>
            <a:off x="5465950" y="2103519"/>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8" name="Google Shape;68;p13"/>
          <p:cNvSpPr txBox="1">
            <a:spLocks noGrp="1"/>
          </p:cNvSpPr>
          <p:nvPr>
            <p:ph type="title" idx="16" hasCustomPrompt="1"/>
          </p:nvPr>
        </p:nvSpPr>
        <p:spPr>
          <a:xfrm>
            <a:off x="4927449" y="2839728"/>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subTitle" idx="17"/>
          </p:nvPr>
        </p:nvSpPr>
        <p:spPr>
          <a:xfrm>
            <a:off x="5465950" y="2839721"/>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70" name="Google Shape;70;p13"/>
          <p:cNvSpPr txBox="1">
            <a:spLocks noGrp="1"/>
          </p:cNvSpPr>
          <p:nvPr>
            <p:ph type="title" idx="18" hasCustomPrompt="1"/>
          </p:nvPr>
        </p:nvSpPr>
        <p:spPr>
          <a:xfrm>
            <a:off x="4927449" y="3575925"/>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subTitle" idx="19"/>
          </p:nvPr>
        </p:nvSpPr>
        <p:spPr>
          <a:xfrm>
            <a:off x="5465950" y="3575916"/>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bg>
      <p:bgPr>
        <a:solidFill>
          <a:schemeClr val="lt1"/>
        </a:solidFill>
        <a:effectLst/>
      </p:bgPr>
    </p:bg>
    <p:spTree>
      <p:nvGrpSpPr>
        <p:cNvPr id="1"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l="-50000" t="49600" r="50000" b="-5849"/>
          <a:stretch/>
        </p:blipFill>
        <p:spPr>
          <a:xfrm>
            <a:off x="0" y="0"/>
            <a:ext cx="9144000" cy="5143500"/>
          </a:xfrm>
          <a:prstGeom prst="rect">
            <a:avLst/>
          </a:prstGeom>
          <a:noFill/>
          <a:ln>
            <a:noFill/>
          </a:ln>
        </p:spPr>
      </p:pic>
      <p:sp>
        <p:nvSpPr>
          <p:cNvPr id="95" name="Google Shape;95;p19"/>
          <p:cNvSpPr txBox="1">
            <a:spLocks noGrp="1"/>
          </p:cNvSpPr>
          <p:nvPr>
            <p:ph type="subTitle" idx="1"/>
          </p:nvPr>
        </p:nvSpPr>
        <p:spPr>
          <a:xfrm>
            <a:off x="715100" y="20465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6" name="Google Shape;96;p19"/>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97" name="Google Shape;97;p19"/>
          <p:cNvSpPr txBox="1">
            <a:spLocks noGrp="1"/>
          </p:cNvSpPr>
          <p:nvPr>
            <p:ph type="subTitle" idx="2"/>
          </p:nvPr>
        </p:nvSpPr>
        <p:spPr>
          <a:xfrm>
            <a:off x="715100" y="32990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9"/>
          <p:cNvSpPr txBox="1">
            <a:spLocks noGrp="1"/>
          </p:cNvSpPr>
          <p:nvPr>
            <p:ph type="subTitle" idx="3"/>
          </p:nvPr>
        </p:nvSpPr>
        <p:spPr>
          <a:xfrm>
            <a:off x="715100" y="16667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99" name="Google Shape;99;p19"/>
          <p:cNvSpPr txBox="1">
            <a:spLocks noGrp="1"/>
          </p:cNvSpPr>
          <p:nvPr>
            <p:ph type="subTitle" idx="4"/>
          </p:nvPr>
        </p:nvSpPr>
        <p:spPr>
          <a:xfrm>
            <a:off x="715100" y="29192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s">
  <p:cSld name="BLANK_1_1_1_1_1_1_2">
    <p:bg>
      <p:bgPr>
        <a:solidFill>
          <a:schemeClr val="lt1"/>
        </a:solidFill>
        <a:effectLst/>
      </p:bgPr>
    </p:bg>
    <p:spTree>
      <p:nvGrpSpPr>
        <p:cNvPr id="1" name="Shape 168"/>
        <p:cNvGrpSpPr/>
        <p:nvPr/>
      </p:nvGrpSpPr>
      <p:grpSpPr>
        <a:xfrm>
          <a:off x="0" y="0"/>
          <a:ext cx="0" cy="0"/>
          <a:chOff x="0" y="0"/>
          <a:chExt cx="0" cy="0"/>
        </a:xfrm>
      </p:grpSpPr>
      <p:pic>
        <p:nvPicPr>
          <p:cNvPr id="169" name="Google Shape;169;p29"/>
          <p:cNvPicPr preferRelativeResize="0"/>
          <p:nvPr/>
        </p:nvPicPr>
        <p:blipFill rotWithShape="1">
          <a:blip r:embed="rId2">
            <a:alphaModFix/>
          </a:blip>
          <a:srcRect l="-55210" t="50562" r="55209" b="-6811"/>
          <a:stretch/>
        </p:blipFill>
        <p:spPr>
          <a:xfrm flipH="1">
            <a:off x="0" y="0"/>
            <a:ext cx="9144000" cy="5143500"/>
          </a:xfrm>
          <a:prstGeom prst="rect">
            <a:avLst/>
          </a:prstGeom>
          <a:noFill/>
          <a:ln>
            <a:noFill/>
          </a:ln>
        </p:spPr>
      </p:pic>
      <p:pic>
        <p:nvPicPr>
          <p:cNvPr id="170" name="Google Shape;170;p29"/>
          <p:cNvPicPr preferRelativeResize="0"/>
          <p:nvPr/>
        </p:nvPicPr>
        <p:blipFill rotWithShape="1">
          <a:blip r:embed="rId2">
            <a:alphaModFix/>
          </a:blip>
          <a:srcRect l="-55210" t="50562" r="55209" b="-6811"/>
          <a:stretch/>
        </p:blipFill>
        <p:spPr>
          <a:xfrm rot="10800000" flipH="1">
            <a:off x="0" y="0"/>
            <a:ext cx="9144000" cy="5143500"/>
          </a:xfrm>
          <a:prstGeom prst="rect">
            <a:avLst/>
          </a:prstGeom>
          <a:noFill/>
          <a:ln>
            <a:noFill/>
          </a:ln>
        </p:spPr>
      </p:pic>
      <p:sp>
        <p:nvSpPr>
          <p:cNvPr id="171" name="Google Shape;171;p29"/>
          <p:cNvSpPr txBox="1">
            <a:spLocks noGrp="1"/>
          </p:cNvSpPr>
          <p:nvPr>
            <p:ph type="ctrTitle"/>
          </p:nvPr>
        </p:nvSpPr>
        <p:spPr>
          <a:xfrm>
            <a:off x="715100" y="3330625"/>
            <a:ext cx="3856800" cy="12525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7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72" name="Google Shape;172;p29"/>
          <p:cNvSpPr txBox="1">
            <a:spLocks noGrp="1"/>
          </p:cNvSpPr>
          <p:nvPr>
            <p:ph type="subTitle" idx="1"/>
          </p:nvPr>
        </p:nvSpPr>
        <p:spPr>
          <a:xfrm>
            <a:off x="4571900" y="535000"/>
            <a:ext cx="2683800" cy="115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73" name="Google Shape;173;p29"/>
          <p:cNvSpPr txBox="1"/>
          <p:nvPr/>
        </p:nvSpPr>
        <p:spPr>
          <a:xfrm>
            <a:off x="4571863" y="2278000"/>
            <a:ext cx="2683800" cy="498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900">
                <a:solidFill>
                  <a:schemeClr val="dk1"/>
                </a:solidFill>
                <a:latin typeface="Albert Sans"/>
                <a:ea typeface="Albert Sans"/>
                <a:cs typeface="Albert Sans"/>
                <a:sym typeface="Albert Sans"/>
              </a:rPr>
              <a:t>CREDITS: This presentation template was created by </a:t>
            </a:r>
            <a:r>
              <a:rPr lang="en" sz="9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Slidesgo</a:t>
            </a:r>
            <a:r>
              <a:rPr lang="en" sz="900">
                <a:solidFill>
                  <a:schemeClr val="dk1"/>
                </a:solidFill>
                <a:latin typeface="Albert Sans"/>
                <a:ea typeface="Albert Sans"/>
                <a:cs typeface="Albert Sans"/>
                <a:sym typeface="Albert Sans"/>
              </a:rPr>
              <a:t>, and includes icons by </a:t>
            </a:r>
            <a:r>
              <a:rPr lang="en" sz="900" b="1">
                <a:solidFill>
                  <a:schemeClr val="dk1"/>
                </a:solidFill>
                <a:uFill>
                  <a:noFill/>
                </a:uFill>
                <a:latin typeface="Albert Sans"/>
                <a:ea typeface="Albert Sans"/>
                <a:cs typeface="Albert Sans"/>
                <a:sym typeface="Albert Sans"/>
                <a:hlinkClick r:id="rId4">
                  <a:extLst>
                    <a:ext uri="{A12FA001-AC4F-418D-AE19-62706E023703}">
                      <ahyp:hlinkClr xmlns:ahyp="http://schemas.microsoft.com/office/drawing/2018/hyperlinkcolor" val="tx"/>
                    </a:ext>
                  </a:extLst>
                </a:hlinkClick>
              </a:rPr>
              <a:t>Flaticon</a:t>
            </a:r>
            <a:r>
              <a:rPr lang="en" sz="900" b="1">
                <a:solidFill>
                  <a:schemeClr val="dk1"/>
                </a:solidFill>
                <a:latin typeface="Albert Sans"/>
                <a:ea typeface="Albert Sans"/>
                <a:cs typeface="Albert Sans"/>
                <a:sym typeface="Albert Sans"/>
              </a:rPr>
              <a:t> </a:t>
            </a:r>
            <a:r>
              <a:rPr lang="en" sz="900">
                <a:solidFill>
                  <a:schemeClr val="dk1"/>
                </a:solidFill>
                <a:latin typeface="Albert Sans"/>
                <a:ea typeface="Albert Sans"/>
                <a:cs typeface="Albert Sans"/>
                <a:sym typeface="Albert Sans"/>
              </a:rPr>
              <a:t>and infographics &amp; images by </a:t>
            </a:r>
            <a:r>
              <a:rPr lang="en" sz="900" b="1">
                <a:solidFill>
                  <a:schemeClr val="dk1"/>
                </a:solidFill>
                <a:uFill>
                  <a:noFill/>
                </a:uFill>
                <a:latin typeface="Albert Sans"/>
                <a:ea typeface="Albert Sans"/>
                <a:cs typeface="Albert Sans"/>
                <a:sym typeface="Albert Sans"/>
                <a:hlinkClick r:id="rId5">
                  <a:extLst>
                    <a:ext uri="{A12FA001-AC4F-418D-AE19-62706E023703}">
                      <ahyp:hlinkClr xmlns:ahyp="http://schemas.microsoft.com/office/drawing/2018/hyperlinkcolor" val="tx"/>
                    </a:ext>
                  </a:extLst>
                </a:hlinkClick>
              </a:rPr>
              <a:t>Freepik</a:t>
            </a:r>
            <a:endParaRPr sz="900" b="1">
              <a:solidFill>
                <a:schemeClr val="dk1"/>
              </a:solidFill>
              <a:latin typeface="Albert Sans"/>
              <a:ea typeface="Albert Sans"/>
              <a:cs typeface="Albert Sans"/>
              <a:sym typeface="Albert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3" t="13471" r="27548" b="-35825"/>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l="-235242" t="44962" r="44460" b="-108521"/>
          <a:stretch/>
        </p:blipFill>
        <p:spPr>
          <a:xfrm rot="10800000" flipH="1">
            <a:off x="-10680" y="-2437"/>
            <a:ext cx="9144080" cy="51483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09" b="-6811"/>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l="-55210" t="50562" r="55209" b="-6811"/>
          <a:stretch/>
        </p:blipFill>
        <p:spPr>
          <a:xfrm rot="10800000">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48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715100" y="1083700"/>
            <a:ext cx="7713900" cy="35247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8" r:id="rId6"/>
    <p:sldLayoutId id="2147483659" r:id="rId7"/>
    <p:sldLayoutId id="2147483665" r:id="rId8"/>
    <p:sldLayoutId id="2147483675" r:id="rId9"/>
    <p:sldLayoutId id="2147483676" r:id="rId10"/>
    <p:sldLayoutId id="214748367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ctrTitle"/>
          </p:nvPr>
        </p:nvSpPr>
        <p:spPr>
          <a:xfrm>
            <a:off x="711600" y="1898470"/>
            <a:ext cx="7892319" cy="1166948"/>
          </a:xfrm>
          <a:prstGeom prst="rect">
            <a:avLst/>
          </a:prstGeom>
        </p:spPr>
        <p:txBody>
          <a:bodyPr spcFirstLastPara="1" wrap="square" lIns="91425" tIns="91425" rIns="91425" bIns="91425" anchor="t" anchorCtr="0">
            <a:noAutofit/>
          </a:bodyPr>
          <a:lstStyle/>
          <a:p>
            <a:pPr lvl="0" algn="ctr"/>
            <a:r>
              <a:rPr lang="en-US" sz="4000" dirty="0" err="1"/>
              <a:t>Phát</a:t>
            </a:r>
            <a:r>
              <a:rPr lang="en-US" sz="4000" dirty="0"/>
              <a:t> </a:t>
            </a:r>
            <a:r>
              <a:rPr lang="en-US" sz="4000" dirty="0" err="1"/>
              <a:t>hiện</a:t>
            </a:r>
            <a:r>
              <a:rPr lang="en-US" sz="4000" dirty="0"/>
              <a:t> </a:t>
            </a:r>
            <a:r>
              <a:rPr lang="en-US" sz="4000" dirty="0" err="1"/>
              <a:t>và</a:t>
            </a:r>
            <a:r>
              <a:rPr lang="en-US" sz="4000" dirty="0"/>
              <a:t> </a:t>
            </a:r>
            <a:r>
              <a:rPr lang="en-US" sz="4000" dirty="0" err="1"/>
              <a:t>Mô</a:t>
            </a:r>
            <a:r>
              <a:rPr lang="en-US" sz="4000" dirty="0"/>
              <a:t> </a:t>
            </a:r>
            <a:r>
              <a:rPr lang="en-US" sz="4000" dirty="0" err="1"/>
              <a:t>phỏng</a:t>
            </a:r>
            <a:r>
              <a:rPr lang="en-US" sz="4000" dirty="0"/>
              <a:t> </a:t>
            </a:r>
            <a:r>
              <a:rPr lang="en-US" sz="4000" dirty="0" err="1"/>
              <a:t>Tấn</a:t>
            </a:r>
            <a:r>
              <a:rPr lang="en-US" sz="4000" dirty="0"/>
              <a:t> </a:t>
            </a:r>
            <a:r>
              <a:rPr lang="en-US" sz="4000" dirty="0" err="1"/>
              <a:t>công</a:t>
            </a:r>
            <a:r>
              <a:rPr lang="en-US" sz="4000" dirty="0"/>
              <a:t> Brute-Force </a:t>
            </a:r>
            <a:r>
              <a:rPr lang="en-US" sz="4000" dirty="0" err="1"/>
              <a:t>Mật</a:t>
            </a:r>
            <a:r>
              <a:rPr lang="en-US" sz="4000" dirty="0"/>
              <a:t> </a:t>
            </a:r>
            <a:r>
              <a:rPr lang="en-US" sz="4000" dirty="0" err="1"/>
              <a:t>khẩu</a:t>
            </a:r>
            <a:endParaRPr sz="4000" dirty="0"/>
          </a:p>
        </p:txBody>
      </p:sp>
      <p:sp>
        <p:nvSpPr>
          <p:cNvPr id="191" name="Google Shape;191;p35"/>
          <p:cNvSpPr txBox="1">
            <a:spLocks noGrp="1"/>
          </p:cNvSpPr>
          <p:nvPr>
            <p:ph type="subTitle" idx="1"/>
          </p:nvPr>
        </p:nvSpPr>
        <p:spPr>
          <a:xfrm>
            <a:off x="4743519" y="3518262"/>
            <a:ext cx="3860400" cy="1045028"/>
          </a:xfrm>
          <a:prstGeom prst="rect">
            <a:avLst/>
          </a:prstGeom>
        </p:spPr>
        <p:txBody>
          <a:bodyPr spcFirstLastPara="1" wrap="square" lIns="91425" tIns="91425" rIns="91425" bIns="91425" anchor="t" anchorCtr="0">
            <a:noAutofit/>
          </a:bodyPr>
          <a:lstStyle/>
          <a:p>
            <a:pPr marL="0" lvl="0" indent="0" rtl="0">
              <a:spcBef>
                <a:spcPts val="0"/>
              </a:spcBef>
              <a:spcAft>
                <a:spcPts val="600"/>
              </a:spcAft>
              <a:buNone/>
            </a:pPr>
            <a:r>
              <a:rPr lang="en" dirty="0">
                <a:latin typeface="Alexandria Medium" panose="020B0604020202020204" charset="-78"/>
                <a:cs typeface="Alexandria Medium" panose="020B0604020202020204" charset="-78"/>
              </a:rPr>
              <a:t>Nhóm 1 – 67CS</a:t>
            </a:r>
          </a:p>
          <a:p>
            <a:pPr marL="0" lvl="0" indent="0" rtl="0">
              <a:spcBef>
                <a:spcPts val="0"/>
              </a:spcBef>
              <a:spcAft>
                <a:spcPts val="0"/>
              </a:spcAft>
              <a:buNone/>
            </a:pPr>
            <a:r>
              <a:rPr lang="en" dirty="0">
                <a:latin typeface="Alexandria Medium" panose="020B0604020202020204" charset="-78"/>
                <a:cs typeface="Alexandria Medium" panose="020B0604020202020204" charset="-78"/>
              </a:rPr>
              <a:t>Nguyễn T</a:t>
            </a:r>
            <a:r>
              <a:rPr lang="en-US" dirty="0">
                <a:latin typeface="Alexandria Medium" panose="020B0604020202020204" charset="-78"/>
                <a:cs typeface="Alexandria Medium" panose="020B0604020202020204" charset="-78"/>
              </a:rPr>
              <a:t>u</a:t>
            </a:r>
            <a:r>
              <a:rPr lang="en" dirty="0">
                <a:latin typeface="Alexandria Medium" panose="020B0604020202020204" charset="-78"/>
                <a:cs typeface="Alexandria Medium" panose="020B0604020202020204" charset="-78"/>
              </a:rPr>
              <a:t>ấn Minh – 4003867</a:t>
            </a:r>
          </a:p>
          <a:p>
            <a:pPr marL="0" lvl="0" indent="0"/>
            <a:r>
              <a:rPr lang="en" dirty="0">
                <a:latin typeface="Alexandria Medium" panose="020B0604020202020204" charset="-78"/>
                <a:cs typeface="Alexandria Medium" panose="020B0604020202020204" charset="-78"/>
              </a:rPr>
              <a:t>Phạm Hoàng Phong -0218066</a:t>
            </a:r>
          </a:p>
          <a:p>
            <a:pPr marL="0" lvl="0" indent="0"/>
            <a:r>
              <a:rPr lang="en" dirty="0">
                <a:latin typeface="Alexandria Medium" panose="020B0604020202020204" charset="-78"/>
                <a:cs typeface="Alexandria Medium" panose="020B0604020202020204" charset="-78"/>
              </a:rPr>
              <a:t>Phan Duy Hiển - 0068867</a:t>
            </a:r>
            <a:endParaRPr dirty="0">
              <a:latin typeface="Alexandria Medium" panose="020B0604020202020204" charset="-78"/>
              <a:cs typeface="Alexandria Medium" panose="020B0604020202020204" charset="-78"/>
            </a:endParaRPr>
          </a:p>
        </p:txBody>
      </p:sp>
      <p:pic>
        <p:nvPicPr>
          <p:cNvPr id="2" name="Picture 1" descr="Blue text on a black background&#10;&#10;Description automatically generated">
            <a:extLst>
              <a:ext uri="{FF2B5EF4-FFF2-40B4-BE49-F238E27FC236}">
                <a16:creationId xmlns:a16="http://schemas.microsoft.com/office/drawing/2014/main" id="{09958ED5-4384-CAF9-AB4A-547C54D4D810}"/>
              </a:ext>
            </a:extLst>
          </p:cNvPr>
          <p:cNvPicPr>
            <a:picLocks noChangeAspect="1"/>
          </p:cNvPicPr>
          <p:nvPr/>
        </p:nvPicPr>
        <p:blipFill>
          <a:blip r:embed="rId3"/>
          <a:stretch>
            <a:fillRect/>
          </a:stretch>
        </p:blipFill>
        <p:spPr>
          <a:xfrm>
            <a:off x="711600" y="604259"/>
            <a:ext cx="2575804" cy="470084"/>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7"/>
          <p:cNvSpPr txBox="1">
            <a:spLocks noGrp="1"/>
          </p:cNvSpPr>
          <p:nvPr>
            <p:ph type="title"/>
          </p:nvPr>
        </p:nvSpPr>
        <p:spPr>
          <a:xfrm>
            <a:off x="1070650" y="1367325"/>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
        <p:nvSpPr>
          <p:cNvPr id="207" name="Google Shape;207;p37"/>
          <p:cNvSpPr txBox="1">
            <a:spLocks noGrp="1"/>
          </p:cNvSpPr>
          <p:nvPr>
            <p:ph type="subTitle" idx="1"/>
          </p:nvPr>
        </p:nvSpPr>
        <p:spPr>
          <a:xfrm>
            <a:off x="1609075" y="1367325"/>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Tổng quan về</a:t>
            </a:r>
          </a:p>
          <a:p>
            <a:pPr marL="0" lvl="0" indent="0" algn="l" rtl="0">
              <a:spcBef>
                <a:spcPts val="0"/>
              </a:spcBef>
              <a:spcAft>
                <a:spcPts val="0"/>
              </a:spcAft>
              <a:buNone/>
            </a:pPr>
            <a:r>
              <a:rPr lang="en" dirty="0"/>
              <a:t>brute force</a:t>
            </a:r>
          </a:p>
        </p:txBody>
      </p:sp>
      <p:sp>
        <p:nvSpPr>
          <p:cNvPr id="208" name="Google Shape;208;p37"/>
          <p:cNvSpPr txBox="1">
            <a:spLocks noGrp="1"/>
          </p:cNvSpPr>
          <p:nvPr>
            <p:ph type="title" idx="2"/>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Nội Dung</a:t>
            </a:r>
            <a:endParaRPr dirty="0"/>
          </a:p>
        </p:txBody>
      </p:sp>
      <p:sp>
        <p:nvSpPr>
          <p:cNvPr id="209" name="Google Shape;209;p37"/>
          <p:cNvSpPr txBox="1">
            <a:spLocks noGrp="1"/>
          </p:cNvSpPr>
          <p:nvPr>
            <p:ph type="title" idx="3"/>
          </p:nvPr>
        </p:nvSpPr>
        <p:spPr>
          <a:xfrm>
            <a:off x="1070650" y="2103525"/>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03</a:t>
            </a:r>
            <a:endParaRPr dirty="0"/>
          </a:p>
        </p:txBody>
      </p:sp>
      <p:sp>
        <p:nvSpPr>
          <p:cNvPr id="210" name="Google Shape;210;p37"/>
          <p:cNvSpPr txBox="1">
            <a:spLocks noGrp="1"/>
          </p:cNvSpPr>
          <p:nvPr>
            <p:ph type="subTitle" idx="4"/>
          </p:nvPr>
        </p:nvSpPr>
        <p:spPr>
          <a:xfrm>
            <a:off x="1609075" y="2103533"/>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Mô</a:t>
            </a:r>
            <a:r>
              <a:rPr lang="en-US" dirty="0"/>
              <a:t> </a:t>
            </a:r>
            <a:r>
              <a:rPr lang="en-US" dirty="0" err="1"/>
              <a:t>phỏng</a:t>
            </a:r>
            <a:r>
              <a:rPr lang="en-US" dirty="0"/>
              <a:t> </a:t>
            </a:r>
            <a:r>
              <a:rPr lang="en-US" dirty="0" err="1"/>
              <a:t>tấn</a:t>
            </a:r>
            <a:r>
              <a:rPr lang="en-US" dirty="0"/>
              <a:t> </a:t>
            </a:r>
            <a:r>
              <a:rPr lang="en-US" dirty="0" err="1"/>
              <a:t>công</a:t>
            </a:r>
            <a:r>
              <a:rPr lang="en-US" dirty="0"/>
              <a:t> </a:t>
            </a:r>
            <a:r>
              <a:rPr lang="en-US" dirty="0" err="1"/>
              <a:t>và</a:t>
            </a:r>
            <a:r>
              <a:rPr lang="en-US" dirty="0"/>
              <a:t> </a:t>
            </a:r>
            <a:r>
              <a:rPr lang="en-US" dirty="0" err="1"/>
              <a:t>Kết</a:t>
            </a:r>
            <a:r>
              <a:rPr lang="en-US" dirty="0"/>
              <a:t> </a:t>
            </a:r>
            <a:r>
              <a:rPr lang="en-US" dirty="0" err="1"/>
              <a:t>quả</a:t>
            </a:r>
            <a:endParaRPr lang="en-US" dirty="0"/>
          </a:p>
        </p:txBody>
      </p:sp>
      <p:sp>
        <p:nvSpPr>
          <p:cNvPr id="215" name="Google Shape;215;p37"/>
          <p:cNvSpPr txBox="1">
            <a:spLocks noGrp="1"/>
          </p:cNvSpPr>
          <p:nvPr>
            <p:ph type="title" idx="9"/>
          </p:nvPr>
        </p:nvSpPr>
        <p:spPr>
          <a:xfrm>
            <a:off x="4927449" y="1367325"/>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02</a:t>
            </a:r>
            <a:endParaRPr dirty="0"/>
          </a:p>
        </p:txBody>
      </p:sp>
      <p:sp>
        <p:nvSpPr>
          <p:cNvPr id="216" name="Google Shape;216;p37"/>
          <p:cNvSpPr txBox="1">
            <a:spLocks noGrp="1"/>
          </p:cNvSpPr>
          <p:nvPr>
            <p:ph type="subTitle" idx="13"/>
          </p:nvPr>
        </p:nvSpPr>
        <p:spPr>
          <a:xfrm>
            <a:off x="5465950" y="1367325"/>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Các </a:t>
            </a:r>
            <a:r>
              <a:rPr lang="en-US" dirty="0" err="1"/>
              <a:t>kỹ</a:t>
            </a:r>
            <a:r>
              <a:rPr lang="en-US" dirty="0"/>
              <a:t> </a:t>
            </a:r>
            <a:r>
              <a:rPr lang="en-US" dirty="0" err="1"/>
              <a:t>thuật</a:t>
            </a:r>
            <a:endParaRPr lang="en-US" dirty="0"/>
          </a:p>
          <a:p>
            <a:pPr marL="0" lvl="0" indent="0" algn="l" rtl="0">
              <a:spcBef>
                <a:spcPts val="0"/>
              </a:spcBef>
              <a:spcAft>
                <a:spcPts val="0"/>
              </a:spcAft>
              <a:buNone/>
            </a:pPr>
            <a:r>
              <a:rPr lang="en-US" dirty="0" err="1"/>
              <a:t>phổ</a:t>
            </a:r>
            <a:r>
              <a:rPr lang="en-US" dirty="0"/>
              <a:t> </a:t>
            </a:r>
            <a:r>
              <a:rPr lang="en-US" dirty="0" err="1"/>
              <a:t>biến</a:t>
            </a:r>
            <a:endParaRPr lang="en-US" dirty="0"/>
          </a:p>
        </p:txBody>
      </p:sp>
      <p:sp>
        <p:nvSpPr>
          <p:cNvPr id="14" name="Google Shape;215;p37">
            <a:extLst>
              <a:ext uri="{FF2B5EF4-FFF2-40B4-BE49-F238E27FC236}">
                <a16:creationId xmlns:a16="http://schemas.microsoft.com/office/drawing/2014/main" id="{2DEEA884-B5C1-1983-EA9B-8AD39D21A15B}"/>
              </a:ext>
            </a:extLst>
          </p:cNvPr>
          <p:cNvSpPr txBox="1">
            <a:spLocks/>
          </p:cNvSpPr>
          <p:nvPr/>
        </p:nvSpPr>
        <p:spPr>
          <a:xfrm>
            <a:off x="4927448" y="2103525"/>
            <a:ext cx="538500" cy="736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r>
              <a:rPr lang="en" dirty="0"/>
              <a:t>04</a:t>
            </a:r>
          </a:p>
        </p:txBody>
      </p:sp>
      <p:sp>
        <p:nvSpPr>
          <p:cNvPr id="15" name="Google Shape;216;p37">
            <a:extLst>
              <a:ext uri="{FF2B5EF4-FFF2-40B4-BE49-F238E27FC236}">
                <a16:creationId xmlns:a16="http://schemas.microsoft.com/office/drawing/2014/main" id="{3E515620-FD83-4457-3276-CE3D8698DA43}"/>
              </a:ext>
            </a:extLst>
          </p:cNvPr>
          <p:cNvSpPr txBox="1">
            <a:spLocks/>
          </p:cNvSpPr>
          <p:nvPr/>
        </p:nvSpPr>
        <p:spPr>
          <a:xfrm>
            <a:off x="5465949" y="2103525"/>
            <a:ext cx="2607300" cy="736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Alexandria Medium"/>
              <a:buNone/>
              <a:defRPr sz="1800" b="0" i="0" u="none" strike="noStrike" cap="none">
                <a:solidFill>
                  <a:schemeClr val="dk1"/>
                </a:solidFill>
                <a:latin typeface="Alexandria Medium"/>
                <a:ea typeface="Alexandria Medium"/>
                <a:cs typeface="Alexandria Medium"/>
                <a:sym typeface="Alexandria Medium"/>
              </a:defRPr>
            </a:lvl1pPr>
            <a:lvl2pPr marL="914400" marR="0" lvl="1"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2pPr>
            <a:lvl3pPr marL="1371600" marR="0" lvl="2"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3pPr>
            <a:lvl4pPr marL="1828800" marR="0" lvl="3"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4pPr>
            <a:lvl5pPr marL="2286000" marR="0" lvl="4"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5pPr>
            <a:lvl6pPr marL="2743200" marR="0" lvl="5"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6pPr>
            <a:lvl7pPr marL="3200400" marR="0" lvl="6"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7pPr>
            <a:lvl8pPr marL="3657600" marR="0" lvl="7"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8pPr>
            <a:lvl9pPr marL="4114800" marR="0" lvl="8"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9pPr>
          </a:lstStyle>
          <a:p>
            <a:pPr marL="0" indent="0"/>
            <a:r>
              <a:rPr lang="en-US" dirty="0"/>
              <a:t>Các </a:t>
            </a:r>
            <a:r>
              <a:rPr lang="en-US" dirty="0" err="1"/>
              <a:t>biện</a:t>
            </a:r>
            <a:r>
              <a:rPr lang="en-US" dirty="0"/>
              <a:t> </a:t>
            </a:r>
            <a:r>
              <a:rPr lang="en-US" dirty="0" err="1"/>
              <a:t>pháp</a:t>
            </a:r>
            <a:endParaRPr lang="en-US" dirty="0"/>
          </a:p>
          <a:p>
            <a:pPr marL="0" indent="0"/>
            <a:r>
              <a:rPr lang="en-US" dirty="0" err="1"/>
              <a:t>phòng</a:t>
            </a:r>
            <a:r>
              <a:rPr lang="en-US" dirty="0"/>
              <a:t> </a:t>
            </a:r>
            <a:r>
              <a:rPr lang="en-US" dirty="0" err="1"/>
              <a:t>chống</a:t>
            </a:r>
            <a:endParaRPr lang="vi-VN" dirty="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9"/>
          <p:cNvSpPr txBox="1">
            <a:spLocks noGrp="1"/>
          </p:cNvSpPr>
          <p:nvPr>
            <p:ph type="title"/>
          </p:nvPr>
        </p:nvSpPr>
        <p:spPr>
          <a:xfrm>
            <a:off x="715099" y="3328050"/>
            <a:ext cx="8142029" cy="12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Tổng quan</a:t>
            </a:r>
            <a:endParaRPr dirty="0"/>
          </a:p>
        </p:txBody>
      </p:sp>
      <p:sp>
        <p:nvSpPr>
          <p:cNvPr id="235" name="Google Shape;235;p39"/>
          <p:cNvSpPr txBox="1">
            <a:spLocks noGrp="1"/>
          </p:cNvSpPr>
          <p:nvPr>
            <p:ph type="title" idx="2"/>
          </p:nvPr>
        </p:nvSpPr>
        <p:spPr>
          <a:xfrm>
            <a:off x="715100" y="2074250"/>
            <a:ext cx="7708800" cy="125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cxnSp>
        <p:nvCxnSpPr>
          <p:cNvPr id="237" name="Google Shape;237;p39">
            <a:hlinkClick r:id="" action="ppaction://hlinkshowjump?jump=nextslide"/>
          </p:cNvPr>
          <p:cNvCxnSpPr/>
          <p:nvPr/>
        </p:nvCxnSpPr>
        <p:spPr>
          <a:xfrm>
            <a:off x="715100" y="729100"/>
            <a:ext cx="483300" cy="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0"/>
          <p:cNvSpPr txBox="1">
            <a:spLocks noGrp="1"/>
          </p:cNvSpPr>
          <p:nvPr>
            <p:ph type="title"/>
          </p:nvPr>
        </p:nvSpPr>
        <p:spPr>
          <a:xfrm>
            <a:off x="720000" y="535000"/>
            <a:ext cx="5925300" cy="125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Định nghĩa</a:t>
            </a:r>
            <a:endParaRPr dirty="0"/>
          </a:p>
        </p:txBody>
      </p:sp>
      <p:sp>
        <p:nvSpPr>
          <p:cNvPr id="243" name="Google Shape;243;p40"/>
          <p:cNvSpPr txBox="1">
            <a:spLocks noGrp="1"/>
          </p:cNvSpPr>
          <p:nvPr>
            <p:ph type="subTitle" idx="1"/>
          </p:nvPr>
        </p:nvSpPr>
        <p:spPr>
          <a:xfrm>
            <a:off x="4571999" y="3358100"/>
            <a:ext cx="3953691" cy="1250400"/>
          </a:xfrm>
          <a:prstGeom prst="rect">
            <a:avLst/>
          </a:prstGeom>
        </p:spPr>
        <p:txBody>
          <a:bodyPr spcFirstLastPara="1" wrap="square" lIns="91425" tIns="91425" rIns="91425" bIns="91425" anchor="t" anchorCtr="0">
            <a:noAutofit/>
          </a:bodyPr>
          <a:lstStyle/>
          <a:p>
            <a:pPr marL="0" lvl="0" indent="0"/>
            <a:r>
              <a:rPr lang="vi-VN" dirty="0">
                <a:latin typeface="Alexandria" panose="020B0604020202020204" charset="-78"/>
                <a:cs typeface="Alexandria" panose="020B0604020202020204" charset="-78"/>
              </a:rPr>
              <a:t>Là phương pháp tấn công "vét cạn", thử tất cả các tổ hợp ký tự có thể cho đến khi tìm ra mật khẩu hoặc khóa mã hóa chính xác. Kỹ thuật này dựa vào sức mạnh tính toán thay vì khai thác lỗ hổng phần mềm.</a:t>
            </a:r>
            <a:endParaRPr dirty="0">
              <a:latin typeface="Alexandria" panose="020B0604020202020204" charset="-78"/>
              <a:cs typeface="Alexandria" panose="020B0604020202020204" charset="-78"/>
            </a:endParaRPr>
          </a:p>
        </p:txBody>
      </p:sp>
      <p:cxnSp>
        <p:nvCxnSpPr>
          <p:cNvPr id="244" name="Google Shape;244;p40">
            <a:hlinkClick r:id="" action="ppaction://hlinkshowjump?jump=nextslide"/>
          </p:cNvPr>
          <p:cNvCxnSpPr/>
          <p:nvPr/>
        </p:nvCxnSpPr>
        <p:spPr>
          <a:xfrm>
            <a:off x="715100" y="4414400"/>
            <a:ext cx="483300" cy="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4" name="Google Shape;264;p43"/>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Nguyên lý hoạt động và Hậu quả</a:t>
            </a:r>
            <a:endParaRPr dirty="0"/>
          </a:p>
        </p:txBody>
      </p:sp>
      <p:sp>
        <p:nvSpPr>
          <p:cNvPr id="266" name="Google Shape;266;p43"/>
          <p:cNvSpPr txBox="1">
            <a:spLocks noGrp="1"/>
          </p:cNvSpPr>
          <p:nvPr>
            <p:ph type="subTitle" idx="3"/>
          </p:nvPr>
        </p:nvSpPr>
        <p:spPr>
          <a:xfrm>
            <a:off x="715100" y="1666700"/>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Nguyên lý</a:t>
            </a:r>
            <a:endParaRPr dirty="0"/>
          </a:p>
        </p:txBody>
      </p:sp>
      <p:sp>
        <p:nvSpPr>
          <p:cNvPr id="267" name="Google Shape;267;p43"/>
          <p:cNvSpPr txBox="1">
            <a:spLocks noGrp="1"/>
          </p:cNvSpPr>
          <p:nvPr>
            <p:ph type="subTitle" idx="4"/>
          </p:nvPr>
        </p:nvSpPr>
        <p:spPr>
          <a:xfrm>
            <a:off x="715100" y="2919200"/>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Hậu quả khi thành công</a:t>
            </a:r>
            <a:endParaRPr dirty="0"/>
          </a:p>
        </p:txBody>
      </p:sp>
      <p:sp>
        <p:nvSpPr>
          <p:cNvPr id="4" name="Subtitle 3">
            <a:extLst>
              <a:ext uri="{FF2B5EF4-FFF2-40B4-BE49-F238E27FC236}">
                <a16:creationId xmlns:a16="http://schemas.microsoft.com/office/drawing/2014/main" id="{AE5A8334-685D-AE28-0FC2-3A87FEA3E082}"/>
              </a:ext>
            </a:extLst>
          </p:cNvPr>
          <p:cNvSpPr>
            <a:spLocks noGrp="1" noChangeArrowheads="1"/>
          </p:cNvSpPr>
          <p:nvPr>
            <p:ph type="subTitle" idx="1"/>
          </p:nvPr>
        </p:nvSpPr>
        <p:spPr bwMode="auto">
          <a:xfrm>
            <a:off x="714375" y="2085767"/>
            <a:ext cx="4397358"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en-US" sz="1400" dirty="0" err="1">
                <a:latin typeface="Helvetica" panose="020B0604020202020204" pitchFamily="34" charset="0"/>
                <a:cs typeface="Helvetica" panose="020B0604020202020204" pitchFamily="34" charset="0"/>
              </a:rPr>
              <a:t>Thử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và</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sai</a:t>
            </a:r>
            <a:r>
              <a:rPr lang="en-US" sz="1400" dirty="0">
                <a:latin typeface="Helvetica" panose="020B0604020202020204" pitchFamily="34" charset="0"/>
                <a:cs typeface="Helvetica" panose="020B0604020202020204" pitchFamily="34" charset="0"/>
              </a:rPr>
              <a:t> (trial-and-error) </a:t>
            </a:r>
            <a:r>
              <a:rPr lang="en-US" sz="1400" dirty="0" err="1">
                <a:latin typeface="Helvetica" panose="020B0604020202020204" pitchFamily="34" charset="0"/>
                <a:cs typeface="Helvetica" panose="020B0604020202020204" pitchFamily="34" charset="0"/>
              </a:rPr>
              <a:t>một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cách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có</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hệ</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thống</a:t>
            </a:r>
            <a:r>
              <a:rPr lang="en-US" sz="1400" dirty="0">
                <a:latin typeface="Helvetica" panose="020B0604020202020204" pitchFamily="34" charset="0"/>
                <a:cs typeface="Helvetica" panose="020B0604020202020204" pitchFamily="34" charset="0"/>
              </a:rPr>
              <a:t>.</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en-US" sz="1400" dirty="0" err="1">
                <a:latin typeface="Helvetica" panose="020B0604020202020204" pitchFamily="34" charset="0"/>
                <a:cs typeface="Helvetica" panose="020B0604020202020204" pitchFamily="34" charset="0"/>
              </a:rPr>
              <a:t>Ví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dụ</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mã</a:t>
            </a:r>
            <a:r>
              <a:rPr lang="en-US" sz="1400" dirty="0">
                <a:latin typeface="Helvetica" panose="020B0604020202020204" pitchFamily="34" charset="0"/>
                <a:cs typeface="Helvetica" panose="020B0604020202020204" pitchFamily="34" charset="0"/>
              </a:rPr>
              <a:t> PIN 4 </a:t>
            </a:r>
            <a:r>
              <a:rPr lang="en-US" sz="1400" dirty="0" err="1">
                <a:latin typeface="Helvetica" panose="020B0604020202020204" pitchFamily="34" charset="0"/>
                <a:cs typeface="Helvetica" panose="020B0604020202020204" pitchFamily="34" charset="0"/>
              </a:rPr>
              <a:t>số</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từ</a:t>
            </a:r>
            <a:r>
              <a:rPr lang="en-US" sz="1400" dirty="0">
                <a:latin typeface="Helvetica" panose="020B0604020202020204" pitchFamily="34" charset="0"/>
                <a:cs typeface="Helvetica" panose="020B0604020202020204" pitchFamily="34" charset="0"/>
              </a:rPr>
              <a:t> "0000" </a:t>
            </a:r>
            <a:r>
              <a:rPr lang="en-US" sz="1400" dirty="0" err="1">
                <a:latin typeface="Helvetica" panose="020B0604020202020204" pitchFamily="34" charset="0"/>
                <a:cs typeface="Helvetica" panose="020B0604020202020204" pitchFamily="34" charset="0"/>
              </a:rPr>
              <a:t>đến</a:t>
            </a:r>
            <a:r>
              <a:rPr lang="en-US" sz="1400" dirty="0">
                <a:latin typeface="Helvetica" panose="020B0604020202020204" pitchFamily="34" charset="0"/>
                <a:cs typeface="Helvetica" panose="020B0604020202020204" pitchFamily="34" charset="0"/>
              </a:rPr>
              <a:t> "9999“.</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 name="Subtitle 5">
            <a:extLst>
              <a:ext uri="{FF2B5EF4-FFF2-40B4-BE49-F238E27FC236}">
                <a16:creationId xmlns:a16="http://schemas.microsoft.com/office/drawing/2014/main" id="{36CFA997-3527-DF7B-09BC-0AEEC6845B1A}"/>
              </a:ext>
            </a:extLst>
          </p:cNvPr>
          <p:cNvSpPr>
            <a:spLocks noGrp="1" noChangeArrowheads="1"/>
          </p:cNvSpPr>
          <p:nvPr>
            <p:ph type="subTitle" idx="2"/>
          </p:nvPr>
        </p:nvSpPr>
        <p:spPr bwMode="auto">
          <a:xfrm>
            <a:off x="714375" y="3390159"/>
            <a:ext cx="7882778"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Đánh</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cắp</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dữ</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liệu</a:t>
            </a:r>
            <a:r>
              <a:rPr lang="en-US" sz="1400" b="1" dirty="0">
                <a:latin typeface="Helvetica" panose="020B0604020202020204" pitchFamily="34" charset="0"/>
                <a:cs typeface="Helvetica" panose="020B0604020202020204" pitchFamily="34" charset="0"/>
              </a:rPr>
              <a:t>:</a:t>
            </a:r>
            <a:r>
              <a:rPr lang="en-US" sz="1400" dirty="0">
                <a:latin typeface="Helvetica" panose="020B0604020202020204" pitchFamily="34" charset="0"/>
                <a:cs typeface="Helvetica" panose="020B0604020202020204" pitchFamily="34" charset="0"/>
              </a:rPr>
              <a:t> Thông tin </a:t>
            </a:r>
            <a:r>
              <a:rPr lang="en-US" sz="1400" dirty="0" err="1">
                <a:latin typeface="Helvetica" panose="020B0604020202020204" pitchFamily="34" charset="0"/>
                <a:cs typeface="Helvetica" panose="020B0604020202020204" pitchFamily="34" charset="0"/>
              </a:rPr>
              <a:t>cá</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nhân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tài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chính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mật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kinh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doanh</a:t>
            </a:r>
            <a:r>
              <a:rPr lang="en-US" sz="1400" dirty="0">
                <a:latin typeface="Helvetica" panose="020B0604020202020204" pitchFamily="34" charset="0"/>
                <a:cs typeface="Helvetica" panose="020B0604020202020204" pitchFamily="34" charset="0"/>
              </a:rPr>
              <a:t>.</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Gián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đoạn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hoạt</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động</a:t>
            </a:r>
            <a:r>
              <a:rPr lang="en-US" sz="1400" b="1" dirty="0">
                <a:latin typeface="Helvetica" panose="020B0604020202020204" pitchFamily="34" charset="0"/>
                <a:cs typeface="Helvetica" panose="020B0604020202020204" pitchFamily="34" charset="0"/>
              </a:rPr>
              <a: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Gây</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ra</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từ</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chối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dịch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vụ</a:t>
            </a:r>
            <a:r>
              <a:rPr lang="en-US" sz="1400" dirty="0">
                <a:latin typeface="Helvetica" panose="020B0604020202020204" pitchFamily="34" charset="0"/>
                <a:cs typeface="Helvetica" panose="020B0604020202020204" pitchFamily="34" charset="0"/>
              </a:rPr>
              <a:t> (DoS), </a:t>
            </a:r>
            <a:r>
              <a:rPr lang="en-US" sz="1400" dirty="0" err="1">
                <a:latin typeface="Helvetica" panose="020B0604020202020204" pitchFamily="34" charset="0"/>
                <a:cs typeface="Helvetica" panose="020B0604020202020204" pitchFamily="34" charset="0"/>
              </a:rPr>
              <a:t>thiệt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hại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tài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chính</a:t>
            </a:r>
            <a:r>
              <a:rPr lang="en-US" sz="1400" dirty="0">
                <a:latin typeface="Helvetica" panose="020B0604020202020204" pitchFamily="34" charset="0"/>
                <a:cs typeface="Helvetica" panose="020B0604020202020204" pitchFamily="34" charset="0"/>
              </a:rPr>
              <a:t>.</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Kiểm</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soát</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hệ</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thống</a:t>
            </a:r>
            <a:r>
              <a:rPr lang="en-US" sz="1400" b="1" dirty="0">
                <a:latin typeface="Helvetica" panose="020B0604020202020204" pitchFamily="34" charset="0"/>
                <a:cs typeface="Helvetica" panose="020B0604020202020204" pitchFamily="34" charset="0"/>
              </a:rPr>
              <a:t>:</a:t>
            </a:r>
            <a:r>
              <a:rPr lang="en-US" sz="1400" dirty="0">
                <a:latin typeface="Helvetica" panose="020B0604020202020204" pitchFamily="34" charset="0"/>
                <a:cs typeface="Helvetica" panose="020B0604020202020204" pitchFamily="34" charset="0"/>
              </a:rPr>
              <a:t> Cài </a:t>
            </a:r>
            <a:r>
              <a:rPr lang="en-US" sz="1400" dirty="0" err="1">
                <a:latin typeface="Helvetica" panose="020B0604020202020204" pitchFamily="34" charset="0"/>
                <a:cs typeface="Helvetica" panose="020B0604020202020204" pitchFamily="34" charset="0"/>
              </a:rPr>
              <a:t>đặt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mã</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độc</a:t>
            </a:r>
            <a:r>
              <a:rPr lang="en-US" sz="1400" dirty="0">
                <a:latin typeface="Helvetica" panose="020B0604020202020204" pitchFamily="34" charset="0"/>
                <a:cs typeface="Helvetica" panose="020B0604020202020204" pitchFamily="34" charset="0"/>
              </a:rPr>
              <a:t> (ransomware, spyware).</a:t>
            </a:r>
          </a:p>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Tổn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hại</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uy</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tín</a:t>
            </a:r>
            <a:r>
              <a:rPr lang="en-US" sz="1400" b="1" dirty="0">
                <a:latin typeface="Helvetica" panose="020B0604020202020204" pitchFamily="34" charset="0"/>
                <a:cs typeface="Helvetica" panose="020B0604020202020204" pitchFamily="34" charset="0"/>
              </a:rPr>
              <a: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Mất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lòng</a:t>
            </a:r>
            <a:r>
              <a:rPr lang="en-US" sz="1400" dirty="0">
                <a:latin typeface="Helvetica" panose="020B0604020202020204" pitchFamily="34" charset="0"/>
                <a:cs typeface="Helvetica" panose="020B0604020202020204" pitchFamily="34" charset="0"/>
              </a:rPr>
              <a:t> tin </a:t>
            </a:r>
            <a:r>
              <a:rPr lang="en-US" sz="1400" dirty="0" err="1">
                <a:latin typeface="Helvetica" panose="020B0604020202020204" pitchFamily="34" charset="0"/>
                <a:cs typeface="Helvetica" panose="020B0604020202020204" pitchFamily="34" charset="0"/>
              </a:rPr>
              <a:t>từ</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khách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hàng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và</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đối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tác</a:t>
            </a:r>
            <a:r>
              <a:rPr lang="en-US" sz="1400" dirty="0">
                <a:latin typeface="Helvetica" panose="020B0604020202020204" pitchFamily="34" charset="0"/>
                <a:cs typeface="Helvetica" panose="020B0604020202020204" pitchFamily="34" charset="0"/>
              </a:rPr>
              <a:t>.</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6E4D15CE-BA51-4EBE-956B-3D57C53F6027}"/>
            </a:ext>
          </a:extLst>
        </p:cNvPr>
        <p:cNvGrpSpPr/>
        <p:nvPr/>
      </p:nvGrpSpPr>
      <p:grpSpPr>
        <a:xfrm>
          <a:off x="0" y="0"/>
          <a:ext cx="0" cy="0"/>
          <a:chOff x="0" y="0"/>
          <a:chExt cx="0" cy="0"/>
        </a:xfrm>
      </p:grpSpPr>
      <p:sp>
        <p:nvSpPr>
          <p:cNvPr id="234" name="Google Shape;234;p39">
            <a:extLst>
              <a:ext uri="{FF2B5EF4-FFF2-40B4-BE49-F238E27FC236}">
                <a16:creationId xmlns:a16="http://schemas.microsoft.com/office/drawing/2014/main" id="{AE08617D-17AB-FF82-EA99-D50AE77C079B}"/>
              </a:ext>
            </a:extLst>
          </p:cNvPr>
          <p:cNvSpPr txBox="1">
            <a:spLocks noGrp="1"/>
          </p:cNvSpPr>
          <p:nvPr>
            <p:ph type="title"/>
          </p:nvPr>
        </p:nvSpPr>
        <p:spPr>
          <a:xfrm>
            <a:off x="715100" y="2311885"/>
            <a:ext cx="8142029" cy="21224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Các kỹ thuật</a:t>
            </a:r>
            <a:br>
              <a:rPr lang="en" dirty="0"/>
            </a:br>
            <a:r>
              <a:rPr lang="en" dirty="0"/>
              <a:t>phổ biến</a:t>
            </a:r>
            <a:endParaRPr dirty="0"/>
          </a:p>
        </p:txBody>
      </p:sp>
      <p:sp>
        <p:nvSpPr>
          <p:cNvPr id="235" name="Google Shape;235;p39">
            <a:extLst>
              <a:ext uri="{FF2B5EF4-FFF2-40B4-BE49-F238E27FC236}">
                <a16:creationId xmlns:a16="http://schemas.microsoft.com/office/drawing/2014/main" id="{621837BB-4807-863B-D541-BC8AA8564AB3}"/>
              </a:ext>
            </a:extLst>
          </p:cNvPr>
          <p:cNvSpPr txBox="1">
            <a:spLocks noGrp="1"/>
          </p:cNvSpPr>
          <p:nvPr>
            <p:ph type="title" idx="2"/>
          </p:nvPr>
        </p:nvSpPr>
        <p:spPr>
          <a:xfrm>
            <a:off x="720100" y="1138756"/>
            <a:ext cx="7708800" cy="125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cxnSp>
        <p:nvCxnSpPr>
          <p:cNvPr id="237" name="Google Shape;237;p39">
            <a:hlinkClick r:id="" action="ppaction://hlinkshowjump?jump=nextslide"/>
            <a:extLst>
              <a:ext uri="{FF2B5EF4-FFF2-40B4-BE49-F238E27FC236}">
                <a16:creationId xmlns:a16="http://schemas.microsoft.com/office/drawing/2014/main" id="{8ECC6C4F-5675-6E51-C67A-5DD057F9A26E}"/>
              </a:ext>
            </a:extLst>
          </p:cNvPr>
          <p:cNvCxnSpPr/>
          <p:nvPr/>
        </p:nvCxnSpPr>
        <p:spPr>
          <a:xfrm>
            <a:off x="715100" y="729100"/>
            <a:ext cx="483300" cy="0"/>
          </a:xfrm>
          <a:prstGeom prst="straightConnector1">
            <a:avLst/>
          </a:prstGeom>
          <a:noFill/>
          <a:ln w="9525" cap="flat" cmpd="sng">
            <a:solidFill>
              <a:schemeClr val="dk1"/>
            </a:solidFill>
            <a:prstDash val="solid"/>
            <a:round/>
            <a:headEnd type="none" w="med" len="med"/>
            <a:tailEnd type="triangle" w="med" len="med"/>
          </a:ln>
        </p:spPr>
      </p:cxnSp>
    </p:spTree>
    <p:extLst>
      <p:ext uri="{BB962C8B-B14F-4D97-AF65-F5344CB8AC3E}">
        <p14:creationId xmlns:p14="http://schemas.microsoft.com/office/powerpoint/2010/main" val="183103186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8108236F-8C1F-B7DF-0589-0835F8B1D4F0}"/>
            </a:ext>
          </a:extLst>
        </p:cNvPr>
        <p:cNvGrpSpPr/>
        <p:nvPr/>
      </p:nvGrpSpPr>
      <p:grpSpPr>
        <a:xfrm>
          <a:off x="0" y="0"/>
          <a:ext cx="0" cy="0"/>
          <a:chOff x="0" y="0"/>
          <a:chExt cx="0" cy="0"/>
        </a:xfrm>
      </p:grpSpPr>
      <p:sp>
        <p:nvSpPr>
          <p:cNvPr id="264" name="Google Shape;264;p43">
            <a:extLst>
              <a:ext uri="{FF2B5EF4-FFF2-40B4-BE49-F238E27FC236}">
                <a16:creationId xmlns:a16="http://schemas.microsoft.com/office/drawing/2014/main" id="{AAA8DC3A-2A66-DF5F-0377-E2BA59A4EC57}"/>
              </a:ext>
            </a:extLst>
          </p:cNvPr>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Tấn công từ điển (Dictionary Attack) </a:t>
            </a:r>
            <a:endParaRPr dirty="0"/>
          </a:p>
        </p:txBody>
      </p:sp>
      <p:sp>
        <p:nvSpPr>
          <p:cNvPr id="266" name="Google Shape;266;p43">
            <a:extLst>
              <a:ext uri="{FF2B5EF4-FFF2-40B4-BE49-F238E27FC236}">
                <a16:creationId xmlns:a16="http://schemas.microsoft.com/office/drawing/2014/main" id="{1CA3841E-7B70-1118-E6E8-B0D7A1C42103}"/>
              </a:ext>
            </a:extLst>
          </p:cNvPr>
          <p:cNvSpPr txBox="1">
            <a:spLocks noGrp="1"/>
          </p:cNvSpPr>
          <p:nvPr>
            <p:ph type="subTitle" idx="3"/>
          </p:nvPr>
        </p:nvSpPr>
        <p:spPr>
          <a:xfrm>
            <a:off x="726927" y="1377374"/>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Mục tiêu</a:t>
            </a:r>
            <a:endParaRPr dirty="0"/>
          </a:p>
        </p:txBody>
      </p:sp>
      <p:sp>
        <p:nvSpPr>
          <p:cNvPr id="267" name="Google Shape;267;p43">
            <a:extLst>
              <a:ext uri="{FF2B5EF4-FFF2-40B4-BE49-F238E27FC236}">
                <a16:creationId xmlns:a16="http://schemas.microsoft.com/office/drawing/2014/main" id="{3CD3E8AB-4CAF-B673-3A0E-0EE2ACD61470}"/>
              </a:ext>
            </a:extLst>
          </p:cNvPr>
          <p:cNvSpPr txBox="1">
            <a:spLocks noGrp="1"/>
          </p:cNvSpPr>
          <p:nvPr>
            <p:ph type="subTitle" idx="4"/>
          </p:nvPr>
        </p:nvSpPr>
        <p:spPr>
          <a:xfrm>
            <a:off x="739479" y="2318387"/>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Cách thức</a:t>
            </a:r>
            <a:endParaRPr dirty="0"/>
          </a:p>
        </p:txBody>
      </p:sp>
      <p:sp>
        <p:nvSpPr>
          <p:cNvPr id="4" name="Subtitle 3">
            <a:extLst>
              <a:ext uri="{FF2B5EF4-FFF2-40B4-BE49-F238E27FC236}">
                <a16:creationId xmlns:a16="http://schemas.microsoft.com/office/drawing/2014/main" id="{4E8770AD-A8F1-9261-CCA6-0BC9AB470087}"/>
              </a:ext>
            </a:extLst>
          </p:cNvPr>
          <p:cNvSpPr>
            <a:spLocks noGrp="1" noChangeArrowheads="1"/>
          </p:cNvSpPr>
          <p:nvPr>
            <p:ph type="subTitle" idx="1"/>
          </p:nvPr>
        </p:nvSpPr>
        <p:spPr bwMode="auto">
          <a:xfrm>
            <a:off x="726927" y="1815553"/>
            <a:ext cx="5942652"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Khai thác thói quen sử dụng mật khẩu yếu, dễ đoán của người dùng.</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 name="Subtitle 5">
            <a:extLst>
              <a:ext uri="{FF2B5EF4-FFF2-40B4-BE49-F238E27FC236}">
                <a16:creationId xmlns:a16="http://schemas.microsoft.com/office/drawing/2014/main" id="{8981741C-94C6-48AF-EC8C-7CB1D82504B1}"/>
              </a:ext>
            </a:extLst>
          </p:cNvPr>
          <p:cNvSpPr>
            <a:spLocks noGrp="1" noChangeArrowheads="1"/>
          </p:cNvSpPr>
          <p:nvPr>
            <p:ph type="subTitle" idx="2"/>
          </p:nvPr>
        </p:nvSpPr>
        <p:spPr bwMode="auto">
          <a:xfrm>
            <a:off x="715100" y="2774387"/>
            <a:ext cx="7882778"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Sử dụng một danh sách (wordlist) chứa hàng triệu mật khẩu phổ biến đã bị rò rỉ (ví dụ: rockyou.txt). Thay vì thử ngẫu nhiên, công cụ sẽ thử lần lượt từng mật khẩu trong danh sách này.</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 name="Google Shape;267;p43">
            <a:extLst>
              <a:ext uri="{FF2B5EF4-FFF2-40B4-BE49-F238E27FC236}">
                <a16:creationId xmlns:a16="http://schemas.microsoft.com/office/drawing/2014/main" id="{C66E6950-E9EA-749D-85C5-14589332C1FE}"/>
              </a:ext>
            </a:extLst>
          </p:cNvPr>
          <p:cNvSpPr txBox="1">
            <a:spLocks/>
          </p:cNvSpPr>
          <p:nvPr/>
        </p:nvSpPr>
        <p:spPr>
          <a:xfrm>
            <a:off x="739479" y="3625055"/>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Alexandria Medium"/>
              <a:buNone/>
              <a:defRPr sz="1800" b="0" i="0" u="none" strike="noStrike" cap="none">
                <a:solidFill>
                  <a:schemeClr val="dk1"/>
                </a:solidFill>
                <a:latin typeface="Alexandria Medium"/>
                <a:ea typeface="Alexandria Medium"/>
                <a:cs typeface="Alexandria Medium"/>
                <a:sym typeface="Alexandria Medium"/>
              </a:defRPr>
            </a:lvl1pPr>
            <a:lvl2pPr marL="914400" marR="0" lvl="1"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2pPr>
            <a:lvl3pPr marL="1371600" marR="0" lvl="2"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3pPr>
            <a:lvl4pPr marL="1828800" marR="0" lvl="3"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4pPr>
            <a:lvl5pPr marL="2286000" marR="0" lvl="4"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5pPr>
            <a:lvl6pPr marL="2743200" marR="0" lvl="5"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6pPr>
            <a:lvl7pPr marL="3200400" marR="0" lvl="6"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7pPr>
            <a:lvl8pPr marL="3657600" marR="0" lvl="7"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8pPr>
            <a:lvl9pPr marL="4114800" marR="0" lvl="8"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9pPr>
          </a:lstStyle>
          <a:p>
            <a:pPr marL="0" indent="0"/>
            <a:r>
              <a:rPr lang="en-US" dirty="0" err="1"/>
              <a:t>Ưu</a:t>
            </a:r>
            <a:r>
              <a:rPr lang="en-US" dirty="0"/>
              <a:t> </a:t>
            </a:r>
            <a:r>
              <a:rPr lang="en-US" dirty="0" err="1"/>
              <a:t>điểm</a:t>
            </a:r>
            <a:endParaRPr lang="en-US" dirty="0"/>
          </a:p>
        </p:txBody>
      </p:sp>
      <p:sp>
        <p:nvSpPr>
          <p:cNvPr id="8" name="Subtitle 5">
            <a:extLst>
              <a:ext uri="{FF2B5EF4-FFF2-40B4-BE49-F238E27FC236}">
                <a16:creationId xmlns:a16="http://schemas.microsoft.com/office/drawing/2014/main" id="{C99F33CB-2FA2-6393-2220-A68B45C7FFAA}"/>
              </a:ext>
            </a:extLst>
          </p:cNvPr>
          <p:cNvSpPr txBox="1">
            <a:spLocks noChangeArrowheads="1"/>
          </p:cNvSpPr>
          <p:nvPr/>
        </p:nvSpPr>
        <p:spPr bwMode="auto">
          <a:xfrm>
            <a:off x="739479" y="4081055"/>
            <a:ext cx="7882778"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171450" indent="-1714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Hiệu quả và nhanh hơn nhiều so với brute force đơn giản nếu người dùng đặt mật khẩu phổ biến.</a:t>
            </a:r>
            <a:endParaRPr lang="en-US" altLang="en-US" sz="1400" dirty="0">
              <a:solidFill>
                <a:schemeClr val="tx1"/>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9754311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0083522C-E3CD-53AD-2771-1ECF77A696DF}"/>
            </a:ext>
          </a:extLst>
        </p:cNvPr>
        <p:cNvGrpSpPr/>
        <p:nvPr/>
      </p:nvGrpSpPr>
      <p:grpSpPr>
        <a:xfrm>
          <a:off x="0" y="0"/>
          <a:ext cx="0" cy="0"/>
          <a:chOff x="0" y="0"/>
          <a:chExt cx="0" cy="0"/>
        </a:xfrm>
      </p:grpSpPr>
      <p:sp>
        <p:nvSpPr>
          <p:cNvPr id="264" name="Google Shape;264;p43">
            <a:extLst>
              <a:ext uri="{FF2B5EF4-FFF2-40B4-BE49-F238E27FC236}">
                <a16:creationId xmlns:a16="http://schemas.microsoft.com/office/drawing/2014/main" id="{03087F00-2536-AED6-1651-30C3E66F0244}"/>
              </a:ext>
            </a:extLst>
          </p:cNvPr>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Tấn công lai (Hybrid Attack) </a:t>
            </a:r>
            <a:endParaRPr dirty="0"/>
          </a:p>
        </p:txBody>
      </p:sp>
      <p:sp>
        <p:nvSpPr>
          <p:cNvPr id="266" name="Google Shape;266;p43">
            <a:extLst>
              <a:ext uri="{FF2B5EF4-FFF2-40B4-BE49-F238E27FC236}">
                <a16:creationId xmlns:a16="http://schemas.microsoft.com/office/drawing/2014/main" id="{A43889E2-24C8-90F4-3909-F3537B2A25C1}"/>
              </a:ext>
            </a:extLst>
          </p:cNvPr>
          <p:cNvSpPr txBox="1">
            <a:spLocks noGrp="1"/>
          </p:cNvSpPr>
          <p:nvPr>
            <p:ph type="subTitle" idx="3"/>
          </p:nvPr>
        </p:nvSpPr>
        <p:spPr>
          <a:xfrm>
            <a:off x="726927" y="1377374"/>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Mục tiêu</a:t>
            </a:r>
            <a:endParaRPr dirty="0"/>
          </a:p>
        </p:txBody>
      </p:sp>
      <p:sp>
        <p:nvSpPr>
          <p:cNvPr id="267" name="Google Shape;267;p43">
            <a:extLst>
              <a:ext uri="{FF2B5EF4-FFF2-40B4-BE49-F238E27FC236}">
                <a16:creationId xmlns:a16="http://schemas.microsoft.com/office/drawing/2014/main" id="{243C0D4E-90C5-9FC3-336B-F55131F0C0ED}"/>
              </a:ext>
            </a:extLst>
          </p:cNvPr>
          <p:cNvSpPr txBox="1">
            <a:spLocks noGrp="1"/>
          </p:cNvSpPr>
          <p:nvPr>
            <p:ph type="subTitle" idx="4"/>
          </p:nvPr>
        </p:nvSpPr>
        <p:spPr>
          <a:xfrm>
            <a:off x="739479" y="2318387"/>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Cách thức</a:t>
            </a:r>
            <a:endParaRPr dirty="0"/>
          </a:p>
        </p:txBody>
      </p:sp>
      <p:sp>
        <p:nvSpPr>
          <p:cNvPr id="4" name="Subtitle 3">
            <a:extLst>
              <a:ext uri="{FF2B5EF4-FFF2-40B4-BE49-F238E27FC236}">
                <a16:creationId xmlns:a16="http://schemas.microsoft.com/office/drawing/2014/main" id="{97D268EA-08EA-4C69-F5D1-4B9B21386D6A}"/>
              </a:ext>
            </a:extLst>
          </p:cNvPr>
          <p:cNvSpPr>
            <a:spLocks noGrp="1" noChangeArrowheads="1"/>
          </p:cNvSpPr>
          <p:nvPr>
            <p:ph type="subTitle" idx="1"/>
          </p:nvPr>
        </p:nvSpPr>
        <p:spPr bwMode="auto">
          <a:xfrm>
            <a:off x="726927" y="1815553"/>
            <a:ext cx="6566221"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Vượt qua các chính sách mật khẩu cơ bản yêu cầu kết hợp nhiều loại ký tự.</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 name="Subtitle 5">
            <a:extLst>
              <a:ext uri="{FF2B5EF4-FFF2-40B4-BE49-F238E27FC236}">
                <a16:creationId xmlns:a16="http://schemas.microsoft.com/office/drawing/2014/main" id="{D336D2A4-939B-5DF3-A3A4-D1CE11CC46A7}"/>
              </a:ext>
            </a:extLst>
          </p:cNvPr>
          <p:cNvSpPr>
            <a:spLocks noGrp="1" noChangeArrowheads="1"/>
          </p:cNvSpPr>
          <p:nvPr>
            <p:ph type="subTitle" idx="2"/>
          </p:nvPr>
        </p:nvSpPr>
        <p:spPr bwMode="auto">
          <a:xfrm>
            <a:off x="739479" y="2774387"/>
            <a:ext cx="7713900"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Là sự kết hợp giữa Tấn công Từ điển và Brute force đơn giản. Kẻ tấn công bắt đầu với một từ gốc trong từ điển và áp dụng các quy tắc biến đổi để tạo ra các biến thể phức tạp hơn.</a:t>
            </a:r>
            <a:endParaRPr lang="en-US" sz="1400" dirty="0">
              <a:latin typeface="Helvetica" panose="020B0604020202020204" pitchFamily="34" charset="0"/>
              <a:cs typeface="Helvetica" panose="020B0604020202020204" pitchFamily="34" charset="0"/>
            </a:endParaRPr>
          </a:p>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Ví</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dụ</a:t>
            </a:r>
            <a:r>
              <a:rPr lang="en-US" sz="1400" b="1" dirty="0">
                <a:latin typeface="Helvetica" panose="020B0604020202020204" pitchFamily="34" charset="0"/>
                <a:cs typeface="Helvetica" panose="020B0604020202020204" pitchFamily="34" charset="0"/>
              </a:rPr>
              <a: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Từ</a:t>
            </a:r>
            <a:r>
              <a:rPr lang="en-US" sz="1400" dirty="0">
                <a:latin typeface="Helvetica" panose="020B0604020202020204" pitchFamily="34" charset="0"/>
                <a:cs typeface="Helvetica" panose="020B0604020202020204" pitchFamily="34" charset="0"/>
              </a:rPr>
              <a:t> "password" </a:t>
            </a:r>
            <a:r>
              <a:rPr lang="en-US" sz="1400" dirty="0" err="1">
                <a:latin typeface="Helvetica" panose="020B0604020202020204" pitchFamily="34" charset="0"/>
                <a:cs typeface="Helvetica" panose="020B0604020202020204" pitchFamily="34" charset="0"/>
              </a:rPr>
              <a:t>có</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thể</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biến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đổi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thành</a:t>
            </a:r>
            <a:r>
              <a:rPr lang="en-US" sz="1400" dirty="0">
                <a:latin typeface="Helvetica" panose="020B0604020202020204" pitchFamily="34" charset="0"/>
                <a:cs typeface="Helvetica" panose="020B0604020202020204" pitchFamily="34" charset="0"/>
              </a:rPr>
              <a:t> "Password123", "p@ssw0rd!", </a:t>
            </a:r>
            <a:r>
              <a:rPr lang="en-US" sz="1400" dirty="0" err="1">
                <a:latin typeface="Helvetica" panose="020B0604020202020204" pitchFamily="34" charset="0"/>
                <a:cs typeface="Helvetica" panose="020B0604020202020204" pitchFamily="34" charset="0"/>
              </a:rPr>
              <a:t>hoặc</a:t>
            </a:r>
            <a:r>
              <a:rPr lang="en-US" sz="1400" dirty="0">
                <a:latin typeface="Helvetica" panose="020B0604020202020204" pitchFamily="34" charset="0"/>
                <a:cs typeface="Helvetica" panose="020B0604020202020204" pitchFamily="34" charset="0"/>
              </a:rPr>
              <a:t> "P@ssw0rd2025".</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20241233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0B23165F-BAD5-38FB-85F2-74F5AC594B52}"/>
            </a:ext>
          </a:extLst>
        </p:cNvPr>
        <p:cNvGrpSpPr/>
        <p:nvPr/>
      </p:nvGrpSpPr>
      <p:grpSpPr>
        <a:xfrm>
          <a:off x="0" y="0"/>
          <a:ext cx="0" cy="0"/>
          <a:chOff x="0" y="0"/>
          <a:chExt cx="0" cy="0"/>
        </a:xfrm>
      </p:grpSpPr>
      <p:sp>
        <p:nvSpPr>
          <p:cNvPr id="264" name="Google Shape;264;p43">
            <a:extLst>
              <a:ext uri="{FF2B5EF4-FFF2-40B4-BE49-F238E27FC236}">
                <a16:creationId xmlns:a16="http://schemas.microsoft.com/office/drawing/2014/main" id="{620B25F5-2B2D-6765-5B8D-2634560A2C40}"/>
              </a:ext>
            </a:extLst>
          </p:cNvPr>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Phun mật khẩu (Password Spraying) </a:t>
            </a:r>
            <a:endParaRPr dirty="0"/>
          </a:p>
        </p:txBody>
      </p:sp>
      <p:sp>
        <p:nvSpPr>
          <p:cNvPr id="266" name="Google Shape;266;p43">
            <a:extLst>
              <a:ext uri="{FF2B5EF4-FFF2-40B4-BE49-F238E27FC236}">
                <a16:creationId xmlns:a16="http://schemas.microsoft.com/office/drawing/2014/main" id="{CB05A86C-D841-F240-7F83-BC65E4A4F9B7}"/>
              </a:ext>
            </a:extLst>
          </p:cNvPr>
          <p:cNvSpPr txBox="1">
            <a:spLocks noGrp="1"/>
          </p:cNvSpPr>
          <p:nvPr>
            <p:ph type="subTitle" idx="3"/>
          </p:nvPr>
        </p:nvSpPr>
        <p:spPr>
          <a:xfrm>
            <a:off x="726927" y="1377374"/>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Mục tiêu</a:t>
            </a:r>
            <a:endParaRPr dirty="0"/>
          </a:p>
        </p:txBody>
      </p:sp>
      <p:sp>
        <p:nvSpPr>
          <p:cNvPr id="267" name="Google Shape;267;p43">
            <a:extLst>
              <a:ext uri="{FF2B5EF4-FFF2-40B4-BE49-F238E27FC236}">
                <a16:creationId xmlns:a16="http://schemas.microsoft.com/office/drawing/2014/main" id="{2D074A4E-42C5-1B36-7E35-6CDEEF73D8BF}"/>
              </a:ext>
            </a:extLst>
          </p:cNvPr>
          <p:cNvSpPr txBox="1">
            <a:spLocks noGrp="1"/>
          </p:cNvSpPr>
          <p:nvPr>
            <p:ph type="subTitle" idx="4"/>
          </p:nvPr>
        </p:nvSpPr>
        <p:spPr>
          <a:xfrm>
            <a:off x="773856" y="2582798"/>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Cách thức</a:t>
            </a:r>
            <a:endParaRPr dirty="0"/>
          </a:p>
        </p:txBody>
      </p:sp>
      <p:sp>
        <p:nvSpPr>
          <p:cNvPr id="4" name="Subtitle 3">
            <a:extLst>
              <a:ext uri="{FF2B5EF4-FFF2-40B4-BE49-F238E27FC236}">
                <a16:creationId xmlns:a16="http://schemas.microsoft.com/office/drawing/2014/main" id="{31A7A9AE-8B3E-DEB3-C0C0-B585A8E167C3}"/>
              </a:ext>
            </a:extLst>
          </p:cNvPr>
          <p:cNvSpPr>
            <a:spLocks noGrp="1" noChangeArrowheads="1"/>
          </p:cNvSpPr>
          <p:nvPr>
            <p:ph type="subTitle" idx="1"/>
          </p:nvPr>
        </p:nvSpPr>
        <p:spPr bwMode="auto">
          <a:xfrm>
            <a:off x="773856" y="1833124"/>
            <a:ext cx="6707543"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Tìm kiếm các tài khoản có mật khẩu yếu trong một hệ thống lớn và lẩn tránh cơ chế khóa tài khoản.</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 name="Subtitle 5">
            <a:extLst>
              <a:ext uri="{FF2B5EF4-FFF2-40B4-BE49-F238E27FC236}">
                <a16:creationId xmlns:a16="http://schemas.microsoft.com/office/drawing/2014/main" id="{09A0584A-FC5E-F544-28CD-54BC2E84561B}"/>
              </a:ext>
            </a:extLst>
          </p:cNvPr>
          <p:cNvSpPr>
            <a:spLocks noGrp="1" noChangeArrowheads="1"/>
          </p:cNvSpPr>
          <p:nvPr>
            <p:ph type="subTitle" idx="2"/>
          </p:nvPr>
        </p:nvSpPr>
        <p:spPr bwMode="auto">
          <a:xfrm>
            <a:off x="773856" y="3038798"/>
            <a:ext cx="7713900"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Sử dụng một hoặc vài mật khẩu rất phổ biến (ví dụ: "Welcome123!", "Spring2024!") và thử chúng trên hàng loạt tài khoản người dùng khác nhau. Cuộc tấn công diễn ra rất chậm rãi ("low-and-slow"), mỗi tài khoản chỉ bị thử một lần trong một khoảng thời gian dài (vài giờ hoặc cả ngày) để không kích hoạt cảnh báo.</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22713372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03D483EF-1478-42E0-BA74-B79713B98B20}"/>
            </a:ext>
          </a:extLst>
        </p:cNvPr>
        <p:cNvGrpSpPr/>
        <p:nvPr/>
      </p:nvGrpSpPr>
      <p:grpSpPr>
        <a:xfrm>
          <a:off x="0" y="0"/>
          <a:ext cx="0" cy="0"/>
          <a:chOff x="0" y="0"/>
          <a:chExt cx="0" cy="0"/>
        </a:xfrm>
      </p:grpSpPr>
      <p:sp>
        <p:nvSpPr>
          <p:cNvPr id="264" name="Google Shape;264;p43">
            <a:extLst>
              <a:ext uri="{FF2B5EF4-FFF2-40B4-BE49-F238E27FC236}">
                <a16:creationId xmlns:a16="http://schemas.microsoft.com/office/drawing/2014/main" id="{85352DEE-1A49-3140-5CEA-1E6CDE2BAC28}"/>
              </a:ext>
            </a:extLst>
          </p:cNvPr>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Nhồi thông tin xác thực (Credential Suffing) </a:t>
            </a:r>
            <a:endParaRPr dirty="0"/>
          </a:p>
        </p:txBody>
      </p:sp>
      <p:sp>
        <p:nvSpPr>
          <p:cNvPr id="266" name="Google Shape;266;p43">
            <a:extLst>
              <a:ext uri="{FF2B5EF4-FFF2-40B4-BE49-F238E27FC236}">
                <a16:creationId xmlns:a16="http://schemas.microsoft.com/office/drawing/2014/main" id="{61C788F2-9804-0394-4D29-575D9C136F44}"/>
              </a:ext>
            </a:extLst>
          </p:cNvPr>
          <p:cNvSpPr txBox="1">
            <a:spLocks noGrp="1"/>
          </p:cNvSpPr>
          <p:nvPr>
            <p:ph type="subTitle" idx="3"/>
          </p:nvPr>
        </p:nvSpPr>
        <p:spPr>
          <a:xfrm>
            <a:off x="726927" y="1377374"/>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Mục tiêu</a:t>
            </a:r>
            <a:endParaRPr dirty="0"/>
          </a:p>
        </p:txBody>
      </p:sp>
      <p:sp>
        <p:nvSpPr>
          <p:cNvPr id="267" name="Google Shape;267;p43">
            <a:extLst>
              <a:ext uri="{FF2B5EF4-FFF2-40B4-BE49-F238E27FC236}">
                <a16:creationId xmlns:a16="http://schemas.microsoft.com/office/drawing/2014/main" id="{5B9EDC43-DECA-08B1-CFF2-E9BA15E035E7}"/>
              </a:ext>
            </a:extLst>
          </p:cNvPr>
          <p:cNvSpPr txBox="1">
            <a:spLocks noGrp="1"/>
          </p:cNvSpPr>
          <p:nvPr>
            <p:ph type="subTitle" idx="4"/>
          </p:nvPr>
        </p:nvSpPr>
        <p:spPr>
          <a:xfrm>
            <a:off x="739479" y="2318387"/>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Cách thức</a:t>
            </a:r>
            <a:endParaRPr dirty="0"/>
          </a:p>
        </p:txBody>
      </p:sp>
      <p:sp>
        <p:nvSpPr>
          <p:cNvPr id="4" name="Subtitle 3">
            <a:extLst>
              <a:ext uri="{FF2B5EF4-FFF2-40B4-BE49-F238E27FC236}">
                <a16:creationId xmlns:a16="http://schemas.microsoft.com/office/drawing/2014/main" id="{D46E1D4A-0774-93D1-3573-E16394A1CD8E}"/>
              </a:ext>
            </a:extLst>
          </p:cNvPr>
          <p:cNvSpPr>
            <a:spLocks noGrp="1" noChangeArrowheads="1"/>
          </p:cNvSpPr>
          <p:nvPr>
            <p:ph type="subTitle" idx="1"/>
          </p:nvPr>
        </p:nvSpPr>
        <p:spPr bwMode="auto">
          <a:xfrm>
            <a:off x="726927" y="1815553"/>
            <a:ext cx="7616188"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Khai thác thói quen tái sử dụng mật khẩu trên nhiều dịch vụ khác nhau của người dùng.</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6" name="Subtitle 5">
            <a:extLst>
              <a:ext uri="{FF2B5EF4-FFF2-40B4-BE49-F238E27FC236}">
                <a16:creationId xmlns:a16="http://schemas.microsoft.com/office/drawing/2014/main" id="{2A540342-03A1-77FD-EC27-109267E9A126}"/>
              </a:ext>
            </a:extLst>
          </p:cNvPr>
          <p:cNvSpPr>
            <a:spLocks noGrp="1" noChangeArrowheads="1"/>
          </p:cNvSpPr>
          <p:nvPr>
            <p:ph type="subTitle" idx="2"/>
          </p:nvPr>
        </p:nvSpPr>
        <p:spPr bwMode="auto">
          <a:xfrm>
            <a:off x="715100" y="2774387"/>
            <a:ext cx="7882778"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eaLnBrk="0" fontAlgn="base" hangingPunct="0">
              <a:lnSpc>
                <a:spcPct val="120000"/>
              </a:lnSpc>
              <a:spcBef>
                <a:spcPct val="0"/>
              </a:spcBef>
              <a:spcAft>
                <a:spcPct val="0"/>
              </a:spcAft>
              <a:buClrTx/>
              <a:buSzTx/>
              <a:buFont typeface="Arial" panose="020B0604020202020204" pitchFamily="34" charset="0"/>
              <a:buChar char="•"/>
            </a:pPr>
            <a:r>
              <a:rPr lang="vi-VN" sz="1400" dirty="0">
                <a:latin typeface="Helvetica" panose="020B0604020202020204" pitchFamily="34" charset="0"/>
                <a:cs typeface="Helvetica" panose="020B0604020202020204" pitchFamily="34" charset="0"/>
              </a:rPr>
              <a:t>Kẻ tấn công sử dụng các cặp email/mật khẩu đã bị đánh cắp từ các vụ rò rỉ dữ liệu trước đó. Sau đó, chúng dùng bot tự động "nhồi" các thông tin này vào trang đăng nhập của các dịch vụ khác để xem tài khoản nào có thể truy cập được.</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7" name="Google Shape;267;p43">
            <a:extLst>
              <a:ext uri="{FF2B5EF4-FFF2-40B4-BE49-F238E27FC236}">
                <a16:creationId xmlns:a16="http://schemas.microsoft.com/office/drawing/2014/main" id="{6976F3E0-ECC0-F1FE-23FB-FB3DB3445469}"/>
              </a:ext>
            </a:extLst>
          </p:cNvPr>
          <p:cNvSpPr txBox="1">
            <a:spLocks/>
          </p:cNvSpPr>
          <p:nvPr/>
        </p:nvSpPr>
        <p:spPr>
          <a:xfrm>
            <a:off x="739479" y="3794286"/>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Alexandria Medium"/>
              <a:buNone/>
              <a:defRPr sz="1800" b="0" i="0" u="none" strike="noStrike" cap="none">
                <a:solidFill>
                  <a:schemeClr val="dk1"/>
                </a:solidFill>
                <a:latin typeface="Alexandria Medium"/>
                <a:ea typeface="Alexandria Medium"/>
                <a:cs typeface="Alexandria Medium"/>
                <a:sym typeface="Alexandria Medium"/>
              </a:defRPr>
            </a:lvl1pPr>
            <a:lvl2pPr marL="914400" marR="0" lvl="1"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2pPr>
            <a:lvl3pPr marL="1371600" marR="0" lvl="2"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3pPr>
            <a:lvl4pPr marL="1828800" marR="0" lvl="3"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4pPr>
            <a:lvl5pPr marL="2286000" marR="0" lvl="4"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5pPr>
            <a:lvl6pPr marL="2743200" marR="0" lvl="5"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6pPr>
            <a:lvl7pPr marL="3200400" marR="0" lvl="6"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7pPr>
            <a:lvl8pPr marL="3657600" marR="0" lvl="7"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8pPr>
            <a:lvl9pPr marL="4114800" marR="0" lvl="8"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9pPr>
          </a:lstStyle>
          <a:p>
            <a:pPr marL="0" indent="0"/>
            <a:r>
              <a:rPr lang="en-US" dirty="0" err="1"/>
              <a:t>Mức</a:t>
            </a:r>
            <a:r>
              <a:rPr lang="en-US" dirty="0"/>
              <a:t> </a:t>
            </a:r>
            <a:r>
              <a:rPr lang="en-US" dirty="0" err="1"/>
              <a:t>độ</a:t>
            </a:r>
            <a:r>
              <a:rPr lang="en-US" dirty="0"/>
              <a:t> </a:t>
            </a:r>
            <a:r>
              <a:rPr lang="en-US" dirty="0" err="1"/>
              <a:t>nguy</a:t>
            </a:r>
            <a:r>
              <a:rPr lang="en-US" dirty="0"/>
              <a:t> </a:t>
            </a:r>
            <a:r>
              <a:rPr lang="en-US" dirty="0" err="1"/>
              <a:t>hiểm</a:t>
            </a:r>
            <a:endParaRPr lang="en-US" dirty="0"/>
          </a:p>
        </p:txBody>
      </p:sp>
      <p:sp>
        <p:nvSpPr>
          <p:cNvPr id="8" name="Subtitle 5">
            <a:extLst>
              <a:ext uri="{FF2B5EF4-FFF2-40B4-BE49-F238E27FC236}">
                <a16:creationId xmlns:a16="http://schemas.microsoft.com/office/drawing/2014/main" id="{920C43B2-5294-E653-2B02-DD2A54C0C164}"/>
              </a:ext>
            </a:extLst>
          </p:cNvPr>
          <p:cNvSpPr txBox="1">
            <a:spLocks noChangeArrowheads="1"/>
          </p:cNvSpPr>
          <p:nvPr/>
        </p:nvSpPr>
        <p:spPr bwMode="auto">
          <a:xfrm>
            <a:off x="739479" y="4250286"/>
            <a:ext cx="7882778"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171450" indent="-171450" eaLnBrk="0" fontAlgn="base" hangingPunct="0">
              <a:lnSpc>
                <a:spcPct val="120000"/>
              </a:lnSpc>
              <a:spcBef>
                <a:spcPct val="0"/>
              </a:spcBef>
              <a:spcAft>
                <a:spcPct val="0"/>
              </a:spcAft>
              <a:buClrTx/>
              <a:buSzTx/>
              <a:buFont typeface="Arial" panose="020B0604020202020204" pitchFamily="34" charset="0"/>
              <a:buChar char="•"/>
            </a:pPr>
            <a:r>
              <a:rPr lang="en-US" sz="1400" dirty="0" err="1"/>
              <a:t>Rất</a:t>
            </a:r>
            <a:r>
              <a:rPr lang="en-US" sz="1400" dirty="0"/>
              <a:t> </a:t>
            </a:r>
            <a:r>
              <a:rPr lang="en-US" sz="1400" dirty="0" err="1"/>
              <a:t>cao</a:t>
            </a:r>
            <a:r>
              <a:rPr lang="en-US" sz="1400" dirty="0"/>
              <a:t> do </a:t>
            </a:r>
            <a:r>
              <a:rPr lang="en-US" sz="1400" dirty="0" err="1"/>
              <a:t>quy</a:t>
            </a:r>
            <a:r>
              <a:rPr lang="en-US" sz="1400" dirty="0"/>
              <a:t> </a:t>
            </a:r>
            <a:r>
              <a:rPr lang="en-US" sz="1400" dirty="0" err="1"/>
              <a:t>mô</a:t>
            </a:r>
            <a:r>
              <a:rPr lang="en-US" sz="1400" dirty="0"/>
              <a:t> </a:t>
            </a:r>
            <a:r>
              <a:rPr lang="en-US" sz="1400" dirty="0" err="1"/>
              <a:t>dữ</a:t>
            </a:r>
            <a:r>
              <a:rPr lang="en-US" sz="1400" dirty="0"/>
              <a:t> </a:t>
            </a:r>
            <a:r>
              <a:rPr lang="en-US" sz="1400" dirty="0" err="1"/>
              <a:t>liệu</a:t>
            </a:r>
            <a:r>
              <a:rPr lang="en-US" sz="1400" dirty="0"/>
              <a:t> </a:t>
            </a:r>
            <a:r>
              <a:rPr lang="en-US" sz="1400" dirty="0" err="1"/>
              <a:t>bị</a:t>
            </a:r>
            <a:r>
              <a:rPr lang="en-US" sz="1400" dirty="0"/>
              <a:t> </a:t>
            </a:r>
            <a:r>
              <a:rPr lang="en-US" sz="1400" dirty="0" err="1"/>
              <a:t>rò</a:t>
            </a:r>
            <a:r>
              <a:rPr lang="en-US" sz="1400" dirty="0"/>
              <a:t> </a:t>
            </a:r>
            <a:r>
              <a:rPr lang="en-US" sz="1400" dirty="0" err="1"/>
              <a:t>rỉ</a:t>
            </a:r>
            <a:r>
              <a:rPr lang="en-US" sz="1400" dirty="0"/>
              <a:t> </a:t>
            </a:r>
            <a:r>
              <a:rPr lang="en-US" sz="1400" dirty="0" err="1"/>
              <a:t>ngày</a:t>
            </a:r>
            <a:r>
              <a:rPr lang="en-US" sz="1400" dirty="0"/>
              <a:t> </a:t>
            </a:r>
            <a:r>
              <a:rPr lang="en-US" sz="1400" dirty="0" err="1"/>
              <a:t>càng</a:t>
            </a:r>
            <a:r>
              <a:rPr lang="en-US" sz="1400" dirty="0"/>
              <a:t> </a:t>
            </a:r>
            <a:r>
              <a:rPr lang="en-US" sz="1400" dirty="0" err="1"/>
              <a:t>lớn</a:t>
            </a:r>
            <a:r>
              <a:rPr lang="en-US" sz="1400" dirty="0"/>
              <a:t>.</a:t>
            </a:r>
            <a:endParaRPr lang="en-US" altLang="en-US" sz="1400" dirty="0">
              <a:solidFill>
                <a:schemeClr val="tx1"/>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03086040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2E30A4FD-7A7C-D454-E828-88929A9104D2}"/>
            </a:ext>
          </a:extLst>
        </p:cNvPr>
        <p:cNvGrpSpPr/>
        <p:nvPr/>
      </p:nvGrpSpPr>
      <p:grpSpPr>
        <a:xfrm>
          <a:off x="0" y="0"/>
          <a:ext cx="0" cy="0"/>
          <a:chOff x="0" y="0"/>
          <a:chExt cx="0" cy="0"/>
        </a:xfrm>
      </p:grpSpPr>
      <p:sp>
        <p:nvSpPr>
          <p:cNvPr id="234" name="Google Shape;234;p39">
            <a:extLst>
              <a:ext uri="{FF2B5EF4-FFF2-40B4-BE49-F238E27FC236}">
                <a16:creationId xmlns:a16="http://schemas.microsoft.com/office/drawing/2014/main" id="{C822DAC4-6635-43FE-C180-6EA9A5219552}"/>
              </a:ext>
            </a:extLst>
          </p:cNvPr>
          <p:cNvSpPr txBox="1">
            <a:spLocks noGrp="1"/>
          </p:cNvSpPr>
          <p:nvPr>
            <p:ph type="title"/>
          </p:nvPr>
        </p:nvSpPr>
        <p:spPr>
          <a:xfrm>
            <a:off x="715100" y="2311885"/>
            <a:ext cx="8142029" cy="21224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Mô phỏng tấn công và kết quả</a:t>
            </a:r>
            <a:endParaRPr dirty="0"/>
          </a:p>
        </p:txBody>
      </p:sp>
      <p:sp>
        <p:nvSpPr>
          <p:cNvPr id="235" name="Google Shape;235;p39">
            <a:extLst>
              <a:ext uri="{FF2B5EF4-FFF2-40B4-BE49-F238E27FC236}">
                <a16:creationId xmlns:a16="http://schemas.microsoft.com/office/drawing/2014/main" id="{35E0524C-A12D-A795-BB09-63559F778C85}"/>
              </a:ext>
            </a:extLst>
          </p:cNvPr>
          <p:cNvSpPr txBox="1">
            <a:spLocks noGrp="1"/>
          </p:cNvSpPr>
          <p:nvPr>
            <p:ph type="title" idx="2"/>
          </p:nvPr>
        </p:nvSpPr>
        <p:spPr>
          <a:xfrm>
            <a:off x="720100" y="1138756"/>
            <a:ext cx="7708800" cy="125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cxnSp>
        <p:nvCxnSpPr>
          <p:cNvPr id="237" name="Google Shape;237;p39">
            <a:hlinkClick r:id="" action="ppaction://hlinkshowjump?jump=nextslide"/>
            <a:extLst>
              <a:ext uri="{FF2B5EF4-FFF2-40B4-BE49-F238E27FC236}">
                <a16:creationId xmlns:a16="http://schemas.microsoft.com/office/drawing/2014/main" id="{0D027DFF-8EC0-86B4-F121-597B12ABFEDE}"/>
              </a:ext>
            </a:extLst>
          </p:cNvPr>
          <p:cNvCxnSpPr/>
          <p:nvPr/>
        </p:nvCxnSpPr>
        <p:spPr>
          <a:xfrm>
            <a:off x="715100" y="729100"/>
            <a:ext cx="483300" cy="0"/>
          </a:xfrm>
          <a:prstGeom prst="straightConnector1">
            <a:avLst/>
          </a:prstGeom>
          <a:noFill/>
          <a:ln w="9525" cap="flat" cmpd="sng">
            <a:solidFill>
              <a:schemeClr val="dk1"/>
            </a:solidFill>
            <a:prstDash val="solid"/>
            <a:round/>
            <a:headEnd type="none" w="med" len="med"/>
            <a:tailEnd type="triangle" w="med" len="med"/>
          </a:ln>
        </p:spPr>
      </p:cxnSp>
    </p:spTree>
    <p:extLst>
      <p:ext uri="{BB962C8B-B14F-4D97-AF65-F5344CB8AC3E}">
        <p14:creationId xmlns:p14="http://schemas.microsoft.com/office/powerpoint/2010/main" val="5636134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AF6"/>
        </a:solidFill>
        <a:effectLst/>
      </p:bgPr>
    </p:bg>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xfrm>
            <a:off x="715200" y="542951"/>
            <a:ext cx="3856800" cy="94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Môi trường </a:t>
            </a:r>
            <a:br>
              <a:rPr lang="en" dirty="0"/>
            </a:br>
            <a:r>
              <a:rPr lang="en" dirty="0"/>
              <a:t>&amp; Công cụ</a:t>
            </a:r>
            <a:endParaRPr dirty="0"/>
          </a:p>
        </p:txBody>
      </p:sp>
      <p:sp>
        <p:nvSpPr>
          <p:cNvPr id="28" name="Rectangle 1">
            <a:extLst>
              <a:ext uri="{FF2B5EF4-FFF2-40B4-BE49-F238E27FC236}">
                <a16:creationId xmlns:a16="http://schemas.microsoft.com/office/drawing/2014/main" id="{4E51D08E-6847-717B-D456-89AD9F1695C5}"/>
              </a:ext>
            </a:extLst>
          </p:cNvPr>
          <p:cNvSpPr>
            <a:spLocks noGrp="1" noChangeArrowheads="1"/>
          </p:cNvSpPr>
          <p:nvPr>
            <p:ph type="body" idx="1"/>
          </p:nvPr>
        </p:nvSpPr>
        <p:spPr bwMode="auto">
          <a:xfrm>
            <a:off x="715100" y="1795320"/>
            <a:ext cx="4756186"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b="1" dirty="0">
                <a:latin typeface="Helvetica" panose="020B0604020202020204" pitchFamily="34" charset="0"/>
                <a:cs typeface="Helvetica" panose="020B0604020202020204" pitchFamily="34" charset="0"/>
              </a:rPr>
              <a:t>Mục tiêu:</a:t>
            </a:r>
            <a:r>
              <a:rPr lang="vi-VN" sz="1400" dirty="0">
                <a:latin typeface="Helvetica" panose="020B0604020202020204" pitchFamily="34" charset="0"/>
                <a:cs typeface="Helvetica" panose="020B0604020202020204" pitchFamily="34" charset="0"/>
              </a:rPr>
              <a:t> Ứng dụng web có lỗ hổng (Damn Vulnerable Web Application - DVWA), một môi trường an toàn để thực hành tấn công.</a:t>
            </a:r>
            <a:r>
              <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p>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en-US" sz="1400" b="1" dirty="0">
                <a:latin typeface="Helvetica" panose="020B0604020202020204" pitchFamily="34" charset="0"/>
                <a:cs typeface="Helvetica" panose="020B0604020202020204" pitchFamily="34" charset="0"/>
              </a:rPr>
              <a:t>Công </a:t>
            </a:r>
            <a:r>
              <a:rPr lang="en-US" sz="1400" b="1" dirty="0" err="1">
                <a:latin typeface="Helvetica" panose="020B0604020202020204" pitchFamily="34" charset="0"/>
                <a:cs typeface="Helvetica" panose="020B0604020202020204" pitchFamily="34" charset="0"/>
              </a:rPr>
              <a:t>cụ</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tấn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công</a:t>
            </a:r>
            <a:r>
              <a:rPr lang="en-US" sz="1400" b="1" dirty="0">
                <a:latin typeface="Helvetica" panose="020B0604020202020204" pitchFamily="34" charset="0"/>
                <a:cs typeface="Helvetica" panose="020B0604020202020204" pitchFamily="34" charset="0"/>
              </a:rPr>
              <a:t>:</a:t>
            </a:r>
            <a:r>
              <a:rPr lang="en-US" sz="1400" dirty="0">
                <a:latin typeface="Helvetica" panose="020B0604020202020204" pitchFamily="34" charset="0"/>
                <a:cs typeface="Helvetica" panose="020B0604020202020204" pitchFamily="34" charset="0"/>
              </a:rPr>
              <a:t> Hydra, </a:t>
            </a:r>
            <a:r>
              <a:rPr lang="en-US" sz="1400" dirty="0" err="1">
                <a:latin typeface="Helvetica" panose="020B0604020202020204" pitchFamily="34" charset="0"/>
                <a:cs typeface="Helvetica" panose="020B0604020202020204" pitchFamily="34" charset="0"/>
              </a:rPr>
              <a:t>một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công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cụ</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tự</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động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hóa</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việc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mật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khẩu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trực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tuyến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cực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kỳ</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nhanh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và</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linh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hoạt</a:t>
            </a:r>
            <a:r>
              <a:rPr lang="en-US" sz="1400" dirty="0">
                <a:latin typeface="Helvetica" panose="020B0604020202020204" pitchFamily="34" charset="0"/>
                <a:cs typeface="Helvetica" panose="020B0604020202020204" pitchFamily="34" charset="0"/>
              </a:rPr>
              <a:t>.</a:t>
            </a:r>
          </a:p>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b="1" dirty="0">
                <a:latin typeface="Helvetica" panose="020B0604020202020204" pitchFamily="34" charset="0"/>
                <a:cs typeface="Helvetica" panose="020B0604020202020204" pitchFamily="34" charset="0"/>
              </a:rPr>
              <a:t>Danh sách mật khẩu:</a:t>
            </a:r>
            <a:r>
              <a:rPr lang="vi-VN" sz="1400" dirty="0">
                <a:latin typeface="Helvetica" panose="020B0604020202020204" pitchFamily="34" charset="0"/>
                <a:cs typeface="Helvetica" panose="020B0604020202020204" pitchFamily="34" charset="0"/>
              </a:rPr>
              <a:t> </a:t>
            </a:r>
            <a:r>
              <a:rPr lang="vi-VN" dirty="0">
                <a:latin typeface="Helvetica" panose="020B0604020202020204" pitchFamily="34" charset="0"/>
                <a:cs typeface="Helvetica" panose="020B0604020202020204" pitchFamily="34" charset="0"/>
              </a:rPr>
              <a:t>rockyou.txt</a:t>
            </a:r>
            <a:r>
              <a:rPr lang="vi-VN" sz="1400" dirty="0">
                <a:latin typeface="Helvetica" panose="020B0604020202020204" pitchFamily="34" charset="0"/>
                <a:cs typeface="Helvetica" panose="020B0604020202020204" pitchFamily="34" charset="0"/>
              </a:rPr>
              <a:t>, chứa hơn 14 triệu mật khẩu thực tế đã bị rò rỉ.</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pic>
        <p:nvPicPr>
          <p:cNvPr id="2052" name="Picture 4" descr="Scan DVWA Application for Vulnerabilities | Acunetix">
            <a:extLst>
              <a:ext uri="{FF2B5EF4-FFF2-40B4-BE49-F238E27FC236}">
                <a16:creationId xmlns:a16="http://schemas.microsoft.com/office/drawing/2014/main" id="{398321FD-9157-1E49-B48E-C37E64C79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053" y="228414"/>
            <a:ext cx="2805705" cy="264720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ydra: Unveiling the Power of Brute Force in Web Page Login Security | by  Pawan Jaiswal | Cyber Security Write-ups">
            <a:extLst>
              <a:ext uri="{FF2B5EF4-FFF2-40B4-BE49-F238E27FC236}">
                <a16:creationId xmlns:a16="http://schemas.microsoft.com/office/drawing/2014/main" id="{AF6C71F2-AB2E-B97C-5193-22EA0C2783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1053" y="3224312"/>
            <a:ext cx="2805705" cy="15782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AF6"/>
        </a:solidFill>
        <a:effectLst/>
      </p:bgPr>
    </p:bg>
    <p:spTree>
      <p:nvGrpSpPr>
        <p:cNvPr id="1" name="Shape 390"/>
        <p:cNvGrpSpPr/>
        <p:nvPr/>
      </p:nvGrpSpPr>
      <p:grpSpPr>
        <a:xfrm>
          <a:off x="0" y="0"/>
          <a:ext cx="0" cy="0"/>
          <a:chOff x="0" y="0"/>
          <a:chExt cx="0" cy="0"/>
        </a:xfrm>
      </p:grpSpPr>
      <p:sp>
        <p:nvSpPr>
          <p:cNvPr id="391" name="Google Shape;391;p52"/>
          <p:cNvSpPr txBox="1">
            <a:spLocks noGrp="1"/>
          </p:cNvSpPr>
          <p:nvPr>
            <p:ph type="title"/>
          </p:nvPr>
        </p:nvSpPr>
        <p:spPr>
          <a:xfrm>
            <a:off x="715100" y="535000"/>
            <a:ext cx="3856800" cy="9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Quy trình tấn công </a:t>
            </a:r>
            <a:br>
              <a:rPr lang="en" dirty="0"/>
            </a:br>
            <a:r>
              <a:rPr lang="en" dirty="0"/>
              <a:t>chi tiết</a:t>
            </a:r>
            <a:endParaRPr dirty="0"/>
          </a:p>
        </p:txBody>
      </p:sp>
      <p:sp>
        <p:nvSpPr>
          <p:cNvPr id="3" name="Text Placeholder 2">
            <a:extLst>
              <a:ext uri="{FF2B5EF4-FFF2-40B4-BE49-F238E27FC236}">
                <a16:creationId xmlns:a16="http://schemas.microsoft.com/office/drawing/2014/main" id="{601BD1C7-37C7-ADDE-A130-1DBDC29B4F36}"/>
              </a:ext>
            </a:extLst>
          </p:cNvPr>
          <p:cNvSpPr>
            <a:spLocks noGrp="1" noChangeArrowheads="1"/>
          </p:cNvSpPr>
          <p:nvPr>
            <p:ph type="body" idx="1"/>
          </p:nvPr>
        </p:nvSpPr>
        <p:spPr bwMode="auto">
          <a:xfrm>
            <a:off x="715100" y="1489000"/>
            <a:ext cx="5486917" cy="319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20000"/>
              </a:lnSpc>
              <a:spcBef>
                <a:spcPct val="0"/>
              </a:spcBef>
              <a:buClrTx/>
              <a:buSzTx/>
              <a:buFont typeface="+mj-lt"/>
              <a:buAutoNum type="arabicPeriod"/>
            </a:pPr>
            <a:r>
              <a:rPr lang="vi-VN" sz="1400" b="1" dirty="0">
                <a:latin typeface="Helvetica" panose="020B0604020202020204" pitchFamily="34" charset="0"/>
                <a:cs typeface="Helvetica" panose="020B0604020202020204" pitchFamily="34" charset="0"/>
              </a:rPr>
              <a:t>Phân tích Form đăng nhập:</a:t>
            </a:r>
            <a:r>
              <a:rPr lang="vi-VN" sz="1400" dirty="0">
                <a:latin typeface="Helvetica" panose="020B0604020202020204" pitchFamily="34" charset="0"/>
                <a:cs typeface="Helvetica" panose="020B0604020202020204" pitchFamily="34" charset="0"/>
              </a:rPr>
              <a:t> Kiểm tra mã nguồn trang web để xác định URL, phương thức (GET/POST), và tên các tham số (ví dụ: username, password).</a:t>
            </a:r>
            <a:endParaRPr lang="en-US" sz="1400" dirty="0">
              <a:latin typeface="Helvetica" panose="020B0604020202020204" pitchFamily="34" charset="0"/>
              <a:cs typeface="Helvetica" panose="020B0604020202020204" pitchFamily="34" charset="0"/>
            </a:endParaRPr>
          </a:p>
          <a:p>
            <a:pPr marL="342900" lvl="0" indent="-342900" eaLnBrk="0" fontAlgn="base" hangingPunct="0">
              <a:lnSpc>
                <a:spcPct val="120000"/>
              </a:lnSpc>
              <a:spcBef>
                <a:spcPct val="0"/>
              </a:spcBef>
              <a:buClrTx/>
              <a:buSzTx/>
              <a:buFont typeface="+mj-lt"/>
              <a:buAutoNum type="arabicPeriod"/>
            </a:pPr>
            <a:r>
              <a:rPr lang="en-US" sz="1400" b="1" dirty="0">
                <a:latin typeface="Helvetica" panose="020B0604020202020204" pitchFamily="34" charset="0"/>
                <a:cs typeface="Helvetica" panose="020B0604020202020204" pitchFamily="34" charset="0"/>
              </a:rPr>
              <a:t>Thu </a:t>
            </a:r>
            <a:r>
              <a:rPr lang="en-US" sz="1400" b="1" dirty="0" err="1">
                <a:latin typeface="Helvetica" panose="020B0604020202020204" pitchFamily="34" charset="0"/>
                <a:cs typeface="Helvetica" panose="020B0604020202020204" pitchFamily="34" charset="0"/>
              </a:rPr>
              <a:t>thập</a:t>
            </a:r>
            <a:r>
              <a:rPr lang="en-US" sz="1400" b="1" dirty="0">
                <a:latin typeface="Helvetica" panose="020B0604020202020204" pitchFamily="34" charset="0"/>
                <a:cs typeface="Helvetica" panose="020B0604020202020204" pitchFamily="34" charset="0"/>
              </a:rPr>
              <a:t> Cookie Session: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Đăng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nhập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bằng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một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tài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khoản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bất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kỳ</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để</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lấy</a:t>
            </a:r>
            <a:r>
              <a:rPr lang="en-US" sz="1400" dirty="0">
                <a:latin typeface="Helvetica" panose="020B0604020202020204" pitchFamily="34" charset="0"/>
                <a:cs typeface="Helvetica" panose="020B0604020202020204" pitchFamily="34" charset="0"/>
              </a:rPr>
              <a:t> cookie </a:t>
            </a:r>
            <a:r>
              <a:rPr lang="en-US" sz="1400" dirty="0" err="1">
                <a:latin typeface="Helvetica" panose="020B0604020202020204" pitchFamily="34" charset="0"/>
                <a:cs typeface="Helvetica" panose="020B0604020202020204" pitchFamily="34" charset="0"/>
              </a:rPr>
              <a:t>hợp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lệ</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giúp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duy</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trì</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phiên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làm</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việc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trong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suốt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quá</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trình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tấn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công</a:t>
            </a:r>
            <a:r>
              <a:rPr lang="en-US" sz="1400" dirty="0">
                <a:latin typeface="Helvetica" panose="020B0604020202020204" pitchFamily="34" charset="0"/>
                <a:cs typeface="Helvetica" panose="020B0604020202020204" pitchFamily="34" charset="0"/>
              </a:rPr>
              <a:t>.</a:t>
            </a:r>
          </a:p>
          <a:p>
            <a:pPr marL="342900" lvl="0" indent="-342900" eaLnBrk="0" fontAlgn="base" hangingPunct="0">
              <a:lnSpc>
                <a:spcPct val="120000"/>
              </a:lnSpc>
              <a:spcBef>
                <a:spcPct val="0"/>
              </a:spcBef>
              <a:buClrTx/>
              <a:buSzTx/>
              <a:buFont typeface="+mj-lt"/>
              <a:buAutoNum type="arabicPeriod"/>
            </a:pPr>
            <a:r>
              <a:rPr lang="vi-VN" sz="1400" b="1" dirty="0">
                <a:latin typeface="Helvetica" panose="020B0604020202020204" pitchFamily="34" charset="0"/>
                <a:cs typeface="Helvetica" panose="020B0604020202020204" pitchFamily="34" charset="0"/>
              </a:rPr>
              <a:t>Xác định thông báo lỗi:</a:t>
            </a:r>
            <a:r>
              <a:rPr lang="vi-VN" sz="1400" dirty="0">
                <a:latin typeface="Helvetica" panose="020B0604020202020204" pitchFamily="34" charset="0"/>
                <a:cs typeface="Helvetica" panose="020B0604020202020204" pitchFamily="34" charset="0"/>
              </a:rPr>
              <a:t> Gửi một yêu cầu đăng nhập sai để tìm ra chuỗi văn bản đặc trưng khi thất bại (ví dụ: "Username and/or password incorrect."). Đây là tín hiệu để Hydra biết một mật khẩu là sai.</a:t>
            </a:r>
            <a:endParaRPr lang="en-US" sz="1400" dirty="0">
              <a:latin typeface="Helvetica" panose="020B0604020202020204" pitchFamily="34" charset="0"/>
              <a:cs typeface="Helvetica" panose="020B0604020202020204" pitchFamily="34" charset="0"/>
            </a:endParaRPr>
          </a:p>
          <a:p>
            <a:pPr marL="342900" lvl="0" indent="-342900" eaLnBrk="0" fontAlgn="base" hangingPunct="0">
              <a:lnSpc>
                <a:spcPct val="120000"/>
              </a:lnSpc>
              <a:spcBef>
                <a:spcPct val="0"/>
              </a:spcBef>
              <a:buClrTx/>
              <a:buSzTx/>
              <a:buFont typeface="+mj-lt"/>
              <a:buAutoNum type="arabicPeriod"/>
            </a:pPr>
            <a:r>
              <a:rPr lang="en-US" sz="1400" b="1" dirty="0" err="1">
                <a:latin typeface="Helvetica" panose="020B0604020202020204" pitchFamily="34" charset="0"/>
                <a:cs typeface="Helvetica" panose="020B0604020202020204" pitchFamily="34" charset="0"/>
              </a:rPr>
              <a:t>Xây</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dựng</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và</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thực</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thi</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câu</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lệnh</a:t>
            </a:r>
            <a:r>
              <a:rPr lang="en-US" sz="1400" b="1" dirty="0">
                <a:latin typeface="Helvetica" panose="020B0604020202020204" pitchFamily="34" charset="0"/>
                <a:cs typeface="Helvetica" panose="020B0604020202020204" pitchFamily="34" charset="0"/>
              </a:rPr>
              <a:t> Hydra:</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Tổng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hợp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tất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cả</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thông</a:t>
            </a:r>
            <a:r>
              <a:rPr lang="en-US" sz="1400" dirty="0">
                <a:latin typeface="Helvetica" panose="020B0604020202020204" pitchFamily="34" charset="0"/>
                <a:cs typeface="Helvetica" panose="020B0604020202020204" pitchFamily="34" charset="0"/>
              </a:rPr>
              <a:t> tin </a:t>
            </a:r>
            <a:r>
              <a:rPr lang="en-US" sz="1400" dirty="0" err="1">
                <a:latin typeface="Helvetica" panose="020B0604020202020204" pitchFamily="34" charset="0"/>
                <a:cs typeface="Helvetica" panose="020B0604020202020204" pitchFamily="34" charset="0"/>
              </a:rPr>
              <a:t>trên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để</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tạo</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một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câu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lệnh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hoàn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chỉnh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và</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bắt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đầu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tấn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công</a:t>
            </a:r>
            <a:r>
              <a:rPr lang="en-US" sz="1400" dirty="0">
                <a:latin typeface="Helvetica" panose="020B0604020202020204" pitchFamily="34" charset="0"/>
                <a:cs typeface="Helvetica" panose="020B0604020202020204" pitchFamily="34" charset="0"/>
              </a:rPr>
              <a:t>.</a:t>
            </a:r>
            <a:endParaRPr kumimoji="0" lang="en-US" altLang="en-US" sz="1400" b="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pic>
        <p:nvPicPr>
          <p:cNvPr id="6146" name="Picture 2" descr="Hacker in Anonymous Mask 5K Wallpaper">
            <a:extLst>
              <a:ext uri="{FF2B5EF4-FFF2-40B4-BE49-F238E27FC236}">
                <a16:creationId xmlns:a16="http://schemas.microsoft.com/office/drawing/2014/main" id="{D9E80DB7-0D9B-710A-C1BA-C18C14A849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306" r="33391"/>
          <a:stretch>
            <a:fillRect/>
          </a:stretch>
        </p:blipFill>
        <p:spPr bwMode="auto">
          <a:xfrm>
            <a:off x="6997218" y="0"/>
            <a:ext cx="3045279"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0">
          <a:extLst>
            <a:ext uri="{FF2B5EF4-FFF2-40B4-BE49-F238E27FC236}">
              <a16:creationId xmlns:a16="http://schemas.microsoft.com/office/drawing/2014/main" id="{D445F6CD-617C-1E87-B419-2CB88191DF15}"/>
            </a:ext>
          </a:extLst>
        </p:cNvPr>
        <p:cNvGrpSpPr/>
        <p:nvPr/>
      </p:nvGrpSpPr>
      <p:grpSpPr>
        <a:xfrm>
          <a:off x="0" y="0"/>
          <a:ext cx="0" cy="0"/>
          <a:chOff x="0" y="0"/>
          <a:chExt cx="0" cy="0"/>
        </a:xfrm>
      </p:grpSpPr>
      <p:sp>
        <p:nvSpPr>
          <p:cNvPr id="391" name="Google Shape;391;p52">
            <a:extLst>
              <a:ext uri="{FF2B5EF4-FFF2-40B4-BE49-F238E27FC236}">
                <a16:creationId xmlns:a16="http://schemas.microsoft.com/office/drawing/2014/main" id="{B101D036-7E62-9D4D-EEA6-88CF7C6A9CE9}"/>
              </a:ext>
            </a:extLst>
          </p:cNvPr>
          <p:cNvSpPr txBox="1">
            <a:spLocks noGrp="1"/>
          </p:cNvSpPr>
          <p:nvPr>
            <p:ph type="title"/>
          </p:nvPr>
        </p:nvSpPr>
        <p:spPr>
          <a:xfrm>
            <a:off x="715100" y="535000"/>
            <a:ext cx="3856800" cy="9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Kết quả qua các</a:t>
            </a:r>
            <a:br>
              <a:rPr lang="en" dirty="0"/>
            </a:br>
            <a:r>
              <a:rPr lang="en" dirty="0"/>
              <a:t>cấp độ bảo mật</a:t>
            </a:r>
            <a:endParaRPr dirty="0"/>
          </a:p>
        </p:txBody>
      </p:sp>
      <p:sp>
        <p:nvSpPr>
          <p:cNvPr id="3" name="Text Placeholder 2">
            <a:extLst>
              <a:ext uri="{FF2B5EF4-FFF2-40B4-BE49-F238E27FC236}">
                <a16:creationId xmlns:a16="http://schemas.microsoft.com/office/drawing/2014/main" id="{445D0C3A-26A8-5308-7EA1-436FD25F7E15}"/>
              </a:ext>
            </a:extLst>
          </p:cNvPr>
          <p:cNvSpPr>
            <a:spLocks noGrp="1" noChangeArrowheads="1"/>
          </p:cNvSpPr>
          <p:nvPr>
            <p:ph type="body" idx="1"/>
          </p:nvPr>
        </p:nvSpPr>
        <p:spPr bwMode="auto">
          <a:xfrm>
            <a:off x="715100" y="1489000"/>
            <a:ext cx="6767077" cy="2880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ts val="1200"/>
              </a:spcAft>
              <a:buClrTx/>
              <a:buSzTx/>
              <a:buFont typeface="Arial" panose="020B0604020202020204" pitchFamily="34" charset="0"/>
              <a:buChar char="•"/>
            </a:pPr>
            <a:r>
              <a:rPr lang="vi-VN" sz="1400" b="1" dirty="0">
                <a:latin typeface="Helvetica" panose="020B0604020202020204" pitchFamily="34" charset="0"/>
                <a:cs typeface="Helvetica" panose="020B0604020202020204" pitchFamily="34" charset="0"/>
              </a:rPr>
              <a:t>Cấp độ THẤP (Không có biện pháp bảo vệ):</a:t>
            </a:r>
            <a:r>
              <a:rPr lang="vi-VN" sz="1400" dirty="0">
                <a:latin typeface="Helvetica" panose="020B0604020202020204" pitchFamily="34" charset="0"/>
                <a:cs typeface="Helvetica" panose="020B0604020202020204" pitchFamily="34" charset="0"/>
              </a:rPr>
              <a:t> Mã nguồn không có bất kỳ cơ chế phòng thủ nào. Hydra tấn công thành công trong vài giây.</a:t>
            </a:r>
            <a:endParaRPr lang="en-US" sz="1400" dirty="0">
              <a:latin typeface="Helvetica" panose="020B0604020202020204" pitchFamily="34" charset="0"/>
              <a:cs typeface="Helvetica" panose="020B0604020202020204" pitchFamily="34" charset="0"/>
            </a:endParaRPr>
          </a:p>
          <a:p>
            <a:pPr marL="285750" lvl="0" indent="-285750" eaLnBrk="0" fontAlgn="base" hangingPunct="0">
              <a:lnSpc>
                <a:spcPct val="120000"/>
              </a:lnSpc>
              <a:spcBef>
                <a:spcPct val="0"/>
              </a:spcBef>
              <a:spcAft>
                <a:spcPts val="1200"/>
              </a:spcAft>
              <a:buClrTx/>
              <a:buSzTx/>
              <a:buFont typeface="Arial" panose="020B0604020202020204" pitchFamily="34" charset="0"/>
              <a:buChar char="•"/>
            </a:pPr>
            <a:r>
              <a:rPr lang="vi-VN" sz="1400" b="1" dirty="0">
                <a:latin typeface="Helvetica" panose="020B0604020202020204" pitchFamily="34" charset="0"/>
                <a:cs typeface="Helvetica" panose="020B0604020202020204" pitchFamily="34" charset="0"/>
              </a:rPr>
              <a:t>Cấp độ TRUNG BÌNH (Có độ trễ):</a:t>
            </a:r>
            <a:r>
              <a:rPr lang="vi-VN" sz="1400" dirty="0">
                <a:latin typeface="Helvetica" panose="020B0604020202020204" pitchFamily="34" charset="0"/>
                <a:cs typeface="Helvetica" panose="020B0604020202020204" pitchFamily="34" charset="0"/>
              </a:rPr>
              <a:t> Máy chủ thêm một khoảng trễ 1-2 giây sau mỗi lần đăng nhập sai. Tấn công vẫn thành công nhưng bị chậm lại đáng kể, mất vài phút.</a:t>
            </a:r>
            <a:endParaRPr lang="en-US" sz="1400" dirty="0">
              <a:latin typeface="Helvetica" panose="020B0604020202020204" pitchFamily="34" charset="0"/>
              <a:cs typeface="Helvetica" panose="020B0604020202020204" pitchFamily="34" charset="0"/>
            </a:endParaRPr>
          </a:p>
          <a:p>
            <a:pPr marL="285750" lvl="0" indent="-285750" eaLnBrk="0" fontAlgn="base" hangingPunct="0">
              <a:lnSpc>
                <a:spcPct val="120000"/>
              </a:lnSpc>
              <a:spcBef>
                <a:spcPct val="0"/>
              </a:spcBef>
              <a:spcAft>
                <a:spcPts val="120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Cấp</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độ</a:t>
            </a:r>
            <a:r>
              <a:rPr lang="en-US" sz="1400" b="1" dirty="0">
                <a:latin typeface="Helvetica" panose="020B0604020202020204" pitchFamily="34" charset="0"/>
                <a:cs typeface="Helvetica" panose="020B0604020202020204" pitchFamily="34" charset="0"/>
              </a:rPr>
              <a:t> CAO (</a:t>
            </a:r>
            <a:r>
              <a:rPr lang="en-US" sz="1400" b="1" dirty="0" err="1">
                <a:latin typeface="Helvetica" panose="020B0604020202020204" pitchFamily="34" charset="0"/>
                <a:cs typeface="Helvetica" panose="020B0604020202020204" pitchFamily="34" charset="0"/>
              </a:rPr>
              <a:t>Sử</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dụng</a:t>
            </a:r>
            <a:r>
              <a:rPr lang="en-US" sz="1400" b="1" dirty="0">
                <a:latin typeface="Helvetica" panose="020B0604020202020204" pitchFamily="34" charset="0"/>
                <a:cs typeface="Helvetica" panose="020B0604020202020204" pitchFamily="34" charset="0"/>
              </a:rPr>
              <a:t> Anti-CSRF Token):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Máy</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chủ</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tạo</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ra</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một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mã</a:t>
            </a:r>
            <a:r>
              <a:rPr lang="en-US" sz="1400" dirty="0">
                <a:latin typeface="Helvetica" panose="020B0604020202020204" pitchFamily="34" charset="0"/>
                <a:cs typeface="Helvetica" panose="020B0604020202020204" pitchFamily="34" charset="0"/>
              </a:rPr>
              <a:t> token </a:t>
            </a:r>
            <a:r>
              <a:rPr lang="en-US" sz="1400" dirty="0" err="1">
                <a:latin typeface="Helvetica" panose="020B0604020202020204" pitchFamily="34" charset="0"/>
                <a:cs typeface="Helvetica" panose="020B0604020202020204" pitchFamily="34" charset="0"/>
              </a:rPr>
              <a:t>duy</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nhất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cho</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mỗi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lần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tải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trang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Mọi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yêu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cầu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đăng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nhập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phải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kèm</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theo</a:t>
            </a:r>
            <a:r>
              <a:rPr lang="en-US" sz="1400" dirty="0">
                <a:latin typeface="Helvetica" panose="020B0604020202020204" pitchFamily="34" charset="0"/>
                <a:cs typeface="Helvetica" panose="020B0604020202020204" pitchFamily="34" charset="0"/>
              </a:rPr>
              <a:t> token </a:t>
            </a:r>
            <a:r>
              <a:rPr lang="en-US" sz="1400" dirty="0" err="1">
                <a:latin typeface="Helvetica" panose="020B0604020202020204" pitchFamily="34" charset="0"/>
                <a:cs typeface="Helvetica" panose="020B0604020202020204" pitchFamily="34" charset="0"/>
              </a:rPr>
              <a:t>hợp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lệ</a:t>
            </a:r>
            <a:r>
              <a:rPr lang="en-US" sz="1400" dirty="0">
                <a:latin typeface="Helvetica" panose="020B0604020202020204" pitchFamily="34" charset="0"/>
                <a:cs typeface="Helvetica" panose="020B0604020202020204" pitchFamily="34" charset="0"/>
              </a:rPr>
              <a:t>. Do Hydra </a:t>
            </a:r>
            <a:r>
              <a:rPr lang="en-US" sz="1400" dirty="0" err="1">
                <a:latin typeface="Helvetica" panose="020B0604020202020204" pitchFamily="34" charset="0"/>
                <a:cs typeface="Helvetica" panose="020B0604020202020204" pitchFamily="34" charset="0"/>
              </a:rPr>
              <a:t>không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thể</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tự</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động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lấy</a:t>
            </a:r>
            <a:r>
              <a:rPr lang="en-US" sz="1400" dirty="0">
                <a:latin typeface="Helvetica" panose="020B0604020202020204" pitchFamily="34" charset="0"/>
                <a:cs typeface="Helvetica" panose="020B0604020202020204" pitchFamily="34" charset="0"/>
              </a:rPr>
              <a:t> token </a:t>
            </a:r>
            <a:r>
              <a:rPr lang="en-US" sz="1400" dirty="0" err="1">
                <a:latin typeface="Helvetica" panose="020B0604020202020204" pitchFamily="34" charset="0"/>
                <a:cs typeface="Helvetica" panose="020B0604020202020204" pitchFamily="34" charset="0"/>
              </a:rPr>
              <a:t>mới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cho</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mỗi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lần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tất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cả</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các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yêu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cầu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đều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bị</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coi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là</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không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hợp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lệ</a:t>
            </a:r>
            <a:r>
              <a:rPr lang="en-US" sz="1400"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Tấn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công</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thất</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bại</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hoàn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toàn</a:t>
            </a:r>
            <a:r>
              <a:rPr lang="en-US" sz="1400" b="1" dirty="0">
                <a:latin typeface="Helvetica" panose="020B0604020202020204" pitchFamily="34" charset="0"/>
                <a:cs typeface="Helvetica" panose="020B0604020202020204" pitchFamily="34" charset="0"/>
              </a:rPr>
              <a:t>.</a:t>
            </a:r>
            <a:endParaRPr lang="en-US" sz="14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234790750"/>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6ACC6B73-1F17-9F23-FCEC-68FA7EB3B894}"/>
            </a:ext>
          </a:extLst>
        </p:cNvPr>
        <p:cNvGrpSpPr/>
        <p:nvPr/>
      </p:nvGrpSpPr>
      <p:grpSpPr>
        <a:xfrm>
          <a:off x="0" y="0"/>
          <a:ext cx="0" cy="0"/>
          <a:chOff x="0" y="0"/>
          <a:chExt cx="0" cy="0"/>
        </a:xfrm>
      </p:grpSpPr>
      <p:sp>
        <p:nvSpPr>
          <p:cNvPr id="234" name="Google Shape;234;p39">
            <a:extLst>
              <a:ext uri="{FF2B5EF4-FFF2-40B4-BE49-F238E27FC236}">
                <a16:creationId xmlns:a16="http://schemas.microsoft.com/office/drawing/2014/main" id="{74A67002-56D5-5F6D-5CF6-BB25C6398F2B}"/>
              </a:ext>
            </a:extLst>
          </p:cNvPr>
          <p:cNvSpPr txBox="1">
            <a:spLocks noGrp="1"/>
          </p:cNvSpPr>
          <p:nvPr>
            <p:ph type="title"/>
          </p:nvPr>
        </p:nvSpPr>
        <p:spPr>
          <a:xfrm>
            <a:off x="715100" y="2311885"/>
            <a:ext cx="8142029" cy="21224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Các biện pháp</a:t>
            </a:r>
            <a:br>
              <a:rPr lang="en" dirty="0"/>
            </a:br>
            <a:r>
              <a:rPr lang="en" dirty="0"/>
              <a:t>phòng chống</a:t>
            </a:r>
            <a:endParaRPr dirty="0"/>
          </a:p>
        </p:txBody>
      </p:sp>
      <p:sp>
        <p:nvSpPr>
          <p:cNvPr id="235" name="Google Shape;235;p39">
            <a:extLst>
              <a:ext uri="{FF2B5EF4-FFF2-40B4-BE49-F238E27FC236}">
                <a16:creationId xmlns:a16="http://schemas.microsoft.com/office/drawing/2014/main" id="{50086626-030F-2082-BB08-0929853EF086}"/>
              </a:ext>
            </a:extLst>
          </p:cNvPr>
          <p:cNvSpPr txBox="1">
            <a:spLocks noGrp="1"/>
          </p:cNvSpPr>
          <p:nvPr>
            <p:ph type="title" idx="2"/>
          </p:nvPr>
        </p:nvSpPr>
        <p:spPr>
          <a:xfrm>
            <a:off x="720100" y="1138756"/>
            <a:ext cx="7708800" cy="125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cxnSp>
        <p:nvCxnSpPr>
          <p:cNvPr id="237" name="Google Shape;237;p39">
            <a:hlinkClick r:id="" action="ppaction://hlinkshowjump?jump=nextslide"/>
            <a:extLst>
              <a:ext uri="{FF2B5EF4-FFF2-40B4-BE49-F238E27FC236}">
                <a16:creationId xmlns:a16="http://schemas.microsoft.com/office/drawing/2014/main" id="{18678002-107F-A604-0C31-6D2324587A71}"/>
              </a:ext>
            </a:extLst>
          </p:cNvPr>
          <p:cNvCxnSpPr/>
          <p:nvPr/>
        </p:nvCxnSpPr>
        <p:spPr>
          <a:xfrm>
            <a:off x="715100" y="729100"/>
            <a:ext cx="483300" cy="0"/>
          </a:xfrm>
          <a:prstGeom prst="straightConnector1">
            <a:avLst/>
          </a:prstGeom>
          <a:noFill/>
          <a:ln w="9525" cap="flat" cmpd="sng">
            <a:solidFill>
              <a:schemeClr val="dk1"/>
            </a:solidFill>
            <a:prstDash val="solid"/>
            <a:round/>
            <a:headEnd type="none" w="med" len="med"/>
            <a:tailEnd type="triangle" w="med" len="med"/>
          </a:ln>
        </p:spPr>
      </p:cxnSp>
    </p:spTree>
    <p:extLst>
      <p:ext uri="{BB962C8B-B14F-4D97-AF65-F5344CB8AC3E}">
        <p14:creationId xmlns:p14="http://schemas.microsoft.com/office/powerpoint/2010/main" val="110067256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F5A6A8B4-0565-DDC1-2EB8-DCB179E2B724}"/>
            </a:ext>
          </a:extLst>
        </p:cNvPr>
        <p:cNvGrpSpPr/>
        <p:nvPr/>
      </p:nvGrpSpPr>
      <p:grpSpPr>
        <a:xfrm>
          <a:off x="0" y="0"/>
          <a:ext cx="0" cy="0"/>
          <a:chOff x="0" y="0"/>
          <a:chExt cx="0" cy="0"/>
        </a:xfrm>
      </p:grpSpPr>
      <p:sp>
        <p:nvSpPr>
          <p:cNvPr id="264" name="Google Shape;264;p43">
            <a:extLst>
              <a:ext uri="{FF2B5EF4-FFF2-40B4-BE49-F238E27FC236}">
                <a16:creationId xmlns:a16="http://schemas.microsoft.com/office/drawing/2014/main" id="{BC69D07D-382F-2C29-D5A8-2EC0885D8724}"/>
              </a:ext>
            </a:extLst>
          </p:cNvPr>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Đối với người dùng cá nhân</a:t>
            </a:r>
            <a:endParaRPr dirty="0"/>
          </a:p>
        </p:txBody>
      </p:sp>
      <p:sp>
        <p:nvSpPr>
          <p:cNvPr id="4" name="Subtitle 3">
            <a:extLst>
              <a:ext uri="{FF2B5EF4-FFF2-40B4-BE49-F238E27FC236}">
                <a16:creationId xmlns:a16="http://schemas.microsoft.com/office/drawing/2014/main" id="{3FBAAB7B-6373-11B8-2CD2-1412B827FEDD}"/>
              </a:ext>
            </a:extLst>
          </p:cNvPr>
          <p:cNvSpPr>
            <a:spLocks noGrp="1" noChangeArrowheads="1"/>
          </p:cNvSpPr>
          <p:nvPr>
            <p:ph type="subTitle" idx="1"/>
          </p:nvPr>
        </p:nvSpPr>
        <p:spPr bwMode="auto">
          <a:xfrm>
            <a:off x="715050" y="1491454"/>
            <a:ext cx="7713900"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b="1" dirty="0">
                <a:latin typeface="Helvetica" panose="020B0604020202020204" pitchFamily="34" charset="0"/>
                <a:cs typeface="Helvetica" panose="020B0604020202020204" pitchFamily="34" charset="0"/>
              </a:rPr>
              <a:t>Mật khẩu mạnh &amp; duy nhất:</a:t>
            </a:r>
            <a:r>
              <a:rPr lang="vi-VN" sz="1400" dirty="0">
                <a:latin typeface="Helvetica" panose="020B0604020202020204" pitchFamily="34" charset="0"/>
                <a:cs typeface="Helvetica" panose="020B0604020202020204" pitchFamily="34" charset="0"/>
              </a:rPr>
              <a:t> Là tuyến phòng thủ cơ bản nhất. Nên dài (tối thiểu 12-15 ký tự), kết hợp chữ hoa, chữ thường, số, ký tự đặc biệt. Việc sử dụng mật khẩu duy nhất cho mỗi tài khoản giúp ngăn chặn tấn công Nhồi thông tin xác thực.</a:t>
            </a:r>
            <a:endParaRPr lang="en-US" sz="1400" dirty="0">
              <a:latin typeface="Helvetica" panose="020B0604020202020204" pitchFamily="34" charset="0"/>
              <a:cs typeface="Helvetica" panose="020B0604020202020204" pitchFamily="34" charset="0"/>
            </a:endParaRPr>
          </a:p>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Kích</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hoạt</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xác</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thực</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đa</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yếu</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tố</a:t>
            </a:r>
            <a:r>
              <a:rPr lang="en-US" sz="1400" b="1" dirty="0">
                <a:latin typeface="Helvetica" panose="020B0604020202020204" pitchFamily="34" charset="0"/>
                <a:cs typeface="Helvetica" panose="020B0604020202020204" pitchFamily="34" charset="0"/>
              </a:rPr>
              <a:t> (MFA/2FA):</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Biện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pháp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hiệu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quả</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nhất</a:t>
            </a:r>
            <a:r>
              <a:rPr lang="en-US" sz="1400" dirty="0">
                <a:latin typeface="Helvetica" panose="020B0604020202020204" pitchFamily="34" charset="0"/>
                <a:cs typeface="Helvetica" panose="020B0604020202020204" pitchFamily="34" charset="0"/>
              </a:rPr>
              <a:t>. Ngay </a:t>
            </a:r>
            <a:r>
              <a:rPr lang="en-US" sz="1400" dirty="0" err="1">
                <a:latin typeface="Helvetica" panose="020B0604020202020204" pitchFamily="34" charset="0"/>
                <a:cs typeface="Helvetica" panose="020B0604020202020204" pitchFamily="34" charset="0"/>
              </a:rPr>
              <a:t>cả</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mật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khẩu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bị</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lộ</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kẻ</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tấn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công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vẫn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không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thể</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truy</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cập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nếu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không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có</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yếu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tố</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thứ</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hai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mã</a:t>
            </a:r>
            <a:r>
              <a:rPr lang="en-US" sz="1400" dirty="0">
                <a:latin typeface="Helvetica" panose="020B0604020202020204" pitchFamily="34" charset="0"/>
                <a:cs typeface="Helvetica" panose="020B0604020202020204" pitchFamily="34" charset="0"/>
              </a:rPr>
              <a:t> OTP, </a:t>
            </a:r>
            <a:r>
              <a:rPr lang="en-US" sz="1400" dirty="0" err="1">
                <a:latin typeface="Helvetica" panose="020B0604020202020204" pitchFamily="34" charset="0"/>
                <a:cs typeface="Helvetica" panose="020B0604020202020204" pitchFamily="34" charset="0"/>
              </a:rPr>
              <a:t>khóa</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bảo</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mật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vật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lý</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sinh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trắc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học</a:t>
            </a:r>
            <a:r>
              <a:rPr lang="en-US" sz="1400" dirty="0">
                <a:latin typeface="Helvetica" panose="020B0604020202020204" pitchFamily="34" charset="0"/>
                <a:cs typeface="Helvetica" panose="020B0604020202020204" pitchFamily="34" charset="0"/>
              </a:rPr>
              <a:t>).</a:t>
            </a:r>
          </a:p>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b="1" dirty="0">
                <a:latin typeface="Helvetica" panose="020B0604020202020204" pitchFamily="34" charset="0"/>
                <a:cs typeface="Helvetica" panose="020B0604020202020204" pitchFamily="34" charset="0"/>
              </a:rPr>
              <a:t>Sử dụng trình quản lý mật khẩu:</a:t>
            </a:r>
            <a:r>
              <a:rPr lang="vi-VN" sz="1400" dirty="0">
                <a:latin typeface="Helvetica" panose="020B0604020202020204" pitchFamily="34" charset="0"/>
                <a:cs typeface="Helvetica" panose="020B0604020202020204" pitchFamily="34" charset="0"/>
              </a:rPr>
              <a:t> Các công cụ này giúp tạo, lưu trữ và tự động điền các mật khẩu phức tạp, loại bỏ gánh nặng ghi nhớ và thói quen tái sử dụng mật khẩu.</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27354529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138F07ED-67B8-6DB8-92E4-96D030647151}"/>
            </a:ext>
          </a:extLst>
        </p:cNvPr>
        <p:cNvGrpSpPr/>
        <p:nvPr/>
      </p:nvGrpSpPr>
      <p:grpSpPr>
        <a:xfrm>
          <a:off x="0" y="0"/>
          <a:ext cx="0" cy="0"/>
          <a:chOff x="0" y="0"/>
          <a:chExt cx="0" cy="0"/>
        </a:xfrm>
      </p:grpSpPr>
      <p:sp>
        <p:nvSpPr>
          <p:cNvPr id="264" name="Google Shape;264;p43">
            <a:extLst>
              <a:ext uri="{FF2B5EF4-FFF2-40B4-BE49-F238E27FC236}">
                <a16:creationId xmlns:a16="http://schemas.microsoft.com/office/drawing/2014/main" id="{B3766CF6-300E-878F-2E1E-8E503F581AEA}"/>
              </a:ext>
            </a:extLst>
          </p:cNvPr>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Đối với doanh nghiệp &amp; tổ chức</a:t>
            </a:r>
            <a:endParaRPr dirty="0"/>
          </a:p>
        </p:txBody>
      </p:sp>
      <p:sp>
        <p:nvSpPr>
          <p:cNvPr id="4" name="Subtitle 3">
            <a:extLst>
              <a:ext uri="{FF2B5EF4-FFF2-40B4-BE49-F238E27FC236}">
                <a16:creationId xmlns:a16="http://schemas.microsoft.com/office/drawing/2014/main" id="{5D0725B4-D0F3-B270-6A73-6885C249B75A}"/>
              </a:ext>
            </a:extLst>
          </p:cNvPr>
          <p:cNvSpPr>
            <a:spLocks noGrp="1" noChangeArrowheads="1"/>
          </p:cNvSpPr>
          <p:nvPr>
            <p:ph type="subTitle" idx="1"/>
          </p:nvPr>
        </p:nvSpPr>
        <p:spPr bwMode="auto">
          <a:xfrm>
            <a:off x="715050" y="1155247"/>
            <a:ext cx="7713900" cy="345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Chính</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sách</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mật</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khẩu</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mạnh</a:t>
            </a:r>
            <a:r>
              <a:rPr lang="en-US" sz="1400" b="1" dirty="0">
                <a:latin typeface="Helvetica" panose="020B0604020202020204" pitchFamily="34" charset="0"/>
                <a:cs typeface="Helvetica" panose="020B0604020202020204" pitchFamily="34" charset="0"/>
              </a:rPr>
              <a: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Thực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các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quy</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tắc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nghiêm</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ngặt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về</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độ</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dài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độ</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phức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tạp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lịch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sử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mật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khẩu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và</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cấm</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sử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dụng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các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mật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khẩu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đã</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bị</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lộ</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trong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các</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vụ</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rò</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rỉ</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dữ</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liệu</a:t>
            </a:r>
            <a:r>
              <a:rPr lang="en-US" sz="1400" dirty="0">
                <a:latin typeface="Helvetica" panose="020B0604020202020204" pitchFamily="34" charset="0"/>
                <a:cs typeface="Helvetica" panose="020B0604020202020204" pitchFamily="34" charset="0"/>
              </a:rPr>
              <a:t>.</a:t>
            </a:r>
          </a:p>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en-US" sz="1400" b="1" dirty="0" err="1">
                <a:latin typeface="Helvetica" panose="020B0604020202020204" pitchFamily="34" charset="0"/>
                <a:cs typeface="Helvetica" panose="020B0604020202020204" pitchFamily="34" charset="0"/>
              </a:rPr>
              <a:t>Giới</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hạn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số</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lần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đăng</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nhập</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sai</a:t>
            </a:r>
            <a:r>
              <a:rPr lang="en-US" sz="1400" b="1" dirty="0">
                <a:latin typeface="Helvetica" panose="020B0604020202020204" pitchFamily="34" charset="0"/>
                <a:cs typeface="Helvetica" panose="020B0604020202020204" pitchFamily="34" charset="0"/>
              </a:rPr>
              <a:t> (Rate Limiting &amp; Lockout):</a:t>
            </a:r>
          </a:p>
          <a:p>
            <a:pPr marL="685800" lvl="0" indent="-285750" eaLnBrk="0" fontAlgn="base" hangingPunct="0">
              <a:lnSpc>
                <a:spcPct val="120000"/>
              </a:lnSpc>
              <a:spcBef>
                <a:spcPct val="0"/>
              </a:spcBef>
              <a:spcAft>
                <a:spcPct val="0"/>
              </a:spcAft>
              <a:buClrTx/>
              <a:buSzTx/>
              <a:buFont typeface="Courier New" panose="02070309020205020404" pitchFamily="49" charset="0"/>
              <a:buChar char="o"/>
            </a:pPr>
            <a:r>
              <a:rPr lang="en-US" sz="1400" b="1" dirty="0" err="1">
                <a:latin typeface="Helvetica" panose="020B0604020202020204" pitchFamily="34" charset="0"/>
                <a:cs typeface="Helvetica" panose="020B0604020202020204" pitchFamily="34" charset="0"/>
              </a:rPr>
              <a:t>Khóa</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tài</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khoản</a:t>
            </a:r>
            <a:r>
              <a:rPr lang="en-US" sz="1400" b="1" dirty="0">
                <a:latin typeface="Helvetica" panose="020B0604020202020204" pitchFamily="34" charset="0"/>
                <a:cs typeface="Helvetica" panose="020B0604020202020204" pitchFamily="34" charset="0"/>
              </a:rPr>
              <a:t> (Account Lockout):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Tự</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động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khóa</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tài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khoản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trong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một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khoảng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thời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gian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ví</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dụ</a:t>
            </a:r>
            <a:r>
              <a:rPr lang="en-US" sz="1400" dirty="0">
                <a:latin typeface="Helvetica" panose="020B0604020202020204" pitchFamily="34" charset="0"/>
                <a:cs typeface="Helvetica" panose="020B0604020202020204" pitchFamily="34" charset="0"/>
              </a:rPr>
              <a:t>: 15 </a:t>
            </a:r>
            <a:r>
              <a:rPr lang="en-US" sz="1400" dirty="0" err="1">
                <a:latin typeface="Helvetica" panose="020B0604020202020204" pitchFamily="34" charset="0"/>
                <a:cs typeface="Helvetica" panose="020B0604020202020204" pitchFamily="34" charset="0"/>
              </a:rPr>
              <a:t>phút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sau</a:t>
            </a:r>
            <a:r>
              <a:rPr lang="en-US" sz="1400" dirty="0">
                <a:latin typeface="Helvetica" panose="020B0604020202020204" pitchFamily="34" charset="0"/>
                <a:cs typeface="Helvetica" panose="020B0604020202020204" pitchFamily="34" charset="0"/>
              </a:rPr>
              <a:t> 5 </a:t>
            </a:r>
            <a:r>
              <a:rPr lang="en-US" sz="1400" dirty="0" err="1">
                <a:latin typeface="Helvetica" panose="020B0604020202020204" pitchFamily="34" charset="0"/>
                <a:cs typeface="Helvetica" panose="020B0604020202020204" pitchFamily="34" charset="0"/>
              </a:rPr>
              <a:t>lần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đăng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nhập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thất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bại</a:t>
            </a:r>
            <a:r>
              <a:rPr lang="en-US" sz="1400" dirty="0">
                <a:latin typeface="Helvetica" panose="020B0604020202020204" pitchFamily="34" charset="0"/>
                <a:cs typeface="Helvetica" panose="020B0604020202020204" pitchFamily="34" charset="0"/>
              </a:rPr>
              <a:t>.</a:t>
            </a:r>
          </a:p>
          <a:p>
            <a:pPr marL="685800" lvl="0" indent="-285750" eaLnBrk="0" fontAlgn="base" hangingPunct="0">
              <a:lnSpc>
                <a:spcPct val="120000"/>
              </a:lnSpc>
              <a:spcBef>
                <a:spcPct val="0"/>
              </a:spcBef>
              <a:spcAft>
                <a:spcPct val="0"/>
              </a:spcAft>
              <a:buClrTx/>
              <a:buSzTx/>
              <a:buFont typeface="Courier New" panose="02070309020205020404" pitchFamily="49" charset="0"/>
              <a:buChar char="o"/>
            </a:pPr>
            <a:r>
              <a:rPr lang="en-US" sz="1400" b="1" dirty="0" err="1">
                <a:latin typeface="Helvetica" panose="020B0604020202020204" pitchFamily="34" charset="0"/>
                <a:cs typeface="Helvetica" panose="020B0604020202020204" pitchFamily="34" charset="0"/>
              </a:rPr>
              <a:t>Giới</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hạn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Tần</a:t>
            </a:r>
            <a:r>
              <a:rPr lang="en-US" sz="1400" b="1" dirty="0">
                <a:latin typeface="Helvetica" panose="020B0604020202020204" pitchFamily="34" charset="0"/>
                <a:cs typeface="Helvetica" panose="020B0604020202020204" pitchFamily="34" charset="0"/>
              </a:rPr>
              <a:t> </a:t>
            </a:r>
            <a:r>
              <a:rPr lang="en-US" sz="1400" b="1" dirty="0" err="1">
                <a:latin typeface="Helvetica" panose="020B0604020202020204" pitchFamily="34" charset="0"/>
                <a:cs typeface="Helvetica" panose="020B0604020202020204" pitchFamily="34" charset="0"/>
              </a:rPr>
              <a:t>suất</a:t>
            </a:r>
            <a:r>
              <a:rPr lang="en-US" sz="1400" b="1" dirty="0">
                <a:latin typeface="Helvetica" panose="020B0604020202020204" pitchFamily="34" charset="0"/>
                <a:cs typeface="Helvetica" panose="020B0604020202020204" pitchFamily="34" charset="0"/>
              </a:rPr>
              <a:t> (Rate Limiting):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Giới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hạn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số</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yêu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cầu</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đăng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nhập</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từ</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một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địa</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chỉ</a:t>
            </a:r>
            <a:r>
              <a:rPr lang="en-US" sz="1400" dirty="0">
                <a:latin typeface="Helvetica" panose="020B0604020202020204" pitchFamily="34" charset="0"/>
                <a:cs typeface="Helvetica" panose="020B0604020202020204" pitchFamily="34" charset="0"/>
              </a:rPr>
              <a:t> IP </a:t>
            </a:r>
            <a:r>
              <a:rPr lang="en-US" sz="1400" dirty="0" err="1">
                <a:latin typeface="Helvetica" panose="020B0604020202020204" pitchFamily="34" charset="0"/>
                <a:cs typeface="Helvetica" panose="020B0604020202020204" pitchFamily="34" charset="0"/>
              </a:rPr>
              <a:t>trong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một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khoảng</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thời</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gian</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nhất</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định</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để</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làm</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chậm</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các</a:t>
            </a:r>
            <a:r>
              <a:rPr lang="en-US" sz="1400" dirty="0">
                <a:latin typeface="Helvetica" panose="020B0604020202020204" pitchFamily="34" charset="0"/>
                <a:cs typeface="Helvetica" panose="020B0604020202020204" pitchFamily="34" charset="0"/>
              </a:rPr>
              <a:t> bot </a:t>
            </a:r>
            <a:r>
              <a:rPr lang="en-US" sz="1400" dirty="0" err="1">
                <a:latin typeface="Helvetica" panose="020B0604020202020204" pitchFamily="34" charset="0"/>
                <a:cs typeface="Helvetica" panose="020B0604020202020204" pitchFamily="34" charset="0"/>
              </a:rPr>
              <a:t>tự</a:t>
            </a:r>
            <a:r>
              <a:rPr lang="en-US" sz="1400" dirty="0">
                <a:latin typeface="Helvetica" panose="020B0604020202020204" pitchFamily="34" charset="0"/>
                <a:cs typeface="Helvetica" panose="020B0604020202020204" pitchFamily="34" charset="0"/>
              </a:rPr>
              <a:t> </a:t>
            </a:r>
            <a:r>
              <a:rPr lang="en-US" sz="1400" dirty="0" err="1">
                <a:latin typeface="Helvetica" panose="020B0604020202020204" pitchFamily="34" charset="0"/>
                <a:cs typeface="Helvetica" panose="020B0604020202020204" pitchFamily="34" charset="0"/>
              </a:rPr>
              <a:t>động</a:t>
            </a:r>
            <a:r>
              <a:rPr lang="en-US" sz="1400" dirty="0">
                <a:latin typeface="Helvetica" panose="020B0604020202020204" pitchFamily="34" charset="0"/>
                <a:cs typeface="Helvetica" panose="020B0604020202020204" pitchFamily="34" charset="0"/>
              </a:rPr>
              <a:t>.</a:t>
            </a:r>
            <a:endParaRPr lang="en-US" sz="1400" b="1" dirty="0">
              <a:latin typeface="Helvetica" panose="020B0604020202020204" pitchFamily="34" charset="0"/>
              <a:cs typeface="Helvetica" panose="020B0604020202020204" pitchFamily="34" charset="0"/>
            </a:endParaRPr>
          </a:p>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b="1" dirty="0">
                <a:latin typeface="Helvetica" panose="020B0604020202020204" pitchFamily="34" charset="0"/>
                <a:cs typeface="Helvetica" panose="020B0604020202020204" pitchFamily="34" charset="0"/>
              </a:rPr>
              <a:t>Sử dụng CAPTCHA:</a:t>
            </a:r>
            <a:r>
              <a:rPr lang="vi-VN" sz="1400" dirty="0">
                <a:latin typeface="Helvetica" panose="020B0604020202020204" pitchFamily="34" charset="0"/>
                <a:cs typeface="Helvetica" panose="020B0604020202020204" pitchFamily="34" charset="0"/>
              </a:rPr>
              <a:t> Đặc biệt là các phiên bản hiện đại như reCAPTCHA v3, hoạt động "vô hình" bằng cách phân tích hành vi người dùng để phân biệt người và bot mà không gây phiền toái.</a:t>
            </a:r>
            <a:endParaRPr lang="en-US" sz="1400" dirty="0">
              <a:latin typeface="Helvetica" panose="020B0604020202020204" pitchFamily="34" charset="0"/>
              <a:cs typeface="Helvetica" panose="020B0604020202020204" pitchFamily="34" charset="0"/>
            </a:endParaRPr>
          </a:p>
          <a:p>
            <a:pPr marL="285750" lvl="0" indent="-285750" eaLnBrk="0" fontAlgn="base" hangingPunct="0">
              <a:lnSpc>
                <a:spcPct val="120000"/>
              </a:lnSpc>
              <a:spcBef>
                <a:spcPct val="0"/>
              </a:spcBef>
              <a:spcAft>
                <a:spcPct val="0"/>
              </a:spcAft>
              <a:buClrTx/>
              <a:buSzTx/>
              <a:buFont typeface="Arial" panose="020B0604020202020204" pitchFamily="34" charset="0"/>
              <a:buChar char="•"/>
            </a:pPr>
            <a:r>
              <a:rPr lang="vi-VN" sz="1400" b="1" dirty="0">
                <a:latin typeface="Helvetica" panose="020B0604020202020204" pitchFamily="34" charset="0"/>
                <a:cs typeface="Helvetica" panose="020B0604020202020204" pitchFamily="34" charset="0"/>
              </a:rPr>
              <a:t>Giám sát và ghi Log:</a:t>
            </a:r>
            <a:r>
              <a:rPr lang="vi-VN" sz="1400" dirty="0">
                <a:latin typeface="Helvetica" panose="020B0604020202020204" pitchFamily="34" charset="0"/>
                <a:cs typeface="Helvetica" panose="020B0604020202020204" pitchFamily="34" charset="0"/>
              </a:rPr>
              <a:t> Chủ động theo dõi các sự kiện đăng nhập. Thiết lập cảnh báo cho các hành vi bất thường như: số lượng lớn đăng nhập thất bại từ một IP, hoặc một tài khoản bị thử đăng nhập từ nhiều quốc gia khác nhau.</a:t>
            </a:r>
            <a:endParaRPr kumimoji="0" lang="en-US" altLang="en-US" sz="14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720081591"/>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cxnSp>
        <p:nvCxnSpPr>
          <p:cNvPr id="652" name="Google Shape;652;p69">
            <a:hlinkClick r:id="" action="ppaction://hlinkshowjump?jump=nextslide"/>
          </p:cNvPr>
          <p:cNvCxnSpPr/>
          <p:nvPr/>
        </p:nvCxnSpPr>
        <p:spPr>
          <a:xfrm>
            <a:off x="715100" y="729100"/>
            <a:ext cx="483300" cy="0"/>
          </a:xfrm>
          <a:prstGeom prst="straightConnector1">
            <a:avLst/>
          </a:prstGeom>
          <a:noFill/>
          <a:ln w="9525" cap="flat" cmpd="sng">
            <a:solidFill>
              <a:schemeClr val="dk1"/>
            </a:solidFill>
            <a:prstDash val="solid"/>
            <a:round/>
            <a:headEnd type="none" w="med" len="med"/>
            <a:tailEnd type="triangle" w="med" len="med"/>
          </a:ln>
        </p:spPr>
      </p:cxnSp>
      <p:sp>
        <p:nvSpPr>
          <p:cNvPr id="4" name="Rectangle 3">
            <a:extLst>
              <a:ext uri="{FF2B5EF4-FFF2-40B4-BE49-F238E27FC236}">
                <a16:creationId xmlns:a16="http://schemas.microsoft.com/office/drawing/2014/main" id="{A5E4F8BD-AE45-D4A2-C711-649060EBB277}"/>
              </a:ext>
            </a:extLst>
          </p:cNvPr>
          <p:cNvSpPr/>
          <p:nvPr/>
        </p:nvSpPr>
        <p:spPr>
          <a:xfrm>
            <a:off x="4091354" y="1711569"/>
            <a:ext cx="3645877" cy="1406769"/>
          </a:xfrm>
          <a:prstGeom prst="rect">
            <a:avLst/>
          </a:prstGeom>
          <a:solidFill>
            <a:srgbClr val="FF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Google Shape;641;p69"/>
          <p:cNvSpPr txBox="1">
            <a:spLocks noGrp="1"/>
          </p:cNvSpPr>
          <p:nvPr>
            <p:ph type="ctrTitle"/>
          </p:nvPr>
        </p:nvSpPr>
        <p:spPr>
          <a:xfrm>
            <a:off x="715100" y="1711569"/>
            <a:ext cx="7315208" cy="26501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6000" dirty="0"/>
              <a:t>Cảm ơn Thầy/Cô và các bạn đã lắng nghe</a:t>
            </a:r>
            <a:endParaRPr sz="60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Lead Funnel by Slidesgo">
  <a:themeElements>
    <a:clrScheme name="Simple Light">
      <a:dk1>
        <a:srgbClr val="15110E"/>
      </a:dk1>
      <a:lt1>
        <a:srgbClr val="FFFAF6"/>
      </a:lt1>
      <a:dk2>
        <a:srgbClr val="C2E5F5"/>
      </a:dk2>
      <a:lt2>
        <a:srgbClr val="5296B8"/>
      </a:lt2>
      <a:accent1>
        <a:srgbClr val="1356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519</TotalTime>
  <Words>1448</Words>
  <Application>Microsoft Office PowerPoint</Application>
  <PresentationFormat>On-screen Show (16:9)</PresentationFormat>
  <Paragraphs>86</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Alexandria Medium</vt:lpstr>
      <vt:lpstr>Arial</vt:lpstr>
      <vt:lpstr>Albert Sans</vt:lpstr>
      <vt:lpstr>Alexandria</vt:lpstr>
      <vt:lpstr>Courier New</vt:lpstr>
      <vt:lpstr>Helvetica</vt:lpstr>
      <vt:lpstr>Lead Funnel by Slidesgo</vt:lpstr>
      <vt:lpstr>Phát hiện và Mô phỏng Tấn công Brute-Force Mật khẩu</vt:lpstr>
      <vt:lpstr>01</vt:lpstr>
      <vt:lpstr>Tổng quan</vt:lpstr>
      <vt:lpstr>Định nghĩa</vt:lpstr>
      <vt:lpstr>Nguyên lý hoạt động và Hậu quả</vt:lpstr>
      <vt:lpstr>Các kỹ thuật phổ biến</vt:lpstr>
      <vt:lpstr>Tấn công từ điển (Dictionary Attack) </vt:lpstr>
      <vt:lpstr>Tấn công lai (Hybrid Attack) </vt:lpstr>
      <vt:lpstr>Phun mật khẩu (Password Spraying) </vt:lpstr>
      <vt:lpstr>Nhồi thông tin xác thực (Credential Suffing) </vt:lpstr>
      <vt:lpstr>Mô phỏng tấn công và kết quả</vt:lpstr>
      <vt:lpstr>Môi trường  &amp; Công cụ</vt:lpstr>
      <vt:lpstr>Quy trình tấn công  chi tiết</vt:lpstr>
      <vt:lpstr>Kết quả qua các cấp độ bảo mật</vt:lpstr>
      <vt:lpstr>Các biện pháp phòng chống</vt:lpstr>
      <vt:lpstr>Đối với người dùng cá nhân</vt:lpstr>
      <vt:lpstr>Đối với doanh nghiệp &amp; tổ chức</vt:lpstr>
      <vt:lpstr>Cảm ơn Thầy/Cô và các bạn đã lắng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Nguyễn Tuấn Minh - 67IT4</cp:lastModifiedBy>
  <cp:revision>18</cp:revision>
  <dcterms:modified xsi:type="dcterms:W3CDTF">2025-09-27T16:18:06Z</dcterms:modified>
</cp:coreProperties>
</file>