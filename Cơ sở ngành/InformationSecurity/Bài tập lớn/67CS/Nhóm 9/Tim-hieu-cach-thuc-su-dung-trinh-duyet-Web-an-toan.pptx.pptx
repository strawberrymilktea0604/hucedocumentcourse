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Open Sans" charset="1" panose="00000000000000000000"/>
      <p:regular r:id="rId20"/>
    </p:embeddedFont>
    <p:embeddedFont>
      <p:font typeface="Open Sans Bold" charset="1" panose="00000000000000000000"/>
      <p:regular r:id="rId21"/>
    </p:embeddedFont>
    <p:embeddedFont>
      <p:font typeface="Arimo" charset="1" panose="020B0604020202020204"/>
      <p:regular r:id="rId26"/>
    </p:embeddedFont>
    <p:embeddedFont>
      <p:font typeface="Open Sans Italics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13774" y="1638186"/>
            <a:ext cx="9445526" cy="271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Tìm hiểu cách thức sử dụng trình duyệt Web an toàn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5213597"/>
            <a:ext cx="9445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Báo cáo bài tập lớn môn An toàn bảo mật thông tin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5986165"/>
            <a:ext cx="9445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Sinh viên thực hiện:</a:t>
            </a: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Hoàng Quốc Vinh - Văn Đức Anh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6758731"/>
            <a:ext cx="9445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Lớp:</a:t>
            </a: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67CS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7" y="7531299"/>
            <a:ext cx="9445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Giảng viên hướng dẫn</a:t>
            </a: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: Th.S Nguyễn Việt Nhật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4795" t="0" r="0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850237" y="3033118"/>
            <a:ext cx="673299" cy="673299"/>
            <a:chOff x="0" y="0"/>
            <a:chExt cx="897732" cy="89773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97763" cy="897763"/>
            </a:xfrm>
            <a:custGeom>
              <a:avLst/>
              <a:gdLst/>
              <a:ahLst/>
              <a:cxnLst/>
              <a:rect r="r" b="b" t="t" l="l"/>
              <a:pathLst>
                <a:path h="897763" w="897763">
                  <a:moveTo>
                    <a:pt x="0" y="0"/>
                  </a:moveTo>
                  <a:lnTo>
                    <a:pt x="897763" y="0"/>
                  </a:lnTo>
                  <a:lnTo>
                    <a:pt x="897763" y="897763"/>
                  </a:lnTo>
                  <a:lnTo>
                    <a:pt x="0" y="897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850237" y="4744790"/>
            <a:ext cx="673299" cy="673299"/>
            <a:chOff x="0" y="0"/>
            <a:chExt cx="897732" cy="89773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97763" cy="897763"/>
            </a:xfrm>
            <a:custGeom>
              <a:avLst/>
              <a:gdLst/>
              <a:ahLst/>
              <a:cxnLst/>
              <a:rect r="r" b="b" t="t" l="l"/>
              <a:pathLst>
                <a:path h="897763" w="897763">
                  <a:moveTo>
                    <a:pt x="0" y="0"/>
                  </a:moveTo>
                  <a:lnTo>
                    <a:pt x="897763" y="0"/>
                  </a:lnTo>
                  <a:lnTo>
                    <a:pt x="897763" y="897763"/>
                  </a:lnTo>
                  <a:lnTo>
                    <a:pt x="0" y="897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7850237" y="6456461"/>
            <a:ext cx="673299" cy="673299"/>
            <a:chOff x="0" y="0"/>
            <a:chExt cx="897732" cy="89773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97763" cy="897763"/>
            </a:xfrm>
            <a:custGeom>
              <a:avLst/>
              <a:gdLst/>
              <a:ahLst/>
              <a:cxnLst/>
              <a:rect r="r" b="b" t="t" l="l"/>
              <a:pathLst>
                <a:path h="897763" w="897763">
                  <a:moveTo>
                    <a:pt x="0" y="0"/>
                  </a:moveTo>
                  <a:lnTo>
                    <a:pt x="897763" y="0"/>
                  </a:lnTo>
                  <a:lnTo>
                    <a:pt x="897763" y="897763"/>
                  </a:lnTo>
                  <a:lnTo>
                    <a:pt x="0" y="897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7850237" y="8168134"/>
            <a:ext cx="673299" cy="673299"/>
            <a:chOff x="0" y="0"/>
            <a:chExt cx="897732" cy="89773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897763" cy="897763"/>
            </a:xfrm>
            <a:custGeom>
              <a:avLst/>
              <a:gdLst/>
              <a:ahLst/>
              <a:cxnLst/>
              <a:rect r="r" b="b" t="t" l="l"/>
              <a:pathLst>
                <a:path h="897763" w="897763">
                  <a:moveTo>
                    <a:pt x="0" y="0"/>
                  </a:moveTo>
                  <a:lnTo>
                    <a:pt x="897763" y="0"/>
                  </a:lnTo>
                  <a:lnTo>
                    <a:pt x="897763" y="897763"/>
                  </a:lnTo>
                  <a:lnTo>
                    <a:pt x="0" y="897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705726" y="543101"/>
            <a:ext cx="9445526" cy="1794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3"/>
              </a:lnSpc>
            </a:pPr>
            <a:r>
              <a:rPr lang="en-US" sz="554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Vai trò quan trọng của trình duyệt Web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60185" y="3154859"/>
            <a:ext cx="3568304" cy="4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Cửa ngõ Internet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60185" y="3698974"/>
            <a:ext cx="8435579" cy="50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Kết nối với hàng tỷ trang thông tin và dịch vụ trực tuyến toàn cầu.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60185" y="4866531"/>
            <a:ext cx="4056906" cy="45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Học tập nghiên cứu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60185" y="5410646"/>
            <a:ext cx="8435579" cy="50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Truy cập, tra cứu tài liệu, học tập trực tuyến, …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60185" y="6578204"/>
            <a:ext cx="3972818" cy="45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Công việc giao tiếp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60185" y="7122319"/>
            <a:ext cx="8435579" cy="50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Gmail, Teams, Zoom, Google Meet - làm việc từ xa hiệu quả.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60185" y="8289875"/>
            <a:ext cx="4054227" cy="45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Thương mại điện tử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60185" y="8833991"/>
            <a:ext cx="8435579" cy="50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Mua sắm Shopee, Tiki, giao dịch ngân hàng trực tuyến an toàn.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2397" t="0" r="-6239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04249" y="3188318"/>
            <a:ext cx="4590455" cy="3023146"/>
            <a:chOff x="0" y="0"/>
            <a:chExt cx="6120607" cy="40308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6107938" cy="4018153"/>
            </a:xfrm>
            <a:custGeom>
              <a:avLst/>
              <a:gdLst/>
              <a:ahLst/>
              <a:cxnLst/>
              <a:rect r="r" b="b" t="t" l="l"/>
              <a:pathLst>
                <a:path h="4018153" w="6107938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5948934" y="0"/>
                  </a:lnTo>
                  <a:cubicBezTo>
                    <a:pt x="6036691" y="0"/>
                    <a:pt x="6107938" y="71120"/>
                    <a:pt x="6107938" y="158750"/>
                  </a:cubicBezTo>
                  <a:lnTo>
                    <a:pt x="6107938" y="3859403"/>
                  </a:lnTo>
                  <a:cubicBezTo>
                    <a:pt x="6107938" y="3947160"/>
                    <a:pt x="6036818" y="4018153"/>
                    <a:pt x="5948934" y="4018153"/>
                  </a:cubicBezTo>
                  <a:lnTo>
                    <a:pt x="159004" y="4018153"/>
                  </a:lnTo>
                  <a:cubicBezTo>
                    <a:pt x="71120" y="4018153"/>
                    <a:pt x="0" y="3947033"/>
                    <a:pt x="0" y="3859403"/>
                  </a:cubicBezTo>
                  <a:close/>
                </a:path>
              </a:pathLst>
            </a:custGeom>
            <a:solidFill>
              <a:srgbClr val="19224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20638" cy="4030853"/>
            </a:xfrm>
            <a:custGeom>
              <a:avLst/>
              <a:gdLst/>
              <a:ahLst/>
              <a:cxnLst/>
              <a:rect r="r" b="b" t="t" l="l"/>
              <a:pathLst>
                <a:path h="4030853" w="6120638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284" y="0"/>
                  </a:lnTo>
                  <a:lnTo>
                    <a:pt x="5955284" y="6350"/>
                  </a:lnTo>
                  <a:lnTo>
                    <a:pt x="5955284" y="0"/>
                  </a:lnTo>
                  <a:cubicBezTo>
                    <a:pt x="6046597" y="0"/>
                    <a:pt x="6120638" y="73914"/>
                    <a:pt x="6120638" y="165100"/>
                  </a:cubicBezTo>
                  <a:lnTo>
                    <a:pt x="6114288" y="165100"/>
                  </a:lnTo>
                  <a:lnTo>
                    <a:pt x="6120638" y="165100"/>
                  </a:lnTo>
                  <a:lnTo>
                    <a:pt x="6120638" y="3865753"/>
                  </a:lnTo>
                  <a:lnTo>
                    <a:pt x="6114288" y="3865753"/>
                  </a:lnTo>
                  <a:lnTo>
                    <a:pt x="6120638" y="3865753"/>
                  </a:lnTo>
                  <a:cubicBezTo>
                    <a:pt x="6120638" y="3956939"/>
                    <a:pt x="6046597" y="4030853"/>
                    <a:pt x="5955284" y="4030853"/>
                  </a:cubicBezTo>
                  <a:lnTo>
                    <a:pt x="5955284" y="4024503"/>
                  </a:lnTo>
                  <a:lnTo>
                    <a:pt x="5955284" y="4030853"/>
                  </a:lnTo>
                  <a:lnTo>
                    <a:pt x="165354" y="4030853"/>
                  </a:lnTo>
                  <a:lnTo>
                    <a:pt x="165354" y="4024503"/>
                  </a:lnTo>
                  <a:lnTo>
                    <a:pt x="165354" y="4030853"/>
                  </a:lnTo>
                  <a:cubicBezTo>
                    <a:pt x="74041" y="4030853"/>
                    <a:pt x="0" y="3956939"/>
                    <a:pt x="0" y="386575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865753"/>
                  </a:lnTo>
                  <a:lnTo>
                    <a:pt x="6350" y="3865753"/>
                  </a:lnTo>
                  <a:lnTo>
                    <a:pt x="12700" y="3865753"/>
                  </a:lnTo>
                  <a:cubicBezTo>
                    <a:pt x="12700" y="3949954"/>
                    <a:pt x="81026" y="4018153"/>
                    <a:pt x="165354" y="4018153"/>
                  </a:cubicBezTo>
                  <a:lnTo>
                    <a:pt x="5955284" y="4018153"/>
                  </a:lnTo>
                  <a:cubicBezTo>
                    <a:pt x="6039612" y="4018153"/>
                    <a:pt x="6107938" y="3949954"/>
                    <a:pt x="6107938" y="3865753"/>
                  </a:cubicBezTo>
                  <a:lnTo>
                    <a:pt x="6107938" y="165100"/>
                  </a:lnTo>
                  <a:cubicBezTo>
                    <a:pt x="6107938" y="80899"/>
                    <a:pt x="6039612" y="12700"/>
                    <a:pt x="5955284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23B6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668696" y="3188318"/>
            <a:ext cx="4590604" cy="3023146"/>
            <a:chOff x="0" y="0"/>
            <a:chExt cx="6120805" cy="40308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6108192" cy="4018153"/>
            </a:xfrm>
            <a:custGeom>
              <a:avLst/>
              <a:gdLst/>
              <a:ahLst/>
              <a:cxnLst/>
              <a:rect r="r" b="b" t="t" l="l"/>
              <a:pathLst>
                <a:path h="4018153" w="6108192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5949188" y="0"/>
                  </a:lnTo>
                  <a:cubicBezTo>
                    <a:pt x="6036945" y="0"/>
                    <a:pt x="6108192" y="71120"/>
                    <a:pt x="6108192" y="158750"/>
                  </a:cubicBezTo>
                  <a:lnTo>
                    <a:pt x="6108192" y="3859403"/>
                  </a:lnTo>
                  <a:cubicBezTo>
                    <a:pt x="6108192" y="3947160"/>
                    <a:pt x="6037072" y="4018153"/>
                    <a:pt x="5949188" y="4018153"/>
                  </a:cubicBezTo>
                  <a:lnTo>
                    <a:pt x="159004" y="4018153"/>
                  </a:lnTo>
                  <a:cubicBezTo>
                    <a:pt x="71120" y="4018153"/>
                    <a:pt x="0" y="3947033"/>
                    <a:pt x="0" y="3859403"/>
                  </a:cubicBezTo>
                  <a:close/>
                </a:path>
              </a:pathLst>
            </a:custGeom>
            <a:solidFill>
              <a:srgbClr val="19224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0892" cy="4030853"/>
            </a:xfrm>
            <a:custGeom>
              <a:avLst/>
              <a:gdLst/>
              <a:ahLst/>
              <a:cxnLst/>
              <a:rect r="r" b="b" t="t" l="l"/>
              <a:pathLst>
                <a:path h="4030853" w="6120892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538" y="0"/>
                  </a:lnTo>
                  <a:lnTo>
                    <a:pt x="5955538" y="6350"/>
                  </a:lnTo>
                  <a:lnTo>
                    <a:pt x="5955538" y="0"/>
                  </a:lnTo>
                  <a:cubicBezTo>
                    <a:pt x="6046851" y="0"/>
                    <a:pt x="6120892" y="73914"/>
                    <a:pt x="6120892" y="165100"/>
                  </a:cubicBezTo>
                  <a:lnTo>
                    <a:pt x="6114542" y="165100"/>
                  </a:lnTo>
                  <a:lnTo>
                    <a:pt x="6120892" y="165100"/>
                  </a:lnTo>
                  <a:lnTo>
                    <a:pt x="6120892" y="3865753"/>
                  </a:lnTo>
                  <a:lnTo>
                    <a:pt x="6114542" y="3865753"/>
                  </a:lnTo>
                  <a:lnTo>
                    <a:pt x="6120892" y="3865753"/>
                  </a:lnTo>
                  <a:cubicBezTo>
                    <a:pt x="6120892" y="3956939"/>
                    <a:pt x="6046851" y="4030853"/>
                    <a:pt x="5955538" y="4030853"/>
                  </a:cubicBezTo>
                  <a:lnTo>
                    <a:pt x="5955538" y="4024503"/>
                  </a:lnTo>
                  <a:lnTo>
                    <a:pt x="5955538" y="4030853"/>
                  </a:lnTo>
                  <a:lnTo>
                    <a:pt x="165354" y="4030853"/>
                  </a:lnTo>
                  <a:lnTo>
                    <a:pt x="165354" y="4024503"/>
                  </a:lnTo>
                  <a:lnTo>
                    <a:pt x="165354" y="4030853"/>
                  </a:lnTo>
                  <a:cubicBezTo>
                    <a:pt x="74041" y="4030853"/>
                    <a:pt x="0" y="3956939"/>
                    <a:pt x="0" y="386575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865753"/>
                  </a:lnTo>
                  <a:lnTo>
                    <a:pt x="6350" y="3865753"/>
                  </a:lnTo>
                  <a:lnTo>
                    <a:pt x="12700" y="3865753"/>
                  </a:lnTo>
                  <a:cubicBezTo>
                    <a:pt x="12700" y="3949954"/>
                    <a:pt x="81026" y="4018153"/>
                    <a:pt x="165354" y="4018153"/>
                  </a:cubicBezTo>
                  <a:lnTo>
                    <a:pt x="5955538" y="4018153"/>
                  </a:lnTo>
                  <a:cubicBezTo>
                    <a:pt x="6039866" y="4018153"/>
                    <a:pt x="6108192" y="3949954"/>
                    <a:pt x="6108192" y="3865753"/>
                  </a:cubicBezTo>
                  <a:lnTo>
                    <a:pt x="6108192" y="165100"/>
                  </a:lnTo>
                  <a:cubicBezTo>
                    <a:pt x="6108192" y="80899"/>
                    <a:pt x="6039866" y="12700"/>
                    <a:pt x="595553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23B6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04249" y="6485456"/>
            <a:ext cx="9455051" cy="2115890"/>
            <a:chOff x="0" y="0"/>
            <a:chExt cx="12606735" cy="28211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12594082" cy="2808478"/>
            </a:xfrm>
            <a:custGeom>
              <a:avLst/>
              <a:gdLst/>
              <a:ahLst/>
              <a:cxnLst/>
              <a:rect r="r" b="b" t="t" l="l"/>
              <a:pathLst>
                <a:path h="2808478" w="12594082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12434697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649728"/>
                  </a:lnTo>
                  <a:cubicBezTo>
                    <a:pt x="12594082" y="2737485"/>
                    <a:pt x="12522708" y="2808478"/>
                    <a:pt x="12434697" y="2808478"/>
                  </a:cubicBezTo>
                  <a:lnTo>
                    <a:pt x="159385" y="2808478"/>
                  </a:lnTo>
                  <a:cubicBezTo>
                    <a:pt x="71374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19224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06782" cy="2821178"/>
            </a:xfrm>
            <a:custGeom>
              <a:avLst/>
              <a:gdLst/>
              <a:ahLst/>
              <a:cxnLst/>
              <a:rect r="r" b="b" t="t" l="l"/>
              <a:pathLst>
                <a:path h="2821178" w="12606782">
                  <a:moveTo>
                    <a:pt x="0" y="165100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12441047" y="0"/>
                  </a:lnTo>
                  <a:lnTo>
                    <a:pt x="12441047" y="6350"/>
                  </a:lnTo>
                  <a:lnTo>
                    <a:pt x="12441047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656078"/>
                  </a:lnTo>
                  <a:lnTo>
                    <a:pt x="12600432" y="2656078"/>
                  </a:lnTo>
                  <a:lnTo>
                    <a:pt x="12606782" y="2656078"/>
                  </a:lnTo>
                  <a:cubicBezTo>
                    <a:pt x="12606782" y="2747264"/>
                    <a:pt x="12532614" y="2821178"/>
                    <a:pt x="12441047" y="2821178"/>
                  </a:cubicBezTo>
                  <a:lnTo>
                    <a:pt x="12441047" y="2814828"/>
                  </a:lnTo>
                  <a:lnTo>
                    <a:pt x="12441047" y="2821178"/>
                  </a:lnTo>
                  <a:lnTo>
                    <a:pt x="165735" y="2821178"/>
                  </a:lnTo>
                  <a:lnTo>
                    <a:pt x="165735" y="2814828"/>
                  </a:lnTo>
                  <a:lnTo>
                    <a:pt x="165735" y="2821178"/>
                  </a:lnTo>
                  <a:cubicBezTo>
                    <a:pt x="74295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735" y="2808478"/>
                  </a:cubicBezTo>
                  <a:lnTo>
                    <a:pt x="12441047" y="2808478"/>
                  </a:lnTo>
                  <a:cubicBezTo>
                    <a:pt x="12525628" y="2808478"/>
                    <a:pt x="12594082" y="2740152"/>
                    <a:pt x="12594082" y="2656078"/>
                  </a:cubicBezTo>
                  <a:lnTo>
                    <a:pt x="12594082" y="165100"/>
                  </a:lnTo>
                  <a:cubicBezTo>
                    <a:pt x="12594082" y="80899"/>
                    <a:pt x="12525628" y="12700"/>
                    <a:pt x="12441047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323B6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596511" y="1454349"/>
            <a:ext cx="10226823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Các mối đe dọa bảo mật chính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02054" y="3448023"/>
            <a:ext cx="387801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Virus và Malware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02054" y="4013421"/>
            <a:ext cx="3994845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Mã độc từ website không an toàn, có thể đánh cắp dữ liệu hoặc mã hóa tệp tin đòi tiền chuộc.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66501" y="3448023"/>
            <a:ext cx="379124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Lừa đảo Phishing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66501" y="4013421"/>
            <a:ext cx="3994994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Website giả mạo ngân hàng, Gmail, Facebook để đánh cắp tài khoản người dùng.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02054" y="6745161"/>
            <a:ext cx="4212729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Mất quyền riêng tư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02054" y="7310560"/>
            <a:ext cx="885944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Cookie, cache theo dõi hành vi trực tuyến, tiện ích mở rộng thu thập dữ liệu.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1092547"/>
            <a:ext cx="10437763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Nguyên tắc cập nhật bảo mật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3592265"/>
            <a:ext cx="437688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Tại sao cần cập nhật?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4713983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Khắc phục lỗ hổng bảo mật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5266730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Nâng cao hiệu suất hoạt động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7" y="6273105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Bổ sung tính năng bảo mật mới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7" y="7435454"/>
            <a:ext cx="4376886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Tin tặc thường khai thác lỗ hổng trong phiên bản cũ để cài mã độc.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28401" y="3592265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Cách thực hiện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28401" y="4271070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Bật chế độ cập nhật tự động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28401" y="4823817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Kiểm tra thủ công định kỳ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8401" y="5376565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Truy cập "Giới thiệu về trình duyệt"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28401" y="6538913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Luôn duy trì phiên bản mới nhất để đảm bảo an toàn tối đa.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972013" y="2642369"/>
            <a:ext cx="10315987" cy="5869112"/>
            <a:chOff x="0" y="0"/>
            <a:chExt cx="1662253" cy="945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2253" cy="945712"/>
            </a:xfrm>
            <a:custGeom>
              <a:avLst/>
              <a:gdLst/>
              <a:ahLst/>
              <a:cxnLst/>
              <a:rect r="r" b="b" t="t" l="l"/>
              <a:pathLst>
                <a:path h="945712" w="1662253">
                  <a:moveTo>
                    <a:pt x="0" y="0"/>
                  </a:moveTo>
                  <a:lnTo>
                    <a:pt x="1662253" y="0"/>
                  </a:lnTo>
                  <a:lnTo>
                    <a:pt x="1662253" y="945712"/>
                  </a:lnTo>
                  <a:lnTo>
                    <a:pt x="0" y="945712"/>
                  </a:lnTo>
                  <a:close/>
                </a:path>
              </a:pathLst>
            </a:custGeom>
            <a:blipFill>
              <a:blip r:embed="rId3"/>
              <a:stretch>
                <a:fillRect l="-638" t="0" r="-63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18616" y="1148247"/>
            <a:ext cx="9445526" cy="89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1"/>
              </a:lnSpc>
            </a:pPr>
            <a:r>
              <a:rPr lang="en-US" sz="553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Bảo mật mật khẩu hiệu quả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019672"/>
            <a:ext cx="503043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33F7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613794"/>
            <a:ext cx="2835325" cy="38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Mật khẩu mạnh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066082"/>
            <a:ext cx="9445526" cy="42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Tối thiểu 12 ký tự, kết hợp chữ hoa, thường, số và ký tự đặc biệt.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3797275"/>
            <a:ext cx="503043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33F7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4391397"/>
            <a:ext cx="3196829" cy="38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Không tái sử dụng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4843686"/>
            <a:ext cx="9445526" cy="42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Mỗi tài khoản một mật khẩu riêng biệt để hạn chế rủi ro.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5574879"/>
            <a:ext cx="503043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33F7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6169000"/>
            <a:ext cx="4032349" cy="38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Trình quản lý mật khẩu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6621289"/>
            <a:ext cx="9445526" cy="42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Sử dụng Bitwarden, LastPass để tạo và lưu trữ an toàn.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7352481"/>
            <a:ext cx="410967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33F7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7946604"/>
            <a:ext cx="3357414" cy="38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Xác thực hai yếu tố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8398893"/>
            <a:ext cx="9445526" cy="42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Bật 2FA cho tài khoản quan trọng, không lưu trên máy công cộng.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028700" y="36480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028700" y="5425604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992237" y="7161981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992237" y="898081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966059"/>
            <a:ext cx="18288000" cy="6508054"/>
            <a:chOff x="0" y="0"/>
            <a:chExt cx="24384000" cy="86774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8677405"/>
            </a:xfrm>
            <a:custGeom>
              <a:avLst/>
              <a:gdLst/>
              <a:ahLst/>
              <a:cxnLst/>
              <a:rect r="r" b="b" t="t" l="l"/>
              <a:pathLst>
                <a:path h="867740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677405"/>
                  </a:lnTo>
                  <a:lnTo>
                    <a:pt x="0" y="867740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-160341"/>
            <a:ext cx="18288000" cy="3544044"/>
            <a:chOff x="0" y="0"/>
            <a:chExt cx="24384000" cy="472539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725416"/>
            </a:xfrm>
            <a:custGeom>
              <a:avLst/>
              <a:gdLst/>
              <a:ahLst/>
              <a:cxnLst/>
              <a:rect r="r" b="b" t="t" l="l"/>
              <a:pathLst>
                <a:path h="47254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" t="0" r="-1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6261" y="4459572"/>
            <a:ext cx="5283547" cy="2664767"/>
            <a:chOff x="0" y="0"/>
            <a:chExt cx="7044730" cy="3553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6994017" cy="3502279"/>
            </a:xfrm>
            <a:custGeom>
              <a:avLst/>
              <a:gdLst/>
              <a:ahLst/>
              <a:cxnLst/>
              <a:rect r="r" b="b" t="t" l="l"/>
              <a:pathLst>
                <a:path h="3502279" w="6994017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399" y="0"/>
                  </a:lnTo>
                  <a:cubicBezTo>
                    <a:pt x="6884035" y="0"/>
                    <a:pt x="6994017" y="109220"/>
                    <a:pt x="6994017" y="243840"/>
                  </a:cubicBezTo>
                  <a:lnTo>
                    <a:pt x="6994017" y="3258439"/>
                  </a:lnTo>
                  <a:cubicBezTo>
                    <a:pt x="6994017" y="3393059"/>
                    <a:pt x="6884035" y="3502279"/>
                    <a:pt x="6748399" y="3502279"/>
                  </a:cubicBezTo>
                  <a:lnTo>
                    <a:pt x="245618" y="3502279"/>
                  </a:lnTo>
                  <a:cubicBezTo>
                    <a:pt x="109982" y="3502279"/>
                    <a:pt x="0" y="3393059"/>
                    <a:pt x="0" y="32584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44817" cy="3553079"/>
            </a:xfrm>
            <a:custGeom>
              <a:avLst/>
              <a:gdLst/>
              <a:ahLst/>
              <a:cxnLst/>
              <a:rect r="r" b="b" t="t" l="l"/>
              <a:pathLst>
                <a:path h="3553079" w="7044817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799" y="0"/>
                  </a:lnTo>
                  <a:lnTo>
                    <a:pt x="6773799" y="25400"/>
                  </a:lnTo>
                  <a:lnTo>
                    <a:pt x="6773799" y="0"/>
                  </a:lnTo>
                  <a:cubicBezTo>
                    <a:pt x="6923278" y="0"/>
                    <a:pt x="7044817" y="120396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3283839"/>
                  </a:lnTo>
                  <a:lnTo>
                    <a:pt x="7019417" y="3283839"/>
                  </a:lnTo>
                  <a:lnTo>
                    <a:pt x="7044817" y="3283839"/>
                  </a:lnTo>
                  <a:cubicBezTo>
                    <a:pt x="7044817" y="3432683"/>
                    <a:pt x="6923278" y="3553079"/>
                    <a:pt x="6773799" y="3553079"/>
                  </a:cubicBezTo>
                  <a:lnTo>
                    <a:pt x="6773799" y="3527679"/>
                  </a:lnTo>
                  <a:lnTo>
                    <a:pt x="6773799" y="3553079"/>
                  </a:lnTo>
                  <a:lnTo>
                    <a:pt x="271018" y="3553079"/>
                  </a:lnTo>
                  <a:lnTo>
                    <a:pt x="271018" y="3527679"/>
                  </a:lnTo>
                  <a:lnTo>
                    <a:pt x="271018" y="3553079"/>
                  </a:lnTo>
                  <a:cubicBezTo>
                    <a:pt x="121539" y="3553079"/>
                    <a:pt x="0" y="3432683"/>
                    <a:pt x="0" y="328383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83839"/>
                  </a:lnTo>
                  <a:lnTo>
                    <a:pt x="25400" y="3283839"/>
                  </a:lnTo>
                  <a:lnTo>
                    <a:pt x="50800" y="3283839"/>
                  </a:lnTo>
                  <a:cubicBezTo>
                    <a:pt x="50800" y="3404362"/>
                    <a:pt x="149225" y="3502279"/>
                    <a:pt x="271018" y="3502279"/>
                  </a:cubicBezTo>
                  <a:lnTo>
                    <a:pt x="6773799" y="3502279"/>
                  </a:lnTo>
                  <a:cubicBezTo>
                    <a:pt x="6895592" y="3502279"/>
                    <a:pt x="6994017" y="3404362"/>
                    <a:pt x="6994017" y="3283839"/>
                  </a:cubicBezTo>
                  <a:lnTo>
                    <a:pt x="6994017" y="269240"/>
                  </a:lnTo>
                  <a:cubicBezTo>
                    <a:pt x="6994017" y="148717"/>
                    <a:pt x="6895592" y="50800"/>
                    <a:pt x="6773799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97211" y="4478622"/>
            <a:ext cx="152400" cy="2626667"/>
            <a:chOff x="0" y="0"/>
            <a:chExt cx="203200" cy="35022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00" cy="3502279"/>
            </a:xfrm>
            <a:custGeom>
              <a:avLst/>
              <a:gdLst/>
              <a:ahLst/>
              <a:cxnLst/>
              <a:rect r="r" b="b" t="t" l="l"/>
              <a:pathLst>
                <a:path h="35022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400679"/>
                  </a:lnTo>
                  <a:cubicBezTo>
                    <a:pt x="203200" y="3456813"/>
                    <a:pt x="157734" y="3502279"/>
                    <a:pt x="101600" y="3502279"/>
                  </a:cubicBezTo>
                  <a:cubicBezTo>
                    <a:pt x="45466" y="3502279"/>
                    <a:pt x="0" y="3456813"/>
                    <a:pt x="0" y="3400679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45226" y="4459572"/>
            <a:ext cx="5283547" cy="2664767"/>
            <a:chOff x="0" y="0"/>
            <a:chExt cx="7044730" cy="35530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5400" y="25400"/>
              <a:ext cx="6994017" cy="3502279"/>
            </a:xfrm>
            <a:custGeom>
              <a:avLst/>
              <a:gdLst/>
              <a:ahLst/>
              <a:cxnLst/>
              <a:rect r="r" b="b" t="t" l="l"/>
              <a:pathLst>
                <a:path h="3502279" w="6994017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399" y="0"/>
                  </a:lnTo>
                  <a:cubicBezTo>
                    <a:pt x="6884035" y="0"/>
                    <a:pt x="6994017" y="109220"/>
                    <a:pt x="6994017" y="243840"/>
                  </a:cubicBezTo>
                  <a:lnTo>
                    <a:pt x="6994017" y="3258439"/>
                  </a:lnTo>
                  <a:cubicBezTo>
                    <a:pt x="6994017" y="3393059"/>
                    <a:pt x="6884035" y="3502279"/>
                    <a:pt x="6748399" y="3502279"/>
                  </a:cubicBezTo>
                  <a:lnTo>
                    <a:pt x="245618" y="3502279"/>
                  </a:lnTo>
                  <a:cubicBezTo>
                    <a:pt x="109982" y="3502279"/>
                    <a:pt x="0" y="3393059"/>
                    <a:pt x="0" y="32584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44817" cy="3553079"/>
            </a:xfrm>
            <a:custGeom>
              <a:avLst/>
              <a:gdLst/>
              <a:ahLst/>
              <a:cxnLst/>
              <a:rect r="r" b="b" t="t" l="l"/>
              <a:pathLst>
                <a:path h="3553079" w="7044817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799" y="0"/>
                  </a:lnTo>
                  <a:lnTo>
                    <a:pt x="6773799" y="25400"/>
                  </a:lnTo>
                  <a:lnTo>
                    <a:pt x="6773799" y="0"/>
                  </a:lnTo>
                  <a:cubicBezTo>
                    <a:pt x="6923278" y="0"/>
                    <a:pt x="7044817" y="120396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3283839"/>
                  </a:lnTo>
                  <a:lnTo>
                    <a:pt x="7019417" y="3283839"/>
                  </a:lnTo>
                  <a:lnTo>
                    <a:pt x="7044817" y="3283839"/>
                  </a:lnTo>
                  <a:cubicBezTo>
                    <a:pt x="7044817" y="3432683"/>
                    <a:pt x="6923278" y="3553079"/>
                    <a:pt x="6773799" y="3553079"/>
                  </a:cubicBezTo>
                  <a:lnTo>
                    <a:pt x="6773799" y="3527679"/>
                  </a:lnTo>
                  <a:lnTo>
                    <a:pt x="6773799" y="3553079"/>
                  </a:lnTo>
                  <a:lnTo>
                    <a:pt x="271018" y="3553079"/>
                  </a:lnTo>
                  <a:lnTo>
                    <a:pt x="271018" y="3527679"/>
                  </a:lnTo>
                  <a:lnTo>
                    <a:pt x="271018" y="3553079"/>
                  </a:lnTo>
                  <a:cubicBezTo>
                    <a:pt x="121539" y="3553079"/>
                    <a:pt x="0" y="3432683"/>
                    <a:pt x="0" y="328383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83839"/>
                  </a:lnTo>
                  <a:lnTo>
                    <a:pt x="25400" y="3283839"/>
                  </a:lnTo>
                  <a:lnTo>
                    <a:pt x="50800" y="3283839"/>
                  </a:lnTo>
                  <a:cubicBezTo>
                    <a:pt x="50800" y="3404362"/>
                    <a:pt x="149225" y="3502279"/>
                    <a:pt x="271018" y="3502279"/>
                  </a:cubicBezTo>
                  <a:lnTo>
                    <a:pt x="6773799" y="3502279"/>
                  </a:lnTo>
                  <a:cubicBezTo>
                    <a:pt x="6895592" y="3502279"/>
                    <a:pt x="6994017" y="3404362"/>
                    <a:pt x="6994017" y="3283839"/>
                  </a:cubicBezTo>
                  <a:lnTo>
                    <a:pt x="6994017" y="269240"/>
                  </a:lnTo>
                  <a:cubicBezTo>
                    <a:pt x="6994017" y="148717"/>
                    <a:pt x="6895592" y="50800"/>
                    <a:pt x="6773799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26176" y="4478622"/>
            <a:ext cx="152400" cy="2626667"/>
            <a:chOff x="0" y="0"/>
            <a:chExt cx="203200" cy="35022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3200" cy="3502279"/>
            </a:xfrm>
            <a:custGeom>
              <a:avLst/>
              <a:gdLst/>
              <a:ahLst/>
              <a:cxnLst/>
              <a:rect r="r" b="b" t="t" l="l"/>
              <a:pathLst>
                <a:path h="35022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400679"/>
                  </a:lnTo>
                  <a:cubicBezTo>
                    <a:pt x="203200" y="3456813"/>
                    <a:pt x="157734" y="3502279"/>
                    <a:pt x="101600" y="3502279"/>
                  </a:cubicBezTo>
                  <a:cubicBezTo>
                    <a:pt x="45466" y="3502279"/>
                    <a:pt x="0" y="3456813"/>
                    <a:pt x="0" y="3400679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974190" y="4459572"/>
            <a:ext cx="5283547" cy="2664767"/>
            <a:chOff x="0" y="0"/>
            <a:chExt cx="7044730" cy="35530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25400"/>
              <a:ext cx="6994017" cy="3502279"/>
            </a:xfrm>
            <a:custGeom>
              <a:avLst/>
              <a:gdLst/>
              <a:ahLst/>
              <a:cxnLst/>
              <a:rect r="r" b="b" t="t" l="l"/>
              <a:pathLst>
                <a:path h="3502279" w="6994017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399" y="0"/>
                  </a:lnTo>
                  <a:cubicBezTo>
                    <a:pt x="6884035" y="0"/>
                    <a:pt x="6994017" y="109220"/>
                    <a:pt x="6994017" y="243840"/>
                  </a:cubicBezTo>
                  <a:lnTo>
                    <a:pt x="6994017" y="3258439"/>
                  </a:lnTo>
                  <a:cubicBezTo>
                    <a:pt x="6994017" y="3393059"/>
                    <a:pt x="6884035" y="3502279"/>
                    <a:pt x="6748399" y="3502279"/>
                  </a:cubicBezTo>
                  <a:lnTo>
                    <a:pt x="245618" y="3502279"/>
                  </a:lnTo>
                  <a:cubicBezTo>
                    <a:pt x="109982" y="3502279"/>
                    <a:pt x="0" y="3393059"/>
                    <a:pt x="0" y="32584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4817" cy="3553079"/>
            </a:xfrm>
            <a:custGeom>
              <a:avLst/>
              <a:gdLst/>
              <a:ahLst/>
              <a:cxnLst/>
              <a:rect r="r" b="b" t="t" l="l"/>
              <a:pathLst>
                <a:path h="3553079" w="7044817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799" y="0"/>
                  </a:lnTo>
                  <a:lnTo>
                    <a:pt x="6773799" y="25400"/>
                  </a:lnTo>
                  <a:lnTo>
                    <a:pt x="6773799" y="0"/>
                  </a:lnTo>
                  <a:cubicBezTo>
                    <a:pt x="6923278" y="0"/>
                    <a:pt x="7044817" y="120396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3283839"/>
                  </a:lnTo>
                  <a:lnTo>
                    <a:pt x="7019417" y="3283839"/>
                  </a:lnTo>
                  <a:lnTo>
                    <a:pt x="7044817" y="3283839"/>
                  </a:lnTo>
                  <a:cubicBezTo>
                    <a:pt x="7044817" y="3432683"/>
                    <a:pt x="6923278" y="3553079"/>
                    <a:pt x="6773799" y="3553079"/>
                  </a:cubicBezTo>
                  <a:lnTo>
                    <a:pt x="6773799" y="3527679"/>
                  </a:lnTo>
                  <a:lnTo>
                    <a:pt x="6773799" y="3553079"/>
                  </a:lnTo>
                  <a:lnTo>
                    <a:pt x="271018" y="3553079"/>
                  </a:lnTo>
                  <a:lnTo>
                    <a:pt x="271018" y="3527679"/>
                  </a:lnTo>
                  <a:lnTo>
                    <a:pt x="271018" y="3553079"/>
                  </a:lnTo>
                  <a:cubicBezTo>
                    <a:pt x="121539" y="3553079"/>
                    <a:pt x="0" y="3432683"/>
                    <a:pt x="0" y="3283839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83839"/>
                  </a:lnTo>
                  <a:lnTo>
                    <a:pt x="25400" y="3283839"/>
                  </a:lnTo>
                  <a:lnTo>
                    <a:pt x="50800" y="3283839"/>
                  </a:lnTo>
                  <a:cubicBezTo>
                    <a:pt x="50800" y="3404362"/>
                    <a:pt x="149225" y="3502279"/>
                    <a:pt x="271018" y="3502279"/>
                  </a:cubicBezTo>
                  <a:lnTo>
                    <a:pt x="6773799" y="3502279"/>
                  </a:lnTo>
                  <a:cubicBezTo>
                    <a:pt x="6895592" y="3502279"/>
                    <a:pt x="6994017" y="3404362"/>
                    <a:pt x="6994017" y="3283839"/>
                  </a:cubicBezTo>
                  <a:lnTo>
                    <a:pt x="6994017" y="269240"/>
                  </a:lnTo>
                  <a:cubicBezTo>
                    <a:pt x="6994017" y="148717"/>
                    <a:pt x="6895592" y="50800"/>
                    <a:pt x="6773799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955140" y="4478622"/>
            <a:ext cx="152400" cy="2626667"/>
            <a:chOff x="0" y="0"/>
            <a:chExt cx="203200" cy="35022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3200" cy="3502279"/>
            </a:xfrm>
            <a:custGeom>
              <a:avLst/>
              <a:gdLst/>
              <a:ahLst/>
              <a:cxnLst/>
              <a:rect r="r" b="b" t="t" l="l"/>
              <a:pathLst>
                <a:path h="35022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400679"/>
                  </a:lnTo>
                  <a:cubicBezTo>
                    <a:pt x="203200" y="3456813"/>
                    <a:pt x="157734" y="3502279"/>
                    <a:pt x="101600" y="3502279"/>
                  </a:cubicBezTo>
                  <a:cubicBezTo>
                    <a:pt x="45466" y="3502279"/>
                    <a:pt x="0" y="3456813"/>
                    <a:pt x="0" y="3400679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897211" y="7314840"/>
            <a:ext cx="6721906" cy="700804"/>
          </a:xfrm>
          <a:custGeom>
            <a:avLst/>
            <a:gdLst/>
            <a:ahLst/>
            <a:cxnLst/>
            <a:rect r="r" b="b" t="t" l="l"/>
            <a:pathLst>
              <a:path h="700804" w="6721906">
                <a:moveTo>
                  <a:pt x="0" y="0"/>
                </a:moveTo>
                <a:lnTo>
                  <a:pt x="6721907" y="0"/>
                </a:lnTo>
                <a:lnTo>
                  <a:pt x="6721907" y="700803"/>
                </a:lnTo>
                <a:lnTo>
                  <a:pt x="0" y="700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21" t="0" r="-80224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375731" y="7295790"/>
            <a:ext cx="8535387" cy="2097392"/>
          </a:xfrm>
          <a:custGeom>
            <a:avLst/>
            <a:gdLst/>
            <a:ahLst/>
            <a:cxnLst/>
            <a:rect r="r" b="b" t="t" l="l"/>
            <a:pathLst>
              <a:path h="2097392" w="8535387">
                <a:moveTo>
                  <a:pt x="0" y="0"/>
                </a:moveTo>
                <a:lnTo>
                  <a:pt x="8535387" y="0"/>
                </a:lnTo>
                <a:lnTo>
                  <a:pt x="8535387" y="2097392"/>
                </a:lnTo>
                <a:lnTo>
                  <a:pt x="0" y="2097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331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54211" y="3421501"/>
            <a:ext cx="11460808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Kiểm tra chứng chỉ HTTPS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1229" y="4762140"/>
            <a:ext cx="3704779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Dấu hiệu an toàn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1229" y="5327537"/>
            <a:ext cx="4487912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Biểu tượng ổ khóa </a:t>
            </a:r>
            <a:r>
              <a:rPr lang="en-US" sz="21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🔒</a:t>
            </a: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trên thanh địa chỉ, URL bắt đầu bằng "https://"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00194" y="4762140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Lợi ích HTTPS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00194" y="5327537"/>
            <a:ext cx="4487912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Mã hóa dữ liệu truyền đi, ngăn chặn nghe lén và đánh cắp thông tin.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29159" y="4762140"/>
            <a:ext cx="4481959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Cảnh báo nguy hiểm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29159" y="5327537"/>
            <a:ext cx="4487913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Tránh website HTTP, đặc biệt khi nhập thông tin cá nhân và mật khẩu.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4211" y="9597938"/>
            <a:ext cx="16303526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Theo Let's Encrypt (2022): 92% lượt truy cập web toàn cầu đã sử dụng HTTPS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012430"/>
            <a:chOff x="0" y="0"/>
            <a:chExt cx="24384000" cy="401657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016629"/>
            </a:xfrm>
            <a:custGeom>
              <a:avLst/>
              <a:gdLst/>
              <a:ahLst/>
              <a:cxnLst/>
              <a:rect r="r" b="b" t="t" l="l"/>
              <a:pathLst>
                <a:path h="401662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16629"/>
                  </a:lnTo>
                  <a:lnTo>
                    <a:pt x="0" y="4016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2" t="0" r="-42" b="1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10103" y="4734144"/>
            <a:ext cx="1204912" cy="1446014"/>
            <a:chOff x="0" y="0"/>
            <a:chExt cx="1606550" cy="192801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6550" cy="1927987"/>
            </a:xfrm>
            <a:custGeom>
              <a:avLst/>
              <a:gdLst/>
              <a:ahLst/>
              <a:cxnLst/>
              <a:rect r="r" b="b" t="t" l="l"/>
              <a:pathLst>
                <a:path h="1927987" w="1606550">
                  <a:moveTo>
                    <a:pt x="0" y="0"/>
                  </a:moveTo>
                  <a:lnTo>
                    <a:pt x="1606550" y="0"/>
                  </a:lnTo>
                  <a:lnTo>
                    <a:pt x="1606550" y="1927987"/>
                  </a:lnTo>
                  <a:lnTo>
                    <a:pt x="0" y="1927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5" t="0" r="-135" b="-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10103" y="6180157"/>
            <a:ext cx="1204912" cy="1446014"/>
            <a:chOff x="0" y="0"/>
            <a:chExt cx="1606550" cy="192801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606550" cy="1927987"/>
            </a:xfrm>
            <a:custGeom>
              <a:avLst/>
              <a:gdLst/>
              <a:ahLst/>
              <a:cxnLst/>
              <a:rect r="r" b="b" t="t" l="l"/>
              <a:pathLst>
                <a:path h="1927987" w="1606550">
                  <a:moveTo>
                    <a:pt x="0" y="0"/>
                  </a:moveTo>
                  <a:lnTo>
                    <a:pt x="1606550" y="0"/>
                  </a:lnTo>
                  <a:lnTo>
                    <a:pt x="1606550" y="1927987"/>
                  </a:lnTo>
                  <a:lnTo>
                    <a:pt x="0" y="1927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5" t="0" r="-135" b="-1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710103" y="7626171"/>
            <a:ext cx="1204912" cy="1446014"/>
            <a:chOff x="0" y="0"/>
            <a:chExt cx="1606550" cy="192801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606550" cy="1927987"/>
            </a:xfrm>
            <a:custGeom>
              <a:avLst/>
              <a:gdLst/>
              <a:ahLst/>
              <a:cxnLst/>
              <a:rect r="r" b="b" t="t" l="l"/>
              <a:pathLst>
                <a:path h="1927987" w="1606550">
                  <a:moveTo>
                    <a:pt x="0" y="0"/>
                  </a:moveTo>
                  <a:lnTo>
                    <a:pt x="1606550" y="0"/>
                  </a:lnTo>
                  <a:lnTo>
                    <a:pt x="1606550" y="1927987"/>
                  </a:lnTo>
                  <a:lnTo>
                    <a:pt x="0" y="19279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5" t="0" r="-135" b="-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22923" y="4500433"/>
            <a:ext cx="8038246" cy="4571752"/>
          </a:xfrm>
          <a:custGeom>
            <a:avLst/>
            <a:gdLst/>
            <a:ahLst/>
            <a:cxnLst/>
            <a:rect r="r" b="b" t="t" l="l"/>
            <a:pathLst>
              <a:path h="4571752" w="8038246">
                <a:moveTo>
                  <a:pt x="0" y="0"/>
                </a:moveTo>
                <a:lnTo>
                  <a:pt x="8038245" y="0"/>
                </a:lnTo>
                <a:lnTo>
                  <a:pt x="8038245" y="4571752"/>
                </a:lnTo>
                <a:lnTo>
                  <a:pt x="0" y="45717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10103" y="3347654"/>
            <a:ext cx="11938948" cy="91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2"/>
              </a:lnSpc>
            </a:pPr>
            <a:r>
              <a:rPr lang="en-US" sz="558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Quản lý tiện ích mở rộng an toàn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55968" y="4936996"/>
            <a:ext cx="3314403" cy="4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Nguồn chính thức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55968" y="5419944"/>
            <a:ext cx="742883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Chỉ cài đặt từ Chrome Web Store, Firefox Add-ons, các kho tiện ích đã được xác minh để tránh extension giả mạo.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5968" y="6383010"/>
            <a:ext cx="3012430" cy="4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Kiểm tra quyền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55968" y="6865957"/>
            <a:ext cx="742883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Xem xét kỹ quyền truy cập mà extension yêu cầu trước khi cài đặt.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55968" y="7829024"/>
            <a:ext cx="3012430" cy="4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Dọn dẹp định kỳ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55968" y="8311971"/>
            <a:ext cx="742883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Gỡ bỏ tiện ích không cần thiết, kiểm tra và cập nhật thường xuyên.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3054112"/>
            <a:ext cx="18288000" cy="7620023"/>
            <a:chOff x="0" y="0"/>
            <a:chExt cx="24384000" cy="101600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160031"/>
            </a:xfrm>
            <a:custGeom>
              <a:avLst/>
              <a:gdLst/>
              <a:ahLst/>
              <a:cxnLst/>
              <a:rect r="r" b="b" t="t" l="l"/>
              <a:pathLst>
                <a:path h="1016003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31"/>
                  </a:lnTo>
                  <a:lnTo>
                    <a:pt x="0" y="101600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544044"/>
            <a:chOff x="0" y="0"/>
            <a:chExt cx="24384000" cy="47253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4725416"/>
            </a:xfrm>
            <a:custGeom>
              <a:avLst/>
              <a:gdLst/>
              <a:ahLst/>
              <a:cxnLst/>
              <a:rect r="r" b="b" t="t" l="l"/>
              <a:pathLst>
                <a:path h="47254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2851" r="0" b="-44433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4615646"/>
            <a:ext cx="16303526" cy="182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Hướng dẫn cụ thể cho các trình duyệt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963731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Google Chrome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529129"/>
            <a:ext cx="3810000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Bật Safety Check, quản lý mật khẩu với Password Manager, kiểm tra bảo mật tự động.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3060" y="5963731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Microsoft Edge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93060" y="6529129"/>
            <a:ext cx="3810149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Enhanced Security Mode, đồng bộ tài khoản Microsoft an toàn, chế độ cân bằng.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57568" y="5963731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Mozilla Firefox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57568" y="6529129"/>
            <a:ext cx="3810149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Enhanced Tracking Protection, Firefox Monitor kiểm tra rò rỉ dữ liệu email.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22076" y="5963731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Cốc Cốc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22076" y="6529129"/>
            <a:ext cx="3810149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Kiểm soát tiện ích Việt hóa, lưu ý quảng cáo, chọn lọc extension cẩn thận.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128992" y="485974"/>
            <a:ext cx="8007062" cy="1794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3"/>
              </a:lnSpc>
            </a:pPr>
            <a:r>
              <a:rPr lang="en-US" sz="554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Khuyến nghị sử dụng thông minh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45475" y="3035499"/>
            <a:ext cx="9455051" cy="4424958"/>
            <a:chOff x="0" y="0"/>
            <a:chExt cx="12606735" cy="58999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12594082" cy="5887339"/>
            </a:xfrm>
            <a:custGeom>
              <a:avLst/>
              <a:gdLst/>
              <a:ahLst/>
              <a:cxnLst/>
              <a:rect r="r" b="b" t="t" l="l"/>
              <a:pathLst>
                <a:path h="5887339" w="12594082">
                  <a:moveTo>
                    <a:pt x="0" y="150876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12443079" y="0"/>
                  </a:lnTo>
                  <a:cubicBezTo>
                    <a:pt x="12526518" y="0"/>
                    <a:pt x="12594082" y="67564"/>
                    <a:pt x="12594082" y="150876"/>
                  </a:cubicBezTo>
                  <a:lnTo>
                    <a:pt x="12594082" y="5736463"/>
                  </a:lnTo>
                  <a:cubicBezTo>
                    <a:pt x="12594082" y="5819775"/>
                    <a:pt x="12526518" y="5887339"/>
                    <a:pt x="12443079" y="5887339"/>
                  </a:cubicBezTo>
                  <a:lnTo>
                    <a:pt x="151003" y="5887339"/>
                  </a:lnTo>
                  <a:cubicBezTo>
                    <a:pt x="67564" y="5887212"/>
                    <a:pt x="0" y="5819775"/>
                    <a:pt x="0" y="5736463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06782" cy="5900039"/>
            </a:xfrm>
            <a:custGeom>
              <a:avLst/>
              <a:gdLst/>
              <a:ahLst/>
              <a:cxnLst/>
              <a:rect r="r" b="b" t="t" l="l"/>
              <a:pathLst>
                <a:path h="5900039" w="12606782">
                  <a:moveTo>
                    <a:pt x="0" y="157226"/>
                  </a:moveTo>
                  <a:cubicBezTo>
                    <a:pt x="0" y="70358"/>
                    <a:pt x="70485" y="0"/>
                    <a:pt x="157353" y="0"/>
                  </a:cubicBezTo>
                  <a:lnTo>
                    <a:pt x="12449429" y="0"/>
                  </a:lnTo>
                  <a:lnTo>
                    <a:pt x="12449429" y="6350"/>
                  </a:lnTo>
                  <a:lnTo>
                    <a:pt x="12449429" y="0"/>
                  </a:lnTo>
                  <a:cubicBezTo>
                    <a:pt x="12536298" y="0"/>
                    <a:pt x="12606782" y="70358"/>
                    <a:pt x="12606782" y="157226"/>
                  </a:cubicBezTo>
                  <a:lnTo>
                    <a:pt x="12600432" y="157226"/>
                  </a:lnTo>
                  <a:lnTo>
                    <a:pt x="12606782" y="157226"/>
                  </a:lnTo>
                  <a:lnTo>
                    <a:pt x="12606782" y="5742813"/>
                  </a:lnTo>
                  <a:lnTo>
                    <a:pt x="12600432" y="5742813"/>
                  </a:lnTo>
                  <a:lnTo>
                    <a:pt x="12606782" y="5742813"/>
                  </a:lnTo>
                  <a:cubicBezTo>
                    <a:pt x="12606782" y="5829681"/>
                    <a:pt x="12536298" y="5900039"/>
                    <a:pt x="12449429" y="5900039"/>
                  </a:cubicBezTo>
                  <a:lnTo>
                    <a:pt x="12449429" y="5893689"/>
                  </a:lnTo>
                  <a:lnTo>
                    <a:pt x="12449429" y="5900039"/>
                  </a:lnTo>
                  <a:lnTo>
                    <a:pt x="157353" y="5900039"/>
                  </a:lnTo>
                  <a:lnTo>
                    <a:pt x="157353" y="5893689"/>
                  </a:lnTo>
                  <a:lnTo>
                    <a:pt x="157353" y="5900039"/>
                  </a:lnTo>
                  <a:cubicBezTo>
                    <a:pt x="70485" y="5899912"/>
                    <a:pt x="0" y="5829554"/>
                    <a:pt x="0" y="5742813"/>
                  </a:cubicBezTo>
                  <a:lnTo>
                    <a:pt x="0" y="157226"/>
                  </a:lnTo>
                  <a:lnTo>
                    <a:pt x="6350" y="157226"/>
                  </a:lnTo>
                  <a:lnTo>
                    <a:pt x="0" y="157226"/>
                  </a:lnTo>
                  <a:moveTo>
                    <a:pt x="12700" y="157226"/>
                  </a:moveTo>
                  <a:lnTo>
                    <a:pt x="12700" y="5742813"/>
                  </a:lnTo>
                  <a:lnTo>
                    <a:pt x="6350" y="5742813"/>
                  </a:lnTo>
                  <a:lnTo>
                    <a:pt x="12700" y="5742813"/>
                  </a:lnTo>
                  <a:cubicBezTo>
                    <a:pt x="12700" y="5822569"/>
                    <a:pt x="77470" y="5887339"/>
                    <a:pt x="157353" y="5887339"/>
                  </a:cubicBezTo>
                  <a:lnTo>
                    <a:pt x="12449429" y="5887339"/>
                  </a:lnTo>
                  <a:cubicBezTo>
                    <a:pt x="12529312" y="5887339"/>
                    <a:pt x="12594082" y="5822696"/>
                    <a:pt x="12594082" y="5742813"/>
                  </a:cubicBezTo>
                  <a:lnTo>
                    <a:pt x="12594082" y="157226"/>
                  </a:lnTo>
                  <a:cubicBezTo>
                    <a:pt x="12594082" y="77470"/>
                    <a:pt x="12529312" y="12700"/>
                    <a:pt x="12449429" y="12700"/>
                  </a:cubicBezTo>
                  <a:lnTo>
                    <a:pt x="157353" y="12700"/>
                  </a:lnTo>
                  <a:lnTo>
                    <a:pt x="157353" y="6350"/>
                  </a:lnTo>
                  <a:lnTo>
                    <a:pt x="157353" y="12700"/>
                  </a:lnTo>
                  <a:cubicBezTo>
                    <a:pt x="77470" y="12700"/>
                    <a:pt x="12700" y="77343"/>
                    <a:pt x="12700" y="157226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59762" y="3049786"/>
            <a:ext cx="4713238" cy="2413695"/>
            <a:chOff x="0" y="0"/>
            <a:chExt cx="6284317" cy="32182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84341" cy="3218307"/>
            </a:xfrm>
            <a:custGeom>
              <a:avLst/>
              <a:gdLst/>
              <a:ahLst/>
              <a:cxnLst/>
              <a:rect r="r" b="b" t="t" l="l"/>
              <a:pathLst>
                <a:path h="3218307" w="6284341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6133465" y="0"/>
                  </a:lnTo>
                  <a:cubicBezTo>
                    <a:pt x="6216777" y="0"/>
                    <a:pt x="6284341" y="67564"/>
                    <a:pt x="6284341" y="150876"/>
                  </a:cubicBezTo>
                  <a:lnTo>
                    <a:pt x="6284341" y="3067431"/>
                  </a:lnTo>
                  <a:cubicBezTo>
                    <a:pt x="6284341" y="3150743"/>
                    <a:pt x="6216777" y="3218307"/>
                    <a:pt x="6133465" y="3218307"/>
                  </a:cubicBezTo>
                  <a:lnTo>
                    <a:pt x="150876" y="3218307"/>
                  </a:lnTo>
                  <a:cubicBezTo>
                    <a:pt x="67564" y="3218307"/>
                    <a:pt x="0" y="3150743"/>
                    <a:pt x="0" y="3067431"/>
                  </a:cubicBezTo>
                  <a:close/>
                </a:path>
              </a:pathLst>
            </a:custGeom>
            <a:solidFill>
              <a:srgbClr val="B4EEE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128992" y="3280916"/>
            <a:ext cx="4137272" cy="4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Phân tách mục đích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28992" y="3825031"/>
            <a:ext cx="4174777" cy="1369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Chrome cho công việc, Firefox cho giải trí. Tạo nhiều profile riêng biệt.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573000" y="3049786"/>
            <a:ext cx="4713237" cy="2413695"/>
            <a:chOff x="0" y="0"/>
            <a:chExt cx="6284317" cy="32182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84341" cy="3218307"/>
            </a:xfrm>
            <a:custGeom>
              <a:avLst/>
              <a:gdLst/>
              <a:ahLst/>
              <a:cxnLst/>
              <a:rect r="r" b="b" t="t" l="l"/>
              <a:pathLst>
                <a:path h="3218307" w="6284341">
                  <a:moveTo>
                    <a:pt x="0" y="0"/>
                  </a:moveTo>
                  <a:lnTo>
                    <a:pt x="6284341" y="0"/>
                  </a:lnTo>
                  <a:lnTo>
                    <a:pt x="6284341" y="3218307"/>
                  </a:lnTo>
                  <a:lnTo>
                    <a:pt x="0" y="3218307"/>
                  </a:lnTo>
                  <a:close/>
                </a:path>
              </a:pathLst>
            </a:custGeom>
            <a:solidFill>
              <a:srgbClr val="B4EEE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573000" y="3049786"/>
            <a:ext cx="38100" cy="2413695"/>
            <a:chOff x="0" y="0"/>
            <a:chExt cx="50800" cy="32182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00" cy="3218307"/>
            </a:xfrm>
            <a:custGeom>
              <a:avLst/>
              <a:gdLst/>
              <a:ahLst/>
              <a:cxnLst/>
              <a:rect r="r" b="b" t="t" l="l"/>
              <a:pathLst>
                <a:path h="3218307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3192907"/>
                  </a:lnTo>
                  <a:cubicBezTo>
                    <a:pt x="50800" y="3206877"/>
                    <a:pt x="39370" y="3218307"/>
                    <a:pt x="25400" y="3218307"/>
                  </a:cubicBezTo>
                  <a:cubicBezTo>
                    <a:pt x="11430" y="3218307"/>
                    <a:pt x="0" y="3206877"/>
                    <a:pt x="0" y="3192907"/>
                  </a:cubicBezTo>
                  <a:close/>
                </a:path>
              </a:pathLst>
            </a:custGeom>
            <a:solidFill>
              <a:srgbClr val="9AD4C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842230" y="3280916"/>
            <a:ext cx="3633192" cy="4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Quản lý tài khoản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42230" y="3825031"/>
            <a:ext cx="4174777" cy="1369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Không lưu mật khẩu máy công cộng, bật MFA/2FA, kiểm tra đăng nhập lạ.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59762" y="5463480"/>
            <a:ext cx="9426476" cy="1982689"/>
            <a:chOff x="0" y="0"/>
            <a:chExt cx="12568635" cy="26435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68682" cy="2643632"/>
            </a:xfrm>
            <a:custGeom>
              <a:avLst/>
              <a:gdLst/>
              <a:ahLst/>
              <a:cxnLst/>
              <a:rect r="r" b="b" t="t" l="l"/>
              <a:pathLst>
                <a:path h="2643632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2643632"/>
                  </a:lnTo>
                  <a:lnTo>
                    <a:pt x="0" y="2643632"/>
                  </a:lnTo>
                  <a:close/>
                </a:path>
              </a:pathLst>
            </a:custGeom>
            <a:solidFill>
              <a:srgbClr val="B4EEE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859762" y="5463480"/>
            <a:ext cx="9426476" cy="38100"/>
            <a:chOff x="0" y="0"/>
            <a:chExt cx="12568635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568682" cy="50800"/>
            </a:xfrm>
            <a:custGeom>
              <a:avLst/>
              <a:gdLst/>
              <a:ahLst/>
              <a:cxnLst/>
              <a:rect r="r" b="b" t="t" l="l"/>
              <a:pathLst>
                <a:path h="50800" w="125686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43282" y="0"/>
                  </a:lnTo>
                  <a:cubicBezTo>
                    <a:pt x="12557251" y="0"/>
                    <a:pt x="12568682" y="11430"/>
                    <a:pt x="12568682" y="25400"/>
                  </a:cubicBezTo>
                  <a:cubicBezTo>
                    <a:pt x="12568682" y="39370"/>
                    <a:pt x="12557251" y="50800"/>
                    <a:pt x="125432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9AD4C6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128992" y="5694610"/>
            <a:ext cx="4257824" cy="45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Nâng cao nhận thức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28992" y="6238726"/>
            <a:ext cx="8888015" cy="93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Cập nhật tin tức bảo mật, tham gia khóa học, rèn kỹ năng nhận diện lừa đảo.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850237" y="7758707"/>
            <a:ext cx="9445526" cy="1575346"/>
            <a:chOff x="0" y="0"/>
            <a:chExt cx="12594035" cy="21004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594082" cy="2100453"/>
            </a:xfrm>
            <a:custGeom>
              <a:avLst/>
              <a:gdLst/>
              <a:ahLst/>
              <a:cxnLst/>
              <a:rect r="r" b="b" t="t" l="l"/>
              <a:pathLst>
                <a:path h="2100453" w="12594082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12443206" y="0"/>
                  </a:lnTo>
                  <a:cubicBezTo>
                    <a:pt x="12526518" y="0"/>
                    <a:pt x="12594082" y="67564"/>
                    <a:pt x="12594082" y="150876"/>
                  </a:cubicBezTo>
                  <a:lnTo>
                    <a:pt x="12594082" y="1949577"/>
                  </a:lnTo>
                  <a:cubicBezTo>
                    <a:pt x="12594082" y="2032889"/>
                    <a:pt x="12526518" y="2100453"/>
                    <a:pt x="12443206" y="2100453"/>
                  </a:cubicBezTo>
                  <a:lnTo>
                    <a:pt x="150876" y="2100453"/>
                  </a:lnTo>
                  <a:cubicBezTo>
                    <a:pt x="67564" y="2100453"/>
                    <a:pt x="0" y="2032889"/>
                    <a:pt x="0" y="1949577"/>
                  </a:cubicBezTo>
                  <a:close/>
                </a:path>
              </a:pathLst>
            </a:custGeom>
            <a:solidFill>
              <a:srgbClr val="C1F1E5"/>
            </a:solid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8119467" y="8173939"/>
            <a:ext cx="336649" cy="269230"/>
            <a:chOff x="0" y="0"/>
            <a:chExt cx="448865" cy="358973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48818" cy="359029"/>
            </a:xfrm>
            <a:custGeom>
              <a:avLst/>
              <a:gdLst/>
              <a:ahLst/>
              <a:cxnLst/>
              <a:rect r="r" b="b" t="t" l="l"/>
              <a:pathLst>
                <a:path h="359029" w="448818">
                  <a:moveTo>
                    <a:pt x="0" y="0"/>
                  </a:moveTo>
                  <a:lnTo>
                    <a:pt x="448818" y="0"/>
                  </a:lnTo>
                  <a:lnTo>
                    <a:pt x="448818" y="359029"/>
                  </a:lnTo>
                  <a:lnTo>
                    <a:pt x="0" y="359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" r="-10" b="-1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725346" y="8019009"/>
            <a:ext cx="8301186" cy="93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Lưu ý quan trọng:</a:t>
            </a:r>
            <a:r>
              <a:rPr lang="en-US" sz="20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Thói quen sử dụng an toàn quan trọng không kém các cài đặt kỹ thuật!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245542"/>
            <a:ext cx="9258597" cy="908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3"/>
              </a:lnSpc>
            </a:pPr>
            <a:r>
              <a:rPr lang="en-US" sz="554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Kết luận và hành động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2768650"/>
            <a:ext cx="2924026" cy="637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3704630"/>
            <a:ext cx="2924026" cy="87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25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Nguyên tắc cốt lõi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4669482"/>
            <a:ext cx="2924026" cy="1369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06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Nhận thức, cập nhật, tính năng tích hợp, thói quen an toàn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10912" y="2768650"/>
            <a:ext cx="2924026" cy="637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92%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10912" y="3704630"/>
            <a:ext cx="2924026" cy="87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25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Website dùng HTTPS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10912" y="4669482"/>
            <a:ext cx="2924026" cy="93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06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Tỷ lệ an toàn toàn cầu đang tăng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71587" y="2768650"/>
            <a:ext cx="2924026" cy="637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100%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71587" y="3704630"/>
            <a:ext cx="2924026" cy="87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25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Bảo vệ hiệu quả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71587" y="4669482"/>
            <a:ext cx="2924026" cy="93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06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Khi áp dụng đầy đủ các biện pháp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54156" y="6568529"/>
            <a:ext cx="9041606" cy="93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 i="true">
                <a:solidFill>
                  <a:srgbClr val="333F7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"Người dùng cẩn trọng sẽ tránh được phần lớn nguy cơ tấn công mạng. An toàn thông tin bắt đầu từ thói quen hàng ngày."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50237" y="6341715"/>
            <a:ext cx="38100" cy="1468041"/>
            <a:chOff x="0" y="0"/>
            <a:chExt cx="50800" cy="19573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800" cy="1957451"/>
            </a:xfrm>
            <a:custGeom>
              <a:avLst/>
              <a:gdLst/>
              <a:ahLst/>
              <a:cxnLst/>
              <a:rect r="r" b="b" t="t" l="l"/>
              <a:pathLst>
                <a:path h="1957451" w="50800">
                  <a:moveTo>
                    <a:pt x="0" y="0"/>
                  </a:moveTo>
                  <a:lnTo>
                    <a:pt x="50800" y="0"/>
                  </a:lnTo>
                  <a:lnTo>
                    <a:pt x="50800" y="1957451"/>
                  </a:lnTo>
                  <a:lnTo>
                    <a:pt x="0" y="1957451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850237" y="8036570"/>
            <a:ext cx="9445526" cy="93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Hãy chủ động cập nhật kiến thức, kiểm tra cài đặt định kỳ và sẵn sàng thích ứng với mối đe dọa mới!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DAG0EMN-viw</dc:identifier>
  <dcterms:modified xsi:type="dcterms:W3CDTF">2011-08-01T06:04:30Z</dcterms:modified>
  <cp:revision>1</cp:revision>
  <dc:title>Tim-hieu-cach-thuc-su-dung-trinh-duyet-Web-an-toan.pptx</dc:title>
</cp:coreProperties>
</file>