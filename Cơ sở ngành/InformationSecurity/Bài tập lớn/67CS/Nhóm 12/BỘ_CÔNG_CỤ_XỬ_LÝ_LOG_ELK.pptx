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embeddedFontLst>
    <p:embeddedFont>
      <p:font typeface="Noto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NotoSans-regular.fntdata"/><Relationship Id="rId14" Type="http://schemas.openxmlformats.org/officeDocument/2006/relationships/slide" Target="slides/slide10.xml"/><Relationship Id="rId17" Type="http://schemas.openxmlformats.org/officeDocument/2006/relationships/font" Target="fonts/NotoSans-italic.fntdata"/><Relationship Id="rId16" Type="http://schemas.openxmlformats.org/officeDocument/2006/relationships/font" Target="fonts/NotoSans-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NotoSa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7.png"/></Relationships>
</file>

<file path=ppt/slides/_rels/slide4.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10.png"/><Relationship Id="rId13" Type="http://schemas.openxmlformats.org/officeDocument/2006/relationships/image" Target="../media/image18.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6.png"/><Relationship Id="rId9" Type="http://schemas.openxmlformats.org/officeDocument/2006/relationships/image" Target="../media/image2.png"/><Relationship Id="rId14" Type="http://schemas.openxmlformats.org/officeDocument/2006/relationships/image" Target="../media/image20.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4.png"/><Relationship Id="rId7"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7.png"/><Relationship Id="rId9" Type="http://schemas.openxmlformats.org/officeDocument/2006/relationships/image" Target="../media/image29.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4.png"/><Relationship Id="rId8" Type="http://schemas.openxmlformats.org/officeDocument/2006/relationships/image" Target="../media/image30.png"/></Relationships>
</file>

<file path=ppt/slides/_rels/slide7.xml.rels><?xml version="1.0" encoding="UTF-8" standalone="yes"?><Relationships xmlns="http://schemas.openxmlformats.org/package/2006/relationships"><Relationship Id="rId11" Type="http://schemas.openxmlformats.org/officeDocument/2006/relationships/image" Target="../media/image39.png"/><Relationship Id="rId10"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3.png"/><Relationship Id="rId4" Type="http://schemas.openxmlformats.org/officeDocument/2006/relationships/image" Target="../media/image68.png"/><Relationship Id="rId9" Type="http://schemas.openxmlformats.org/officeDocument/2006/relationships/image" Target="../media/image40.pn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33.png"/><Relationship Id="rId8" Type="http://schemas.openxmlformats.org/officeDocument/2006/relationships/image" Target="../media/image4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6.png"/><Relationship Id="rId4" Type="http://schemas.openxmlformats.org/officeDocument/2006/relationships/image" Target="../media/image61.png"/></Relationships>
</file>

<file path=ppt/slides/_rels/slide9.xml.rels><?xml version="1.0" encoding="UTF-8" standalone="yes"?><Relationships xmlns="http://schemas.openxmlformats.org/package/2006/relationships"><Relationship Id="rId11" Type="http://schemas.openxmlformats.org/officeDocument/2006/relationships/image" Target="../media/image50.png"/><Relationship Id="rId10" Type="http://schemas.openxmlformats.org/officeDocument/2006/relationships/image" Target="../media/image57.png"/><Relationship Id="rId13" Type="http://schemas.openxmlformats.org/officeDocument/2006/relationships/image" Target="../media/image64.png"/><Relationship Id="rId12"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4.png"/><Relationship Id="rId4" Type="http://schemas.openxmlformats.org/officeDocument/2006/relationships/image" Target="../media/image41.png"/><Relationship Id="rId9" Type="http://schemas.openxmlformats.org/officeDocument/2006/relationships/image" Target="../media/image56.png"/><Relationship Id="rId15" Type="http://schemas.openxmlformats.org/officeDocument/2006/relationships/image" Target="../media/image67.png"/><Relationship Id="rId14" Type="http://schemas.openxmlformats.org/officeDocument/2006/relationships/image" Target="../media/image59.png"/><Relationship Id="rId5" Type="http://schemas.openxmlformats.org/officeDocument/2006/relationships/image" Target="../media/image48.png"/><Relationship Id="rId6" Type="http://schemas.openxmlformats.org/officeDocument/2006/relationships/image" Target="../media/image45.png"/><Relationship Id="rId7" Type="http://schemas.openxmlformats.org/officeDocument/2006/relationships/image" Target="../media/image52.png"/><Relationship Id="rId8"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657041"/>
          </a:xfrm>
          <a:prstGeom prst="rect">
            <a:avLst/>
          </a:prstGeom>
          <a:noFill/>
          <a:ln>
            <a:noFill/>
          </a:ln>
        </p:spPr>
      </p:pic>
      <p:sp>
        <p:nvSpPr>
          <p:cNvPr id="17" name="Google Shape;17;p3"/>
          <p:cNvSpPr/>
          <p:nvPr/>
        </p:nvSpPr>
        <p:spPr>
          <a:xfrm>
            <a:off x="2980172" y="296466"/>
            <a:ext cx="3183657" cy="2339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Noto Sans"/>
              <a:buNone/>
            </a:pPr>
            <a:r>
              <a:rPr b="1" i="0" lang="en-US" sz="1350" u="none" cap="none" strike="noStrike">
                <a:solidFill>
                  <a:srgbClr val="FFFFFF"/>
                </a:solidFill>
                <a:latin typeface="Noto Sans"/>
                <a:ea typeface="Noto Sans"/>
                <a:cs typeface="Noto Sans"/>
                <a:sym typeface="Noto Sans"/>
              </a:rPr>
              <a:t> TRƯỜNG ĐẠI HỌC XÂY DỰNG HÀ NỘI</a:t>
            </a:r>
            <a:endParaRPr b="0" i="0" sz="1350" u="none" cap="none" strike="noStrike">
              <a:solidFill>
                <a:schemeClr val="dk1"/>
              </a:solidFill>
              <a:latin typeface="Calibri"/>
              <a:ea typeface="Calibri"/>
              <a:cs typeface="Calibri"/>
              <a:sym typeface="Calibri"/>
            </a:endParaRPr>
          </a:p>
        </p:txBody>
      </p:sp>
      <p:sp>
        <p:nvSpPr>
          <p:cNvPr id="18" name="Google Shape;18;p3"/>
          <p:cNvSpPr/>
          <p:nvPr/>
        </p:nvSpPr>
        <p:spPr>
          <a:xfrm>
            <a:off x="3268545" y="553641"/>
            <a:ext cx="2606911" cy="2339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Noto Sans"/>
              <a:buNone/>
            </a:pPr>
            <a:r>
              <a:rPr b="1" i="0" lang="en-US" sz="1350" u="none" cap="none" strike="noStrike">
                <a:solidFill>
                  <a:srgbClr val="FFFFFF"/>
                </a:solidFill>
                <a:latin typeface="Noto Sans"/>
                <a:ea typeface="Noto Sans"/>
                <a:cs typeface="Noto Sans"/>
                <a:sym typeface="Noto Sans"/>
              </a:rPr>
              <a:t> KHOA CÔNG NGHỆ THÔNG TIN </a:t>
            </a:r>
            <a:endParaRPr b="0" i="0" sz="1350" u="none" cap="none" strike="noStrike">
              <a:solidFill>
                <a:schemeClr val="dk1"/>
              </a:solidFill>
              <a:latin typeface="Calibri"/>
              <a:ea typeface="Calibri"/>
              <a:cs typeface="Calibri"/>
              <a:sym typeface="Calibri"/>
            </a:endParaRPr>
          </a:p>
        </p:txBody>
      </p:sp>
      <p:pic>
        <p:nvPicPr>
          <p:cNvPr descr="preencoded.png" id="19" name="Google Shape;19;p3"/>
          <p:cNvPicPr preferRelativeResize="0"/>
          <p:nvPr/>
        </p:nvPicPr>
        <p:blipFill rotWithShape="1">
          <a:blip r:embed="rId4">
            <a:alphaModFix/>
          </a:blip>
          <a:srcRect b="0" l="0" r="0" t="0"/>
          <a:stretch/>
        </p:blipFill>
        <p:spPr>
          <a:xfrm>
            <a:off x="3143278" y="942975"/>
            <a:ext cx="2857444" cy="799291"/>
          </a:xfrm>
          <a:prstGeom prst="rect">
            <a:avLst/>
          </a:prstGeom>
          <a:noFill/>
          <a:ln>
            <a:noFill/>
          </a:ln>
        </p:spPr>
      </p:pic>
      <p:sp>
        <p:nvSpPr>
          <p:cNvPr id="20" name="Google Shape;20;p3"/>
          <p:cNvSpPr/>
          <p:nvPr/>
        </p:nvSpPr>
        <p:spPr>
          <a:xfrm>
            <a:off x="2182667" y="1956578"/>
            <a:ext cx="4778666" cy="5143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Noto Sans"/>
              <a:buNone/>
            </a:pPr>
            <a:r>
              <a:rPr b="1" i="0" lang="en-US" sz="2700" u="none" cap="none" strike="noStrike">
                <a:solidFill>
                  <a:srgbClr val="FFFFFF"/>
                </a:solidFill>
                <a:latin typeface="Noto Sans"/>
                <a:ea typeface="Noto Sans"/>
                <a:cs typeface="Noto Sans"/>
                <a:sym typeface="Noto Sans"/>
              </a:rPr>
              <a:t>BỘ CÔNG CỤ XỬ LÝ LOG ELK</a:t>
            </a:r>
            <a:endParaRPr b="0" i="0" sz="2700" u="none" cap="none" strike="noStrike">
              <a:solidFill>
                <a:schemeClr val="dk1"/>
              </a:solidFill>
              <a:latin typeface="Calibri"/>
              <a:ea typeface="Calibri"/>
              <a:cs typeface="Calibri"/>
              <a:sym typeface="Calibri"/>
            </a:endParaRPr>
          </a:p>
        </p:txBody>
      </p:sp>
      <p:sp>
        <p:nvSpPr>
          <p:cNvPr id="21" name="Google Shape;21;p3"/>
          <p:cNvSpPr/>
          <p:nvPr/>
        </p:nvSpPr>
        <p:spPr>
          <a:xfrm>
            <a:off x="2535920" y="2613803"/>
            <a:ext cx="4072133" cy="3000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75"/>
              <a:buFont typeface="Noto Sans"/>
              <a:buNone/>
            </a:pPr>
            <a:r>
              <a:rPr b="0" i="0" lang="en-US" sz="1575" u="none" cap="none" strike="noStrike">
                <a:solidFill>
                  <a:srgbClr val="FFFFFF"/>
                </a:solidFill>
                <a:latin typeface="Noto Sans"/>
                <a:ea typeface="Noto Sans"/>
                <a:cs typeface="Noto Sans"/>
                <a:sym typeface="Noto Sans"/>
              </a:rPr>
              <a:t>Bài tập lớn môn: An toàn bảo mật thông tin</a:t>
            </a:r>
            <a:endParaRPr b="0" i="0" sz="1575" u="none" cap="none" strike="noStrike">
              <a:solidFill>
                <a:schemeClr val="dk1"/>
              </a:solidFill>
              <a:latin typeface="Calibri"/>
              <a:ea typeface="Calibri"/>
              <a:cs typeface="Calibri"/>
              <a:sym typeface="Calibri"/>
            </a:endParaRPr>
          </a:p>
        </p:txBody>
      </p:sp>
      <p:sp>
        <p:nvSpPr>
          <p:cNvPr id="22" name="Google Shape;22;p3"/>
          <p:cNvSpPr/>
          <p:nvPr/>
        </p:nvSpPr>
        <p:spPr>
          <a:xfrm>
            <a:off x="4211296" y="3496056"/>
            <a:ext cx="721379"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Nhóm 24:</a:t>
            </a:r>
            <a:endParaRPr b="0" i="0" sz="1238" u="none" cap="none" strike="noStrike">
              <a:solidFill>
                <a:schemeClr val="dk1"/>
              </a:solidFill>
              <a:latin typeface="Calibri"/>
              <a:ea typeface="Calibri"/>
              <a:cs typeface="Calibri"/>
              <a:sym typeface="Calibri"/>
            </a:endParaRPr>
          </a:p>
        </p:txBody>
      </p:sp>
      <p:sp>
        <p:nvSpPr>
          <p:cNvPr id="23" name="Google Shape;23;p3"/>
          <p:cNvSpPr/>
          <p:nvPr/>
        </p:nvSpPr>
        <p:spPr>
          <a:xfrm>
            <a:off x="3529347" y="3731800"/>
            <a:ext cx="2085249"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Nguyễn Sơn Nam – 0055267</a:t>
            </a:r>
            <a:endParaRPr b="0" i="0" sz="1238" u="none" cap="none" strike="noStrike">
              <a:solidFill>
                <a:schemeClr val="dk1"/>
              </a:solidFill>
              <a:latin typeface="Calibri"/>
              <a:ea typeface="Calibri"/>
              <a:cs typeface="Calibri"/>
              <a:sym typeface="Calibri"/>
            </a:endParaRPr>
          </a:p>
        </p:txBody>
      </p:sp>
      <p:sp>
        <p:nvSpPr>
          <p:cNvPr id="24" name="Google Shape;24;p3"/>
          <p:cNvSpPr/>
          <p:nvPr/>
        </p:nvSpPr>
        <p:spPr>
          <a:xfrm>
            <a:off x="3935453" y="3967544"/>
            <a:ext cx="1273039"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Phạm Ngọc Minh</a:t>
            </a:r>
            <a:endParaRPr b="0" i="0" sz="1238" u="none" cap="none" strike="noStrike">
              <a:solidFill>
                <a:schemeClr val="dk1"/>
              </a:solidFill>
              <a:latin typeface="Calibri"/>
              <a:ea typeface="Calibri"/>
              <a:cs typeface="Calibri"/>
              <a:sym typeface="Calibri"/>
            </a:endParaRPr>
          </a:p>
        </p:txBody>
      </p:sp>
      <p:sp>
        <p:nvSpPr>
          <p:cNvPr id="25" name="Google Shape;25;p3"/>
          <p:cNvSpPr/>
          <p:nvPr/>
        </p:nvSpPr>
        <p:spPr>
          <a:xfrm>
            <a:off x="3978762" y="4203288"/>
            <a:ext cx="1186421"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Dương Thái Sơn</a:t>
            </a:r>
            <a:endParaRPr b="0" i="0" sz="1238" u="none" cap="none" strike="noStrike">
              <a:solidFill>
                <a:schemeClr val="dk1"/>
              </a:solidFill>
              <a:latin typeface="Calibri"/>
              <a:ea typeface="Calibri"/>
              <a:cs typeface="Calibri"/>
              <a:sym typeface="Calibri"/>
            </a:endParaRPr>
          </a:p>
        </p:txBody>
      </p:sp>
      <p:sp>
        <p:nvSpPr>
          <p:cNvPr id="26" name="Google Shape;26;p3"/>
          <p:cNvSpPr/>
          <p:nvPr/>
        </p:nvSpPr>
        <p:spPr>
          <a:xfrm>
            <a:off x="3924151" y="4439031"/>
            <a:ext cx="1295670"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Nguyễn Duy Hiếu</a:t>
            </a:r>
            <a:endParaRPr b="0" i="0" sz="1238" u="none" cap="none" strike="noStrike">
              <a:solidFill>
                <a:schemeClr val="dk1"/>
              </a:solidFill>
              <a:latin typeface="Calibri"/>
              <a:ea typeface="Calibri"/>
              <a:cs typeface="Calibri"/>
              <a:sym typeface="Calibri"/>
            </a:endParaRPr>
          </a:p>
        </p:txBody>
      </p:sp>
      <p:sp>
        <p:nvSpPr>
          <p:cNvPr id="27" name="Google Shape;27;p3"/>
          <p:cNvSpPr/>
          <p:nvPr/>
        </p:nvSpPr>
        <p:spPr>
          <a:xfrm>
            <a:off x="2881694" y="4910519"/>
            <a:ext cx="3380584"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Giảng viên hướng dẫn: Th.S Nguyễn Việt Nhật</a:t>
            </a:r>
            <a:endParaRPr b="0" i="0" sz="1238" u="none" cap="none" strike="noStrike">
              <a:solidFill>
                <a:schemeClr val="dk1"/>
              </a:solidFill>
              <a:latin typeface="Calibri"/>
              <a:ea typeface="Calibri"/>
              <a:cs typeface="Calibri"/>
              <a:sym typeface="Calibri"/>
            </a:endParaRPr>
          </a:p>
        </p:txBody>
      </p:sp>
      <p:sp>
        <p:nvSpPr>
          <p:cNvPr id="28" name="Google Shape;28;p3"/>
          <p:cNvSpPr/>
          <p:nvPr/>
        </p:nvSpPr>
        <p:spPr>
          <a:xfrm>
            <a:off x="3981273" y="5146263"/>
            <a:ext cx="1181398"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8"/>
              <a:buFont typeface="Noto Sans"/>
              <a:buNone/>
            </a:pPr>
            <a:r>
              <a:rPr b="0" i="0" lang="en-US" sz="1238" u="none" cap="none" strike="noStrike">
                <a:solidFill>
                  <a:srgbClr val="FFFFFF"/>
                </a:solidFill>
                <a:latin typeface="Noto Sans"/>
                <a:ea typeface="Noto Sans"/>
                <a:cs typeface="Noto Sans"/>
                <a:sym typeface="Noto Sans"/>
              </a:rPr>
              <a:t> Hà Nội, 09/2025 </a:t>
            </a:r>
            <a:endParaRPr b="0" i="0" sz="1238"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pic>
        <p:nvPicPr>
          <p:cNvPr descr="preencoded.png" id="34" name="Google Shape;34;p4"/>
          <p:cNvPicPr preferRelativeResize="0"/>
          <p:nvPr/>
        </p:nvPicPr>
        <p:blipFill rotWithShape="1">
          <a:blip r:embed="rId3">
            <a:alphaModFix/>
          </a:blip>
          <a:srcRect b="0" l="0" r="0" t="0"/>
          <a:stretch/>
        </p:blipFill>
        <p:spPr>
          <a:xfrm>
            <a:off x="0" y="0"/>
            <a:ext cx="9144000" cy="6065044"/>
          </a:xfrm>
          <a:prstGeom prst="rect">
            <a:avLst/>
          </a:prstGeom>
          <a:noFill/>
          <a:ln>
            <a:noFill/>
          </a:ln>
        </p:spPr>
      </p:pic>
      <p:sp>
        <p:nvSpPr>
          <p:cNvPr id="35" name="Google Shape;35;p4"/>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GIỚI THIỆU CHUNG</a:t>
            </a:r>
            <a:endParaRPr b="0" i="0" sz="2025" u="none" cap="none" strike="noStrike">
              <a:solidFill>
                <a:schemeClr val="dk1"/>
              </a:solidFill>
              <a:latin typeface="Calibri"/>
              <a:ea typeface="Calibri"/>
              <a:cs typeface="Calibri"/>
              <a:sym typeface="Calibri"/>
            </a:endParaRPr>
          </a:p>
        </p:txBody>
      </p:sp>
      <p:sp>
        <p:nvSpPr>
          <p:cNvPr id="36" name="Google Shape;36;p4"/>
          <p:cNvSpPr/>
          <p:nvPr/>
        </p:nvSpPr>
        <p:spPr>
          <a:xfrm>
            <a:off x="285750" y="885825"/>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Tổng quan về Logging</a:t>
            </a:r>
            <a:endParaRPr b="0" i="0" sz="1350" u="none" cap="none" strike="noStrike">
              <a:solidFill>
                <a:schemeClr val="dk1"/>
              </a:solidFill>
              <a:latin typeface="Calibri"/>
              <a:ea typeface="Calibri"/>
              <a:cs typeface="Calibri"/>
              <a:sym typeface="Calibri"/>
            </a:endParaRPr>
          </a:p>
        </p:txBody>
      </p:sp>
      <p:sp>
        <p:nvSpPr>
          <p:cNvPr id="37" name="Google Shape;37;p4"/>
          <p:cNvSpPr/>
          <p:nvPr/>
        </p:nvSpPr>
        <p:spPr>
          <a:xfrm>
            <a:off x="285750" y="1214438"/>
            <a:ext cx="45720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Logging là một phần không thể thiếu trong bất kì hệ thống nào, giúp:</a:t>
            </a:r>
            <a:endParaRPr b="0" i="0" sz="942" u="none" cap="none" strike="noStrike">
              <a:solidFill>
                <a:schemeClr val="dk1"/>
              </a:solidFill>
              <a:latin typeface="Calibri"/>
              <a:ea typeface="Calibri"/>
              <a:cs typeface="Calibri"/>
              <a:sym typeface="Calibri"/>
            </a:endParaRPr>
          </a:p>
        </p:txBody>
      </p:sp>
      <p:sp>
        <p:nvSpPr>
          <p:cNvPr id="38" name="Google Shape;38;p4"/>
          <p:cNvSpPr/>
          <p:nvPr/>
        </p:nvSpPr>
        <p:spPr>
          <a:xfrm>
            <a:off x="457200" y="1477305"/>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Lưu lại dấu vết, hoạt động của ứng dụng</a:t>
            </a:r>
            <a:endParaRPr b="0" i="0" sz="942" u="none" cap="none" strike="noStrike">
              <a:solidFill>
                <a:schemeClr val="dk1"/>
              </a:solidFill>
              <a:latin typeface="Calibri"/>
              <a:ea typeface="Calibri"/>
              <a:cs typeface="Calibri"/>
              <a:sym typeface="Calibri"/>
            </a:endParaRPr>
          </a:p>
        </p:txBody>
      </p:sp>
      <p:sp>
        <p:nvSpPr>
          <p:cNvPr id="39" name="Google Shape;39;p4"/>
          <p:cNvSpPr/>
          <p:nvPr/>
        </p:nvSpPr>
        <p:spPr>
          <a:xfrm>
            <a:off x="457200" y="1683023"/>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Phân tích, điều tra bugs và sự cố</a:t>
            </a:r>
            <a:endParaRPr b="0" i="0" sz="942" u="none" cap="none" strike="noStrike">
              <a:solidFill>
                <a:schemeClr val="dk1"/>
              </a:solidFill>
              <a:latin typeface="Calibri"/>
              <a:ea typeface="Calibri"/>
              <a:cs typeface="Calibri"/>
              <a:sym typeface="Calibri"/>
            </a:endParaRPr>
          </a:p>
        </p:txBody>
      </p:sp>
      <p:sp>
        <p:nvSpPr>
          <p:cNvPr id="40" name="Google Shape;40;p4"/>
          <p:cNvSpPr/>
          <p:nvPr/>
        </p:nvSpPr>
        <p:spPr>
          <a:xfrm>
            <a:off x="457200" y="1888741"/>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Giám sát hiệu suất hệ thống</a:t>
            </a:r>
            <a:endParaRPr b="0" i="0" sz="942" u="none" cap="none" strike="noStrike">
              <a:solidFill>
                <a:schemeClr val="dk1"/>
              </a:solidFill>
              <a:latin typeface="Calibri"/>
              <a:ea typeface="Calibri"/>
              <a:cs typeface="Calibri"/>
              <a:sym typeface="Calibri"/>
            </a:endParaRPr>
          </a:p>
        </p:txBody>
      </p:sp>
      <p:sp>
        <p:nvSpPr>
          <p:cNvPr id="41" name="Google Shape;41;p4"/>
          <p:cNvSpPr/>
          <p:nvPr/>
        </p:nvSpPr>
        <p:spPr>
          <a:xfrm>
            <a:off x="285750" y="2151608"/>
            <a:ext cx="4572000" cy="41143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Thách thức: Trong hệ thống lớn, file log có thể lên tới vài chục GB, đặc biệt trong mô hình microservices với nhiều servers và file logs.</a:t>
            </a:r>
            <a:endParaRPr b="0" i="0" sz="942" u="none" cap="none" strike="noStrike">
              <a:solidFill>
                <a:schemeClr val="dk1"/>
              </a:solidFill>
              <a:latin typeface="Calibri"/>
              <a:ea typeface="Calibri"/>
              <a:cs typeface="Calibri"/>
              <a:sym typeface="Calibri"/>
            </a:endParaRPr>
          </a:p>
        </p:txBody>
      </p:sp>
      <p:sp>
        <p:nvSpPr>
          <p:cNvPr id="42" name="Google Shape;42;p4"/>
          <p:cNvSpPr/>
          <p:nvPr/>
        </p:nvSpPr>
        <p:spPr>
          <a:xfrm>
            <a:off x="285750" y="2741637"/>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Khái niệm ELK Stack</a:t>
            </a:r>
            <a:endParaRPr b="0" i="0" sz="1350" u="none" cap="none" strike="noStrike">
              <a:solidFill>
                <a:schemeClr val="dk1"/>
              </a:solidFill>
              <a:latin typeface="Calibri"/>
              <a:ea typeface="Calibri"/>
              <a:cs typeface="Calibri"/>
              <a:sym typeface="Calibri"/>
            </a:endParaRPr>
          </a:p>
        </p:txBody>
      </p:sp>
      <p:sp>
        <p:nvSpPr>
          <p:cNvPr id="43" name="Google Shape;43;p4"/>
          <p:cNvSpPr/>
          <p:nvPr/>
        </p:nvSpPr>
        <p:spPr>
          <a:xfrm>
            <a:off x="285750" y="3070250"/>
            <a:ext cx="45720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ELK Stack (Elastic Stack) là bộ công cụ mã nguồn mở gồm:</a:t>
            </a:r>
            <a:endParaRPr b="0" i="0" sz="942" u="none" cap="none" strike="noStrike">
              <a:solidFill>
                <a:schemeClr val="dk1"/>
              </a:solidFill>
              <a:latin typeface="Calibri"/>
              <a:ea typeface="Calibri"/>
              <a:cs typeface="Calibri"/>
              <a:sym typeface="Calibri"/>
            </a:endParaRPr>
          </a:p>
        </p:txBody>
      </p:sp>
      <p:sp>
        <p:nvSpPr>
          <p:cNvPr id="44" name="Google Shape;44;p4"/>
          <p:cNvSpPr/>
          <p:nvPr/>
        </p:nvSpPr>
        <p:spPr>
          <a:xfrm>
            <a:off x="457200" y="3347405"/>
            <a:ext cx="72024"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E</a:t>
            </a:r>
            <a:endParaRPr b="0" i="0" sz="942" u="none" cap="none" strike="noStrike">
              <a:solidFill>
                <a:schemeClr val="dk1"/>
              </a:solidFill>
              <a:latin typeface="Calibri"/>
              <a:ea typeface="Calibri"/>
              <a:cs typeface="Calibri"/>
              <a:sym typeface="Calibri"/>
            </a:endParaRPr>
          </a:p>
        </p:txBody>
      </p:sp>
      <p:sp>
        <p:nvSpPr>
          <p:cNvPr id="45" name="Google Shape;45;p4"/>
          <p:cNvSpPr/>
          <p:nvPr/>
        </p:nvSpPr>
        <p:spPr>
          <a:xfrm>
            <a:off x="529224" y="3347405"/>
            <a:ext cx="318203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lasticsearch: Hệ thống tìm kiếm và phân tích văn bản</a:t>
            </a:r>
            <a:endParaRPr b="0" i="0" sz="942" u="none" cap="none" strike="noStrike">
              <a:solidFill>
                <a:schemeClr val="dk1"/>
              </a:solidFill>
              <a:latin typeface="Calibri"/>
              <a:ea typeface="Calibri"/>
              <a:cs typeface="Calibri"/>
              <a:sym typeface="Calibri"/>
            </a:endParaRPr>
          </a:p>
        </p:txBody>
      </p:sp>
      <p:sp>
        <p:nvSpPr>
          <p:cNvPr id="46" name="Google Shape;46;p4"/>
          <p:cNvSpPr/>
          <p:nvPr/>
        </p:nvSpPr>
        <p:spPr>
          <a:xfrm>
            <a:off x="457200" y="3553123"/>
            <a:ext cx="7266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L</a:t>
            </a:r>
            <a:endParaRPr b="0" i="0" sz="942" u="none" cap="none" strike="noStrike">
              <a:solidFill>
                <a:schemeClr val="dk1"/>
              </a:solidFill>
              <a:latin typeface="Calibri"/>
              <a:ea typeface="Calibri"/>
              <a:cs typeface="Calibri"/>
              <a:sym typeface="Calibri"/>
            </a:endParaRPr>
          </a:p>
        </p:txBody>
      </p:sp>
      <p:sp>
        <p:nvSpPr>
          <p:cNvPr id="47" name="Google Shape;47;p4"/>
          <p:cNvSpPr/>
          <p:nvPr/>
        </p:nvSpPr>
        <p:spPr>
          <a:xfrm>
            <a:off x="529865" y="3553123"/>
            <a:ext cx="230224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ogstash: Công cụ thu thập và xử lý log</a:t>
            </a:r>
            <a:endParaRPr b="0" i="0" sz="942" u="none" cap="none" strike="noStrike">
              <a:solidFill>
                <a:schemeClr val="dk1"/>
              </a:solidFill>
              <a:latin typeface="Calibri"/>
              <a:ea typeface="Calibri"/>
              <a:cs typeface="Calibri"/>
              <a:sym typeface="Calibri"/>
            </a:endParaRPr>
          </a:p>
        </p:txBody>
      </p:sp>
      <p:sp>
        <p:nvSpPr>
          <p:cNvPr id="48" name="Google Shape;48;p4"/>
          <p:cNvSpPr/>
          <p:nvPr/>
        </p:nvSpPr>
        <p:spPr>
          <a:xfrm>
            <a:off x="457200" y="3758840"/>
            <a:ext cx="8539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K</a:t>
            </a:r>
            <a:endParaRPr b="0" i="0" sz="942" u="none" cap="none" strike="noStrike">
              <a:solidFill>
                <a:schemeClr val="dk1"/>
              </a:solidFill>
              <a:latin typeface="Calibri"/>
              <a:ea typeface="Calibri"/>
              <a:cs typeface="Calibri"/>
              <a:sym typeface="Calibri"/>
            </a:endParaRPr>
          </a:p>
        </p:txBody>
      </p:sp>
      <p:sp>
        <p:nvSpPr>
          <p:cNvPr id="49" name="Google Shape;49;p4"/>
          <p:cNvSpPr/>
          <p:nvPr/>
        </p:nvSpPr>
        <p:spPr>
          <a:xfrm>
            <a:off x="542590" y="3758840"/>
            <a:ext cx="223487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ibana: Công cụ trực quan hóa dữ liệu</a:t>
            </a:r>
            <a:endParaRPr b="0" i="0" sz="942" u="none" cap="none" strike="noStrike">
              <a:solidFill>
                <a:schemeClr val="dk1"/>
              </a:solidFill>
              <a:latin typeface="Calibri"/>
              <a:ea typeface="Calibri"/>
              <a:cs typeface="Calibri"/>
              <a:sym typeface="Calibri"/>
            </a:endParaRPr>
          </a:p>
        </p:txBody>
      </p:sp>
      <p:sp>
        <p:nvSpPr>
          <p:cNvPr id="50" name="Google Shape;50;p4"/>
          <p:cNvSpPr/>
          <p:nvPr/>
        </p:nvSpPr>
        <p:spPr>
          <a:xfrm>
            <a:off x="457200" y="3964558"/>
            <a:ext cx="35981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Beats</a:t>
            </a:r>
            <a:endParaRPr b="0" i="0" sz="942" u="none" cap="none" strike="noStrike">
              <a:solidFill>
                <a:schemeClr val="dk1"/>
              </a:solidFill>
              <a:latin typeface="Calibri"/>
              <a:ea typeface="Calibri"/>
              <a:cs typeface="Calibri"/>
              <a:sym typeface="Calibri"/>
            </a:endParaRPr>
          </a:p>
        </p:txBody>
      </p:sp>
      <p:sp>
        <p:nvSpPr>
          <p:cNvPr id="51" name="Google Shape;51;p4"/>
          <p:cNvSpPr/>
          <p:nvPr/>
        </p:nvSpPr>
        <p:spPr>
          <a:xfrm>
            <a:off x="817011" y="3964558"/>
            <a:ext cx="193126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Các agent nhẹ thu thập dữ liệu</a:t>
            </a:r>
            <a:endParaRPr b="0" i="0" sz="942" u="none" cap="none" strike="noStrike">
              <a:solidFill>
                <a:schemeClr val="dk1"/>
              </a:solidFill>
              <a:latin typeface="Calibri"/>
              <a:ea typeface="Calibri"/>
              <a:cs typeface="Calibri"/>
              <a:sym typeface="Calibri"/>
            </a:endParaRPr>
          </a:p>
        </p:txBody>
      </p:sp>
      <p:pic>
        <p:nvPicPr>
          <p:cNvPr descr="preencoded.png" id="52" name="Google Shape;52;p4"/>
          <p:cNvPicPr preferRelativeResize="0"/>
          <p:nvPr/>
        </p:nvPicPr>
        <p:blipFill rotWithShape="1">
          <a:blip r:embed="rId4">
            <a:alphaModFix/>
          </a:blip>
          <a:srcRect b="0" l="0" r="0" t="0"/>
          <a:stretch/>
        </p:blipFill>
        <p:spPr>
          <a:xfrm>
            <a:off x="5893594" y="885825"/>
            <a:ext cx="2500313" cy="2500313"/>
          </a:xfrm>
          <a:prstGeom prst="rect">
            <a:avLst/>
          </a:prstGeom>
          <a:noFill/>
          <a:ln>
            <a:noFill/>
          </a:ln>
        </p:spPr>
      </p:pic>
      <p:sp>
        <p:nvSpPr>
          <p:cNvPr id="53" name="Google Shape;53;p4"/>
          <p:cNvSpPr/>
          <p:nvPr/>
        </p:nvSpPr>
        <p:spPr>
          <a:xfrm>
            <a:off x="5429250" y="3600450"/>
            <a:ext cx="3429000" cy="2178844"/>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5572125" y="3743325"/>
            <a:ext cx="314325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Lịch sử hình thành</a:t>
            </a:r>
            <a:endParaRPr b="0" i="0" sz="1350" u="none" cap="none" strike="noStrike">
              <a:solidFill>
                <a:schemeClr val="dk1"/>
              </a:solidFill>
              <a:latin typeface="Calibri"/>
              <a:ea typeface="Calibri"/>
              <a:cs typeface="Calibri"/>
              <a:sym typeface="Calibri"/>
            </a:endParaRPr>
          </a:p>
        </p:txBody>
      </p:sp>
      <p:sp>
        <p:nvSpPr>
          <p:cNvPr id="55" name="Google Shape;55;p4"/>
          <p:cNvSpPr/>
          <p:nvPr/>
        </p:nvSpPr>
        <p:spPr>
          <a:xfrm>
            <a:off x="5572125" y="4071938"/>
            <a:ext cx="428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2010</a:t>
            </a:r>
            <a:endParaRPr b="0" i="0" sz="837" u="none" cap="none" strike="noStrike">
              <a:solidFill>
                <a:schemeClr val="dk1"/>
              </a:solidFill>
              <a:latin typeface="Calibri"/>
              <a:ea typeface="Calibri"/>
              <a:cs typeface="Calibri"/>
              <a:sym typeface="Calibri"/>
            </a:endParaRPr>
          </a:p>
        </p:txBody>
      </p:sp>
      <p:sp>
        <p:nvSpPr>
          <p:cNvPr id="56" name="Google Shape;56;p4"/>
          <p:cNvSpPr/>
          <p:nvPr/>
        </p:nvSpPr>
        <p:spPr>
          <a:xfrm>
            <a:off x="6000750" y="4071938"/>
            <a:ext cx="2714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Dự án mã nguồn mở "Logstash" ra đời</a:t>
            </a:r>
            <a:endParaRPr b="0" i="0" sz="837" u="none" cap="none" strike="noStrike">
              <a:solidFill>
                <a:schemeClr val="dk1"/>
              </a:solidFill>
              <a:latin typeface="Calibri"/>
              <a:ea typeface="Calibri"/>
              <a:cs typeface="Calibri"/>
              <a:sym typeface="Calibri"/>
            </a:endParaRPr>
          </a:p>
        </p:txBody>
      </p:sp>
      <p:sp>
        <p:nvSpPr>
          <p:cNvPr id="57" name="Google Shape;57;p4"/>
          <p:cNvSpPr/>
          <p:nvPr/>
        </p:nvSpPr>
        <p:spPr>
          <a:xfrm>
            <a:off x="5572125" y="4350544"/>
            <a:ext cx="428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2012</a:t>
            </a:r>
            <a:endParaRPr b="0" i="0" sz="837" u="none" cap="none" strike="noStrike">
              <a:solidFill>
                <a:schemeClr val="dk1"/>
              </a:solidFill>
              <a:latin typeface="Calibri"/>
              <a:ea typeface="Calibri"/>
              <a:cs typeface="Calibri"/>
              <a:sym typeface="Calibri"/>
            </a:endParaRPr>
          </a:p>
        </p:txBody>
      </p:sp>
      <p:sp>
        <p:nvSpPr>
          <p:cNvPr id="58" name="Google Shape;58;p4"/>
          <p:cNvSpPr/>
          <p:nvPr/>
        </p:nvSpPr>
        <p:spPr>
          <a:xfrm>
            <a:off x="6000750" y="4350544"/>
            <a:ext cx="2714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Elasticsearch, Inc. được thành lập</a:t>
            </a:r>
            <a:endParaRPr b="0" i="0" sz="837" u="none" cap="none" strike="noStrike">
              <a:solidFill>
                <a:schemeClr val="dk1"/>
              </a:solidFill>
              <a:latin typeface="Calibri"/>
              <a:ea typeface="Calibri"/>
              <a:cs typeface="Calibri"/>
              <a:sym typeface="Calibri"/>
            </a:endParaRPr>
          </a:p>
        </p:txBody>
      </p:sp>
      <p:sp>
        <p:nvSpPr>
          <p:cNvPr id="59" name="Google Shape;59;p4"/>
          <p:cNvSpPr/>
          <p:nvPr/>
        </p:nvSpPr>
        <p:spPr>
          <a:xfrm>
            <a:off x="5572125" y="4629150"/>
            <a:ext cx="428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2015</a:t>
            </a:r>
            <a:endParaRPr b="0" i="0" sz="837" u="none" cap="none" strike="noStrike">
              <a:solidFill>
                <a:schemeClr val="dk1"/>
              </a:solidFill>
              <a:latin typeface="Calibri"/>
              <a:ea typeface="Calibri"/>
              <a:cs typeface="Calibri"/>
              <a:sym typeface="Calibri"/>
            </a:endParaRPr>
          </a:p>
        </p:txBody>
      </p:sp>
      <p:sp>
        <p:nvSpPr>
          <p:cNvPr id="60" name="Google Shape;60;p4"/>
          <p:cNvSpPr/>
          <p:nvPr/>
        </p:nvSpPr>
        <p:spPr>
          <a:xfrm>
            <a:off x="6000750" y="4629150"/>
            <a:ext cx="2714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Elasticsearch phát hành chính thức</a:t>
            </a:r>
            <a:endParaRPr b="0" i="0" sz="837" u="none" cap="none" strike="noStrike">
              <a:solidFill>
                <a:schemeClr val="dk1"/>
              </a:solidFill>
              <a:latin typeface="Calibri"/>
              <a:ea typeface="Calibri"/>
              <a:cs typeface="Calibri"/>
              <a:sym typeface="Calibri"/>
            </a:endParaRPr>
          </a:p>
        </p:txBody>
      </p:sp>
      <p:sp>
        <p:nvSpPr>
          <p:cNvPr id="61" name="Google Shape;61;p4"/>
          <p:cNvSpPr/>
          <p:nvPr/>
        </p:nvSpPr>
        <p:spPr>
          <a:xfrm>
            <a:off x="5572125" y="4907756"/>
            <a:ext cx="428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2016</a:t>
            </a:r>
            <a:endParaRPr b="0" i="0" sz="837" u="none" cap="none" strike="noStrike">
              <a:solidFill>
                <a:schemeClr val="dk1"/>
              </a:solidFill>
              <a:latin typeface="Calibri"/>
              <a:ea typeface="Calibri"/>
              <a:cs typeface="Calibri"/>
              <a:sym typeface="Calibri"/>
            </a:endParaRPr>
          </a:p>
        </p:txBody>
      </p:sp>
      <p:sp>
        <p:nvSpPr>
          <p:cNvPr id="62" name="Google Shape;62;p4"/>
          <p:cNvSpPr/>
          <p:nvPr/>
        </p:nvSpPr>
        <p:spPr>
          <a:xfrm>
            <a:off x="6000750" y="4907756"/>
            <a:ext cx="271462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Kibana ra mắt, hoàn thiện bộ ELK Stack</a:t>
            </a:r>
            <a:endParaRPr b="0" i="0" sz="837" u="none" cap="none" strike="noStrike">
              <a:solidFill>
                <a:schemeClr val="dk1"/>
              </a:solidFill>
              <a:latin typeface="Calibri"/>
              <a:ea typeface="Calibri"/>
              <a:cs typeface="Calibri"/>
              <a:sym typeface="Calibri"/>
            </a:endParaRPr>
          </a:p>
        </p:txBody>
      </p:sp>
      <p:sp>
        <p:nvSpPr>
          <p:cNvPr id="63" name="Google Shape;63;p4"/>
          <p:cNvSpPr/>
          <p:nvPr/>
        </p:nvSpPr>
        <p:spPr>
          <a:xfrm>
            <a:off x="5572125" y="5186363"/>
            <a:ext cx="428625"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2021</a:t>
            </a:r>
            <a:endParaRPr b="0" i="0" sz="837" u="none" cap="none" strike="noStrike">
              <a:solidFill>
                <a:schemeClr val="dk1"/>
              </a:solidFill>
              <a:latin typeface="Calibri"/>
              <a:ea typeface="Calibri"/>
              <a:cs typeface="Calibri"/>
              <a:sym typeface="Calibri"/>
            </a:endParaRPr>
          </a:p>
        </p:txBody>
      </p:sp>
      <p:sp>
        <p:nvSpPr>
          <p:cNvPr id="64" name="Google Shape;64;p4"/>
          <p:cNvSpPr/>
          <p:nvPr/>
        </p:nvSpPr>
        <p:spPr>
          <a:xfrm>
            <a:off x="6000750" y="5186363"/>
            <a:ext cx="2714625"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ELK Stack chuyển sang giấy phép SSPL và Elastic license</a:t>
            </a:r>
            <a:endParaRPr b="0" i="0" sz="837"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preencoded.png" id="70" name="Google Shape;70;p5"/>
          <p:cNvPicPr preferRelativeResize="0"/>
          <p:nvPr/>
        </p:nvPicPr>
        <p:blipFill rotWithShape="1">
          <a:blip r:embed="rId3">
            <a:alphaModFix/>
          </a:blip>
          <a:srcRect b="0" l="0" r="0" t="0"/>
          <a:stretch/>
        </p:blipFill>
        <p:spPr>
          <a:xfrm>
            <a:off x="0" y="0"/>
            <a:ext cx="9144000" cy="5686425"/>
          </a:xfrm>
          <a:prstGeom prst="rect">
            <a:avLst/>
          </a:prstGeom>
          <a:noFill/>
          <a:ln>
            <a:noFill/>
          </a:ln>
        </p:spPr>
      </p:pic>
      <p:sp>
        <p:nvSpPr>
          <p:cNvPr id="71" name="Google Shape;71;p5"/>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THÀNH PHẦN CHÍNH CỦA ELK STACK</a:t>
            </a:r>
            <a:endParaRPr b="0" i="0" sz="2025" u="none" cap="none" strike="noStrike">
              <a:solidFill>
                <a:schemeClr val="dk1"/>
              </a:solidFill>
              <a:latin typeface="Calibri"/>
              <a:ea typeface="Calibri"/>
              <a:cs typeface="Calibri"/>
              <a:sym typeface="Calibri"/>
            </a:endParaRPr>
          </a:p>
        </p:txBody>
      </p:sp>
      <p:pic>
        <p:nvPicPr>
          <p:cNvPr descr="preencoded.png" id="72" name="Google Shape;72;p5"/>
          <p:cNvPicPr preferRelativeResize="0"/>
          <p:nvPr/>
        </p:nvPicPr>
        <p:blipFill rotWithShape="1">
          <a:blip r:embed="rId4">
            <a:alphaModFix/>
          </a:blip>
          <a:srcRect b="0" l="0" r="0" t="0"/>
          <a:stretch/>
        </p:blipFill>
        <p:spPr>
          <a:xfrm>
            <a:off x="2428875" y="885825"/>
            <a:ext cx="4286250" cy="2143125"/>
          </a:xfrm>
          <a:prstGeom prst="rect">
            <a:avLst/>
          </a:prstGeom>
          <a:noFill/>
          <a:ln>
            <a:noFill/>
          </a:ln>
        </p:spPr>
      </p:pic>
      <p:sp>
        <p:nvSpPr>
          <p:cNvPr id="73" name="Google Shape;73;p5"/>
          <p:cNvSpPr/>
          <p:nvPr/>
        </p:nvSpPr>
        <p:spPr>
          <a:xfrm>
            <a:off x="285750" y="3243263"/>
            <a:ext cx="1971675" cy="2157413"/>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 name="Google Shape;74;p5"/>
          <p:cNvPicPr preferRelativeResize="0"/>
          <p:nvPr/>
        </p:nvPicPr>
        <p:blipFill rotWithShape="1">
          <a:blip r:embed="rId5">
            <a:alphaModFix/>
          </a:blip>
          <a:srcRect b="0" l="0" r="0" t="0"/>
          <a:stretch/>
        </p:blipFill>
        <p:spPr>
          <a:xfrm>
            <a:off x="1128713" y="3461147"/>
            <a:ext cx="285750" cy="285750"/>
          </a:xfrm>
          <a:prstGeom prst="rect">
            <a:avLst/>
          </a:prstGeom>
          <a:noFill/>
          <a:ln>
            <a:noFill/>
          </a:ln>
        </p:spPr>
      </p:pic>
      <p:sp>
        <p:nvSpPr>
          <p:cNvPr id="75" name="Google Shape;75;p5"/>
          <p:cNvSpPr/>
          <p:nvPr/>
        </p:nvSpPr>
        <p:spPr>
          <a:xfrm>
            <a:off x="428625" y="3921919"/>
            <a:ext cx="1685925" cy="235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238"/>
              <a:buFont typeface="Noto Sans"/>
              <a:buNone/>
            </a:pPr>
            <a:r>
              <a:rPr b="1" i="0" lang="en-US" sz="1238" u="none" cap="none" strike="noStrike">
                <a:solidFill>
                  <a:srgbClr val="FFD700"/>
                </a:solidFill>
                <a:latin typeface="Noto Sans"/>
                <a:ea typeface="Noto Sans"/>
                <a:cs typeface="Noto Sans"/>
                <a:sym typeface="Noto Sans"/>
              </a:rPr>
              <a:t>Elasticsearch</a:t>
            </a:r>
            <a:endParaRPr b="0" i="0" sz="1238" u="none" cap="none" strike="noStrike">
              <a:solidFill>
                <a:schemeClr val="dk1"/>
              </a:solidFill>
              <a:latin typeface="Calibri"/>
              <a:ea typeface="Calibri"/>
              <a:cs typeface="Calibri"/>
              <a:sym typeface="Calibri"/>
            </a:endParaRPr>
          </a:p>
        </p:txBody>
      </p:sp>
      <p:sp>
        <p:nvSpPr>
          <p:cNvPr id="76" name="Google Shape;76;p5"/>
          <p:cNvSpPr/>
          <p:nvPr/>
        </p:nvSpPr>
        <p:spPr>
          <a:xfrm>
            <a:off x="428625" y="4229100"/>
            <a:ext cx="1685925" cy="10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Hệ thống tìm kiếm và phân tích văn bản dựa trên Apache Lucene. Lưu trữ dữ liệu dưới dạng JSON và cung cấp khả năng tìm kiếm gần thời gian thực. </a:t>
            </a:r>
            <a:endParaRPr b="0" i="0" sz="837" u="none" cap="none" strike="noStrike">
              <a:solidFill>
                <a:schemeClr val="dk1"/>
              </a:solidFill>
              <a:latin typeface="Calibri"/>
              <a:ea typeface="Calibri"/>
              <a:cs typeface="Calibri"/>
              <a:sym typeface="Calibri"/>
            </a:endParaRPr>
          </a:p>
        </p:txBody>
      </p:sp>
      <p:sp>
        <p:nvSpPr>
          <p:cNvPr id="77" name="Google Shape;77;p5"/>
          <p:cNvSpPr/>
          <p:nvPr/>
        </p:nvSpPr>
        <p:spPr>
          <a:xfrm>
            <a:off x="2486025" y="3243263"/>
            <a:ext cx="1971675" cy="2157413"/>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 name="Google Shape;78;p5"/>
          <p:cNvPicPr preferRelativeResize="0"/>
          <p:nvPr/>
        </p:nvPicPr>
        <p:blipFill rotWithShape="1">
          <a:blip r:embed="rId6">
            <a:alphaModFix/>
          </a:blip>
          <a:srcRect b="0" l="0" r="0" t="0"/>
          <a:stretch/>
        </p:blipFill>
        <p:spPr>
          <a:xfrm>
            <a:off x="3328988" y="3461147"/>
            <a:ext cx="285750" cy="285750"/>
          </a:xfrm>
          <a:prstGeom prst="rect">
            <a:avLst/>
          </a:prstGeom>
          <a:noFill/>
          <a:ln>
            <a:noFill/>
          </a:ln>
        </p:spPr>
      </p:pic>
      <p:sp>
        <p:nvSpPr>
          <p:cNvPr id="79" name="Google Shape;79;p5"/>
          <p:cNvSpPr/>
          <p:nvPr/>
        </p:nvSpPr>
        <p:spPr>
          <a:xfrm>
            <a:off x="2628900" y="3921919"/>
            <a:ext cx="1685925" cy="235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238"/>
              <a:buFont typeface="Noto Sans"/>
              <a:buNone/>
            </a:pPr>
            <a:r>
              <a:rPr b="1" i="0" lang="en-US" sz="1238" u="none" cap="none" strike="noStrike">
                <a:solidFill>
                  <a:srgbClr val="FFD700"/>
                </a:solidFill>
                <a:latin typeface="Noto Sans"/>
                <a:ea typeface="Noto Sans"/>
                <a:cs typeface="Noto Sans"/>
                <a:sym typeface="Noto Sans"/>
              </a:rPr>
              <a:t>Logstash</a:t>
            </a:r>
            <a:endParaRPr b="0" i="0" sz="1238" u="none" cap="none" strike="noStrike">
              <a:solidFill>
                <a:schemeClr val="dk1"/>
              </a:solidFill>
              <a:latin typeface="Calibri"/>
              <a:ea typeface="Calibri"/>
              <a:cs typeface="Calibri"/>
              <a:sym typeface="Calibri"/>
            </a:endParaRPr>
          </a:p>
        </p:txBody>
      </p:sp>
      <p:sp>
        <p:nvSpPr>
          <p:cNvPr id="80" name="Google Shape;80;p5"/>
          <p:cNvSpPr/>
          <p:nvPr/>
        </p:nvSpPr>
        <p:spPr>
          <a:xfrm>
            <a:off x="2628900" y="4229100"/>
            <a:ext cx="1685925" cy="8572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Công cụ thu thập và xử lý log từ nhiều nguồn khác nhau. Thực hiện các biến đổi và chuyển dữ liệu đến các điểm đích được hỗ trợ. </a:t>
            </a:r>
            <a:endParaRPr b="0" i="0" sz="837" u="none" cap="none" strike="noStrike">
              <a:solidFill>
                <a:schemeClr val="dk1"/>
              </a:solidFill>
              <a:latin typeface="Calibri"/>
              <a:ea typeface="Calibri"/>
              <a:cs typeface="Calibri"/>
              <a:sym typeface="Calibri"/>
            </a:endParaRPr>
          </a:p>
        </p:txBody>
      </p:sp>
      <p:sp>
        <p:nvSpPr>
          <p:cNvPr id="81" name="Google Shape;81;p5"/>
          <p:cNvSpPr/>
          <p:nvPr/>
        </p:nvSpPr>
        <p:spPr>
          <a:xfrm>
            <a:off x="4686300" y="3243263"/>
            <a:ext cx="1971675" cy="2157413"/>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 name="Google Shape;82;p5"/>
          <p:cNvPicPr preferRelativeResize="0"/>
          <p:nvPr/>
        </p:nvPicPr>
        <p:blipFill rotWithShape="1">
          <a:blip r:embed="rId7">
            <a:alphaModFix/>
          </a:blip>
          <a:srcRect b="0" l="0" r="0" t="0"/>
          <a:stretch/>
        </p:blipFill>
        <p:spPr>
          <a:xfrm>
            <a:off x="5529263" y="3461147"/>
            <a:ext cx="285750" cy="285750"/>
          </a:xfrm>
          <a:prstGeom prst="rect">
            <a:avLst/>
          </a:prstGeom>
          <a:noFill/>
          <a:ln>
            <a:noFill/>
          </a:ln>
        </p:spPr>
      </p:pic>
      <p:sp>
        <p:nvSpPr>
          <p:cNvPr id="83" name="Google Shape;83;p5"/>
          <p:cNvSpPr/>
          <p:nvPr/>
        </p:nvSpPr>
        <p:spPr>
          <a:xfrm>
            <a:off x="4829175" y="3921919"/>
            <a:ext cx="1685925" cy="235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238"/>
              <a:buFont typeface="Noto Sans"/>
              <a:buNone/>
            </a:pPr>
            <a:r>
              <a:rPr b="1" i="0" lang="en-US" sz="1238" u="none" cap="none" strike="noStrike">
                <a:solidFill>
                  <a:srgbClr val="FFD700"/>
                </a:solidFill>
                <a:latin typeface="Noto Sans"/>
                <a:ea typeface="Noto Sans"/>
                <a:cs typeface="Noto Sans"/>
                <a:sym typeface="Noto Sans"/>
              </a:rPr>
              <a:t>Kibana</a:t>
            </a:r>
            <a:endParaRPr b="0" i="0" sz="1238" u="none" cap="none" strike="noStrike">
              <a:solidFill>
                <a:schemeClr val="dk1"/>
              </a:solidFill>
              <a:latin typeface="Calibri"/>
              <a:ea typeface="Calibri"/>
              <a:cs typeface="Calibri"/>
              <a:sym typeface="Calibri"/>
            </a:endParaRPr>
          </a:p>
        </p:txBody>
      </p:sp>
      <p:sp>
        <p:nvSpPr>
          <p:cNvPr id="84" name="Google Shape;84;p5"/>
          <p:cNvSpPr/>
          <p:nvPr/>
        </p:nvSpPr>
        <p:spPr>
          <a:xfrm>
            <a:off x="4829175" y="4229100"/>
            <a:ext cx="1685925" cy="8572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Công cụ hiển thị trực quan và khám phá dữ liệu. Cung cấp biểu đồ, bảng, và các công cụ phân tích dữ liệu từ Elasticsearch. </a:t>
            </a:r>
            <a:endParaRPr b="0" i="0" sz="837" u="none" cap="none" strike="noStrike">
              <a:solidFill>
                <a:schemeClr val="dk1"/>
              </a:solidFill>
              <a:latin typeface="Calibri"/>
              <a:ea typeface="Calibri"/>
              <a:cs typeface="Calibri"/>
              <a:sym typeface="Calibri"/>
            </a:endParaRPr>
          </a:p>
        </p:txBody>
      </p:sp>
      <p:sp>
        <p:nvSpPr>
          <p:cNvPr id="85" name="Google Shape;85;p5"/>
          <p:cNvSpPr/>
          <p:nvPr/>
        </p:nvSpPr>
        <p:spPr>
          <a:xfrm>
            <a:off x="6886575" y="3243263"/>
            <a:ext cx="1971675" cy="2157413"/>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6" name="Google Shape;86;p5"/>
          <p:cNvPicPr preferRelativeResize="0"/>
          <p:nvPr/>
        </p:nvPicPr>
        <p:blipFill rotWithShape="1">
          <a:blip r:embed="rId8">
            <a:alphaModFix/>
          </a:blip>
          <a:srcRect b="0" l="0" r="0" t="0"/>
          <a:stretch/>
        </p:blipFill>
        <p:spPr>
          <a:xfrm>
            <a:off x="7711678" y="3461147"/>
            <a:ext cx="321469" cy="285750"/>
          </a:xfrm>
          <a:prstGeom prst="rect">
            <a:avLst/>
          </a:prstGeom>
          <a:noFill/>
          <a:ln>
            <a:noFill/>
          </a:ln>
        </p:spPr>
      </p:pic>
      <p:sp>
        <p:nvSpPr>
          <p:cNvPr id="87" name="Google Shape;87;p5"/>
          <p:cNvSpPr/>
          <p:nvPr/>
        </p:nvSpPr>
        <p:spPr>
          <a:xfrm>
            <a:off x="7029450" y="3921919"/>
            <a:ext cx="1685925" cy="235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238"/>
              <a:buFont typeface="Noto Sans"/>
              <a:buNone/>
            </a:pPr>
            <a:r>
              <a:rPr b="1" i="0" lang="en-US" sz="1238" u="none" cap="none" strike="noStrike">
                <a:solidFill>
                  <a:srgbClr val="FFD700"/>
                </a:solidFill>
                <a:latin typeface="Noto Sans"/>
                <a:ea typeface="Noto Sans"/>
                <a:cs typeface="Noto Sans"/>
                <a:sym typeface="Noto Sans"/>
              </a:rPr>
              <a:t>Beats</a:t>
            </a:r>
            <a:endParaRPr b="0" i="0" sz="1238" u="none" cap="none" strike="noStrike">
              <a:solidFill>
                <a:schemeClr val="dk1"/>
              </a:solidFill>
              <a:latin typeface="Calibri"/>
              <a:ea typeface="Calibri"/>
              <a:cs typeface="Calibri"/>
              <a:sym typeface="Calibri"/>
            </a:endParaRPr>
          </a:p>
        </p:txBody>
      </p:sp>
      <p:sp>
        <p:nvSpPr>
          <p:cNvPr id="88" name="Google Shape;88;p5"/>
          <p:cNvSpPr/>
          <p:nvPr/>
        </p:nvSpPr>
        <p:spPr>
          <a:xfrm>
            <a:off x="7029450" y="4229100"/>
            <a:ext cx="1685925" cy="8572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Các agent nhẹ được cài đặt trên máy chủ để thu thập và chuyển tiếp dữ liệu. Gồm Filebeat, Metricbeat, Packetbeat và nhiều loại khác. </a:t>
            </a:r>
            <a:endParaRPr b="0" i="0" sz="837"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preencoded.png" id="94" name="Google Shape;94;p6"/>
          <p:cNvPicPr preferRelativeResize="0"/>
          <p:nvPr/>
        </p:nvPicPr>
        <p:blipFill rotWithShape="1">
          <a:blip r:embed="rId3">
            <a:alphaModFix/>
          </a:blip>
          <a:srcRect b="0" l="0" r="0" t="0"/>
          <a:stretch/>
        </p:blipFill>
        <p:spPr>
          <a:xfrm>
            <a:off x="0" y="0"/>
            <a:ext cx="9144000" cy="5446244"/>
          </a:xfrm>
          <a:prstGeom prst="rect">
            <a:avLst/>
          </a:prstGeom>
          <a:noFill/>
          <a:ln>
            <a:noFill/>
          </a:ln>
        </p:spPr>
      </p:pic>
      <p:sp>
        <p:nvSpPr>
          <p:cNvPr id="95" name="Google Shape;95;p6"/>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ELASTICSEARCH</a:t>
            </a:r>
            <a:endParaRPr b="0" i="0" sz="2025" u="none" cap="none" strike="noStrike">
              <a:solidFill>
                <a:schemeClr val="dk1"/>
              </a:solidFill>
              <a:latin typeface="Calibri"/>
              <a:ea typeface="Calibri"/>
              <a:cs typeface="Calibri"/>
              <a:sym typeface="Calibri"/>
            </a:endParaRPr>
          </a:p>
        </p:txBody>
      </p:sp>
      <p:sp>
        <p:nvSpPr>
          <p:cNvPr id="96" name="Google Shape;96;p6"/>
          <p:cNvSpPr/>
          <p:nvPr/>
        </p:nvSpPr>
        <p:spPr>
          <a:xfrm>
            <a:off x="285750" y="885825"/>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Giới thiệu</a:t>
            </a:r>
            <a:endParaRPr b="0" i="0" sz="1350" u="none" cap="none" strike="noStrike">
              <a:solidFill>
                <a:schemeClr val="dk1"/>
              </a:solidFill>
              <a:latin typeface="Calibri"/>
              <a:ea typeface="Calibri"/>
              <a:cs typeface="Calibri"/>
              <a:sym typeface="Calibri"/>
            </a:endParaRPr>
          </a:p>
        </p:txBody>
      </p:sp>
      <p:sp>
        <p:nvSpPr>
          <p:cNvPr id="97" name="Google Shape;97;p6"/>
          <p:cNvSpPr/>
          <p:nvPr/>
        </p:nvSpPr>
        <p:spPr>
          <a:xfrm>
            <a:off x="285750" y="1214438"/>
            <a:ext cx="4572000" cy="61715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Elasticsearch là hệ thống tìm kiếm và phân tích văn bản đầy đủ được xây dựng trên Apache Lucene, cung cấp khả năng tìm kiếm và phân tích gần như theo thời gian thực cho tất cả các loại dữ liệu.</a:t>
            </a:r>
            <a:endParaRPr b="0" i="0" sz="942" u="none" cap="none" strike="noStrike">
              <a:solidFill>
                <a:schemeClr val="dk1"/>
              </a:solidFill>
              <a:latin typeface="Calibri"/>
              <a:ea typeface="Calibri"/>
              <a:cs typeface="Calibri"/>
              <a:sym typeface="Calibri"/>
            </a:endParaRPr>
          </a:p>
        </p:txBody>
      </p:sp>
      <p:sp>
        <p:nvSpPr>
          <p:cNvPr id="98" name="Google Shape;98;p6"/>
          <p:cNvSpPr/>
          <p:nvPr/>
        </p:nvSpPr>
        <p:spPr>
          <a:xfrm>
            <a:off x="285750" y="2010184"/>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Đặc điểm chính</a:t>
            </a:r>
            <a:endParaRPr b="0" i="0" sz="1350" u="none" cap="none" strike="noStrike">
              <a:solidFill>
                <a:schemeClr val="dk1"/>
              </a:solidFill>
              <a:latin typeface="Calibri"/>
              <a:ea typeface="Calibri"/>
              <a:cs typeface="Calibri"/>
              <a:sym typeface="Calibri"/>
            </a:endParaRPr>
          </a:p>
        </p:txBody>
      </p:sp>
      <p:pic>
        <p:nvPicPr>
          <p:cNvPr descr="preencoded.png" id="99" name="Google Shape;99;p6"/>
          <p:cNvPicPr preferRelativeResize="0"/>
          <p:nvPr/>
        </p:nvPicPr>
        <p:blipFill rotWithShape="1">
          <a:blip r:embed="rId4">
            <a:alphaModFix/>
          </a:blip>
          <a:srcRect b="0" l="0" r="0" t="0"/>
          <a:stretch/>
        </p:blipFill>
        <p:spPr>
          <a:xfrm>
            <a:off x="285750" y="2412020"/>
            <a:ext cx="112514" cy="128588"/>
          </a:xfrm>
          <a:prstGeom prst="rect">
            <a:avLst/>
          </a:prstGeom>
          <a:noFill/>
          <a:ln>
            <a:noFill/>
          </a:ln>
        </p:spPr>
      </p:pic>
      <p:sp>
        <p:nvSpPr>
          <p:cNvPr id="100" name="Google Shape;100;p6"/>
          <p:cNvSpPr/>
          <p:nvPr/>
        </p:nvSpPr>
        <p:spPr>
          <a:xfrm>
            <a:off x="469702" y="2374516"/>
            <a:ext cx="2333104"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Lưu trữ dữ liệu dưới dạng tài liệu JSON</a:t>
            </a:r>
            <a:endParaRPr b="0" i="0" sz="942" u="none" cap="none" strike="noStrike">
              <a:solidFill>
                <a:schemeClr val="dk1"/>
              </a:solidFill>
              <a:latin typeface="Calibri"/>
              <a:ea typeface="Calibri"/>
              <a:cs typeface="Calibri"/>
              <a:sym typeface="Calibri"/>
            </a:endParaRPr>
          </a:p>
        </p:txBody>
      </p:sp>
      <p:pic>
        <p:nvPicPr>
          <p:cNvPr descr="preencoded.png" id="101" name="Google Shape;101;p6"/>
          <p:cNvPicPr preferRelativeResize="0"/>
          <p:nvPr/>
        </p:nvPicPr>
        <p:blipFill rotWithShape="1">
          <a:blip r:embed="rId5">
            <a:alphaModFix/>
          </a:blip>
          <a:srcRect b="0" l="0" r="0" t="0"/>
          <a:stretch/>
        </p:blipFill>
        <p:spPr>
          <a:xfrm>
            <a:off x="285750" y="2703463"/>
            <a:ext cx="128588" cy="128588"/>
          </a:xfrm>
          <a:prstGeom prst="rect">
            <a:avLst/>
          </a:prstGeom>
          <a:noFill/>
          <a:ln>
            <a:noFill/>
          </a:ln>
        </p:spPr>
      </p:pic>
      <p:sp>
        <p:nvSpPr>
          <p:cNvPr id="102" name="Google Shape;102;p6"/>
          <p:cNvSpPr/>
          <p:nvPr/>
        </p:nvSpPr>
        <p:spPr>
          <a:xfrm>
            <a:off x="485775" y="2665958"/>
            <a:ext cx="2424019"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Tìm kiếm toàn văn bản với hiệu suất cao</a:t>
            </a:r>
            <a:endParaRPr b="0" i="0" sz="942" u="none" cap="none" strike="noStrike">
              <a:solidFill>
                <a:schemeClr val="dk1"/>
              </a:solidFill>
              <a:latin typeface="Calibri"/>
              <a:ea typeface="Calibri"/>
              <a:cs typeface="Calibri"/>
              <a:sym typeface="Calibri"/>
            </a:endParaRPr>
          </a:p>
        </p:txBody>
      </p:sp>
      <p:pic>
        <p:nvPicPr>
          <p:cNvPr descr="preencoded.png" id="103" name="Google Shape;103;p6"/>
          <p:cNvPicPr preferRelativeResize="0"/>
          <p:nvPr/>
        </p:nvPicPr>
        <p:blipFill rotWithShape="1">
          <a:blip r:embed="rId6">
            <a:alphaModFix/>
          </a:blip>
          <a:srcRect b="0" l="0" r="0" t="0"/>
          <a:stretch/>
        </p:blipFill>
        <p:spPr>
          <a:xfrm>
            <a:off x="285750" y="2994906"/>
            <a:ext cx="128588" cy="128588"/>
          </a:xfrm>
          <a:prstGeom prst="rect">
            <a:avLst/>
          </a:prstGeom>
          <a:noFill/>
          <a:ln>
            <a:noFill/>
          </a:ln>
        </p:spPr>
      </p:pic>
      <p:sp>
        <p:nvSpPr>
          <p:cNvPr id="104" name="Google Shape;104;p6"/>
          <p:cNvSpPr/>
          <p:nvPr/>
        </p:nvSpPr>
        <p:spPr>
          <a:xfrm>
            <a:off x="485775" y="2957401"/>
            <a:ext cx="272068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Kiến trúc phân tán với khả năng mở rộng cao</a:t>
            </a:r>
            <a:endParaRPr b="0" i="0" sz="942" u="none" cap="none" strike="noStrike">
              <a:solidFill>
                <a:schemeClr val="dk1"/>
              </a:solidFill>
              <a:latin typeface="Calibri"/>
              <a:ea typeface="Calibri"/>
              <a:cs typeface="Calibri"/>
              <a:sym typeface="Calibri"/>
            </a:endParaRPr>
          </a:p>
        </p:txBody>
      </p:sp>
      <p:pic>
        <p:nvPicPr>
          <p:cNvPr descr="preencoded.png" id="105" name="Google Shape;105;p6"/>
          <p:cNvPicPr preferRelativeResize="0"/>
          <p:nvPr/>
        </p:nvPicPr>
        <p:blipFill rotWithShape="1">
          <a:blip r:embed="rId7">
            <a:alphaModFix/>
          </a:blip>
          <a:srcRect b="0" l="0" r="0" t="0"/>
          <a:stretch/>
        </p:blipFill>
        <p:spPr>
          <a:xfrm>
            <a:off x="285750" y="3286348"/>
            <a:ext cx="160734" cy="128588"/>
          </a:xfrm>
          <a:prstGeom prst="rect">
            <a:avLst/>
          </a:prstGeom>
          <a:noFill/>
          <a:ln>
            <a:noFill/>
          </a:ln>
        </p:spPr>
      </p:pic>
      <p:sp>
        <p:nvSpPr>
          <p:cNvPr id="106" name="Google Shape;106;p6"/>
          <p:cNvSpPr/>
          <p:nvPr/>
        </p:nvSpPr>
        <p:spPr>
          <a:xfrm>
            <a:off x="517922" y="3248844"/>
            <a:ext cx="1838176"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API REST đơn giản và linh hoạt</a:t>
            </a:r>
            <a:endParaRPr b="0" i="0" sz="942" u="none" cap="none" strike="noStrike">
              <a:solidFill>
                <a:schemeClr val="dk1"/>
              </a:solidFill>
              <a:latin typeface="Calibri"/>
              <a:ea typeface="Calibri"/>
              <a:cs typeface="Calibri"/>
              <a:sym typeface="Calibri"/>
            </a:endParaRPr>
          </a:p>
        </p:txBody>
      </p:sp>
      <p:pic>
        <p:nvPicPr>
          <p:cNvPr descr="preencoded.png" id="107" name="Google Shape;107;p6"/>
          <p:cNvPicPr preferRelativeResize="0"/>
          <p:nvPr/>
        </p:nvPicPr>
        <p:blipFill rotWithShape="1">
          <a:blip r:embed="rId8">
            <a:alphaModFix/>
          </a:blip>
          <a:srcRect b="0" l="0" r="0" t="0"/>
          <a:stretch/>
        </p:blipFill>
        <p:spPr>
          <a:xfrm>
            <a:off x="285750" y="3577791"/>
            <a:ext cx="96441" cy="128588"/>
          </a:xfrm>
          <a:prstGeom prst="rect">
            <a:avLst/>
          </a:prstGeom>
          <a:noFill/>
          <a:ln>
            <a:noFill/>
          </a:ln>
        </p:spPr>
      </p:pic>
      <p:sp>
        <p:nvSpPr>
          <p:cNvPr id="108" name="Google Shape;108;p6"/>
          <p:cNvSpPr/>
          <p:nvPr/>
        </p:nvSpPr>
        <p:spPr>
          <a:xfrm>
            <a:off x="453628" y="3540286"/>
            <a:ext cx="1886006"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Xử lý dữ liệu gần thời gian thực</a:t>
            </a:r>
            <a:endParaRPr b="0" i="0" sz="942" u="none" cap="none" strike="noStrike">
              <a:solidFill>
                <a:schemeClr val="dk1"/>
              </a:solidFill>
              <a:latin typeface="Calibri"/>
              <a:ea typeface="Calibri"/>
              <a:cs typeface="Calibri"/>
              <a:sym typeface="Calibri"/>
            </a:endParaRPr>
          </a:p>
        </p:txBody>
      </p:sp>
      <p:sp>
        <p:nvSpPr>
          <p:cNvPr id="109" name="Google Shape;109;p6"/>
          <p:cNvSpPr/>
          <p:nvPr/>
        </p:nvSpPr>
        <p:spPr>
          <a:xfrm>
            <a:off x="285750" y="3924598"/>
            <a:ext cx="4572000" cy="557213"/>
          </a:xfrm>
          <a:prstGeom prst="rect">
            <a:avLst/>
          </a:prstGeom>
          <a:solidFill>
            <a:srgbClr val="FFD7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285750" y="3924598"/>
            <a:ext cx="28575" cy="55721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392906" y="4038898"/>
            <a:ext cx="1113532"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1" i="0" lang="en-US" sz="837" u="none" cap="none" strike="noStrike">
                <a:solidFill>
                  <a:srgbClr val="FFFFFF"/>
                </a:solidFill>
                <a:latin typeface="Noto Sans"/>
                <a:ea typeface="Noto Sans"/>
                <a:cs typeface="Noto Sans"/>
                <a:sym typeface="Noto Sans"/>
              </a:rPr>
              <a:t>Hỗ trợ đa nền tảng:</a:t>
            </a:r>
            <a:endParaRPr b="0" i="0" sz="837" u="none" cap="none" strike="noStrike">
              <a:solidFill>
                <a:schemeClr val="dk1"/>
              </a:solidFill>
              <a:latin typeface="Calibri"/>
              <a:ea typeface="Calibri"/>
              <a:cs typeface="Calibri"/>
              <a:sym typeface="Calibri"/>
            </a:endParaRPr>
          </a:p>
        </p:txBody>
      </p:sp>
      <p:sp>
        <p:nvSpPr>
          <p:cNvPr id="112" name="Google Shape;112;p6"/>
          <p:cNvSpPr/>
          <p:nvPr/>
        </p:nvSpPr>
        <p:spPr>
          <a:xfrm>
            <a:off x="1506438" y="4038898"/>
            <a:ext cx="3083030"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Elasticsearch 8.12.x hỗ trợ nhiều hệ điều hành như RHEL, </a:t>
            </a:r>
            <a:endParaRPr b="0" i="0" sz="837" u="none" cap="none" strike="noStrike">
              <a:solidFill>
                <a:schemeClr val="dk1"/>
              </a:solidFill>
              <a:latin typeface="Calibri"/>
              <a:ea typeface="Calibri"/>
              <a:cs typeface="Calibri"/>
              <a:sym typeface="Calibri"/>
            </a:endParaRPr>
          </a:p>
        </p:txBody>
      </p:sp>
      <p:sp>
        <p:nvSpPr>
          <p:cNvPr id="113" name="Google Shape;113;p6"/>
          <p:cNvSpPr/>
          <p:nvPr/>
        </p:nvSpPr>
        <p:spPr>
          <a:xfrm>
            <a:off x="392906" y="4210348"/>
            <a:ext cx="4245452"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CentOS, Ubuntu, Windows, Debian và nhiều JVM như Oracle/OpenJDK/Temurin. </a:t>
            </a:r>
            <a:endParaRPr b="0" i="0" sz="837" u="none" cap="none" strike="noStrike">
              <a:solidFill>
                <a:schemeClr val="dk1"/>
              </a:solidFill>
              <a:latin typeface="Calibri"/>
              <a:ea typeface="Calibri"/>
              <a:cs typeface="Calibri"/>
              <a:sym typeface="Calibri"/>
            </a:endParaRPr>
          </a:p>
        </p:txBody>
      </p:sp>
      <p:sp>
        <p:nvSpPr>
          <p:cNvPr id="114" name="Google Shape;114;p6"/>
          <p:cNvSpPr/>
          <p:nvPr/>
        </p:nvSpPr>
        <p:spPr>
          <a:xfrm>
            <a:off x="5429250" y="885825"/>
            <a:ext cx="3429000" cy="2167375"/>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6"/>
          <p:cNvPicPr preferRelativeResize="0"/>
          <p:nvPr/>
        </p:nvPicPr>
        <p:blipFill rotWithShape="1">
          <a:blip r:embed="rId9">
            <a:alphaModFix/>
          </a:blip>
          <a:srcRect b="0" l="0" r="0" t="0"/>
          <a:stretch/>
        </p:blipFill>
        <p:spPr>
          <a:xfrm>
            <a:off x="5572125" y="1028700"/>
            <a:ext cx="3143250" cy="1881625"/>
          </a:xfrm>
          <a:prstGeom prst="rect">
            <a:avLst/>
          </a:prstGeom>
          <a:noFill/>
          <a:ln>
            <a:noFill/>
          </a:ln>
        </p:spPr>
      </p:pic>
      <p:sp>
        <p:nvSpPr>
          <p:cNvPr id="116" name="Google Shape;116;p6"/>
          <p:cNvSpPr/>
          <p:nvPr/>
        </p:nvSpPr>
        <p:spPr>
          <a:xfrm>
            <a:off x="5429250" y="3196075"/>
            <a:ext cx="3429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Cấu trúc phân cấp</a:t>
            </a:r>
            <a:endParaRPr b="0" i="0" sz="1350" u="none" cap="none" strike="noStrike">
              <a:solidFill>
                <a:schemeClr val="dk1"/>
              </a:solidFill>
              <a:latin typeface="Calibri"/>
              <a:ea typeface="Calibri"/>
              <a:cs typeface="Calibri"/>
              <a:sym typeface="Calibri"/>
            </a:endParaRPr>
          </a:p>
        </p:txBody>
      </p:sp>
      <p:pic>
        <p:nvPicPr>
          <p:cNvPr descr="preencoded.png" id="117" name="Google Shape;117;p6"/>
          <p:cNvPicPr preferRelativeResize="0"/>
          <p:nvPr/>
        </p:nvPicPr>
        <p:blipFill rotWithShape="1">
          <a:blip r:embed="rId10">
            <a:alphaModFix/>
          </a:blip>
          <a:srcRect b="0" l="0" r="0" t="0"/>
          <a:stretch/>
        </p:blipFill>
        <p:spPr>
          <a:xfrm>
            <a:off x="5429250" y="3562192"/>
            <a:ext cx="144661" cy="128588"/>
          </a:xfrm>
          <a:prstGeom prst="rect">
            <a:avLst/>
          </a:prstGeom>
          <a:noFill/>
          <a:ln>
            <a:noFill/>
          </a:ln>
        </p:spPr>
      </p:pic>
      <p:sp>
        <p:nvSpPr>
          <p:cNvPr id="118" name="Google Shape;118;p6"/>
          <p:cNvSpPr/>
          <p:nvPr/>
        </p:nvSpPr>
        <p:spPr>
          <a:xfrm>
            <a:off x="5645348" y="3538975"/>
            <a:ext cx="49635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Cluster:</a:t>
            </a:r>
            <a:endParaRPr b="0" i="0" sz="942" u="none" cap="none" strike="noStrike">
              <a:solidFill>
                <a:schemeClr val="dk1"/>
              </a:solidFill>
              <a:latin typeface="Calibri"/>
              <a:ea typeface="Calibri"/>
              <a:cs typeface="Calibri"/>
              <a:sym typeface="Calibri"/>
            </a:endParaRPr>
          </a:p>
        </p:txBody>
      </p:sp>
      <p:sp>
        <p:nvSpPr>
          <p:cNvPr id="119" name="Google Shape;119;p6"/>
          <p:cNvSpPr/>
          <p:nvPr/>
        </p:nvSpPr>
        <p:spPr>
          <a:xfrm>
            <a:off x="6141700" y="3538975"/>
            <a:ext cx="229066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Tập hợp các node làm việc cùng nhau</a:t>
            </a:r>
            <a:endParaRPr b="0" i="0" sz="942" u="none" cap="none" strike="noStrike">
              <a:solidFill>
                <a:schemeClr val="dk1"/>
              </a:solidFill>
              <a:latin typeface="Calibri"/>
              <a:ea typeface="Calibri"/>
              <a:cs typeface="Calibri"/>
              <a:sym typeface="Calibri"/>
            </a:endParaRPr>
          </a:p>
        </p:txBody>
      </p:sp>
      <p:pic>
        <p:nvPicPr>
          <p:cNvPr descr="preencoded.png" id="120" name="Google Shape;120;p6"/>
          <p:cNvPicPr preferRelativeResize="0"/>
          <p:nvPr/>
        </p:nvPicPr>
        <p:blipFill rotWithShape="1">
          <a:blip r:embed="rId11">
            <a:alphaModFix/>
          </a:blip>
          <a:srcRect b="0" l="0" r="0" t="0"/>
          <a:stretch/>
        </p:blipFill>
        <p:spPr>
          <a:xfrm>
            <a:off x="5429250" y="3853635"/>
            <a:ext cx="128588" cy="128588"/>
          </a:xfrm>
          <a:prstGeom prst="rect">
            <a:avLst/>
          </a:prstGeom>
          <a:noFill/>
          <a:ln>
            <a:noFill/>
          </a:ln>
        </p:spPr>
      </p:pic>
      <p:sp>
        <p:nvSpPr>
          <p:cNvPr id="121" name="Google Shape;121;p6"/>
          <p:cNvSpPr/>
          <p:nvPr/>
        </p:nvSpPr>
        <p:spPr>
          <a:xfrm>
            <a:off x="5629275" y="3830417"/>
            <a:ext cx="37820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Node:</a:t>
            </a:r>
            <a:endParaRPr b="0" i="0" sz="942" u="none" cap="none" strike="noStrike">
              <a:solidFill>
                <a:schemeClr val="dk1"/>
              </a:solidFill>
              <a:latin typeface="Calibri"/>
              <a:ea typeface="Calibri"/>
              <a:cs typeface="Calibri"/>
              <a:sym typeface="Calibri"/>
            </a:endParaRPr>
          </a:p>
        </p:txBody>
      </p:sp>
      <p:sp>
        <p:nvSpPr>
          <p:cNvPr id="122" name="Google Shape;122;p6"/>
          <p:cNvSpPr/>
          <p:nvPr/>
        </p:nvSpPr>
        <p:spPr>
          <a:xfrm>
            <a:off x="6007475" y="3830417"/>
            <a:ext cx="243353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Một instance Elasticsearch trong cluster</a:t>
            </a:r>
            <a:endParaRPr b="0" i="0" sz="942" u="none" cap="none" strike="noStrike">
              <a:solidFill>
                <a:schemeClr val="dk1"/>
              </a:solidFill>
              <a:latin typeface="Calibri"/>
              <a:ea typeface="Calibri"/>
              <a:cs typeface="Calibri"/>
              <a:sym typeface="Calibri"/>
            </a:endParaRPr>
          </a:p>
        </p:txBody>
      </p:sp>
      <p:pic>
        <p:nvPicPr>
          <p:cNvPr descr="preencoded.png" id="123" name="Google Shape;123;p6"/>
          <p:cNvPicPr preferRelativeResize="0"/>
          <p:nvPr/>
        </p:nvPicPr>
        <p:blipFill rotWithShape="1">
          <a:blip r:embed="rId12">
            <a:alphaModFix/>
          </a:blip>
          <a:srcRect b="0" l="0" r="0" t="0"/>
          <a:stretch/>
        </p:blipFill>
        <p:spPr>
          <a:xfrm>
            <a:off x="5429250" y="4145077"/>
            <a:ext cx="128588" cy="128588"/>
          </a:xfrm>
          <a:prstGeom prst="rect">
            <a:avLst/>
          </a:prstGeom>
          <a:noFill/>
          <a:ln>
            <a:noFill/>
          </a:ln>
        </p:spPr>
      </p:pic>
      <p:sp>
        <p:nvSpPr>
          <p:cNvPr id="124" name="Google Shape;124;p6"/>
          <p:cNvSpPr/>
          <p:nvPr/>
        </p:nvSpPr>
        <p:spPr>
          <a:xfrm>
            <a:off x="5629275" y="4121860"/>
            <a:ext cx="40030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Index:</a:t>
            </a:r>
            <a:endParaRPr b="0" i="0" sz="942" u="none" cap="none" strike="noStrike">
              <a:solidFill>
                <a:schemeClr val="dk1"/>
              </a:solidFill>
              <a:latin typeface="Calibri"/>
              <a:ea typeface="Calibri"/>
              <a:cs typeface="Calibri"/>
              <a:sym typeface="Calibri"/>
            </a:endParaRPr>
          </a:p>
        </p:txBody>
      </p:sp>
      <p:sp>
        <p:nvSpPr>
          <p:cNvPr id="125" name="Google Shape;125;p6"/>
          <p:cNvSpPr/>
          <p:nvPr/>
        </p:nvSpPr>
        <p:spPr>
          <a:xfrm>
            <a:off x="6029576" y="4121860"/>
            <a:ext cx="272528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Tập hợp các document có đặc điểm tương tự</a:t>
            </a:r>
            <a:endParaRPr b="0" i="0" sz="942" u="none" cap="none" strike="noStrike">
              <a:solidFill>
                <a:schemeClr val="dk1"/>
              </a:solidFill>
              <a:latin typeface="Calibri"/>
              <a:ea typeface="Calibri"/>
              <a:cs typeface="Calibri"/>
              <a:sym typeface="Calibri"/>
            </a:endParaRPr>
          </a:p>
        </p:txBody>
      </p:sp>
      <p:pic>
        <p:nvPicPr>
          <p:cNvPr descr="preencoded.png" id="126" name="Google Shape;126;p6"/>
          <p:cNvPicPr preferRelativeResize="0"/>
          <p:nvPr/>
        </p:nvPicPr>
        <p:blipFill rotWithShape="1">
          <a:blip r:embed="rId13">
            <a:alphaModFix/>
          </a:blip>
          <a:srcRect b="0" l="0" r="0" t="0"/>
          <a:stretch/>
        </p:blipFill>
        <p:spPr>
          <a:xfrm>
            <a:off x="5429250" y="4436520"/>
            <a:ext cx="128588" cy="128588"/>
          </a:xfrm>
          <a:prstGeom prst="rect">
            <a:avLst/>
          </a:prstGeom>
          <a:noFill/>
          <a:ln>
            <a:noFill/>
          </a:ln>
        </p:spPr>
      </p:pic>
      <p:sp>
        <p:nvSpPr>
          <p:cNvPr id="127" name="Google Shape;127;p6"/>
          <p:cNvSpPr/>
          <p:nvPr/>
        </p:nvSpPr>
        <p:spPr>
          <a:xfrm>
            <a:off x="5629275" y="4413303"/>
            <a:ext cx="406859"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Shard:</a:t>
            </a:r>
            <a:endParaRPr b="0" i="0" sz="942" u="none" cap="none" strike="noStrike">
              <a:solidFill>
                <a:schemeClr val="dk1"/>
              </a:solidFill>
              <a:latin typeface="Calibri"/>
              <a:ea typeface="Calibri"/>
              <a:cs typeface="Calibri"/>
              <a:sym typeface="Calibri"/>
            </a:endParaRPr>
          </a:p>
        </p:txBody>
      </p:sp>
      <p:sp>
        <p:nvSpPr>
          <p:cNvPr id="128" name="Google Shape;128;p6"/>
          <p:cNvSpPr/>
          <p:nvPr/>
        </p:nvSpPr>
        <p:spPr>
          <a:xfrm>
            <a:off x="6036134" y="4413303"/>
            <a:ext cx="275757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Phân đoạn của index, phân tán trên các node</a:t>
            </a:r>
            <a:endParaRPr b="0" i="0" sz="942" u="none" cap="none" strike="noStrike">
              <a:solidFill>
                <a:schemeClr val="dk1"/>
              </a:solidFill>
              <a:latin typeface="Calibri"/>
              <a:ea typeface="Calibri"/>
              <a:cs typeface="Calibri"/>
              <a:sym typeface="Calibri"/>
            </a:endParaRPr>
          </a:p>
        </p:txBody>
      </p:sp>
      <p:pic>
        <p:nvPicPr>
          <p:cNvPr descr="preencoded.png" id="129" name="Google Shape;129;p6"/>
          <p:cNvPicPr preferRelativeResize="0"/>
          <p:nvPr/>
        </p:nvPicPr>
        <p:blipFill rotWithShape="1">
          <a:blip r:embed="rId14">
            <a:alphaModFix/>
          </a:blip>
          <a:srcRect b="0" l="0" r="0" t="0"/>
          <a:stretch/>
        </p:blipFill>
        <p:spPr>
          <a:xfrm>
            <a:off x="5429250" y="4727963"/>
            <a:ext cx="96441" cy="128588"/>
          </a:xfrm>
          <a:prstGeom prst="rect">
            <a:avLst/>
          </a:prstGeom>
          <a:noFill/>
          <a:ln>
            <a:noFill/>
          </a:ln>
        </p:spPr>
      </p:pic>
      <p:sp>
        <p:nvSpPr>
          <p:cNvPr id="130" name="Google Shape;130;p6"/>
          <p:cNvSpPr/>
          <p:nvPr/>
        </p:nvSpPr>
        <p:spPr>
          <a:xfrm>
            <a:off x="5597128" y="4704745"/>
            <a:ext cx="704552"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Document:</a:t>
            </a:r>
            <a:endParaRPr b="0" i="0" sz="942" u="none" cap="none" strike="noStrike">
              <a:solidFill>
                <a:schemeClr val="dk1"/>
              </a:solidFill>
              <a:latin typeface="Calibri"/>
              <a:ea typeface="Calibri"/>
              <a:cs typeface="Calibri"/>
              <a:sym typeface="Calibri"/>
            </a:endParaRPr>
          </a:p>
        </p:txBody>
      </p:sp>
      <p:sp>
        <p:nvSpPr>
          <p:cNvPr id="131" name="Google Shape;131;p6"/>
          <p:cNvSpPr/>
          <p:nvPr/>
        </p:nvSpPr>
        <p:spPr>
          <a:xfrm>
            <a:off x="6301680" y="4704745"/>
            <a:ext cx="2406272"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Đơn vị cơ bản của thông tin, dạng JSON</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preencoded.png" id="137" name="Google Shape;137;p7"/>
          <p:cNvPicPr preferRelativeResize="0"/>
          <p:nvPr/>
        </p:nvPicPr>
        <p:blipFill rotWithShape="1">
          <a:blip r:embed="rId3">
            <a:alphaModFix/>
          </a:blip>
          <a:srcRect b="0" l="0" r="0" t="0"/>
          <a:stretch/>
        </p:blipFill>
        <p:spPr>
          <a:xfrm>
            <a:off x="0" y="0"/>
            <a:ext cx="9144000" cy="6442156"/>
          </a:xfrm>
          <a:prstGeom prst="rect">
            <a:avLst/>
          </a:prstGeom>
          <a:noFill/>
          <a:ln>
            <a:noFill/>
          </a:ln>
        </p:spPr>
      </p:pic>
      <p:sp>
        <p:nvSpPr>
          <p:cNvPr id="138" name="Google Shape;138;p7"/>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LOGSTASH</a:t>
            </a:r>
            <a:endParaRPr b="0" i="0" sz="2025" u="none" cap="none" strike="noStrike">
              <a:solidFill>
                <a:schemeClr val="dk1"/>
              </a:solidFill>
              <a:latin typeface="Calibri"/>
              <a:ea typeface="Calibri"/>
              <a:cs typeface="Calibri"/>
              <a:sym typeface="Calibri"/>
            </a:endParaRPr>
          </a:p>
        </p:txBody>
      </p:sp>
      <p:sp>
        <p:nvSpPr>
          <p:cNvPr id="139" name="Google Shape;139;p7"/>
          <p:cNvSpPr/>
          <p:nvPr/>
        </p:nvSpPr>
        <p:spPr>
          <a:xfrm>
            <a:off x="285750" y="885825"/>
            <a:ext cx="4143375"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Giới thiệu</a:t>
            </a:r>
            <a:endParaRPr b="0" i="0" sz="1350" u="none" cap="none" strike="noStrike">
              <a:solidFill>
                <a:schemeClr val="dk1"/>
              </a:solidFill>
              <a:latin typeface="Calibri"/>
              <a:ea typeface="Calibri"/>
              <a:cs typeface="Calibri"/>
              <a:sym typeface="Calibri"/>
            </a:endParaRPr>
          </a:p>
        </p:txBody>
      </p:sp>
      <p:sp>
        <p:nvSpPr>
          <p:cNvPr id="140" name="Google Shape;140;p7"/>
          <p:cNvSpPr/>
          <p:nvPr/>
        </p:nvSpPr>
        <p:spPr>
          <a:xfrm>
            <a:off x="285750" y="1214438"/>
            <a:ext cx="4143375" cy="61715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Logstash là công cụ tải nhập dữ liệu nguồn mở cho phép thu thập dữ liệu từ nhiều nguồn khác nhau, chuyển đổi và gửi dữ liệu tới điểm đích mong muốn.</a:t>
            </a:r>
            <a:endParaRPr b="0" i="0" sz="942" u="none" cap="none" strike="noStrike">
              <a:solidFill>
                <a:schemeClr val="dk1"/>
              </a:solidFill>
              <a:latin typeface="Calibri"/>
              <a:ea typeface="Calibri"/>
              <a:cs typeface="Calibri"/>
              <a:sym typeface="Calibri"/>
            </a:endParaRPr>
          </a:p>
        </p:txBody>
      </p:sp>
      <p:sp>
        <p:nvSpPr>
          <p:cNvPr id="141" name="Google Shape;141;p7"/>
          <p:cNvSpPr/>
          <p:nvPr/>
        </p:nvSpPr>
        <p:spPr>
          <a:xfrm>
            <a:off x="285750" y="1888741"/>
            <a:ext cx="4143375" cy="41143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Với hơn 200 plugin, Logstash dễ dàng tải nhập dữ liệu từ bất kỳ nguồn dữ liệu hay thuộc loại dữ liệu nào.</a:t>
            </a:r>
            <a:endParaRPr b="0" i="0" sz="942" u="none" cap="none" strike="noStrike">
              <a:solidFill>
                <a:schemeClr val="dk1"/>
              </a:solidFill>
              <a:latin typeface="Calibri"/>
              <a:ea typeface="Calibri"/>
              <a:cs typeface="Calibri"/>
              <a:sym typeface="Calibri"/>
            </a:endParaRPr>
          </a:p>
        </p:txBody>
      </p:sp>
      <p:sp>
        <p:nvSpPr>
          <p:cNvPr id="142" name="Google Shape;142;p7"/>
          <p:cNvSpPr/>
          <p:nvPr/>
        </p:nvSpPr>
        <p:spPr>
          <a:xfrm>
            <a:off x="285750" y="2478770"/>
            <a:ext cx="4143375" cy="2714625"/>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428625" y="2621645"/>
            <a:ext cx="3857625"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Quy trình xử lý</a:t>
            </a:r>
            <a:endParaRPr b="0" i="0" sz="1350" u="none" cap="none" strike="noStrike">
              <a:solidFill>
                <a:schemeClr val="dk1"/>
              </a:solidFill>
              <a:latin typeface="Calibri"/>
              <a:ea typeface="Calibri"/>
              <a:cs typeface="Calibri"/>
              <a:sym typeface="Calibri"/>
            </a:endParaRPr>
          </a:p>
        </p:txBody>
      </p:sp>
      <p:sp>
        <p:nvSpPr>
          <p:cNvPr id="144" name="Google Shape;144;p7"/>
          <p:cNvSpPr/>
          <p:nvPr/>
        </p:nvSpPr>
        <p:spPr>
          <a:xfrm>
            <a:off x="428625" y="3068129"/>
            <a:ext cx="357188" cy="357188"/>
          </a:xfrm>
          <a:prstGeom prst="ellipse">
            <a:avLst/>
          </a:prstGeom>
          <a:solidFill>
            <a:srgbClr val="FFD7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5" name="Google Shape;145;p7"/>
          <p:cNvPicPr preferRelativeResize="0"/>
          <p:nvPr/>
        </p:nvPicPr>
        <p:blipFill rotWithShape="1">
          <a:blip r:embed="rId4">
            <a:alphaModFix/>
          </a:blip>
          <a:srcRect b="0" l="0" r="0" t="0"/>
          <a:stretch/>
        </p:blipFill>
        <p:spPr>
          <a:xfrm>
            <a:off x="532209" y="3160998"/>
            <a:ext cx="150019" cy="171450"/>
          </a:xfrm>
          <a:prstGeom prst="rect">
            <a:avLst/>
          </a:prstGeom>
          <a:noFill/>
          <a:ln>
            <a:noFill/>
          </a:ln>
        </p:spPr>
      </p:pic>
      <p:sp>
        <p:nvSpPr>
          <p:cNvPr id="146" name="Google Shape;146;p7"/>
          <p:cNvSpPr/>
          <p:nvPr/>
        </p:nvSpPr>
        <p:spPr>
          <a:xfrm>
            <a:off x="892969" y="2950257"/>
            <a:ext cx="3393281" cy="21431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6"/>
              <a:buFont typeface="Noto Sans"/>
              <a:buNone/>
            </a:pPr>
            <a:r>
              <a:rPr b="1" i="0" lang="en-US" sz="1046" u="none" cap="none" strike="noStrike">
                <a:solidFill>
                  <a:srgbClr val="FFFFFF"/>
                </a:solidFill>
                <a:latin typeface="Noto Sans"/>
                <a:ea typeface="Noto Sans"/>
                <a:cs typeface="Noto Sans"/>
                <a:sym typeface="Noto Sans"/>
              </a:rPr>
              <a:t>Đầu vào (Inputs)</a:t>
            </a:r>
            <a:endParaRPr b="0" i="0" sz="1046" u="none" cap="none" strike="noStrike">
              <a:solidFill>
                <a:schemeClr val="dk1"/>
              </a:solidFill>
              <a:latin typeface="Calibri"/>
              <a:ea typeface="Calibri"/>
              <a:cs typeface="Calibri"/>
              <a:sym typeface="Calibri"/>
            </a:endParaRPr>
          </a:p>
        </p:txBody>
      </p:sp>
      <p:sp>
        <p:nvSpPr>
          <p:cNvPr id="147" name="Google Shape;147;p7"/>
          <p:cNvSpPr/>
          <p:nvPr/>
        </p:nvSpPr>
        <p:spPr>
          <a:xfrm>
            <a:off x="892969" y="3200288"/>
            <a:ext cx="3393281"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Thu thập dữ liệu từ file, syslog, Redis, Beats và nhiều nguồn khác</a:t>
            </a:r>
            <a:endParaRPr b="0" i="0" sz="837" u="none" cap="none" strike="noStrike">
              <a:solidFill>
                <a:schemeClr val="dk1"/>
              </a:solidFill>
              <a:latin typeface="Calibri"/>
              <a:ea typeface="Calibri"/>
              <a:cs typeface="Calibri"/>
              <a:sym typeface="Calibri"/>
            </a:endParaRPr>
          </a:p>
        </p:txBody>
      </p:sp>
      <p:sp>
        <p:nvSpPr>
          <p:cNvPr id="148" name="Google Shape;148;p7"/>
          <p:cNvSpPr/>
          <p:nvPr/>
        </p:nvSpPr>
        <p:spPr>
          <a:xfrm>
            <a:off x="428625" y="3768217"/>
            <a:ext cx="357188" cy="357188"/>
          </a:xfrm>
          <a:prstGeom prst="ellipse">
            <a:avLst/>
          </a:prstGeom>
          <a:solidFill>
            <a:srgbClr val="FFD7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7"/>
          <p:cNvPicPr preferRelativeResize="0"/>
          <p:nvPr/>
        </p:nvPicPr>
        <p:blipFill rotWithShape="1">
          <a:blip r:embed="rId5">
            <a:alphaModFix/>
          </a:blip>
          <a:srcRect b="0" l="0" r="0" t="0"/>
          <a:stretch/>
        </p:blipFill>
        <p:spPr>
          <a:xfrm>
            <a:off x="521494" y="3861085"/>
            <a:ext cx="171450" cy="171450"/>
          </a:xfrm>
          <a:prstGeom prst="rect">
            <a:avLst/>
          </a:prstGeom>
          <a:noFill/>
          <a:ln>
            <a:noFill/>
          </a:ln>
        </p:spPr>
      </p:pic>
      <p:sp>
        <p:nvSpPr>
          <p:cNvPr id="150" name="Google Shape;150;p7"/>
          <p:cNvSpPr/>
          <p:nvPr/>
        </p:nvSpPr>
        <p:spPr>
          <a:xfrm>
            <a:off x="892969" y="3650345"/>
            <a:ext cx="3393281" cy="21431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6"/>
              <a:buFont typeface="Noto Sans"/>
              <a:buNone/>
            </a:pPr>
            <a:r>
              <a:rPr b="1" i="0" lang="en-US" sz="1046" u="none" cap="none" strike="noStrike">
                <a:solidFill>
                  <a:srgbClr val="FFFFFF"/>
                </a:solidFill>
                <a:latin typeface="Noto Sans"/>
                <a:ea typeface="Noto Sans"/>
                <a:cs typeface="Noto Sans"/>
                <a:sym typeface="Noto Sans"/>
              </a:rPr>
              <a:t>Bộ lọc (Filters)</a:t>
            </a:r>
            <a:endParaRPr b="0" i="0" sz="1046" u="none" cap="none" strike="noStrike">
              <a:solidFill>
                <a:schemeClr val="dk1"/>
              </a:solidFill>
              <a:latin typeface="Calibri"/>
              <a:ea typeface="Calibri"/>
              <a:cs typeface="Calibri"/>
              <a:sym typeface="Calibri"/>
            </a:endParaRPr>
          </a:p>
        </p:txBody>
      </p:sp>
      <p:sp>
        <p:nvSpPr>
          <p:cNvPr id="151" name="Google Shape;151;p7"/>
          <p:cNvSpPr/>
          <p:nvPr/>
        </p:nvSpPr>
        <p:spPr>
          <a:xfrm>
            <a:off x="892969" y="3900376"/>
            <a:ext cx="3393281"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Phân tích cú pháp, biến đổi dữ liệu với Grok, Mutate, Drop, Clone, Geoip</a:t>
            </a:r>
            <a:endParaRPr b="0" i="0" sz="837" u="none" cap="none" strike="noStrike">
              <a:solidFill>
                <a:schemeClr val="dk1"/>
              </a:solidFill>
              <a:latin typeface="Calibri"/>
              <a:ea typeface="Calibri"/>
              <a:cs typeface="Calibri"/>
              <a:sym typeface="Calibri"/>
            </a:endParaRPr>
          </a:p>
        </p:txBody>
      </p:sp>
      <p:sp>
        <p:nvSpPr>
          <p:cNvPr id="152" name="Google Shape;152;p7"/>
          <p:cNvSpPr/>
          <p:nvPr/>
        </p:nvSpPr>
        <p:spPr>
          <a:xfrm>
            <a:off x="428625" y="4468304"/>
            <a:ext cx="357188" cy="357188"/>
          </a:xfrm>
          <a:prstGeom prst="ellipse">
            <a:avLst/>
          </a:prstGeom>
          <a:solidFill>
            <a:srgbClr val="FFD7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7"/>
          <p:cNvPicPr preferRelativeResize="0"/>
          <p:nvPr/>
        </p:nvPicPr>
        <p:blipFill rotWithShape="1">
          <a:blip r:embed="rId6">
            <a:alphaModFix/>
          </a:blip>
          <a:srcRect b="0" l="0" r="0" t="0"/>
          <a:stretch/>
        </p:blipFill>
        <p:spPr>
          <a:xfrm>
            <a:off x="532209" y="4561173"/>
            <a:ext cx="150019" cy="171450"/>
          </a:xfrm>
          <a:prstGeom prst="rect">
            <a:avLst/>
          </a:prstGeom>
          <a:noFill/>
          <a:ln>
            <a:noFill/>
          </a:ln>
        </p:spPr>
      </p:pic>
      <p:sp>
        <p:nvSpPr>
          <p:cNvPr id="154" name="Google Shape;154;p7"/>
          <p:cNvSpPr/>
          <p:nvPr/>
        </p:nvSpPr>
        <p:spPr>
          <a:xfrm>
            <a:off x="892969" y="4350432"/>
            <a:ext cx="3393281" cy="21431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6"/>
              <a:buFont typeface="Noto Sans"/>
              <a:buNone/>
            </a:pPr>
            <a:r>
              <a:rPr b="1" i="0" lang="en-US" sz="1046" u="none" cap="none" strike="noStrike">
                <a:solidFill>
                  <a:srgbClr val="FFFFFF"/>
                </a:solidFill>
                <a:latin typeface="Noto Sans"/>
                <a:ea typeface="Noto Sans"/>
                <a:cs typeface="Noto Sans"/>
                <a:sym typeface="Noto Sans"/>
              </a:rPr>
              <a:t>Đầu ra (Outputs)</a:t>
            </a:r>
            <a:endParaRPr b="0" i="0" sz="1046" u="none" cap="none" strike="noStrike">
              <a:solidFill>
                <a:schemeClr val="dk1"/>
              </a:solidFill>
              <a:latin typeface="Calibri"/>
              <a:ea typeface="Calibri"/>
              <a:cs typeface="Calibri"/>
              <a:sym typeface="Calibri"/>
            </a:endParaRPr>
          </a:p>
        </p:txBody>
      </p:sp>
      <p:sp>
        <p:nvSpPr>
          <p:cNvPr id="155" name="Google Shape;155;p7"/>
          <p:cNvSpPr/>
          <p:nvPr/>
        </p:nvSpPr>
        <p:spPr>
          <a:xfrm>
            <a:off x="892969" y="4600463"/>
            <a:ext cx="3393281"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Gửi dữ liệu đến Elasticsearch, File, Graphite, StatSD và các đích khác</a:t>
            </a:r>
            <a:endParaRPr b="0" i="0" sz="837" u="none" cap="none" strike="noStrike">
              <a:solidFill>
                <a:schemeClr val="dk1"/>
              </a:solidFill>
              <a:latin typeface="Calibri"/>
              <a:ea typeface="Calibri"/>
              <a:cs typeface="Calibri"/>
              <a:sym typeface="Calibri"/>
            </a:endParaRPr>
          </a:p>
        </p:txBody>
      </p:sp>
      <p:pic>
        <p:nvPicPr>
          <p:cNvPr descr="preencoded.png" id="156" name="Google Shape;156;p7"/>
          <p:cNvPicPr preferRelativeResize="0"/>
          <p:nvPr/>
        </p:nvPicPr>
        <p:blipFill rotWithShape="1">
          <a:blip r:embed="rId7">
            <a:alphaModFix/>
          </a:blip>
          <a:srcRect b="0" l="0" r="0" t="0"/>
          <a:stretch/>
        </p:blipFill>
        <p:spPr>
          <a:xfrm>
            <a:off x="4929188" y="885825"/>
            <a:ext cx="3571875" cy="2056116"/>
          </a:xfrm>
          <a:prstGeom prst="rect">
            <a:avLst/>
          </a:prstGeom>
          <a:noFill/>
          <a:ln>
            <a:noFill/>
          </a:ln>
        </p:spPr>
      </p:pic>
      <p:sp>
        <p:nvSpPr>
          <p:cNvPr id="157" name="Google Shape;157;p7"/>
          <p:cNvSpPr/>
          <p:nvPr/>
        </p:nvSpPr>
        <p:spPr>
          <a:xfrm>
            <a:off x="4572000" y="3084816"/>
            <a:ext cx="428625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Đặc điểm nổi bật</a:t>
            </a:r>
            <a:endParaRPr b="0" i="0" sz="1350" u="none" cap="none" strike="noStrike">
              <a:solidFill>
                <a:schemeClr val="dk1"/>
              </a:solidFill>
              <a:latin typeface="Calibri"/>
              <a:ea typeface="Calibri"/>
              <a:cs typeface="Calibri"/>
              <a:sym typeface="Calibri"/>
            </a:endParaRPr>
          </a:p>
        </p:txBody>
      </p:sp>
      <p:sp>
        <p:nvSpPr>
          <p:cNvPr id="158" name="Google Shape;158;p7"/>
          <p:cNvSpPr/>
          <p:nvPr/>
        </p:nvSpPr>
        <p:spPr>
          <a:xfrm>
            <a:off x="4743450" y="3413429"/>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Mỗi đầu vào chạy trong một luồng riêng</a:t>
            </a:r>
            <a:endParaRPr b="0" i="0" sz="942" u="none" cap="none" strike="noStrike">
              <a:solidFill>
                <a:schemeClr val="dk1"/>
              </a:solidFill>
              <a:latin typeface="Calibri"/>
              <a:ea typeface="Calibri"/>
              <a:cs typeface="Calibri"/>
              <a:sym typeface="Calibri"/>
            </a:endParaRPr>
          </a:p>
        </p:txBody>
      </p:sp>
      <p:sp>
        <p:nvSpPr>
          <p:cNvPr id="159" name="Google Shape;159;p7"/>
          <p:cNvSpPr/>
          <p:nvPr/>
        </p:nvSpPr>
        <p:spPr>
          <a:xfrm>
            <a:off x="4743450" y="3619147"/>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Sự kiện được đưa vào hàng đợi trung tâm để xử lý</a:t>
            </a:r>
            <a:endParaRPr b="0" i="0" sz="942" u="none" cap="none" strike="noStrike">
              <a:solidFill>
                <a:schemeClr val="dk1"/>
              </a:solidFill>
              <a:latin typeface="Calibri"/>
              <a:ea typeface="Calibri"/>
              <a:cs typeface="Calibri"/>
              <a:sym typeface="Calibri"/>
            </a:endParaRPr>
          </a:p>
        </p:txBody>
      </p:sp>
      <p:sp>
        <p:nvSpPr>
          <p:cNvPr id="160" name="Google Shape;160;p7"/>
          <p:cNvSpPr/>
          <p:nvPr/>
        </p:nvSpPr>
        <p:spPr>
          <a:xfrm>
            <a:off x="4743450" y="3824864"/>
            <a:ext cx="4114800" cy="41143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Worker thread lấy sự kiện từ hàng đợi, chạy qua bộ lọc và gửi đến đầu ra</a:t>
            </a:r>
            <a:endParaRPr b="0" i="0" sz="942" u="none" cap="none" strike="noStrike">
              <a:solidFill>
                <a:schemeClr val="dk1"/>
              </a:solidFill>
              <a:latin typeface="Calibri"/>
              <a:ea typeface="Calibri"/>
              <a:cs typeface="Calibri"/>
              <a:sym typeface="Calibri"/>
            </a:endParaRPr>
          </a:p>
        </p:txBody>
      </p:sp>
      <p:sp>
        <p:nvSpPr>
          <p:cNvPr id="161" name="Google Shape;161;p7"/>
          <p:cNvSpPr/>
          <p:nvPr/>
        </p:nvSpPr>
        <p:spPr>
          <a:xfrm>
            <a:off x="4743450" y="4236300"/>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Hỗ trợ Elastic Common Schema (ECS) để chuẩn hóa dữ liệu</a:t>
            </a:r>
            <a:endParaRPr b="0" i="0" sz="942" u="none" cap="none" strike="noStrike">
              <a:solidFill>
                <a:schemeClr val="dk1"/>
              </a:solidFill>
              <a:latin typeface="Calibri"/>
              <a:ea typeface="Calibri"/>
              <a:cs typeface="Calibri"/>
              <a:sym typeface="Calibri"/>
            </a:endParaRPr>
          </a:p>
        </p:txBody>
      </p:sp>
      <p:sp>
        <p:nvSpPr>
          <p:cNvPr id="162" name="Google Shape;162;p7"/>
          <p:cNvSpPr/>
          <p:nvPr/>
        </p:nvSpPr>
        <p:spPr>
          <a:xfrm>
            <a:off x="4743450" y="4442017"/>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Khả năng mở rộng cao với nhiều instance để cân bằng tải</a:t>
            </a:r>
            <a:endParaRPr b="0" i="0" sz="942" u="none" cap="none" strike="noStrike">
              <a:solidFill>
                <a:schemeClr val="dk1"/>
              </a:solidFill>
              <a:latin typeface="Calibri"/>
              <a:ea typeface="Calibri"/>
              <a:cs typeface="Calibri"/>
              <a:sym typeface="Calibri"/>
            </a:endParaRPr>
          </a:p>
        </p:txBody>
      </p:sp>
      <p:sp>
        <p:nvSpPr>
          <p:cNvPr id="163" name="Google Shape;163;p7"/>
          <p:cNvSpPr/>
          <p:nvPr/>
        </p:nvSpPr>
        <p:spPr>
          <a:xfrm>
            <a:off x="4572000" y="4826329"/>
            <a:ext cx="428625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Ứng dụng</a:t>
            </a:r>
            <a:endParaRPr b="0" i="0" sz="1350" u="none" cap="none" strike="noStrike">
              <a:solidFill>
                <a:schemeClr val="dk1"/>
              </a:solidFill>
              <a:latin typeface="Calibri"/>
              <a:ea typeface="Calibri"/>
              <a:cs typeface="Calibri"/>
              <a:sym typeface="Calibri"/>
            </a:endParaRPr>
          </a:p>
        </p:txBody>
      </p:sp>
      <p:sp>
        <p:nvSpPr>
          <p:cNvPr id="164" name="Google Shape;164;p7"/>
          <p:cNvSpPr/>
          <p:nvPr/>
        </p:nvSpPr>
        <p:spPr>
          <a:xfrm>
            <a:off x="4743450" y="5154941"/>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Thu thập log từ nhiều nguồn khác nhau</a:t>
            </a:r>
            <a:endParaRPr b="0" i="0" sz="942" u="none" cap="none" strike="noStrike">
              <a:solidFill>
                <a:schemeClr val="dk1"/>
              </a:solidFill>
              <a:latin typeface="Calibri"/>
              <a:ea typeface="Calibri"/>
              <a:cs typeface="Calibri"/>
              <a:sym typeface="Calibri"/>
            </a:endParaRPr>
          </a:p>
        </p:txBody>
      </p:sp>
      <p:sp>
        <p:nvSpPr>
          <p:cNvPr id="165" name="Google Shape;165;p7"/>
          <p:cNvSpPr/>
          <p:nvPr/>
        </p:nvSpPr>
        <p:spPr>
          <a:xfrm>
            <a:off x="4743450" y="5360659"/>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Chuẩn hóa định dạng log</a:t>
            </a:r>
            <a:endParaRPr b="0" i="0" sz="942" u="none" cap="none" strike="noStrike">
              <a:solidFill>
                <a:schemeClr val="dk1"/>
              </a:solidFill>
              <a:latin typeface="Calibri"/>
              <a:ea typeface="Calibri"/>
              <a:cs typeface="Calibri"/>
              <a:sym typeface="Calibri"/>
            </a:endParaRPr>
          </a:p>
        </p:txBody>
      </p:sp>
      <p:sp>
        <p:nvSpPr>
          <p:cNvPr id="166" name="Google Shape;166;p7"/>
          <p:cNvSpPr/>
          <p:nvPr/>
        </p:nvSpPr>
        <p:spPr>
          <a:xfrm>
            <a:off x="4743450" y="5566377"/>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Làm giàu dữ liệu với thông tin bổ sung (địa lý, thời gian)</a:t>
            </a:r>
            <a:endParaRPr b="0" i="0" sz="942" u="none" cap="none" strike="noStrike">
              <a:solidFill>
                <a:schemeClr val="dk1"/>
              </a:solidFill>
              <a:latin typeface="Calibri"/>
              <a:ea typeface="Calibri"/>
              <a:cs typeface="Calibri"/>
              <a:sym typeface="Calibri"/>
            </a:endParaRPr>
          </a:p>
        </p:txBody>
      </p:sp>
      <p:sp>
        <p:nvSpPr>
          <p:cNvPr id="167" name="Google Shape;167;p7"/>
          <p:cNvSpPr/>
          <p:nvPr/>
        </p:nvSpPr>
        <p:spPr>
          <a:xfrm>
            <a:off x="4743450" y="5772094"/>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Lọc và phân loại sự kiện theo mức độ nghiêm trọng</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preencoded.png" id="173" name="Google Shape;173;p8"/>
          <p:cNvPicPr preferRelativeResize="0"/>
          <p:nvPr/>
        </p:nvPicPr>
        <p:blipFill rotWithShape="1">
          <a:blip r:embed="rId3">
            <a:alphaModFix/>
          </a:blip>
          <a:srcRect b="0" l="0" r="0" t="0"/>
          <a:stretch/>
        </p:blipFill>
        <p:spPr>
          <a:xfrm>
            <a:off x="0" y="0"/>
            <a:ext cx="9144000" cy="5530379"/>
          </a:xfrm>
          <a:prstGeom prst="rect">
            <a:avLst/>
          </a:prstGeom>
          <a:noFill/>
          <a:ln>
            <a:noFill/>
          </a:ln>
        </p:spPr>
      </p:pic>
      <p:sp>
        <p:nvSpPr>
          <p:cNvPr id="174" name="Google Shape;174;p8"/>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KIBANA</a:t>
            </a:r>
            <a:endParaRPr b="0" i="0" sz="2025" u="none" cap="none" strike="noStrike">
              <a:solidFill>
                <a:schemeClr val="dk1"/>
              </a:solidFill>
              <a:latin typeface="Calibri"/>
              <a:ea typeface="Calibri"/>
              <a:cs typeface="Calibri"/>
              <a:sym typeface="Calibri"/>
            </a:endParaRPr>
          </a:p>
        </p:txBody>
      </p:sp>
      <p:sp>
        <p:nvSpPr>
          <p:cNvPr id="175" name="Google Shape;175;p8"/>
          <p:cNvSpPr/>
          <p:nvPr/>
        </p:nvSpPr>
        <p:spPr>
          <a:xfrm>
            <a:off x="285750" y="885825"/>
            <a:ext cx="371475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Giới thiệu</a:t>
            </a:r>
            <a:endParaRPr b="0" i="0" sz="1350" u="none" cap="none" strike="noStrike">
              <a:solidFill>
                <a:schemeClr val="dk1"/>
              </a:solidFill>
              <a:latin typeface="Calibri"/>
              <a:ea typeface="Calibri"/>
              <a:cs typeface="Calibri"/>
              <a:sym typeface="Calibri"/>
            </a:endParaRPr>
          </a:p>
        </p:txBody>
      </p:sp>
      <p:sp>
        <p:nvSpPr>
          <p:cNvPr id="176" name="Google Shape;176;p8"/>
          <p:cNvSpPr/>
          <p:nvPr/>
        </p:nvSpPr>
        <p:spPr>
          <a:xfrm>
            <a:off x="285750" y="1214438"/>
            <a:ext cx="3714750" cy="61715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Kibana là công cụ hiển thị trực quan và khám phá dữ liệu trong ELK Stack, cho phép người dùng tìm kiếm, phân tích và trực quan hóa dữ liệu được lưu trữ trong Elasticsearch. </a:t>
            </a:r>
            <a:endParaRPr b="0" i="0" sz="942" u="none" cap="none" strike="noStrike">
              <a:solidFill>
                <a:schemeClr val="dk1"/>
              </a:solidFill>
              <a:latin typeface="Calibri"/>
              <a:ea typeface="Calibri"/>
              <a:cs typeface="Calibri"/>
              <a:sym typeface="Calibri"/>
            </a:endParaRPr>
          </a:p>
        </p:txBody>
      </p:sp>
      <p:sp>
        <p:nvSpPr>
          <p:cNvPr id="177" name="Google Shape;177;p8"/>
          <p:cNvSpPr/>
          <p:nvPr/>
        </p:nvSpPr>
        <p:spPr>
          <a:xfrm>
            <a:off x="285750" y="2010184"/>
            <a:ext cx="371475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Tính năng chính</a:t>
            </a:r>
            <a:endParaRPr b="0" i="0" sz="1350" u="none" cap="none" strike="noStrike">
              <a:solidFill>
                <a:schemeClr val="dk1"/>
              </a:solidFill>
              <a:latin typeface="Calibri"/>
              <a:ea typeface="Calibri"/>
              <a:cs typeface="Calibri"/>
              <a:sym typeface="Calibri"/>
            </a:endParaRPr>
          </a:p>
        </p:txBody>
      </p:sp>
      <p:pic>
        <p:nvPicPr>
          <p:cNvPr descr="preencoded.png" id="178" name="Google Shape;178;p8"/>
          <p:cNvPicPr preferRelativeResize="0"/>
          <p:nvPr/>
        </p:nvPicPr>
        <p:blipFill rotWithShape="1">
          <a:blip r:embed="rId4">
            <a:alphaModFix/>
          </a:blip>
          <a:srcRect b="0" l="0" r="0" t="0"/>
          <a:stretch/>
        </p:blipFill>
        <p:spPr>
          <a:xfrm>
            <a:off x="285750" y="2431666"/>
            <a:ext cx="142875" cy="142875"/>
          </a:xfrm>
          <a:prstGeom prst="rect">
            <a:avLst/>
          </a:prstGeom>
          <a:noFill/>
          <a:ln>
            <a:noFill/>
          </a:ln>
        </p:spPr>
      </p:pic>
      <p:sp>
        <p:nvSpPr>
          <p:cNvPr id="179" name="Google Shape;179;p8"/>
          <p:cNvSpPr/>
          <p:nvPr/>
        </p:nvSpPr>
        <p:spPr>
          <a:xfrm>
            <a:off x="500063" y="2388803"/>
            <a:ext cx="140779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Tìm kiếm và quan sát:</a:t>
            </a:r>
            <a:endParaRPr b="0" i="0" sz="942" u="none" cap="none" strike="noStrike">
              <a:solidFill>
                <a:schemeClr val="dk1"/>
              </a:solidFill>
              <a:latin typeface="Calibri"/>
              <a:ea typeface="Calibri"/>
              <a:cs typeface="Calibri"/>
              <a:sym typeface="Calibri"/>
            </a:endParaRPr>
          </a:p>
        </p:txBody>
      </p:sp>
      <p:sp>
        <p:nvSpPr>
          <p:cNvPr id="180" name="Google Shape;180;p8"/>
          <p:cNvSpPr/>
          <p:nvPr/>
        </p:nvSpPr>
        <p:spPr>
          <a:xfrm>
            <a:off x="1907856" y="2388803"/>
            <a:ext cx="1893457"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Cung cấp trải nghiệm tìm kiếm </a:t>
            </a:r>
            <a:endParaRPr b="0" i="0" sz="942" u="none" cap="none" strike="noStrike">
              <a:solidFill>
                <a:schemeClr val="dk1"/>
              </a:solidFill>
              <a:latin typeface="Calibri"/>
              <a:ea typeface="Calibri"/>
              <a:cs typeface="Calibri"/>
              <a:sym typeface="Calibri"/>
            </a:endParaRPr>
          </a:p>
        </p:txBody>
      </p:sp>
      <p:sp>
        <p:nvSpPr>
          <p:cNvPr id="181" name="Google Shape;181;p8"/>
          <p:cNvSpPr/>
          <p:nvPr/>
        </p:nvSpPr>
        <p:spPr>
          <a:xfrm>
            <a:off x="500063" y="2594521"/>
            <a:ext cx="327270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mạnh mẽ cho ứng dụng, môi trường làm việc và trang </a:t>
            </a:r>
            <a:endParaRPr b="0" i="0" sz="942" u="none" cap="none" strike="noStrike">
              <a:solidFill>
                <a:schemeClr val="dk1"/>
              </a:solidFill>
              <a:latin typeface="Calibri"/>
              <a:ea typeface="Calibri"/>
              <a:cs typeface="Calibri"/>
              <a:sym typeface="Calibri"/>
            </a:endParaRPr>
          </a:p>
        </p:txBody>
      </p:sp>
      <p:sp>
        <p:nvSpPr>
          <p:cNvPr id="182" name="Google Shape;182;p8"/>
          <p:cNvSpPr/>
          <p:nvPr/>
        </p:nvSpPr>
        <p:spPr>
          <a:xfrm>
            <a:off x="500063" y="2800238"/>
            <a:ext cx="28714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web.</a:t>
            </a:r>
            <a:endParaRPr b="0" i="0" sz="942" u="none" cap="none" strike="noStrike">
              <a:solidFill>
                <a:schemeClr val="dk1"/>
              </a:solidFill>
              <a:latin typeface="Calibri"/>
              <a:ea typeface="Calibri"/>
              <a:cs typeface="Calibri"/>
              <a:sym typeface="Calibri"/>
            </a:endParaRPr>
          </a:p>
        </p:txBody>
      </p:sp>
      <p:pic>
        <p:nvPicPr>
          <p:cNvPr descr="preencoded.png" id="183" name="Google Shape;183;p8"/>
          <p:cNvPicPr preferRelativeResize="0"/>
          <p:nvPr/>
        </p:nvPicPr>
        <p:blipFill rotWithShape="1">
          <a:blip r:embed="rId5">
            <a:alphaModFix/>
          </a:blip>
          <a:srcRect b="0" l="0" r="0" t="0"/>
          <a:stretch/>
        </p:blipFill>
        <p:spPr>
          <a:xfrm>
            <a:off x="285750" y="3155975"/>
            <a:ext cx="142875" cy="142875"/>
          </a:xfrm>
          <a:prstGeom prst="rect">
            <a:avLst/>
          </a:prstGeom>
          <a:noFill/>
          <a:ln>
            <a:noFill/>
          </a:ln>
        </p:spPr>
      </p:pic>
      <p:sp>
        <p:nvSpPr>
          <p:cNvPr id="184" name="Google Shape;184;p8"/>
          <p:cNvSpPr/>
          <p:nvPr/>
        </p:nvSpPr>
        <p:spPr>
          <a:xfrm>
            <a:off x="500063" y="3113112"/>
            <a:ext cx="1127987"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Phân tích dữ liệu:</a:t>
            </a:r>
            <a:endParaRPr b="0" i="0" sz="942" u="none" cap="none" strike="noStrike">
              <a:solidFill>
                <a:schemeClr val="dk1"/>
              </a:solidFill>
              <a:latin typeface="Calibri"/>
              <a:ea typeface="Calibri"/>
              <a:cs typeface="Calibri"/>
              <a:sym typeface="Calibri"/>
            </a:endParaRPr>
          </a:p>
        </p:txBody>
      </p:sp>
      <p:sp>
        <p:nvSpPr>
          <p:cNvPr id="185" name="Google Shape;185;p8"/>
          <p:cNvSpPr/>
          <p:nvPr/>
        </p:nvSpPr>
        <p:spPr>
          <a:xfrm>
            <a:off x="1628049" y="3113112"/>
            <a:ext cx="234700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Tìm kiếm, khám phá và tạo biểu đồ dữ </a:t>
            </a:r>
            <a:endParaRPr b="0" i="0" sz="942" u="none" cap="none" strike="noStrike">
              <a:solidFill>
                <a:schemeClr val="dk1"/>
              </a:solidFill>
              <a:latin typeface="Calibri"/>
              <a:ea typeface="Calibri"/>
              <a:cs typeface="Calibri"/>
              <a:sym typeface="Calibri"/>
            </a:endParaRPr>
          </a:p>
        </p:txBody>
      </p:sp>
      <p:sp>
        <p:nvSpPr>
          <p:cNvPr id="186" name="Google Shape;186;p8"/>
          <p:cNvSpPr/>
          <p:nvPr/>
        </p:nvSpPr>
        <p:spPr>
          <a:xfrm>
            <a:off x="500063" y="3318830"/>
            <a:ext cx="237990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liệu một cách linh hoạt từ nhiều nguồn.</a:t>
            </a:r>
            <a:endParaRPr b="0" i="0" sz="942" u="none" cap="none" strike="noStrike">
              <a:solidFill>
                <a:schemeClr val="dk1"/>
              </a:solidFill>
              <a:latin typeface="Calibri"/>
              <a:ea typeface="Calibri"/>
              <a:cs typeface="Calibri"/>
              <a:sym typeface="Calibri"/>
            </a:endParaRPr>
          </a:p>
        </p:txBody>
      </p:sp>
      <p:pic>
        <p:nvPicPr>
          <p:cNvPr descr="preencoded.png" id="187" name="Google Shape;187;p8"/>
          <p:cNvPicPr preferRelativeResize="0"/>
          <p:nvPr/>
        </p:nvPicPr>
        <p:blipFill rotWithShape="1">
          <a:blip r:embed="rId6">
            <a:alphaModFix/>
          </a:blip>
          <a:srcRect b="0" l="0" r="0" t="0"/>
          <a:stretch/>
        </p:blipFill>
        <p:spPr>
          <a:xfrm>
            <a:off x="285750" y="3674566"/>
            <a:ext cx="160734" cy="142875"/>
          </a:xfrm>
          <a:prstGeom prst="rect">
            <a:avLst/>
          </a:prstGeom>
          <a:noFill/>
          <a:ln>
            <a:noFill/>
          </a:ln>
        </p:spPr>
      </p:pic>
      <p:sp>
        <p:nvSpPr>
          <p:cNvPr id="188" name="Google Shape;188;p8"/>
          <p:cNvSpPr/>
          <p:nvPr/>
        </p:nvSpPr>
        <p:spPr>
          <a:xfrm>
            <a:off x="517922" y="3631704"/>
            <a:ext cx="96351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Trực quan hóa:</a:t>
            </a:r>
            <a:endParaRPr b="0" i="0" sz="942" u="none" cap="none" strike="noStrike">
              <a:solidFill>
                <a:schemeClr val="dk1"/>
              </a:solidFill>
              <a:latin typeface="Calibri"/>
              <a:ea typeface="Calibri"/>
              <a:cs typeface="Calibri"/>
              <a:sym typeface="Calibri"/>
            </a:endParaRPr>
          </a:p>
        </p:txBody>
      </p:sp>
      <p:sp>
        <p:nvSpPr>
          <p:cNvPr id="189" name="Google Shape;189;p8"/>
          <p:cNvSpPr/>
          <p:nvPr/>
        </p:nvSpPr>
        <p:spPr>
          <a:xfrm>
            <a:off x="1481435" y="3631704"/>
            <a:ext cx="232372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Tạo biểu đồ, bảng, chỉ số và nhiều loại </a:t>
            </a:r>
            <a:endParaRPr b="0" i="0" sz="942" u="none" cap="none" strike="noStrike">
              <a:solidFill>
                <a:schemeClr val="dk1"/>
              </a:solidFill>
              <a:latin typeface="Calibri"/>
              <a:ea typeface="Calibri"/>
              <a:cs typeface="Calibri"/>
              <a:sym typeface="Calibri"/>
            </a:endParaRPr>
          </a:p>
        </p:txBody>
      </p:sp>
      <p:sp>
        <p:nvSpPr>
          <p:cNvPr id="190" name="Google Shape;190;p8"/>
          <p:cNvSpPr/>
          <p:nvPr/>
        </p:nvSpPr>
        <p:spPr>
          <a:xfrm>
            <a:off x="517922" y="3837422"/>
            <a:ext cx="165520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trực quan hóa dữ liệu khác.</a:t>
            </a:r>
            <a:endParaRPr b="0" i="0" sz="942" u="none" cap="none" strike="noStrike">
              <a:solidFill>
                <a:schemeClr val="dk1"/>
              </a:solidFill>
              <a:latin typeface="Calibri"/>
              <a:ea typeface="Calibri"/>
              <a:cs typeface="Calibri"/>
              <a:sym typeface="Calibri"/>
            </a:endParaRPr>
          </a:p>
        </p:txBody>
      </p:sp>
      <p:pic>
        <p:nvPicPr>
          <p:cNvPr descr="preencoded.png" id="191" name="Google Shape;191;p8"/>
          <p:cNvPicPr preferRelativeResize="0"/>
          <p:nvPr/>
        </p:nvPicPr>
        <p:blipFill rotWithShape="1">
          <a:blip r:embed="rId7">
            <a:alphaModFix/>
          </a:blip>
          <a:srcRect b="0" l="0" r="0" t="0"/>
          <a:stretch/>
        </p:blipFill>
        <p:spPr>
          <a:xfrm>
            <a:off x="285750" y="4193158"/>
            <a:ext cx="125016" cy="142875"/>
          </a:xfrm>
          <a:prstGeom prst="rect">
            <a:avLst/>
          </a:prstGeom>
          <a:noFill/>
          <a:ln>
            <a:noFill/>
          </a:ln>
        </p:spPr>
      </p:pic>
      <p:sp>
        <p:nvSpPr>
          <p:cNvPr id="192" name="Google Shape;192;p8"/>
          <p:cNvSpPr/>
          <p:nvPr/>
        </p:nvSpPr>
        <p:spPr>
          <a:xfrm>
            <a:off x="482203" y="4150296"/>
            <a:ext cx="63730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Cảnh báo:</a:t>
            </a:r>
            <a:endParaRPr b="0" i="0" sz="942" u="none" cap="none" strike="noStrike">
              <a:solidFill>
                <a:schemeClr val="dk1"/>
              </a:solidFill>
              <a:latin typeface="Calibri"/>
              <a:ea typeface="Calibri"/>
              <a:cs typeface="Calibri"/>
              <a:sym typeface="Calibri"/>
            </a:endParaRPr>
          </a:p>
        </p:txBody>
      </p:sp>
      <p:sp>
        <p:nvSpPr>
          <p:cNvPr id="193" name="Google Shape;193;p8"/>
          <p:cNvSpPr/>
          <p:nvPr/>
        </p:nvSpPr>
        <p:spPr>
          <a:xfrm>
            <a:off x="1119504" y="4150296"/>
            <a:ext cx="2681976"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Thiết lập cảnh báo dựa trên ngưỡng và điều </a:t>
            </a:r>
            <a:endParaRPr b="0" i="0" sz="942" u="none" cap="none" strike="noStrike">
              <a:solidFill>
                <a:schemeClr val="dk1"/>
              </a:solidFill>
              <a:latin typeface="Calibri"/>
              <a:ea typeface="Calibri"/>
              <a:cs typeface="Calibri"/>
              <a:sym typeface="Calibri"/>
            </a:endParaRPr>
          </a:p>
        </p:txBody>
      </p:sp>
      <p:sp>
        <p:nvSpPr>
          <p:cNvPr id="194" name="Google Shape;194;p8"/>
          <p:cNvSpPr/>
          <p:nvPr/>
        </p:nvSpPr>
        <p:spPr>
          <a:xfrm>
            <a:off x="482203" y="4356013"/>
            <a:ext cx="1670884"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kiện được định nghĩa trước.</a:t>
            </a:r>
            <a:endParaRPr b="0" i="0" sz="942" u="none" cap="none" strike="noStrike">
              <a:solidFill>
                <a:schemeClr val="dk1"/>
              </a:solidFill>
              <a:latin typeface="Calibri"/>
              <a:ea typeface="Calibri"/>
              <a:cs typeface="Calibri"/>
              <a:sym typeface="Calibri"/>
            </a:endParaRPr>
          </a:p>
        </p:txBody>
      </p:sp>
      <p:pic>
        <p:nvPicPr>
          <p:cNvPr descr="preencoded.png" id="195" name="Google Shape;195;p8"/>
          <p:cNvPicPr preferRelativeResize="0"/>
          <p:nvPr/>
        </p:nvPicPr>
        <p:blipFill rotWithShape="1">
          <a:blip r:embed="rId8">
            <a:alphaModFix/>
          </a:blip>
          <a:srcRect b="0" l="0" r="0" t="0"/>
          <a:stretch/>
        </p:blipFill>
        <p:spPr>
          <a:xfrm>
            <a:off x="285750" y="4711750"/>
            <a:ext cx="160734" cy="142875"/>
          </a:xfrm>
          <a:prstGeom prst="rect">
            <a:avLst/>
          </a:prstGeom>
          <a:noFill/>
          <a:ln>
            <a:noFill/>
          </a:ln>
        </p:spPr>
      </p:pic>
      <p:sp>
        <p:nvSpPr>
          <p:cNvPr id="196" name="Google Shape;196;p8"/>
          <p:cNvSpPr/>
          <p:nvPr/>
        </p:nvSpPr>
        <p:spPr>
          <a:xfrm>
            <a:off x="517922" y="4668887"/>
            <a:ext cx="73374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Dashboard:</a:t>
            </a:r>
            <a:endParaRPr b="0" i="0" sz="942" u="none" cap="none" strike="noStrike">
              <a:solidFill>
                <a:schemeClr val="dk1"/>
              </a:solidFill>
              <a:latin typeface="Calibri"/>
              <a:ea typeface="Calibri"/>
              <a:cs typeface="Calibri"/>
              <a:sym typeface="Calibri"/>
            </a:endParaRPr>
          </a:p>
        </p:txBody>
      </p:sp>
      <p:sp>
        <p:nvSpPr>
          <p:cNvPr id="197" name="Google Shape;197;p8"/>
          <p:cNvSpPr/>
          <p:nvPr/>
        </p:nvSpPr>
        <p:spPr>
          <a:xfrm>
            <a:off x="1251663" y="4668887"/>
            <a:ext cx="256251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Tạo bảng điều khiển tùy chỉnh để theo dõi </a:t>
            </a:r>
            <a:endParaRPr b="0" i="0" sz="942" u="none" cap="none" strike="noStrike">
              <a:solidFill>
                <a:schemeClr val="dk1"/>
              </a:solidFill>
              <a:latin typeface="Calibri"/>
              <a:ea typeface="Calibri"/>
              <a:cs typeface="Calibri"/>
              <a:sym typeface="Calibri"/>
            </a:endParaRPr>
          </a:p>
        </p:txBody>
      </p:sp>
      <p:sp>
        <p:nvSpPr>
          <p:cNvPr id="198" name="Google Shape;198;p8"/>
          <p:cNvSpPr/>
          <p:nvPr/>
        </p:nvSpPr>
        <p:spPr>
          <a:xfrm>
            <a:off x="517922" y="4874605"/>
            <a:ext cx="132098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các chỉ số quan trọng.</a:t>
            </a:r>
            <a:endParaRPr b="0" i="0" sz="942" u="none" cap="none" strike="noStrike">
              <a:solidFill>
                <a:schemeClr val="dk1"/>
              </a:solidFill>
              <a:latin typeface="Calibri"/>
              <a:ea typeface="Calibri"/>
              <a:cs typeface="Calibri"/>
              <a:sym typeface="Calibri"/>
            </a:endParaRPr>
          </a:p>
        </p:txBody>
      </p:sp>
      <p:sp>
        <p:nvSpPr>
          <p:cNvPr id="199" name="Google Shape;199;p8"/>
          <p:cNvSpPr/>
          <p:nvPr/>
        </p:nvSpPr>
        <p:spPr>
          <a:xfrm>
            <a:off x="4572000" y="1047173"/>
            <a:ext cx="4286250" cy="2357410"/>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8"/>
          <p:cNvPicPr preferRelativeResize="0"/>
          <p:nvPr/>
        </p:nvPicPr>
        <p:blipFill rotWithShape="1">
          <a:blip r:embed="rId9">
            <a:alphaModFix/>
          </a:blip>
          <a:srcRect b="0" l="0" r="0" t="0"/>
          <a:stretch/>
        </p:blipFill>
        <p:spPr>
          <a:xfrm>
            <a:off x="5572516" y="1154330"/>
            <a:ext cx="2285219" cy="2143097"/>
          </a:xfrm>
          <a:prstGeom prst="rect">
            <a:avLst/>
          </a:prstGeom>
          <a:noFill/>
          <a:ln>
            <a:noFill/>
          </a:ln>
        </p:spPr>
      </p:pic>
      <p:sp>
        <p:nvSpPr>
          <p:cNvPr id="201" name="Google Shape;201;p8"/>
          <p:cNvSpPr/>
          <p:nvPr/>
        </p:nvSpPr>
        <p:spPr>
          <a:xfrm>
            <a:off x="4572000" y="3547458"/>
            <a:ext cx="428625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Ứng dụng trong bảo mật</a:t>
            </a:r>
            <a:endParaRPr b="0" i="0" sz="1350" u="none" cap="none" strike="noStrike">
              <a:solidFill>
                <a:schemeClr val="dk1"/>
              </a:solidFill>
              <a:latin typeface="Calibri"/>
              <a:ea typeface="Calibri"/>
              <a:cs typeface="Calibri"/>
              <a:sym typeface="Calibri"/>
            </a:endParaRPr>
          </a:p>
        </p:txBody>
      </p:sp>
      <p:sp>
        <p:nvSpPr>
          <p:cNvPr id="202" name="Google Shape;202;p8"/>
          <p:cNvSpPr/>
          <p:nvPr/>
        </p:nvSpPr>
        <p:spPr>
          <a:xfrm>
            <a:off x="4743450" y="3876070"/>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Hiển thị trực quan các sự kiện bảo mật và mối đe dọa</a:t>
            </a:r>
            <a:endParaRPr b="0" i="0" sz="942" u="none" cap="none" strike="noStrike">
              <a:solidFill>
                <a:schemeClr val="dk1"/>
              </a:solidFill>
              <a:latin typeface="Calibri"/>
              <a:ea typeface="Calibri"/>
              <a:cs typeface="Calibri"/>
              <a:sym typeface="Calibri"/>
            </a:endParaRPr>
          </a:p>
        </p:txBody>
      </p:sp>
      <p:sp>
        <p:nvSpPr>
          <p:cNvPr id="203" name="Google Shape;203;p8"/>
          <p:cNvSpPr/>
          <p:nvPr/>
        </p:nvSpPr>
        <p:spPr>
          <a:xfrm>
            <a:off x="4743450" y="4081788"/>
            <a:ext cx="4114800" cy="41143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Tạo dashboard giám sát thời gian thực cho SOC (Security Operation Center)</a:t>
            </a:r>
            <a:endParaRPr b="0" i="0" sz="942" u="none" cap="none" strike="noStrike">
              <a:solidFill>
                <a:schemeClr val="dk1"/>
              </a:solidFill>
              <a:latin typeface="Calibri"/>
              <a:ea typeface="Calibri"/>
              <a:cs typeface="Calibri"/>
              <a:sym typeface="Calibri"/>
            </a:endParaRPr>
          </a:p>
        </p:txBody>
      </p:sp>
      <p:sp>
        <p:nvSpPr>
          <p:cNvPr id="204" name="Google Shape;204;p8"/>
          <p:cNvSpPr/>
          <p:nvPr/>
        </p:nvSpPr>
        <p:spPr>
          <a:xfrm>
            <a:off x="4743450" y="4493223"/>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Phân tích xu hướng và mẫu trong dữ liệu log bảo mật</a:t>
            </a:r>
            <a:endParaRPr b="0" i="0" sz="942" u="none" cap="none" strike="noStrike">
              <a:solidFill>
                <a:schemeClr val="dk1"/>
              </a:solidFill>
              <a:latin typeface="Calibri"/>
              <a:ea typeface="Calibri"/>
              <a:cs typeface="Calibri"/>
              <a:sym typeface="Calibri"/>
            </a:endParaRPr>
          </a:p>
        </p:txBody>
      </p:sp>
      <p:sp>
        <p:nvSpPr>
          <p:cNvPr id="205" name="Google Shape;205;p8"/>
          <p:cNvSpPr/>
          <p:nvPr/>
        </p:nvSpPr>
        <p:spPr>
          <a:xfrm>
            <a:off x="4743450" y="4698941"/>
            <a:ext cx="41148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Tạo báo cáo tuân thủ và điều tra sự cố</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descr="preencoded.png" id="211" name="Google Shape;211;p9"/>
          <p:cNvPicPr preferRelativeResize="0"/>
          <p:nvPr/>
        </p:nvPicPr>
        <p:blipFill rotWithShape="1">
          <a:blip r:embed="rId3">
            <a:alphaModFix/>
          </a:blip>
          <a:srcRect b="0" l="0" r="0" t="0"/>
          <a:stretch/>
        </p:blipFill>
        <p:spPr>
          <a:xfrm>
            <a:off x="0" y="0"/>
            <a:ext cx="9144000" cy="5257772"/>
          </a:xfrm>
          <a:prstGeom prst="rect">
            <a:avLst/>
          </a:prstGeom>
          <a:noFill/>
          <a:ln>
            <a:noFill/>
          </a:ln>
        </p:spPr>
      </p:pic>
      <p:sp>
        <p:nvSpPr>
          <p:cNvPr id="212" name="Google Shape;212;p9"/>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KIẾN TRÚC DÒNG CHẢY DỮ LIỆU TRONG ELK</a:t>
            </a:r>
            <a:endParaRPr b="0" i="0" sz="2025" u="none" cap="none" strike="noStrike">
              <a:solidFill>
                <a:schemeClr val="dk1"/>
              </a:solidFill>
              <a:latin typeface="Calibri"/>
              <a:ea typeface="Calibri"/>
              <a:cs typeface="Calibri"/>
              <a:sym typeface="Calibri"/>
            </a:endParaRPr>
          </a:p>
        </p:txBody>
      </p:sp>
      <p:pic>
        <p:nvPicPr>
          <p:cNvPr descr="preencoded.png" id="213" name="Google Shape;213;p9"/>
          <p:cNvPicPr preferRelativeResize="0"/>
          <p:nvPr/>
        </p:nvPicPr>
        <p:blipFill rotWithShape="1">
          <a:blip r:embed="rId4">
            <a:alphaModFix/>
          </a:blip>
          <a:srcRect b="0" l="0" r="0" t="0"/>
          <a:stretch/>
        </p:blipFill>
        <p:spPr>
          <a:xfrm>
            <a:off x="2142372" y="814388"/>
            <a:ext cx="4859257" cy="1785910"/>
          </a:xfrm>
          <a:prstGeom prst="rect">
            <a:avLst/>
          </a:prstGeom>
          <a:noFill/>
          <a:ln>
            <a:noFill/>
          </a:ln>
        </p:spPr>
      </p:pic>
      <p:sp>
        <p:nvSpPr>
          <p:cNvPr id="214" name="Google Shape;214;p9"/>
          <p:cNvSpPr/>
          <p:nvPr/>
        </p:nvSpPr>
        <p:spPr>
          <a:xfrm>
            <a:off x="285750" y="2743172"/>
            <a:ext cx="8572500" cy="235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238"/>
              <a:buFont typeface="Noto Sans"/>
              <a:buNone/>
            </a:pPr>
            <a:r>
              <a:rPr b="1" i="0" lang="en-US" sz="1238" u="none" cap="none" strike="noStrike">
                <a:solidFill>
                  <a:srgbClr val="FFD700"/>
                </a:solidFill>
                <a:latin typeface="Noto Sans"/>
                <a:ea typeface="Noto Sans"/>
                <a:cs typeface="Noto Sans"/>
                <a:sym typeface="Noto Sans"/>
              </a:rPr>
              <a:t>Pipeline chuẩn</a:t>
            </a:r>
            <a:endParaRPr b="0" i="0" sz="1238" u="none" cap="none" strike="noStrike">
              <a:solidFill>
                <a:schemeClr val="dk1"/>
              </a:solidFill>
              <a:latin typeface="Calibri"/>
              <a:ea typeface="Calibri"/>
              <a:cs typeface="Calibri"/>
              <a:sym typeface="Calibri"/>
            </a:endParaRPr>
          </a:p>
        </p:txBody>
      </p:sp>
      <p:pic>
        <p:nvPicPr>
          <p:cNvPr descr="preencoded.png" id="215" name="Google Shape;215;p9"/>
          <p:cNvPicPr preferRelativeResize="0"/>
          <p:nvPr/>
        </p:nvPicPr>
        <p:blipFill rotWithShape="1">
          <a:blip r:embed="rId5">
            <a:alphaModFix/>
          </a:blip>
          <a:srcRect b="0" l="0" r="0" t="0"/>
          <a:stretch/>
        </p:blipFill>
        <p:spPr>
          <a:xfrm>
            <a:off x="1235422" y="3102146"/>
            <a:ext cx="150019" cy="200025"/>
          </a:xfrm>
          <a:prstGeom prst="rect">
            <a:avLst/>
          </a:prstGeom>
          <a:noFill/>
          <a:ln>
            <a:noFill/>
          </a:ln>
        </p:spPr>
      </p:pic>
      <p:sp>
        <p:nvSpPr>
          <p:cNvPr id="216" name="Google Shape;216;p9"/>
          <p:cNvSpPr/>
          <p:nvPr/>
        </p:nvSpPr>
        <p:spPr>
          <a:xfrm>
            <a:off x="538907" y="3386110"/>
            <a:ext cx="1543050"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1" i="0" lang="en-US" sz="837" u="none" cap="none" strike="noStrike">
                <a:solidFill>
                  <a:srgbClr val="FFFFFF"/>
                </a:solidFill>
                <a:latin typeface="Noto Sans"/>
                <a:ea typeface="Noto Sans"/>
                <a:cs typeface="Noto Sans"/>
                <a:sym typeface="Noto Sans"/>
              </a:rPr>
              <a:t>Beats</a:t>
            </a:r>
            <a:endParaRPr b="0" i="0" sz="837" u="none" cap="none" strike="noStrike">
              <a:solidFill>
                <a:schemeClr val="dk1"/>
              </a:solidFill>
              <a:latin typeface="Calibri"/>
              <a:ea typeface="Calibri"/>
              <a:cs typeface="Calibri"/>
              <a:sym typeface="Calibri"/>
            </a:endParaRPr>
          </a:p>
        </p:txBody>
      </p:sp>
      <p:sp>
        <p:nvSpPr>
          <p:cNvPr id="217" name="Google Shape;217;p9"/>
          <p:cNvSpPr/>
          <p:nvPr/>
        </p:nvSpPr>
        <p:spPr>
          <a:xfrm>
            <a:off x="538907" y="3578991"/>
            <a:ext cx="1543050" cy="15001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32"/>
              <a:buFont typeface="Noto Sans"/>
              <a:buNone/>
            </a:pPr>
            <a:r>
              <a:rPr b="0" i="0" lang="en-US" sz="732" u="none" cap="none" strike="noStrike">
                <a:solidFill>
                  <a:srgbClr val="FFFFFF"/>
                </a:solidFill>
                <a:latin typeface="Noto Sans"/>
                <a:ea typeface="Noto Sans"/>
                <a:cs typeface="Noto Sans"/>
                <a:sym typeface="Noto Sans"/>
              </a:rPr>
              <a:t>Thu thập dữ liệu</a:t>
            </a:r>
            <a:endParaRPr b="0" i="0" sz="732" u="none" cap="none" strike="noStrike">
              <a:solidFill>
                <a:schemeClr val="dk1"/>
              </a:solidFill>
              <a:latin typeface="Calibri"/>
              <a:ea typeface="Calibri"/>
              <a:cs typeface="Calibri"/>
              <a:sym typeface="Calibri"/>
            </a:endParaRPr>
          </a:p>
        </p:txBody>
      </p:sp>
      <p:pic>
        <p:nvPicPr>
          <p:cNvPr descr="preencoded.png" id="218" name="Google Shape;218;p9"/>
          <p:cNvPicPr preferRelativeResize="0"/>
          <p:nvPr/>
        </p:nvPicPr>
        <p:blipFill rotWithShape="1">
          <a:blip r:embed="rId6">
            <a:alphaModFix/>
          </a:blip>
          <a:srcRect b="0" l="0" r="0" t="0"/>
          <a:stretch/>
        </p:blipFill>
        <p:spPr>
          <a:xfrm>
            <a:off x="2335113" y="3318244"/>
            <a:ext cx="125016" cy="142875"/>
          </a:xfrm>
          <a:prstGeom prst="rect">
            <a:avLst/>
          </a:prstGeom>
          <a:noFill/>
          <a:ln>
            <a:noFill/>
          </a:ln>
        </p:spPr>
      </p:pic>
      <p:pic>
        <p:nvPicPr>
          <p:cNvPr descr="preencoded.png" id="219" name="Google Shape;219;p9"/>
          <p:cNvPicPr preferRelativeResize="0"/>
          <p:nvPr/>
        </p:nvPicPr>
        <p:blipFill rotWithShape="1">
          <a:blip r:embed="rId7">
            <a:alphaModFix/>
          </a:blip>
          <a:srcRect b="0" l="0" r="0" t="0"/>
          <a:stretch/>
        </p:blipFill>
        <p:spPr>
          <a:xfrm>
            <a:off x="3384798" y="3102146"/>
            <a:ext cx="200025" cy="200025"/>
          </a:xfrm>
          <a:prstGeom prst="rect">
            <a:avLst/>
          </a:prstGeom>
          <a:noFill/>
          <a:ln>
            <a:noFill/>
          </a:ln>
        </p:spPr>
      </p:pic>
      <p:sp>
        <p:nvSpPr>
          <p:cNvPr id="220" name="Google Shape;220;p9"/>
          <p:cNvSpPr/>
          <p:nvPr/>
        </p:nvSpPr>
        <p:spPr>
          <a:xfrm>
            <a:off x="2713286" y="3386110"/>
            <a:ext cx="1543050"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1" i="0" lang="en-US" sz="837" u="none" cap="none" strike="noStrike">
                <a:solidFill>
                  <a:srgbClr val="FFFFFF"/>
                </a:solidFill>
                <a:latin typeface="Noto Sans"/>
                <a:ea typeface="Noto Sans"/>
                <a:cs typeface="Noto Sans"/>
                <a:sym typeface="Noto Sans"/>
              </a:rPr>
              <a:t>Logstash</a:t>
            </a:r>
            <a:endParaRPr b="0" i="0" sz="837" u="none" cap="none" strike="noStrike">
              <a:solidFill>
                <a:schemeClr val="dk1"/>
              </a:solidFill>
              <a:latin typeface="Calibri"/>
              <a:ea typeface="Calibri"/>
              <a:cs typeface="Calibri"/>
              <a:sym typeface="Calibri"/>
            </a:endParaRPr>
          </a:p>
        </p:txBody>
      </p:sp>
      <p:sp>
        <p:nvSpPr>
          <p:cNvPr id="221" name="Google Shape;221;p9"/>
          <p:cNvSpPr/>
          <p:nvPr/>
        </p:nvSpPr>
        <p:spPr>
          <a:xfrm>
            <a:off x="2713286" y="3578991"/>
            <a:ext cx="1543050" cy="15001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32"/>
              <a:buFont typeface="Noto Sans"/>
              <a:buNone/>
            </a:pPr>
            <a:r>
              <a:rPr b="0" i="0" lang="en-US" sz="732" u="none" cap="none" strike="noStrike">
                <a:solidFill>
                  <a:srgbClr val="FFFFFF"/>
                </a:solidFill>
                <a:latin typeface="Noto Sans"/>
                <a:ea typeface="Noto Sans"/>
                <a:cs typeface="Noto Sans"/>
                <a:sym typeface="Noto Sans"/>
              </a:rPr>
              <a:t>Xử lý dữ liệu</a:t>
            </a:r>
            <a:endParaRPr b="0" i="0" sz="732" u="none" cap="none" strike="noStrike">
              <a:solidFill>
                <a:schemeClr val="dk1"/>
              </a:solidFill>
              <a:latin typeface="Calibri"/>
              <a:ea typeface="Calibri"/>
              <a:cs typeface="Calibri"/>
              <a:sym typeface="Calibri"/>
            </a:endParaRPr>
          </a:p>
        </p:txBody>
      </p:sp>
      <p:pic>
        <p:nvPicPr>
          <p:cNvPr descr="preencoded.png" id="222" name="Google Shape;222;p9"/>
          <p:cNvPicPr preferRelativeResize="0"/>
          <p:nvPr/>
        </p:nvPicPr>
        <p:blipFill rotWithShape="1">
          <a:blip r:embed="rId8">
            <a:alphaModFix/>
          </a:blip>
          <a:srcRect b="0" l="0" r="0" t="0"/>
          <a:stretch/>
        </p:blipFill>
        <p:spPr>
          <a:xfrm>
            <a:off x="4509492" y="3318244"/>
            <a:ext cx="125016" cy="142875"/>
          </a:xfrm>
          <a:prstGeom prst="rect">
            <a:avLst/>
          </a:prstGeom>
          <a:noFill/>
          <a:ln>
            <a:noFill/>
          </a:ln>
        </p:spPr>
      </p:pic>
      <p:pic>
        <p:nvPicPr>
          <p:cNvPr descr="preencoded.png" id="223" name="Google Shape;223;p9"/>
          <p:cNvPicPr preferRelativeResize="0"/>
          <p:nvPr/>
        </p:nvPicPr>
        <p:blipFill rotWithShape="1">
          <a:blip r:embed="rId9">
            <a:alphaModFix/>
          </a:blip>
          <a:srcRect b="0" l="0" r="0" t="0"/>
          <a:stretch/>
        </p:blipFill>
        <p:spPr>
          <a:xfrm>
            <a:off x="5571679" y="3102146"/>
            <a:ext cx="175022" cy="200025"/>
          </a:xfrm>
          <a:prstGeom prst="rect">
            <a:avLst/>
          </a:prstGeom>
          <a:noFill/>
          <a:ln>
            <a:noFill/>
          </a:ln>
        </p:spPr>
      </p:pic>
      <p:sp>
        <p:nvSpPr>
          <p:cNvPr id="224" name="Google Shape;224;p9"/>
          <p:cNvSpPr/>
          <p:nvPr/>
        </p:nvSpPr>
        <p:spPr>
          <a:xfrm>
            <a:off x="4887664" y="3386110"/>
            <a:ext cx="1543050"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1" i="0" lang="en-US" sz="837" u="none" cap="none" strike="noStrike">
                <a:solidFill>
                  <a:srgbClr val="FFFFFF"/>
                </a:solidFill>
                <a:latin typeface="Noto Sans"/>
                <a:ea typeface="Noto Sans"/>
                <a:cs typeface="Noto Sans"/>
                <a:sym typeface="Noto Sans"/>
              </a:rPr>
              <a:t>Elasticsearch</a:t>
            </a:r>
            <a:endParaRPr b="0" i="0" sz="837" u="none" cap="none" strike="noStrike">
              <a:solidFill>
                <a:schemeClr val="dk1"/>
              </a:solidFill>
              <a:latin typeface="Calibri"/>
              <a:ea typeface="Calibri"/>
              <a:cs typeface="Calibri"/>
              <a:sym typeface="Calibri"/>
            </a:endParaRPr>
          </a:p>
        </p:txBody>
      </p:sp>
      <p:sp>
        <p:nvSpPr>
          <p:cNvPr id="225" name="Google Shape;225;p9"/>
          <p:cNvSpPr/>
          <p:nvPr/>
        </p:nvSpPr>
        <p:spPr>
          <a:xfrm>
            <a:off x="4887664" y="3578991"/>
            <a:ext cx="1543050" cy="15001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32"/>
              <a:buFont typeface="Noto Sans"/>
              <a:buNone/>
            </a:pPr>
            <a:r>
              <a:rPr b="0" i="0" lang="en-US" sz="732" u="none" cap="none" strike="noStrike">
                <a:solidFill>
                  <a:srgbClr val="FFFFFF"/>
                </a:solidFill>
                <a:latin typeface="Noto Sans"/>
                <a:ea typeface="Noto Sans"/>
                <a:cs typeface="Noto Sans"/>
                <a:sym typeface="Noto Sans"/>
              </a:rPr>
              <a:t>Lưu trữ</a:t>
            </a:r>
            <a:endParaRPr b="0" i="0" sz="732" u="none" cap="none" strike="noStrike">
              <a:solidFill>
                <a:schemeClr val="dk1"/>
              </a:solidFill>
              <a:latin typeface="Calibri"/>
              <a:ea typeface="Calibri"/>
              <a:cs typeface="Calibri"/>
              <a:sym typeface="Calibri"/>
            </a:endParaRPr>
          </a:p>
        </p:txBody>
      </p:sp>
      <p:pic>
        <p:nvPicPr>
          <p:cNvPr descr="preencoded.png" id="226" name="Google Shape;226;p9"/>
          <p:cNvPicPr preferRelativeResize="0"/>
          <p:nvPr/>
        </p:nvPicPr>
        <p:blipFill rotWithShape="1">
          <a:blip r:embed="rId10">
            <a:alphaModFix/>
          </a:blip>
          <a:srcRect b="0" l="0" r="0" t="0"/>
          <a:stretch/>
        </p:blipFill>
        <p:spPr>
          <a:xfrm>
            <a:off x="6683871" y="3318244"/>
            <a:ext cx="125016" cy="142875"/>
          </a:xfrm>
          <a:prstGeom prst="rect">
            <a:avLst/>
          </a:prstGeom>
          <a:noFill/>
          <a:ln>
            <a:noFill/>
          </a:ln>
        </p:spPr>
      </p:pic>
      <p:pic>
        <p:nvPicPr>
          <p:cNvPr descr="preencoded.png" id="227" name="Google Shape;227;p9"/>
          <p:cNvPicPr preferRelativeResize="0"/>
          <p:nvPr/>
        </p:nvPicPr>
        <p:blipFill rotWithShape="1">
          <a:blip r:embed="rId11">
            <a:alphaModFix/>
          </a:blip>
          <a:srcRect b="0" l="0" r="0" t="0"/>
          <a:stretch/>
        </p:blipFill>
        <p:spPr>
          <a:xfrm>
            <a:off x="7733556" y="3102146"/>
            <a:ext cx="200025" cy="200025"/>
          </a:xfrm>
          <a:prstGeom prst="rect">
            <a:avLst/>
          </a:prstGeom>
          <a:noFill/>
          <a:ln>
            <a:noFill/>
          </a:ln>
        </p:spPr>
      </p:pic>
      <p:sp>
        <p:nvSpPr>
          <p:cNvPr id="228" name="Google Shape;228;p9"/>
          <p:cNvSpPr/>
          <p:nvPr/>
        </p:nvSpPr>
        <p:spPr>
          <a:xfrm>
            <a:off x="7062043" y="3386110"/>
            <a:ext cx="1543050"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37"/>
              <a:buFont typeface="Noto Sans"/>
              <a:buNone/>
            </a:pPr>
            <a:r>
              <a:rPr b="1" i="0" lang="en-US" sz="837" u="none" cap="none" strike="noStrike">
                <a:solidFill>
                  <a:srgbClr val="FFFFFF"/>
                </a:solidFill>
                <a:latin typeface="Noto Sans"/>
                <a:ea typeface="Noto Sans"/>
                <a:cs typeface="Noto Sans"/>
                <a:sym typeface="Noto Sans"/>
              </a:rPr>
              <a:t>Kibana</a:t>
            </a:r>
            <a:endParaRPr b="0" i="0" sz="837" u="none" cap="none" strike="noStrike">
              <a:solidFill>
                <a:schemeClr val="dk1"/>
              </a:solidFill>
              <a:latin typeface="Calibri"/>
              <a:ea typeface="Calibri"/>
              <a:cs typeface="Calibri"/>
              <a:sym typeface="Calibri"/>
            </a:endParaRPr>
          </a:p>
        </p:txBody>
      </p:sp>
      <p:sp>
        <p:nvSpPr>
          <p:cNvPr id="229" name="Google Shape;229;p9"/>
          <p:cNvSpPr/>
          <p:nvPr/>
        </p:nvSpPr>
        <p:spPr>
          <a:xfrm>
            <a:off x="7062043" y="3578991"/>
            <a:ext cx="1543050" cy="15001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32"/>
              <a:buFont typeface="Noto Sans"/>
              <a:buNone/>
            </a:pPr>
            <a:r>
              <a:rPr b="0" i="0" lang="en-US" sz="732" u="none" cap="none" strike="noStrike">
                <a:solidFill>
                  <a:srgbClr val="FFFFFF"/>
                </a:solidFill>
                <a:latin typeface="Noto Sans"/>
                <a:ea typeface="Noto Sans"/>
                <a:cs typeface="Noto Sans"/>
                <a:sym typeface="Noto Sans"/>
              </a:rPr>
              <a:t>Trực quan hóa</a:t>
            </a:r>
            <a:endParaRPr b="0" i="0" sz="732" u="none" cap="none" strike="noStrike">
              <a:solidFill>
                <a:schemeClr val="dk1"/>
              </a:solidFill>
              <a:latin typeface="Calibri"/>
              <a:ea typeface="Calibri"/>
              <a:cs typeface="Calibri"/>
              <a:sym typeface="Calibri"/>
            </a:endParaRPr>
          </a:p>
        </p:txBody>
      </p:sp>
      <p:sp>
        <p:nvSpPr>
          <p:cNvPr id="230" name="Google Shape;230;p9"/>
          <p:cNvSpPr/>
          <p:nvPr/>
        </p:nvSpPr>
        <p:spPr>
          <a:xfrm>
            <a:off x="435769" y="3871885"/>
            <a:ext cx="2657475" cy="1100138"/>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542925" y="3979041"/>
            <a:ext cx="2443163"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046"/>
              <a:buFont typeface="Noto Sans"/>
              <a:buNone/>
            </a:pPr>
            <a:r>
              <a:rPr b="1" i="0" lang="en-US" sz="1046" u="none" cap="none" strike="noStrike">
                <a:solidFill>
                  <a:srgbClr val="FFD700"/>
                </a:solidFill>
                <a:latin typeface="Noto Sans"/>
                <a:ea typeface="Noto Sans"/>
                <a:cs typeface="Noto Sans"/>
                <a:sym typeface="Noto Sans"/>
              </a:rPr>
              <a:t>Kiến trúc cơ bản (Standalone)</a:t>
            </a:r>
            <a:endParaRPr b="0" i="0" sz="1046" u="none" cap="none" strike="noStrike">
              <a:solidFill>
                <a:schemeClr val="dk1"/>
              </a:solidFill>
              <a:latin typeface="Calibri"/>
              <a:ea typeface="Calibri"/>
              <a:cs typeface="Calibri"/>
              <a:sym typeface="Calibri"/>
            </a:endParaRPr>
          </a:p>
        </p:txBody>
      </p:sp>
      <p:sp>
        <p:nvSpPr>
          <p:cNvPr id="232" name="Google Shape;232;p9"/>
          <p:cNvSpPr/>
          <p:nvPr/>
        </p:nvSpPr>
        <p:spPr>
          <a:xfrm>
            <a:off x="714375" y="4264791"/>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Tất cả thành phần trên một máy chủ</a:t>
            </a:r>
            <a:endParaRPr b="0" i="0" sz="785" u="none" cap="none" strike="noStrike">
              <a:solidFill>
                <a:schemeClr val="dk1"/>
              </a:solidFill>
              <a:latin typeface="Calibri"/>
              <a:ea typeface="Calibri"/>
              <a:cs typeface="Calibri"/>
              <a:sym typeface="Calibri"/>
            </a:endParaRPr>
          </a:p>
        </p:txBody>
      </p:sp>
      <p:sp>
        <p:nvSpPr>
          <p:cNvPr id="233" name="Google Shape;233;p9"/>
          <p:cNvSpPr/>
          <p:nvPr/>
        </p:nvSpPr>
        <p:spPr>
          <a:xfrm>
            <a:off x="714375" y="4414810"/>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Ưu điểm: đơn giản, dễ triển khai</a:t>
            </a:r>
            <a:endParaRPr b="0" i="0" sz="785" u="none" cap="none" strike="noStrike">
              <a:solidFill>
                <a:schemeClr val="dk1"/>
              </a:solidFill>
              <a:latin typeface="Calibri"/>
              <a:ea typeface="Calibri"/>
              <a:cs typeface="Calibri"/>
              <a:sym typeface="Calibri"/>
            </a:endParaRPr>
          </a:p>
        </p:txBody>
      </p:sp>
      <p:sp>
        <p:nvSpPr>
          <p:cNvPr id="234" name="Google Shape;234;p9"/>
          <p:cNvSpPr/>
          <p:nvPr/>
        </p:nvSpPr>
        <p:spPr>
          <a:xfrm>
            <a:off x="714375" y="4564828"/>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Nhược điểm: không phù hợp hệ thống lớn</a:t>
            </a:r>
            <a:endParaRPr b="0" i="0" sz="785" u="none" cap="none" strike="noStrike">
              <a:solidFill>
                <a:schemeClr val="dk1"/>
              </a:solidFill>
              <a:latin typeface="Calibri"/>
              <a:ea typeface="Calibri"/>
              <a:cs typeface="Calibri"/>
              <a:sym typeface="Calibri"/>
            </a:endParaRPr>
          </a:p>
        </p:txBody>
      </p:sp>
      <p:sp>
        <p:nvSpPr>
          <p:cNvPr id="235" name="Google Shape;235;p9"/>
          <p:cNvSpPr/>
          <p:nvPr/>
        </p:nvSpPr>
        <p:spPr>
          <a:xfrm>
            <a:off x="714375" y="4714847"/>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Phù hợp: môi trường thử nghiệm</a:t>
            </a:r>
            <a:endParaRPr b="0" i="0" sz="785" u="none" cap="none" strike="noStrike">
              <a:solidFill>
                <a:schemeClr val="dk1"/>
              </a:solidFill>
              <a:latin typeface="Calibri"/>
              <a:ea typeface="Calibri"/>
              <a:cs typeface="Calibri"/>
              <a:sym typeface="Calibri"/>
            </a:endParaRPr>
          </a:p>
        </p:txBody>
      </p:sp>
      <p:sp>
        <p:nvSpPr>
          <p:cNvPr id="236" name="Google Shape;236;p9"/>
          <p:cNvSpPr/>
          <p:nvPr/>
        </p:nvSpPr>
        <p:spPr>
          <a:xfrm>
            <a:off x="3243263" y="3871885"/>
            <a:ext cx="2657475" cy="1100138"/>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3350419" y="3979041"/>
            <a:ext cx="2443163"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046"/>
              <a:buFont typeface="Noto Sans"/>
              <a:buNone/>
            </a:pPr>
            <a:r>
              <a:rPr b="1" i="0" lang="en-US" sz="1046" u="none" cap="none" strike="noStrike">
                <a:solidFill>
                  <a:srgbClr val="FFD700"/>
                </a:solidFill>
                <a:latin typeface="Noto Sans"/>
                <a:ea typeface="Noto Sans"/>
                <a:cs typeface="Noto Sans"/>
                <a:sym typeface="Noto Sans"/>
              </a:rPr>
              <a:t>Kiến trúc phân tán (Distributed)</a:t>
            </a:r>
            <a:endParaRPr b="0" i="0" sz="1046" u="none" cap="none" strike="noStrike">
              <a:solidFill>
                <a:schemeClr val="dk1"/>
              </a:solidFill>
              <a:latin typeface="Calibri"/>
              <a:ea typeface="Calibri"/>
              <a:cs typeface="Calibri"/>
              <a:sym typeface="Calibri"/>
            </a:endParaRPr>
          </a:p>
        </p:txBody>
      </p:sp>
      <p:sp>
        <p:nvSpPr>
          <p:cNvPr id="238" name="Google Shape;238;p9"/>
          <p:cNvSpPr/>
          <p:nvPr/>
        </p:nvSpPr>
        <p:spPr>
          <a:xfrm>
            <a:off x="3521869" y="4264791"/>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Elasticsearch chạy trên cụm nhiều node</a:t>
            </a:r>
            <a:endParaRPr b="0" i="0" sz="785" u="none" cap="none" strike="noStrike">
              <a:solidFill>
                <a:schemeClr val="dk1"/>
              </a:solidFill>
              <a:latin typeface="Calibri"/>
              <a:ea typeface="Calibri"/>
              <a:cs typeface="Calibri"/>
              <a:sym typeface="Calibri"/>
            </a:endParaRPr>
          </a:p>
        </p:txBody>
      </p:sp>
      <p:sp>
        <p:nvSpPr>
          <p:cNvPr id="239" name="Google Shape;239;p9"/>
          <p:cNvSpPr/>
          <p:nvPr/>
        </p:nvSpPr>
        <p:spPr>
          <a:xfrm>
            <a:off x="3521869" y="4414810"/>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Logstash triển khai nhiều instance</a:t>
            </a:r>
            <a:endParaRPr b="0" i="0" sz="785" u="none" cap="none" strike="noStrike">
              <a:solidFill>
                <a:schemeClr val="dk1"/>
              </a:solidFill>
              <a:latin typeface="Calibri"/>
              <a:ea typeface="Calibri"/>
              <a:cs typeface="Calibri"/>
              <a:sym typeface="Calibri"/>
            </a:endParaRPr>
          </a:p>
        </p:txBody>
      </p:sp>
      <p:sp>
        <p:nvSpPr>
          <p:cNvPr id="240" name="Google Shape;240;p9"/>
          <p:cNvSpPr/>
          <p:nvPr/>
        </p:nvSpPr>
        <p:spPr>
          <a:xfrm>
            <a:off x="3521869" y="4564828"/>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Beats cài trên từng server</a:t>
            </a:r>
            <a:endParaRPr b="0" i="0" sz="785" u="none" cap="none" strike="noStrike">
              <a:solidFill>
                <a:schemeClr val="dk1"/>
              </a:solidFill>
              <a:latin typeface="Calibri"/>
              <a:ea typeface="Calibri"/>
              <a:cs typeface="Calibri"/>
              <a:sym typeface="Calibri"/>
            </a:endParaRPr>
          </a:p>
        </p:txBody>
      </p:sp>
      <p:sp>
        <p:nvSpPr>
          <p:cNvPr id="241" name="Google Shape;241;p9"/>
          <p:cNvSpPr/>
          <p:nvPr/>
        </p:nvSpPr>
        <p:spPr>
          <a:xfrm>
            <a:off x="3521869" y="4714847"/>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Ưu điểm: hiệu năng cao, có HA</a:t>
            </a:r>
            <a:endParaRPr b="0" i="0" sz="785" u="none" cap="none" strike="noStrike">
              <a:solidFill>
                <a:schemeClr val="dk1"/>
              </a:solidFill>
              <a:latin typeface="Calibri"/>
              <a:ea typeface="Calibri"/>
              <a:cs typeface="Calibri"/>
              <a:sym typeface="Calibri"/>
            </a:endParaRPr>
          </a:p>
        </p:txBody>
      </p:sp>
      <p:sp>
        <p:nvSpPr>
          <p:cNvPr id="242" name="Google Shape;242;p9"/>
          <p:cNvSpPr/>
          <p:nvPr/>
        </p:nvSpPr>
        <p:spPr>
          <a:xfrm>
            <a:off x="6050756" y="3871885"/>
            <a:ext cx="2657475" cy="1100138"/>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6157913" y="3979041"/>
            <a:ext cx="2443163" cy="2143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046"/>
              <a:buFont typeface="Noto Sans"/>
              <a:buNone/>
            </a:pPr>
            <a:r>
              <a:rPr b="1" i="0" lang="en-US" sz="1046" u="none" cap="none" strike="noStrike">
                <a:solidFill>
                  <a:srgbClr val="FFD700"/>
                </a:solidFill>
                <a:latin typeface="Noto Sans"/>
                <a:ea typeface="Noto Sans"/>
                <a:cs typeface="Noto Sans"/>
                <a:sym typeface="Noto Sans"/>
              </a:rPr>
              <a:t>Kiến trúc với Message Queue</a:t>
            </a:r>
            <a:endParaRPr b="0" i="0" sz="1046" u="none" cap="none" strike="noStrike">
              <a:solidFill>
                <a:schemeClr val="dk1"/>
              </a:solidFill>
              <a:latin typeface="Calibri"/>
              <a:ea typeface="Calibri"/>
              <a:cs typeface="Calibri"/>
              <a:sym typeface="Calibri"/>
            </a:endParaRPr>
          </a:p>
        </p:txBody>
      </p:sp>
      <p:sp>
        <p:nvSpPr>
          <p:cNvPr id="244" name="Google Shape;244;p9"/>
          <p:cNvSpPr/>
          <p:nvPr/>
        </p:nvSpPr>
        <p:spPr>
          <a:xfrm>
            <a:off x="6329363" y="4264791"/>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Thêm tầng hàng đợi (Kafka, Redis)</a:t>
            </a:r>
            <a:endParaRPr b="0" i="0" sz="785" u="none" cap="none" strike="noStrike">
              <a:solidFill>
                <a:schemeClr val="dk1"/>
              </a:solidFill>
              <a:latin typeface="Calibri"/>
              <a:ea typeface="Calibri"/>
              <a:cs typeface="Calibri"/>
              <a:sym typeface="Calibri"/>
            </a:endParaRPr>
          </a:p>
        </p:txBody>
      </p:sp>
      <p:sp>
        <p:nvSpPr>
          <p:cNvPr id="245" name="Google Shape;245;p9"/>
          <p:cNvSpPr/>
          <p:nvPr/>
        </p:nvSpPr>
        <p:spPr>
          <a:xfrm>
            <a:off x="6329363" y="4414810"/>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Đảm bảo không mất dữ liệu khi có sự cố</a:t>
            </a:r>
            <a:endParaRPr b="0" i="0" sz="785" u="none" cap="none" strike="noStrike">
              <a:solidFill>
                <a:schemeClr val="dk1"/>
              </a:solidFill>
              <a:latin typeface="Calibri"/>
              <a:ea typeface="Calibri"/>
              <a:cs typeface="Calibri"/>
              <a:sym typeface="Calibri"/>
            </a:endParaRPr>
          </a:p>
        </p:txBody>
      </p:sp>
      <p:sp>
        <p:nvSpPr>
          <p:cNvPr id="246" name="Google Shape;246;p9"/>
          <p:cNvSpPr/>
          <p:nvPr/>
        </p:nvSpPr>
        <p:spPr>
          <a:xfrm>
            <a:off x="6329363" y="4564828"/>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Chịu tải lớn và đảm bảo độ tin cậy</a:t>
            </a:r>
            <a:endParaRPr b="0" i="0" sz="785" u="none" cap="none" strike="noStrike">
              <a:solidFill>
                <a:schemeClr val="dk1"/>
              </a:solidFill>
              <a:latin typeface="Calibri"/>
              <a:ea typeface="Calibri"/>
              <a:cs typeface="Calibri"/>
              <a:sym typeface="Calibri"/>
            </a:endParaRPr>
          </a:p>
        </p:txBody>
      </p:sp>
      <p:sp>
        <p:nvSpPr>
          <p:cNvPr id="247" name="Google Shape;247;p9"/>
          <p:cNvSpPr/>
          <p:nvPr/>
        </p:nvSpPr>
        <p:spPr>
          <a:xfrm>
            <a:off x="6329363" y="4714847"/>
            <a:ext cx="2271713" cy="15001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85"/>
              <a:buFont typeface="Noto Sans"/>
              <a:buNone/>
            </a:pPr>
            <a:r>
              <a:rPr b="0" i="0" lang="en-US" sz="785" u="none" cap="none" strike="noStrike">
                <a:solidFill>
                  <a:srgbClr val="FFFFFF"/>
                </a:solidFill>
                <a:latin typeface="Noto Sans"/>
                <a:ea typeface="Noto Sans"/>
                <a:cs typeface="Noto Sans"/>
                <a:sym typeface="Noto Sans"/>
              </a:rPr>
              <a:t>Phù hợp: hệ thống quy mô rất lớn</a:t>
            </a:r>
            <a:endParaRPr b="0" i="0" sz="785"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preencoded.png" id="253" name="Google Shape;253;p10"/>
          <p:cNvPicPr preferRelativeResize="0"/>
          <p:nvPr/>
        </p:nvPicPr>
        <p:blipFill rotWithShape="1">
          <a:blip r:embed="rId3">
            <a:alphaModFix/>
          </a:blip>
          <a:srcRect b="0" l="0" r="0" t="0"/>
          <a:stretch/>
        </p:blipFill>
        <p:spPr>
          <a:xfrm>
            <a:off x="0" y="0"/>
            <a:ext cx="9144000" cy="5370509"/>
          </a:xfrm>
          <a:prstGeom prst="rect">
            <a:avLst/>
          </a:prstGeom>
          <a:noFill/>
          <a:ln>
            <a:noFill/>
          </a:ln>
        </p:spPr>
      </p:pic>
      <p:sp>
        <p:nvSpPr>
          <p:cNvPr id="254" name="Google Shape;254;p10"/>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ỨNG DỤNG &amp; VAI TRÒ TRONG ATBMTT</a:t>
            </a:r>
            <a:endParaRPr b="0" i="0" sz="2025" u="none" cap="none" strike="noStrike">
              <a:solidFill>
                <a:schemeClr val="dk1"/>
              </a:solidFill>
              <a:latin typeface="Calibri"/>
              <a:ea typeface="Calibri"/>
              <a:cs typeface="Calibri"/>
              <a:sym typeface="Calibri"/>
            </a:endParaRPr>
          </a:p>
        </p:txBody>
      </p:sp>
      <p:sp>
        <p:nvSpPr>
          <p:cNvPr id="255" name="Google Shape;255;p10"/>
          <p:cNvSpPr/>
          <p:nvPr/>
        </p:nvSpPr>
        <p:spPr>
          <a:xfrm>
            <a:off x="428625" y="814388"/>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Lý do sử dụng ELK trong bảo mật</a:t>
            </a:r>
            <a:endParaRPr b="0" i="0" sz="1350" u="none" cap="none" strike="noStrike">
              <a:solidFill>
                <a:schemeClr val="dk1"/>
              </a:solidFill>
              <a:latin typeface="Calibri"/>
              <a:ea typeface="Calibri"/>
              <a:cs typeface="Calibri"/>
              <a:sym typeface="Calibri"/>
            </a:endParaRPr>
          </a:p>
        </p:txBody>
      </p:sp>
      <p:sp>
        <p:nvSpPr>
          <p:cNvPr id="256" name="Google Shape;256;p10"/>
          <p:cNvSpPr/>
          <p:nvPr/>
        </p:nvSpPr>
        <p:spPr>
          <a:xfrm>
            <a:off x="600075" y="1143000"/>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Quản lý log tập trung: Thay vì phải truy cập từng server để xem log</a:t>
            </a:r>
            <a:endParaRPr b="0" i="0" sz="942" u="none" cap="none" strike="noStrike">
              <a:solidFill>
                <a:schemeClr val="dk1"/>
              </a:solidFill>
              <a:latin typeface="Calibri"/>
              <a:ea typeface="Calibri"/>
              <a:cs typeface="Calibri"/>
              <a:sym typeface="Calibri"/>
            </a:endParaRPr>
          </a:p>
        </p:txBody>
      </p:sp>
      <p:sp>
        <p:nvSpPr>
          <p:cNvPr id="257" name="Google Shape;257;p10"/>
          <p:cNvSpPr/>
          <p:nvPr/>
        </p:nvSpPr>
        <p:spPr>
          <a:xfrm>
            <a:off x="600075" y="1335881"/>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Phân tích thời gian thực: Phát hiện sớm các mối đe dọa và sự cố</a:t>
            </a:r>
            <a:endParaRPr b="0" i="0" sz="942" u="none" cap="none" strike="noStrike">
              <a:solidFill>
                <a:schemeClr val="dk1"/>
              </a:solidFill>
              <a:latin typeface="Calibri"/>
              <a:ea typeface="Calibri"/>
              <a:cs typeface="Calibri"/>
              <a:sym typeface="Calibri"/>
            </a:endParaRPr>
          </a:p>
        </p:txBody>
      </p:sp>
      <p:sp>
        <p:nvSpPr>
          <p:cNvPr id="258" name="Google Shape;258;p10"/>
          <p:cNvSpPr/>
          <p:nvPr/>
        </p:nvSpPr>
        <p:spPr>
          <a:xfrm>
            <a:off x="600075" y="1528763"/>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Khả năng mở rộng: Xử lý lượng log lớn từ nhiều nguồn khác nhau</a:t>
            </a:r>
            <a:endParaRPr b="0" i="0" sz="942" u="none" cap="none" strike="noStrike">
              <a:solidFill>
                <a:schemeClr val="dk1"/>
              </a:solidFill>
              <a:latin typeface="Calibri"/>
              <a:ea typeface="Calibri"/>
              <a:cs typeface="Calibri"/>
              <a:sym typeface="Calibri"/>
            </a:endParaRPr>
          </a:p>
        </p:txBody>
      </p:sp>
      <p:sp>
        <p:nvSpPr>
          <p:cNvPr id="259" name="Google Shape;259;p10"/>
          <p:cNvSpPr/>
          <p:nvPr/>
        </p:nvSpPr>
        <p:spPr>
          <a:xfrm>
            <a:off x="600075" y="1721644"/>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Trực quan hóa: Dễ dàng theo dõi và phân tích các sự kiện bảo mật</a:t>
            </a:r>
            <a:endParaRPr b="0" i="0" sz="942" u="none" cap="none" strike="noStrike">
              <a:solidFill>
                <a:schemeClr val="dk1"/>
              </a:solidFill>
              <a:latin typeface="Calibri"/>
              <a:ea typeface="Calibri"/>
              <a:cs typeface="Calibri"/>
              <a:sym typeface="Calibri"/>
            </a:endParaRPr>
          </a:p>
        </p:txBody>
      </p:sp>
      <p:sp>
        <p:nvSpPr>
          <p:cNvPr id="260" name="Google Shape;260;p10"/>
          <p:cNvSpPr/>
          <p:nvPr/>
        </p:nvSpPr>
        <p:spPr>
          <a:xfrm>
            <a:off x="428625" y="2057400"/>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Vai trò của ELK trong bảo mật</a:t>
            </a:r>
            <a:endParaRPr b="0" i="0" sz="1350" u="none" cap="none" strike="noStrike">
              <a:solidFill>
                <a:schemeClr val="dk1"/>
              </a:solidFill>
              <a:latin typeface="Calibri"/>
              <a:ea typeface="Calibri"/>
              <a:cs typeface="Calibri"/>
              <a:sym typeface="Calibri"/>
            </a:endParaRPr>
          </a:p>
        </p:txBody>
      </p:sp>
      <p:sp>
        <p:nvSpPr>
          <p:cNvPr id="261" name="Google Shape;261;p10"/>
          <p:cNvSpPr/>
          <p:nvPr/>
        </p:nvSpPr>
        <p:spPr>
          <a:xfrm>
            <a:off x="600075" y="2386013"/>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Giám sát bảo mật: Theo dõi liên tục các hoạt động trên hệ thống</a:t>
            </a:r>
            <a:endParaRPr b="0" i="0" sz="942" u="none" cap="none" strike="noStrike">
              <a:solidFill>
                <a:schemeClr val="dk1"/>
              </a:solidFill>
              <a:latin typeface="Calibri"/>
              <a:ea typeface="Calibri"/>
              <a:cs typeface="Calibri"/>
              <a:sym typeface="Calibri"/>
            </a:endParaRPr>
          </a:p>
        </p:txBody>
      </p:sp>
      <p:sp>
        <p:nvSpPr>
          <p:cNvPr id="262" name="Google Shape;262;p10"/>
          <p:cNvSpPr/>
          <p:nvPr/>
        </p:nvSpPr>
        <p:spPr>
          <a:xfrm>
            <a:off x="600075" y="2578894"/>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Phát hiện xâm nhập: Nhận diện các mẫu hành vi bất thường</a:t>
            </a:r>
            <a:endParaRPr b="0" i="0" sz="942" u="none" cap="none" strike="noStrike">
              <a:solidFill>
                <a:schemeClr val="dk1"/>
              </a:solidFill>
              <a:latin typeface="Calibri"/>
              <a:ea typeface="Calibri"/>
              <a:cs typeface="Calibri"/>
              <a:sym typeface="Calibri"/>
            </a:endParaRPr>
          </a:p>
        </p:txBody>
      </p:sp>
      <p:sp>
        <p:nvSpPr>
          <p:cNvPr id="263" name="Google Shape;263;p10"/>
          <p:cNvSpPr/>
          <p:nvPr/>
        </p:nvSpPr>
        <p:spPr>
          <a:xfrm>
            <a:off x="600075" y="2771775"/>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Phân tích sự cố: Điều tra nguyên nhân và phạm vi ảnh hưởng</a:t>
            </a:r>
            <a:endParaRPr b="0" i="0" sz="942" u="none" cap="none" strike="noStrike">
              <a:solidFill>
                <a:schemeClr val="dk1"/>
              </a:solidFill>
              <a:latin typeface="Calibri"/>
              <a:ea typeface="Calibri"/>
              <a:cs typeface="Calibri"/>
              <a:sym typeface="Calibri"/>
            </a:endParaRPr>
          </a:p>
        </p:txBody>
      </p:sp>
      <p:sp>
        <p:nvSpPr>
          <p:cNvPr id="264" name="Google Shape;264;p10"/>
          <p:cNvSpPr/>
          <p:nvPr/>
        </p:nvSpPr>
        <p:spPr>
          <a:xfrm>
            <a:off x="600075" y="2964656"/>
            <a:ext cx="4400550" cy="19288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Tuân thủ quy định: Hỗ trợ lưu trữ và báo cáo theo yêu cầu pháp lý</a:t>
            </a:r>
            <a:endParaRPr b="0" i="0" sz="942" u="none" cap="none" strike="noStrike">
              <a:solidFill>
                <a:schemeClr val="dk1"/>
              </a:solidFill>
              <a:latin typeface="Calibri"/>
              <a:ea typeface="Calibri"/>
              <a:cs typeface="Calibri"/>
              <a:sym typeface="Calibri"/>
            </a:endParaRPr>
          </a:p>
        </p:txBody>
      </p:sp>
      <p:pic>
        <p:nvPicPr>
          <p:cNvPr descr="preencoded.png" id="265" name="Google Shape;265;p10"/>
          <p:cNvPicPr preferRelativeResize="0"/>
          <p:nvPr/>
        </p:nvPicPr>
        <p:blipFill rotWithShape="1">
          <a:blip r:embed="rId4">
            <a:alphaModFix/>
          </a:blip>
          <a:srcRect b="0" l="0" r="0" t="0"/>
          <a:stretch/>
        </p:blipFill>
        <p:spPr>
          <a:xfrm>
            <a:off x="5572125" y="814388"/>
            <a:ext cx="2857500" cy="1269997"/>
          </a:xfrm>
          <a:prstGeom prst="rect">
            <a:avLst/>
          </a:prstGeom>
          <a:noFill/>
          <a:ln>
            <a:noFill/>
          </a:ln>
        </p:spPr>
      </p:pic>
      <p:sp>
        <p:nvSpPr>
          <p:cNvPr id="266" name="Google Shape;266;p10"/>
          <p:cNvSpPr/>
          <p:nvPr/>
        </p:nvSpPr>
        <p:spPr>
          <a:xfrm>
            <a:off x="5286375" y="2191541"/>
            <a:ext cx="3429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Ứng dụng thực tế</a:t>
            </a:r>
            <a:endParaRPr b="0" i="0" sz="1350" u="none" cap="none" strike="noStrike">
              <a:solidFill>
                <a:schemeClr val="dk1"/>
              </a:solidFill>
              <a:latin typeface="Calibri"/>
              <a:ea typeface="Calibri"/>
              <a:cs typeface="Calibri"/>
              <a:sym typeface="Calibri"/>
            </a:endParaRPr>
          </a:p>
        </p:txBody>
      </p:sp>
      <p:sp>
        <p:nvSpPr>
          <p:cNvPr id="267" name="Google Shape;267;p10"/>
          <p:cNvSpPr/>
          <p:nvPr/>
        </p:nvSpPr>
        <p:spPr>
          <a:xfrm>
            <a:off x="5286375" y="2520153"/>
            <a:ext cx="3429000" cy="721519"/>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5372100" y="2605878"/>
            <a:ext cx="325755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SIEM (Security Information and Event Management)</a:t>
            </a:r>
            <a:endParaRPr b="0" i="0" sz="837" u="none" cap="none" strike="noStrike">
              <a:solidFill>
                <a:schemeClr val="dk1"/>
              </a:solidFill>
              <a:latin typeface="Calibri"/>
              <a:ea typeface="Calibri"/>
              <a:cs typeface="Calibri"/>
              <a:sym typeface="Calibri"/>
            </a:endParaRPr>
          </a:p>
        </p:txBody>
      </p:sp>
      <p:sp>
        <p:nvSpPr>
          <p:cNvPr id="269" name="Google Shape;269;p10"/>
          <p:cNvSpPr/>
          <p:nvPr/>
        </p:nvSpPr>
        <p:spPr>
          <a:xfrm>
            <a:off x="5372100" y="2813047"/>
            <a:ext cx="325755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Tích hợp ELK làm nền tảng cho hệ thống SIEM, thu thập và phân tích các sự kiện bảo mật.</a:t>
            </a:r>
            <a:endParaRPr b="0" i="0" sz="837" u="none" cap="none" strike="noStrike">
              <a:solidFill>
                <a:schemeClr val="dk1"/>
              </a:solidFill>
              <a:latin typeface="Calibri"/>
              <a:ea typeface="Calibri"/>
              <a:cs typeface="Calibri"/>
              <a:sym typeface="Calibri"/>
            </a:endParaRPr>
          </a:p>
        </p:txBody>
      </p:sp>
      <p:sp>
        <p:nvSpPr>
          <p:cNvPr id="270" name="Google Shape;270;p10"/>
          <p:cNvSpPr/>
          <p:nvPr/>
        </p:nvSpPr>
        <p:spPr>
          <a:xfrm>
            <a:off x="5286375" y="3327397"/>
            <a:ext cx="3429000" cy="721519"/>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5372100" y="3413122"/>
            <a:ext cx="325755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Phát hiện tấn công mạng</a:t>
            </a:r>
            <a:endParaRPr b="0" i="0" sz="837" u="none" cap="none" strike="noStrike">
              <a:solidFill>
                <a:schemeClr val="dk1"/>
              </a:solidFill>
              <a:latin typeface="Calibri"/>
              <a:ea typeface="Calibri"/>
              <a:cs typeface="Calibri"/>
              <a:sym typeface="Calibri"/>
            </a:endParaRPr>
          </a:p>
        </p:txBody>
      </p:sp>
      <p:sp>
        <p:nvSpPr>
          <p:cNvPr id="272" name="Google Shape;272;p10"/>
          <p:cNvSpPr/>
          <p:nvPr/>
        </p:nvSpPr>
        <p:spPr>
          <a:xfrm>
            <a:off x="5372100" y="3620291"/>
            <a:ext cx="325755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Sử dụng ELK để phát hiện các mẫu tấn công như brute force, SQL injection, XSS.</a:t>
            </a:r>
            <a:endParaRPr b="0" i="0" sz="837" u="none" cap="none" strike="noStrike">
              <a:solidFill>
                <a:schemeClr val="dk1"/>
              </a:solidFill>
              <a:latin typeface="Calibri"/>
              <a:ea typeface="Calibri"/>
              <a:cs typeface="Calibri"/>
              <a:sym typeface="Calibri"/>
            </a:endParaRPr>
          </a:p>
        </p:txBody>
      </p:sp>
      <p:sp>
        <p:nvSpPr>
          <p:cNvPr id="273" name="Google Shape;273;p10"/>
          <p:cNvSpPr/>
          <p:nvPr/>
        </p:nvSpPr>
        <p:spPr>
          <a:xfrm>
            <a:off x="5286375" y="4134641"/>
            <a:ext cx="3429000" cy="721519"/>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5372100" y="4220366"/>
            <a:ext cx="325755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37"/>
              <a:buFont typeface="Noto Sans"/>
              <a:buNone/>
            </a:pPr>
            <a:r>
              <a:rPr b="1" i="0" lang="en-US" sz="837" u="none" cap="none" strike="noStrike">
                <a:solidFill>
                  <a:srgbClr val="FFD700"/>
                </a:solidFill>
                <a:latin typeface="Noto Sans"/>
                <a:ea typeface="Noto Sans"/>
                <a:cs typeface="Noto Sans"/>
                <a:sym typeface="Noto Sans"/>
              </a:rPr>
              <a:t>Giám sát truy cập hệ thống</a:t>
            </a:r>
            <a:endParaRPr b="0" i="0" sz="837" u="none" cap="none" strike="noStrike">
              <a:solidFill>
                <a:schemeClr val="dk1"/>
              </a:solidFill>
              <a:latin typeface="Calibri"/>
              <a:ea typeface="Calibri"/>
              <a:cs typeface="Calibri"/>
              <a:sym typeface="Calibri"/>
            </a:endParaRPr>
          </a:p>
        </p:txBody>
      </p:sp>
      <p:sp>
        <p:nvSpPr>
          <p:cNvPr id="275" name="Google Shape;275;p10"/>
          <p:cNvSpPr/>
          <p:nvPr/>
        </p:nvSpPr>
        <p:spPr>
          <a:xfrm>
            <a:off x="5372100" y="4427534"/>
            <a:ext cx="325755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Theo dõi và cảnh báo các hoạt động đăng nhập bất thường, truy cập trái phép.</a:t>
            </a:r>
            <a:endParaRPr b="0" i="0" sz="837"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preencoded.png" id="281" name="Google Shape;281;p11"/>
          <p:cNvPicPr preferRelativeResize="0"/>
          <p:nvPr/>
        </p:nvPicPr>
        <p:blipFill rotWithShape="1">
          <a:blip r:embed="rId3">
            <a:alphaModFix/>
          </a:blip>
          <a:srcRect b="0" l="0" r="0" t="0"/>
          <a:stretch/>
        </p:blipFill>
        <p:spPr>
          <a:xfrm>
            <a:off x="0" y="0"/>
            <a:ext cx="9144000" cy="7440662"/>
          </a:xfrm>
          <a:prstGeom prst="rect">
            <a:avLst/>
          </a:prstGeom>
          <a:noFill/>
          <a:ln>
            <a:noFill/>
          </a:ln>
        </p:spPr>
      </p:pic>
      <p:sp>
        <p:nvSpPr>
          <p:cNvPr id="282" name="Google Shape;282;p11"/>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ƯU ĐIỂM &amp; HẠN CHẾ</a:t>
            </a:r>
            <a:endParaRPr b="0" i="0" sz="2025" u="none" cap="none" strike="noStrike">
              <a:solidFill>
                <a:schemeClr val="dk1"/>
              </a:solidFill>
              <a:latin typeface="Calibri"/>
              <a:ea typeface="Calibri"/>
              <a:cs typeface="Calibri"/>
              <a:sym typeface="Calibri"/>
            </a:endParaRPr>
          </a:p>
        </p:txBody>
      </p:sp>
      <p:pic>
        <p:nvPicPr>
          <p:cNvPr descr="preencoded.png" id="283" name="Google Shape;283;p11"/>
          <p:cNvPicPr preferRelativeResize="0"/>
          <p:nvPr/>
        </p:nvPicPr>
        <p:blipFill rotWithShape="1">
          <a:blip r:embed="rId4">
            <a:alphaModFix/>
          </a:blip>
          <a:srcRect b="0" l="0" r="0" t="0"/>
          <a:stretch/>
        </p:blipFill>
        <p:spPr>
          <a:xfrm>
            <a:off x="285750" y="937617"/>
            <a:ext cx="200025" cy="200025"/>
          </a:xfrm>
          <a:prstGeom prst="rect">
            <a:avLst/>
          </a:prstGeom>
          <a:noFill/>
          <a:ln>
            <a:noFill/>
          </a:ln>
        </p:spPr>
      </p:pic>
      <p:sp>
        <p:nvSpPr>
          <p:cNvPr id="284" name="Google Shape;284;p11"/>
          <p:cNvSpPr/>
          <p:nvPr/>
        </p:nvSpPr>
        <p:spPr>
          <a:xfrm>
            <a:off x="557213" y="907256"/>
            <a:ext cx="742224"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Ưu điểm</a:t>
            </a:r>
            <a:endParaRPr b="0" i="0" sz="1350" u="none" cap="none" strike="noStrike">
              <a:solidFill>
                <a:schemeClr val="dk1"/>
              </a:solidFill>
              <a:latin typeface="Calibri"/>
              <a:ea typeface="Calibri"/>
              <a:cs typeface="Calibri"/>
              <a:sym typeface="Calibri"/>
            </a:endParaRPr>
          </a:p>
        </p:txBody>
      </p:sp>
      <p:sp>
        <p:nvSpPr>
          <p:cNvPr id="285" name="Google Shape;285;p11"/>
          <p:cNvSpPr/>
          <p:nvPr/>
        </p:nvSpPr>
        <p:spPr>
          <a:xfrm>
            <a:off x="285750" y="1293019"/>
            <a:ext cx="4114800" cy="3397300"/>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6" name="Google Shape;286;p11"/>
          <p:cNvPicPr preferRelativeResize="0"/>
          <p:nvPr/>
        </p:nvPicPr>
        <p:blipFill rotWithShape="1">
          <a:blip r:embed="rId5">
            <a:alphaModFix/>
          </a:blip>
          <a:srcRect b="0" l="0" r="0" t="0"/>
          <a:stretch/>
        </p:blipFill>
        <p:spPr>
          <a:xfrm>
            <a:off x="428625" y="1501973"/>
            <a:ext cx="128588" cy="128588"/>
          </a:xfrm>
          <a:prstGeom prst="rect">
            <a:avLst/>
          </a:prstGeom>
          <a:noFill/>
          <a:ln>
            <a:noFill/>
          </a:ln>
        </p:spPr>
      </p:pic>
      <p:sp>
        <p:nvSpPr>
          <p:cNvPr id="287" name="Google Shape;287;p11"/>
          <p:cNvSpPr/>
          <p:nvPr/>
        </p:nvSpPr>
        <p:spPr>
          <a:xfrm>
            <a:off x="628650" y="1450181"/>
            <a:ext cx="93047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Mã nguồn mở:</a:t>
            </a:r>
            <a:endParaRPr b="0" i="0" sz="942" u="none" cap="none" strike="noStrike">
              <a:solidFill>
                <a:schemeClr val="dk1"/>
              </a:solidFill>
              <a:latin typeface="Calibri"/>
              <a:ea typeface="Calibri"/>
              <a:cs typeface="Calibri"/>
              <a:sym typeface="Calibri"/>
            </a:endParaRPr>
          </a:p>
        </p:txBody>
      </p:sp>
      <p:sp>
        <p:nvSpPr>
          <p:cNvPr id="288" name="Google Shape;288;p11"/>
          <p:cNvSpPr/>
          <p:nvPr/>
        </p:nvSpPr>
        <p:spPr>
          <a:xfrm>
            <a:off x="1559123" y="1450181"/>
            <a:ext cx="251928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Cộng đồng lớn, tài liệu phong phú và liên </a:t>
            </a:r>
            <a:endParaRPr b="0" i="0" sz="942" u="none" cap="none" strike="noStrike">
              <a:solidFill>
                <a:schemeClr val="dk1"/>
              </a:solidFill>
              <a:latin typeface="Calibri"/>
              <a:ea typeface="Calibri"/>
              <a:cs typeface="Calibri"/>
              <a:sym typeface="Calibri"/>
            </a:endParaRPr>
          </a:p>
        </p:txBody>
      </p:sp>
      <p:sp>
        <p:nvSpPr>
          <p:cNvPr id="289" name="Google Shape;289;p11"/>
          <p:cNvSpPr/>
          <p:nvPr/>
        </p:nvSpPr>
        <p:spPr>
          <a:xfrm>
            <a:off x="628650" y="1655899"/>
            <a:ext cx="993484"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tục được cải tiến</a:t>
            </a:r>
            <a:endParaRPr b="0" i="0" sz="942" u="none" cap="none" strike="noStrike">
              <a:solidFill>
                <a:schemeClr val="dk1"/>
              </a:solidFill>
              <a:latin typeface="Calibri"/>
              <a:ea typeface="Calibri"/>
              <a:cs typeface="Calibri"/>
              <a:sym typeface="Calibri"/>
            </a:endParaRPr>
          </a:p>
        </p:txBody>
      </p:sp>
      <p:pic>
        <p:nvPicPr>
          <p:cNvPr descr="preencoded.png" id="290" name="Google Shape;290;p11"/>
          <p:cNvPicPr preferRelativeResize="0"/>
          <p:nvPr/>
        </p:nvPicPr>
        <p:blipFill rotWithShape="1">
          <a:blip r:embed="rId6">
            <a:alphaModFix/>
          </a:blip>
          <a:srcRect b="0" l="0" r="0" t="0"/>
          <a:stretch/>
        </p:blipFill>
        <p:spPr>
          <a:xfrm>
            <a:off x="428625" y="2020565"/>
            <a:ext cx="128588" cy="128588"/>
          </a:xfrm>
          <a:prstGeom prst="rect">
            <a:avLst/>
          </a:prstGeom>
          <a:noFill/>
          <a:ln>
            <a:noFill/>
          </a:ln>
        </p:spPr>
      </p:pic>
      <p:sp>
        <p:nvSpPr>
          <p:cNvPr id="291" name="Google Shape;291;p11"/>
          <p:cNvSpPr/>
          <p:nvPr/>
        </p:nvSpPr>
        <p:spPr>
          <a:xfrm>
            <a:off x="628650" y="1968773"/>
            <a:ext cx="1227386"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Khả năng mở rộng:</a:t>
            </a:r>
            <a:endParaRPr b="0" i="0" sz="942" u="none" cap="none" strike="noStrike">
              <a:solidFill>
                <a:schemeClr val="dk1"/>
              </a:solidFill>
              <a:latin typeface="Calibri"/>
              <a:ea typeface="Calibri"/>
              <a:cs typeface="Calibri"/>
              <a:sym typeface="Calibri"/>
            </a:endParaRPr>
          </a:p>
        </p:txBody>
      </p:sp>
      <p:sp>
        <p:nvSpPr>
          <p:cNvPr id="292" name="Google Shape;292;p11"/>
          <p:cNvSpPr/>
          <p:nvPr/>
        </p:nvSpPr>
        <p:spPr>
          <a:xfrm>
            <a:off x="1856036" y="1968773"/>
            <a:ext cx="237362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Dễ dàng mở rộng theo chiều ngang để </a:t>
            </a:r>
            <a:endParaRPr b="0" i="0" sz="942" u="none" cap="none" strike="noStrike">
              <a:solidFill>
                <a:schemeClr val="dk1"/>
              </a:solidFill>
              <a:latin typeface="Calibri"/>
              <a:ea typeface="Calibri"/>
              <a:cs typeface="Calibri"/>
              <a:sym typeface="Calibri"/>
            </a:endParaRPr>
          </a:p>
        </p:txBody>
      </p:sp>
      <p:sp>
        <p:nvSpPr>
          <p:cNvPr id="293" name="Google Shape;293;p11"/>
          <p:cNvSpPr/>
          <p:nvPr/>
        </p:nvSpPr>
        <p:spPr>
          <a:xfrm>
            <a:off x="628650" y="2174491"/>
            <a:ext cx="164671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xử lý khối lượng dữ liệu lớn</a:t>
            </a:r>
            <a:endParaRPr b="0" i="0" sz="942" u="none" cap="none" strike="noStrike">
              <a:solidFill>
                <a:schemeClr val="dk1"/>
              </a:solidFill>
              <a:latin typeface="Calibri"/>
              <a:ea typeface="Calibri"/>
              <a:cs typeface="Calibri"/>
              <a:sym typeface="Calibri"/>
            </a:endParaRPr>
          </a:p>
        </p:txBody>
      </p:sp>
      <p:pic>
        <p:nvPicPr>
          <p:cNvPr descr="preencoded.png" id="294" name="Google Shape;294;p11"/>
          <p:cNvPicPr preferRelativeResize="0"/>
          <p:nvPr/>
        </p:nvPicPr>
        <p:blipFill rotWithShape="1">
          <a:blip r:embed="rId7">
            <a:alphaModFix/>
          </a:blip>
          <a:srcRect b="0" l="0" r="0" t="0"/>
          <a:stretch/>
        </p:blipFill>
        <p:spPr>
          <a:xfrm>
            <a:off x="428625" y="2539157"/>
            <a:ext cx="128588" cy="128588"/>
          </a:xfrm>
          <a:prstGeom prst="rect">
            <a:avLst/>
          </a:prstGeom>
          <a:noFill/>
          <a:ln>
            <a:noFill/>
          </a:ln>
        </p:spPr>
      </p:pic>
      <p:sp>
        <p:nvSpPr>
          <p:cNvPr id="295" name="Google Shape;295;p11"/>
          <p:cNvSpPr/>
          <p:nvPr/>
        </p:nvSpPr>
        <p:spPr>
          <a:xfrm>
            <a:off x="628650" y="2487364"/>
            <a:ext cx="64849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Linh hoạt:</a:t>
            </a:r>
            <a:endParaRPr b="0" i="0" sz="942" u="none" cap="none" strike="noStrike">
              <a:solidFill>
                <a:schemeClr val="dk1"/>
              </a:solidFill>
              <a:latin typeface="Calibri"/>
              <a:ea typeface="Calibri"/>
              <a:cs typeface="Calibri"/>
              <a:sym typeface="Calibri"/>
            </a:endParaRPr>
          </a:p>
        </p:txBody>
      </p:sp>
      <p:sp>
        <p:nvSpPr>
          <p:cNvPr id="296" name="Google Shape;296;p11"/>
          <p:cNvSpPr/>
          <p:nvPr/>
        </p:nvSpPr>
        <p:spPr>
          <a:xfrm>
            <a:off x="1277141" y="2487364"/>
            <a:ext cx="286031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Hỗ trợ nhiều loại dữ liệu và nguồn dữ liệu khác </a:t>
            </a:r>
            <a:endParaRPr b="0" i="0" sz="942" u="none" cap="none" strike="noStrike">
              <a:solidFill>
                <a:schemeClr val="dk1"/>
              </a:solidFill>
              <a:latin typeface="Calibri"/>
              <a:ea typeface="Calibri"/>
              <a:cs typeface="Calibri"/>
              <a:sym typeface="Calibri"/>
            </a:endParaRPr>
          </a:p>
        </p:txBody>
      </p:sp>
      <p:sp>
        <p:nvSpPr>
          <p:cNvPr id="297" name="Google Shape;297;p11"/>
          <p:cNvSpPr/>
          <p:nvPr/>
        </p:nvSpPr>
        <p:spPr>
          <a:xfrm>
            <a:off x="628650" y="2693082"/>
            <a:ext cx="31055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nhau</a:t>
            </a:r>
            <a:endParaRPr b="0" i="0" sz="942" u="none" cap="none" strike="noStrike">
              <a:solidFill>
                <a:schemeClr val="dk1"/>
              </a:solidFill>
              <a:latin typeface="Calibri"/>
              <a:ea typeface="Calibri"/>
              <a:cs typeface="Calibri"/>
              <a:sym typeface="Calibri"/>
            </a:endParaRPr>
          </a:p>
        </p:txBody>
      </p:sp>
      <p:pic>
        <p:nvPicPr>
          <p:cNvPr descr="preencoded.png" id="298" name="Google Shape;298;p11"/>
          <p:cNvPicPr preferRelativeResize="0"/>
          <p:nvPr/>
        </p:nvPicPr>
        <p:blipFill rotWithShape="1">
          <a:blip r:embed="rId8">
            <a:alphaModFix/>
          </a:blip>
          <a:srcRect b="0" l="0" r="0" t="0"/>
          <a:stretch/>
        </p:blipFill>
        <p:spPr>
          <a:xfrm>
            <a:off x="428625" y="3057748"/>
            <a:ext cx="128588" cy="128588"/>
          </a:xfrm>
          <a:prstGeom prst="rect">
            <a:avLst/>
          </a:prstGeom>
          <a:noFill/>
          <a:ln>
            <a:noFill/>
          </a:ln>
        </p:spPr>
      </p:pic>
      <p:sp>
        <p:nvSpPr>
          <p:cNvPr id="299" name="Google Shape;299;p11"/>
          <p:cNvSpPr/>
          <p:nvPr/>
        </p:nvSpPr>
        <p:spPr>
          <a:xfrm>
            <a:off x="628650" y="3005956"/>
            <a:ext cx="97587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Thời gian thực:</a:t>
            </a:r>
            <a:endParaRPr b="0" i="0" sz="942" u="none" cap="none" strike="noStrike">
              <a:solidFill>
                <a:schemeClr val="dk1"/>
              </a:solidFill>
              <a:latin typeface="Calibri"/>
              <a:ea typeface="Calibri"/>
              <a:cs typeface="Calibri"/>
              <a:sym typeface="Calibri"/>
            </a:endParaRPr>
          </a:p>
        </p:txBody>
      </p:sp>
      <p:sp>
        <p:nvSpPr>
          <p:cNvPr id="300" name="Google Shape;300;p11"/>
          <p:cNvSpPr/>
          <p:nvPr/>
        </p:nvSpPr>
        <p:spPr>
          <a:xfrm>
            <a:off x="1604525" y="3005956"/>
            <a:ext cx="2561732"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Phân tích và hiển thị dữ liệu gần như theo </a:t>
            </a:r>
            <a:endParaRPr b="0" i="0" sz="942" u="none" cap="none" strike="noStrike">
              <a:solidFill>
                <a:schemeClr val="dk1"/>
              </a:solidFill>
              <a:latin typeface="Calibri"/>
              <a:ea typeface="Calibri"/>
              <a:cs typeface="Calibri"/>
              <a:sym typeface="Calibri"/>
            </a:endParaRPr>
          </a:p>
        </p:txBody>
      </p:sp>
      <p:sp>
        <p:nvSpPr>
          <p:cNvPr id="301" name="Google Shape;301;p11"/>
          <p:cNvSpPr/>
          <p:nvPr/>
        </p:nvSpPr>
        <p:spPr>
          <a:xfrm>
            <a:off x="628650" y="3211674"/>
            <a:ext cx="843297"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thời gian thực</a:t>
            </a:r>
            <a:endParaRPr b="0" i="0" sz="942" u="none" cap="none" strike="noStrike">
              <a:solidFill>
                <a:schemeClr val="dk1"/>
              </a:solidFill>
              <a:latin typeface="Calibri"/>
              <a:ea typeface="Calibri"/>
              <a:cs typeface="Calibri"/>
              <a:sym typeface="Calibri"/>
            </a:endParaRPr>
          </a:p>
        </p:txBody>
      </p:sp>
      <p:pic>
        <p:nvPicPr>
          <p:cNvPr descr="preencoded.png" id="302" name="Google Shape;302;p11"/>
          <p:cNvPicPr preferRelativeResize="0"/>
          <p:nvPr/>
        </p:nvPicPr>
        <p:blipFill rotWithShape="1">
          <a:blip r:embed="rId6">
            <a:alphaModFix/>
          </a:blip>
          <a:srcRect b="0" l="0" r="0" t="0"/>
          <a:stretch/>
        </p:blipFill>
        <p:spPr>
          <a:xfrm>
            <a:off x="428625" y="3576340"/>
            <a:ext cx="128588" cy="128588"/>
          </a:xfrm>
          <a:prstGeom prst="rect">
            <a:avLst/>
          </a:prstGeom>
          <a:noFill/>
          <a:ln>
            <a:noFill/>
          </a:ln>
        </p:spPr>
      </p:pic>
      <p:sp>
        <p:nvSpPr>
          <p:cNvPr id="303" name="Google Shape;303;p11"/>
          <p:cNvSpPr/>
          <p:nvPr/>
        </p:nvSpPr>
        <p:spPr>
          <a:xfrm>
            <a:off x="628650" y="3524548"/>
            <a:ext cx="113672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Tích hợp dễ dàng:</a:t>
            </a:r>
            <a:endParaRPr b="0" i="0" sz="942" u="none" cap="none" strike="noStrike">
              <a:solidFill>
                <a:schemeClr val="dk1"/>
              </a:solidFill>
              <a:latin typeface="Calibri"/>
              <a:ea typeface="Calibri"/>
              <a:cs typeface="Calibri"/>
              <a:sym typeface="Calibri"/>
            </a:endParaRPr>
          </a:p>
        </p:txBody>
      </p:sp>
      <p:sp>
        <p:nvSpPr>
          <p:cNvPr id="304" name="Google Shape;304;p11"/>
          <p:cNvSpPr/>
          <p:nvPr/>
        </p:nvSpPr>
        <p:spPr>
          <a:xfrm>
            <a:off x="1765371" y="3524548"/>
            <a:ext cx="237708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Tương thích với nhiều công nghệ và hệ </a:t>
            </a:r>
            <a:endParaRPr b="0" i="0" sz="942" u="none" cap="none" strike="noStrike">
              <a:solidFill>
                <a:schemeClr val="dk1"/>
              </a:solidFill>
              <a:latin typeface="Calibri"/>
              <a:ea typeface="Calibri"/>
              <a:cs typeface="Calibri"/>
              <a:sym typeface="Calibri"/>
            </a:endParaRPr>
          </a:p>
        </p:txBody>
      </p:sp>
      <p:sp>
        <p:nvSpPr>
          <p:cNvPr id="305" name="Google Shape;305;p11"/>
          <p:cNvSpPr/>
          <p:nvPr/>
        </p:nvSpPr>
        <p:spPr>
          <a:xfrm>
            <a:off x="628650" y="3730265"/>
            <a:ext cx="102164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thống khác nhau</a:t>
            </a:r>
            <a:endParaRPr b="0" i="0" sz="942" u="none" cap="none" strike="noStrike">
              <a:solidFill>
                <a:schemeClr val="dk1"/>
              </a:solidFill>
              <a:latin typeface="Calibri"/>
              <a:ea typeface="Calibri"/>
              <a:cs typeface="Calibri"/>
              <a:sym typeface="Calibri"/>
            </a:endParaRPr>
          </a:p>
        </p:txBody>
      </p:sp>
      <p:pic>
        <p:nvPicPr>
          <p:cNvPr descr="preencoded.png" id="306" name="Google Shape;306;p11"/>
          <p:cNvPicPr preferRelativeResize="0"/>
          <p:nvPr/>
        </p:nvPicPr>
        <p:blipFill rotWithShape="1">
          <a:blip r:embed="rId5">
            <a:alphaModFix/>
          </a:blip>
          <a:srcRect b="0" l="0" r="0" t="0"/>
          <a:stretch/>
        </p:blipFill>
        <p:spPr>
          <a:xfrm>
            <a:off x="428625" y="4094931"/>
            <a:ext cx="128588" cy="128588"/>
          </a:xfrm>
          <a:prstGeom prst="rect">
            <a:avLst/>
          </a:prstGeom>
          <a:noFill/>
          <a:ln>
            <a:noFill/>
          </a:ln>
        </p:spPr>
      </p:pic>
      <p:sp>
        <p:nvSpPr>
          <p:cNvPr id="307" name="Google Shape;307;p11"/>
          <p:cNvSpPr/>
          <p:nvPr/>
        </p:nvSpPr>
        <p:spPr>
          <a:xfrm>
            <a:off x="628650" y="4043139"/>
            <a:ext cx="160555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Trực quan hóa mạnh mẽ:</a:t>
            </a:r>
            <a:endParaRPr b="0" i="0" sz="942" u="none" cap="none" strike="noStrike">
              <a:solidFill>
                <a:schemeClr val="dk1"/>
              </a:solidFill>
              <a:latin typeface="Calibri"/>
              <a:ea typeface="Calibri"/>
              <a:cs typeface="Calibri"/>
              <a:sym typeface="Calibri"/>
            </a:endParaRPr>
          </a:p>
        </p:txBody>
      </p:sp>
      <p:sp>
        <p:nvSpPr>
          <p:cNvPr id="308" name="Google Shape;308;p11"/>
          <p:cNvSpPr/>
          <p:nvPr/>
        </p:nvSpPr>
        <p:spPr>
          <a:xfrm>
            <a:off x="2234208" y="4043139"/>
            <a:ext cx="1912237"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Kibana cung cấp nhiều công cụ </a:t>
            </a:r>
            <a:endParaRPr b="0" i="0" sz="942" u="none" cap="none" strike="noStrike">
              <a:solidFill>
                <a:schemeClr val="dk1"/>
              </a:solidFill>
              <a:latin typeface="Calibri"/>
              <a:ea typeface="Calibri"/>
              <a:cs typeface="Calibri"/>
              <a:sym typeface="Calibri"/>
            </a:endParaRPr>
          </a:p>
        </p:txBody>
      </p:sp>
      <p:sp>
        <p:nvSpPr>
          <p:cNvPr id="309" name="Google Shape;309;p11"/>
          <p:cNvSpPr/>
          <p:nvPr/>
        </p:nvSpPr>
        <p:spPr>
          <a:xfrm>
            <a:off x="628650" y="4248857"/>
            <a:ext cx="1305297"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trực quan hóa dữ liệu</a:t>
            </a:r>
            <a:endParaRPr b="0" i="0" sz="942" u="none" cap="none" strike="noStrike">
              <a:solidFill>
                <a:schemeClr val="dk1"/>
              </a:solidFill>
              <a:latin typeface="Calibri"/>
              <a:ea typeface="Calibri"/>
              <a:cs typeface="Calibri"/>
              <a:sym typeface="Calibri"/>
            </a:endParaRPr>
          </a:p>
        </p:txBody>
      </p:sp>
      <p:pic>
        <p:nvPicPr>
          <p:cNvPr descr="preencoded.png" id="310" name="Google Shape;310;p11"/>
          <p:cNvPicPr preferRelativeResize="0"/>
          <p:nvPr/>
        </p:nvPicPr>
        <p:blipFill rotWithShape="1">
          <a:blip r:embed="rId9">
            <a:alphaModFix/>
          </a:blip>
          <a:srcRect b="0" l="0" r="0" t="0"/>
          <a:stretch/>
        </p:blipFill>
        <p:spPr>
          <a:xfrm>
            <a:off x="285750" y="5011787"/>
            <a:ext cx="4114800" cy="4114800"/>
          </a:xfrm>
          <a:prstGeom prst="rect">
            <a:avLst/>
          </a:prstGeom>
          <a:noFill/>
          <a:ln>
            <a:noFill/>
          </a:ln>
        </p:spPr>
      </p:pic>
      <p:pic>
        <p:nvPicPr>
          <p:cNvPr descr="preencoded.png" id="311" name="Google Shape;311;p11"/>
          <p:cNvPicPr preferRelativeResize="0"/>
          <p:nvPr/>
        </p:nvPicPr>
        <p:blipFill rotWithShape="1">
          <a:blip r:embed="rId10">
            <a:alphaModFix/>
          </a:blip>
          <a:srcRect b="0" l="0" r="0" t="0"/>
          <a:stretch/>
        </p:blipFill>
        <p:spPr>
          <a:xfrm>
            <a:off x="4743450" y="937617"/>
            <a:ext cx="200025" cy="200025"/>
          </a:xfrm>
          <a:prstGeom prst="rect">
            <a:avLst/>
          </a:prstGeom>
          <a:noFill/>
          <a:ln>
            <a:noFill/>
          </a:ln>
        </p:spPr>
      </p:pic>
      <p:sp>
        <p:nvSpPr>
          <p:cNvPr id="312" name="Google Shape;312;p11"/>
          <p:cNvSpPr/>
          <p:nvPr/>
        </p:nvSpPr>
        <p:spPr>
          <a:xfrm>
            <a:off x="5014913" y="907256"/>
            <a:ext cx="694032"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Hạn chế</a:t>
            </a:r>
            <a:endParaRPr b="0" i="0" sz="1350" u="none" cap="none" strike="noStrike">
              <a:solidFill>
                <a:schemeClr val="dk1"/>
              </a:solidFill>
              <a:latin typeface="Calibri"/>
              <a:ea typeface="Calibri"/>
              <a:cs typeface="Calibri"/>
              <a:sym typeface="Calibri"/>
            </a:endParaRPr>
          </a:p>
        </p:txBody>
      </p:sp>
      <p:sp>
        <p:nvSpPr>
          <p:cNvPr id="313" name="Google Shape;313;p11"/>
          <p:cNvSpPr/>
          <p:nvPr/>
        </p:nvSpPr>
        <p:spPr>
          <a:xfrm>
            <a:off x="4743450" y="1293019"/>
            <a:ext cx="4114800" cy="3397300"/>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4" name="Google Shape;314;p11"/>
          <p:cNvPicPr preferRelativeResize="0"/>
          <p:nvPr/>
        </p:nvPicPr>
        <p:blipFill rotWithShape="1">
          <a:blip r:embed="rId11">
            <a:alphaModFix/>
          </a:blip>
          <a:srcRect b="0" l="0" r="0" t="0"/>
          <a:stretch/>
        </p:blipFill>
        <p:spPr>
          <a:xfrm>
            <a:off x="4886325" y="1501973"/>
            <a:ext cx="128588" cy="128588"/>
          </a:xfrm>
          <a:prstGeom prst="rect">
            <a:avLst/>
          </a:prstGeom>
          <a:noFill/>
          <a:ln>
            <a:noFill/>
          </a:ln>
        </p:spPr>
      </p:pic>
      <p:sp>
        <p:nvSpPr>
          <p:cNvPr id="315" name="Google Shape;315;p11"/>
          <p:cNvSpPr/>
          <p:nvPr/>
        </p:nvSpPr>
        <p:spPr>
          <a:xfrm>
            <a:off x="5086350" y="1450181"/>
            <a:ext cx="151296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Yêu cầu tài nguyên cao:</a:t>
            </a:r>
            <a:endParaRPr b="0" i="0" sz="942" u="none" cap="none" strike="noStrike">
              <a:solidFill>
                <a:schemeClr val="dk1"/>
              </a:solidFill>
              <a:latin typeface="Calibri"/>
              <a:ea typeface="Calibri"/>
              <a:cs typeface="Calibri"/>
              <a:sym typeface="Calibri"/>
            </a:endParaRPr>
          </a:p>
        </p:txBody>
      </p:sp>
      <p:sp>
        <p:nvSpPr>
          <p:cNvPr id="316" name="Google Shape;316;p11"/>
          <p:cNvSpPr/>
          <p:nvPr/>
        </p:nvSpPr>
        <p:spPr>
          <a:xfrm>
            <a:off x="6599318" y="1450181"/>
            <a:ext cx="2037476"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Elasticsearch tiêu tốn nhiều RAM, </a:t>
            </a:r>
            <a:endParaRPr b="0" i="0" sz="942" u="none" cap="none" strike="noStrike">
              <a:solidFill>
                <a:schemeClr val="dk1"/>
              </a:solidFill>
              <a:latin typeface="Calibri"/>
              <a:ea typeface="Calibri"/>
              <a:cs typeface="Calibri"/>
              <a:sym typeface="Calibri"/>
            </a:endParaRPr>
          </a:p>
        </p:txBody>
      </p:sp>
      <p:sp>
        <p:nvSpPr>
          <p:cNvPr id="317" name="Google Shape;317;p11"/>
          <p:cNvSpPr/>
          <p:nvPr/>
        </p:nvSpPr>
        <p:spPr>
          <a:xfrm>
            <a:off x="5086350" y="1655899"/>
            <a:ext cx="1689134"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đặc biệt khi xử lý dữ liệu lớn</a:t>
            </a:r>
            <a:endParaRPr b="0" i="0" sz="942" u="none" cap="none" strike="noStrike">
              <a:solidFill>
                <a:schemeClr val="dk1"/>
              </a:solidFill>
              <a:latin typeface="Calibri"/>
              <a:ea typeface="Calibri"/>
              <a:cs typeface="Calibri"/>
              <a:sym typeface="Calibri"/>
            </a:endParaRPr>
          </a:p>
        </p:txBody>
      </p:sp>
      <p:pic>
        <p:nvPicPr>
          <p:cNvPr descr="preencoded.png" id="318" name="Google Shape;318;p11"/>
          <p:cNvPicPr preferRelativeResize="0"/>
          <p:nvPr/>
        </p:nvPicPr>
        <p:blipFill rotWithShape="1">
          <a:blip r:embed="rId12">
            <a:alphaModFix/>
          </a:blip>
          <a:srcRect b="0" l="0" r="0" t="0"/>
          <a:stretch/>
        </p:blipFill>
        <p:spPr>
          <a:xfrm>
            <a:off x="4886325" y="2020565"/>
            <a:ext cx="128588" cy="128588"/>
          </a:xfrm>
          <a:prstGeom prst="rect">
            <a:avLst/>
          </a:prstGeom>
          <a:noFill/>
          <a:ln>
            <a:noFill/>
          </a:ln>
        </p:spPr>
      </p:pic>
      <p:sp>
        <p:nvSpPr>
          <p:cNvPr id="319" name="Google Shape;319;p11"/>
          <p:cNvSpPr/>
          <p:nvPr/>
        </p:nvSpPr>
        <p:spPr>
          <a:xfrm>
            <a:off x="5086350" y="1968773"/>
            <a:ext cx="82284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Độ phức tạp:</a:t>
            </a:r>
            <a:endParaRPr b="0" i="0" sz="942" u="none" cap="none" strike="noStrike">
              <a:solidFill>
                <a:schemeClr val="dk1"/>
              </a:solidFill>
              <a:latin typeface="Calibri"/>
              <a:ea typeface="Calibri"/>
              <a:cs typeface="Calibri"/>
              <a:sym typeface="Calibri"/>
            </a:endParaRPr>
          </a:p>
        </p:txBody>
      </p:sp>
      <p:sp>
        <p:nvSpPr>
          <p:cNvPr id="320" name="Google Shape;320;p11"/>
          <p:cNvSpPr/>
          <p:nvPr/>
        </p:nvSpPr>
        <p:spPr>
          <a:xfrm>
            <a:off x="5909193" y="1968773"/>
            <a:ext cx="243802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Cấu hình và tối ưu hóa đòi hỏi kiến thức </a:t>
            </a:r>
            <a:endParaRPr b="0" i="0" sz="942" u="none" cap="none" strike="noStrike">
              <a:solidFill>
                <a:schemeClr val="dk1"/>
              </a:solidFill>
              <a:latin typeface="Calibri"/>
              <a:ea typeface="Calibri"/>
              <a:cs typeface="Calibri"/>
              <a:sym typeface="Calibri"/>
            </a:endParaRPr>
          </a:p>
        </p:txBody>
      </p:sp>
      <p:sp>
        <p:nvSpPr>
          <p:cNvPr id="321" name="Google Shape;321;p11"/>
          <p:cNvSpPr/>
          <p:nvPr/>
        </p:nvSpPr>
        <p:spPr>
          <a:xfrm>
            <a:off x="5086350" y="2174491"/>
            <a:ext cx="684879"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chuyên sâu</a:t>
            </a:r>
            <a:endParaRPr b="0" i="0" sz="942" u="none" cap="none" strike="noStrike">
              <a:solidFill>
                <a:schemeClr val="dk1"/>
              </a:solidFill>
              <a:latin typeface="Calibri"/>
              <a:ea typeface="Calibri"/>
              <a:cs typeface="Calibri"/>
              <a:sym typeface="Calibri"/>
            </a:endParaRPr>
          </a:p>
        </p:txBody>
      </p:sp>
      <p:pic>
        <p:nvPicPr>
          <p:cNvPr descr="preencoded.png" id="322" name="Google Shape;322;p11"/>
          <p:cNvPicPr preferRelativeResize="0"/>
          <p:nvPr/>
        </p:nvPicPr>
        <p:blipFill rotWithShape="1">
          <a:blip r:embed="rId13">
            <a:alphaModFix/>
          </a:blip>
          <a:srcRect b="0" l="0" r="0" t="0"/>
          <a:stretch/>
        </p:blipFill>
        <p:spPr>
          <a:xfrm>
            <a:off x="4886325" y="2539157"/>
            <a:ext cx="128588" cy="128588"/>
          </a:xfrm>
          <a:prstGeom prst="rect">
            <a:avLst/>
          </a:prstGeom>
          <a:noFill/>
          <a:ln>
            <a:noFill/>
          </a:ln>
        </p:spPr>
      </p:pic>
      <p:sp>
        <p:nvSpPr>
          <p:cNvPr id="323" name="Google Shape;323;p11"/>
          <p:cNvSpPr/>
          <p:nvPr/>
        </p:nvSpPr>
        <p:spPr>
          <a:xfrm>
            <a:off x="5086350" y="2487364"/>
            <a:ext cx="124371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Thay đổi giấy phép:</a:t>
            </a:r>
            <a:endParaRPr b="0" i="0" sz="942" u="none" cap="none" strike="noStrike">
              <a:solidFill>
                <a:schemeClr val="dk1"/>
              </a:solidFill>
              <a:latin typeface="Calibri"/>
              <a:ea typeface="Calibri"/>
              <a:cs typeface="Calibri"/>
              <a:sym typeface="Calibri"/>
            </a:endParaRPr>
          </a:p>
        </p:txBody>
      </p:sp>
      <p:sp>
        <p:nvSpPr>
          <p:cNvPr id="324" name="Google Shape;324;p11"/>
          <p:cNvSpPr/>
          <p:nvPr/>
        </p:nvSpPr>
        <p:spPr>
          <a:xfrm>
            <a:off x="6330060" y="2487364"/>
            <a:ext cx="216207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Từ phiên bản 7.11, không còn hoàn </a:t>
            </a:r>
            <a:endParaRPr b="0" i="0" sz="942" u="none" cap="none" strike="noStrike">
              <a:solidFill>
                <a:schemeClr val="dk1"/>
              </a:solidFill>
              <a:latin typeface="Calibri"/>
              <a:ea typeface="Calibri"/>
              <a:cs typeface="Calibri"/>
              <a:sym typeface="Calibri"/>
            </a:endParaRPr>
          </a:p>
        </p:txBody>
      </p:sp>
      <p:sp>
        <p:nvSpPr>
          <p:cNvPr id="325" name="Google Shape;325;p11"/>
          <p:cNvSpPr/>
          <p:nvPr/>
        </p:nvSpPr>
        <p:spPr>
          <a:xfrm>
            <a:off x="5086350" y="2693082"/>
            <a:ext cx="116320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toàn mã nguồn mở</a:t>
            </a:r>
            <a:endParaRPr b="0" i="0" sz="942" u="none" cap="none" strike="noStrike">
              <a:solidFill>
                <a:schemeClr val="dk1"/>
              </a:solidFill>
              <a:latin typeface="Calibri"/>
              <a:ea typeface="Calibri"/>
              <a:cs typeface="Calibri"/>
              <a:sym typeface="Calibri"/>
            </a:endParaRPr>
          </a:p>
        </p:txBody>
      </p:sp>
      <p:pic>
        <p:nvPicPr>
          <p:cNvPr descr="preencoded.png" id="326" name="Google Shape;326;p11"/>
          <p:cNvPicPr preferRelativeResize="0"/>
          <p:nvPr/>
        </p:nvPicPr>
        <p:blipFill rotWithShape="1">
          <a:blip r:embed="rId14">
            <a:alphaModFix/>
          </a:blip>
          <a:srcRect b="0" l="0" r="0" t="0"/>
          <a:stretch/>
        </p:blipFill>
        <p:spPr>
          <a:xfrm>
            <a:off x="4886325" y="3057748"/>
            <a:ext cx="128588" cy="128588"/>
          </a:xfrm>
          <a:prstGeom prst="rect">
            <a:avLst/>
          </a:prstGeom>
          <a:noFill/>
          <a:ln>
            <a:noFill/>
          </a:ln>
        </p:spPr>
      </p:pic>
      <p:sp>
        <p:nvSpPr>
          <p:cNvPr id="327" name="Google Shape;327;p11"/>
          <p:cNvSpPr/>
          <p:nvPr/>
        </p:nvSpPr>
        <p:spPr>
          <a:xfrm>
            <a:off x="5086350" y="3005956"/>
            <a:ext cx="1220577"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Vấn đề về bảo mật:</a:t>
            </a:r>
            <a:endParaRPr b="0" i="0" sz="942" u="none" cap="none" strike="noStrike">
              <a:solidFill>
                <a:schemeClr val="dk1"/>
              </a:solidFill>
              <a:latin typeface="Calibri"/>
              <a:ea typeface="Calibri"/>
              <a:cs typeface="Calibri"/>
              <a:sym typeface="Calibri"/>
            </a:endParaRPr>
          </a:p>
        </p:txBody>
      </p:sp>
      <p:sp>
        <p:nvSpPr>
          <p:cNvPr id="328" name="Google Shape;328;p11"/>
          <p:cNvSpPr/>
          <p:nvPr/>
        </p:nvSpPr>
        <p:spPr>
          <a:xfrm>
            <a:off x="6306927" y="3005956"/>
            <a:ext cx="2095742"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Cần cấu hình bảo mật cẩn thận để </a:t>
            </a:r>
            <a:endParaRPr b="0" i="0" sz="942" u="none" cap="none" strike="noStrike">
              <a:solidFill>
                <a:schemeClr val="dk1"/>
              </a:solidFill>
              <a:latin typeface="Calibri"/>
              <a:ea typeface="Calibri"/>
              <a:cs typeface="Calibri"/>
              <a:sym typeface="Calibri"/>
            </a:endParaRPr>
          </a:p>
        </p:txBody>
      </p:sp>
      <p:sp>
        <p:nvSpPr>
          <p:cNvPr id="329" name="Google Shape;329;p11"/>
          <p:cNvSpPr/>
          <p:nvPr/>
        </p:nvSpPr>
        <p:spPr>
          <a:xfrm>
            <a:off x="5086350" y="3211674"/>
            <a:ext cx="1541013"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tránh lộ dữ liệu nhạy cảm</a:t>
            </a:r>
            <a:endParaRPr b="0" i="0" sz="942" u="none" cap="none" strike="noStrike">
              <a:solidFill>
                <a:schemeClr val="dk1"/>
              </a:solidFill>
              <a:latin typeface="Calibri"/>
              <a:ea typeface="Calibri"/>
              <a:cs typeface="Calibri"/>
              <a:sym typeface="Calibri"/>
            </a:endParaRPr>
          </a:p>
        </p:txBody>
      </p:sp>
      <p:pic>
        <p:nvPicPr>
          <p:cNvPr descr="preencoded.png" id="330" name="Google Shape;330;p11"/>
          <p:cNvPicPr preferRelativeResize="0"/>
          <p:nvPr/>
        </p:nvPicPr>
        <p:blipFill rotWithShape="1">
          <a:blip r:embed="rId12">
            <a:alphaModFix/>
          </a:blip>
          <a:srcRect b="0" l="0" r="0" t="0"/>
          <a:stretch/>
        </p:blipFill>
        <p:spPr>
          <a:xfrm>
            <a:off x="4886325" y="3576340"/>
            <a:ext cx="128588" cy="128588"/>
          </a:xfrm>
          <a:prstGeom prst="rect">
            <a:avLst/>
          </a:prstGeom>
          <a:noFill/>
          <a:ln>
            <a:noFill/>
          </a:ln>
        </p:spPr>
      </p:pic>
      <p:sp>
        <p:nvSpPr>
          <p:cNvPr id="331" name="Google Shape;331;p11"/>
          <p:cNvSpPr/>
          <p:nvPr/>
        </p:nvSpPr>
        <p:spPr>
          <a:xfrm>
            <a:off x="5086350" y="3524548"/>
            <a:ext cx="111409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Chi phí vận hành:</a:t>
            </a:r>
            <a:endParaRPr b="0" i="0" sz="942" u="none" cap="none" strike="noStrike">
              <a:solidFill>
                <a:schemeClr val="dk1"/>
              </a:solidFill>
              <a:latin typeface="Calibri"/>
              <a:ea typeface="Calibri"/>
              <a:cs typeface="Calibri"/>
              <a:sym typeface="Calibri"/>
            </a:endParaRPr>
          </a:p>
        </p:txBody>
      </p:sp>
      <p:sp>
        <p:nvSpPr>
          <p:cNvPr id="332" name="Google Shape;332;p11"/>
          <p:cNvSpPr/>
          <p:nvPr/>
        </p:nvSpPr>
        <p:spPr>
          <a:xfrm>
            <a:off x="6200440" y="3524548"/>
            <a:ext cx="2363186"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Tốn kém khi triển khai quy mô lớn, đặc </a:t>
            </a:r>
            <a:endParaRPr b="0" i="0" sz="942" u="none" cap="none" strike="noStrike">
              <a:solidFill>
                <a:schemeClr val="dk1"/>
              </a:solidFill>
              <a:latin typeface="Calibri"/>
              <a:ea typeface="Calibri"/>
              <a:cs typeface="Calibri"/>
              <a:sym typeface="Calibri"/>
            </a:endParaRPr>
          </a:p>
        </p:txBody>
      </p:sp>
      <p:sp>
        <p:nvSpPr>
          <p:cNvPr id="333" name="Google Shape;333;p11"/>
          <p:cNvSpPr/>
          <p:nvPr/>
        </p:nvSpPr>
        <p:spPr>
          <a:xfrm>
            <a:off x="5086350" y="3730265"/>
            <a:ext cx="125529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biệt là chi phí lưu trữ</a:t>
            </a:r>
            <a:endParaRPr b="0" i="0" sz="942" u="none" cap="none" strike="noStrike">
              <a:solidFill>
                <a:schemeClr val="dk1"/>
              </a:solidFill>
              <a:latin typeface="Calibri"/>
              <a:ea typeface="Calibri"/>
              <a:cs typeface="Calibri"/>
              <a:sym typeface="Calibri"/>
            </a:endParaRPr>
          </a:p>
        </p:txBody>
      </p:sp>
      <p:pic>
        <p:nvPicPr>
          <p:cNvPr descr="preencoded.png" id="334" name="Google Shape;334;p11"/>
          <p:cNvPicPr preferRelativeResize="0"/>
          <p:nvPr/>
        </p:nvPicPr>
        <p:blipFill rotWithShape="1">
          <a:blip r:embed="rId11">
            <a:alphaModFix/>
          </a:blip>
          <a:srcRect b="0" l="0" r="0" t="0"/>
          <a:stretch/>
        </p:blipFill>
        <p:spPr>
          <a:xfrm>
            <a:off x="4886325" y="4094931"/>
            <a:ext cx="128588" cy="128588"/>
          </a:xfrm>
          <a:prstGeom prst="rect">
            <a:avLst/>
          </a:prstGeom>
          <a:noFill/>
          <a:ln>
            <a:noFill/>
          </a:ln>
        </p:spPr>
      </p:pic>
      <p:sp>
        <p:nvSpPr>
          <p:cNvPr id="335" name="Google Shape;335;p11"/>
          <p:cNvSpPr/>
          <p:nvPr/>
        </p:nvSpPr>
        <p:spPr>
          <a:xfrm>
            <a:off x="5086350" y="4043139"/>
            <a:ext cx="133964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Đường cong học tập:</a:t>
            </a:r>
            <a:endParaRPr b="0" i="0" sz="942" u="none" cap="none" strike="noStrike">
              <a:solidFill>
                <a:schemeClr val="dk1"/>
              </a:solidFill>
              <a:latin typeface="Calibri"/>
              <a:ea typeface="Calibri"/>
              <a:cs typeface="Calibri"/>
              <a:sym typeface="Calibri"/>
            </a:endParaRPr>
          </a:p>
        </p:txBody>
      </p:sp>
      <p:sp>
        <p:nvSpPr>
          <p:cNvPr id="336" name="Google Shape;336;p11"/>
          <p:cNvSpPr/>
          <p:nvPr/>
        </p:nvSpPr>
        <p:spPr>
          <a:xfrm>
            <a:off x="6425998" y="4043139"/>
            <a:ext cx="1976140"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Cần thời gian để làm quen và sử </a:t>
            </a:r>
            <a:endParaRPr b="0" i="0" sz="942" u="none" cap="none" strike="noStrike">
              <a:solidFill>
                <a:schemeClr val="dk1"/>
              </a:solidFill>
              <a:latin typeface="Calibri"/>
              <a:ea typeface="Calibri"/>
              <a:cs typeface="Calibri"/>
              <a:sym typeface="Calibri"/>
            </a:endParaRPr>
          </a:p>
        </p:txBody>
      </p:sp>
      <p:sp>
        <p:nvSpPr>
          <p:cNvPr id="337" name="Google Shape;337;p11"/>
          <p:cNvSpPr/>
          <p:nvPr/>
        </p:nvSpPr>
        <p:spPr>
          <a:xfrm>
            <a:off x="5086350" y="4248857"/>
            <a:ext cx="87929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dụng hiệu quả</a:t>
            </a:r>
            <a:endParaRPr b="0" i="0" sz="942" u="none" cap="none" strike="noStrike">
              <a:solidFill>
                <a:schemeClr val="dk1"/>
              </a:solidFill>
              <a:latin typeface="Calibri"/>
              <a:ea typeface="Calibri"/>
              <a:cs typeface="Calibri"/>
              <a:sym typeface="Calibri"/>
            </a:endParaRPr>
          </a:p>
        </p:txBody>
      </p:sp>
      <p:pic>
        <p:nvPicPr>
          <p:cNvPr descr="preencoded.png" id="338" name="Google Shape;338;p11"/>
          <p:cNvPicPr preferRelativeResize="0"/>
          <p:nvPr/>
        </p:nvPicPr>
        <p:blipFill rotWithShape="1">
          <a:blip r:embed="rId15">
            <a:alphaModFix/>
          </a:blip>
          <a:srcRect b="0" l="0" r="0" t="0"/>
          <a:stretch/>
        </p:blipFill>
        <p:spPr>
          <a:xfrm>
            <a:off x="5350808" y="5011787"/>
            <a:ext cx="2900083" cy="17859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descr="preencoded.png" id="344" name="Google Shape;344;p12"/>
          <p:cNvPicPr preferRelativeResize="0"/>
          <p:nvPr/>
        </p:nvPicPr>
        <p:blipFill rotWithShape="1">
          <a:blip r:embed="rId3">
            <a:alphaModFix/>
          </a:blip>
          <a:srcRect b="0" l="0" r="0" t="0"/>
          <a:stretch/>
        </p:blipFill>
        <p:spPr>
          <a:xfrm>
            <a:off x="0" y="0"/>
            <a:ext cx="9144000" cy="6300760"/>
          </a:xfrm>
          <a:prstGeom prst="rect">
            <a:avLst/>
          </a:prstGeom>
          <a:noFill/>
          <a:ln>
            <a:noFill/>
          </a:ln>
        </p:spPr>
      </p:pic>
      <p:sp>
        <p:nvSpPr>
          <p:cNvPr id="345" name="Google Shape;345;p12"/>
          <p:cNvSpPr/>
          <p:nvPr/>
        </p:nvSpPr>
        <p:spPr>
          <a:xfrm>
            <a:off x="285750" y="285750"/>
            <a:ext cx="8572500" cy="38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25"/>
              <a:buFont typeface="Noto Sans"/>
              <a:buNone/>
            </a:pPr>
            <a:r>
              <a:rPr b="1" i="0" lang="en-US" sz="2025" u="none" cap="none" strike="noStrike">
                <a:solidFill>
                  <a:srgbClr val="FFFFFF"/>
                </a:solidFill>
                <a:latin typeface="Noto Sans"/>
                <a:ea typeface="Noto Sans"/>
                <a:cs typeface="Noto Sans"/>
                <a:sym typeface="Noto Sans"/>
              </a:rPr>
              <a:t>KẾT LUẬN</a:t>
            </a:r>
            <a:endParaRPr b="0" i="0" sz="2025" u="none" cap="none" strike="noStrike">
              <a:solidFill>
                <a:schemeClr val="dk1"/>
              </a:solidFill>
              <a:latin typeface="Calibri"/>
              <a:ea typeface="Calibri"/>
              <a:cs typeface="Calibri"/>
              <a:sym typeface="Calibri"/>
            </a:endParaRPr>
          </a:p>
        </p:txBody>
      </p:sp>
      <p:sp>
        <p:nvSpPr>
          <p:cNvPr id="346" name="Google Shape;346;p12"/>
          <p:cNvSpPr/>
          <p:nvPr/>
        </p:nvSpPr>
        <p:spPr>
          <a:xfrm>
            <a:off x="285750" y="885825"/>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Tổng kết</a:t>
            </a:r>
            <a:endParaRPr b="0" i="0" sz="1350" u="none" cap="none" strike="noStrike">
              <a:solidFill>
                <a:schemeClr val="dk1"/>
              </a:solidFill>
              <a:latin typeface="Calibri"/>
              <a:ea typeface="Calibri"/>
              <a:cs typeface="Calibri"/>
              <a:sym typeface="Calibri"/>
            </a:endParaRPr>
          </a:p>
        </p:txBody>
      </p:sp>
      <p:sp>
        <p:nvSpPr>
          <p:cNvPr id="347" name="Google Shape;347;p12"/>
          <p:cNvSpPr/>
          <p:nvPr/>
        </p:nvSpPr>
        <p:spPr>
          <a:xfrm>
            <a:off x="285750" y="1214438"/>
            <a:ext cx="4572000" cy="41143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ELK Stack là bộ công cụ mạnh mẽ cho việc quản lý log tập trung, cung cấp giải pháp toàn diện từ thu thập, xử lý đến trực quan hóa dữ liệu log.</a:t>
            </a:r>
            <a:endParaRPr b="0" i="0" sz="942" u="none" cap="none" strike="noStrike">
              <a:solidFill>
                <a:schemeClr val="dk1"/>
              </a:solidFill>
              <a:latin typeface="Calibri"/>
              <a:ea typeface="Calibri"/>
              <a:cs typeface="Calibri"/>
              <a:sym typeface="Calibri"/>
            </a:endParaRPr>
          </a:p>
        </p:txBody>
      </p:sp>
      <p:sp>
        <p:nvSpPr>
          <p:cNvPr id="348" name="Google Shape;348;p12"/>
          <p:cNvSpPr/>
          <p:nvPr/>
        </p:nvSpPr>
        <p:spPr>
          <a:xfrm>
            <a:off x="285750" y="1711598"/>
            <a:ext cx="45720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Với các thành phần chính:</a:t>
            </a:r>
            <a:endParaRPr b="0" i="0" sz="942" u="none" cap="none" strike="noStrike">
              <a:solidFill>
                <a:schemeClr val="dk1"/>
              </a:solidFill>
              <a:latin typeface="Calibri"/>
              <a:ea typeface="Calibri"/>
              <a:cs typeface="Calibri"/>
              <a:sym typeface="Calibri"/>
            </a:endParaRPr>
          </a:p>
        </p:txBody>
      </p:sp>
      <p:sp>
        <p:nvSpPr>
          <p:cNvPr id="349" name="Google Shape;349;p12"/>
          <p:cNvSpPr/>
          <p:nvPr/>
        </p:nvSpPr>
        <p:spPr>
          <a:xfrm>
            <a:off x="457200" y="1988753"/>
            <a:ext cx="837884"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Elasticsearch</a:t>
            </a:r>
            <a:endParaRPr b="0" i="0" sz="942" u="none" cap="none" strike="noStrike">
              <a:solidFill>
                <a:schemeClr val="dk1"/>
              </a:solidFill>
              <a:latin typeface="Calibri"/>
              <a:ea typeface="Calibri"/>
              <a:cs typeface="Calibri"/>
              <a:sym typeface="Calibri"/>
            </a:endParaRPr>
          </a:p>
        </p:txBody>
      </p:sp>
      <p:sp>
        <p:nvSpPr>
          <p:cNvPr id="350" name="Google Shape;350;p12"/>
          <p:cNvSpPr/>
          <p:nvPr/>
        </p:nvSpPr>
        <p:spPr>
          <a:xfrm>
            <a:off x="1295084" y="1988753"/>
            <a:ext cx="170417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Lưu trữ và tìm kiếm dữ liệu</a:t>
            </a:r>
            <a:endParaRPr b="0" i="0" sz="942" u="none" cap="none" strike="noStrike">
              <a:solidFill>
                <a:schemeClr val="dk1"/>
              </a:solidFill>
              <a:latin typeface="Calibri"/>
              <a:ea typeface="Calibri"/>
              <a:cs typeface="Calibri"/>
              <a:sym typeface="Calibri"/>
            </a:endParaRPr>
          </a:p>
        </p:txBody>
      </p:sp>
      <p:sp>
        <p:nvSpPr>
          <p:cNvPr id="351" name="Google Shape;351;p12"/>
          <p:cNvSpPr/>
          <p:nvPr/>
        </p:nvSpPr>
        <p:spPr>
          <a:xfrm>
            <a:off x="457200" y="2194471"/>
            <a:ext cx="57942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Logstash</a:t>
            </a:r>
            <a:endParaRPr b="0" i="0" sz="942" u="none" cap="none" strike="noStrike">
              <a:solidFill>
                <a:schemeClr val="dk1"/>
              </a:solidFill>
              <a:latin typeface="Calibri"/>
              <a:ea typeface="Calibri"/>
              <a:cs typeface="Calibri"/>
              <a:sym typeface="Calibri"/>
            </a:endParaRPr>
          </a:p>
        </p:txBody>
      </p:sp>
      <p:sp>
        <p:nvSpPr>
          <p:cNvPr id="352" name="Google Shape;352;p12"/>
          <p:cNvSpPr/>
          <p:nvPr/>
        </p:nvSpPr>
        <p:spPr>
          <a:xfrm>
            <a:off x="1036625" y="2194471"/>
            <a:ext cx="132357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Thu thập và xử lý log</a:t>
            </a:r>
            <a:endParaRPr b="0" i="0" sz="942" u="none" cap="none" strike="noStrike">
              <a:solidFill>
                <a:schemeClr val="dk1"/>
              </a:solidFill>
              <a:latin typeface="Calibri"/>
              <a:ea typeface="Calibri"/>
              <a:cs typeface="Calibri"/>
              <a:sym typeface="Calibri"/>
            </a:endParaRPr>
          </a:p>
        </p:txBody>
      </p:sp>
      <p:sp>
        <p:nvSpPr>
          <p:cNvPr id="353" name="Google Shape;353;p12"/>
          <p:cNvSpPr/>
          <p:nvPr/>
        </p:nvSpPr>
        <p:spPr>
          <a:xfrm>
            <a:off x="457200" y="2400188"/>
            <a:ext cx="445815"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Kibana</a:t>
            </a:r>
            <a:endParaRPr b="0" i="0" sz="942" u="none" cap="none" strike="noStrike">
              <a:solidFill>
                <a:schemeClr val="dk1"/>
              </a:solidFill>
              <a:latin typeface="Calibri"/>
              <a:ea typeface="Calibri"/>
              <a:cs typeface="Calibri"/>
              <a:sym typeface="Calibri"/>
            </a:endParaRPr>
          </a:p>
        </p:txBody>
      </p:sp>
      <p:sp>
        <p:nvSpPr>
          <p:cNvPr id="354" name="Google Shape;354;p12"/>
          <p:cNvSpPr/>
          <p:nvPr/>
        </p:nvSpPr>
        <p:spPr>
          <a:xfrm>
            <a:off x="903015" y="2400188"/>
            <a:ext cx="2160538"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Trực quan hóa và phân tích dữ liệu</a:t>
            </a:r>
            <a:endParaRPr b="0" i="0" sz="942" u="none" cap="none" strike="noStrike">
              <a:solidFill>
                <a:schemeClr val="dk1"/>
              </a:solidFill>
              <a:latin typeface="Calibri"/>
              <a:ea typeface="Calibri"/>
              <a:cs typeface="Calibri"/>
              <a:sym typeface="Calibri"/>
            </a:endParaRPr>
          </a:p>
        </p:txBody>
      </p:sp>
      <p:sp>
        <p:nvSpPr>
          <p:cNvPr id="355" name="Google Shape;355;p12"/>
          <p:cNvSpPr/>
          <p:nvPr/>
        </p:nvSpPr>
        <p:spPr>
          <a:xfrm>
            <a:off x="457200" y="2605906"/>
            <a:ext cx="359811"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1" i="0" lang="en-US" sz="942" u="none" cap="none" strike="noStrike">
                <a:solidFill>
                  <a:srgbClr val="FFFFFF"/>
                </a:solidFill>
                <a:latin typeface="Noto Sans"/>
                <a:ea typeface="Noto Sans"/>
                <a:cs typeface="Noto Sans"/>
                <a:sym typeface="Noto Sans"/>
              </a:rPr>
              <a:t>Beats</a:t>
            </a:r>
            <a:endParaRPr b="0" i="0" sz="942" u="none" cap="none" strike="noStrike">
              <a:solidFill>
                <a:schemeClr val="dk1"/>
              </a:solidFill>
              <a:latin typeface="Calibri"/>
              <a:ea typeface="Calibri"/>
              <a:cs typeface="Calibri"/>
              <a:sym typeface="Calibri"/>
            </a:endParaRPr>
          </a:p>
        </p:txBody>
      </p:sp>
      <p:sp>
        <p:nvSpPr>
          <p:cNvPr id="356" name="Google Shape;356;p12"/>
          <p:cNvSpPr/>
          <p:nvPr/>
        </p:nvSpPr>
        <p:spPr>
          <a:xfrm>
            <a:off x="817011" y="2605906"/>
            <a:ext cx="2032592" cy="1750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 Thu thập dữ liệu từ nhiều nguồn</a:t>
            </a:r>
            <a:endParaRPr b="0" i="0" sz="942" u="none" cap="none" strike="noStrike">
              <a:solidFill>
                <a:schemeClr val="dk1"/>
              </a:solidFill>
              <a:latin typeface="Calibri"/>
              <a:ea typeface="Calibri"/>
              <a:cs typeface="Calibri"/>
              <a:sym typeface="Calibri"/>
            </a:endParaRPr>
          </a:p>
        </p:txBody>
      </p:sp>
      <p:sp>
        <p:nvSpPr>
          <p:cNvPr id="357" name="Google Shape;357;p12"/>
          <p:cNvSpPr/>
          <p:nvPr/>
        </p:nvSpPr>
        <p:spPr>
          <a:xfrm>
            <a:off x="285750" y="2975930"/>
            <a:ext cx="45720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Tầm quan trọng trong ATBMTT</a:t>
            </a:r>
            <a:endParaRPr b="0" i="0" sz="1350" u="none" cap="none" strike="noStrike">
              <a:solidFill>
                <a:schemeClr val="dk1"/>
              </a:solidFill>
              <a:latin typeface="Calibri"/>
              <a:ea typeface="Calibri"/>
              <a:cs typeface="Calibri"/>
              <a:sym typeface="Calibri"/>
            </a:endParaRPr>
          </a:p>
        </p:txBody>
      </p:sp>
      <p:sp>
        <p:nvSpPr>
          <p:cNvPr id="358" name="Google Shape;358;p12"/>
          <p:cNvSpPr/>
          <p:nvPr/>
        </p:nvSpPr>
        <p:spPr>
          <a:xfrm>
            <a:off x="285750" y="3304542"/>
            <a:ext cx="457200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ELK Stack đóng vai trò quan trọng trong an toàn bảo mật thông tin:</a:t>
            </a:r>
            <a:endParaRPr b="0" i="0" sz="942" u="none" cap="none" strike="noStrike">
              <a:solidFill>
                <a:schemeClr val="dk1"/>
              </a:solidFill>
              <a:latin typeface="Calibri"/>
              <a:ea typeface="Calibri"/>
              <a:cs typeface="Calibri"/>
              <a:sym typeface="Calibri"/>
            </a:endParaRPr>
          </a:p>
        </p:txBody>
      </p:sp>
      <p:sp>
        <p:nvSpPr>
          <p:cNvPr id="359" name="Google Shape;359;p12"/>
          <p:cNvSpPr/>
          <p:nvPr/>
        </p:nvSpPr>
        <p:spPr>
          <a:xfrm>
            <a:off x="457200" y="3567410"/>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Giám sát và phát hiện sớm các mối đe dọa</a:t>
            </a:r>
            <a:endParaRPr b="0" i="0" sz="942" u="none" cap="none" strike="noStrike">
              <a:solidFill>
                <a:schemeClr val="dk1"/>
              </a:solidFill>
              <a:latin typeface="Calibri"/>
              <a:ea typeface="Calibri"/>
              <a:cs typeface="Calibri"/>
              <a:sym typeface="Calibri"/>
            </a:endParaRPr>
          </a:p>
        </p:txBody>
      </p:sp>
      <p:sp>
        <p:nvSpPr>
          <p:cNvPr id="360" name="Google Shape;360;p12"/>
          <p:cNvSpPr/>
          <p:nvPr/>
        </p:nvSpPr>
        <p:spPr>
          <a:xfrm>
            <a:off x="457200" y="3773128"/>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Phân tích hành vi bất thường và dấu hiệu tấn công</a:t>
            </a:r>
            <a:endParaRPr b="0" i="0" sz="942" u="none" cap="none" strike="noStrike">
              <a:solidFill>
                <a:schemeClr val="dk1"/>
              </a:solidFill>
              <a:latin typeface="Calibri"/>
              <a:ea typeface="Calibri"/>
              <a:cs typeface="Calibri"/>
              <a:sym typeface="Calibri"/>
            </a:endParaRPr>
          </a:p>
        </p:txBody>
      </p:sp>
      <p:sp>
        <p:nvSpPr>
          <p:cNvPr id="361" name="Google Shape;361;p12"/>
          <p:cNvSpPr/>
          <p:nvPr/>
        </p:nvSpPr>
        <p:spPr>
          <a:xfrm>
            <a:off x="457200" y="3978846"/>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Hỗ trợ điều tra sự cố và phản ứng nhanh</a:t>
            </a:r>
            <a:endParaRPr b="0" i="0" sz="942" u="none" cap="none" strike="noStrike">
              <a:solidFill>
                <a:schemeClr val="dk1"/>
              </a:solidFill>
              <a:latin typeface="Calibri"/>
              <a:ea typeface="Calibri"/>
              <a:cs typeface="Calibri"/>
              <a:sym typeface="Calibri"/>
            </a:endParaRPr>
          </a:p>
        </p:txBody>
      </p:sp>
      <p:sp>
        <p:nvSpPr>
          <p:cNvPr id="362" name="Google Shape;362;p12"/>
          <p:cNvSpPr/>
          <p:nvPr/>
        </p:nvSpPr>
        <p:spPr>
          <a:xfrm>
            <a:off x="457200" y="4184563"/>
            <a:ext cx="4400550" cy="2057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42"/>
              <a:buFont typeface="Noto Sans"/>
              <a:buNone/>
            </a:pPr>
            <a:r>
              <a:rPr b="0" i="0" lang="en-US" sz="942" u="none" cap="none" strike="noStrike">
                <a:solidFill>
                  <a:srgbClr val="FFFFFF"/>
                </a:solidFill>
                <a:latin typeface="Noto Sans"/>
                <a:ea typeface="Noto Sans"/>
                <a:cs typeface="Noto Sans"/>
                <a:sym typeface="Noto Sans"/>
              </a:rPr>
              <a:t>Cung cấp bằng chứng số cho phân tích pháp lý</a:t>
            </a:r>
            <a:endParaRPr b="0" i="0" sz="942" u="none" cap="none" strike="noStrike">
              <a:solidFill>
                <a:schemeClr val="dk1"/>
              </a:solidFill>
              <a:latin typeface="Calibri"/>
              <a:ea typeface="Calibri"/>
              <a:cs typeface="Calibri"/>
              <a:sym typeface="Calibri"/>
            </a:endParaRPr>
          </a:p>
        </p:txBody>
      </p:sp>
      <p:sp>
        <p:nvSpPr>
          <p:cNvPr id="363" name="Google Shape;363;p12"/>
          <p:cNvSpPr/>
          <p:nvPr/>
        </p:nvSpPr>
        <p:spPr>
          <a:xfrm>
            <a:off x="285750" y="4568875"/>
            <a:ext cx="4572000" cy="728663"/>
          </a:xfrm>
          <a:prstGeom prst="rect">
            <a:avLst/>
          </a:prstGeom>
          <a:solidFill>
            <a:srgbClr val="FFD7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285750" y="4568875"/>
            <a:ext cx="28575" cy="728663"/>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392906" y="4676031"/>
            <a:ext cx="4357688"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Trong bối cảnh an ninh mạng ngày càng phức tạp, ELK Stack trở thành công cụ thiết yếu giúp các tổ chức nâng cao khả năng phòng thủ và đáp ứng nhanh với các mối đe dọa bảo mật.</a:t>
            </a:r>
            <a:endParaRPr b="0" i="0" sz="837" u="none" cap="none" strike="noStrike">
              <a:solidFill>
                <a:schemeClr val="dk1"/>
              </a:solidFill>
              <a:latin typeface="Calibri"/>
              <a:ea typeface="Calibri"/>
              <a:cs typeface="Calibri"/>
              <a:sym typeface="Calibri"/>
            </a:endParaRPr>
          </a:p>
        </p:txBody>
      </p:sp>
      <p:pic>
        <p:nvPicPr>
          <p:cNvPr descr="preencoded.png" id="366" name="Google Shape;366;p12"/>
          <p:cNvPicPr preferRelativeResize="0"/>
          <p:nvPr/>
        </p:nvPicPr>
        <p:blipFill rotWithShape="1">
          <a:blip r:embed="rId4">
            <a:alphaModFix/>
          </a:blip>
          <a:srcRect b="0" l="0" r="0" t="0"/>
          <a:stretch/>
        </p:blipFill>
        <p:spPr>
          <a:xfrm>
            <a:off x="5623387" y="885825"/>
            <a:ext cx="3040726" cy="2143097"/>
          </a:xfrm>
          <a:prstGeom prst="rect">
            <a:avLst/>
          </a:prstGeom>
          <a:noFill/>
          <a:ln>
            <a:noFill/>
          </a:ln>
        </p:spPr>
      </p:pic>
      <p:sp>
        <p:nvSpPr>
          <p:cNvPr id="367" name="Google Shape;367;p12"/>
          <p:cNvSpPr/>
          <p:nvPr/>
        </p:nvSpPr>
        <p:spPr>
          <a:xfrm>
            <a:off x="5429250" y="3314672"/>
            <a:ext cx="3429000" cy="2143125"/>
          </a:xfrm>
          <a:prstGeom prst="rect">
            <a:avLst/>
          </a:pr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5536406" y="3421828"/>
            <a:ext cx="3214688"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350"/>
              <a:buFont typeface="Noto Sans"/>
              <a:buNone/>
            </a:pPr>
            <a:r>
              <a:rPr b="1" i="0" lang="en-US" sz="1350" u="none" cap="none" strike="noStrike">
                <a:solidFill>
                  <a:srgbClr val="FFD700"/>
                </a:solidFill>
                <a:latin typeface="Noto Sans"/>
                <a:ea typeface="Noto Sans"/>
                <a:cs typeface="Noto Sans"/>
                <a:sym typeface="Noto Sans"/>
              </a:rPr>
              <a:t>Tài liệu tham khảo</a:t>
            </a:r>
            <a:endParaRPr b="0" i="0" sz="1350" u="none" cap="none" strike="noStrike">
              <a:solidFill>
                <a:schemeClr val="dk1"/>
              </a:solidFill>
              <a:latin typeface="Calibri"/>
              <a:ea typeface="Calibri"/>
              <a:cs typeface="Calibri"/>
              <a:sym typeface="Calibri"/>
            </a:endParaRPr>
          </a:p>
        </p:txBody>
      </p:sp>
      <p:pic>
        <p:nvPicPr>
          <p:cNvPr descr="preencoded.png" id="369" name="Google Shape;369;p12"/>
          <p:cNvPicPr preferRelativeResize="0"/>
          <p:nvPr/>
        </p:nvPicPr>
        <p:blipFill rotWithShape="1">
          <a:blip r:embed="rId5">
            <a:alphaModFix/>
          </a:blip>
          <a:srcRect b="0" l="0" r="0" t="0"/>
          <a:stretch/>
        </p:blipFill>
        <p:spPr>
          <a:xfrm>
            <a:off x="5536406" y="3779016"/>
            <a:ext cx="100013" cy="114300"/>
          </a:xfrm>
          <a:prstGeom prst="rect">
            <a:avLst/>
          </a:prstGeom>
          <a:noFill/>
          <a:ln>
            <a:noFill/>
          </a:ln>
        </p:spPr>
      </p:pic>
      <p:sp>
        <p:nvSpPr>
          <p:cNvPr id="370" name="Google Shape;370;p12"/>
          <p:cNvSpPr/>
          <p:nvPr/>
        </p:nvSpPr>
        <p:spPr>
          <a:xfrm>
            <a:off x="5693569" y="3757585"/>
            <a:ext cx="1299493"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Elastic Documentation - </a:t>
            </a:r>
            <a:endParaRPr b="0" i="0" sz="837" u="none" cap="none" strike="noStrike">
              <a:solidFill>
                <a:schemeClr val="dk1"/>
              </a:solidFill>
              <a:latin typeface="Calibri"/>
              <a:ea typeface="Calibri"/>
              <a:cs typeface="Calibri"/>
              <a:sym typeface="Calibri"/>
            </a:endParaRPr>
          </a:p>
        </p:txBody>
      </p:sp>
      <p:sp>
        <p:nvSpPr>
          <p:cNvPr id="371" name="Google Shape;371;p12"/>
          <p:cNvSpPr/>
          <p:nvPr/>
        </p:nvSpPr>
        <p:spPr>
          <a:xfrm>
            <a:off x="5536406" y="3929035"/>
            <a:ext cx="2144744"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https://www.elastic.co/guide/index.html </a:t>
            </a:r>
            <a:endParaRPr b="0" i="0" sz="837" u="none" cap="none" strike="noStrike">
              <a:solidFill>
                <a:schemeClr val="dk1"/>
              </a:solidFill>
              <a:latin typeface="Calibri"/>
              <a:ea typeface="Calibri"/>
              <a:cs typeface="Calibri"/>
              <a:sym typeface="Calibri"/>
            </a:endParaRPr>
          </a:p>
        </p:txBody>
      </p:sp>
      <p:pic>
        <p:nvPicPr>
          <p:cNvPr descr="preencoded.png" id="372" name="Google Shape;372;p12"/>
          <p:cNvPicPr preferRelativeResize="0"/>
          <p:nvPr/>
        </p:nvPicPr>
        <p:blipFill rotWithShape="1">
          <a:blip r:embed="rId5">
            <a:alphaModFix/>
          </a:blip>
          <a:srcRect b="0" l="0" r="0" t="0"/>
          <a:stretch/>
        </p:blipFill>
        <p:spPr>
          <a:xfrm>
            <a:off x="5536406" y="4179066"/>
            <a:ext cx="100013" cy="114300"/>
          </a:xfrm>
          <a:prstGeom prst="rect">
            <a:avLst/>
          </a:prstGeom>
          <a:noFill/>
          <a:ln>
            <a:noFill/>
          </a:ln>
        </p:spPr>
      </p:pic>
      <p:sp>
        <p:nvSpPr>
          <p:cNvPr id="373" name="Google Shape;373;p12"/>
          <p:cNvSpPr/>
          <p:nvPr/>
        </p:nvSpPr>
        <p:spPr>
          <a:xfrm>
            <a:off x="5693569" y="4157635"/>
            <a:ext cx="1149530"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Logstash Reference - </a:t>
            </a:r>
            <a:endParaRPr b="0" i="0" sz="837" u="none" cap="none" strike="noStrike">
              <a:solidFill>
                <a:schemeClr val="dk1"/>
              </a:solidFill>
              <a:latin typeface="Calibri"/>
              <a:ea typeface="Calibri"/>
              <a:cs typeface="Calibri"/>
              <a:sym typeface="Calibri"/>
            </a:endParaRPr>
          </a:p>
        </p:txBody>
      </p:sp>
      <p:sp>
        <p:nvSpPr>
          <p:cNvPr id="374" name="Google Shape;374;p12"/>
          <p:cNvSpPr/>
          <p:nvPr/>
        </p:nvSpPr>
        <p:spPr>
          <a:xfrm>
            <a:off x="5536406" y="4329085"/>
            <a:ext cx="3255848"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https://www.elastic.co/guide/en/logstash/current/index.html </a:t>
            </a:r>
            <a:endParaRPr b="0" i="0" sz="837" u="none" cap="none" strike="noStrike">
              <a:solidFill>
                <a:schemeClr val="dk1"/>
              </a:solidFill>
              <a:latin typeface="Calibri"/>
              <a:ea typeface="Calibri"/>
              <a:cs typeface="Calibri"/>
              <a:sym typeface="Calibri"/>
            </a:endParaRPr>
          </a:p>
        </p:txBody>
      </p:sp>
      <p:pic>
        <p:nvPicPr>
          <p:cNvPr descr="preencoded.png" id="375" name="Google Shape;375;p12"/>
          <p:cNvPicPr preferRelativeResize="0"/>
          <p:nvPr/>
        </p:nvPicPr>
        <p:blipFill rotWithShape="1">
          <a:blip r:embed="rId5">
            <a:alphaModFix/>
          </a:blip>
          <a:srcRect b="0" l="0" r="0" t="0"/>
          <a:stretch/>
        </p:blipFill>
        <p:spPr>
          <a:xfrm>
            <a:off x="5536406" y="4579116"/>
            <a:ext cx="100013" cy="114300"/>
          </a:xfrm>
          <a:prstGeom prst="rect">
            <a:avLst/>
          </a:prstGeom>
          <a:noFill/>
          <a:ln>
            <a:noFill/>
          </a:ln>
        </p:spPr>
      </p:pic>
      <p:sp>
        <p:nvSpPr>
          <p:cNvPr id="376" name="Google Shape;376;p12"/>
          <p:cNvSpPr/>
          <p:nvPr/>
        </p:nvSpPr>
        <p:spPr>
          <a:xfrm>
            <a:off x="5693569" y="4557685"/>
            <a:ext cx="813495"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Kibana Guide - </a:t>
            </a:r>
            <a:endParaRPr b="0" i="0" sz="837" u="none" cap="none" strike="noStrike">
              <a:solidFill>
                <a:schemeClr val="dk1"/>
              </a:solidFill>
              <a:latin typeface="Calibri"/>
              <a:ea typeface="Calibri"/>
              <a:cs typeface="Calibri"/>
              <a:sym typeface="Calibri"/>
            </a:endParaRPr>
          </a:p>
        </p:txBody>
      </p:sp>
      <p:sp>
        <p:nvSpPr>
          <p:cNvPr id="377" name="Google Shape;377;p12"/>
          <p:cNvSpPr/>
          <p:nvPr/>
        </p:nvSpPr>
        <p:spPr>
          <a:xfrm>
            <a:off x="5536406" y="4729135"/>
            <a:ext cx="3161081"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https://www.elastic.co/guide/en/kibana/current/index.html </a:t>
            </a:r>
            <a:endParaRPr b="0" i="0" sz="837" u="none" cap="none" strike="noStrike">
              <a:solidFill>
                <a:schemeClr val="dk1"/>
              </a:solidFill>
              <a:latin typeface="Calibri"/>
              <a:ea typeface="Calibri"/>
              <a:cs typeface="Calibri"/>
              <a:sym typeface="Calibri"/>
            </a:endParaRPr>
          </a:p>
        </p:txBody>
      </p:sp>
      <p:pic>
        <p:nvPicPr>
          <p:cNvPr descr="preencoded.png" id="378" name="Google Shape;378;p12"/>
          <p:cNvPicPr preferRelativeResize="0"/>
          <p:nvPr/>
        </p:nvPicPr>
        <p:blipFill rotWithShape="1">
          <a:blip r:embed="rId5">
            <a:alphaModFix/>
          </a:blip>
          <a:srcRect b="0" l="0" r="0" t="0"/>
          <a:stretch/>
        </p:blipFill>
        <p:spPr>
          <a:xfrm>
            <a:off x="5536406" y="4979166"/>
            <a:ext cx="100013" cy="114300"/>
          </a:xfrm>
          <a:prstGeom prst="rect">
            <a:avLst/>
          </a:prstGeom>
          <a:noFill/>
          <a:ln>
            <a:noFill/>
          </a:ln>
        </p:spPr>
      </p:pic>
      <p:sp>
        <p:nvSpPr>
          <p:cNvPr id="379" name="Google Shape;379;p12"/>
          <p:cNvSpPr/>
          <p:nvPr/>
        </p:nvSpPr>
        <p:spPr>
          <a:xfrm>
            <a:off x="5693569" y="4957735"/>
            <a:ext cx="2946322"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 Elasticsearch: The Definitive Guide - Clinton Gormley &amp; </a:t>
            </a:r>
            <a:endParaRPr b="0" i="0" sz="837" u="none" cap="none" strike="noStrike">
              <a:solidFill>
                <a:schemeClr val="dk1"/>
              </a:solidFill>
              <a:latin typeface="Calibri"/>
              <a:ea typeface="Calibri"/>
              <a:cs typeface="Calibri"/>
              <a:sym typeface="Calibri"/>
            </a:endParaRPr>
          </a:p>
        </p:txBody>
      </p:sp>
      <p:sp>
        <p:nvSpPr>
          <p:cNvPr id="380" name="Google Shape;380;p12"/>
          <p:cNvSpPr/>
          <p:nvPr/>
        </p:nvSpPr>
        <p:spPr>
          <a:xfrm>
            <a:off x="5536406" y="5129185"/>
            <a:ext cx="719984" cy="15537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37"/>
              <a:buFont typeface="Noto Sans"/>
              <a:buNone/>
            </a:pPr>
            <a:r>
              <a:rPr b="0" i="0" lang="en-US" sz="837" u="none" cap="none" strike="noStrike">
                <a:solidFill>
                  <a:srgbClr val="FFFFFF"/>
                </a:solidFill>
                <a:latin typeface="Noto Sans"/>
                <a:ea typeface="Noto Sans"/>
                <a:cs typeface="Noto Sans"/>
                <a:sym typeface="Noto Sans"/>
              </a:rPr>
              <a:t>Zachary Tong </a:t>
            </a:r>
            <a:endParaRPr b="0" i="0" sz="837" u="none" cap="none" strike="noStrike">
              <a:solidFill>
                <a:schemeClr val="dk1"/>
              </a:solidFill>
              <a:latin typeface="Calibri"/>
              <a:ea typeface="Calibri"/>
              <a:cs typeface="Calibri"/>
              <a:sym typeface="Calibri"/>
            </a:endParaRPr>
          </a:p>
        </p:txBody>
      </p:sp>
      <p:sp>
        <p:nvSpPr>
          <p:cNvPr id="381" name="Google Shape;381;p12"/>
          <p:cNvSpPr/>
          <p:nvPr/>
        </p:nvSpPr>
        <p:spPr>
          <a:xfrm>
            <a:off x="5429250" y="5672110"/>
            <a:ext cx="34290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1800"/>
              <a:buFont typeface="Noto Sans"/>
              <a:buNone/>
            </a:pPr>
            <a:r>
              <a:rPr b="1" i="0" lang="en-US" sz="1800" u="none" cap="none" strike="noStrike">
                <a:solidFill>
                  <a:srgbClr val="FFD700"/>
                </a:solidFill>
                <a:latin typeface="Noto Sans"/>
                <a:ea typeface="Noto Sans"/>
                <a:cs typeface="Noto Sans"/>
                <a:sym typeface="Noto Sans"/>
              </a:rPr>
              <a:t> Cảm ơn đã lắng nghe!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