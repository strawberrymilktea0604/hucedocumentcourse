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3" r:id="rId16"/>
    <p:sldId id="274" r:id="rId17"/>
    <p:sldId id="271" r:id="rId18"/>
    <p:sldId id="334" r:id="rId19"/>
    <p:sldId id="335" r:id="rId20"/>
    <p:sldId id="336" r:id="rId21"/>
    <p:sldId id="337" r:id="rId22"/>
    <p:sldId id="272" r:id="rId23"/>
    <p:sldId id="338" r:id="rId24"/>
    <p:sldId id="340" r:id="rId25"/>
    <p:sldId id="339" r:id="rId26"/>
    <p:sldId id="341" r:id="rId27"/>
    <p:sldId id="342" r:id="rId28"/>
    <p:sldId id="343" r:id="rId29"/>
    <p:sldId id="344" r:id="rId30"/>
    <p:sldId id="345" r:id="rId31"/>
    <p:sldId id="346" r:id="rId32"/>
    <p:sldId id="347" r:id="rId33"/>
    <p:sldId id="348" r:id="rId34"/>
    <p:sldId id="451" r:id="rId35"/>
    <p:sldId id="452" r:id="rId36"/>
    <p:sldId id="453" r:id="rId37"/>
    <p:sldId id="454" r:id="rId38"/>
    <p:sldId id="455" r:id="rId39"/>
    <p:sldId id="456" r:id="rId40"/>
    <p:sldId id="457" r:id="rId41"/>
    <p:sldId id="458" r:id="rId42"/>
    <p:sldId id="459" r:id="rId43"/>
    <p:sldId id="460" r:id="rId44"/>
    <p:sldId id="461" r:id="rId45"/>
    <p:sldId id="378" r:id="rId46"/>
    <p:sldId id="430" r:id="rId47"/>
    <p:sldId id="325" r:id="rId48"/>
    <p:sldId id="326" r:id="rId49"/>
    <p:sldId id="327" r:id="rId50"/>
    <p:sldId id="462" r:id="rId51"/>
    <p:sldId id="463" r:id="rId52"/>
    <p:sldId id="464" r:id="rId53"/>
    <p:sldId id="465" r:id="rId54"/>
    <p:sldId id="466" r:id="rId55"/>
    <p:sldId id="481" r:id="rId56"/>
    <p:sldId id="482" r:id="rId57"/>
    <p:sldId id="468" r:id="rId58"/>
    <p:sldId id="469" r:id="rId59"/>
    <p:sldId id="470" r:id="rId60"/>
    <p:sldId id="471" r:id="rId61"/>
    <p:sldId id="472" r:id="rId62"/>
    <p:sldId id="266" r:id="rId63"/>
    <p:sldId id="473" r:id="rId64"/>
    <p:sldId id="474" r:id="rId65"/>
    <p:sldId id="475" r:id="rId66"/>
    <p:sldId id="476" r:id="rId67"/>
    <p:sldId id="477" r:id="rId68"/>
    <p:sldId id="478" r:id="rId69"/>
    <p:sldId id="479" r:id="rId70"/>
    <p:sldId id="480" r:id="rId71"/>
    <p:sldId id="275" r:id="rId72"/>
    <p:sldId id="276" r:id="rId73"/>
    <p:sldId id="277" r:id="rId74"/>
    <p:sldId id="278" r:id="rId75"/>
    <p:sldId id="279" r:id="rId76"/>
    <p:sldId id="280" r:id="rId77"/>
    <p:sldId id="291" r:id="rId78"/>
    <p:sldId id="292" r:id="rId79"/>
    <p:sldId id="281" r:id="rId80"/>
    <p:sldId id="282" r:id="rId81"/>
    <p:sldId id="283" r:id="rId82"/>
    <p:sldId id="284" r:id="rId83"/>
    <p:sldId id="285" r:id="rId84"/>
    <p:sldId id="286" r:id="rId85"/>
    <p:sldId id="287" r:id="rId86"/>
    <p:sldId id="288" r:id="rId87"/>
    <p:sldId id="289"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dirty="0"/>
          </a:p>
        </p:txBody>
      </p:sp>
      <p:sp>
        <p:nvSpPr>
          <p:cNvPr id="9" name="Rectangle 24"/>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dirty="0">
              <a:solidFill>
                <a:srgbClr val="0066CC"/>
              </a:solidFill>
            </a:endParaRPr>
          </a:p>
        </p:txBody>
      </p:sp>
      <p:sp>
        <p:nvSpPr>
          <p:cNvPr id="10" name="Rectangle 25"/>
          <p:cNvSpPr>
            <a:spLocks noChangeArrowheads="1"/>
          </p:cNvSpPr>
          <p:nvPr/>
        </p:nvSpPr>
        <p:spPr bwMode="auto">
          <a:xfrm>
            <a:off x="0" y="0"/>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ĐẠI HỌC SÀI GÒN</a:t>
            </a:r>
          </a:p>
        </p:txBody>
      </p:sp>
      <p:sp>
        <p:nvSpPr>
          <p:cNvPr id="4118" name="Rectangle 22"/>
          <p:cNvSpPr>
            <a:spLocks noGrp="1" noChangeArrowheads="1"/>
          </p:cNvSpPr>
          <p:nvPr>
            <p:ph type="ctrTitle"/>
          </p:nvPr>
        </p:nvSpPr>
        <p:spPr>
          <a:xfrm>
            <a:off x="914400" y="2130426"/>
            <a:ext cx="103632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4172270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508000" y="1066800"/>
            <a:ext cx="114808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2921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2162399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566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4610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03116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8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566865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207900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913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60326"/>
            <a:ext cx="3048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6"/>
            <a:ext cx="8940800" cy="6492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8889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12192000" cy="838200"/>
          </a:xfrm>
        </p:spPr>
        <p:txBody>
          <a:bodyPr/>
          <a:lstStyle/>
          <a:p>
            <a:r>
              <a:rPr lang="en-US"/>
              <a:t>Click to edit Master title style</a:t>
            </a:r>
          </a:p>
        </p:txBody>
      </p:sp>
      <p:sp>
        <p:nvSpPr>
          <p:cNvPr id="3" name="Table Placeholder 2"/>
          <p:cNvSpPr>
            <a:spLocks noGrp="1"/>
          </p:cNvSpPr>
          <p:nvPr>
            <p:ph type="tbl" idx="1"/>
          </p:nvPr>
        </p:nvSpPr>
        <p:spPr>
          <a:xfrm>
            <a:off x="203200" y="1066800"/>
            <a:ext cx="11785600" cy="5486400"/>
          </a:xfrm>
        </p:spPr>
        <p:txBody>
          <a:bodyPr/>
          <a:lstStyle/>
          <a:p>
            <a:pPr lvl="0"/>
            <a:r>
              <a:rPr lang="en-US" noProof="0" dirty="0"/>
              <a:t>Click icon to add table</a:t>
            </a:r>
          </a:p>
        </p:txBody>
      </p:sp>
    </p:spTree>
    <p:extLst>
      <p:ext uri="{BB962C8B-B14F-4D97-AF65-F5344CB8AC3E}">
        <p14:creationId xmlns:p14="http://schemas.microsoft.com/office/powerpoint/2010/main" val="315738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a:prstGeom prst="rect">
            <a:avLst/>
          </a:prstGeom>
        </p:spPr>
        <p:txBody>
          <a:bodyPr/>
          <a:lstStyle>
            <a:lvl1pPr>
              <a:defRPr/>
            </a:lvl1pPr>
          </a:lstStyle>
          <a:p>
            <a:fld id="{A5B10737-4239-455A-AC57-A875D872C3C4}" type="datetimeFigureOut">
              <a:rPr lang="en-US" smtClean="0"/>
              <a:t>2/5/2023</a:t>
            </a:fld>
            <a:endParaRPr lang="en-US" dirty="0"/>
          </a:p>
        </p:txBody>
      </p:sp>
      <p:sp>
        <p:nvSpPr>
          <p:cNvPr id="7" name="Footer Placeholder 6"/>
          <p:cNvSpPr>
            <a:spLocks noGrp="1"/>
          </p:cNvSpPr>
          <p:nvPr>
            <p:ph type="ftr" sz="quarter" idx="11"/>
          </p:nvPr>
        </p:nvSpPr>
        <p:spPr>
          <a:xfrm>
            <a:off x="4876800" y="6243638"/>
            <a:ext cx="3860800" cy="457200"/>
          </a:xfrm>
          <a:prstGeom prst="rect">
            <a:avLst/>
          </a:prstGeom>
        </p:spPr>
        <p:txBody>
          <a:bodyPr/>
          <a:lstStyle>
            <a:lvl1pPr>
              <a:defRPr/>
            </a:lvl1pPr>
          </a:lstStyle>
          <a:p>
            <a:endParaRPr lang="en-US" dirty="0"/>
          </a:p>
        </p:txBody>
      </p:sp>
      <p:sp>
        <p:nvSpPr>
          <p:cNvPr id="8" name="Slide Number Placeholder 7"/>
          <p:cNvSpPr>
            <a:spLocks noGrp="1"/>
          </p:cNvSpPr>
          <p:nvPr>
            <p:ph type="sldNum" sz="quarter" idx="12"/>
          </p:nvPr>
        </p:nvSpPr>
        <p:spPr>
          <a:xfrm>
            <a:off x="9389533" y="6243638"/>
            <a:ext cx="2540000" cy="457200"/>
          </a:xfrm>
          <a:prstGeom prst="rect">
            <a:avLst/>
          </a:prstGeom>
        </p:spPr>
        <p:txBody>
          <a:bodyPr/>
          <a:lstStyle>
            <a:lvl1pPr>
              <a:defRPr/>
            </a:lvl1pPr>
          </a:lstStyle>
          <a:p>
            <a:fld id="{D8D0688A-7AE1-4D4B-9331-052165840D28}" type="slidenum">
              <a:rPr lang="en-US" smtClean="0"/>
              <a:t>‹#›</a:t>
            </a:fld>
            <a:endParaRPr lang="en-US" dirty="0"/>
          </a:p>
        </p:txBody>
      </p:sp>
    </p:spTree>
    <p:extLst>
      <p:ext uri="{BB962C8B-B14F-4D97-AF65-F5344CB8AC3E}">
        <p14:creationId xmlns:p14="http://schemas.microsoft.com/office/powerpoint/2010/main" val="11482118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a:prstGeom prst="rect">
            <a:avLst/>
          </a:prstGeom>
        </p:spPr>
        <p:txBody>
          <a:bodyPr/>
          <a:lstStyle>
            <a:lvl1pPr>
              <a:defRPr/>
            </a:lvl1pPr>
          </a:lstStyle>
          <a:p>
            <a:fld id="{A5B10737-4239-455A-AC57-A875D872C3C4}" type="datetimeFigureOut">
              <a:rPr lang="en-US" smtClean="0"/>
              <a:t>2/5/2023</a:t>
            </a:fld>
            <a:endParaRPr lang="en-US" dirty="0"/>
          </a:p>
        </p:txBody>
      </p:sp>
      <p:sp>
        <p:nvSpPr>
          <p:cNvPr id="6" name="Footer Placeholder 5"/>
          <p:cNvSpPr>
            <a:spLocks noGrp="1"/>
          </p:cNvSpPr>
          <p:nvPr>
            <p:ph type="ftr" sz="quarter" idx="11"/>
          </p:nvPr>
        </p:nvSpPr>
        <p:spPr>
          <a:xfrm>
            <a:off x="4876800" y="6243638"/>
            <a:ext cx="3860800" cy="457200"/>
          </a:xfrm>
          <a:prstGeom prst="rect">
            <a:avLst/>
          </a:prstGeom>
        </p:spPr>
        <p:txBody>
          <a:bodyPr/>
          <a:lstStyle>
            <a:lvl1pPr>
              <a:defRPr/>
            </a:lvl1pPr>
          </a:lstStyle>
          <a:p>
            <a:endParaRPr lang="en-US" dirty="0"/>
          </a:p>
        </p:txBody>
      </p:sp>
      <p:sp>
        <p:nvSpPr>
          <p:cNvPr id="7" name="Slide Number Placeholder 6"/>
          <p:cNvSpPr>
            <a:spLocks noGrp="1"/>
          </p:cNvSpPr>
          <p:nvPr>
            <p:ph type="sldNum" sz="quarter" idx="12"/>
          </p:nvPr>
        </p:nvSpPr>
        <p:spPr>
          <a:xfrm>
            <a:off x="9389533" y="6243638"/>
            <a:ext cx="2540000" cy="457200"/>
          </a:xfrm>
          <a:prstGeom prst="rect">
            <a:avLst/>
          </a:prstGeom>
        </p:spPr>
        <p:txBody>
          <a:bodyPr/>
          <a:lstStyle>
            <a:lvl1pPr>
              <a:defRPr/>
            </a:lvl1pPr>
          </a:lstStyle>
          <a:p>
            <a:fld id="{D8D0688A-7AE1-4D4B-9331-052165840D28}" type="slidenum">
              <a:rPr lang="en-US" smtClean="0"/>
              <a:t>‹#›</a:t>
            </a:fld>
            <a:endParaRPr lang="en-US" dirty="0"/>
          </a:p>
        </p:txBody>
      </p:sp>
    </p:spTree>
    <p:extLst>
      <p:ext uri="{BB962C8B-B14F-4D97-AF65-F5344CB8AC3E}">
        <p14:creationId xmlns:p14="http://schemas.microsoft.com/office/powerpoint/2010/main" val="946015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8">
            <a:lum bright="30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9" name="Freeform 3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dirty="0"/>
          </a:p>
        </p:txBody>
      </p:sp>
      <p:sp>
        <p:nvSpPr>
          <p:cNvPr id="1030" name="Rectangle 32"/>
          <p:cNvSpPr>
            <a:spLocks noGrp="1" noChangeArrowheads="1"/>
          </p:cNvSpPr>
          <p:nvPr>
            <p:ph type="body" idx="1"/>
          </p:nvPr>
        </p:nvSpPr>
        <p:spPr bwMode="auto">
          <a:xfrm>
            <a:off x="508000" y="1066800"/>
            <a:ext cx="1148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dirty="0">
              <a:solidFill>
                <a:srgbClr val="0066CC"/>
              </a:solidFill>
            </a:endParaRPr>
          </a:p>
        </p:txBody>
      </p:sp>
    </p:spTree>
    <p:extLst>
      <p:ext uri="{BB962C8B-B14F-4D97-AF65-F5344CB8AC3E}">
        <p14:creationId xmlns:p14="http://schemas.microsoft.com/office/powerpoint/2010/main" val="3389425133"/>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hyperlink" Target="http://www.google.com/url?sa=i&amp;rct=j&amp;q=&amp;esrc=s&amp;frm=1&amp;source=images&amp;cd=&amp;cad=rja&amp;uact=8&amp;ved=0CAcQjRxqFQoTCNebv7nw4sgCFYenlAod2nsOmg&amp;url=http://vietnamnet.vn/vn/cong-nghe-thong-tin-vien-thong/240231/cmc-telecom-manh-tay-tang-bang-thong-internet-quoc-te.html&amp;bvm=bv.105841590,d.dGo&amp;psig=AFQjCNF4tXijV-ZuUrbbxiBOaBcUCm_Saw&amp;ust=1446043076714258" TargetMode="External"/><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hyperlink" Target="http://www.google.com/url?sa=i&amp;rct=j&amp;q=&amp;esrc=s&amp;frm=1&amp;source=images&amp;cd=&amp;cad=rja&amp;uact=8&amp;ved=0CAcQjRxqFQoTCLLG9Nfw4sgCFQmXlAodlYEESQ&amp;url=http://www.hungquan.com/dnews/cong-nghe-thong-tin/199/bang-thongbandwidth-la-gi-?.html&amp;bvm=bv.105841590,d.dGo&amp;psig=AFQjCNF4tXijV-ZuUrbbxiBOaBcUCm_Saw&amp;ust=1446043076714258" TargetMode="External"/></Relationships>
</file>

<file path=ppt/slides/_rels/slide4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7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 Id="rId4" Type="http://schemas.openxmlformats.org/officeDocument/2006/relationships/image" Target="../media/image65.jpeg"/></Relationships>
</file>

<file path=ppt/slides/_rels/slide7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hyperlink" Target="http://www.google.com/url?sa=i&amp;rct=j&amp;q=&amp;esrc=s&amp;frm=1&amp;source=images&amp;cd=&amp;cad=rja&amp;uact=8&amp;ved=0CAcQjRxqFQoTCMvn79Pv4sgCFYGMlAodpMoJJg&amp;url=http://vietbao.vn/vi/Vi-tinh-Vien-thong/Cau-truc-lien-ket-mang-may-tinh/20508317/217/&amp;psig=AFQjCNGMEvKpj9m3vP4YYZqiIamnagMa6A&amp;ust=1446042879091479"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hyperlink" Target="http://www.google.com/url?sa=i&amp;rct=j&amp;q=&amp;esrc=s&amp;frm=1&amp;source=images&amp;cd=&amp;cad=rja&amp;uact=8&amp;ved=0CAcQjRxqFQoTCOflttjy4sgCFYFIlAodDDQChw&amp;url=http://vietbao.vn/Vi-tinh-Vien-thong/Cau-truc-lien-ket-mang-may-tinh/20508317/217/&amp;bvm=bv.105841590,d.dGo&amp;psig=AFQjCNFVyLAAEBJCCSdkv0LolE9h0cPfpQ&amp;ust=1446043657852443" TargetMode="Externa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E1FA2-603E-4521-9C82-F86ECD416637}"/>
              </a:ext>
            </a:extLst>
          </p:cNvPr>
          <p:cNvSpPr>
            <a:spLocks noGrp="1"/>
          </p:cNvSpPr>
          <p:nvPr>
            <p:ph type="ctrTitle"/>
          </p:nvPr>
        </p:nvSpPr>
        <p:spPr/>
        <p:txBody>
          <a:bodyPr/>
          <a:lstStyle/>
          <a:p>
            <a:r>
              <a:rPr lang="en-US" dirty="0"/>
              <a:t>CH</a:t>
            </a:r>
            <a:r>
              <a:rPr lang="vi-VN" dirty="0"/>
              <a:t>Ư</a:t>
            </a:r>
            <a:r>
              <a:rPr lang="en-US" dirty="0"/>
              <a:t>ƠNG 1: TỔNG QUAN VỀ </a:t>
            </a:r>
            <a:br>
              <a:rPr lang="en-US" dirty="0"/>
            </a:br>
            <a:r>
              <a:rPr lang="en-US" dirty="0"/>
              <a:t>MẠNG MÁY TÍNH VÀ INTERNET</a:t>
            </a:r>
          </a:p>
        </p:txBody>
      </p:sp>
      <p:sp>
        <p:nvSpPr>
          <p:cNvPr id="3" name="Subtitle 2">
            <a:extLst>
              <a:ext uri="{FF2B5EF4-FFF2-40B4-BE49-F238E27FC236}">
                <a16:creationId xmlns:a16="http://schemas.microsoft.com/office/drawing/2014/main" id="{06DC8DB5-68A7-4320-9455-D765AC950EA2}"/>
              </a:ext>
            </a:extLst>
          </p:cNvPr>
          <p:cNvSpPr>
            <a:spLocks noGrp="1"/>
          </p:cNvSpPr>
          <p:nvPr>
            <p:ph type="subTitle" idx="1"/>
          </p:nvPr>
        </p:nvSpPr>
        <p:spPr/>
        <p:txBody>
          <a:bodyPr/>
          <a:lstStyle/>
          <a:p>
            <a:r>
              <a:rPr lang="en-US" dirty="0"/>
              <a:t>GV: </a:t>
            </a:r>
            <a:r>
              <a:rPr lang="en-US" dirty="0" err="1"/>
              <a:t>ThS</a:t>
            </a:r>
            <a:r>
              <a:rPr lang="en-US" dirty="0"/>
              <a:t> L</a:t>
            </a:r>
            <a:r>
              <a:rPr lang="vi-VN" dirty="0"/>
              <a:t>ư</a:t>
            </a:r>
            <a:r>
              <a:rPr lang="en-US" dirty="0" err="1"/>
              <a:t>ơng</a:t>
            </a:r>
            <a:r>
              <a:rPr lang="en-US" dirty="0"/>
              <a:t> Minh </a:t>
            </a:r>
            <a:r>
              <a:rPr lang="en-US" dirty="0" err="1"/>
              <a:t>Huấn</a:t>
            </a:r>
            <a:endParaRPr lang="en-US" dirty="0"/>
          </a:p>
        </p:txBody>
      </p:sp>
    </p:spTree>
    <p:extLst>
      <p:ext uri="{BB962C8B-B14F-4D97-AF65-F5344CB8AC3E}">
        <p14:creationId xmlns:p14="http://schemas.microsoft.com/office/powerpoint/2010/main" val="3292940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81F03-64C5-44CD-96FF-7533303BECDC}"/>
              </a:ext>
            </a:extLst>
          </p:cNvPr>
          <p:cNvSpPr>
            <a:spLocks noGrp="1"/>
          </p:cNvSpPr>
          <p:nvPr>
            <p:ph type="title"/>
          </p:nvPr>
        </p:nvSpPr>
        <p:spPr/>
        <p:txBody>
          <a:bodyPr/>
          <a:lstStyle/>
          <a:p>
            <a:r>
              <a:rPr lang="en-US" dirty="0"/>
              <a:t>NỘI DUNG</a:t>
            </a:r>
          </a:p>
        </p:txBody>
      </p:sp>
      <p:sp>
        <p:nvSpPr>
          <p:cNvPr id="3" name="Content Placeholder 2">
            <a:extLst>
              <a:ext uri="{FF2B5EF4-FFF2-40B4-BE49-F238E27FC236}">
                <a16:creationId xmlns:a16="http://schemas.microsoft.com/office/drawing/2014/main" id="{44088780-A808-4CED-B785-C1F1417B62A5}"/>
              </a:ext>
            </a:extLst>
          </p:cNvPr>
          <p:cNvSpPr>
            <a:spLocks noGrp="1"/>
          </p:cNvSpPr>
          <p:nvPr>
            <p:ph idx="1"/>
          </p:nvPr>
        </p:nvSpPr>
        <p:spPr/>
        <p:txBody>
          <a:bodyPr/>
          <a:lstStyle/>
          <a:p>
            <a:pPr marL="571500" indent="-571500">
              <a:buFont typeface="+mj-lt"/>
              <a:buAutoNum type="romanUcPeriod"/>
            </a:pPr>
            <a:r>
              <a:rPr lang="en-US" dirty="0" err="1"/>
              <a:t>Lịch</a:t>
            </a:r>
            <a:r>
              <a:rPr lang="en-US" dirty="0"/>
              <a:t> </a:t>
            </a:r>
            <a:r>
              <a:rPr lang="en-US" dirty="0" err="1"/>
              <a:t>sử</a:t>
            </a:r>
            <a:r>
              <a:rPr lang="en-US" dirty="0"/>
              <a:t> </a:t>
            </a:r>
            <a:r>
              <a:rPr lang="en-US" dirty="0" err="1"/>
              <a:t>mạng</a:t>
            </a:r>
            <a:r>
              <a:rPr lang="en-US" dirty="0"/>
              <a:t> </a:t>
            </a:r>
            <a:r>
              <a:rPr lang="en-US" dirty="0" err="1"/>
              <a:t>máy</a:t>
            </a:r>
            <a:r>
              <a:rPr lang="en-US" dirty="0"/>
              <a:t> </a:t>
            </a:r>
            <a:r>
              <a:rPr lang="en-US" dirty="0" err="1"/>
              <a:t>tính</a:t>
            </a:r>
            <a:endParaRPr lang="en-US" dirty="0"/>
          </a:p>
          <a:p>
            <a:pPr marL="571500" indent="-571500">
              <a:buFont typeface="+mj-lt"/>
              <a:buAutoNum type="romanUcPeriod"/>
            </a:pPr>
            <a:r>
              <a:rPr lang="en-US" dirty="0" err="1"/>
              <a:t>Khái</a:t>
            </a:r>
            <a:r>
              <a:rPr lang="en-US" dirty="0"/>
              <a:t> </a:t>
            </a:r>
            <a:r>
              <a:rPr lang="en-US" dirty="0" err="1"/>
              <a:t>niệm</a:t>
            </a:r>
            <a:r>
              <a:rPr lang="en-US" dirty="0"/>
              <a:t> </a:t>
            </a:r>
            <a:r>
              <a:rPr lang="en-US" dirty="0" err="1"/>
              <a:t>mạng</a:t>
            </a:r>
            <a:r>
              <a:rPr lang="en-US" dirty="0"/>
              <a:t> </a:t>
            </a:r>
            <a:r>
              <a:rPr lang="en-US" dirty="0" err="1"/>
              <a:t>máy</a:t>
            </a:r>
            <a:r>
              <a:rPr lang="en-US" dirty="0"/>
              <a:t> </a:t>
            </a:r>
            <a:r>
              <a:rPr lang="en-US" dirty="0" err="1"/>
              <a:t>tính</a:t>
            </a:r>
            <a:endParaRPr lang="en-US" dirty="0"/>
          </a:p>
          <a:p>
            <a:pPr marL="571500" indent="-571500">
              <a:buFont typeface="+mj-lt"/>
              <a:buAutoNum type="romanUcPeriod"/>
            </a:pPr>
            <a:r>
              <a:rPr lang="en-US" dirty="0" err="1"/>
              <a:t>Cấu</a:t>
            </a:r>
            <a:r>
              <a:rPr lang="en-US" dirty="0"/>
              <a:t> </a:t>
            </a:r>
            <a:r>
              <a:rPr lang="en-US" dirty="0" err="1"/>
              <a:t>trúc</a:t>
            </a:r>
            <a:r>
              <a:rPr lang="en-US" dirty="0"/>
              <a:t> </a:t>
            </a:r>
            <a:r>
              <a:rPr lang="en-US" dirty="0" err="1"/>
              <a:t>tổng</a:t>
            </a:r>
            <a:r>
              <a:rPr lang="en-US" dirty="0"/>
              <a:t> </a:t>
            </a:r>
            <a:r>
              <a:rPr lang="en-US" dirty="0" err="1"/>
              <a:t>quát</a:t>
            </a:r>
            <a:r>
              <a:rPr lang="en-US" dirty="0"/>
              <a:t> </a:t>
            </a:r>
            <a:r>
              <a:rPr lang="en-US" dirty="0" err="1"/>
              <a:t>của</a:t>
            </a:r>
            <a:r>
              <a:rPr lang="en-US" dirty="0"/>
              <a:t> </a:t>
            </a:r>
            <a:r>
              <a:rPr lang="en-US" dirty="0" err="1"/>
              <a:t>mạng</a:t>
            </a:r>
            <a:r>
              <a:rPr lang="en-US" dirty="0"/>
              <a:t> </a:t>
            </a:r>
            <a:r>
              <a:rPr lang="en-US" dirty="0" err="1"/>
              <a:t>máy</a:t>
            </a:r>
            <a:r>
              <a:rPr lang="en-US" dirty="0"/>
              <a:t> </a:t>
            </a:r>
            <a:r>
              <a:rPr lang="en-US" dirty="0" err="1"/>
              <a:t>tính</a:t>
            </a:r>
            <a:endParaRPr lang="en-US" dirty="0"/>
          </a:p>
          <a:p>
            <a:pPr marL="571500" indent="-571500">
              <a:buFont typeface="+mj-lt"/>
              <a:buAutoNum type="romanUcPeriod"/>
            </a:pPr>
            <a:r>
              <a:rPr lang="en-US" dirty="0" err="1"/>
              <a:t>Phân</a:t>
            </a:r>
            <a:r>
              <a:rPr lang="en-US" dirty="0"/>
              <a:t> </a:t>
            </a:r>
            <a:r>
              <a:rPr lang="en-US" dirty="0" err="1"/>
              <a:t>loại</a:t>
            </a:r>
            <a:r>
              <a:rPr lang="en-US" dirty="0"/>
              <a:t> </a:t>
            </a:r>
            <a:r>
              <a:rPr lang="en-US" dirty="0" err="1"/>
              <a:t>mạng</a:t>
            </a:r>
            <a:r>
              <a:rPr lang="en-US" dirty="0"/>
              <a:t> </a:t>
            </a:r>
            <a:r>
              <a:rPr lang="en-US" dirty="0" err="1"/>
              <a:t>máy</a:t>
            </a:r>
            <a:r>
              <a:rPr lang="en-US" dirty="0"/>
              <a:t> </a:t>
            </a:r>
            <a:r>
              <a:rPr lang="en-US" dirty="0" err="1"/>
              <a:t>tính</a:t>
            </a:r>
            <a:endParaRPr lang="en-US" dirty="0"/>
          </a:p>
          <a:p>
            <a:pPr marL="571500" indent="-571500">
              <a:buFont typeface="+mj-lt"/>
              <a:buAutoNum type="romanUcPeriod"/>
            </a:pPr>
            <a:r>
              <a:rPr lang="en-US" dirty="0" err="1"/>
              <a:t>Các</a:t>
            </a:r>
            <a:r>
              <a:rPr lang="en-US" dirty="0"/>
              <a:t> </a:t>
            </a:r>
            <a:r>
              <a:rPr lang="en-US" dirty="0" err="1"/>
              <a:t>ứng</a:t>
            </a:r>
            <a:r>
              <a:rPr lang="en-US" dirty="0"/>
              <a:t> </a:t>
            </a:r>
            <a:r>
              <a:rPr lang="en-US" dirty="0" err="1"/>
              <a:t>dụng</a:t>
            </a:r>
            <a:r>
              <a:rPr lang="en-US" dirty="0"/>
              <a:t> </a:t>
            </a:r>
            <a:r>
              <a:rPr lang="en-US" dirty="0" err="1"/>
              <a:t>của</a:t>
            </a:r>
            <a:r>
              <a:rPr lang="en-US" dirty="0"/>
              <a:t> </a:t>
            </a:r>
            <a:r>
              <a:rPr lang="en-US" dirty="0" err="1"/>
              <a:t>mạng</a:t>
            </a:r>
            <a:r>
              <a:rPr lang="en-US" dirty="0"/>
              <a:t> </a:t>
            </a:r>
            <a:r>
              <a:rPr lang="en-US" dirty="0" err="1"/>
              <a:t>máy</a:t>
            </a:r>
            <a:r>
              <a:rPr lang="en-US" dirty="0"/>
              <a:t> </a:t>
            </a:r>
            <a:r>
              <a:rPr lang="en-US" dirty="0" err="1"/>
              <a:t>tính</a:t>
            </a:r>
            <a:r>
              <a:rPr lang="en-US" dirty="0"/>
              <a:t> </a:t>
            </a:r>
            <a:r>
              <a:rPr lang="en-US" dirty="0" err="1"/>
              <a:t>trong</a:t>
            </a:r>
            <a:r>
              <a:rPr lang="en-US" dirty="0"/>
              <a:t> </a:t>
            </a:r>
            <a:r>
              <a:rPr lang="en-US" dirty="0" err="1"/>
              <a:t>cuộc</a:t>
            </a:r>
            <a:r>
              <a:rPr lang="en-US" dirty="0"/>
              <a:t> </a:t>
            </a:r>
            <a:r>
              <a:rPr lang="en-US" dirty="0" err="1"/>
              <a:t>sống</a:t>
            </a:r>
            <a:endParaRPr lang="en-US" dirty="0"/>
          </a:p>
          <a:p>
            <a:pPr marL="571500" indent="-571500">
              <a:buFont typeface="+mj-lt"/>
              <a:buAutoNum type="romanUcPeriod"/>
            </a:pPr>
            <a:r>
              <a:rPr lang="en-US" dirty="0" err="1"/>
              <a:t>Mối</a:t>
            </a:r>
            <a:r>
              <a:rPr lang="en-US" dirty="0"/>
              <a:t> t</a:t>
            </a:r>
            <a:r>
              <a:rPr lang="vi-VN" dirty="0"/>
              <a:t>ư</a:t>
            </a:r>
            <a:r>
              <a:rPr lang="en-US" dirty="0" err="1"/>
              <a:t>ơng</a:t>
            </a:r>
            <a:r>
              <a:rPr lang="en-US" dirty="0"/>
              <a:t> </a:t>
            </a:r>
            <a:r>
              <a:rPr lang="en-US" dirty="0" err="1"/>
              <a:t>quan</a:t>
            </a:r>
            <a:r>
              <a:rPr lang="en-US" dirty="0"/>
              <a:t> </a:t>
            </a:r>
            <a:r>
              <a:rPr lang="en-US" dirty="0" err="1"/>
              <a:t>giữa</a:t>
            </a:r>
            <a:r>
              <a:rPr lang="en-US" dirty="0"/>
              <a:t> </a:t>
            </a:r>
            <a:r>
              <a:rPr lang="en-US" dirty="0" err="1"/>
              <a:t>mạng</a:t>
            </a:r>
            <a:r>
              <a:rPr lang="en-US" dirty="0"/>
              <a:t> </a:t>
            </a:r>
            <a:r>
              <a:rPr lang="en-US" dirty="0" err="1"/>
              <a:t>máy</a:t>
            </a:r>
            <a:r>
              <a:rPr lang="en-US" dirty="0"/>
              <a:t> </a:t>
            </a:r>
            <a:r>
              <a:rPr lang="en-US" dirty="0" err="1"/>
              <a:t>tính</a:t>
            </a:r>
            <a:r>
              <a:rPr lang="en-US" dirty="0"/>
              <a:t> </a:t>
            </a:r>
            <a:r>
              <a:rPr lang="en-US" dirty="0" err="1"/>
              <a:t>và</a:t>
            </a:r>
            <a:r>
              <a:rPr lang="en-US" dirty="0"/>
              <a:t> internet</a:t>
            </a:r>
          </a:p>
          <a:p>
            <a:pPr marL="571500" indent="-571500">
              <a:buFont typeface="+mj-lt"/>
              <a:buAutoNum type="romanUcPeriod"/>
            </a:pPr>
            <a:r>
              <a:rPr lang="en-US" dirty="0" err="1"/>
              <a:t>Các</a:t>
            </a:r>
            <a:r>
              <a:rPr lang="en-US" dirty="0"/>
              <a:t> </a:t>
            </a:r>
            <a:r>
              <a:rPr lang="en-US" dirty="0" err="1"/>
              <a:t>thông</a:t>
            </a:r>
            <a:r>
              <a:rPr lang="en-US" dirty="0"/>
              <a:t> </a:t>
            </a:r>
            <a:r>
              <a:rPr lang="en-US" dirty="0" err="1"/>
              <a:t>số</a:t>
            </a:r>
            <a:r>
              <a:rPr lang="en-US" dirty="0"/>
              <a:t> c</a:t>
            </a:r>
            <a:r>
              <a:rPr lang="vi-VN" dirty="0"/>
              <a:t>ơ</a:t>
            </a:r>
            <a:r>
              <a:rPr lang="en-US" dirty="0"/>
              <a:t> </a:t>
            </a:r>
            <a:r>
              <a:rPr lang="en-US" dirty="0" err="1"/>
              <a:t>bản</a:t>
            </a:r>
            <a:r>
              <a:rPr lang="en-US" dirty="0"/>
              <a:t> </a:t>
            </a:r>
            <a:r>
              <a:rPr lang="en-US" dirty="0" err="1"/>
              <a:t>trên</a:t>
            </a:r>
            <a:r>
              <a:rPr lang="en-US" dirty="0"/>
              <a:t> internet</a:t>
            </a:r>
          </a:p>
          <a:p>
            <a:pPr marL="571500" indent="-571500">
              <a:buFont typeface="+mj-lt"/>
              <a:buAutoNum type="romanUcPeriod"/>
            </a:pPr>
            <a:r>
              <a:rPr lang="en-US" dirty="0" err="1"/>
              <a:t>Các</a:t>
            </a:r>
            <a:r>
              <a:rPr lang="en-US" dirty="0"/>
              <a:t> </a:t>
            </a:r>
            <a:r>
              <a:rPr lang="en-US" dirty="0" err="1"/>
              <a:t>thiết</a:t>
            </a:r>
            <a:r>
              <a:rPr lang="en-US" dirty="0"/>
              <a:t> </a:t>
            </a:r>
            <a:r>
              <a:rPr lang="en-US" dirty="0" err="1"/>
              <a:t>bị</a:t>
            </a:r>
            <a:r>
              <a:rPr lang="en-US" dirty="0"/>
              <a:t> </a:t>
            </a:r>
            <a:r>
              <a:rPr lang="en-US" dirty="0" err="1"/>
              <a:t>mạng</a:t>
            </a:r>
            <a:endParaRPr lang="en-US" dirty="0"/>
          </a:p>
          <a:p>
            <a:pPr marL="571500" indent="-571500">
              <a:buFont typeface="+mj-lt"/>
              <a:buAutoNum type="romanUcPeriod"/>
            </a:pPr>
            <a:r>
              <a:rPr lang="en-US" dirty="0"/>
              <a:t>Topo </a:t>
            </a:r>
            <a:r>
              <a:rPr lang="en-US" dirty="0" err="1"/>
              <a:t>mạng</a:t>
            </a:r>
            <a:endParaRPr lang="en-US" dirty="0"/>
          </a:p>
        </p:txBody>
      </p:sp>
    </p:spTree>
    <p:extLst>
      <p:ext uri="{BB962C8B-B14F-4D97-AF65-F5344CB8AC3E}">
        <p14:creationId xmlns:p14="http://schemas.microsoft.com/office/powerpoint/2010/main" val="856622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33DA-B6DE-4ABA-B9F4-27F5AC2B0F93}"/>
              </a:ext>
            </a:extLst>
          </p:cNvPr>
          <p:cNvSpPr>
            <a:spLocks noGrp="1"/>
          </p:cNvSpPr>
          <p:nvPr>
            <p:ph type="title"/>
          </p:nvPr>
        </p:nvSpPr>
        <p:spPr/>
        <p:txBody>
          <a:bodyPr/>
          <a:lstStyle/>
          <a:p>
            <a:r>
              <a:rPr lang="en-US" dirty="0"/>
              <a:t>I. LỊCH SỬ MẠNG MÁY TÍNH</a:t>
            </a:r>
          </a:p>
        </p:txBody>
      </p:sp>
      <p:sp>
        <p:nvSpPr>
          <p:cNvPr id="3" name="Content Placeholder 2">
            <a:extLst>
              <a:ext uri="{FF2B5EF4-FFF2-40B4-BE49-F238E27FC236}">
                <a16:creationId xmlns:a16="http://schemas.microsoft.com/office/drawing/2014/main" id="{A0141B72-FE18-43E9-B67B-0A11D2398A59}"/>
              </a:ext>
            </a:extLst>
          </p:cNvPr>
          <p:cNvSpPr>
            <a:spLocks noGrp="1"/>
          </p:cNvSpPr>
          <p:nvPr>
            <p:ph idx="1"/>
          </p:nvPr>
        </p:nvSpPr>
        <p:spPr>
          <a:xfrm>
            <a:off x="508000" y="1066800"/>
            <a:ext cx="5326942" cy="5486400"/>
          </a:xfrm>
        </p:spPr>
        <p:txBody>
          <a:bodyPr/>
          <a:lstStyle/>
          <a:p>
            <a:pPr algn="just"/>
            <a:r>
              <a:rPr lang="vi-VN" dirty="0"/>
              <a:t>Máy tính của thập niên 1940 là các thiết bị cơ-điện tử lớn và rất dễ hỏng.</a:t>
            </a:r>
            <a:endParaRPr lang="en-US" dirty="0"/>
          </a:p>
          <a:p>
            <a:pPr algn="just"/>
            <a:r>
              <a:rPr lang="vi-VN" dirty="0"/>
              <a:t>Sự phát minh ra transistor bán dẫn vào năm 1947 tạo ra cơ hội để làm ra chiếc máy tính nhỏ và đáng tin cậy hơn.</a:t>
            </a:r>
            <a:endParaRPr lang="en-US" dirty="0"/>
          </a:p>
          <a:p>
            <a:pPr algn="just"/>
            <a:endParaRPr lang="en-US" dirty="0"/>
          </a:p>
        </p:txBody>
      </p:sp>
      <p:pic>
        <p:nvPicPr>
          <p:cNvPr id="1026" name="Picture 2" descr="Káº¿t quáº£ hÃ¬nh áº£nh cho mÃ¡y tÃ­nh cÆ¡ Äiá»n tá»­ Äáº§u tiÃªn">
            <a:extLst>
              <a:ext uri="{FF2B5EF4-FFF2-40B4-BE49-F238E27FC236}">
                <a16:creationId xmlns:a16="http://schemas.microsoft.com/office/drawing/2014/main" id="{41BBC893-7573-431E-BE3F-D37C25DB2D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236482"/>
            <a:ext cx="6030801" cy="402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066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991BD-3E17-4AF4-A23A-8F56228FF593}"/>
              </a:ext>
            </a:extLst>
          </p:cNvPr>
          <p:cNvSpPr>
            <a:spLocks noGrp="1"/>
          </p:cNvSpPr>
          <p:nvPr>
            <p:ph type="title"/>
          </p:nvPr>
        </p:nvSpPr>
        <p:spPr/>
        <p:txBody>
          <a:bodyPr/>
          <a:lstStyle/>
          <a:p>
            <a:r>
              <a:rPr lang="en-US" dirty="0"/>
              <a:t>I. LỊCH SỬ MẠNG MÁY TÍNH</a:t>
            </a:r>
          </a:p>
        </p:txBody>
      </p:sp>
      <p:sp>
        <p:nvSpPr>
          <p:cNvPr id="3" name="Content Placeholder 2">
            <a:extLst>
              <a:ext uri="{FF2B5EF4-FFF2-40B4-BE49-F238E27FC236}">
                <a16:creationId xmlns:a16="http://schemas.microsoft.com/office/drawing/2014/main" id="{8FEF3C16-F242-40FF-83DA-15D4EC239B8C}"/>
              </a:ext>
            </a:extLst>
          </p:cNvPr>
          <p:cNvSpPr>
            <a:spLocks noGrp="1"/>
          </p:cNvSpPr>
          <p:nvPr>
            <p:ph idx="1"/>
          </p:nvPr>
        </p:nvSpPr>
        <p:spPr>
          <a:xfrm>
            <a:off x="131976" y="1066800"/>
            <a:ext cx="6683604" cy="5486400"/>
          </a:xfrm>
        </p:spPr>
        <p:txBody>
          <a:bodyPr/>
          <a:lstStyle/>
          <a:p>
            <a:pPr algn="just"/>
            <a:r>
              <a:rPr lang="vi-VN" dirty="0"/>
              <a:t>Năm 1950, các máy tính lớn mainframe chạy bởi các chương trình ghi trên thẻ đục lỗ (punched card) bắt đầu được dùng trong các học viện lớn.</a:t>
            </a:r>
            <a:endParaRPr lang="en-US" dirty="0"/>
          </a:p>
          <a:p>
            <a:pPr algn="just"/>
            <a:r>
              <a:rPr lang="vi-VN" dirty="0"/>
              <a:t>Vào cuối thập niên 1950, người ta phát minh ra mạch tích hợp (IC) chứa nhiều transistor trên một mẫu bán dẫn nhỏ, tạo ra một bước nhảy vọt trong việc chế tạo các máy tính mạnh hơn, nhanh hơn và nhỏ hơn</a:t>
            </a:r>
            <a:endParaRPr lang="en-US" dirty="0"/>
          </a:p>
          <a:p>
            <a:pPr algn="just"/>
            <a:endParaRPr lang="en-US" dirty="0"/>
          </a:p>
        </p:txBody>
      </p:sp>
      <p:pic>
        <p:nvPicPr>
          <p:cNvPr id="2050" name="Picture 2" descr="https://www.filepicker.io/api/file/90ItsYuqQVWx61xcItab">
            <a:extLst>
              <a:ext uri="{FF2B5EF4-FFF2-40B4-BE49-F238E27FC236}">
                <a16:creationId xmlns:a16="http://schemas.microsoft.com/office/drawing/2014/main" id="{BA710134-1546-4E02-992C-C03908B24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4872" y="1500432"/>
            <a:ext cx="4727408" cy="3857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548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0B137-AED1-4EEE-809B-BC6B362270D7}"/>
              </a:ext>
            </a:extLst>
          </p:cNvPr>
          <p:cNvSpPr>
            <a:spLocks noGrp="1"/>
          </p:cNvSpPr>
          <p:nvPr>
            <p:ph type="title"/>
          </p:nvPr>
        </p:nvSpPr>
        <p:spPr/>
        <p:txBody>
          <a:bodyPr/>
          <a:lstStyle/>
          <a:p>
            <a:r>
              <a:rPr lang="en-US" dirty="0"/>
              <a:t>I. LỊCH SỬ MẠNG MÁY TÍNH</a:t>
            </a:r>
          </a:p>
        </p:txBody>
      </p:sp>
      <p:sp>
        <p:nvSpPr>
          <p:cNvPr id="3" name="Content Placeholder 2">
            <a:extLst>
              <a:ext uri="{FF2B5EF4-FFF2-40B4-BE49-F238E27FC236}">
                <a16:creationId xmlns:a16="http://schemas.microsoft.com/office/drawing/2014/main" id="{53F4E487-19B1-42EA-BF33-FC5DD76EB8AC}"/>
              </a:ext>
            </a:extLst>
          </p:cNvPr>
          <p:cNvSpPr>
            <a:spLocks noGrp="1"/>
          </p:cNvSpPr>
          <p:nvPr>
            <p:ph idx="1"/>
          </p:nvPr>
        </p:nvSpPr>
        <p:spPr>
          <a:xfrm>
            <a:off x="508000" y="1066800"/>
            <a:ext cx="6194458" cy="5486400"/>
          </a:xfrm>
        </p:spPr>
        <p:txBody>
          <a:bodyPr/>
          <a:lstStyle/>
          <a:p>
            <a:pPr algn="just"/>
            <a:r>
              <a:rPr lang="vi-VN" dirty="0"/>
              <a:t>Vào cuối thập niên 1960, đầu thập niên 1970, các máy tính nhỏ được gọi là minicomputer bắt đầu xuất hiện.</a:t>
            </a:r>
          </a:p>
          <a:p>
            <a:pPr algn="just"/>
            <a:r>
              <a:rPr lang="vi-VN" dirty="0"/>
              <a:t>Năm 1977, công ty máy tính Apple Computer giới thiệu máy vi tính còn được gọi là máy tính cá nhân (personal computer - PC).</a:t>
            </a:r>
          </a:p>
          <a:p>
            <a:pPr algn="just"/>
            <a:endParaRPr lang="en-US" dirty="0"/>
          </a:p>
        </p:txBody>
      </p:sp>
      <p:pic>
        <p:nvPicPr>
          <p:cNvPr id="3074" name="Picture 2" descr="https://www.filepicker.io/api/file/tXuF9rsbRaamVLSW8u1o">
            <a:extLst>
              <a:ext uri="{FF2B5EF4-FFF2-40B4-BE49-F238E27FC236}">
                <a16:creationId xmlns:a16="http://schemas.microsoft.com/office/drawing/2014/main" id="{D367F059-53E0-4706-9F3B-EE86B046CD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9496" y="1480009"/>
            <a:ext cx="5211252" cy="344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116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39129-8CC1-4B78-A395-948961A9BF74}"/>
              </a:ext>
            </a:extLst>
          </p:cNvPr>
          <p:cNvSpPr>
            <a:spLocks noGrp="1"/>
          </p:cNvSpPr>
          <p:nvPr>
            <p:ph type="title"/>
          </p:nvPr>
        </p:nvSpPr>
        <p:spPr/>
        <p:txBody>
          <a:bodyPr/>
          <a:lstStyle/>
          <a:p>
            <a:r>
              <a:rPr lang="en-US" dirty="0"/>
              <a:t>I. LỊCH SỬ MẠNG MÁY TÍNH</a:t>
            </a:r>
          </a:p>
        </p:txBody>
      </p:sp>
      <p:sp>
        <p:nvSpPr>
          <p:cNvPr id="3" name="Content Placeholder 2">
            <a:extLst>
              <a:ext uri="{FF2B5EF4-FFF2-40B4-BE49-F238E27FC236}">
                <a16:creationId xmlns:a16="http://schemas.microsoft.com/office/drawing/2014/main" id="{AC71D097-E1D7-4758-BB7E-435E929A351F}"/>
              </a:ext>
            </a:extLst>
          </p:cNvPr>
          <p:cNvSpPr>
            <a:spLocks noGrp="1"/>
          </p:cNvSpPr>
          <p:nvPr>
            <p:ph idx="1"/>
          </p:nvPr>
        </p:nvSpPr>
        <p:spPr/>
        <p:txBody>
          <a:bodyPr/>
          <a:lstStyle/>
          <a:p>
            <a:pPr algn="just"/>
            <a:r>
              <a:rPr lang="vi-VN" dirty="0"/>
              <a:t>Năm 1981, IBM đưa ra máy tính cá nhân đầu tiên. Sự thu nhỏ ngày càng tinh vi hơn của các IC đưa đến việc sử dụng rộng rãi máy tính cá nhân tại nhà và trong kinh doanh.</a:t>
            </a:r>
            <a:endParaRPr lang="en-US" dirty="0"/>
          </a:p>
        </p:txBody>
      </p:sp>
      <p:pic>
        <p:nvPicPr>
          <p:cNvPr id="4098" name="Picture 2" descr="Káº¿t quáº£ hÃ¬nh áº£nh cho MÃ¡y tÃ­nh IBM 1981">
            <a:extLst>
              <a:ext uri="{FF2B5EF4-FFF2-40B4-BE49-F238E27FC236}">
                <a16:creationId xmlns:a16="http://schemas.microsoft.com/office/drawing/2014/main" id="{5DCE4CAA-ABFE-4956-B13C-0B65B87A0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922" y="2708013"/>
            <a:ext cx="5320956" cy="3845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664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56DCA-8119-431F-AD06-FA1759C53BEB}"/>
              </a:ext>
            </a:extLst>
          </p:cNvPr>
          <p:cNvSpPr>
            <a:spLocks noGrp="1"/>
          </p:cNvSpPr>
          <p:nvPr>
            <p:ph type="title"/>
          </p:nvPr>
        </p:nvSpPr>
        <p:spPr/>
        <p:txBody>
          <a:bodyPr/>
          <a:lstStyle/>
          <a:p>
            <a:r>
              <a:rPr lang="en-US" dirty="0"/>
              <a:t>I. LỊCH SỬ MẠNG MÁY TÍNH</a:t>
            </a:r>
          </a:p>
        </p:txBody>
      </p:sp>
      <p:sp>
        <p:nvSpPr>
          <p:cNvPr id="3" name="Content Placeholder 2">
            <a:extLst>
              <a:ext uri="{FF2B5EF4-FFF2-40B4-BE49-F238E27FC236}">
                <a16:creationId xmlns:a16="http://schemas.microsoft.com/office/drawing/2014/main" id="{FC8C6964-0063-477E-BB75-4E531F8E0250}"/>
              </a:ext>
            </a:extLst>
          </p:cNvPr>
          <p:cNvSpPr>
            <a:spLocks noGrp="1"/>
          </p:cNvSpPr>
          <p:nvPr>
            <p:ph idx="1"/>
          </p:nvPr>
        </p:nvSpPr>
        <p:spPr/>
        <p:txBody>
          <a:bodyPr/>
          <a:lstStyle/>
          <a:p>
            <a:pPr algn="just"/>
            <a:r>
              <a:rPr lang="vi-VN" dirty="0"/>
              <a:t>Vào giữa thập niên 1980, người sử dụng dùng các máy tính độc lập bắt đầu chia sẻ các tập tin bằng cách dùng modem kết nối với các máy tính khác. </a:t>
            </a:r>
            <a:endParaRPr lang="en-US" dirty="0"/>
          </a:p>
          <a:p>
            <a:pPr algn="just"/>
            <a:r>
              <a:rPr lang="vi-VN" dirty="0"/>
              <a:t>Cách thức này được gọi là điểm nối điểm, hay truyền theo kiểu quay số</a:t>
            </a:r>
            <a:r>
              <a:rPr lang="en-US" dirty="0"/>
              <a:t>.</a:t>
            </a:r>
          </a:p>
        </p:txBody>
      </p:sp>
      <p:pic>
        <p:nvPicPr>
          <p:cNvPr id="5122" name="Picture 2" descr="Káº¿t quáº£ hÃ¬nh áº£nh cho káº¿t ná»i quay sá»">
            <a:extLst>
              <a:ext uri="{FF2B5EF4-FFF2-40B4-BE49-F238E27FC236}">
                <a16:creationId xmlns:a16="http://schemas.microsoft.com/office/drawing/2014/main" id="{AA160C31-B9D4-4569-868D-7C8F6CA85D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1624" y="3308415"/>
            <a:ext cx="5630825" cy="3378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550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08DDA-7CE0-42FE-A8F7-877A66388CE0}"/>
              </a:ext>
            </a:extLst>
          </p:cNvPr>
          <p:cNvSpPr>
            <a:spLocks noGrp="1"/>
          </p:cNvSpPr>
          <p:nvPr>
            <p:ph type="title"/>
          </p:nvPr>
        </p:nvSpPr>
        <p:spPr/>
        <p:txBody>
          <a:bodyPr/>
          <a:lstStyle/>
          <a:p>
            <a:r>
              <a:rPr lang="en-US" dirty="0"/>
              <a:t>I. LỊCH SỬ MẠNG MÁY TÍNH</a:t>
            </a:r>
          </a:p>
        </p:txBody>
      </p:sp>
      <p:sp>
        <p:nvSpPr>
          <p:cNvPr id="3" name="Content Placeholder 2">
            <a:extLst>
              <a:ext uri="{FF2B5EF4-FFF2-40B4-BE49-F238E27FC236}">
                <a16:creationId xmlns:a16="http://schemas.microsoft.com/office/drawing/2014/main" id="{143953CD-0F38-4AC7-9F8C-7E6126B9CB9E}"/>
              </a:ext>
            </a:extLst>
          </p:cNvPr>
          <p:cNvSpPr>
            <a:spLocks noGrp="1"/>
          </p:cNvSpPr>
          <p:nvPr>
            <p:ph idx="1"/>
          </p:nvPr>
        </p:nvSpPr>
        <p:spPr/>
        <p:txBody>
          <a:bodyPr/>
          <a:lstStyle/>
          <a:p>
            <a:pPr algn="just"/>
            <a:r>
              <a:rPr lang="en-US" dirty="0"/>
              <a:t>Qua </a:t>
            </a:r>
            <a:r>
              <a:rPr lang="en-US" dirty="0" err="1"/>
              <a:t>các</a:t>
            </a:r>
            <a:r>
              <a:rPr lang="en-US" dirty="0"/>
              <a:t> </a:t>
            </a:r>
            <a:r>
              <a:rPr lang="en-US" dirty="0" err="1"/>
              <a:t>thập</a:t>
            </a:r>
            <a:r>
              <a:rPr lang="en-US" dirty="0"/>
              <a:t> </a:t>
            </a:r>
            <a:r>
              <a:rPr lang="en-US" dirty="0" err="1"/>
              <a:t>niên</a:t>
            </a:r>
            <a:r>
              <a:rPr lang="en-US" dirty="0"/>
              <a:t> 1950, 1970, 1980 </a:t>
            </a:r>
            <a:r>
              <a:rPr lang="en-US" dirty="0" err="1"/>
              <a:t>và</a:t>
            </a:r>
            <a:r>
              <a:rPr lang="en-US" dirty="0"/>
              <a:t> 1990, </a:t>
            </a:r>
            <a:r>
              <a:rPr lang="en-US" dirty="0" err="1"/>
              <a:t>Bộ</a:t>
            </a:r>
            <a:r>
              <a:rPr lang="en-US" dirty="0"/>
              <a:t> </a:t>
            </a:r>
            <a:r>
              <a:rPr lang="en-US" dirty="0" err="1"/>
              <a:t>Quốc</a:t>
            </a:r>
            <a:r>
              <a:rPr lang="en-US" dirty="0"/>
              <a:t> </a:t>
            </a:r>
            <a:r>
              <a:rPr lang="en-US" dirty="0" err="1"/>
              <a:t>phòng</a:t>
            </a:r>
            <a:r>
              <a:rPr lang="en-US" dirty="0"/>
              <a:t> </a:t>
            </a:r>
            <a:r>
              <a:rPr lang="en-US" dirty="0" err="1"/>
              <a:t>Hoa</a:t>
            </a:r>
            <a:r>
              <a:rPr lang="en-US" dirty="0"/>
              <a:t> </a:t>
            </a:r>
            <a:r>
              <a:rPr lang="en-US" dirty="0" err="1"/>
              <a:t>Kỳ</a:t>
            </a:r>
            <a:r>
              <a:rPr lang="en-US" dirty="0"/>
              <a:t> </a:t>
            </a:r>
            <a:r>
              <a:rPr lang="en-US" dirty="0" err="1"/>
              <a:t>đã</a:t>
            </a:r>
            <a:r>
              <a:rPr lang="en-US" dirty="0"/>
              <a:t> </a:t>
            </a:r>
            <a:r>
              <a:rPr lang="en-US" dirty="0" err="1"/>
              <a:t>phát</a:t>
            </a:r>
            <a:r>
              <a:rPr lang="en-US" dirty="0"/>
              <a:t> </a:t>
            </a:r>
            <a:r>
              <a:rPr lang="en-US" dirty="0" err="1"/>
              <a:t>triển</a:t>
            </a:r>
            <a:r>
              <a:rPr lang="en-US" dirty="0"/>
              <a:t> </a:t>
            </a:r>
            <a:r>
              <a:rPr lang="en-US" dirty="0" err="1"/>
              <a:t>các</a:t>
            </a:r>
            <a:r>
              <a:rPr lang="en-US" dirty="0"/>
              <a:t> </a:t>
            </a:r>
            <a:r>
              <a:rPr lang="en-US" dirty="0" err="1"/>
              <a:t>mạng</a:t>
            </a:r>
            <a:r>
              <a:rPr lang="en-US" dirty="0"/>
              <a:t> </a:t>
            </a:r>
            <a:r>
              <a:rPr lang="en-US" dirty="0" err="1"/>
              <a:t>diện</a:t>
            </a:r>
            <a:r>
              <a:rPr lang="en-US" dirty="0"/>
              <a:t> </a:t>
            </a:r>
            <a:r>
              <a:rPr lang="en-US" dirty="0" err="1"/>
              <a:t>rộng</a:t>
            </a:r>
            <a:r>
              <a:rPr lang="en-US" dirty="0"/>
              <a:t> WAN </a:t>
            </a:r>
            <a:r>
              <a:rPr lang="en-US" dirty="0" err="1"/>
              <a:t>có</a:t>
            </a:r>
            <a:r>
              <a:rPr lang="en-US" dirty="0"/>
              <a:t> </a:t>
            </a:r>
            <a:r>
              <a:rPr lang="en-US" dirty="0" err="1"/>
              <a:t>độ</a:t>
            </a:r>
            <a:r>
              <a:rPr lang="en-US" dirty="0"/>
              <a:t> tin </a:t>
            </a:r>
            <a:r>
              <a:rPr lang="en-US" dirty="0" err="1"/>
              <a:t>cậy</a:t>
            </a:r>
            <a:r>
              <a:rPr lang="en-US" dirty="0"/>
              <a:t> </a:t>
            </a:r>
            <a:r>
              <a:rPr lang="en-US" dirty="0" err="1"/>
              <a:t>cao</a:t>
            </a:r>
            <a:r>
              <a:rPr lang="en-US" dirty="0"/>
              <a:t>, </a:t>
            </a:r>
            <a:r>
              <a:rPr lang="en-US" dirty="0" err="1"/>
              <a:t>nhằm</a:t>
            </a:r>
            <a:r>
              <a:rPr lang="en-US" dirty="0"/>
              <a:t> </a:t>
            </a:r>
            <a:r>
              <a:rPr lang="en-US" dirty="0" err="1"/>
              <a:t>phục</a:t>
            </a:r>
            <a:r>
              <a:rPr lang="en-US" dirty="0"/>
              <a:t> </a:t>
            </a:r>
            <a:r>
              <a:rPr lang="en-US" dirty="0" err="1"/>
              <a:t>vụ</a:t>
            </a:r>
            <a:r>
              <a:rPr lang="en-US" dirty="0"/>
              <a:t> </a:t>
            </a:r>
            <a:r>
              <a:rPr lang="en-US" dirty="0" err="1"/>
              <a:t>các</a:t>
            </a:r>
            <a:r>
              <a:rPr lang="en-US" dirty="0"/>
              <a:t> </a:t>
            </a:r>
            <a:r>
              <a:rPr lang="en-US" dirty="0" err="1"/>
              <a:t>mục</a:t>
            </a:r>
            <a:r>
              <a:rPr lang="en-US" dirty="0"/>
              <a:t> </a:t>
            </a:r>
            <a:r>
              <a:rPr lang="en-US" dirty="0" err="1"/>
              <a:t>đích</a:t>
            </a:r>
            <a:r>
              <a:rPr lang="en-US" dirty="0"/>
              <a:t> </a:t>
            </a:r>
            <a:r>
              <a:rPr lang="en-US" dirty="0" err="1"/>
              <a:t>quân</a:t>
            </a:r>
            <a:r>
              <a:rPr lang="en-US" dirty="0"/>
              <a:t> </a:t>
            </a:r>
            <a:r>
              <a:rPr lang="en-US" dirty="0" err="1"/>
              <a:t>sự</a:t>
            </a:r>
            <a:r>
              <a:rPr lang="en-US" dirty="0"/>
              <a:t> </a:t>
            </a:r>
            <a:r>
              <a:rPr lang="en-US" dirty="0" err="1"/>
              <a:t>và</a:t>
            </a:r>
            <a:r>
              <a:rPr lang="en-US" dirty="0"/>
              <a:t> khoa </a:t>
            </a:r>
            <a:r>
              <a:rPr lang="en-US" dirty="0" err="1"/>
              <a:t>học</a:t>
            </a:r>
            <a:r>
              <a:rPr lang="en-US" dirty="0"/>
              <a:t>.</a:t>
            </a:r>
          </a:p>
          <a:p>
            <a:pPr algn="just"/>
            <a:r>
              <a:rPr lang="en-US" dirty="0"/>
              <a:t>Sau </a:t>
            </a:r>
            <a:r>
              <a:rPr lang="en-US" dirty="0" err="1"/>
              <a:t>này</a:t>
            </a:r>
            <a:r>
              <a:rPr lang="en-US" dirty="0"/>
              <a:t>, WAN </a:t>
            </a:r>
            <a:r>
              <a:rPr lang="en-US" dirty="0" err="1"/>
              <a:t>của</a:t>
            </a:r>
            <a:r>
              <a:rPr lang="en-US" dirty="0"/>
              <a:t> </a:t>
            </a:r>
            <a:r>
              <a:rPr lang="en-US" dirty="0" err="1"/>
              <a:t>Bộ</a:t>
            </a:r>
            <a:r>
              <a:rPr lang="en-US" dirty="0"/>
              <a:t> </a:t>
            </a:r>
            <a:r>
              <a:rPr lang="en-US" dirty="0" err="1"/>
              <a:t>Quốc</a:t>
            </a:r>
            <a:r>
              <a:rPr lang="en-US" dirty="0"/>
              <a:t> </a:t>
            </a:r>
            <a:r>
              <a:rPr lang="en-US" dirty="0" err="1"/>
              <a:t>phòng</a:t>
            </a:r>
            <a:r>
              <a:rPr lang="en-US" dirty="0"/>
              <a:t> </a:t>
            </a:r>
            <a:r>
              <a:rPr lang="en-US" dirty="0" err="1"/>
              <a:t>Hoa</a:t>
            </a:r>
            <a:r>
              <a:rPr lang="en-US" dirty="0"/>
              <a:t> </a:t>
            </a:r>
            <a:r>
              <a:rPr lang="en-US" dirty="0" err="1"/>
              <a:t>Kỳ</a:t>
            </a:r>
            <a:r>
              <a:rPr lang="en-US" dirty="0"/>
              <a:t> </a:t>
            </a:r>
            <a:r>
              <a:rPr lang="en-US" dirty="0" err="1"/>
              <a:t>đã</a:t>
            </a:r>
            <a:r>
              <a:rPr lang="en-US" dirty="0"/>
              <a:t> </a:t>
            </a:r>
            <a:r>
              <a:rPr lang="en-US" dirty="0" err="1"/>
              <a:t>trở</a:t>
            </a:r>
            <a:r>
              <a:rPr lang="en-US" dirty="0"/>
              <a:t> </a:t>
            </a:r>
            <a:r>
              <a:rPr lang="en-US" dirty="0" err="1"/>
              <a:t>thành</a:t>
            </a:r>
            <a:r>
              <a:rPr lang="en-US" dirty="0"/>
              <a:t> Internet</a:t>
            </a:r>
          </a:p>
        </p:txBody>
      </p:sp>
      <p:pic>
        <p:nvPicPr>
          <p:cNvPr id="6146" name="Picture 2" descr="Káº¿t quáº£ hÃ¬nh áº£nh cho máº¡ng internet">
            <a:extLst>
              <a:ext uri="{FF2B5EF4-FFF2-40B4-BE49-F238E27FC236}">
                <a16:creationId xmlns:a16="http://schemas.microsoft.com/office/drawing/2014/main" id="{A121877C-AF03-4249-8E11-898DB4E81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1298" y="3480789"/>
            <a:ext cx="3589403" cy="3072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730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61B6-3972-44CC-ABB1-3A1AA3EA5831}"/>
              </a:ext>
            </a:extLst>
          </p:cNvPr>
          <p:cNvSpPr>
            <a:spLocks noGrp="1"/>
          </p:cNvSpPr>
          <p:nvPr>
            <p:ph type="title"/>
          </p:nvPr>
        </p:nvSpPr>
        <p:spPr/>
        <p:txBody>
          <a:bodyPr/>
          <a:lstStyle/>
          <a:p>
            <a:r>
              <a:rPr lang="en-US" dirty="0"/>
              <a:t>II. KHÁI NIỆM MẠNG MÁY TÍNH</a:t>
            </a:r>
          </a:p>
        </p:txBody>
      </p:sp>
      <p:sp>
        <p:nvSpPr>
          <p:cNvPr id="3" name="Content Placeholder 2">
            <a:extLst>
              <a:ext uri="{FF2B5EF4-FFF2-40B4-BE49-F238E27FC236}">
                <a16:creationId xmlns:a16="http://schemas.microsoft.com/office/drawing/2014/main" id="{2E39C0FA-AB78-4175-9830-E2BCC38DF5CD}"/>
              </a:ext>
            </a:extLst>
          </p:cNvPr>
          <p:cNvSpPr>
            <a:spLocks noGrp="1"/>
          </p:cNvSpPr>
          <p:nvPr>
            <p:ph idx="1"/>
          </p:nvPr>
        </p:nvSpPr>
        <p:spPr>
          <a:xfrm>
            <a:off x="355600" y="1046946"/>
            <a:ext cx="11480800" cy="5486400"/>
          </a:xfrm>
        </p:spPr>
        <p:txBody>
          <a:bodyPr/>
          <a:lstStyle/>
          <a:p>
            <a:r>
              <a:rPr lang="en-US" dirty="0"/>
              <a:t>Tr</a:t>
            </a:r>
            <a:r>
              <a:rPr lang="vi-VN" dirty="0"/>
              <a:t>ư</a:t>
            </a:r>
            <a:r>
              <a:rPr lang="en-US" dirty="0" err="1"/>
              <a:t>ớc</a:t>
            </a:r>
            <a:r>
              <a:rPr lang="en-US" dirty="0"/>
              <a:t> </a:t>
            </a:r>
            <a:r>
              <a:rPr lang="en-US" dirty="0" err="1"/>
              <a:t>khi</a:t>
            </a:r>
            <a:r>
              <a:rPr lang="en-US" dirty="0"/>
              <a:t> </a:t>
            </a:r>
            <a:r>
              <a:rPr lang="en-US" dirty="0" err="1"/>
              <a:t>xuất</a:t>
            </a:r>
            <a:r>
              <a:rPr lang="en-US" dirty="0"/>
              <a:t> </a:t>
            </a:r>
            <a:r>
              <a:rPr lang="en-US" dirty="0" err="1"/>
              <a:t>hiện</a:t>
            </a:r>
            <a:r>
              <a:rPr lang="en-US" dirty="0"/>
              <a:t> </a:t>
            </a:r>
            <a:r>
              <a:rPr lang="en-US" dirty="0" err="1"/>
              <a:t>mạng</a:t>
            </a:r>
            <a:r>
              <a:rPr lang="en-US" dirty="0"/>
              <a:t> </a:t>
            </a:r>
            <a:r>
              <a:rPr lang="en-US" dirty="0" err="1"/>
              <a:t>máy</a:t>
            </a:r>
            <a:r>
              <a:rPr lang="en-US" dirty="0"/>
              <a:t> </a:t>
            </a:r>
            <a:r>
              <a:rPr lang="en-US" dirty="0" err="1"/>
              <a:t>tính</a:t>
            </a:r>
            <a:r>
              <a:rPr lang="en-US" dirty="0"/>
              <a:t>, ng</a:t>
            </a:r>
            <a:r>
              <a:rPr lang="vi-VN" dirty="0"/>
              <a:t>ư</a:t>
            </a:r>
            <a:r>
              <a:rPr lang="en-US" dirty="0" err="1"/>
              <a:t>ời</a:t>
            </a:r>
            <a:r>
              <a:rPr lang="en-US" dirty="0"/>
              <a:t> ta </a:t>
            </a:r>
            <a:r>
              <a:rPr lang="en-US" dirty="0" err="1"/>
              <a:t>đã</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cách</a:t>
            </a:r>
            <a:r>
              <a:rPr lang="en-US" dirty="0"/>
              <a:t> </a:t>
            </a:r>
            <a:r>
              <a:rPr lang="en-US" dirty="0" err="1"/>
              <a:t>thức</a:t>
            </a:r>
            <a:r>
              <a:rPr lang="en-US" dirty="0"/>
              <a:t> </a:t>
            </a:r>
            <a:r>
              <a:rPr lang="en-US" dirty="0" err="1"/>
              <a:t>khác</a:t>
            </a:r>
            <a:r>
              <a:rPr lang="en-US" dirty="0"/>
              <a:t> </a:t>
            </a:r>
            <a:r>
              <a:rPr lang="en-US" dirty="0" err="1"/>
              <a:t>để</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như</a:t>
            </a:r>
            <a:r>
              <a:rPr lang="en-US" dirty="0"/>
              <a:t>:</a:t>
            </a:r>
          </a:p>
        </p:txBody>
      </p:sp>
      <p:pic>
        <p:nvPicPr>
          <p:cNvPr id="4" name="Picture 2">
            <a:extLst>
              <a:ext uri="{FF2B5EF4-FFF2-40B4-BE49-F238E27FC236}">
                <a16:creationId xmlns:a16="http://schemas.microsoft.com/office/drawing/2014/main" id="{E3482611-FDF7-40A8-879A-515BE74189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018" y="3277576"/>
            <a:ext cx="5762164" cy="3114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a:extLst>
              <a:ext uri="{FF2B5EF4-FFF2-40B4-BE49-F238E27FC236}">
                <a16:creationId xmlns:a16="http://schemas.microsoft.com/office/drawing/2014/main" id="{BF77D1A4-1DB2-4D70-90D9-AF4FCADFF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6200" y="2796767"/>
            <a:ext cx="5562600" cy="3736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F2C388CB-FB57-424C-A4A8-538AE9B47154}"/>
              </a:ext>
            </a:extLst>
          </p:cNvPr>
          <p:cNvSpPr txBox="1"/>
          <p:nvPr/>
        </p:nvSpPr>
        <p:spPr>
          <a:xfrm>
            <a:off x="1555423" y="2271860"/>
            <a:ext cx="3968684" cy="584775"/>
          </a:xfrm>
          <a:prstGeom prst="rect">
            <a:avLst/>
          </a:prstGeom>
          <a:noFill/>
        </p:spPr>
        <p:txBody>
          <a:bodyPr wrap="square" rtlCol="0">
            <a:spAutoFit/>
          </a:bodyPr>
          <a:lstStyle/>
          <a:p>
            <a:pPr algn="ctr"/>
            <a:r>
              <a:rPr lang="en-US" sz="3200" dirty="0" err="1">
                <a:solidFill>
                  <a:srgbClr val="FF0000"/>
                </a:solidFill>
              </a:rPr>
              <a:t>Mạng</a:t>
            </a:r>
            <a:r>
              <a:rPr lang="en-US" sz="3200" dirty="0">
                <a:solidFill>
                  <a:srgbClr val="FF0000"/>
                </a:solidFill>
              </a:rPr>
              <a:t> </a:t>
            </a:r>
            <a:r>
              <a:rPr lang="en-US" sz="3200" dirty="0" err="1">
                <a:solidFill>
                  <a:srgbClr val="FF0000"/>
                </a:solidFill>
              </a:rPr>
              <a:t>điện</a:t>
            </a:r>
            <a:r>
              <a:rPr lang="en-US" sz="3200" dirty="0">
                <a:solidFill>
                  <a:srgbClr val="FF0000"/>
                </a:solidFill>
              </a:rPr>
              <a:t> </a:t>
            </a:r>
            <a:r>
              <a:rPr lang="en-US" sz="3200" dirty="0" err="1">
                <a:solidFill>
                  <a:srgbClr val="FF0000"/>
                </a:solidFill>
              </a:rPr>
              <a:t>báo</a:t>
            </a:r>
            <a:endParaRPr lang="en-US" sz="3200" dirty="0">
              <a:solidFill>
                <a:srgbClr val="FF0000"/>
              </a:solidFill>
            </a:endParaRPr>
          </a:p>
        </p:txBody>
      </p:sp>
      <p:sp>
        <p:nvSpPr>
          <p:cNvPr id="7" name="TextBox 6">
            <a:extLst>
              <a:ext uri="{FF2B5EF4-FFF2-40B4-BE49-F238E27FC236}">
                <a16:creationId xmlns:a16="http://schemas.microsoft.com/office/drawing/2014/main" id="{DE117B1D-542D-44BE-892E-7B90BF5F3B8A}"/>
              </a:ext>
            </a:extLst>
          </p:cNvPr>
          <p:cNvSpPr txBox="1"/>
          <p:nvPr/>
        </p:nvSpPr>
        <p:spPr>
          <a:xfrm>
            <a:off x="7016088" y="2211992"/>
            <a:ext cx="4382824" cy="584775"/>
          </a:xfrm>
          <a:prstGeom prst="rect">
            <a:avLst/>
          </a:prstGeom>
          <a:noFill/>
        </p:spPr>
        <p:txBody>
          <a:bodyPr wrap="square" rtlCol="0">
            <a:spAutoFit/>
          </a:bodyPr>
          <a:lstStyle/>
          <a:p>
            <a:pPr algn="ctr"/>
            <a:r>
              <a:rPr lang="en-US" sz="3200" dirty="0" err="1">
                <a:solidFill>
                  <a:srgbClr val="FF0000"/>
                </a:solidFill>
              </a:rPr>
              <a:t>Mạng</a:t>
            </a:r>
            <a:r>
              <a:rPr lang="en-US" sz="3200" dirty="0">
                <a:solidFill>
                  <a:srgbClr val="FF0000"/>
                </a:solidFill>
              </a:rPr>
              <a:t> h</a:t>
            </a:r>
            <a:r>
              <a:rPr lang="vi-VN" sz="3200" dirty="0">
                <a:solidFill>
                  <a:srgbClr val="FF0000"/>
                </a:solidFill>
              </a:rPr>
              <a:t>ư</a:t>
            </a:r>
            <a:r>
              <a:rPr lang="en-US" sz="3200" dirty="0" err="1">
                <a:solidFill>
                  <a:srgbClr val="FF0000"/>
                </a:solidFill>
              </a:rPr>
              <a:t>ớng</a:t>
            </a:r>
            <a:r>
              <a:rPr lang="en-US" sz="3200" dirty="0">
                <a:solidFill>
                  <a:srgbClr val="FF0000"/>
                </a:solidFill>
              </a:rPr>
              <a:t> </a:t>
            </a:r>
            <a:r>
              <a:rPr lang="en-US" sz="3200" dirty="0" err="1">
                <a:solidFill>
                  <a:srgbClr val="FF0000"/>
                </a:solidFill>
              </a:rPr>
              <a:t>đầu</a:t>
            </a:r>
            <a:r>
              <a:rPr lang="en-US" sz="3200" dirty="0">
                <a:solidFill>
                  <a:srgbClr val="FF0000"/>
                </a:solidFill>
              </a:rPr>
              <a:t> </a:t>
            </a:r>
            <a:r>
              <a:rPr lang="en-US" sz="3200" dirty="0" err="1">
                <a:solidFill>
                  <a:srgbClr val="FF0000"/>
                </a:solidFill>
              </a:rPr>
              <a:t>cuối</a:t>
            </a:r>
            <a:endParaRPr lang="en-US" sz="3200" dirty="0">
              <a:solidFill>
                <a:srgbClr val="FF0000"/>
              </a:solidFill>
            </a:endParaRPr>
          </a:p>
        </p:txBody>
      </p:sp>
    </p:spTree>
    <p:extLst>
      <p:ext uri="{BB962C8B-B14F-4D97-AF65-F5344CB8AC3E}">
        <p14:creationId xmlns:p14="http://schemas.microsoft.com/office/powerpoint/2010/main" val="339263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43C4F-C3BE-4FB3-9EBC-67A76D594139}"/>
              </a:ext>
            </a:extLst>
          </p:cNvPr>
          <p:cNvSpPr>
            <a:spLocks noGrp="1"/>
          </p:cNvSpPr>
          <p:nvPr>
            <p:ph type="title"/>
          </p:nvPr>
        </p:nvSpPr>
        <p:spPr/>
        <p:txBody>
          <a:bodyPr/>
          <a:lstStyle/>
          <a:p>
            <a:r>
              <a:rPr lang="en-US" dirty="0"/>
              <a:t>II. KHÁI NIỆM MẠNG MÁY TÍNH</a:t>
            </a:r>
          </a:p>
        </p:txBody>
      </p:sp>
      <p:sp>
        <p:nvSpPr>
          <p:cNvPr id="3" name="Content Placeholder 2">
            <a:extLst>
              <a:ext uri="{FF2B5EF4-FFF2-40B4-BE49-F238E27FC236}">
                <a16:creationId xmlns:a16="http://schemas.microsoft.com/office/drawing/2014/main" id="{3B3511D3-4314-4986-AB3C-C82B62167672}"/>
              </a:ext>
            </a:extLst>
          </p:cNvPr>
          <p:cNvSpPr>
            <a:spLocks noGrp="1"/>
          </p:cNvSpPr>
          <p:nvPr>
            <p:ph idx="1"/>
          </p:nvPr>
        </p:nvSpPr>
        <p:spPr/>
        <p:txBody>
          <a:bodyPr/>
          <a:lstStyle/>
          <a:p>
            <a:r>
              <a:rPr lang="en-US" dirty="0"/>
              <a:t>Cho </a:t>
            </a:r>
            <a:r>
              <a:rPr lang="en-US" dirty="0" err="1"/>
              <a:t>đến</a:t>
            </a:r>
            <a:r>
              <a:rPr lang="en-US" dirty="0"/>
              <a:t> </a:t>
            </a:r>
            <a:r>
              <a:rPr lang="en-US" dirty="0" err="1"/>
              <a:t>khi</a:t>
            </a:r>
            <a:r>
              <a:rPr lang="en-US" dirty="0"/>
              <a:t> </a:t>
            </a:r>
            <a:r>
              <a:rPr lang="en-US" dirty="0" err="1"/>
              <a:t>máy</a:t>
            </a:r>
            <a:r>
              <a:rPr lang="en-US" dirty="0"/>
              <a:t> </a:t>
            </a:r>
            <a:r>
              <a:rPr lang="en-US" dirty="0" err="1"/>
              <a:t>tính</a:t>
            </a:r>
            <a:r>
              <a:rPr lang="en-US" dirty="0"/>
              <a:t> </a:t>
            </a:r>
            <a:r>
              <a:rPr lang="en-US" dirty="0" err="1"/>
              <a:t>xuất</a:t>
            </a:r>
            <a:r>
              <a:rPr lang="en-US" dirty="0"/>
              <a:t> </a:t>
            </a:r>
            <a:r>
              <a:rPr lang="en-US" dirty="0" err="1"/>
              <a:t>hiện</a:t>
            </a:r>
            <a:r>
              <a:rPr lang="en-US" dirty="0"/>
              <a:t>, ng</a:t>
            </a:r>
            <a:r>
              <a:rPr lang="vi-VN" dirty="0"/>
              <a:t>ư</a:t>
            </a:r>
            <a:r>
              <a:rPr lang="en-US" dirty="0" err="1"/>
              <a:t>ời</a:t>
            </a:r>
            <a:r>
              <a:rPr lang="en-US" dirty="0"/>
              <a:t> ta </a:t>
            </a:r>
            <a:r>
              <a:rPr lang="en-US" dirty="0" err="1"/>
              <a:t>có</a:t>
            </a:r>
            <a:r>
              <a:rPr lang="en-US" dirty="0"/>
              <a:t> </a:t>
            </a:r>
            <a:r>
              <a:rPr lang="en-US" dirty="0" err="1"/>
              <a:t>nhu</a:t>
            </a:r>
            <a:r>
              <a:rPr lang="en-US" dirty="0"/>
              <a:t> </a:t>
            </a:r>
            <a:r>
              <a:rPr lang="en-US" dirty="0" err="1"/>
              <a:t>cầu</a:t>
            </a:r>
            <a:r>
              <a:rPr lang="en-US" dirty="0"/>
              <a:t> </a:t>
            </a:r>
            <a:r>
              <a:rPr lang="en-US" dirty="0" err="1"/>
              <a:t>trao</a:t>
            </a:r>
            <a:r>
              <a:rPr lang="en-US" dirty="0"/>
              <a:t> </a:t>
            </a:r>
            <a:r>
              <a:rPr lang="en-US" dirty="0" err="1"/>
              <a:t>đổi</a:t>
            </a:r>
            <a:r>
              <a:rPr lang="en-US" dirty="0"/>
              <a:t> </a:t>
            </a:r>
            <a:r>
              <a:rPr lang="en-US" dirty="0" err="1"/>
              <a:t>dữ</a:t>
            </a:r>
            <a:r>
              <a:rPr lang="en-US" dirty="0"/>
              <a:t> </a:t>
            </a:r>
            <a:r>
              <a:rPr lang="en-US" dirty="0" err="1"/>
              <a:t>liệu</a:t>
            </a:r>
            <a:r>
              <a:rPr lang="en-US" dirty="0"/>
              <a:t> </a:t>
            </a:r>
            <a:r>
              <a:rPr lang="en-US" dirty="0" err="1"/>
              <a:t>và</a:t>
            </a:r>
            <a:r>
              <a:rPr lang="en-US" dirty="0"/>
              <a:t> chia </a:t>
            </a:r>
            <a:r>
              <a:rPr lang="en-US" dirty="0" err="1"/>
              <a:t>sẻ</a:t>
            </a:r>
            <a:r>
              <a:rPr lang="en-US" dirty="0"/>
              <a:t> </a:t>
            </a:r>
            <a:r>
              <a:rPr lang="en-US" dirty="0" err="1"/>
              <a:t>tài</a:t>
            </a:r>
            <a:r>
              <a:rPr lang="en-US" dirty="0"/>
              <a:t> </a:t>
            </a:r>
            <a:r>
              <a:rPr lang="en-US" dirty="0" err="1"/>
              <a:t>nguyên</a:t>
            </a:r>
            <a:r>
              <a:rPr lang="en-US" dirty="0"/>
              <a:t> </a:t>
            </a:r>
            <a:r>
              <a:rPr lang="en-US" dirty="0" err="1"/>
              <a:t>giữa</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Từ</a:t>
            </a:r>
            <a:r>
              <a:rPr lang="en-US" dirty="0"/>
              <a:t> </a:t>
            </a:r>
            <a:r>
              <a:rPr lang="en-US" dirty="0" err="1"/>
              <a:t>đó</a:t>
            </a:r>
            <a:r>
              <a:rPr lang="en-US" dirty="0"/>
              <a:t>, </a:t>
            </a:r>
            <a:r>
              <a:rPr lang="en-US" dirty="0" err="1"/>
              <a:t>khái</a:t>
            </a:r>
            <a:r>
              <a:rPr lang="en-US" dirty="0"/>
              <a:t> </a:t>
            </a:r>
            <a:r>
              <a:rPr lang="en-US" dirty="0" err="1"/>
              <a:t>niệm</a:t>
            </a:r>
            <a:r>
              <a:rPr lang="en-US" dirty="0"/>
              <a:t> </a:t>
            </a:r>
            <a:r>
              <a:rPr lang="en-US" dirty="0" err="1"/>
              <a:t>mạng</a:t>
            </a:r>
            <a:r>
              <a:rPr lang="en-US" dirty="0"/>
              <a:t> </a:t>
            </a:r>
            <a:r>
              <a:rPr lang="en-US" dirty="0" err="1"/>
              <a:t>máy</a:t>
            </a:r>
            <a:r>
              <a:rPr lang="en-US" dirty="0"/>
              <a:t> </a:t>
            </a:r>
            <a:r>
              <a:rPr lang="en-US" dirty="0" err="1"/>
              <a:t>tính</a:t>
            </a:r>
            <a:r>
              <a:rPr lang="en-US" dirty="0"/>
              <a:t> ra </a:t>
            </a:r>
            <a:r>
              <a:rPr lang="en-US" dirty="0" err="1"/>
              <a:t>đời</a:t>
            </a:r>
            <a:r>
              <a:rPr lang="en-US" dirty="0"/>
              <a:t>.</a:t>
            </a:r>
          </a:p>
        </p:txBody>
      </p:sp>
      <p:pic>
        <p:nvPicPr>
          <p:cNvPr id="4" name="Picture 2">
            <a:extLst>
              <a:ext uri="{FF2B5EF4-FFF2-40B4-BE49-F238E27FC236}">
                <a16:creationId xmlns:a16="http://schemas.microsoft.com/office/drawing/2014/main" id="{9B584F2E-12C8-4814-8422-3379F4C2A7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8604" y="2638720"/>
            <a:ext cx="6175612"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1832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KHÁI NIỆM MẠNG MÁY TÍNH</a:t>
            </a:r>
          </a:p>
        </p:txBody>
      </p:sp>
      <p:sp>
        <p:nvSpPr>
          <p:cNvPr id="3" name="Content Placeholder 2"/>
          <p:cNvSpPr>
            <a:spLocks noGrp="1"/>
          </p:cNvSpPr>
          <p:nvPr>
            <p:ph idx="1"/>
          </p:nvPr>
        </p:nvSpPr>
        <p:spPr/>
        <p:txBody>
          <a:bodyPr/>
          <a:lstStyle/>
          <a:p>
            <a:pPr algn="just">
              <a:spcBef>
                <a:spcPts val="1800"/>
              </a:spcBef>
            </a:pPr>
            <a:r>
              <a:rPr lang="en-US" dirty="0" err="1"/>
              <a:t>Mạng</a:t>
            </a:r>
            <a:r>
              <a:rPr lang="en-US" dirty="0"/>
              <a:t> </a:t>
            </a:r>
            <a:r>
              <a:rPr lang="en-US" dirty="0" err="1"/>
              <a:t>máy</a:t>
            </a:r>
            <a:r>
              <a:rPr lang="en-US" dirty="0"/>
              <a:t> </a:t>
            </a:r>
            <a:r>
              <a:rPr lang="en-US" dirty="0" err="1"/>
              <a:t>tính</a:t>
            </a:r>
            <a:r>
              <a:rPr lang="en-US" dirty="0"/>
              <a:t> </a:t>
            </a:r>
            <a:r>
              <a:rPr lang="en-US" dirty="0" err="1"/>
              <a:t>là</a:t>
            </a:r>
            <a:r>
              <a:rPr lang="en-US" dirty="0"/>
              <a:t> </a:t>
            </a:r>
            <a:r>
              <a:rPr lang="en-US" dirty="0" err="1"/>
              <a:t>tập</a:t>
            </a:r>
            <a:r>
              <a:rPr lang="en-US" dirty="0"/>
              <a:t> </a:t>
            </a:r>
            <a:r>
              <a:rPr lang="en-US" dirty="0" err="1"/>
              <a:t>hợp</a:t>
            </a:r>
            <a:r>
              <a:rPr lang="en-US" dirty="0"/>
              <a:t> </a:t>
            </a:r>
            <a:r>
              <a:rPr lang="en-US" dirty="0" err="1"/>
              <a:t>của</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độc</a:t>
            </a:r>
            <a:r>
              <a:rPr lang="en-US" dirty="0"/>
              <a:t> </a:t>
            </a:r>
            <a:r>
              <a:rPr lang="en-US" dirty="0" err="1"/>
              <a:t>lập</a:t>
            </a:r>
            <a:r>
              <a:rPr lang="en-US" dirty="0"/>
              <a:t> </a:t>
            </a:r>
            <a:r>
              <a:rPr lang="en-US" dirty="0" err="1"/>
              <a:t>được</a:t>
            </a:r>
            <a:r>
              <a:rPr lang="en-US" dirty="0"/>
              <a:t> </a:t>
            </a:r>
            <a:r>
              <a:rPr lang="en-US" dirty="0" err="1"/>
              <a:t>kết</a:t>
            </a:r>
            <a:r>
              <a:rPr lang="en-US" dirty="0"/>
              <a:t> </a:t>
            </a:r>
            <a:r>
              <a:rPr lang="en-US" dirty="0" err="1"/>
              <a:t>nối</a:t>
            </a:r>
            <a:r>
              <a:rPr lang="en-US" dirty="0"/>
              <a:t> </a:t>
            </a:r>
            <a:r>
              <a:rPr lang="en-US" dirty="0" err="1"/>
              <a:t>bằng</a:t>
            </a:r>
            <a:r>
              <a:rPr lang="en-US" dirty="0"/>
              <a:t> </a:t>
            </a:r>
            <a:r>
              <a:rPr lang="en-US" dirty="0" err="1"/>
              <a:t>một</a:t>
            </a:r>
            <a:r>
              <a:rPr lang="en-US" dirty="0"/>
              <a:t> </a:t>
            </a:r>
            <a:r>
              <a:rPr lang="en-US" dirty="0" err="1"/>
              <a:t>cấu</a:t>
            </a:r>
            <a:r>
              <a:rPr lang="en-US" dirty="0"/>
              <a:t> </a:t>
            </a:r>
            <a:r>
              <a:rPr lang="en-US" dirty="0" err="1"/>
              <a:t>trúc</a:t>
            </a:r>
            <a:r>
              <a:rPr lang="en-US" dirty="0"/>
              <a:t> </a:t>
            </a:r>
            <a:r>
              <a:rPr lang="en-US" dirty="0" err="1"/>
              <a:t>nào</a:t>
            </a:r>
            <a:r>
              <a:rPr lang="en-US" dirty="0"/>
              <a:t> </a:t>
            </a:r>
            <a:r>
              <a:rPr lang="en-US" dirty="0" err="1"/>
              <a:t>đó</a:t>
            </a:r>
            <a:r>
              <a:rPr lang="en-US" dirty="0"/>
              <a:t> </a:t>
            </a:r>
            <a:r>
              <a:rPr lang="en-US" dirty="0" err="1"/>
              <a:t>nhằm</a:t>
            </a:r>
            <a:r>
              <a:rPr lang="en-US" dirty="0"/>
              <a:t> </a:t>
            </a:r>
            <a:r>
              <a:rPr lang="en-US" dirty="0" err="1"/>
              <a:t>trao</a:t>
            </a:r>
            <a:r>
              <a:rPr lang="en-US" dirty="0"/>
              <a:t> </a:t>
            </a:r>
            <a:r>
              <a:rPr lang="en-US" dirty="0" err="1"/>
              <a:t>đổi</a:t>
            </a:r>
            <a:r>
              <a:rPr lang="en-US" dirty="0"/>
              <a:t> </a:t>
            </a:r>
            <a:r>
              <a:rPr lang="en-US" dirty="0" err="1"/>
              <a:t>thông</a:t>
            </a:r>
            <a:r>
              <a:rPr lang="en-US" dirty="0"/>
              <a:t> tin </a:t>
            </a:r>
            <a:r>
              <a:rPr lang="en-US" dirty="0" err="1"/>
              <a:t>và</a:t>
            </a:r>
            <a:r>
              <a:rPr lang="en-US" dirty="0"/>
              <a:t> </a:t>
            </a:r>
            <a:r>
              <a:rPr lang="en-US" dirty="0" err="1"/>
              <a:t>sử</a:t>
            </a:r>
            <a:r>
              <a:rPr lang="en-US" dirty="0"/>
              <a:t> </a:t>
            </a:r>
            <a:r>
              <a:rPr lang="en-US" dirty="0" err="1"/>
              <a:t>dụng</a:t>
            </a:r>
            <a:r>
              <a:rPr lang="en-US" dirty="0"/>
              <a:t> </a:t>
            </a:r>
            <a:r>
              <a:rPr lang="en-US" dirty="0" err="1"/>
              <a:t>chung</a:t>
            </a:r>
            <a:r>
              <a:rPr lang="en-US" dirty="0"/>
              <a:t> </a:t>
            </a:r>
            <a:r>
              <a:rPr lang="en-US" dirty="0" err="1"/>
              <a:t>tài</a:t>
            </a:r>
            <a:r>
              <a:rPr lang="en-US" dirty="0"/>
              <a:t> </a:t>
            </a:r>
            <a:r>
              <a:rPr lang="en-US" dirty="0" err="1"/>
              <a:t>nguyên</a:t>
            </a:r>
            <a:r>
              <a:rPr lang="en-US" dirty="0"/>
              <a:t>.</a:t>
            </a:r>
          </a:p>
          <a:p>
            <a:pPr algn="just">
              <a:spcBef>
                <a:spcPts val="1800"/>
              </a:spcBef>
            </a:pPr>
            <a:r>
              <a:rPr lang="en-US" dirty="0" err="1"/>
              <a:t>Hai</a:t>
            </a:r>
            <a:r>
              <a:rPr lang="en-US" dirty="0"/>
              <a:t> </a:t>
            </a:r>
            <a:r>
              <a:rPr lang="en-US" dirty="0" err="1"/>
              <a:t>máy</a:t>
            </a:r>
            <a:r>
              <a:rPr lang="en-US" dirty="0"/>
              <a:t> </a:t>
            </a:r>
            <a:r>
              <a:rPr lang="en-US" dirty="0" err="1"/>
              <a:t>tính</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kết</a:t>
            </a:r>
            <a:r>
              <a:rPr lang="en-US" dirty="0"/>
              <a:t> </a:t>
            </a:r>
            <a:r>
              <a:rPr lang="en-US" dirty="0" err="1"/>
              <a:t>nối</a:t>
            </a:r>
            <a:r>
              <a:rPr lang="en-US" dirty="0"/>
              <a:t> </a:t>
            </a:r>
            <a:r>
              <a:rPr lang="en-US" dirty="0" err="1"/>
              <a:t>nếu</a:t>
            </a:r>
            <a:r>
              <a:rPr lang="en-US" dirty="0"/>
              <a:t> </a:t>
            </a:r>
            <a:r>
              <a:rPr lang="en-US" dirty="0" err="1"/>
              <a:t>chúng</a:t>
            </a:r>
            <a:r>
              <a:rPr lang="en-US" dirty="0"/>
              <a:t> </a:t>
            </a:r>
            <a:r>
              <a:rPr lang="en-US" dirty="0" err="1"/>
              <a:t>có</a:t>
            </a:r>
            <a:r>
              <a:rPr lang="en-US" dirty="0"/>
              <a:t> </a:t>
            </a:r>
            <a:r>
              <a:rPr lang="en-US" dirty="0" err="1"/>
              <a:t>thể</a:t>
            </a:r>
            <a:r>
              <a:rPr lang="en-US" dirty="0"/>
              <a:t> </a:t>
            </a:r>
            <a:r>
              <a:rPr lang="en-US" dirty="0" err="1"/>
              <a:t>trao</a:t>
            </a:r>
            <a:r>
              <a:rPr lang="en-US" dirty="0"/>
              <a:t> </a:t>
            </a:r>
            <a:r>
              <a:rPr lang="en-US" dirty="0" err="1"/>
              <a:t>đổi</a:t>
            </a:r>
            <a:r>
              <a:rPr lang="en-US" dirty="0"/>
              <a:t> </a:t>
            </a:r>
            <a:r>
              <a:rPr lang="en-US" dirty="0" err="1"/>
              <a:t>thông</a:t>
            </a:r>
            <a:r>
              <a:rPr lang="en-US" dirty="0"/>
              <a:t> tin.</a:t>
            </a:r>
          </a:p>
          <a:p>
            <a:pPr algn="just">
              <a:spcBef>
                <a:spcPts val="1800"/>
              </a:spcBef>
            </a:pPr>
            <a:r>
              <a:rPr lang="en-US" dirty="0" err="1"/>
              <a:t>Kết</a:t>
            </a:r>
            <a:r>
              <a:rPr lang="en-US" dirty="0"/>
              <a:t> </a:t>
            </a:r>
            <a:r>
              <a:rPr lang="en-US" dirty="0" err="1"/>
              <a:t>nối</a:t>
            </a:r>
            <a:r>
              <a:rPr lang="en-US" dirty="0"/>
              <a:t> </a:t>
            </a:r>
            <a:r>
              <a:rPr lang="en-US" dirty="0" err="1"/>
              <a:t>có</a:t>
            </a:r>
            <a:r>
              <a:rPr lang="en-US" dirty="0"/>
              <a:t> </a:t>
            </a:r>
            <a:r>
              <a:rPr lang="en-US" dirty="0" err="1"/>
              <a:t>thể</a:t>
            </a:r>
            <a:r>
              <a:rPr lang="en-US" dirty="0"/>
              <a:t> </a:t>
            </a:r>
            <a:r>
              <a:rPr lang="en-US" dirty="0" err="1"/>
              <a:t>là</a:t>
            </a:r>
            <a:r>
              <a:rPr lang="en-US" dirty="0"/>
              <a:t> </a:t>
            </a:r>
            <a:r>
              <a:rPr lang="en-US" dirty="0" err="1"/>
              <a:t>dây</a:t>
            </a:r>
            <a:r>
              <a:rPr lang="en-US" dirty="0"/>
              <a:t> </a:t>
            </a:r>
            <a:r>
              <a:rPr lang="en-US" dirty="0" err="1"/>
              <a:t>đồng</a:t>
            </a:r>
            <a:r>
              <a:rPr lang="en-US" dirty="0"/>
              <a:t>, </a:t>
            </a:r>
            <a:r>
              <a:rPr lang="en-US" dirty="0" err="1"/>
              <a:t>cáp</a:t>
            </a:r>
            <a:r>
              <a:rPr lang="en-US" dirty="0"/>
              <a:t> </a:t>
            </a:r>
            <a:r>
              <a:rPr lang="en-US" dirty="0" err="1"/>
              <a:t>quang</a:t>
            </a:r>
            <a:r>
              <a:rPr lang="en-US" dirty="0"/>
              <a:t>, </a:t>
            </a:r>
            <a:r>
              <a:rPr lang="en-US" dirty="0" err="1"/>
              <a:t>sóng</a:t>
            </a:r>
            <a:r>
              <a:rPr lang="en-US" dirty="0"/>
              <a:t> </a:t>
            </a:r>
            <a:r>
              <a:rPr lang="en-US" dirty="0" err="1"/>
              <a:t>ngắn</a:t>
            </a:r>
            <a:r>
              <a:rPr lang="en-US" dirty="0"/>
              <a:t>, </a:t>
            </a:r>
            <a:r>
              <a:rPr lang="en-US" dirty="0" err="1"/>
              <a:t>sóng</a:t>
            </a:r>
            <a:r>
              <a:rPr lang="en-US" dirty="0"/>
              <a:t> </a:t>
            </a:r>
            <a:r>
              <a:rPr lang="en-US" dirty="0" err="1"/>
              <a:t>hồng</a:t>
            </a:r>
            <a:r>
              <a:rPr lang="en-US" dirty="0"/>
              <a:t> </a:t>
            </a:r>
            <a:r>
              <a:rPr lang="en-US" dirty="0" err="1"/>
              <a:t>ngoại</a:t>
            </a:r>
            <a:r>
              <a:rPr lang="en-US" dirty="0"/>
              <a:t>, </a:t>
            </a:r>
            <a:r>
              <a:rPr lang="en-US" dirty="0" err="1"/>
              <a:t>truyền</a:t>
            </a:r>
            <a:r>
              <a:rPr lang="en-US" dirty="0"/>
              <a:t> </a:t>
            </a:r>
            <a:r>
              <a:rPr lang="en-US" dirty="0" err="1"/>
              <a:t>vệ</a:t>
            </a:r>
            <a:r>
              <a:rPr lang="en-US" dirty="0"/>
              <a:t> </a:t>
            </a:r>
            <a:r>
              <a:rPr lang="en-US" dirty="0" err="1"/>
              <a:t>tinh</a:t>
            </a:r>
            <a:r>
              <a:rPr lang="en-US" dirty="0"/>
              <a:t>…</a:t>
            </a:r>
          </a:p>
          <a:p>
            <a:endParaRPr lang="en-US" dirty="0"/>
          </a:p>
        </p:txBody>
      </p:sp>
    </p:spTree>
    <p:extLst>
      <p:ext uri="{BB962C8B-B14F-4D97-AF65-F5344CB8AC3E}">
        <p14:creationId xmlns:p14="http://schemas.microsoft.com/office/powerpoint/2010/main" val="88143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A8120-0052-415C-8935-647697CC9F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C6F928-BC01-446C-9838-0A56DAE4B5B8}"/>
              </a:ext>
            </a:extLst>
          </p:cNvPr>
          <p:cNvSpPr>
            <a:spLocks noGrp="1"/>
          </p:cNvSpPr>
          <p:nvPr>
            <p:ph idx="1"/>
          </p:nvPr>
        </p:nvSpPr>
        <p:spPr/>
        <p:txBody>
          <a:bodyPr/>
          <a:lstStyle/>
          <a:p>
            <a:endParaRPr lang="en-US"/>
          </a:p>
        </p:txBody>
      </p:sp>
      <p:pic>
        <p:nvPicPr>
          <p:cNvPr id="7170" name="Picture 2" descr="Káº¿t quáº£ hÃ¬nh áº£nh cho khÃ¡i niá»m máº¡ng mÃ¡y tÃ­nh">
            <a:extLst>
              <a:ext uri="{FF2B5EF4-FFF2-40B4-BE49-F238E27FC236}">
                <a16:creationId xmlns:a16="http://schemas.microsoft.com/office/drawing/2014/main" id="{F8853312-2100-49D0-B756-E4BDFA0F7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250" y="993263"/>
            <a:ext cx="6958766" cy="4871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595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F5AB9-A69F-43BA-B4A1-8A5710EFBFF5}"/>
              </a:ext>
            </a:extLst>
          </p:cNvPr>
          <p:cNvSpPr>
            <a:spLocks noGrp="1"/>
          </p:cNvSpPr>
          <p:nvPr>
            <p:ph type="title"/>
          </p:nvPr>
        </p:nvSpPr>
        <p:spPr/>
        <p:txBody>
          <a:bodyPr/>
          <a:lstStyle/>
          <a:p>
            <a:r>
              <a:rPr lang="en-US" dirty="0"/>
              <a:t>III. CẤU TRÚC TỔNG QUÁT CỦA MẠNG MÁY TÍNH</a:t>
            </a:r>
          </a:p>
        </p:txBody>
      </p:sp>
      <p:sp>
        <p:nvSpPr>
          <p:cNvPr id="3" name="Content Placeholder 2">
            <a:extLst>
              <a:ext uri="{FF2B5EF4-FFF2-40B4-BE49-F238E27FC236}">
                <a16:creationId xmlns:a16="http://schemas.microsoft.com/office/drawing/2014/main" id="{DE0F9963-A581-4B7F-9EAE-E164B83D4880}"/>
              </a:ext>
            </a:extLst>
          </p:cNvPr>
          <p:cNvSpPr>
            <a:spLocks noGrp="1"/>
          </p:cNvSpPr>
          <p:nvPr>
            <p:ph idx="1"/>
          </p:nvPr>
        </p:nvSpPr>
        <p:spPr/>
        <p:txBody>
          <a:bodyPr/>
          <a:lstStyle/>
          <a:p>
            <a:pPr algn="just"/>
            <a:r>
              <a:rPr lang="en-US" dirty="0" err="1"/>
              <a:t>Phần</a:t>
            </a:r>
            <a:r>
              <a:rPr lang="en-US" dirty="0"/>
              <a:t> </a:t>
            </a:r>
            <a:r>
              <a:rPr lang="en-US" dirty="0" err="1"/>
              <a:t>ngoại</a:t>
            </a:r>
            <a:r>
              <a:rPr lang="en-US" dirty="0"/>
              <a:t> </a:t>
            </a:r>
            <a:r>
              <a:rPr lang="en-US" dirty="0" err="1"/>
              <a:t>biên</a:t>
            </a:r>
            <a:r>
              <a:rPr lang="en-US" dirty="0"/>
              <a:t> (network edge) </a:t>
            </a:r>
            <a:r>
              <a:rPr lang="en-US" dirty="0" err="1"/>
              <a:t>gồm</a:t>
            </a:r>
            <a:r>
              <a:rPr lang="en-US" dirty="0"/>
              <a:t> </a:t>
            </a:r>
            <a:r>
              <a:rPr lang="en-US" dirty="0" err="1"/>
              <a:t>các</a:t>
            </a:r>
            <a:r>
              <a:rPr lang="en-US" dirty="0"/>
              <a:t> </a:t>
            </a:r>
            <a:r>
              <a:rPr lang="en-US" dirty="0" err="1"/>
              <a:t>ch</a:t>
            </a:r>
            <a:r>
              <a:rPr lang="vi-VN" dirty="0"/>
              <a:t>ư</a:t>
            </a:r>
            <a:r>
              <a:rPr lang="en-US" dirty="0" err="1"/>
              <a:t>ơng</a:t>
            </a:r>
            <a:r>
              <a:rPr lang="en-US" dirty="0"/>
              <a:t> </a:t>
            </a:r>
            <a:r>
              <a:rPr lang="en-US" dirty="0" err="1"/>
              <a:t>trình</a:t>
            </a:r>
            <a:r>
              <a:rPr lang="en-US" dirty="0"/>
              <a:t> </a:t>
            </a:r>
            <a:r>
              <a:rPr lang="en-US" dirty="0" err="1"/>
              <a:t>ứng</a:t>
            </a:r>
            <a:r>
              <a:rPr lang="en-US" dirty="0"/>
              <a:t> </a:t>
            </a:r>
            <a:r>
              <a:rPr lang="en-US" dirty="0" err="1"/>
              <a:t>dụng</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nối</a:t>
            </a:r>
            <a:r>
              <a:rPr lang="en-US" dirty="0"/>
              <a:t> </a:t>
            </a:r>
            <a:r>
              <a:rPr lang="en-US" dirty="0" err="1"/>
              <a:t>vào</a:t>
            </a:r>
            <a:r>
              <a:rPr lang="en-US" dirty="0"/>
              <a:t> </a:t>
            </a:r>
            <a:r>
              <a:rPr lang="en-US" dirty="0" err="1"/>
              <a:t>mạng</a:t>
            </a:r>
            <a:r>
              <a:rPr lang="en-US" dirty="0"/>
              <a:t> (host).</a:t>
            </a:r>
          </a:p>
          <a:p>
            <a:pPr algn="just"/>
            <a:r>
              <a:rPr lang="en-US" dirty="0" err="1"/>
              <a:t>Phần</a:t>
            </a:r>
            <a:r>
              <a:rPr lang="en-US" dirty="0"/>
              <a:t> </a:t>
            </a:r>
            <a:r>
              <a:rPr lang="en-US" dirty="0" err="1"/>
              <a:t>lõi</a:t>
            </a:r>
            <a:r>
              <a:rPr lang="en-US" dirty="0"/>
              <a:t> </a:t>
            </a:r>
            <a:r>
              <a:rPr lang="en-US" dirty="0" err="1"/>
              <a:t>của</a:t>
            </a:r>
            <a:r>
              <a:rPr lang="en-US" dirty="0"/>
              <a:t> </a:t>
            </a:r>
            <a:r>
              <a:rPr lang="en-US" dirty="0" err="1"/>
              <a:t>mạng</a:t>
            </a:r>
            <a:r>
              <a:rPr lang="en-US" dirty="0"/>
              <a:t> (network core) </a:t>
            </a:r>
            <a:r>
              <a:rPr lang="en-US" dirty="0" err="1"/>
              <a:t>gồm</a:t>
            </a:r>
            <a:r>
              <a:rPr lang="en-US" dirty="0"/>
              <a:t> </a:t>
            </a:r>
            <a:r>
              <a:rPr lang="en-US" dirty="0" err="1"/>
              <a:t>các</a:t>
            </a:r>
            <a:r>
              <a:rPr lang="en-US" dirty="0"/>
              <a:t> </a:t>
            </a:r>
            <a:r>
              <a:rPr lang="en-US" dirty="0" err="1"/>
              <a:t>thiết</a:t>
            </a:r>
            <a:r>
              <a:rPr lang="en-US" dirty="0"/>
              <a:t> </a:t>
            </a:r>
            <a:r>
              <a:rPr lang="en-US" dirty="0" err="1"/>
              <a:t>bị</a:t>
            </a:r>
            <a:r>
              <a:rPr lang="en-US" dirty="0"/>
              <a:t> router </a:t>
            </a:r>
            <a:r>
              <a:rPr lang="en-US" dirty="0" err="1"/>
              <a:t>và</a:t>
            </a:r>
            <a:r>
              <a:rPr lang="en-US" dirty="0"/>
              <a:t> </a:t>
            </a:r>
            <a:r>
              <a:rPr lang="en-US" dirty="0" err="1"/>
              <a:t>kết</a:t>
            </a:r>
            <a:r>
              <a:rPr lang="en-US" dirty="0"/>
              <a:t> </a:t>
            </a:r>
            <a:r>
              <a:rPr lang="en-US" dirty="0" err="1"/>
              <a:t>nối</a:t>
            </a:r>
            <a:r>
              <a:rPr lang="en-US" dirty="0"/>
              <a:t> </a:t>
            </a:r>
            <a:r>
              <a:rPr lang="en-US" dirty="0" err="1"/>
              <a:t>liên</a:t>
            </a:r>
            <a:r>
              <a:rPr lang="en-US" dirty="0"/>
              <a:t> </a:t>
            </a:r>
            <a:r>
              <a:rPr lang="en-US" dirty="0" err="1"/>
              <a:t>mạng</a:t>
            </a:r>
            <a:r>
              <a:rPr lang="en-US" dirty="0"/>
              <a:t>.</a:t>
            </a:r>
          </a:p>
          <a:p>
            <a:pPr algn="just"/>
            <a:r>
              <a:rPr lang="en-US" dirty="0" err="1"/>
              <a:t>Các</a:t>
            </a:r>
            <a:r>
              <a:rPr lang="en-US" dirty="0"/>
              <a:t> </a:t>
            </a:r>
            <a:r>
              <a:rPr lang="en-US" dirty="0" err="1"/>
              <a:t>mạng</a:t>
            </a:r>
            <a:r>
              <a:rPr lang="en-US" dirty="0"/>
              <a:t> </a:t>
            </a:r>
            <a:r>
              <a:rPr lang="en-US" dirty="0" err="1"/>
              <a:t>truy</a:t>
            </a:r>
            <a:r>
              <a:rPr lang="en-US" dirty="0"/>
              <a:t> </a:t>
            </a:r>
            <a:r>
              <a:rPr lang="en-US" dirty="0" err="1"/>
              <a:t>cập</a:t>
            </a:r>
            <a:r>
              <a:rPr lang="en-US" dirty="0"/>
              <a:t> (Access network), </a:t>
            </a:r>
            <a:r>
              <a:rPr lang="en-US" dirty="0" err="1"/>
              <a:t>các</a:t>
            </a:r>
            <a:r>
              <a:rPr lang="en-US" dirty="0"/>
              <a:t> </a:t>
            </a:r>
            <a:r>
              <a:rPr lang="en-US" dirty="0" err="1"/>
              <a:t>ph</a:t>
            </a:r>
            <a:r>
              <a:rPr lang="vi-VN" dirty="0"/>
              <a:t>ư</a:t>
            </a:r>
            <a:r>
              <a:rPr lang="en-US" dirty="0" err="1"/>
              <a:t>ơng</a:t>
            </a:r>
            <a:r>
              <a:rPr lang="en-US" dirty="0"/>
              <a:t> </a:t>
            </a:r>
            <a:r>
              <a:rPr lang="en-US" dirty="0" err="1"/>
              <a:t>tiện</a:t>
            </a:r>
            <a:r>
              <a:rPr lang="en-US" dirty="0"/>
              <a:t> </a:t>
            </a:r>
            <a:r>
              <a:rPr lang="en-US" dirty="0" err="1"/>
              <a:t>kết</a:t>
            </a:r>
            <a:r>
              <a:rPr lang="en-US" dirty="0"/>
              <a:t> </a:t>
            </a:r>
            <a:r>
              <a:rPr lang="en-US" dirty="0" err="1"/>
              <a:t>nối</a:t>
            </a:r>
            <a:r>
              <a:rPr lang="en-US" dirty="0"/>
              <a:t> </a:t>
            </a:r>
            <a:r>
              <a:rPr lang="en-US" dirty="0" err="1"/>
              <a:t>vật</a:t>
            </a:r>
            <a:r>
              <a:rPr lang="en-US" dirty="0"/>
              <a:t> </a:t>
            </a:r>
            <a:r>
              <a:rPr lang="en-US" dirty="0" err="1"/>
              <a:t>lý</a:t>
            </a:r>
            <a:r>
              <a:rPr lang="en-US" dirty="0"/>
              <a:t> (physical media), </a:t>
            </a:r>
            <a:r>
              <a:rPr lang="en-US" dirty="0" err="1"/>
              <a:t>và</a:t>
            </a:r>
            <a:r>
              <a:rPr lang="en-US" dirty="0"/>
              <a:t> </a:t>
            </a:r>
            <a:r>
              <a:rPr lang="en-US" dirty="0" err="1"/>
              <a:t>các</a:t>
            </a:r>
            <a:r>
              <a:rPr lang="en-US" dirty="0"/>
              <a:t> </a:t>
            </a:r>
            <a:r>
              <a:rPr lang="en-US" dirty="0" err="1"/>
              <a:t>kết</a:t>
            </a:r>
            <a:r>
              <a:rPr lang="en-US" dirty="0"/>
              <a:t> </a:t>
            </a:r>
            <a:r>
              <a:rPr lang="en-US" dirty="0" err="1"/>
              <a:t>nối</a:t>
            </a:r>
            <a:r>
              <a:rPr lang="en-US" dirty="0"/>
              <a:t> </a:t>
            </a:r>
            <a:r>
              <a:rPr lang="en-US" dirty="0" err="1"/>
              <a:t>viễn</a:t>
            </a:r>
            <a:r>
              <a:rPr lang="en-US" dirty="0"/>
              <a:t> </a:t>
            </a:r>
            <a:r>
              <a:rPr lang="en-US" dirty="0" err="1"/>
              <a:t>thông</a:t>
            </a:r>
            <a:r>
              <a:rPr lang="en-US" dirty="0"/>
              <a:t>.</a:t>
            </a:r>
          </a:p>
        </p:txBody>
      </p:sp>
    </p:spTree>
    <p:extLst>
      <p:ext uri="{BB962C8B-B14F-4D97-AF65-F5344CB8AC3E}">
        <p14:creationId xmlns:p14="http://schemas.microsoft.com/office/powerpoint/2010/main" val="1282154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693-5024-47AC-956E-E3CBB9F50E88}"/>
              </a:ext>
            </a:extLst>
          </p:cNvPr>
          <p:cNvSpPr>
            <a:spLocks noGrp="1"/>
          </p:cNvSpPr>
          <p:nvPr>
            <p:ph type="title"/>
          </p:nvPr>
        </p:nvSpPr>
        <p:spPr/>
        <p:txBody>
          <a:bodyPr/>
          <a:lstStyle/>
          <a:p>
            <a:r>
              <a:rPr lang="en-US" dirty="0"/>
              <a:t>III. CẤU TRÚC TỔNG QUÁT CỦA MẠNG MÁY TÍNH</a:t>
            </a:r>
          </a:p>
        </p:txBody>
      </p:sp>
      <p:sp>
        <p:nvSpPr>
          <p:cNvPr id="3" name="Content Placeholder 2">
            <a:extLst>
              <a:ext uri="{FF2B5EF4-FFF2-40B4-BE49-F238E27FC236}">
                <a16:creationId xmlns:a16="http://schemas.microsoft.com/office/drawing/2014/main" id="{54F7D67E-58CF-4964-9DD4-382C13F3B5DD}"/>
              </a:ext>
            </a:extLst>
          </p:cNvPr>
          <p:cNvSpPr>
            <a:spLocks noGrp="1"/>
          </p:cNvSpPr>
          <p:nvPr>
            <p:ph idx="1"/>
          </p:nvPr>
        </p:nvSpPr>
        <p:spPr/>
        <p:txBody>
          <a:bodyPr/>
          <a:lstStyle/>
          <a:p>
            <a:r>
              <a:rPr lang="en-US" dirty="0"/>
              <a:t>Network edge</a:t>
            </a:r>
          </a:p>
          <a:p>
            <a:pPr lvl="1"/>
            <a:r>
              <a:rPr lang="en-US" dirty="0" err="1"/>
              <a:t>Các</a:t>
            </a:r>
            <a:r>
              <a:rPr lang="en-US" dirty="0"/>
              <a:t> </a:t>
            </a:r>
            <a:r>
              <a:rPr lang="en-US" dirty="0" err="1"/>
              <a:t>hệ</a:t>
            </a:r>
            <a:r>
              <a:rPr lang="en-US" dirty="0"/>
              <a:t> </a:t>
            </a:r>
            <a:r>
              <a:rPr lang="en-US" dirty="0" err="1"/>
              <a:t>thống</a:t>
            </a:r>
            <a:r>
              <a:rPr lang="en-US" dirty="0"/>
              <a:t> </a:t>
            </a:r>
            <a:r>
              <a:rPr lang="en-US" dirty="0" err="1"/>
              <a:t>đầu</a:t>
            </a:r>
            <a:r>
              <a:rPr lang="en-US" dirty="0"/>
              <a:t> </a:t>
            </a:r>
            <a:r>
              <a:rPr lang="en-US" dirty="0" err="1"/>
              <a:t>cuối</a:t>
            </a:r>
            <a:r>
              <a:rPr lang="en-US" dirty="0"/>
              <a:t> (end systems – host)</a:t>
            </a:r>
          </a:p>
          <a:p>
            <a:pPr lvl="2"/>
            <a:r>
              <a:rPr lang="en-US" dirty="0" err="1"/>
              <a:t>Chạy</a:t>
            </a:r>
            <a:r>
              <a:rPr lang="en-US" dirty="0"/>
              <a:t> </a:t>
            </a:r>
            <a:r>
              <a:rPr lang="en-US" dirty="0" err="1"/>
              <a:t>các</a:t>
            </a:r>
            <a:r>
              <a:rPr lang="en-US" dirty="0"/>
              <a:t> </a:t>
            </a:r>
            <a:r>
              <a:rPr lang="en-US" dirty="0" err="1"/>
              <a:t>ch</a:t>
            </a:r>
            <a:r>
              <a:rPr lang="vi-VN" dirty="0"/>
              <a:t>ư</a:t>
            </a:r>
            <a:r>
              <a:rPr lang="en-US" dirty="0" err="1"/>
              <a:t>ơng</a:t>
            </a:r>
            <a:r>
              <a:rPr lang="en-US" dirty="0"/>
              <a:t> </a:t>
            </a:r>
            <a:r>
              <a:rPr lang="en-US" dirty="0" err="1"/>
              <a:t>trình</a:t>
            </a:r>
            <a:r>
              <a:rPr lang="en-US" dirty="0"/>
              <a:t> </a:t>
            </a:r>
            <a:r>
              <a:rPr lang="en-US" dirty="0" err="1"/>
              <a:t>ứng</a:t>
            </a:r>
            <a:r>
              <a:rPr lang="en-US" dirty="0"/>
              <a:t> </a:t>
            </a:r>
            <a:r>
              <a:rPr lang="en-US" dirty="0" err="1"/>
              <a:t>dụng</a:t>
            </a:r>
            <a:endParaRPr lang="en-US" dirty="0"/>
          </a:p>
          <a:p>
            <a:pPr lvl="2"/>
            <a:r>
              <a:rPr lang="en-US" dirty="0" err="1"/>
              <a:t>Ví</a:t>
            </a:r>
            <a:r>
              <a:rPr lang="en-US" dirty="0"/>
              <a:t> </a:t>
            </a:r>
            <a:r>
              <a:rPr lang="en-US" dirty="0" err="1"/>
              <a:t>dụ</a:t>
            </a:r>
            <a:r>
              <a:rPr lang="en-US" dirty="0"/>
              <a:t>: www, email,…</a:t>
            </a:r>
          </a:p>
          <a:p>
            <a:pPr lvl="1"/>
            <a:r>
              <a:rPr lang="en-US" dirty="0" err="1"/>
              <a:t>Mô</a:t>
            </a:r>
            <a:r>
              <a:rPr lang="en-US" dirty="0"/>
              <a:t> </a:t>
            </a:r>
            <a:r>
              <a:rPr lang="en-US" dirty="0" err="1"/>
              <a:t>hình</a:t>
            </a:r>
            <a:r>
              <a:rPr lang="en-US" dirty="0"/>
              <a:t> </a:t>
            </a:r>
            <a:r>
              <a:rPr lang="en-US" dirty="0" err="1"/>
              <a:t>khách</a:t>
            </a:r>
            <a:r>
              <a:rPr lang="en-US" dirty="0"/>
              <a:t>/ </a:t>
            </a:r>
            <a:r>
              <a:rPr lang="en-US" dirty="0" err="1"/>
              <a:t>chủ</a:t>
            </a:r>
            <a:r>
              <a:rPr lang="en-US" dirty="0"/>
              <a:t> (client/ server)</a:t>
            </a:r>
          </a:p>
          <a:p>
            <a:pPr lvl="1"/>
            <a:r>
              <a:rPr lang="en-US" dirty="0" err="1"/>
              <a:t>Mô</a:t>
            </a:r>
            <a:r>
              <a:rPr lang="en-US" dirty="0"/>
              <a:t> </a:t>
            </a:r>
            <a:r>
              <a:rPr lang="en-US" dirty="0" err="1"/>
              <a:t>hình</a:t>
            </a:r>
            <a:r>
              <a:rPr lang="en-US" dirty="0"/>
              <a:t> </a:t>
            </a:r>
            <a:r>
              <a:rPr lang="en-US" dirty="0" err="1"/>
              <a:t>ngang</a:t>
            </a:r>
            <a:r>
              <a:rPr lang="en-US" dirty="0"/>
              <a:t> </a:t>
            </a:r>
            <a:r>
              <a:rPr lang="en-US" dirty="0" err="1"/>
              <a:t>cấp</a:t>
            </a:r>
            <a:r>
              <a:rPr lang="en-US" dirty="0"/>
              <a:t> (peer to peer)</a:t>
            </a:r>
          </a:p>
        </p:txBody>
      </p:sp>
      <p:pic>
        <p:nvPicPr>
          <p:cNvPr id="9218" name="Picture 2" descr="Káº¿t quáº£ hÃ¬nh áº£nh cho mÃ´ hÃ¬nh client server">
            <a:extLst>
              <a:ext uri="{FF2B5EF4-FFF2-40B4-BE49-F238E27FC236}">
                <a16:creationId xmlns:a16="http://schemas.microsoft.com/office/drawing/2014/main" id="{1C1DA130-1A7F-4A40-8430-D1676EF5B6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9346" y="1606775"/>
            <a:ext cx="3685880" cy="207330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Káº¿t quáº£ hÃ¬nh áº£nh cho mÃ´ hÃ¬nh peer to peer">
            <a:extLst>
              <a:ext uri="{FF2B5EF4-FFF2-40B4-BE49-F238E27FC236}">
                <a16:creationId xmlns:a16="http://schemas.microsoft.com/office/drawing/2014/main" id="{E82B64EC-067A-4D90-9446-8CBBC8EC6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4735" y="3762244"/>
            <a:ext cx="3620491" cy="2790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086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D45A4-00DC-4CB9-A9D6-090B701DFCA8}"/>
              </a:ext>
            </a:extLst>
          </p:cNvPr>
          <p:cNvSpPr>
            <a:spLocks noGrp="1"/>
          </p:cNvSpPr>
          <p:nvPr>
            <p:ph type="title"/>
          </p:nvPr>
        </p:nvSpPr>
        <p:spPr/>
        <p:txBody>
          <a:bodyPr/>
          <a:lstStyle/>
          <a:p>
            <a:r>
              <a:rPr lang="en-US" dirty="0"/>
              <a:t>III. CẤU TRÚC TỔNG QUÁT CỦA MẠNG MÁY TÍNH</a:t>
            </a:r>
          </a:p>
        </p:txBody>
      </p:sp>
      <p:sp>
        <p:nvSpPr>
          <p:cNvPr id="3" name="Content Placeholder 2">
            <a:extLst>
              <a:ext uri="{FF2B5EF4-FFF2-40B4-BE49-F238E27FC236}">
                <a16:creationId xmlns:a16="http://schemas.microsoft.com/office/drawing/2014/main" id="{52B4A153-1BD8-4F94-8CF9-FE5BC6AD034A}"/>
              </a:ext>
            </a:extLst>
          </p:cNvPr>
          <p:cNvSpPr>
            <a:spLocks noGrp="1"/>
          </p:cNvSpPr>
          <p:nvPr>
            <p:ph idx="1"/>
          </p:nvPr>
        </p:nvSpPr>
        <p:spPr/>
        <p:txBody>
          <a:bodyPr/>
          <a:lstStyle/>
          <a:p>
            <a:r>
              <a:rPr lang="en-US" dirty="0"/>
              <a:t>Network core</a:t>
            </a:r>
          </a:p>
          <a:p>
            <a:pPr lvl="1"/>
            <a:r>
              <a:rPr lang="en-US" dirty="0" err="1"/>
              <a:t>Gồm</a:t>
            </a:r>
            <a:r>
              <a:rPr lang="en-US" dirty="0"/>
              <a:t> </a:t>
            </a:r>
            <a:r>
              <a:rPr lang="en-US" dirty="0" err="1"/>
              <a:t>nhiều</a:t>
            </a:r>
            <a:r>
              <a:rPr lang="en-US" dirty="0"/>
              <a:t> </a:t>
            </a:r>
            <a:r>
              <a:rPr lang="en-US" dirty="0" err="1"/>
              <a:t>thiết</a:t>
            </a:r>
            <a:r>
              <a:rPr lang="en-US" dirty="0"/>
              <a:t> </a:t>
            </a:r>
            <a:r>
              <a:rPr lang="en-US" dirty="0" err="1"/>
              <a:t>bị</a:t>
            </a:r>
            <a:r>
              <a:rPr lang="en-US" dirty="0"/>
              <a:t> router </a:t>
            </a:r>
            <a:r>
              <a:rPr lang="en-US" dirty="0" err="1"/>
              <a:t>kết</a:t>
            </a:r>
            <a:r>
              <a:rPr lang="en-US" dirty="0"/>
              <a:t> </a:t>
            </a:r>
            <a:r>
              <a:rPr lang="en-US" dirty="0" err="1"/>
              <a:t>nối</a:t>
            </a:r>
            <a:r>
              <a:rPr lang="en-US" dirty="0"/>
              <a:t> </a:t>
            </a:r>
            <a:r>
              <a:rPr lang="en-US" dirty="0" err="1"/>
              <a:t>liên</a:t>
            </a:r>
            <a:r>
              <a:rPr lang="en-US" dirty="0"/>
              <a:t> </a:t>
            </a:r>
            <a:r>
              <a:rPr lang="en-US" dirty="0" err="1"/>
              <a:t>thông</a:t>
            </a:r>
            <a:r>
              <a:rPr lang="en-US" dirty="0"/>
              <a:t>.</a:t>
            </a:r>
          </a:p>
          <a:p>
            <a:pPr lvl="1"/>
            <a:r>
              <a:rPr lang="en-US" dirty="0" err="1"/>
              <a:t>Phục</a:t>
            </a:r>
            <a:r>
              <a:rPr lang="en-US" dirty="0"/>
              <a:t> </a:t>
            </a:r>
            <a:r>
              <a:rPr lang="en-US" dirty="0" err="1"/>
              <a:t>vụ</a:t>
            </a:r>
            <a:r>
              <a:rPr lang="en-US" dirty="0"/>
              <a:t> </a:t>
            </a:r>
            <a:r>
              <a:rPr lang="en-US" dirty="0" err="1"/>
              <a:t>chuyển</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máy</a:t>
            </a:r>
            <a:r>
              <a:rPr lang="en-US" dirty="0"/>
              <a:t> </a:t>
            </a:r>
            <a:r>
              <a:rPr lang="en-US" dirty="0" err="1"/>
              <a:t>này</a:t>
            </a:r>
            <a:r>
              <a:rPr lang="en-US" dirty="0"/>
              <a:t> sang </a:t>
            </a:r>
            <a:r>
              <a:rPr lang="en-US" dirty="0" err="1"/>
              <a:t>máy</a:t>
            </a:r>
            <a:r>
              <a:rPr lang="en-US" dirty="0"/>
              <a:t> </a:t>
            </a:r>
            <a:r>
              <a:rPr lang="en-US" dirty="0" err="1"/>
              <a:t>khác</a:t>
            </a:r>
            <a:r>
              <a:rPr lang="en-US" dirty="0"/>
              <a:t>.</a:t>
            </a:r>
          </a:p>
          <a:p>
            <a:pPr lvl="1"/>
            <a:r>
              <a:rPr lang="en-US" dirty="0" err="1"/>
              <a:t>Dữ</a:t>
            </a:r>
            <a:r>
              <a:rPr lang="en-US" dirty="0"/>
              <a:t> </a:t>
            </a:r>
            <a:r>
              <a:rPr lang="en-US" dirty="0" err="1"/>
              <a:t>liệu</a:t>
            </a:r>
            <a:r>
              <a:rPr lang="en-US" dirty="0"/>
              <a:t> </a:t>
            </a:r>
            <a:r>
              <a:rPr lang="en-US" dirty="0" err="1"/>
              <a:t>truyền</a:t>
            </a:r>
            <a:r>
              <a:rPr lang="en-US" dirty="0"/>
              <a:t> </a:t>
            </a:r>
            <a:r>
              <a:rPr lang="en-US" dirty="0" err="1"/>
              <a:t>trên</a:t>
            </a:r>
            <a:r>
              <a:rPr lang="en-US" dirty="0"/>
              <a:t> </a:t>
            </a:r>
            <a:r>
              <a:rPr lang="en-US" dirty="0" err="1"/>
              <a:t>mạng</a:t>
            </a:r>
            <a:r>
              <a:rPr lang="en-US" dirty="0"/>
              <a:t> </a:t>
            </a:r>
            <a:r>
              <a:rPr lang="en-US" dirty="0" err="1"/>
              <a:t>bằng</a:t>
            </a:r>
            <a:r>
              <a:rPr lang="en-US" dirty="0"/>
              <a:t> </a:t>
            </a:r>
            <a:r>
              <a:rPr lang="en-US" dirty="0" err="1"/>
              <a:t>ph</a:t>
            </a:r>
            <a:r>
              <a:rPr lang="vi-VN" dirty="0"/>
              <a:t>ư</a:t>
            </a:r>
            <a:r>
              <a:rPr lang="en-US" dirty="0" err="1"/>
              <a:t>ơng</a:t>
            </a:r>
            <a:r>
              <a:rPr lang="en-US" dirty="0"/>
              <a:t> </a:t>
            </a:r>
            <a:r>
              <a:rPr lang="en-US" dirty="0" err="1"/>
              <a:t>pháp</a:t>
            </a:r>
            <a:endParaRPr lang="en-US" dirty="0"/>
          </a:p>
          <a:p>
            <a:pPr lvl="2"/>
            <a:r>
              <a:rPr lang="en-US" dirty="0" err="1"/>
              <a:t>Chuyển</a:t>
            </a:r>
            <a:r>
              <a:rPr lang="en-US" dirty="0"/>
              <a:t> </a:t>
            </a:r>
            <a:r>
              <a:rPr lang="en-US" dirty="0" err="1"/>
              <a:t>mạch</a:t>
            </a:r>
            <a:r>
              <a:rPr lang="en-US" dirty="0"/>
              <a:t> (circuit switching): </a:t>
            </a:r>
            <a:r>
              <a:rPr lang="en-US" dirty="0" err="1"/>
              <a:t>mạng</a:t>
            </a:r>
            <a:r>
              <a:rPr lang="en-US" dirty="0"/>
              <a:t> </a:t>
            </a:r>
            <a:r>
              <a:rPr lang="en-US" dirty="0" err="1"/>
              <a:t>điện</a:t>
            </a:r>
            <a:r>
              <a:rPr lang="en-US" dirty="0"/>
              <a:t> </a:t>
            </a:r>
            <a:r>
              <a:rPr lang="en-US" dirty="0" err="1"/>
              <a:t>thoại</a:t>
            </a:r>
            <a:endParaRPr lang="en-US" dirty="0"/>
          </a:p>
          <a:p>
            <a:pPr lvl="2"/>
            <a:r>
              <a:rPr lang="en-US" dirty="0" err="1"/>
              <a:t>Chuyển</a:t>
            </a:r>
            <a:r>
              <a:rPr lang="en-US" dirty="0"/>
              <a:t> </a:t>
            </a:r>
            <a:r>
              <a:rPr lang="en-US" dirty="0" err="1"/>
              <a:t>gói</a:t>
            </a:r>
            <a:r>
              <a:rPr lang="en-US" dirty="0"/>
              <a:t> (packet switching): </a:t>
            </a:r>
            <a:r>
              <a:rPr lang="en-US" dirty="0" err="1"/>
              <a:t>dữ</a:t>
            </a:r>
            <a:r>
              <a:rPr lang="en-US" dirty="0"/>
              <a:t> </a:t>
            </a:r>
            <a:r>
              <a:rPr lang="en-US" dirty="0" err="1"/>
              <a:t>liệu</a:t>
            </a:r>
            <a:r>
              <a:rPr lang="en-US" dirty="0"/>
              <a:t> </a:t>
            </a:r>
            <a:r>
              <a:rPr lang="en-US" dirty="0" err="1"/>
              <a:t>đóng</a:t>
            </a:r>
            <a:r>
              <a:rPr lang="en-US" dirty="0"/>
              <a:t> </a:t>
            </a:r>
            <a:r>
              <a:rPr lang="en-US" dirty="0" err="1"/>
              <a:t>gói</a:t>
            </a:r>
            <a:r>
              <a:rPr lang="en-US" dirty="0"/>
              <a:t> </a:t>
            </a:r>
            <a:r>
              <a:rPr lang="en-US" dirty="0" err="1"/>
              <a:t>rồi</a:t>
            </a:r>
            <a:r>
              <a:rPr lang="en-US" dirty="0"/>
              <a:t> </a:t>
            </a:r>
            <a:r>
              <a:rPr lang="en-US" dirty="0" err="1"/>
              <a:t>truyền</a:t>
            </a:r>
            <a:r>
              <a:rPr lang="en-US" dirty="0"/>
              <a:t> </a:t>
            </a:r>
            <a:r>
              <a:rPr lang="en-US" dirty="0" err="1"/>
              <a:t>đi</a:t>
            </a:r>
            <a:endParaRPr lang="en-US" dirty="0"/>
          </a:p>
        </p:txBody>
      </p:sp>
    </p:spTree>
    <p:extLst>
      <p:ext uri="{BB962C8B-B14F-4D97-AF65-F5344CB8AC3E}">
        <p14:creationId xmlns:p14="http://schemas.microsoft.com/office/powerpoint/2010/main" val="1973089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FF81E-AC15-4893-ABCE-C622837400A6}"/>
              </a:ext>
            </a:extLst>
          </p:cNvPr>
          <p:cNvSpPr>
            <a:spLocks noGrp="1"/>
          </p:cNvSpPr>
          <p:nvPr>
            <p:ph type="title"/>
          </p:nvPr>
        </p:nvSpPr>
        <p:spPr/>
        <p:txBody>
          <a:bodyPr/>
          <a:lstStyle/>
          <a:p>
            <a:r>
              <a:rPr lang="en-US" dirty="0"/>
              <a:t>III. CẤU TRÚC TỔNG QUÁT CỦA MẠNG MÁY TÍNH</a:t>
            </a:r>
          </a:p>
        </p:txBody>
      </p:sp>
      <p:sp>
        <p:nvSpPr>
          <p:cNvPr id="3" name="Content Placeholder 2">
            <a:extLst>
              <a:ext uri="{FF2B5EF4-FFF2-40B4-BE49-F238E27FC236}">
                <a16:creationId xmlns:a16="http://schemas.microsoft.com/office/drawing/2014/main" id="{55E63A22-598E-46FB-94D8-EA9923AA0922}"/>
              </a:ext>
            </a:extLst>
          </p:cNvPr>
          <p:cNvSpPr>
            <a:spLocks noGrp="1"/>
          </p:cNvSpPr>
          <p:nvPr>
            <p:ph idx="1"/>
          </p:nvPr>
        </p:nvSpPr>
        <p:spPr/>
        <p:txBody>
          <a:bodyPr/>
          <a:lstStyle/>
          <a:p>
            <a:r>
              <a:rPr lang="en-US" dirty="0"/>
              <a:t>Access network</a:t>
            </a:r>
          </a:p>
          <a:p>
            <a:pPr lvl="1"/>
            <a:r>
              <a:rPr lang="en-US" dirty="0" err="1"/>
              <a:t>Thực</a:t>
            </a:r>
            <a:r>
              <a:rPr lang="en-US" dirty="0"/>
              <a:t> </a:t>
            </a:r>
            <a:r>
              <a:rPr lang="en-US" dirty="0" err="1"/>
              <a:t>hiện</a:t>
            </a:r>
            <a:r>
              <a:rPr lang="en-US" dirty="0"/>
              <a:t> </a:t>
            </a:r>
            <a:r>
              <a:rPr lang="en-US" dirty="0" err="1"/>
              <a:t>kết</a:t>
            </a:r>
            <a:r>
              <a:rPr lang="en-US" dirty="0"/>
              <a:t> </a:t>
            </a:r>
            <a:r>
              <a:rPr lang="en-US" dirty="0" err="1"/>
              <a:t>nối</a:t>
            </a:r>
            <a:r>
              <a:rPr lang="en-US" dirty="0"/>
              <a:t> </a:t>
            </a:r>
            <a:r>
              <a:rPr lang="en-US" dirty="0" err="1"/>
              <a:t>mạng</a:t>
            </a:r>
            <a:r>
              <a:rPr lang="en-US" dirty="0"/>
              <a:t> </a:t>
            </a:r>
            <a:r>
              <a:rPr lang="en-US" dirty="0" err="1"/>
              <a:t>ngoại</a:t>
            </a:r>
            <a:r>
              <a:rPr lang="en-US" dirty="0"/>
              <a:t> </a:t>
            </a:r>
            <a:r>
              <a:rPr lang="en-US" dirty="0" err="1"/>
              <a:t>biên</a:t>
            </a:r>
            <a:r>
              <a:rPr lang="en-US" dirty="0"/>
              <a:t> </a:t>
            </a:r>
            <a:r>
              <a:rPr lang="en-US" dirty="0" err="1"/>
              <a:t>vào</a:t>
            </a:r>
            <a:r>
              <a:rPr lang="en-US" dirty="0"/>
              <a:t> </a:t>
            </a:r>
            <a:r>
              <a:rPr lang="en-US" dirty="0" err="1"/>
              <a:t>mạng</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bằng</a:t>
            </a:r>
            <a:r>
              <a:rPr lang="en-US" dirty="0"/>
              <a:t> </a:t>
            </a:r>
            <a:r>
              <a:rPr lang="en-US" dirty="0" err="1"/>
              <a:t>cách</a:t>
            </a:r>
            <a:r>
              <a:rPr lang="en-US" dirty="0"/>
              <a:t>:</a:t>
            </a:r>
          </a:p>
          <a:p>
            <a:pPr lvl="2"/>
            <a:r>
              <a:rPr lang="en-US" dirty="0" err="1"/>
              <a:t>Nối</a:t>
            </a:r>
            <a:r>
              <a:rPr lang="en-US" dirty="0"/>
              <a:t> </a:t>
            </a:r>
            <a:r>
              <a:rPr lang="en-US" dirty="0" err="1"/>
              <a:t>thông</a:t>
            </a:r>
            <a:r>
              <a:rPr lang="en-US" dirty="0"/>
              <a:t> qua </a:t>
            </a:r>
            <a:r>
              <a:rPr lang="en-US" dirty="0" err="1"/>
              <a:t>mạng</a:t>
            </a:r>
            <a:r>
              <a:rPr lang="en-US" dirty="0"/>
              <a:t> </a:t>
            </a:r>
            <a:r>
              <a:rPr lang="en-US" dirty="0" err="1"/>
              <a:t>truy</a:t>
            </a:r>
            <a:r>
              <a:rPr lang="en-US" dirty="0"/>
              <a:t> </a:t>
            </a:r>
            <a:r>
              <a:rPr lang="en-US" dirty="0" err="1"/>
              <a:t>cập</a:t>
            </a:r>
            <a:r>
              <a:rPr lang="en-US" dirty="0"/>
              <a:t> </a:t>
            </a:r>
            <a:r>
              <a:rPr lang="en-US" dirty="0" err="1"/>
              <a:t>tại</a:t>
            </a:r>
            <a:r>
              <a:rPr lang="en-US" dirty="0"/>
              <a:t> </a:t>
            </a:r>
            <a:r>
              <a:rPr lang="en-US" dirty="0" err="1"/>
              <a:t>vùng</a:t>
            </a:r>
            <a:r>
              <a:rPr lang="en-US" dirty="0"/>
              <a:t> c</a:t>
            </a:r>
            <a:r>
              <a:rPr lang="vi-VN" dirty="0"/>
              <a:t>ư</a:t>
            </a:r>
            <a:r>
              <a:rPr lang="en-US" dirty="0"/>
              <a:t> </a:t>
            </a:r>
            <a:r>
              <a:rPr lang="en-US" dirty="0" err="1"/>
              <a:t>trú</a:t>
            </a:r>
            <a:r>
              <a:rPr lang="en-US" dirty="0"/>
              <a:t>.</a:t>
            </a:r>
          </a:p>
          <a:p>
            <a:pPr lvl="2"/>
            <a:r>
              <a:rPr lang="en-US" dirty="0" err="1"/>
              <a:t>Truy</a:t>
            </a:r>
            <a:r>
              <a:rPr lang="en-US" dirty="0"/>
              <a:t> </a:t>
            </a:r>
            <a:r>
              <a:rPr lang="en-US" dirty="0" err="1"/>
              <a:t>cập</a:t>
            </a:r>
            <a:r>
              <a:rPr lang="en-US" dirty="0"/>
              <a:t> qua </a:t>
            </a:r>
            <a:r>
              <a:rPr lang="en-US" dirty="0" err="1"/>
              <a:t>mạng</a:t>
            </a:r>
            <a:r>
              <a:rPr lang="en-US" dirty="0"/>
              <a:t> di </a:t>
            </a:r>
            <a:r>
              <a:rPr lang="en-US" dirty="0" err="1"/>
              <a:t>động</a:t>
            </a:r>
            <a:r>
              <a:rPr lang="en-US" dirty="0"/>
              <a:t>.</a:t>
            </a:r>
          </a:p>
          <a:p>
            <a:pPr lvl="2"/>
            <a:r>
              <a:rPr lang="en-US" dirty="0"/>
              <a:t>Qua </a:t>
            </a:r>
            <a:r>
              <a:rPr lang="en-US" dirty="0" err="1"/>
              <a:t>các</a:t>
            </a:r>
            <a:r>
              <a:rPr lang="en-US" dirty="0"/>
              <a:t> </a:t>
            </a:r>
            <a:r>
              <a:rPr lang="en-US" dirty="0" err="1"/>
              <a:t>mạng</a:t>
            </a:r>
            <a:r>
              <a:rPr lang="en-US" dirty="0"/>
              <a:t> </a:t>
            </a:r>
            <a:r>
              <a:rPr lang="en-US" dirty="0" err="1"/>
              <a:t>tại</a:t>
            </a:r>
            <a:r>
              <a:rPr lang="en-US" dirty="0"/>
              <a:t> tr</a:t>
            </a:r>
            <a:r>
              <a:rPr lang="vi-VN" dirty="0"/>
              <a:t>ư</a:t>
            </a:r>
            <a:r>
              <a:rPr lang="en-US" dirty="0" err="1"/>
              <a:t>ờng</a:t>
            </a:r>
            <a:r>
              <a:rPr lang="en-US" dirty="0"/>
              <a:t> </a:t>
            </a:r>
            <a:r>
              <a:rPr lang="en-US" dirty="0" err="1"/>
              <a:t>học</a:t>
            </a:r>
            <a:r>
              <a:rPr lang="en-US" dirty="0"/>
              <a:t>, c</a:t>
            </a:r>
            <a:r>
              <a:rPr lang="vi-VN" dirty="0"/>
              <a:t>ơ</a:t>
            </a:r>
            <a:r>
              <a:rPr lang="en-US" dirty="0"/>
              <a:t> </a:t>
            </a:r>
            <a:r>
              <a:rPr lang="en-US" dirty="0" err="1"/>
              <a:t>quan</a:t>
            </a:r>
            <a:r>
              <a:rPr lang="en-US" dirty="0"/>
              <a:t>.</a:t>
            </a:r>
          </a:p>
        </p:txBody>
      </p:sp>
    </p:spTree>
    <p:extLst>
      <p:ext uri="{BB962C8B-B14F-4D97-AF65-F5344CB8AC3E}">
        <p14:creationId xmlns:p14="http://schemas.microsoft.com/office/powerpoint/2010/main" val="3048574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41DF-5430-489D-BB88-DCEF18D3635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53C5B0D-2222-49A8-B84D-FF56C0078405}"/>
              </a:ext>
            </a:extLst>
          </p:cNvPr>
          <p:cNvSpPr>
            <a:spLocks noGrp="1"/>
          </p:cNvSpPr>
          <p:nvPr>
            <p:ph idx="1"/>
          </p:nvPr>
        </p:nvSpPr>
        <p:spPr/>
        <p:txBody>
          <a:bodyPr/>
          <a:lstStyle/>
          <a:p>
            <a:endParaRPr lang="en-US"/>
          </a:p>
        </p:txBody>
      </p:sp>
      <p:pic>
        <p:nvPicPr>
          <p:cNvPr id="8194" name="Picture 2" descr="HÃ¬nh áº£nh cÃ³ liÃªn quan">
            <a:extLst>
              <a:ext uri="{FF2B5EF4-FFF2-40B4-BE49-F238E27FC236}">
                <a16:creationId xmlns:a16="http://schemas.microsoft.com/office/drawing/2014/main" id="{DDF86101-32C3-4D6B-A404-7018FE8921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662728"/>
            <a:ext cx="11480800" cy="5930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316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PHÂN LOẠI MẠNG MÁY TÍNH</a:t>
            </a:r>
          </a:p>
        </p:txBody>
      </p:sp>
      <p:sp>
        <p:nvSpPr>
          <p:cNvPr id="3" name="Content Placeholder 2"/>
          <p:cNvSpPr>
            <a:spLocks noGrp="1"/>
          </p:cNvSpPr>
          <p:nvPr>
            <p:ph idx="1"/>
          </p:nvPr>
        </p:nvSpPr>
        <p:spPr/>
        <p:txBody>
          <a:bodyPr/>
          <a:lstStyle/>
          <a:p>
            <a:r>
              <a:rPr lang="en-US" dirty="0" err="1"/>
              <a:t>Thông</a:t>
            </a:r>
            <a:r>
              <a:rPr lang="en-US" dirty="0"/>
              <a:t> </a:t>
            </a:r>
            <a:r>
              <a:rPr lang="en-US" dirty="0" err="1"/>
              <a:t>thường</a:t>
            </a:r>
            <a:r>
              <a:rPr lang="en-US" dirty="0"/>
              <a:t> </a:t>
            </a:r>
            <a:r>
              <a:rPr lang="en-US" dirty="0" err="1"/>
              <a:t>có</a:t>
            </a:r>
            <a:r>
              <a:rPr lang="en-US" dirty="0"/>
              <a:t> </a:t>
            </a:r>
            <a:r>
              <a:rPr lang="en-US" dirty="0" err="1"/>
              <a:t>nhiều</a:t>
            </a:r>
            <a:r>
              <a:rPr lang="en-US" dirty="0"/>
              <a:t> </a:t>
            </a:r>
            <a:r>
              <a:rPr lang="en-US" dirty="0" err="1"/>
              <a:t>cách</a:t>
            </a:r>
            <a:r>
              <a:rPr lang="en-US" dirty="0"/>
              <a:t> </a:t>
            </a:r>
            <a:r>
              <a:rPr lang="en-US" dirty="0" err="1"/>
              <a:t>phân</a:t>
            </a:r>
            <a:r>
              <a:rPr lang="en-US" dirty="0"/>
              <a:t> </a:t>
            </a:r>
            <a:r>
              <a:rPr lang="en-US" dirty="0" err="1"/>
              <a:t>loại</a:t>
            </a:r>
            <a:r>
              <a:rPr lang="en-US" dirty="0"/>
              <a:t> </a:t>
            </a:r>
            <a:r>
              <a:rPr lang="en-US" dirty="0" err="1"/>
              <a:t>mạng</a:t>
            </a:r>
            <a:r>
              <a:rPr lang="en-US" dirty="0"/>
              <a:t> </a:t>
            </a:r>
            <a:r>
              <a:rPr lang="en-US" dirty="0" err="1"/>
              <a:t>máy</a:t>
            </a:r>
            <a:r>
              <a:rPr lang="en-US" dirty="0"/>
              <a:t> </a:t>
            </a:r>
            <a:r>
              <a:rPr lang="en-US" dirty="0" err="1"/>
              <a:t>tính</a:t>
            </a:r>
            <a:r>
              <a:rPr lang="en-US" dirty="0"/>
              <a:t>. </a:t>
            </a:r>
          </a:p>
          <a:p>
            <a:r>
              <a:rPr lang="en-US" dirty="0" err="1"/>
              <a:t>Trong</a:t>
            </a:r>
            <a:r>
              <a:rPr lang="en-US" dirty="0"/>
              <a:t> </a:t>
            </a:r>
            <a:r>
              <a:rPr lang="en-US" dirty="0" err="1"/>
              <a:t>đó</a:t>
            </a:r>
            <a:r>
              <a:rPr lang="en-US" dirty="0"/>
              <a:t>, </a:t>
            </a:r>
            <a:r>
              <a:rPr lang="en-US" dirty="0" err="1"/>
              <a:t>người</a:t>
            </a:r>
            <a:r>
              <a:rPr lang="en-US" dirty="0"/>
              <a:t> ta </a:t>
            </a:r>
            <a:r>
              <a:rPr lang="en-US" dirty="0" err="1"/>
              <a:t>dùng</a:t>
            </a:r>
            <a:r>
              <a:rPr lang="en-US" dirty="0"/>
              <a:t> </a:t>
            </a:r>
            <a:r>
              <a:rPr lang="en-US" dirty="0" err="1"/>
              <a:t>thường</a:t>
            </a:r>
            <a:r>
              <a:rPr lang="en-US" dirty="0"/>
              <a:t> </a:t>
            </a:r>
            <a:r>
              <a:rPr lang="en-US" dirty="0" err="1"/>
              <a:t>nhất</a:t>
            </a:r>
            <a:r>
              <a:rPr lang="en-US" dirty="0"/>
              <a:t> </a:t>
            </a:r>
            <a:r>
              <a:rPr lang="en-US" dirty="0" err="1"/>
              <a:t>là</a:t>
            </a:r>
            <a:r>
              <a:rPr lang="en-US" dirty="0"/>
              <a:t> </a:t>
            </a:r>
            <a:r>
              <a:rPr lang="en-US" dirty="0" err="1"/>
              <a:t>phân</a:t>
            </a:r>
            <a:r>
              <a:rPr lang="en-US" dirty="0"/>
              <a:t> </a:t>
            </a:r>
            <a:r>
              <a:rPr lang="en-US" dirty="0" err="1"/>
              <a:t>loại</a:t>
            </a:r>
            <a:r>
              <a:rPr lang="en-US" dirty="0"/>
              <a:t> </a:t>
            </a:r>
            <a:r>
              <a:rPr lang="en-US" dirty="0" err="1"/>
              <a:t>theo</a:t>
            </a:r>
            <a:r>
              <a:rPr lang="en-US" dirty="0"/>
              <a:t> </a:t>
            </a:r>
            <a:r>
              <a:rPr lang="en-US" dirty="0" err="1"/>
              <a:t>khoảng</a:t>
            </a:r>
            <a:r>
              <a:rPr lang="en-US" dirty="0"/>
              <a:t> </a:t>
            </a:r>
            <a:r>
              <a:rPr lang="en-US" dirty="0" err="1"/>
              <a:t>cách</a:t>
            </a:r>
            <a:r>
              <a:rPr lang="en-US" dirty="0"/>
              <a:t> </a:t>
            </a:r>
            <a:r>
              <a:rPr lang="en-US" dirty="0" err="1"/>
              <a:t>địa</a:t>
            </a:r>
            <a:r>
              <a:rPr lang="en-US" dirty="0"/>
              <a:t> </a:t>
            </a:r>
            <a:r>
              <a:rPr lang="en-US" dirty="0" err="1"/>
              <a:t>lý</a:t>
            </a:r>
            <a:r>
              <a:rPr lang="en-US" dirty="0"/>
              <a:t>.</a:t>
            </a:r>
          </a:p>
          <a:p>
            <a:r>
              <a:rPr lang="en-US" dirty="0" err="1"/>
              <a:t>Tùy</a:t>
            </a:r>
            <a:r>
              <a:rPr lang="en-US" dirty="0"/>
              <a:t> </a:t>
            </a:r>
            <a:r>
              <a:rPr lang="en-US" dirty="0" err="1"/>
              <a:t>vào</a:t>
            </a:r>
            <a:r>
              <a:rPr lang="en-US" dirty="0"/>
              <a:t> </a:t>
            </a:r>
            <a:r>
              <a:rPr lang="en-US" dirty="0" err="1"/>
              <a:t>từng</a:t>
            </a:r>
            <a:r>
              <a:rPr lang="en-US" dirty="0"/>
              <a:t> </a:t>
            </a:r>
            <a:r>
              <a:rPr lang="en-US" dirty="0" err="1"/>
              <a:t>khoảng</a:t>
            </a:r>
            <a:r>
              <a:rPr lang="en-US" dirty="0"/>
              <a:t> </a:t>
            </a:r>
            <a:r>
              <a:rPr lang="en-US" dirty="0" err="1"/>
              <a:t>cách</a:t>
            </a:r>
            <a:r>
              <a:rPr lang="en-US" dirty="0"/>
              <a:t> </a:t>
            </a:r>
            <a:r>
              <a:rPr lang="en-US" dirty="0" err="1"/>
              <a:t>địa</a:t>
            </a:r>
            <a:r>
              <a:rPr lang="en-US" dirty="0"/>
              <a:t> </a:t>
            </a:r>
            <a:r>
              <a:rPr lang="en-US" dirty="0" err="1"/>
              <a:t>lý</a:t>
            </a:r>
            <a:r>
              <a:rPr lang="en-US" dirty="0"/>
              <a:t> </a:t>
            </a:r>
            <a:r>
              <a:rPr lang="en-US" dirty="0" err="1"/>
              <a:t>mà</a:t>
            </a:r>
            <a:r>
              <a:rPr lang="en-US" dirty="0"/>
              <a:t> </a:t>
            </a:r>
            <a:r>
              <a:rPr lang="en-US" dirty="0" err="1"/>
              <a:t>phân</a:t>
            </a:r>
            <a:r>
              <a:rPr lang="en-US" dirty="0"/>
              <a:t> </a:t>
            </a:r>
            <a:r>
              <a:rPr lang="en-US" dirty="0" err="1"/>
              <a:t>thành</a:t>
            </a:r>
            <a:r>
              <a:rPr lang="en-US" dirty="0"/>
              <a:t> </a:t>
            </a:r>
            <a:r>
              <a:rPr lang="en-US" dirty="0" err="1"/>
              <a:t>mạng</a:t>
            </a:r>
            <a:r>
              <a:rPr lang="en-US" dirty="0"/>
              <a:t> LAN, MAN, WAN</a:t>
            </a:r>
          </a:p>
        </p:txBody>
      </p:sp>
    </p:spTree>
    <p:extLst>
      <p:ext uri="{BB962C8B-B14F-4D97-AF65-F5344CB8AC3E}">
        <p14:creationId xmlns:p14="http://schemas.microsoft.com/office/powerpoint/2010/main" val="365901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PHÂN LOẠI MẠNG MÁY TÍNH</a:t>
            </a:r>
          </a:p>
        </p:txBody>
      </p:sp>
      <p:sp>
        <p:nvSpPr>
          <p:cNvPr id="3" name="Content Placeholder 2"/>
          <p:cNvSpPr>
            <a:spLocks noGrp="1"/>
          </p:cNvSpPr>
          <p:nvPr>
            <p:ph idx="1"/>
          </p:nvPr>
        </p:nvSpPr>
        <p:spPr/>
        <p:txBody>
          <a:bodyPr/>
          <a:lstStyle/>
          <a:p>
            <a:endParaRPr lang="en-US"/>
          </a:p>
        </p:txBody>
      </p:sp>
      <p:graphicFrame>
        <p:nvGraphicFramePr>
          <p:cNvPr id="4" name="Group 182"/>
          <p:cNvGraphicFramePr>
            <a:graphicFrameLocks/>
          </p:cNvGraphicFramePr>
          <p:nvPr/>
        </p:nvGraphicFramePr>
        <p:xfrm>
          <a:off x="2133600" y="1371600"/>
          <a:ext cx="7772400" cy="4859436"/>
        </p:xfrm>
        <a:graphic>
          <a:graphicData uri="http://schemas.openxmlformats.org/drawingml/2006/table">
            <a:tbl>
              <a:tblPr/>
              <a:tblGrid>
                <a:gridCol w="1624013">
                  <a:extLst>
                    <a:ext uri="{9D8B030D-6E8A-4147-A177-3AD203B41FA5}">
                      <a16:colId xmlns:a16="http://schemas.microsoft.com/office/drawing/2014/main" val="20000"/>
                    </a:ext>
                  </a:extLst>
                </a:gridCol>
                <a:gridCol w="2949575">
                  <a:extLst>
                    <a:ext uri="{9D8B030D-6E8A-4147-A177-3AD203B41FA5}">
                      <a16:colId xmlns:a16="http://schemas.microsoft.com/office/drawing/2014/main" val="20001"/>
                    </a:ext>
                  </a:extLst>
                </a:gridCol>
                <a:gridCol w="3198812">
                  <a:extLst>
                    <a:ext uri="{9D8B030D-6E8A-4147-A177-3AD203B41FA5}">
                      <a16:colId xmlns:a16="http://schemas.microsoft.com/office/drawing/2014/main" val="20002"/>
                    </a:ext>
                  </a:extLst>
                </a:gridCol>
              </a:tblGrid>
              <a:tr h="46983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err="1">
                          <a:ln>
                            <a:noFill/>
                          </a:ln>
                          <a:solidFill>
                            <a:schemeClr val="tx1"/>
                          </a:solidFill>
                          <a:effectLst/>
                          <a:latin typeface="Times New Roman" pitchFamily="18" charset="0"/>
                          <a:cs typeface="Times New Roman" pitchFamily="18" charset="0"/>
                        </a:rPr>
                        <a:t>Đường</a:t>
                      </a:r>
                      <a:r>
                        <a:rPr kumimoji="0" lang="en-US" sz="1400" b="1" i="0" u="none" strike="noStrike" cap="none" normalizeH="0" baseline="0" dirty="0">
                          <a:ln>
                            <a:noFill/>
                          </a:ln>
                          <a:solidFill>
                            <a:schemeClr val="tx1"/>
                          </a:solidFill>
                          <a:effectLst/>
                          <a:latin typeface="Times New Roman" pitchFamily="18" charset="0"/>
                          <a:cs typeface="Times New Roman" pitchFamily="18" charset="0"/>
                        </a:rPr>
                        <a:t> </a:t>
                      </a:r>
                      <a:r>
                        <a:rPr kumimoji="0" lang="en-US" sz="1400" b="1" i="0" u="none" strike="noStrike" cap="none" normalizeH="0" baseline="0" dirty="0" err="1">
                          <a:ln>
                            <a:noFill/>
                          </a:ln>
                          <a:solidFill>
                            <a:schemeClr val="tx1"/>
                          </a:solidFill>
                          <a:effectLst/>
                          <a:latin typeface="Times New Roman" pitchFamily="18" charset="0"/>
                          <a:cs typeface="Times New Roman" pitchFamily="18" charset="0"/>
                        </a:rPr>
                        <a:t>kính</a:t>
                      </a:r>
                      <a:r>
                        <a:rPr kumimoji="0" lang="en-US" sz="1400" b="1" i="0" u="none" strike="noStrike" cap="none" normalizeH="0" baseline="0" dirty="0">
                          <a:ln>
                            <a:noFill/>
                          </a:ln>
                          <a:solidFill>
                            <a:schemeClr val="tx1"/>
                          </a:solidFill>
                          <a:effectLst/>
                          <a:latin typeface="Times New Roman" pitchFamily="18" charset="0"/>
                          <a:cs typeface="Times New Roman" pitchFamily="18" charset="0"/>
                        </a:rPr>
                        <a:t> </a:t>
                      </a:r>
                      <a:r>
                        <a:rPr kumimoji="0" lang="en-US" sz="1400" b="1" i="0" u="none" strike="noStrike" cap="none" normalizeH="0" baseline="0" dirty="0" err="1">
                          <a:ln>
                            <a:noFill/>
                          </a:ln>
                          <a:solidFill>
                            <a:schemeClr val="tx1"/>
                          </a:solidFill>
                          <a:effectLst/>
                          <a:latin typeface="Times New Roman" pitchFamily="18" charset="0"/>
                          <a:cs typeface="Times New Roman" pitchFamily="18" charset="0"/>
                        </a:rPr>
                        <a:t>mạng</a:t>
                      </a:r>
                      <a:r>
                        <a:rPr kumimoji="0" lang="en-US" sz="1400" b="1" i="0" u="none" strike="noStrike" cap="none" normalizeH="0" baseline="0" dirty="0">
                          <a:ln>
                            <a:noFill/>
                          </a:ln>
                          <a:solidFill>
                            <a:schemeClr val="tx1"/>
                          </a:solidFill>
                          <a:effectLst/>
                          <a:latin typeface="Times New Roman" pitchFamily="18" charset="0"/>
                          <a:cs typeface="Times New Roman" pitchFamily="18" charset="0"/>
                        </a:rPr>
                        <a:t> </a:t>
                      </a:r>
                      <a:endParaRPr kumimoji="0" lang="en-US" sz="1400" b="1" i="0" u="none" strike="noStrike" cap="none" normalizeH="0" baseline="0" dirty="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Vị trí của các máy tính </a:t>
                      </a:r>
                      <a:endParaRPr kumimoji="0" lang="en-US" sz="1400" b="1"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8" charset="0"/>
                          <a:cs typeface="Times New Roman" pitchFamily="18" charset="0"/>
                        </a:rPr>
                        <a:t>Loại mạng </a:t>
                      </a:r>
                      <a:endParaRPr kumimoji="0" lang="en-US" sz="1400" b="1"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25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 m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Trong</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một</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mét</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vuông</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endParaRPr kumimoji="0" lang="en-US" sz="1600" b="0" i="0" u="none" strike="noStrike" cap="none" normalizeH="0" baseline="0" dirty="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Mạng khu vực cá  nhân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26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10 m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Trong</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1 </a:t>
                      </a: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phòng</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endParaRPr kumimoji="0" lang="en-US" sz="1600" b="0" i="0" u="none" strike="noStrike" cap="none" normalizeH="0" baseline="0" dirty="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Mạng cục bộ, gọi tắt là mạng LAN (Local Area Network)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25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100 m </a:t>
                      </a:r>
                      <a:endParaRPr kumimoji="0" lang="en-US" sz="1600" b="0" i="0" u="none" strike="noStrike" cap="none" normalizeH="0" baseline="0" dirty="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Trong 1 tòa nhà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3"/>
                  </a:ext>
                </a:extLst>
              </a:tr>
              <a:tr h="469839">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 km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Trong một khu vực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4"/>
                  </a:ext>
                </a:extLst>
              </a:tr>
              <a:tr h="82285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10 km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Trong một thành phố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Mạng thành phố, gọi tắt là mạng MAN (Metropolitan Area Network)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9520">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100 km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Trong một quốc gia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Mạng diện rộng, gọi tắt là mạng WAN (Wide Area Network)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825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1000 km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Trong một châu lục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7"/>
                  </a:ext>
                </a:extLst>
              </a:tr>
              <a:tr h="469839">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10000 km </a:t>
                      </a:r>
                      <a:endParaRPr kumimoji="0" lang="en-US" sz="1600" b="0" i="0" u="none" strike="noStrike" cap="none" normalizeH="0" baseline="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Cả</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hành</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600" b="0" i="0" u="none" strike="noStrike" cap="none" normalizeH="0" baseline="0" dirty="0" err="1">
                          <a:ln>
                            <a:noFill/>
                          </a:ln>
                          <a:solidFill>
                            <a:schemeClr val="tx1"/>
                          </a:solidFill>
                          <a:effectLst/>
                          <a:latin typeface="Times New Roman" pitchFamily="18" charset="0"/>
                          <a:cs typeface="Times New Roman" pitchFamily="18" charset="0"/>
                        </a:rPr>
                        <a:t>tinh</a:t>
                      </a:r>
                      <a:r>
                        <a:rPr kumimoji="0" lang="en-US" sz="1600" b="0" i="0" u="none" strike="noStrike" cap="none" normalizeH="0" baseline="0" dirty="0">
                          <a:ln>
                            <a:noFill/>
                          </a:ln>
                          <a:solidFill>
                            <a:schemeClr val="tx1"/>
                          </a:solidFill>
                          <a:effectLst/>
                          <a:latin typeface="Times New Roman" pitchFamily="18" charset="0"/>
                          <a:cs typeface="Times New Roman" pitchFamily="18" charset="0"/>
                        </a:rPr>
                        <a:t> </a:t>
                      </a:r>
                      <a:endParaRPr kumimoji="0" lang="en-US" sz="1600" b="0" i="0" u="none" strike="noStrike" cap="none" normalizeH="0" baseline="0" dirty="0">
                        <a:ln>
                          <a:noFill/>
                        </a:ln>
                        <a:solidFill>
                          <a:schemeClr val="tx1"/>
                        </a:solidFill>
                        <a:effectLst/>
                        <a:latin typeface="Times New Roman" pitchFamily="18" charset="0"/>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37944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PHÂN LOẠI MẠNG MÁY TÍNH</a:t>
            </a:r>
          </a:p>
        </p:txBody>
      </p:sp>
      <p:sp>
        <p:nvSpPr>
          <p:cNvPr id="3" name="Content Placeholder 2"/>
          <p:cNvSpPr>
            <a:spLocks noGrp="1"/>
          </p:cNvSpPr>
          <p:nvPr>
            <p:ph idx="1"/>
          </p:nvPr>
        </p:nvSpPr>
        <p:spPr/>
        <p:txBody>
          <a:bodyPr/>
          <a:lstStyle/>
          <a:p>
            <a:endParaRPr lang="en-US"/>
          </a:p>
        </p:txBody>
      </p:sp>
      <p:pic>
        <p:nvPicPr>
          <p:cNvPr id="6148" name="Picture 4" descr="Hình ảnh có liên qu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524001"/>
            <a:ext cx="5791200" cy="4339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525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PHÂN LOẠI MẠNG MÁY TÍNH</a:t>
            </a:r>
          </a:p>
        </p:txBody>
      </p:sp>
      <p:sp>
        <p:nvSpPr>
          <p:cNvPr id="3" name="Content Placeholder 2"/>
          <p:cNvSpPr>
            <a:spLocks noGrp="1"/>
          </p:cNvSpPr>
          <p:nvPr>
            <p:ph idx="1"/>
          </p:nvPr>
        </p:nvSpPr>
        <p:spPr/>
        <p:txBody>
          <a:bodyPr/>
          <a:lstStyle/>
          <a:p>
            <a:r>
              <a:rPr lang="en-US" dirty="0" err="1"/>
              <a:t>Người</a:t>
            </a:r>
            <a:r>
              <a:rPr lang="en-US" dirty="0"/>
              <a:t> ta </a:t>
            </a:r>
            <a:r>
              <a:rPr lang="en-US" dirty="0" err="1"/>
              <a:t>còn</a:t>
            </a:r>
            <a:r>
              <a:rPr lang="en-US" dirty="0"/>
              <a:t> </a:t>
            </a:r>
            <a:r>
              <a:rPr lang="en-US" dirty="0" err="1"/>
              <a:t>phân</a:t>
            </a:r>
            <a:r>
              <a:rPr lang="en-US" dirty="0"/>
              <a:t> </a:t>
            </a:r>
            <a:r>
              <a:rPr lang="en-US" dirty="0" err="1"/>
              <a:t>loại</a:t>
            </a:r>
            <a:r>
              <a:rPr lang="en-US" dirty="0"/>
              <a:t> </a:t>
            </a:r>
            <a:r>
              <a:rPr lang="en-US" dirty="0" err="1"/>
              <a:t>mạng</a:t>
            </a:r>
            <a:r>
              <a:rPr lang="en-US" dirty="0"/>
              <a:t> </a:t>
            </a:r>
            <a:r>
              <a:rPr lang="en-US" dirty="0" err="1"/>
              <a:t>theo</a:t>
            </a:r>
            <a:r>
              <a:rPr lang="en-US" dirty="0"/>
              <a:t> </a:t>
            </a:r>
            <a:r>
              <a:rPr lang="en-US" dirty="0" err="1"/>
              <a:t>kỹ</a:t>
            </a:r>
            <a:r>
              <a:rPr lang="en-US" dirty="0"/>
              <a:t> </a:t>
            </a:r>
            <a:r>
              <a:rPr lang="en-US" dirty="0" err="1"/>
              <a:t>thuật</a:t>
            </a:r>
            <a:r>
              <a:rPr lang="en-US" dirty="0"/>
              <a:t> </a:t>
            </a:r>
            <a:r>
              <a:rPr lang="en-US" dirty="0" err="1"/>
              <a:t>chuyển</a:t>
            </a:r>
            <a:r>
              <a:rPr lang="en-US" dirty="0"/>
              <a:t> </a:t>
            </a:r>
            <a:r>
              <a:rPr lang="en-US" dirty="0" err="1"/>
              <a:t>mạch</a:t>
            </a:r>
            <a:endParaRPr lang="en-US" dirty="0"/>
          </a:p>
          <a:p>
            <a:pPr lvl="1"/>
            <a:r>
              <a:rPr lang="en-US" dirty="0" err="1"/>
              <a:t>Chuyển</a:t>
            </a:r>
            <a:r>
              <a:rPr lang="en-US" dirty="0"/>
              <a:t> </a:t>
            </a:r>
            <a:r>
              <a:rPr lang="en-US" dirty="0" err="1"/>
              <a:t>mạch</a:t>
            </a:r>
            <a:r>
              <a:rPr lang="en-US" dirty="0"/>
              <a:t> </a:t>
            </a:r>
            <a:r>
              <a:rPr lang="en-US" dirty="0" err="1"/>
              <a:t>kênh</a:t>
            </a:r>
            <a:endParaRPr lang="en-US" dirty="0"/>
          </a:p>
          <a:p>
            <a:pPr lvl="1"/>
            <a:r>
              <a:rPr lang="en-US" dirty="0" err="1"/>
              <a:t>Chuyển</a:t>
            </a:r>
            <a:r>
              <a:rPr lang="en-US" dirty="0"/>
              <a:t> </a:t>
            </a:r>
            <a:r>
              <a:rPr lang="en-US" dirty="0" err="1"/>
              <a:t>mạch</a:t>
            </a:r>
            <a:r>
              <a:rPr lang="en-US" dirty="0"/>
              <a:t> </a:t>
            </a:r>
            <a:r>
              <a:rPr lang="en-US" dirty="0" err="1"/>
              <a:t>gói</a:t>
            </a:r>
            <a:endParaRPr lang="en-US" dirty="0"/>
          </a:p>
          <a:p>
            <a:r>
              <a:rPr lang="en-US" dirty="0" err="1"/>
              <a:t>Phân</a:t>
            </a:r>
            <a:r>
              <a:rPr lang="en-US" dirty="0"/>
              <a:t> </a:t>
            </a:r>
            <a:r>
              <a:rPr lang="en-US" dirty="0" err="1"/>
              <a:t>loại</a:t>
            </a:r>
            <a:r>
              <a:rPr lang="en-US" dirty="0"/>
              <a:t> </a:t>
            </a:r>
            <a:r>
              <a:rPr lang="en-US" dirty="0" err="1"/>
              <a:t>theo</a:t>
            </a:r>
            <a:r>
              <a:rPr lang="en-US" dirty="0"/>
              <a:t> </a:t>
            </a:r>
            <a:r>
              <a:rPr lang="en-US" dirty="0" err="1"/>
              <a:t>hệ</a:t>
            </a:r>
            <a:r>
              <a:rPr lang="en-US" dirty="0"/>
              <a:t> </a:t>
            </a:r>
            <a:r>
              <a:rPr lang="en-US" dirty="0" err="1"/>
              <a:t>điều</a:t>
            </a:r>
            <a:r>
              <a:rPr lang="en-US" dirty="0"/>
              <a:t> </a:t>
            </a:r>
            <a:r>
              <a:rPr lang="en-US" dirty="0" err="1"/>
              <a:t>hành</a:t>
            </a:r>
            <a:r>
              <a:rPr lang="en-US" dirty="0"/>
              <a:t> </a:t>
            </a:r>
            <a:r>
              <a:rPr lang="en-US" dirty="0" err="1"/>
              <a:t>mạng</a:t>
            </a:r>
            <a:endParaRPr lang="en-US" dirty="0"/>
          </a:p>
          <a:p>
            <a:pPr lvl="1"/>
            <a:r>
              <a:rPr lang="en-US" dirty="0"/>
              <a:t>Windows server</a:t>
            </a:r>
          </a:p>
          <a:p>
            <a:pPr lvl="1"/>
            <a:r>
              <a:rPr lang="en-US" dirty="0"/>
              <a:t>Unix, Linux</a:t>
            </a:r>
          </a:p>
          <a:p>
            <a:r>
              <a:rPr lang="en-US" dirty="0" err="1"/>
              <a:t>Và</a:t>
            </a:r>
            <a:r>
              <a:rPr lang="en-US" dirty="0"/>
              <a:t> </a:t>
            </a:r>
            <a:r>
              <a:rPr lang="en-US" dirty="0" err="1"/>
              <a:t>còn</a:t>
            </a:r>
            <a:r>
              <a:rPr lang="en-US" dirty="0"/>
              <a:t> </a:t>
            </a:r>
            <a:r>
              <a:rPr lang="en-US" dirty="0" err="1"/>
              <a:t>nhiều</a:t>
            </a:r>
            <a:r>
              <a:rPr lang="en-US" dirty="0"/>
              <a:t> </a:t>
            </a:r>
            <a:r>
              <a:rPr lang="en-US" dirty="0" err="1"/>
              <a:t>cách</a:t>
            </a:r>
            <a:r>
              <a:rPr lang="en-US" dirty="0"/>
              <a:t> </a:t>
            </a:r>
            <a:r>
              <a:rPr lang="en-US" dirty="0" err="1"/>
              <a:t>phân</a:t>
            </a:r>
            <a:r>
              <a:rPr lang="en-US" dirty="0"/>
              <a:t> </a:t>
            </a:r>
            <a:r>
              <a:rPr lang="en-US" dirty="0" err="1"/>
              <a:t>loại</a:t>
            </a:r>
            <a:r>
              <a:rPr lang="en-US" dirty="0"/>
              <a:t> </a:t>
            </a:r>
            <a:r>
              <a:rPr lang="en-US" dirty="0" err="1"/>
              <a:t>khác</a:t>
            </a:r>
            <a:r>
              <a:rPr lang="en-US" dirty="0"/>
              <a:t>.</a:t>
            </a:r>
          </a:p>
        </p:txBody>
      </p:sp>
    </p:spTree>
    <p:extLst>
      <p:ext uri="{BB962C8B-B14F-4D97-AF65-F5344CB8AC3E}">
        <p14:creationId xmlns:p14="http://schemas.microsoft.com/office/powerpoint/2010/main" val="3622612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4F4DA-FCE9-4F53-B1D7-4E895F0E4926}"/>
              </a:ext>
            </a:extLst>
          </p:cNvPr>
          <p:cNvSpPr>
            <a:spLocks noGrp="1"/>
          </p:cNvSpPr>
          <p:nvPr>
            <p:ph type="title"/>
          </p:nvPr>
        </p:nvSpPr>
        <p:spPr/>
        <p:txBody>
          <a:bodyPr/>
          <a:lstStyle/>
          <a:p>
            <a:r>
              <a:rPr lang="en-US" dirty="0"/>
              <a:t>V. ỨNG DỤNG CỦA MẠNG MÁY TÍNH</a:t>
            </a:r>
          </a:p>
        </p:txBody>
      </p:sp>
      <p:sp>
        <p:nvSpPr>
          <p:cNvPr id="3" name="Content Placeholder 2">
            <a:extLst>
              <a:ext uri="{FF2B5EF4-FFF2-40B4-BE49-F238E27FC236}">
                <a16:creationId xmlns:a16="http://schemas.microsoft.com/office/drawing/2014/main" id="{35E5900A-634E-4C18-A3CB-75569241C298}"/>
              </a:ext>
            </a:extLst>
          </p:cNvPr>
          <p:cNvSpPr>
            <a:spLocks noGrp="1"/>
          </p:cNvSpPr>
          <p:nvPr>
            <p:ph idx="1"/>
          </p:nvPr>
        </p:nvSpPr>
        <p:spPr/>
        <p:txBody>
          <a:bodyPr/>
          <a:lstStyle/>
          <a:p>
            <a:pPr algn="just"/>
            <a:r>
              <a:rPr lang="en-US" b="1" dirty="0" err="1"/>
              <a:t>Ứng</a:t>
            </a:r>
            <a:r>
              <a:rPr lang="en-US" b="1" dirty="0"/>
              <a:t> </a:t>
            </a:r>
            <a:r>
              <a:rPr lang="en-US" b="1" dirty="0" err="1"/>
              <a:t>dụng</a:t>
            </a:r>
            <a:r>
              <a:rPr lang="en-US" b="1" dirty="0"/>
              <a:t> </a:t>
            </a:r>
            <a:r>
              <a:rPr lang="en-US" b="1" dirty="0" err="1"/>
              <a:t>của</a:t>
            </a:r>
            <a:r>
              <a:rPr lang="en-US" b="1" dirty="0"/>
              <a:t> </a:t>
            </a:r>
            <a:r>
              <a:rPr lang="en-US" b="1" dirty="0" err="1"/>
              <a:t>mạng</a:t>
            </a:r>
            <a:r>
              <a:rPr lang="en-US" b="1" dirty="0"/>
              <a:t> </a:t>
            </a:r>
            <a:r>
              <a:rPr lang="en-US" b="1" dirty="0" err="1"/>
              <a:t>máy</a:t>
            </a:r>
            <a:r>
              <a:rPr lang="en-US" b="1" dirty="0"/>
              <a:t> </a:t>
            </a:r>
            <a:r>
              <a:rPr lang="en-US" b="1" dirty="0" err="1"/>
              <a:t>tính</a:t>
            </a:r>
            <a:r>
              <a:rPr lang="en-US" dirty="0"/>
              <a:t> </a:t>
            </a:r>
            <a:r>
              <a:rPr lang="en-US" dirty="0" err="1"/>
              <a:t>có</a:t>
            </a:r>
            <a:r>
              <a:rPr lang="en-US" dirty="0"/>
              <a:t> ở </a:t>
            </a:r>
            <a:r>
              <a:rPr lang="en-US" dirty="0" err="1"/>
              <a:t>hầu</a:t>
            </a:r>
            <a:r>
              <a:rPr lang="en-US" dirty="0"/>
              <a:t> </a:t>
            </a:r>
            <a:r>
              <a:rPr lang="en-US" dirty="0" err="1"/>
              <a:t>hết</a:t>
            </a:r>
            <a:r>
              <a:rPr lang="en-US" dirty="0"/>
              <a:t> </a:t>
            </a:r>
            <a:r>
              <a:rPr lang="en-US" dirty="0" err="1"/>
              <a:t>mọi</a:t>
            </a:r>
            <a:r>
              <a:rPr lang="en-US" dirty="0"/>
              <a:t> </a:t>
            </a:r>
            <a:r>
              <a:rPr lang="en-US" dirty="0" err="1"/>
              <a:t>lĩnh</a:t>
            </a:r>
            <a:r>
              <a:rPr lang="en-US" dirty="0"/>
              <a:t> </a:t>
            </a:r>
            <a:r>
              <a:rPr lang="en-US" dirty="0" err="1"/>
              <a:t>vực</a:t>
            </a:r>
            <a:r>
              <a:rPr lang="en-US" dirty="0"/>
              <a:t> </a:t>
            </a:r>
            <a:r>
              <a:rPr lang="en-US" dirty="0" err="1"/>
              <a:t>trong</a:t>
            </a:r>
            <a:r>
              <a:rPr lang="en-US" dirty="0"/>
              <a:t> </a:t>
            </a:r>
            <a:r>
              <a:rPr lang="en-US" dirty="0" err="1"/>
              <a:t>cuộc</a:t>
            </a:r>
            <a:r>
              <a:rPr lang="en-US" dirty="0"/>
              <a:t> </a:t>
            </a:r>
            <a:r>
              <a:rPr lang="en-US" dirty="0" err="1"/>
              <a:t>sống</a:t>
            </a:r>
            <a:r>
              <a:rPr lang="en-US" dirty="0"/>
              <a:t>. </a:t>
            </a:r>
            <a:r>
              <a:rPr lang="en-US" dirty="0" err="1"/>
              <a:t>Từ</a:t>
            </a:r>
            <a:r>
              <a:rPr lang="en-US" dirty="0"/>
              <a:t> khoa </a:t>
            </a:r>
            <a:r>
              <a:rPr lang="en-US" dirty="0" err="1"/>
              <a:t>học</a:t>
            </a:r>
            <a:r>
              <a:rPr lang="en-US" dirty="0"/>
              <a:t>, </a:t>
            </a:r>
            <a:r>
              <a:rPr lang="en-US" dirty="0" err="1"/>
              <a:t>quân</a:t>
            </a:r>
            <a:r>
              <a:rPr lang="en-US" dirty="0"/>
              <a:t> </a:t>
            </a:r>
            <a:r>
              <a:rPr lang="en-US" dirty="0" err="1"/>
              <a:t>sự</a:t>
            </a:r>
            <a:r>
              <a:rPr lang="en-US" dirty="0"/>
              <a:t>, </a:t>
            </a:r>
            <a:r>
              <a:rPr lang="en-US" dirty="0" err="1"/>
              <a:t>quốc</a:t>
            </a:r>
            <a:r>
              <a:rPr lang="en-US" dirty="0"/>
              <a:t> </a:t>
            </a:r>
            <a:r>
              <a:rPr lang="en-US" dirty="0" err="1"/>
              <a:t>phòng</a:t>
            </a:r>
            <a:r>
              <a:rPr lang="en-US" dirty="0"/>
              <a:t> </a:t>
            </a:r>
            <a:r>
              <a:rPr lang="en-US" dirty="0" err="1"/>
              <a:t>cho</a:t>
            </a:r>
            <a:r>
              <a:rPr lang="en-US" dirty="0"/>
              <a:t> </a:t>
            </a:r>
            <a:r>
              <a:rPr lang="en-US" dirty="0" err="1"/>
              <a:t>đến</a:t>
            </a:r>
            <a:r>
              <a:rPr lang="en-US" dirty="0"/>
              <a:t> y </a:t>
            </a:r>
            <a:r>
              <a:rPr lang="en-US" dirty="0" err="1"/>
              <a:t>tế</a:t>
            </a:r>
            <a:r>
              <a:rPr lang="en-US" dirty="0"/>
              <a:t>, </a:t>
            </a:r>
            <a:r>
              <a:rPr lang="en-US" dirty="0" err="1"/>
              <a:t>giáo</a:t>
            </a:r>
            <a:r>
              <a:rPr lang="en-US" dirty="0"/>
              <a:t> </a:t>
            </a:r>
            <a:r>
              <a:rPr lang="en-US" dirty="0" err="1"/>
              <a:t>dục</a:t>
            </a:r>
            <a:r>
              <a:rPr lang="en-US" dirty="0"/>
              <a:t>,… </a:t>
            </a:r>
            <a:r>
              <a:rPr lang="en-US" dirty="0" err="1"/>
              <a:t>mạng</a:t>
            </a:r>
            <a:r>
              <a:rPr lang="en-US" dirty="0"/>
              <a:t> </a:t>
            </a:r>
            <a:r>
              <a:rPr lang="en-US" dirty="0" err="1"/>
              <a:t>máy</a:t>
            </a:r>
            <a:r>
              <a:rPr lang="en-US" dirty="0"/>
              <a:t> </a:t>
            </a:r>
            <a:r>
              <a:rPr lang="en-US" dirty="0" err="1"/>
              <a:t>tính</a:t>
            </a:r>
            <a:r>
              <a:rPr lang="en-US" dirty="0"/>
              <a:t> </a:t>
            </a:r>
            <a:r>
              <a:rPr lang="en-US" dirty="0" err="1"/>
              <a:t>đã</a:t>
            </a:r>
            <a:r>
              <a:rPr lang="en-US" dirty="0"/>
              <a:t> </a:t>
            </a:r>
            <a:r>
              <a:rPr lang="en-US" dirty="0" err="1"/>
              <a:t>trở</a:t>
            </a:r>
            <a:r>
              <a:rPr lang="en-US" dirty="0"/>
              <a:t> </a:t>
            </a:r>
            <a:r>
              <a:rPr lang="en-US" dirty="0" err="1"/>
              <a:t>nên</a:t>
            </a:r>
            <a:r>
              <a:rPr lang="en-US" dirty="0"/>
              <a:t> </a:t>
            </a:r>
            <a:r>
              <a:rPr lang="en-US" dirty="0" err="1"/>
              <a:t>quá</a:t>
            </a:r>
            <a:r>
              <a:rPr lang="en-US" dirty="0"/>
              <a:t> </a:t>
            </a:r>
            <a:r>
              <a:rPr lang="en-US" dirty="0" err="1"/>
              <a:t>quen</a:t>
            </a:r>
            <a:r>
              <a:rPr lang="en-US" dirty="0"/>
              <a:t> </a:t>
            </a:r>
            <a:r>
              <a:rPr lang="en-US" dirty="0" err="1"/>
              <a:t>thuộc</a:t>
            </a:r>
            <a:r>
              <a:rPr lang="en-US" dirty="0"/>
              <a:t> </a:t>
            </a:r>
            <a:r>
              <a:rPr lang="en-US" dirty="0" err="1"/>
              <a:t>và</a:t>
            </a:r>
            <a:r>
              <a:rPr lang="en-US" dirty="0"/>
              <a:t> </a:t>
            </a:r>
            <a:r>
              <a:rPr lang="en-US" dirty="0" err="1"/>
              <a:t>không</a:t>
            </a:r>
            <a:r>
              <a:rPr lang="en-US" dirty="0"/>
              <a:t> </a:t>
            </a:r>
            <a:r>
              <a:rPr lang="en-US" dirty="0" err="1"/>
              <a:t>thể</a:t>
            </a:r>
            <a:r>
              <a:rPr lang="en-US" dirty="0"/>
              <a:t> </a:t>
            </a:r>
            <a:r>
              <a:rPr lang="en-US" dirty="0" err="1"/>
              <a:t>thiếu</a:t>
            </a:r>
            <a:r>
              <a:rPr lang="en-US" dirty="0"/>
              <a:t> </a:t>
            </a:r>
            <a:r>
              <a:rPr lang="en-US" dirty="0" err="1"/>
              <a:t>trong</a:t>
            </a:r>
            <a:r>
              <a:rPr lang="en-US" dirty="0"/>
              <a:t> </a:t>
            </a:r>
            <a:r>
              <a:rPr lang="en-US" dirty="0" err="1"/>
              <a:t>cuộc</a:t>
            </a:r>
            <a:r>
              <a:rPr lang="en-US" dirty="0"/>
              <a:t> </a:t>
            </a:r>
            <a:r>
              <a:rPr lang="en-US" dirty="0" err="1"/>
              <a:t>sống</a:t>
            </a:r>
            <a:r>
              <a:rPr lang="en-US" dirty="0"/>
              <a:t> </a:t>
            </a:r>
            <a:r>
              <a:rPr lang="en-US" dirty="0" err="1"/>
              <a:t>hiện</a:t>
            </a:r>
            <a:r>
              <a:rPr lang="en-US" dirty="0"/>
              <a:t> nay.</a:t>
            </a:r>
          </a:p>
          <a:p>
            <a:pPr algn="just"/>
            <a:endParaRPr lang="en-US" dirty="0"/>
          </a:p>
        </p:txBody>
      </p:sp>
    </p:spTree>
    <p:extLst>
      <p:ext uri="{BB962C8B-B14F-4D97-AF65-F5344CB8AC3E}">
        <p14:creationId xmlns:p14="http://schemas.microsoft.com/office/powerpoint/2010/main" val="1724094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68E09-7AB1-4EA0-B744-A06EC7C3150F}"/>
              </a:ext>
            </a:extLst>
          </p:cNvPr>
          <p:cNvSpPr>
            <a:spLocks noGrp="1"/>
          </p:cNvSpPr>
          <p:nvPr>
            <p:ph type="title"/>
          </p:nvPr>
        </p:nvSpPr>
        <p:spPr/>
        <p:txBody>
          <a:bodyPr/>
          <a:lstStyle/>
          <a:p>
            <a:r>
              <a:rPr lang="en-US" dirty="0"/>
              <a:t>V. ỨNG DỤNG CỦA MẠNG MÁY TÍNH</a:t>
            </a:r>
          </a:p>
        </p:txBody>
      </p:sp>
      <p:sp>
        <p:nvSpPr>
          <p:cNvPr id="3" name="Content Placeholder 2">
            <a:extLst>
              <a:ext uri="{FF2B5EF4-FFF2-40B4-BE49-F238E27FC236}">
                <a16:creationId xmlns:a16="http://schemas.microsoft.com/office/drawing/2014/main" id="{49023B4A-C22E-4B28-A995-0DCE954CDC67}"/>
              </a:ext>
            </a:extLst>
          </p:cNvPr>
          <p:cNvSpPr>
            <a:spLocks noGrp="1"/>
          </p:cNvSpPr>
          <p:nvPr>
            <p:ph idx="1"/>
          </p:nvPr>
        </p:nvSpPr>
        <p:spPr/>
        <p:txBody>
          <a:bodyPr/>
          <a:lstStyle/>
          <a:p>
            <a:pPr algn="just"/>
            <a:r>
              <a:rPr lang="en-US" dirty="0"/>
              <a:t>Đ</a:t>
            </a:r>
            <a:r>
              <a:rPr lang="vi-VN" dirty="0"/>
              <a:t>ối với những cá nhân, </a:t>
            </a:r>
            <a:r>
              <a:rPr lang="vi-VN" b="1" dirty="0"/>
              <a:t>ứng dụng của mạng máy tính</a:t>
            </a:r>
            <a:r>
              <a:rPr lang="vi-VN" dirty="0"/>
              <a:t> mang lại những sự tiện lợi như:</a:t>
            </a:r>
          </a:p>
          <a:p>
            <a:pPr lvl="1" algn="just"/>
            <a:r>
              <a:rPr lang="vi-VN" dirty="0"/>
              <a:t>Truyền và nhận thông tin liên lạc cũng như dữ liệu từ người này qua người khác một cách dễ dàng</a:t>
            </a:r>
          </a:p>
          <a:p>
            <a:pPr lvl="1" algn="just"/>
            <a:r>
              <a:rPr lang="vi-VN" dirty="0"/>
              <a:t>Giúp chúng ta liên lạc trực tiếp với nhau mà không cần gặp mặt trực tiếp</a:t>
            </a:r>
          </a:p>
          <a:p>
            <a:pPr lvl="1" algn="just"/>
            <a:r>
              <a:rPr lang="vi-VN" dirty="0"/>
              <a:t>Cung cấp các trò chơi giải trí, phim ảnh,…</a:t>
            </a:r>
          </a:p>
          <a:p>
            <a:pPr lvl="1" algn="just"/>
            <a:r>
              <a:rPr lang="vi-VN" dirty="0"/>
              <a:t>Giúp quan hệ giữa người với người trở nên dễ dàng và gần gũi hơn.</a:t>
            </a:r>
          </a:p>
          <a:p>
            <a:pPr algn="just"/>
            <a:endParaRPr lang="en-US" dirty="0"/>
          </a:p>
        </p:txBody>
      </p:sp>
    </p:spTree>
    <p:extLst>
      <p:ext uri="{BB962C8B-B14F-4D97-AF65-F5344CB8AC3E}">
        <p14:creationId xmlns:p14="http://schemas.microsoft.com/office/powerpoint/2010/main" val="2334704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2973-5CE8-4ED2-B1DC-0E03104120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911B01-BFA3-4B75-954E-A8D92A275857}"/>
              </a:ext>
            </a:extLst>
          </p:cNvPr>
          <p:cNvSpPr>
            <a:spLocks noGrp="1"/>
          </p:cNvSpPr>
          <p:nvPr>
            <p:ph idx="1"/>
          </p:nvPr>
        </p:nvSpPr>
        <p:spPr/>
        <p:txBody>
          <a:bodyPr/>
          <a:lstStyle/>
          <a:p>
            <a:endParaRPr lang="en-US"/>
          </a:p>
        </p:txBody>
      </p:sp>
      <p:pic>
        <p:nvPicPr>
          <p:cNvPr id="10242" name="Picture 2" descr="Káº¿t quáº£ hÃ¬nh áº£nh cho mail">
            <a:extLst>
              <a:ext uri="{FF2B5EF4-FFF2-40B4-BE49-F238E27FC236}">
                <a16:creationId xmlns:a16="http://schemas.microsoft.com/office/drawing/2014/main" id="{688C6B4A-5471-4242-896E-84C1484C7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158" y="563390"/>
            <a:ext cx="2628900" cy="262890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Káº¿t quáº£ hÃ¬nh áº£nh cho chat">
            <a:extLst>
              <a:ext uri="{FF2B5EF4-FFF2-40B4-BE49-F238E27FC236}">
                <a16:creationId xmlns:a16="http://schemas.microsoft.com/office/drawing/2014/main" id="{19BD9DF9-4396-428D-AB88-B7BB1E58C9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2004" y="898525"/>
            <a:ext cx="4177253" cy="3341802"/>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Káº¿t quáº£ hÃ¬nh áº£nh cho youtube">
            <a:extLst>
              <a:ext uri="{FF2B5EF4-FFF2-40B4-BE49-F238E27FC236}">
                <a16:creationId xmlns:a16="http://schemas.microsoft.com/office/drawing/2014/main" id="{7FAE8159-0643-43B5-9EBC-BAD60F7227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32" y="3192291"/>
            <a:ext cx="4254316" cy="3360910"/>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Káº¿t quáº£ hÃ¬nh áº£nh cho facebook">
            <a:extLst>
              <a:ext uri="{FF2B5EF4-FFF2-40B4-BE49-F238E27FC236}">
                <a16:creationId xmlns:a16="http://schemas.microsoft.com/office/drawing/2014/main" id="{34CB1FCF-2B78-43A4-82CB-1A06F611B1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7764" y="1066800"/>
            <a:ext cx="3381605" cy="2254403"/>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Káº¿t quáº£ hÃ¬nh áº£nh cho amazon">
            <a:extLst>
              <a:ext uri="{FF2B5EF4-FFF2-40B4-BE49-F238E27FC236}">
                <a16:creationId xmlns:a16="http://schemas.microsoft.com/office/drawing/2014/main" id="{A15E0CF3-C598-4830-99B9-165B756BAF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7188" y="4048221"/>
            <a:ext cx="2382429" cy="2382429"/>
          </a:xfrm>
          <a:prstGeom prst="rect">
            <a:avLst/>
          </a:prstGeom>
          <a:noFill/>
          <a:extLst>
            <a:ext uri="{909E8E84-426E-40DD-AFC4-6F175D3DCCD1}">
              <a14:hiddenFill xmlns:a14="http://schemas.microsoft.com/office/drawing/2010/main">
                <a:solidFill>
                  <a:srgbClr val="FFFFFF"/>
                </a:solidFill>
              </a14:hiddenFill>
            </a:ext>
          </a:extLst>
        </p:spPr>
      </p:pic>
      <p:pic>
        <p:nvPicPr>
          <p:cNvPr id="10252" name="Picture 12" descr="Káº¿t quáº£ hÃ¬nh áº£nh cho twitter">
            <a:extLst>
              <a:ext uri="{FF2B5EF4-FFF2-40B4-BE49-F238E27FC236}">
                <a16:creationId xmlns:a16="http://schemas.microsoft.com/office/drawing/2014/main" id="{2D104004-4CB2-48B6-AE7A-342C2A3C7A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94127" y="3602531"/>
            <a:ext cx="3485242" cy="2834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975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B7DE-49E4-4F6C-B732-36DC494C6C7F}"/>
              </a:ext>
            </a:extLst>
          </p:cNvPr>
          <p:cNvSpPr>
            <a:spLocks noGrp="1"/>
          </p:cNvSpPr>
          <p:nvPr>
            <p:ph type="title"/>
          </p:nvPr>
        </p:nvSpPr>
        <p:spPr/>
        <p:txBody>
          <a:bodyPr/>
          <a:lstStyle/>
          <a:p>
            <a:r>
              <a:rPr lang="en-US" dirty="0"/>
              <a:t>V. ỨNG DỤNG CỦA MẠNG MÁY TÍNH</a:t>
            </a:r>
          </a:p>
        </p:txBody>
      </p:sp>
      <p:sp>
        <p:nvSpPr>
          <p:cNvPr id="3" name="Content Placeholder 2">
            <a:extLst>
              <a:ext uri="{FF2B5EF4-FFF2-40B4-BE49-F238E27FC236}">
                <a16:creationId xmlns:a16="http://schemas.microsoft.com/office/drawing/2014/main" id="{07BA3FD2-08F9-4B08-A455-027A0521360E}"/>
              </a:ext>
            </a:extLst>
          </p:cNvPr>
          <p:cNvSpPr>
            <a:spLocks noGrp="1"/>
          </p:cNvSpPr>
          <p:nvPr>
            <p:ph idx="1"/>
          </p:nvPr>
        </p:nvSpPr>
        <p:spPr/>
        <p:txBody>
          <a:bodyPr/>
          <a:lstStyle/>
          <a:p>
            <a:r>
              <a:rPr lang="en-US" dirty="0"/>
              <a:t>Đ</a:t>
            </a:r>
            <a:r>
              <a:rPr lang="vi-VN" dirty="0"/>
              <a:t>ối với những </a:t>
            </a:r>
            <a:r>
              <a:rPr lang="en-US" dirty="0" err="1"/>
              <a:t>tổ</a:t>
            </a:r>
            <a:r>
              <a:rPr lang="en-US" dirty="0"/>
              <a:t> </a:t>
            </a:r>
            <a:r>
              <a:rPr lang="en-US" dirty="0" err="1"/>
              <a:t>chức</a:t>
            </a:r>
            <a:r>
              <a:rPr lang="en-US" dirty="0"/>
              <a:t>, </a:t>
            </a:r>
            <a:r>
              <a:rPr lang="en-US" dirty="0" err="1"/>
              <a:t>doanh</a:t>
            </a:r>
            <a:r>
              <a:rPr lang="en-US" dirty="0"/>
              <a:t> </a:t>
            </a:r>
            <a:r>
              <a:rPr lang="en-US" dirty="0" err="1"/>
              <a:t>nghiệp</a:t>
            </a:r>
            <a:r>
              <a:rPr lang="vi-VN" dirty="0"/>
              <a:t>, </a:t>
            </a:r>
            <a:r>
              <a:rPr lang="vi-VN" b="1" dirty="0"/>
              <a:t>ứng dụng của mạng máy tính</a:t>
            </a:r>
            <a:r>
              <a:rPr lang="vi-VN" dirty="0"/>
              <a:t> mang lại những sự tiện lợi như:</a:t>
            </a:r>
          </a:p>
          <a:p>
            <a:pPr lvl="1"/>
            <a:r>
              <a:rPr lang="en-US" dirty="0"/>
              <a:t>Chia </a:t>
            </a:r>
            <a:r>
              <a:rPr lang="en-US" dirty="0" err="1"/>
              <a:t>sẻ</a:t>
            </a:r>
            <a:r>
              <a:rPr lang="en-US" dirty="0"/>
              <a:t> </a:t>
            </a:r>
            <a:r>
              <a:rPr lang="en-US" dirty="0" err="1"/>
              <a:t>tài</a:t>
            </a:r>
            <a:r>
              <a:rPr lang="en-US" dirty="0"/>
              <a:t> </a:t>
            </a:r>
            <a:r>
              <a:rPr lang="en-US" dirty="0" err="1"/>
              <a:t>nguyên</a:t>
            </a:r>
            <a:endParaRPr lang="en-US" dirty="0"/>
          </a:p>
          <a:p>
            <a:pPr lvl="1"/>
            <a:r>
              <a:rPr lang="vi-VN" dirty="0"/>
              <a:t>Tăng độ tin cậy cũng như độ an toàn thông tin: </a:t>
            </a:r>
            <a:r>
              <a:rPr lang="en-US" dirty="0"/>
              <a:t>ứ</a:t>
            </a:r>
            <a:r>
              <a:rPr lang="vi-VN" dirty="0"/>
              <a:t>ng dụng của mạng máy tính giúp thông tin gửi và nhận trên đường truyền chính xác hơn vì chúng được cập nhật theo thời gian thực.</a:t>
            </a:r>
            <a:endParaRPr lang="en-US" dirty="0"/>
          </a:p>
          <a:p>
            <a:pPr lvl="1"/>
            <a:r>
              <a:rPr lang="vi-VN" dirty="0"/>
              <a:t>Khi một máy tính bị hỏng thì các máy c</a:t>
            </a:r>
            <a:r>
              <a:rPr lang="en-US" dirty="0"/>
              <a:t>ò</a:t>
            </a:r>
            <a:r>
              <a:rPr lang="vi-VN" dirty="0"/>
              <a:t>n lại vẫn hoạt động cũng như cung cấp dịch vụ bình thường</a:t>
            </a:r>
            <a:r>
              <a:rPr lang="en-US" dirty="0"/>
              <a:t>.</a:t>
            </a:r>
          </a:p>
          <a:p>
            <a:pPr lvl="1"/>
            <a:r>
              <a:rPr lang="vi-VN" dirty="0"/>
              <a:t>Ứng dụng của mạng máy tính còn được coi là một phương tiện liên lạc hữu hiệu giữa các nhân viên trong mọi tổ chức</a:t>
            </a:r>
            <a:endParaRPr lang="en-US" dirty="0"/>
          </a:p>
        </p:txBody>
      </p:sp>
    </p:spTree>
    <p:extLst>
      <p:ext uri="{BB962C8B-B14F-4D97-AF65-F5344CB8AC3E}">
        <p14:creationId xmlns:p14="http://schemas.microsoft.com/office/powerpoint/2010/main" val="1980861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51C4D-EF59-497B-940C-5904D621C1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393535-AC23-45C5-A6DD-667B6DD35FA6}"/>
              </a:ext>
            </a:extLst>
          </p:cNvPr>
          <p:cNvSpPr>
            <a:spLocks noGrp="1"/>
          </p:cNvSpPr>
          <p:nvPr>
            <p:ph idx="1"/>
          </p:nvPr>
        </p:nvSpPr>
        <p:spPr/>
        <p:txBody>
          <a:bodyPr/>
          <a:lstStyle/>
          <a:p>
            <a:endParaRPr lang="en-US"/>
          </a:p>
        </p:txBody>
      </p:sp>
      <p:pic>
        <p:nvPicPr>
          <p:cNvPr id="11266" name="Picture 2" descr="Káº¿t quáº£ hÃ¬nh áº£nh cho chia sáº» tÃ i nguyÃªn">
            <a:extLst>
              <a:ext uri="{FF2B5EF4-FFF2-40B4-BE49-F238E27FC236}">
                <a16:creationId xmlns:a16="http://schemas.microsoft.com/office/drawing/2014/main" id="{498D9127-DE1A-4E07-943D-048234687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687" y="1399242"/>
            <a:ext cx="4491826" cy="337239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Káº¿t quáº£ hÃ¬nh áº£nh cho an toÃ n thÃ´ng tin máº¡ng">
            <a:extLst>
              <a:ext uri="{FF2B5EF4-FFF2-40B4-BE49-F238E27FC236}">
                <a16:creationId xmlns:a16="http://schemas.microsoft.com/office/drawing/2014/main" id="{CDF233E9-F5C5-4F4E-A190-E924C059ED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Káº¿t quáº£ hÃ¬nh áº£nh cho an toÃ n thÃ´ng tin máº¡ng">
            <a:extLst>
              <a:ext uri="{FF2B5EF4-FFF2-40B4-BE49-F238E27FC236}">
                <a16:creationId xmlns:a16="http://schemas.microsoft.com/office/drawing/2014/main" id="{46891DC1-94BE-4D3E-A60F-BDCC50FB0FE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72" name="Picture 8" descr="Káº¿t quáº£ hÃ¬nh áº£nh cho an toÃ n thÃ´ng tin máº¡ng">
            <a:extLst>
              <a:ext uri="{FF2B5EF4-FFF2-40B4-BE49-F238E27FC236}">
                <a16:creationId xmlns:a16="http://schemas.microsoft.com/office/drawing/2014/main" id="{2A61A843-F014-447E-AA43-10C905E98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168924"/>
            <a:ext cx="4491827" cy="3833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678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7D773-D31C-4A0F-813A-1B276535D5D1}"/>
              </a:ext>
            </a:extLst>
          </p:cNvPr>
          <p:cNvSpPr>
            <a:spLocks noGrp="1"/>
          </p:cNvSpPr>
          <p:nvPr>
            <p:ph type="title"/>
          </p:nvPr>
        </p:nvSpPr>
        <p:spPr/>
        <p:txBody>
          <a:bodyPr/>
          <a:lstStyle/>
          <a:p>
            <a:r>
              <a:rPr lang="en-US" dirty="0"/>
              <a:t>V. ỨNG DỤNG CỦA MẠNG MÁY TÍNH</a:t>
            </a:r>
          </a:p>
        </p:txBody>
      </p:sp>
      <p:sp>
        <p:nvSpPr>
          <p:cNvPr id="3" name="Content Placeholder 2">
            <a:extLst>
              <a:ext uri="{FF2B5EF4-FFF2-40B4-BE49-F238E27FC236}">
                <a16:creationId xmlns:a16="http://schemas.microsoft.com/office/drawing/2014/main" id="{A3BE02DB-D69E-4C9E-A6D2-76E70BBA7018}"/>
              </a:ext>
            </a:extLst>
          </p:cNvPr>
          <p:cNvSpPr>
            <a:spLocks noGrp="1"/>
          </p:cNvSpPr>
          <p:nvPr>
            <p:ph idx="1"/>
          </p:nvPr>
        </p:nvSpPr>
        <p:spPr/>
        <p:txBody>
          <a:bodyPr/>
          <a:lstStyle/>
          <a:p>
            <a:pPr algn="just"/>
            <a:r>
              <a:rPr lang="vi-VN" dirty="0"/>
              <a:t>Ngoài những ứng dụng kể trên, phải kể đến mặt hạn chế của mạng máy tính như:</a:t>
            </a:r>
          </a:p>
          <a:p>
            <a:pPr lvl="1" algn="just"/>
            <a:r>
              <a:rPr lang="vi-VN" dirty="0"/>
              <a:t>Mạng máy tính càng lớn thì khả năng bị đánh cắp dữ liệu càng cao</a:t>
            </a:r>
          </a:p>
          <a:p>
            <a:pPr lvl="1" algn="just"/>
            <a:r>
              <a:rPr lang="vi-VN" dirty="0"/>
              <a:t>Việc kiểm soát băng thông khó khăn</a:t>
            </a:r>
          </a:p>
          <a:p>
            <a:pPr lvl="1" algn="just"/>
            <a:r>
              <a:rPr lang="vi-VN" dirty="0"/>
              <a:t>Nguy cơ lan truyền các phần mềm độc hại chứa virus dễ dàng xảy ra.</a:t>
            </a:r>
          </a:p>
          <a:p>
            <a:pPr algn="just"/>
            <a:endParaRPr lang="en-US" dirty="0"/>
          </a:p>
        </p:txBody>
      </p:sp>
    </p:spTree>
    <p:extLst>
      <p:ext uri="{BB962C8B-B14F-4D97-AF65-F5344CB8AC3E}">
        <p14:creationId xmlns:p14="http://schemas.microsoft.com/office/powerpoint/2010/main" val="3839846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38927-9FCC-4401-9A11-DE6B29328DD7}"/>
              </a:ext>
            </a:extLst>
          </p:cNvPr>
          <p:cNvSpPr>
            <a:spLocks noGrp="1"/>
          </p:cNvSpPr>
          <p:nvPr>
            <p:ph type="title"/>
          </p:nvPr>
        </p:nvSpPr>
        <p:spPr/>
        <p:txBody>
          <a:bodyPr/>
          <a:lstStyle/>
          <a:p>
            <a:r>
              <a:rPr lang="en-US" sz="3200" dirty="0"/>
              <a:t>VI. MỐI T</a:t>
            </a:r>
            <a:r>
              <a:rPr lang="vi-VN" sz="3200" dirty="0"/>
              <a:t>Ư</a:t>
            </a:r>
            <a:r>
              <a:rPr lang="en-US" sz="3200" dirty="0"/>
              <a:t>ƠNG QUAN GIỮA MẠNG MÁY TÍNH VÀ INTERNET</a:t>
            </a:r>
          </a:p>
        </p:txBody>
      </p:sp>
      <p:sp>
        <p:nvSpPr>
          <p:cNvPr id="3" name="Content Placeholder 2">
            <a:extLst>
              <a:ext uri="{FF2B5EF4-FFF2-40B4-BE49-F238E27FC236}">
                <a16:creationId xmlns:a16="http://schemas.microsoft.com/office/drawing/2014/main" id="{93A04596-4E57-4785-95C9-1F0820682155}"/>
              </a:ext>
            </a:extLst>
          </p:cNvPr>
          <p:cNvSpPr>
            <a:spLocks noGrp="1"/>
          </p:cNvSpPr>
          <p:nvPr>
            <p:ph idx="1"/>
          </p:nvPr>
        </p:nvSpPr>
        <p:spPr>
          <a:xfrm>
            <a:off x="508000" y="1066800"/>
            <a:ext cx="6279299" cy="5486400"/>
          </a:xfrm>
        </p:spPr>
        <p:txBody>
          <a:bodyPr/>
          <a:lstStyle/>
          <a:p>
            <a:pPr algn="just"/>
            <a:r>
              <a:rPr lang="vi-VN" b="1" dirty="0"/>
              <a:t>Internet</a:t>
            </a:r>
            <a:r>
              <a:rPr lang="vi-VN" dirty="0"/>
              <a:t> là một hệ thống thông tin toàn cầu có thể được truy nhập công cộng</a:t>
            </a:r>
            <a:r>
              <a:rPr lang="en-US" dirty="0"/>
              <a:t>,</a:t>
            </a:r>
            <a:r>
              <a:rPr lang="vi-VN" dirty="0"/>
              <a:t> gồm các mạng máy tính</a:t>
            </a:r>
            <a:r>
              <a:rPr lang="en-US" dirty="0"/>
              <a:t> </a:t>
            </a:r>
            <a:r>
              <a:rPr lang="vi-VN" dirty="0"/>
              <a:t>được liên kết với nhau. </a:t>
            </a:r>
            <a:endParaRPr lang="en-US" dirty="0"/>
          </a:p>
          <a:p>
            <a:pPr algn="just"/>
            <a:r>
              <a:rPr lang="vi-VN" dirty="0"/>
              <a:t>Hệ thống này bao gồm </a:t>
            </a:r>
            <a:r>
              <a:rPr lang="en-US" dirty="0" err="1"/>
              <a:t>vô</a:t>
            </a:r>
            <a:r>
              <a:rPr lang="en-US" dirty="0"/>
              <a:t> </a:t>
            </a:r>
            <a:r>
              <a:rPr lang="en-US" dirty="0" err="1"/>
              <a:t>số</a:t>
            </a:r>
            <a:r>
              <a:rPr lang="en-US" dirty="0"/>
              <a:t> </a:t>
            </a:r>
            <a:r>
              <a:rPr lang="vi-VN" dirty="0"/>
              <a:t>mạng máy tính nhỏ hơn của các doanh nghiệp, của các viện nghiên cứu và các trường đại học, của người dùng cá nhân và các chính phủ trên toàn cầu.</a:t>
            </a:r>
            <a:endParaRPr lang="en-US" dirty="0"/>
          </a:p>
        </p:txBody>
      </p:sp>
      <p:pic>
        <p:nvPicPr>
          <p:cNvPr id="12290" name="Picture 2" descr="Káº¿t quáº£ hÃ¬nh áº£nh cho internet">
            <a:extLst>
              <a:ext uri="{FF2B5EF4-FFF2-40B4-BE49-F238E27FC236}">
                <a16:creationId xmlns:a16="http://schemas.microsoft.com/office/drawing/2014/main" id="{051461F4-4214-4E49-A4BA-59DF5DBE92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8678" y="1461154"/>
            <a:ext cx="4713404" cy="3535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686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9F229-327F-4B9A-B397-4D33A95A7182}"/>
              </a:ext>
            </a:extLst>
          </p:cNvPr>
          <p:cNvSpPr>
            <a:spLocks noGrp="1"/>
          </p:cNvSpPr>
          <p:nvPr>
            <p:ph type="title"/>
          </p:nvPr>
        </p:nvSpPr>
        <p:spPr/>
        <p:txBody>
          <a:bodyPr/>
          <a:lstStyle/>
          <a:p>
            <a:r>
              <a:rPr lang="en-US" dirty="0"/>
              <a:t>VI.1. CÁC THÀNH PHẦN CỦA INTERNET</a:t>
            </a:r>
          </a:p>
        </p:txBody>
      </p:sp>
      <p:sp>
        <p:nvSpPr>
          <p:cNvPr id="3" name="Content Placeholder 2">
            <a:extLst>
              <a:ext uri="{FF2B5EF4-FFF2-40B4-BE49-F238E27FC236}">
                <a16:creationId xmlns:a16="http://schemas.microsoft.com/office/drawing/2014/main" id="{FBB931DC-A49B-42DE-A632-73383A22690D}"/>
              </a:ext>
            </a:extLst>
          </p:cNvPr>
          <p:cNvSpPr>
            <a:spLocks noGrp="1"/>
          </p:cNvSpPr>
          <p:nvPr>
            <p:ph idx="1"/>
          </p:nvPr>
        </p:nvSpPr>
        <p:spPr/>
        <p:txBody>
          <a:bodyPr/>
          <a:lstStyle/>
          <a:p>
            <a:r>
              <a:rPr lang="en-US" dirty="0"/>
              <a:t>IAP (Internet Access Provider)</a:t>
            </a:r>
          </a:p>
          <a:p>
            <a:r>
              <a:rPr lang="en-US" dirty="0"/>
              <a:t>ISP (Internet Service Provider) </a:t>
            </a:r>
          </a:p>
          <a:p>
            <a:r>
              <a:rPr lang="en-US" dirty="0"/>
              <a:t>ICP (Internet Content Provider) </a:t>
            </a:r>
          </a:p>
          <a:p>
            <a:r>
              <a:rPr lang="en-US" dirty="0"/>
              <a:t>User, Account </a:t>
            </a:r>
          </a:p>
          <a:p>
            <a:r>
              <a:rPr lang="en-US" dirty="0" err="1"/>
              <a:t>Kết</a:t>
            </a:r>
            <a:r>
              <a:rPr lang="en-US" dirty="0"/>
              <a:t> </a:t>
            </a:r>
            <a:r>
              <a:rPr lang="en-US" dirty="0" err="1"/>
              <a:t>nối</a:t>
            </a:r>
            <a:r>
              <a:rPr lang="en-US" dirty="0"/>
              <a:t> </a:t>
            </a:r>
            <a:r>
              <a:rPr lang="en-US" dirty="0" err="1"/>
              <a:t>máy</a:t>
            </a:r>
            <a:r>
              <a:rPr lang="en-US" dirty="0"/>
              <a:t> </a:t>
            </a:r>
            <a:r>
              <a:rPr lang="en-US" dirty="0" err="1"/>
              <a:t>tính</a:t>
            </a:r>
            <a:r>
              <a:rPr lang="en-US" dirty="0"/>
              <a:t> </a:t>
            </a:r>
            <a:r>
              <a:rPr lang="en-US" dirty="0" err="1"/>
              <a:t>với</a:t>
            </a:r>
            <a:r>
              <a:rPr lang="en-US" dirty="0"/>
              <a:t> internet</a:t>
            </a:r>
          </a:p>
          <a:p>
            <a:endParaRPr lang="en-US" dirty="0"/>
          </a:p>
        </p:txBody>
      </p:sp>
    </p:spTree>
    <p:extLst>
      <p:ext uri="{BB962C8B-B14F-4D97-AF65-F5344CB8AC3E}">
        <p14:creationId xmlns:p14="http://schemas.microsoft.com/office/powerpoint/2010/main" val="3161459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5B396-C180-4FE1-B18A-05447944E0EF}"/>
              </a:ext>
            </a:extLst>
          </p:cNvPr>
          <p:cNvSpPr>
            <a:spLocks noGrp="1"/>
          </p:cNvSpPr>
          <p:nvPr>
            <p:ph type="title"/>
          </p:nvPr>
        </p:nvSpPr>
        <p:spPr/>
        <p:txBody>
          <a:bodyPr/>
          <a:lstStyle/>
          <a:p>
            <a:r>
              <a:rPr lang="en-US" dirty="0"/>
              <a:t>VI.1. CÁC THÀNH PHẦN CỦA INTERNET</a:t>
            </a:r>
          </a:p>
        </p:txBody>
      </p:sp>
      <p:sp>
        <p:nvSpPr>
          <p:cNvPr id="3" name="Content Placeholder 2">
            <a:extLst>
              <a:ext uri="{FF2B5EF4-FFF2-40B4-BE49-F238E27FC236}">
                <a16:creationId xmlns:a16="http://schemas.microsoft.com/office/drawing/2014/main" id="{156C7380-2444-4E2D-9A7D-F13F272930D8}"/>
              </a:ext>
            </a:extLst>
          </p:cNvPr>
          <p:cNvSpPr>
            <a:spLocks noGrp="1"/>
          </p:cNvSpPr>
          <p:nvPr>
            <p:ph idx="1"/>
          </p:nvPr>
        </p:nvSpPr>
        <p:spPr/>
        <p:txBody>
          <a:bodyPr/>
          <a:lstStyle/>
          <a:p>
            <a:pPr algn="just"/>
            <a:r>
              <a:rPr lang="en-US" dirty="0"/>
              <a:t>IAP: </a:t>
            </a:r>
            <a:r>
              <a:rPr lang="en-US" dirty="0" err="1"/>
              <a:t>nhà</a:t>
            </a:r>
            <a:r>
              <a:rPr lang="en-US" dirty="0"/>
              <a:t> </a:t>
            </a:r>
            <a:r>
              <a:rPr lang="en-US" dirty="0" err="1"/>
              <a:t>cung</a:t>
            </a:r>
            <a:r>
              <a:rPr lang="en-US" dirty="0"/>
              <a:t> </a:t>
            </a:r>
            <a:r>
              <a:rPr lang="en-US" dirty="0" err="1"/>
              <a:t>cấp</a:t>
            </a:r>
            <a:r>
              <a:rPr lang="en-US" dirty="0"/>
              <a:t> </a:t>
            </a:r>
            <a:r>
              <a:rPr lang="en-US" dirty="0" err="1"/>
              <a:t>truy</a:t>
            </a:r>
            <a:r>
              <a:rPr lang="en-US" dirty="0"/>
              <a:t> </a:t>
            </a:r>
            <a:r>
              <a:rPr lang="en-US" dirty="0" err="1"/>
              <a:t>cập</a:t>
            </a:r>
            <a:r>
              <a:rPr lang="en-US" dirty="0"/>
              <a:t> internet, IAP </a:t>
            </a:r>
            <a:r>
              <a:rPr lang="en-US" dirty="0" err="1"/>
              <a:t>giúp</a:t>
            </a:r>
            <a:r>
              <a:rPr lang="en-US" dirty="0"/>
              <a:t> </a:t>
            </a:r>
            <a:r>
              <a:rPr lang="en-US" dirty="0" err="1"/>
              <a:t>chúng</a:t>
            </a:r>
            <a:r>
              <a:rPr lang="en-US" dirty="0"/>
              <a:t> ta </a:t>
            </a:r>
            <a:r>
              <a:rPr lang="en-US" dirty="0" err="1"/>
              <a:t>kết</a:t>
            </a:r>
            <a:r>
              <a:rPr lang="en-US" dirty="0"/>
              <a:t> </a:t>
            </a:r>
            <a:r>
              <a:rPr lang="en-US" dirty="0" err="1"/>
              <a:t>nối</a:t>
            </a:r>
            <a:r>
              <a:rPr lang="en-US" dirty="0"/>
              <a:t> </a:t>
            </a:r>
            <a:r>
              <a:rPr lang="en-US" dirty="0" err="1"/>
              <a:t>trực</a:t>
            </a:r>
            <a:r>
              <a:rPr lang="en-US" dirty="0"/>
              <a:t> </a:t>
            </a:r>
            <a:r>
              <a:rPr lang="en-US" dirty="0" err="1"/>
              <a:t>tiếp</a:t>
            </a:r>
            <a:r>
              <a:rPr lang="en-US" dirty="0"/>
              <a:t> </a:t>
            </a:r>
            <a:r>
              <a:rPr lang="en-US" dirty="0" err="1"/>
              <a:t>đến</a:t>
            </a:r>
            <a:r>
              <a:rPr lang="en-US" dirty="0"/>
              <a:t> internet.</a:t>
            </a:r>
          </a:p>
          <a:p>
            <a:pPr algn="just"/>
            <a:r>
              <a:rPr lang="en-US" dirty="0"/>
              <a:t>ISP: </a:t>
            </a:r>
            <a:r>
              <a:rPr lang="en-US" dirty="0" err="1"/>
              <a:t>nhà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internet. ISP </a:t>
            </a:r>
            <a:r>
              <a:rPr lang="en-US" dirty="0" err="1"/>
              <a:t>phải</a:t>
            </a:r>
            <a:r>
              <a:rPr lang="en-US" dirty="0"/>
              <a:t> </a:t>
            </a:r>
            <a:r>
              <a:rPr lang="en-US" dirty="0" err="1"/>
              <a:t>kết</a:t>
            </a:r>
            <a:r>
              <a:rPr lang="en-US" dirty="0"/>
              <a:t> </a:t>
            </a:r>
            <a:r>
              <a:rPr lang="en-US" dirty="0" err="1"/>
              <a:t>nối</a:t>
            </a:r>
            <a:r>
              <a:rPr lang="en-US" dirty="0"/>
              <a:t> </a:t>
            </a:r>
            <a:r>
              <a:rPr lang="en-US" dirty="0" err="1"/>
              <a:t>với</a:t>
            </a:r>
            <a:r>
              <a:rPr lang="en-US" dirty="0"/>
              <a:t> IAP. </a:t>
            </a:r>
            <a:r>
              <a:rPr lang="en-US" dirty="0" err="1"/>
              <a:t>Khi</a:t>
            </a:r>
            <a:r>
              <a:rPr lang="en-US" dirty="0"/>
              <a:t> </a:t>
            </a:r>
            <a:r>
              <a:rPr lang="en-US" dirty="0" err="1"/>
              <a:t>đăng</a:t>
            </a:r>
            <a:r>
              <a:rPr lang="en-US" dirty="0"/>
              <a:t> </a:t>
            </a:r>
            <a:r>
              <a:rPr lang="en-US" dirty="0" err="1"/>
              <a:t>ký</a:t>
            </a:r>
            <a:r>
              <a:rPr lang="en-US" dirty="0"/>
              <a:t> </a:t>
            </a:r>
            <a:r>
              <a:rPr lang="en-US" dirty="0" err="1"/>
              <a:t>với</a:t>
            </a:r>
            <a:r>
              <a:rPr lang="en-US" dirty="0"/>
              <a:t> ISP, ng</a:t>
            </a:r>
            <a:r>
              <a:rPr lang="vi-VN" dirty="0"/>
              <a:t>ư</a:t>
            </a:r>
            <a:r>
              <a:rPr lang="en-US" dirty="0" err="1"/>
              <a:t>ời</a:t>
            </a:r>
            <a:r>
              <a:rPr lang="en-US" dirty="0"/>
              <a:t> dung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dịch</a:t>
            </a:r>
            <a:r>
              <a:rPr lang="en-US" dirty="0"/>
              <a:t> </a:t>
            </a:r>
            <a:r>
              <a:rPr lang="en-US" dirty="0" err="1"/>
              <a:t>vụ</a:t>
            </a:r>
            <a:r>
              <a:rPr lang="en-US" dirty="0"/>
              <a:t> </a:t>
            </a:r>
            <a:r>
              <a:rPr lang="en-US" dirty="0" err="1"/>
              <a:t>mà</a:t>
            </a:r>
            <a:r>
              <a:rPr lang="en-US" dirty="0"/>
              <a:t> </a:t>
            </a:r>
            <a:r>
              <a:rPr lang="en-US" dirty="0" err="1"/>
              <a:t>nhà</a:t>
            </a:r>
            <a:r>
              <a:rPr lang="en-US" dirty="0"/>
              <a:t> ISP </a:t>
            </a:r>
            <a:r>
              <a:rPr lang="en-US" dirty="0" err="1"/>
              <a:t>đó</a:t>
            </a:r>
            <a:r>
              <a:rPr lang="en-US" dirty="0"/>
              <a:t> </a:t>
            </a:r>
            <a:r>
              <a:rPr lang="en-US" dirty="0" err="1"/>
              <a:t>cung</a:t>
            </a:r>
            <a:r>
              <a:rPr lang="en-US" dirty="0"/>
              <a:t> </a:t>
            </a:r>
            <a:r>
              <a:rPr lang="en-US" dirty="0" err="1"/>
              <a:t>cấp</a:t>
            </a:r>
            <a:r>
              <a:rPr lang="en-US" dirty="0"/>
              <a:t> </a:t>
            </a:r>
            <a:r>
              <a:rPr lang="en-US" dirty="0" err="1"/>
              <a:t>nh</a:t>
            </a:r>
            <a:r>
              <a:rPr lang="vi-VN" dirty="0"/>
              <a:t>ư</a:t>
            </a:r>
            <a:r>
              <a:rPr lang="en-US" dirty="0"/>
              <a:t>: mail, web,….</a:t>
            </a:r>
          </a:p>
          <a:p>
            <a:pPr algn="just"/>
            <a:r>
              <a:rPr lang="en-US" dirty="0"/>
              <a:t>IAP </a:t>
            </a:r>
            <a:r>
              <a:rPr lang="en-US" dirty="0" err="1"/>
              <a:t>có</a:t>
            </a:r>
            <a:r>
              <a:rPr lang="en-US" dirty="0"/>
              <a:t> </a:t>
            </a:r>
            <a:r>
              <a:rPr lang="en-US" dirty="0" err="1"/>
              <a:t>thể</a:t>
            </a:r>
            <a:r>
              <a:rPr lang="en-US" dirty="0"/>
              <a:t> </a:t>
            </a:r>
            <a:r>
              <a:rPr lang="en-US" dirty="0" err="1"/>
              <a:t>là</a:t>
            </a:r>
            <a:r>
              <a:rPr lang="en-US" dirty="0"/>
              <a:t> 1 ISP, </a:t>
            </a:r>
            <a:r>
              <a:rPr lang="en-US" dirty="0" err="1"/>
              <a:t>nh</a:t>
            </a:r>
            <a:r>
              <a:rPr lang="vi-VN" dirty="0"/>
              <a:t>ư</a:t>
            </a:r>
            <a:r>
              <a:rPr lang="en-US" dirty="0"/>
              <a:t>ng ISP </a:t>
            </a:r>
            <a:r>
              <a:rPr lang="en-US" dirty="0" err="1"/>
              <a:t>không</a:t>
            </a:r>
            <a:r>
              <a:rPr lang="en-US" dirty="0"/>
              <a:t> </a:t>
            </a:r>
            <a:r>
              <a:rPr lang="en-US" dirty="0" err="1"/>
              <a:t>thể</a:t>
            </a:r>
            <a:r>
              <a:rPr lang="en-US" dirty="0"/>
              <a:t> </a:t>
            </a:r>
            <a:r>
              <a:rPr lang="en-US" dirty="0" err="1"/>
              <a:t>là</a:t>
            </a:r>
            <a:r>
              <a:rPr lang="en-US" dirty="0"/>
              <a:t> 1 IAP. IAP </a:t>
            </a:r>
            <a:r>
              <a:rPr lang="en-US" dirty="0" err="1"/>
              <a:t>có</a:t>
            </a:r>
            <a:r>
              <a:rPr lang="en-US" dirty="0"/>
              <a:t> </a:t>
            </a:r>
            <a:r>
              <a:rPr lang="en-US" dirty="0" err="1"/>
              <a:t>thể</a:t>
            </a:r>
            <a:r>
              <a:rPr lang="en-US" dirty="0"/>
              <a:t> </a:t>
            </a:r>
            <a:r>
              <a:rPr lang="en-US" dirty="0" err="1"/>
              <a:t>phục</a:t>
            </a:r>
            <a:r>
              <a:rPr lang="en-US" dirty="0"/>
              <a:t> </a:t>
            </a:r>
            <a:r>
              <a:rPr lang="en-US" dirty="0" err="1"/>
              <a:t>vụ</a:t>
            </a:r>
            <a:r>
              <a:rPr lang="en-US" dirty="0"/>
              <a:t> </a:t>
            </a:r>
            <a:r>
              <a:rPr lang="en-US" dirty="0" err="1"/>
              <a:t>nhiều</a:t>
            </a:r>
            <a:r>
              <a:rPr lang="en-US" dirty="0"/>
              <a:t> ISP</a:t>
            </a:r>
          </a:p>
        </p:txBody>
      </p:sp>
    </p:spTree>
    <p:extLst>
      <p:ext uri="{BB962C8B-B14F-4D97-AF65-F5344CB8AC3E}">
        <p14:creationId xmlns:p14="http://schemas.microsoft.com/office/powerpoint/2010/main" val="1344220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73911-B841-41E0-B77C-45A5E075E172}"/>
              </a:ext>
            </a:extLst>
          </p:cNvPr>
          <p:cNvSpPr>
            <a:spLocks noGrp="1"/>
          </p:cNvSpPr>
          <p:nvPr>
            <p:ph type="title"/>
          </p:nvPr>
        </p:nvSpPr>
        <p:spPr/>
        <p:txBody>
          <a:bodyPr/>
          <a:lstStyle/>
          <a:p>
            <a:r>
              <a:rPr lang="en-US" dirty="0"/>
              <a:t>VI.1. CÁC THÀNH PHẦN CỦA INTERNET</a:t>
            </a:r>
          </a:p>
        </p:txBody>
      </p:sp>
      <p:sp>
        <p:nvSpPr>
          <p:cNvPr id="3" name="Content Placeholder 2">
            <a:extLst>
              <a:ext uri="{FF2B5EF4-FFF2-40B4-BE49-F238E27FC236}">
                <a16:creationId xmlns:a16="http://schemas.microsoft.com/office/drawing/2014/main" id="{690CE02C-D2EC-4075-BAF8-A95D8691E6A3}"/>
              </a:ext>
            </a:extLst>
          </p:cNvPr>
          <p:cNvSpPr>
            <a:spLocks noGrp="1"/>
          </p:cNvSpPr>
          <p:nvPr>
            <p:ph idx="1"/>
          </p:nvPr>
        </p:nvSpPr>
        <p:spPr/>
        <p:txBody>
          <a:bodyPr/>
          <a:lstStyle/>
          <a:p>
            <a:r>
              <a:rPr lang="en-US" dirty="0"/>
              <a:t>ICP: </a:t>
            </a:r>
            <a:r>
              <a:rPr lang="en-US" dirty="0" err="1"/>
              <a:t>là</a:t>
            </a:r>
            <a:r>
              <a:rPr lang="en-US" dirty="0"/>
              <a:t> </a:t>
            </a:r>
            <a:r>
              <a:rPr lang="en-US" dirty="0" err="1"/>
              <a:t>nhà</a:t>
            </a:r>
            <a:r>
              <a:rPr lang="en-US" dirty="0"/>
              <a:t> </a:t>
            </a:r>
            <a:r>
              <a:rPr lang="en-US" dirty="0" err="1"/>
              <a:t>cung</a:t>
            </a:r>
            <a:r>
              <a:rPr lang="en-US" dirty="0"/>
              <a:t> </a:t>
            </a:r>
            <a:r>
              <a:rPr lang="en-US" dirty="0" err="1"/>
              <a:t>cấp</a:t>
            </a:r>
            <a:r>
              <a:rPr lang="en-US" dirty="0"/>
              <a:t> </a:t>
            </a:r>
            <a:r>
              <a:rPr lang="en-US" dirty="0" err="1"/>
              <a:t>thông</a:t>
            </a:r>
            <a:r>
              <a:rPr lang="en-US" dirty="0"/>
              <a:t> tin, </a:t>
            </a:r>
            <a:r>
              <a:rPr lang="en-US" dirty="0" err="1"/>
              <a:t>với</a:t>
            </a:r>
            <a:r>
              <a:rPr lang="en-US" dirty="0"/>
              <a:t> </a:t>
            </a:r>
            <a:r>
              <a:rPr lang="en-US" dirty="0" err="1"/>
              <a:t>nhiều</a:t>
            </a:r>
            <a:r>
              <a:rPr lang="en-US" dirty="0"/>
              <a:t> </a:t>
            </a:r>
            <a:r>
              <a:rPr lang="en-US" dirty="0" err="1"/>
              <a:t>lĩnh</a:t>
            </a:r>
            <a:r>
              <a:rPr lang="en-US" dirty="0"/>
              <a:t> </a:t>
            </a:r>
            <a:r>
              <a:rPr lang="en-US" dirty="0" err="1"/>
              <a:t>vực</a:t>
            </a:r>
            <a:r>
              <a:rPr lang="en-US" dirty="0"/>
              <a:t> </a:t>
            </a:r>
            <a:r>
              <a:rPr lang="en-US" dirty="0" err="1"/>
              <a:t>như</a:t>
            </a:r>
            <a:r>
              <a:rPr lang="en-US" dirty="0"/>
              <a:t>: </a:t>
            </a:r>
            <a:r>
              <a:rPr lang="en-US" dirty="0" err="1"/>
              <a:t>kinh</a:t>
            </a:r>
            <a:r>
              <a:rPr lang="en-US" dirty="0"/>
              <a:t> </a:t>
            </a:r>
            <a:r>
              <a:rPr lang="en-US" dirty="0" err="1"/>
              <a:t>tế</a:t>
            </a:r>
            <a:r>
              <a:rPr lang="en-US" dirty="0"/>
              <a:t>, </a:t>
            </a:r>
            <a:r>
              <a:rPr lang="en-US" dirty="0" err="1"/>
              <a:t>văn</a:t>
            </a:r>
            <a:r>
              <a:rPr lang="en-US" dirty="0"/>
              <a:t> </a:t>
            </a:r>
            <a:r>
              <a:rPr lang="en-US" dirty="0" err="1"/>
              <a:t>hóa</a:t>
            </a:r>
            <a:r>
              <a:rPr lang="en-US" dirty="0"/>
              <a:t>,… ICP </a:t>
            </a:r>
            <a:r>
              <a:rPr lang="en-US" dirty="0" err="1"/>
              <a:t>có</a:t>
            </a:r>
            <a:r>
              <a:rPr lang="en-US" dirty="0"/>
              <a:t> </a:t>
            </a:r>
            <a:r>
              <a:rPr lang="en-US" dirty="0" err="1"/>
              <a:t>thể</a:t>
            </a:r>
            <a:r>
              <a:rPr lang="en-US" dirty="0"/>
              <a:t> </a:t>
            </a:r>
            <a:r>
              <a:rPr lang="en-US" dirty="0" err="1"/>
              <a:t>là</a:t>
            </a:r>
            <a:r>
              <a:rPr lang="en-US" dirty="0"/>
              <a:t> ISP, </a:t>
            </a:r>
            <a:r>
              <a:rPr lang="en-US" dirty="0" err="1"/>
              <a:t>cũng</a:t>
            </a:r>
            <a:r>
              <a:rPr lang="en-US" dirty="0"/>
              <a:t> </a:t>
            </a:r>
            <a:r>
              <a:rPr lang="en-US" dirty="0" err="1"/>
              <a:t>có</a:t>
            </a:r>
            <a:r>
              <a:rPr lang="en-US" dirty="0"/>
              <a:t> </a:t>
            </a:r>
            <a:r>
              <a:rPr lang="en-US" dirty="0" err="1"/>
              <a:t>thể</a:t>
            </a:r>
            <a:r>
              <a:rPr lang="en-US" dirty="0"/>
              <a:t> </a:t>
            </a:r>
            <a:r>
              <a:rPr lang="en-US" dirty="0" err="1"/>
              <a:t>là</a:t>
            </a:r>
            <a:r>
              <a:rPr lang="en-US" dirty="0"/>
              <a:t> </a:t>
            </a:r>
            <a:r>
              <a:rPr lang="en-US" dirty="0" err="1"/>
              <a:t>một</a:t>
            </a:r>
            <a:r>
              <a:rPr lang="en-US" dirty="0"/>
              <a:t> server </a:t>
            </a:r>
            <a:r>
              <a:rPr lang="en-US" dirty="0" err="1"/>
              <a:t>riêng</a:t>
            </a:r>
            <a:r>
              <a:rPr lang="en-US" dirty="0"/>
              <a:t>.</a:t>
            </a:r>
          </a:p>
          <a:p>
            <a:r>
              <a:rPr lang="en-US" dirty="0"/>
              <a:t>User: ng</a:t>
            </a:r>
            <a:r>
              <a:rPr lang="vi-VN" dirty="0"/>
              <a:t>ư</a:t>
            </a:r>
            <a:r>
              <a:rPr lang="en-US" dirty="0" err="1"/>
              <a:t>ời</a:t>
            </a:r>
            <a:r>
              <a:rPr lang="en-US" dirty="0"/>
              <a:t> </a:t>
            </a:r>
            <a:r>
              <a:rPr lang="en-US" dirty="0" err="1"/>
              <a:t>dùng</a:t>
            </a:r>
            <a:r>
              <a:rPr lang="en-US" dirty="0"/>
              <a:t> </a:t>
            </a:r>
            <a:r>
              <a:rPr lang="en-US" dirty="0" err="1"/>
              <a:t>trên</a:t>
            </a:r>
            <a:r>
              <a:rPr lang="en-US" dirty="0"/>
              <a:t> internet.</a:t>
            </a:r>
          </a:p>
          <a:p>
            <a:r>
              <a:rPr lang="en-US" dirty="0" err="1"/>
              <a:t>Kết</a:t>
            </a:r>
            <a:r>
              <a:rPr lang="en-US" dirty="0"/>
              <a:t> </a:t>
            </a:r>
            <a:r>
              <a:rPr lang="en-US" dirty="0" err="1"/>
              <a:t>nối</a:t>
            </a:r>
            <a:r>
              <a:rPr lang="en-US" dirty="0"/>
              <a:t> </a:t>
            </a:r>
            <a:r>
              <a:rPr lang="en-US" dirty="0" err="1"/>
              <a:t>máy</a:t>
            </a:r>
            <a:r>
              <a:rPr lang="en-US" dirty="0"/>
              <a:t> </a:t>
            </a:r>
            <a:r>
              <a:rPr lang="en-US" dirty="0" err="1"/>
              <a:t>tính</a:t>
            </a:r>
            <a:r>
              <a:rPr lang="en-US" dirty="0"/>
              <a:t> </a:t>
            </a:r>
            <a:r>
              <a:rPr lang="en-US" dirty="0" err="1"/>
              <a:t>đến</a:t>
            </a:r>
            <a:r>
              <a:rPr lang="en-US" dirty="0"/>
              <a:t> internet:</a:t>
            </a:r>
          </a:p>
          <a:p>
            <a:pPr lvl="1"/>
            <a:r>
              <a:rPr lang="en-US" dirty="0" err="1"/>
              <a:t>Kết</a:t>
            </a:r>
            <a:r>
              <a:rPr lang="en-US" dirty="0"/>
              <a:t> </a:t>
            </a:r>
            <a:r>
              <a:rPr lang="en-US" dirty="0" err="1"/>
              <a:t>nối</a:t>
            </a:r>
            <a:r>
              <a:rPr lang="en-US" dirty="0"/>
              <a:t> dial up</a:t>
            </a:r>
          </a:p>
          <a:p>
            <a:pPr lvl="1"/>
            <a:r>
              <a:rPr lang="en-US" dirty="0" err="1"/>
              <a:t>Kết</a:t>
            </a:r>
            <a:r>
              <a:rPr lang="en-US" dirty="0"/>
              <a:t> </a:t>
            </a:r>
            <a:r>
              <a:rPr lang="en-US" dirty="0" err="1"/>
              <a:t>nối</a:t>
            </a:r>
            <a:r>
              <a:rPr lang="en-US" dirty="0"/>
              <a:t> ADSL</a:t>
            </a:r>
          </a:p>
          <a:p>
            <a:pPr lvl="1"/>
            <a:r>
              <a:rPr lang="en-US" dirty="0" err="1"/>
              <a:t>Kết</a:t>
            </a:r>
            <a:r>
              <a:rPr lang="en-US" dirty="0"/>
              <a:t> </a:t>
            </a:r>
            <a:r>
              <a:rPr lang="en-US" dirty="0" err="1"/>
              <a:t>nối</a:t>
            </a:r>
            <a:r>
              <a:rPr lang="en-US" dirty="0"/>
              <a:t> Lease Line</a:t>
            </a:r>
          </a:p>
          <a:p>
            <a:endParaRPr lang="en-US" dirty="0"/>
          </a:p>
        </p:txBody>
      </p:sp>
    </p:spTree>
    <p:extLst>
      <p:ext uri="{BB962C8B-B14F-4D97-AF65-F5344CB8AC3E}">
        <p14:creationId xmlns:p14="http://schemas.microsoft.com/office/powerpoint/2010/main" val="3792562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F950B-86D7-4576-8889-A1D8B29B57FD}"/>
              </a:ext>
            </a:extLst>
          </p:cNvPr>
          <p:cNvSpPr>
            <a:spLocks noGrp="1"/>
          </p:cNvSpPr>
          <p:nvPr>
            <p:ph type="title"/>
          </p:nvPr>
        </p:nvSpPr>
        <p:spPr/>
        <p:txBody>
          <a:bodyPr/>
          <a:lstStyle/>
          <a:p>
            <a:r>
              <a:rPr lang="en-US" dirty="0"/>
              <a:t>VI.1. CÁC THÀNH PHẦN CỦA INTERNET</a:t>
            </a:r>
          </a:p>
        </p:txBody>
      </p:sp>
      <p:sp>
        <p:nvSpPr>
          <p:cNvPr id="3" name="Content Placeholder 2">
            <a:extLst>
              <a:ext uri="{FF2B5EF4-FFF2-40B4-BE49-F238E27FC236}">
                <a16:creationId xmlns:a16="http://schemas.microsoft.com/office/drawing/2014/main" id="{C3D1811C-29BC-4F9D-A7DC-803831B0438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41C9D38-9A81-4622-B4E5-77AECFD8F002}"/>
              </a:ext>
            </a:extLst>
          </p:cNvPr>
          <p:cNvPicPr>
            <a:picLocks noChangeAspect="1"/>
          </p:cNvPicPr>
          <p:nvPr/>
        </p:nvPicPr>
        <p:blipFill>
          <a:blip r:embed="rId2"/>
          <a:stretch>
            <a:fillRect/>
          </a:stretch>
        </p:blipFill>
        <p:spPr>
          <a:xfrm>
            <a:off x="2031771" y="1066800"/>
            <a:ext cx="8247656" cy="5079476"/>
          </a:xfrm>
          <a:prstGeom prst="rect">
            <a:avLst/>
          </a:prstGeom>
        </p:spPr>
      </p:pic>
    </p:spTree>
    <p:extLst>
      <p:ext uri="{BB962C8B-B14F-4D97-AF65-F5344CB8AC3E}">
        <p14:creationId xmlns:p14="http://schemas.microsoft.com/office/powerpoint/2010/main" val="1550142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AC60-C2D2-40BC-8078-EEBF2FB6F3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D64626-8420-484E-94AE-64663665171A}"/>
              </a:ext>
            </a:extLst>
          </p:cNvPr>
          <p:cNvSpPr>
            <a:spLocks noGrp="1"/>
          </p:cNvSpPr>
          <p:nvPr>
            <p:ph idx="1"/>
          </p:nvPr>
        </p:nvSpPr>
        <p:spPr/>
        <p:txBody>
          <a:bodyPr/>
          <a:lstStyle/>
          <a:p>
            <a:endParaRPr lang="en-US"/>
          </a:p>
        </p:txBody>
      </p:sp>
      <p:pic>
        <p:nvPicPr>
          <p:cNvPr id="15362" name="Picture 2" descr="Káº¿t quáº£ hÃ¬nh áº£nh cho dial up connection">
            <a:extLst>
              <a:ext uri="{FF2B5EF4-FFF2-40B4-BE49-F238E27FC236}">
                <a16:creationId xmlns:a16="http://schemas.microsoft.com/office/drawing/2014/main" id="{154A5CA0-AA62-4642-9271-7B7DCDABFF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812275"/>
            <a:ext cx="4746594" cy="3118701"/>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Káº¿t quáº£ hÃ¬nh áº£nh cho ADSL">
            <a:extLst>
              <a:ext uri="{FF2B5EF4-FFF2-40B4-BE49-F238E27FC236}">
                <a16:creationId xmlns:a16="http://schemas.microsoft.com/office/drawing/2014/main" id="{6802EED3-48D8-4E58-85EC-573EA26150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066800"/>
            <a:ext cx="4114800" cy="2505075"/>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Káº¿t quáº£ hÃ¬nh áº£nh cho Leased line connection">
            <a:extLst>
              <a:ext uri="{FF2B5EF4-FFF2-40B4-BE49-F238E27FC236}">
                <a16:creationId xmlns:a16="http://schemas.microsoft.com/office/drawing/2014/main" id="{4F79421E-9028-451B-A4A0-421DA034A7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1284" y="3571875"/>
            <a:ext cx="4746594" cy="2621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6810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pPr algn="just"/>
            <a:r>
              <a:rPr lang="en-US" dirty="0" err="1"/>
              <a:t>Các</a:t>
            </a:r>
            <a:r>
              <a:rPr lang="en-US" dirty="0"/>
              <a:t> </a:t>
            </a:r>
            <a:r>
              <a:rPr lang="en-US" dirty="0" err="1"/>
              <a:t>gói</a:t>
            </a:r>
            <a:r>
              <a:rPr lang="en-US" dirty="0"/>
              <a:t> tin </a:t>
            </a:r>
            <a:r>
              <a:rPr lang="en-US" dirty="0" err="1"/>
              <a:t>trong</a:t>
            </a:r>
            <a:r>
              <a:rPr lang="en-US" dirty="0"/>
              <a:t> internet đ</a:t>
            </a:r>
            <a:r>
              <a:rPr lang="vi-VN" dirty="0"/>
              <a:t>ư</a:t>
            </a:r>
            <a:r>
              <a:rPr lang="en-US" dirty="0" err="1"/>
              <a:t>ợc</a:t>
            </a:r>
            <a:r>
              <a:rPr lang="en-US" dirty="0"/>
              <a:t> </a:t>
            </a:r>
            <a:r>
              <a:rPr lang="en-US" dirty="0" err="1"/>
              <a:t>vận</a:t>
            </a:r>
            <a:r>
              <a:rPr lang="en-US" dirty="0"/>
              <a:t> </a:t>
            </a:r>
            <a:r>
              <a:rPr lang="en-US" dirty="0" err="1"/>
              <a:t>chuyển</a:t>
            </a:r>
            <a:r>
              <a:rPr lang="en-US" dirty="0"/>
              <a:t> </a:t>
            </a:r>
            <a:r>
              <a:rPr lang="en-US" dirty="0" err="1"/>
              <a:t>bằng</a:t>
            </a:r>
            <a:r>
              <a:rPr lang="en-US" dirty="0"/>
              <a:t> </a:t>
            </a:r>
            <a:r>
              <a:rPr lang="en-US" dirty="0" err="1"/>
              <a:t>mạng</a:t>
            </a:r>
            <a:r>
              <a:rPr lang="en-US" dirty="0"/>
              <a:t> </a:t>
            </a:r>
            <a:r>
              <a:rPr lang="en-US" dirty="0" err="1"/>
              <a:t>chuyển</a:t>
            </a:r>
            <a:r>
              <a:rPr lang="en-US" dirty="0"/>
              <a:t> </a:t>
            </a:r>
            <a:r>
              <a:rPr lang="en-US" dirty="0" err="1"/>
              <a:t>mạch</a:t>
            </a:r>
            <a:endParaRPr lang="en-US" dirty="0"/>
          </a:p>
          <a:p>
            <a:pPr algn="just"/>
            <a:r>
              <a:rPr lang="en-US" b="1" dirty="0" err="1"/>
              <a:t>Mạng</a:t>
            </a:r>
            <a:r>
              <a:rPr lang="en-US" b="1" dirty="0"/>
              <a:t> </a:t>
            </a:r>
            <a:r>
              <a:rPr lang="en-US" b="1" dirty="0" err="1"/>
              <a:t>chuyển</a:t>
            </a:r>
            <a:r>
              <a:rPr lang="en-US" b="1" dirty="0"/>
              <a:t> </a:t>
            </a:r>
            <a:r>
              <a:rPr lang="en-US" b="1" dirty="0" err="1"/>
              <a:t>mạch</a:t>
            </a:r>
            <a:r>
              <a:rPr lang="en-US" b="1" dirty="0"/>
              <a:t> :</a:t>
            </a:r>
          </a:p>
          <a:p>
            <a:pPr lvl="1" algn="just"/>
            <a:r>
              <a:rPr lang="en-US" sz="2800" dirty="0" err="1"/>
              <a:t>Mục</a:t>
            </a:r>
            <a:r>
              <a:rPr lang="en-US" sz="2800" dirty="0"/>
              <a:t> </a:t>
            </a:r>
            <a:r>
              <a:rPr lang="en-US" sz="2800" dirty="0" err="1"/>
              <a:t>đích</a:t>
            </a:r>
            <a:r>
              <a:rPr lang="en-US" sz="2800" dirty="0"/>
              <a:t> : </a:t>
            </a:r>
            <a:r>
              <a:rPr lang="en-US" sz="2800" dirty="0" err="1"/>
              <a:t>Thực</a:t>
            </a:r>
            <a:r>
              <a:rPr lang="en-US" sz="2800" dirty="0"/>
              <a:t> </a:t>
            </a:r>
            <a:r>
              <a:rPr lang="en-US" sz="2800" dirty="0" err="1"/>
              <a:t>hiện</a:t>
            </a:r>
            <a:r>
              <a:rPr lang="en-US" sz="2800" dirty="0"/>
              <a:t> </a:t>
            </a:r>
            <a:r>
              <a:rPr lang="en-US" sz="2800" dirty="0" err="1"/>
              <a:t>việc</a:t>
            </a:r>
            <a:r>
              <a:rPr lang="en-US" sz="2800" dirty="0"/>
              <a:t> </a:t>
            </a:r>
            <a:r>
              <a:rPr lang="en-US" sz="2800" dirty="0" err="1"/>
              <a:t>liên</a:t>
            </a:r>
            <a:r>
              <a:rPr lang="en-US" sz="2800" dirty="0"/>
              <a:t> </a:t>
            </a:r>
            <a:r>
              <a:rPr lang="en-US" sz="2800" dirty="0" err="1"/>
              <a:t>kết</a:t>
            </a:r>
            <a:r>
              <a:rPr lang="en-US" sz="2800" dirty="0"/>
              <a:t> </a:t>
            </a:r>
            <a:r>
              <a:rPr lang="en-US" sz="2800" dirty="0" err="1"/>
              <a:t>giữa</a:t>
            </a:r>
            <a:r>
              <a:rPr lang="en-US" sz="2800" dirty="0"/>
              <a:t> </a:t>
            </a:r>
            <a:r>
              <a:rPr lang="en-US" sz="2800" dirty="0" err="1"/>
              <a:t>hai</a:t>
            </a:r>
            <a:r>
              <a:rPr lang="en-US" sz="2800" dirty="0"/>
              <a:t> </a:t>
            </a:r>
            <a:r>
              <a:rPr lang="en-US" sz="2800" dirty="0" err="1"/>
              <a:t>điểm</a:t>
            </a:r>
            <a:r>
              <a:rPr lang="en-US" sz="2800" dirty="0"/>
              <a:t> </a:t>
            </a:r>
            <a:r>
              <a:rPr lang="en-US" sz="2800" dirty="0" err="1"/>
              <a:t>nút</a:t>
            </a:r>
            <a:r>
              <a:rPr lang="en-US" sz="2800" dirty="0"/>
              <a:t> </a:t>
            </a:r>
            <a:r>
              <a:rPr lang="en-US" sz="2800" dirty="0" err="1"/>
              <a:t>bằng</a:t>
            </a:r>
            <a:r>
              <a:rPr lang="en-US" sz="2800" dirty="0"/>
              <a:t> </a:t>
            </a:r>
            <a:r>
              <a:rPr lang="en-US" sz="2800" dirty="0" err="1"/>
              <a:t>một</a:t>
            </a:r>
            <a:r>
              <a:rPr lang="en-US" sz="2800" dirty="0"/>
              <a:t> </a:t>
            </a:r>
            <a:r>
              <a:rPr lang="en-US" sz="2800" dirty="0" err="1"/>
              <a:t>đường</a:t>
            </a:r>
            <a:r>
              <a:rPr lang="en-US" sz="2800" dirty="0"/>
              <a:t> </a:t>
            </a:r>
            <a:r>
              <a:rPr lang="en-US" sz="2800" dirty="0" err="1"/>
              <a:t>tạm</a:t>
            </a:r>
            <a:r>
              <a:rPr lang="en-US" sz="2800" dirty="0"/>
              <a:t> </a:t>
            </a:r>
            <a:r>
              <a:rPr lang="en-US" sz="2800" dirty="0" err="1"/>
              <a:t>thời</a:t>
            </a:r>
            <a:r>
              <a:rPr lang="en-US" sz="2800" dirty="0"/>
              <a:t> </a:t>
            </a:r>
            <a:r>
              <a:rPr lang="en-US" sz="2800" dirty="0" err="1"/>
              <a:t>hoặc</a:t>
            </a:r>
            <a:r>
              <a:rPr lang="en-US" sz="2800" dirty="0"/>
              <a:t> </a:t>
            </a:r>
            <a:r>
              <a:rPr lang="en-US" sz="2800" dirty="0" err="1"/>
              <a:t>dành</a:t>
            </a:r>
            <a:r>
              <a:rPr lang="en-US" sz="2800" dirty="0"/>
              <a:t> </a:t>
            </a:r>
            <a:r>
              <a:rPr lang="en-US" sz="2800" dirty="0" err="1"/>
              <a:t>riêng</a:t>
            </a:r>
            <a:r>
              <a:rPr lang="en-US" sz="2800" dirty="0"/>
              <a:t> </a:t>
            </a:r>
            <a:r>
              <a:rPr lang="en-US" sz="2800" dirty="0" err="1"/>
              <a:t>phục</a:t>
            </a:r>
            <a:r>
              <a:rPr lang="en-US" sz="2800" dirty="0"/>
              <a:t> </a:t>
            </a:r>
            <a:r>
              <a:rPr lang="en-US" sz="2800" dirty="0" err="1"/>
              <a:t>vụ</a:t>
            </a:r>
            <a:r>
              <a:rPr lang="en-US" sz="2800" dirty="0"/>
              <a:t> </a:t>
            </a:r>
            <a:r>
              <a:rPr lang="en-US" sz="2800" dirty="0" err="1"/>
              <a:t>cho</a:t>
            </a:r>
            <a:r>
              <a:rPr lang="en-US" sz="2800" dirty="0"/>
              <a:t> </a:t>
            </a:r>
            <a:r>
              <a:rPr lang="en-US" sz="2800" dirty="0" err="1"/>
              <a:t>việc</a:t>
            </a:r>
            <a:r>
              <a:rPr lang="en-US" sz="2800" dirty="0"/>
              <a:t> </a:t>
            </a:r>
            <a:r>
              <a:rPr lang="en-US" sz="2800" dirty="0" err="1"/>
              <a:t>thiết</a:t>
            </a:r>
            <a:r>
              <a:rPr lang="en-US" sz="2800" dirty="0"/>
              <a:t> </a:t>
            </a:r>
            <a:r>
              <a:rPr lang="en-US" sz="2800" dirty="0" err="1"/>
              <a:t>lập</a:t>
            </a:r>
            <a:r>
              <a:rPr lang="en-US" sz="2800" dirty="0"/>
              <a:t> </a:t>
            </a:r>
            <a:r>
              <a:rPr lang="en-US" sz="2800" dirty="0" err="1"/>
              <a:t>kết</a:t>
            </a:r>
            <a:r>
              <a:rPr lang="en-US" sz="2800" dirty="0"/>
              <a:t> </a:t>
            </a:r>
            <a:r>
              <a:rPr lang="en-US" sz="2800" dirty="0" err="1"/>
              <a:t>nối</a:t>
            </a:r>
            <a:r>
              <a:rPr lang="en-US" sz="2800" dirty="0"/>
              <a:t>.</a:t>
            </a:r>
          </a:p>
          <a:p>
            <a:pPr lvl="1" algn="just"/>
            <a:r>
              <a:rPr lang="en-US" sz="2800" dirty="0" err="1"/>
              <a:t>Chuyển</a:t>
            </a:r>
            <a:r>
              <a:rPr lang="en-US" sz="2800" dirty="0"/>
              <a:t> </a:t>
            </a:r>
            <a:r>
              <a:rPr lang="en-US" sz="2800" dirty="0" err="1"/>
              <a:t>mạch</a:t>
            </a:r>
            <a:r>
              <a:rPr lang="en-US" sz="2800" dirty="0"/>
              <a:t> </a:t>
            </a:r>
            <a:r>
              <a:rPr lang="en-US" sz="2800" dirty="0" err="1"/>
              <a:t>được</a:t>
            </a:r>
            <a:r>
              <a:rPr lang="en-US" sz="2800" dirty="0"/>
              <a:t> </a:t>
            </a:r>
            <a:r>
              <a:rPr lang="en-US" sz="2800" dirty="0" err="1"/>
              <a:t>thực</a:t>
            </a:r>
            <a:r>
              <a:rPr lang="en-US" sz="2800" dirty="0"/>
              <a:t> </a:t>
            </a:r>
            <a:r>
              <a:rPr lang="en-US" sz="2800" dirty="0" err="1"/>
              <a:t>hiện</a:t>
            </a:r>
            <a:r>
              <a:rPr lang="en-US" sz="2800" dirty="0"/>
              <a:t> </a:t>
            </a:r>
            <a:r>
              <a:rPr lang="en-US" sz="2800" dirty="0" err="1"/>
              <a:t>bởi</a:t>
            </a:r>
            <a:r>
              <a:rPr lang="en-US" sz="2800" dirty="0"/>
              <a:t> </a:t>
            </a:r>
            <a:r>
              <a:rPr lang="en-US" sz="2800" dirty="0" err="1"/>
              <a:t>các</a:t>
            </a:r>
            <a:r>
              <a:rPr lang="en-US" sz="2800" dirty="0"/>
              <a:t> </a:t>
            </a:r>
            <a:r>
              <a:rPr lang="en-US" sz="2800" dirty="0" err="1"/>
              <a:t>thiết</a:t>
            </a:r>
            <a:r>
              <a:rPr lang="en-US" sz="2800" dirty="0"/>
              <a:t> </a:t>
            </a:r>
            <a:r>
              <a:rPr lang="en-US" sz="2800" dirty="0" err="1"/>
              <a:t>bị</a:t>
            </a:r>
            <a:r>
              <a:rPr lang="en-US" sz="2800" dirty="0"/>
              <a:t> </a:t>
            </a:r>
            <a:r>
              <a:rPr lang="en-US" sz="2800" dirty="0" err="1"/>
              <a:t>chuyển</a:t>
            </a:r>
            <a:r>
              <a:rPr lang="en-US" sz="2800" dirty="0"/>
              <a:t> </a:t>
            </a:r>
            <a:r>
              <a:rPr lang="en-US" sz="2800" dirty="0" err="1"/>
              <a:t>mạch</a:t>
            </a:r>
            <a:r>
              <a:rPr lang="en-US" sz="2800" dirty="0"/>
              <a:t> </a:t>
            </a:r>
            <a:r>
              <a:rPr lang="en-US" sz="2800" dirty="0" err="1"/>
              <a:t>trong</a:t>
            </a:r>
            <a:r>
              <a:rPr lang="en-US" sz="2800" dirty="0"/>
              <a:t> </a:t>
            </a:r>
            <a:r>
              <a:rPr lang="en-US" sz="2800" dirty="0" err="1"/>
              <a:t>mạng</a:t>
            </a:r>
            <a:endParaRPr lang="en-US" sz="2800" dirty="0"/>
          </a:p>
          <a:p>
            <a:pPr lvl="1" algn="just"/>
            <a:r>
              <a:rPr lang="en-US" sz="2800" dirty="0" err="1"/>
              <a:t>Phân</a:t>
            </a:r>
            <a:r>
              <a:rPr lang="en-US" sz="2800" dirty="0"/>
              <a:t> </a:t>
            </a:r>
            <a:r>
              <a:rPr lang="en-US" sz="2800" dirty="0" err="1"/>
              <a:t>loại</a:t>
            </a:r>
            <a:r>
              <a:rPr lang="en-US" sz="2800" dirty="0"/>
              <a:t> :</a:t>
            </a:r>
          </a:p>
          <a:p>
            <a:pPr lvl="2" algn="just"/>
            <a:r>
              <a:rPr lang="en-US" dirty="0" err="1"/>
              <a:t>Chuyển</a:t>
            </a:r>
            <a:r>
              <a:rPr lang="en-US" dirty="0"/>
              <a:t> </a:t>
            </a:r>
            <a:r>
              <a:rPr lang="en-US" dirty="0" err="1"/>
              <a:t>mạch</a:t>
            </a:r>
            <a:r>
              <a:rPr lang="en-US" dirty="0"/>
              <a:t> </a:t>
            </a:r>
            <a:r>
              <a:rPr lang="en-US" dirty="0" err="1"/>
              <a:t>kênh</a:t>
            </a:r>
            <a:endParaRPr lang="en-US" dirty="0"/>
          </a:p>
          <a:p>
            <a:pPr lvl="2" algn="just"/>
            <a:r>
              <a:rPr lang="en-US" dirty="0" err="1"/>
              <a:t>Chuyển</a:t>
            </a:r>
            <a:r>
              <a:rPr lang="en-US" dirty="0"/>
              <a:t> </a:t>
            </a:r>
            <a:r>
              <a:rPr lang="en-US" dirty="0" err="1"/>
              <a:t>mạch</a:t>
            </a:r>
            <a:r>
              <a:rPr lang="en-US" dirty="0"/>
              <a:t> </a:t>
            </a:r>
            <a:r>
              <a:rPr lang="en-US" dirty="0" err="1"/>
              <a:t>gói</a:t>
            </a:r>
            <a:endParaRPr lang="en-US" dirty="0"/>
          </a:p>
          <a:p>
            <a:pPr algn="just"/>
            <a:endParaRPr lang="en-US" dirty="0"/>
          </a:p>
        </p:txBody>
      </p:sp>
    </p:spTree>
    <p:extLst>
      <p:ext uri="{BB962C8B-B14F-4D97-AF65-F5344CB8AC3E}">
        <p14:creationId xmlns:p14="http://schemas.microsoft.com/office/powerpoint/2010/main" val="1041183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r>
              <a:rPr lang="en-US" dirty="0" err="1"/>
              <a:t>Chuyển</a:t>
            </a:r>
            <a:r>
              <a:rPr lang="en-US" dirty="0"/>
              <a:t> </a:t>
            </a:r>
            <a:r>
              <a:rPr lang="en-US" dirty="0" err="1"/>
              <a:t>mạch</a:t>
            </a:r>
            <a:r>
              <a:rPr lang="en-US" dirty="0"/>
              <a:t> </a:t>
            </a:r>
            <a:r>
              <a:rPr lang="en-US" dirty="0" err="1"/>
              <a:t>kênh</a:t>
            </a:r>
            <a:r>
              <a:rPr lang="en-US" dirty="0"/>
              <a:t> :</a:t>
            </a:r>
          </a:p>
          <a:p>
            <a:pPr lvl="1"/>
            <a:r>
              <a:rPr lang="en-US" sz="3200" dirty="0" err="1"/>
              <a:t>Nguyên</a:t>
            </a:r>
            <a:r>
              <a:rPr lang="en-US" sz="3200" dirty="0"/>
              <a:t> </a:t>
            </a:r>
            <a:r>
              <a:rPr lang="en-US" sz="3200" dirty="0" err="1"/>
              <a:t>tắc</a:t>
            </a:r>
            <a:r>
              <a:rPr lang="en-US" sz="3200" dirty="0"/>
              <a:t> </a:t>
            </a:r>
            <a:r>
              <a:rPr lang="en-US" sz="3200" dirty="0" err="1"/>
              <a:t>hoạt</a:t>
            </a:r>
            <a:r>
              <a:rPr lang="en-US" sz="3200" dirty="0"/>
              <a:t> </a:t>
            </a:r>
            <a:r>
              <a:rPr lang="en-US" sz="3200" dirty="0" err="1"/>
              <a:t>động</a:t>
            </a:r>
            <a:r>
              <a:rPr lang="en-US" sz="3200" dirty="0"/>
              <a:t> : </a:t>
            </a:r>
            <a:r>
              <a:rPr lang="en-US" sz="3200" dirty="0" err="1"/>
              <a:t>Kết</a:t>
            </a:r>
            <a:r>
              <a:rPr lang="en-US" sz="3200" dirty="0"/>
              <a:t> </a:t>
            </a:r>
            <a:r>
              <a:rPr lang="en-US" sz="3200" dirty="0" err="1"/>
              <a:t>nối</a:t>
            </a:r>
            <a:r>
              <a:rPr lang="en-US" sz="3200" dirty="0"/>
              <a:t> </a:t>
            </a:r>
            <a:r>
              <a:rPr lang="en-US" sz="3200" dirty="0" err="1"/>
              <a:t>được</a:t>
            </a:r>
            <a:r>
              <a:rPr lang="en-US" sz="3200" dirty="0"/>
              <a:t> </a:t>
            </a:r>
            <a:r>
              <a:rPr lang="en-US" sz="3200" dirty="0" err="1"/>
              <a:t>thiết</a:t>
            </a:r>
            <a:r>
              <a:rPr lang="en-US" sz="3200" dirty="0"/>
              <a:t> </a:t>
            </a:r>
            <a:r>
              <a:rPr lang="en-US" sz="3200" dirty="0" err="1"/>
              <a:t>lập</a:t>
            </a:r>
            <a:r>
              <a:rPr lang="en-US" sz="3200" dirty="0"/>
              <a:t> </a:t>
            </a:r>
            <a:r>
              <a:rPr lang="en-US" sz="3200" dirty="0" err="1"/>
              <a:t>giữa</a:t>
            </a:r>
            <a:r>
              <a:rPr lang="en-US" sz="3200" dirty="0"/>
              <a:t> 2 node </a:t>
            </a:r>
            <a:r>
              <a:rPr lang="en-US" sz="3200" dirty="0" err="1"/>
              <a:t>mạng</a:t>
            </a:r>
            <a:r>
              <a:rPr lang="en-US" sz="3200" dirty="0"/>
              <a:t> </a:t>
            </a:r>
            <a:r>
              <a:rPr lang="en-US" sz="3200" dirty="0" err="1"/>
              <a:t>trước</a:t>
            </a:r>
            <a:r>
              <a:rPr lang="en-US" sz="3200" dirty="0"/>
              <a:t> </a:t>
            </a:r>
            <a:r>
              <a:rPr lang="en-US" sz="3200" dirty="0" err="1"/>
              <a:t>khi</a:t>
            </a:r>
            <a:r>
              <a:rPr lang="en-US" sz="3200" dirty="0"/>
              <a:t> </a:t>
            </a:r>
            <a:r>
              <a:rPr lang="en-US" sz="3200" dirty="0" err="1"/>
              <a:t>bắt</a:t>
            </a:r>
            <a:r>
              <a:rPr lang="en-US" sz="3200" dirty="0"/>
              <a:t> </a:t>
            </a:r>
            <a:r>
              <a:rPr lang="en-US" sz="3200" dirty="0" err="1"/>
              <a:t>đầu</a:t>
            </a:r>
            <a:r>
              <a:rPr lang="en-US" sz="3200" dirty="0"/>
              <a:t> </a:t>
            </a:r>
            <a:r>
              <a:rPr lang="en-US" sz="3200" dirty="0" err="1"/>
              <a:t>truyền</a:t>
            </a:r>
            <a:r>
              <a:rPr lang="en-US" sz="3200" dirty="0"/>
              <a:t> </a:t>
            </a:r>
            <a:r>
              <a:rPr lang="en-US" sz="3200" dirty="0" err="1"/>
              <a:t>dữ</a:t>
            </a:r>
            <a:r>
              <a:rPr lang="en-US" sz="3200" dirty="0"/>
              <a:t> </a:t>
            </a:r>
            <a:r>
              <a:rPr lang="en-US" sz="3200" dirty="0" err="1"/>
              <a:t>liệu</a:t>
            </a:r>
            <a:endParaRPr lang="en-US" sz="3200" dirty="0"/>
          </a:p>
          <a:p>
            <a:endParaRPr lang="en-US" dirty="0"/>
          </a:p>
        </p:txBody>
      </p:sp>
      <p:graphicFrame>
        <p:nvGraphicFramePr>
          <p:cNvPr id="4" name="Object 3"/>
          <p:cNvGraphicFramePr>
            <a:graphicFrameLocks noChangeAspect="1"/>
          </p:cNvGraphicFramePr>
          <p:nvPr/>
        </p:nvGraphicFramePr>
        <p:xfrm>
          <a:off x="4114800" y="3048000"/>
          <a:ext cx="4683842" cy="2819400"/>
        </p:xfrm>
        <a:graphic>
          <a:graphicData uri="http://schemas.openxmlformats.org/presentationml/2006/ole">
            <mc:AlternateContent xmlns:mc="http://schemas.openxmlformats.org/markup-compatibility/2006">
              <mc:Choice xmlns:v="urn:schemas-microsoft-com:vml" Requires="v">
                <p:oleObj name="Bitmap Image" r:id="rId2" imgW="4277322" imgH="3104762" progId="PBrush">
                  <p:embed/>
                </p:oleObj>
              </mc:Choice>
              <mc:Fallback>
                <p:oleObj name="Bitmap Image" r:id="rId2" imgW="4277322" imgH="3104762" progId="PBrush">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048000"/>
                        <a:ext cx="4683842" cy="28194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87304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r>
              <a:rPr lang="en-US" dirty="0" err="1"/>
              <a:t>Chuyển</a:t>
            </a:r>
            <a:r>
              <a:rPr lang="en-US" dirty="0"/>
              <a:t> </a:t>
            </a:r>
            <a:r>
              <a:rPr lang="en-US" dirty="0" err="1"/>
              <a:t>mạch</a:t>
            </a:r>
            <a:r>
              <a:rPr lang="en-US" dirty="0"/>
              <a:t> </a:t>
            </a:r>
            <a:r>
              <a:rPr lang="en-US" dirty="0" err="1"/>
              <a:t>kênh</a:t>
            </a:r>
            <a:r>
              <a:rPr lang="en-US" dirty="0"/>
              <a:t> :</a:t>
            </a:r>
          </a:p>
          <a:p>
            <a:pPr lvl="1"/>
            <a:r>
              <a:rPr lang="en-US" sz="3200" dirty="0" err="1"/>
              <a:t>Phân</a:t>
            </a:r>
            <a:r>
              <a:rPr lang="en-US" sz="3200" dirty="0"/>
              <a:t> </a:t>
            </a:r>
            <a:r>
              <a:rPr lang="en-US" sz="3200" dirty="0" err="1"/>
              <a:t>loại</a:t>
            </a:r>
            <a:r>
              <a:rPr lang="en-US" sz="3200" dirty="0"/>
              <a:t> :</a:t>
            </a:r>
          </a:p>
          <a:p>
            <a:pPr lvl="2"/>
            <a:r>
              <a:rPr lang="en-US" sz="3200" dirty="0" err="1"/>
              <a:t>Chuyển</a:t>
            </a:r>
            <a:r>
              <a:rPr lang="en-US" sz="3200" dirty="0"/>
              <a:t> </a:t>
            </a:r>
            <a:r>
              <a:rPr lang="en-US" sz="3200" dirty="0" err="1"/>
              <a:t>mạch</a:t>
            </a:r>
            <a:r>
              <a:rPr lang="en-US" sz="3200" dirty="0"/>
              <a:t> </a:t>
            </a:r>
            <a:r>
              <a:rPr lang="en-US" sz="3200" dirty="0" err="1"/>
              <a:t>tương</a:t>
            </a:r>
            <a:r>
              <a:rPr lang="en-US" sz="3200" dirty="0"/>
              <a:t> </a:t>
            </a:r>
            <a:r>
              <a:rPr lang="en-US" sz="3200" dirty="0" err="1"/>
              <a:t>tự</a:t>
            </a:r>
            <a:r>
              <a:rPr lang="en-US" sz="3200" dirty="0"/>
              <a:t> - analog </a:t>
            </a:r>
          </a:p>
          <a:p>
            <a:pPr lvl="2"/>
            <a:r>
              <a:rPr lang="en-US" sz="3200" dirty="0" err="1"/>
              <a:t>Chuyển</a:t>
            </a:r>
            <a:r>
              <a:rPr lang="en-US" sz="3200" dirty="0"/>
              <a:t> </a:t>
            </a:r>
            <a:r>
              <a:rPr lang="en-US" sz="3200" dirty="0" err="1"/>
              <a:t>mạch</a:t>
            </a:r>
            <a:r>
              <a:rPr lang="en-US" sz="3200" dirty="0"/>
              <a:t> </a:t>
            </a:r>
            <a:r>
              <a:rPr lang="en-US" sz="3200" dirty="0" err="1"/>
              <a:t>số</a:t>
            </a:r>
            <a:r>
              <a:rPr lang="en-US" sz="3200" dirty="0"/>
              <a:t> - digital :</a:t>
            </a:r>
          </a:p>
          <a:p>
            <a:pPr lvl="3"/>
            <a:r>
              <a:rPr lang="en-US" sz="3200" dirty="0"/>
              <a:t>ISDN</a:t>
            </a:r>
          </a:p>
          <a:p>
            <a:pPr lvl="3"/>
            <a:r>
              <a:rPr lang="en-US" sz="3200" dirty="0" err="1"/>
              <a:t>Kênh</a:t>
            </a:r>
            <a:r>
              <a:rPr lang="en-US" sz="3200" dirty="0"/>
              <a:t> </a:t>
            </a:r>
            <a:r>
              <a:rPr lang="en-US" sz="3200" dirty="0" err="1"/>
              <a:t>thuê</a:t>
            </a:r>
            <a:r>
              <a:rPr lang="en-US" sz="3200" dirty="0"/>
              <a:t> </a:t>
            </a:r>
            <a:r>
              <a:rPr lang="en-US" sz="3200" dirty="0" err="1"/>
              <a:t>riêng</a:t>
            </a:r>
            <a:r>
              <a:rPr lang="en-US" sz="3200" dirty="0"/>
              <a:t> – Leased Line </a:t>
            </a:r>
          </a:p>
          <a:p>
            <a:pPr lvl="3"/>
            <a:r>
              <a:rPr lang="en-US" sz="3200" dirty="0" err="1"/>
              <a:t>xDSL</a:t>
            </a:r>
            <a:endParaRPr lang="en-US" sz="3200" dirty="0"/>
          </a:p>
          <a:p>
            <a:endParaRPr lang="en-US" dirty="0"/>
          </a:p>
        </p:txBody>
      </p:sp>
    </p:spTree>
    <p:extLst>
      <p:ext uri="{BB962C8B-B14F-4D97-AF65-F5344CB8AC3E}">
        <p14:creationId xmlns:p14="http://schemas.microsoft.com/office/powerpoint/2010/main" val="3939662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r>
              <a:rPr lang="en-US" dirty="0" err="1"/>
              <a:t>Chuyển</a:t>
            </a:r>
            <a:r>
              <a:rPr lang="en-US" dirty="0"/>
              <a:t> </a:t>
            </a:r>
            <a:r>
              <a:rPr lang="en-US" dirty="0" err="1"/>
              <a:t>mạch</a:t>
            </a:r>
            <a:r>
              <a:rPr lang="en-US" dirty="0"/>
              <a:t> </a:t>
            </a:r>
            <a:r>
              <a:rPr lang="en-US" dirty="0" err="1"/>
              <a:t>tương</a:t>
            </a:r>
            <a:r>
              <a:rPr lang="en-US" dirty="0"/>
              <a:t> </a:t>
            </a:r>
            <a:r>
              <a:rPr lang="en-US" dirty="0" err="1"/>
              <a:t>tự</a:t>
            </a:r>
            <a:r>
              <a:rPr lang="en-US" dirty="0"/>
              <a:t> - analog :</a:t>
            </a:r>
          </a:p>
          <a:p>
            <a:pPr lvl="1"/>
            <a:r>
              <a:rPr lang="en-US" sz="3200" dirty="0" err="1"/>
              <a:t>Được</a:t>
            </a:r>
            <a:r>
              <a:rPr lang="en-US" sz="3200" dirty="0"/>
              <a:t> </a:t>
            </a:r>
            <a:r>
              <a:rPr lang="en-US" sz="3200" dirty="0" err="1"/>
              <a:t>thực</a:t>
            </a:r>
            <a:r>
              <a:rPr lang="en-US" sz="3200" dirty="0"/>
              <a:t> </a:t>
            </a:r>
            <a:r>
              <a:rPr lang="en-US" sz="3200" dirty="0" err="1"/>
              <a:t>hiện</a:t>
            </a:r>
            <a:r>
              <a:rPr lang="en-US" sz="3200" dirty="0"/>
              <a:t> qua </a:t>
            </a:r>
            <a:r>
              <a:rPr lang="en-US" sz="3200" dirty="0" err="1"/>
              <a:t>mạng</a:t>
            </a:r>
            <a:r>
              <a:rPr lang="en-US" sz="3200" dirty="0"/>
              <a:t> </a:t>
            </a:r>
            <a:r>
              <a:rPr lang="en-US" sz="3200" dirty="0" err="1"/>
              <a:t>điện</a:t>
            </a:r>
            <a:r>
              <a:rPr lang="en-US" sz="3200" dirty="0"/>
              <a:t> </a:t>
            </a:r>
            <a:r>
              <a:rPr lang="en-US" sz="3200" dirty="0" err="1"/>
              <a:t>thoại</a:t>
            </a:r>
            <a:endParaRPr lang="en-US" sz="3200" dirty="0"/>
          </a:p>
          <a:p>
            <a:pPr lvl="1"/>
            <a:r>
              <a:rPr lang="en-US" sz="3200" dirty="0" err="1"/>
              <a:t>Dùng</a:t>
            </a:r>
            <a:r>
              <a:rPr lang="en-US" sz="3200" dirty="0"/>
              <a:t> modem </a:t>
            </a:r>
            <a:r>
              <a:rPr lang="en-US" sz="3200" dirty="0" err="1"/>
              <a:t>để</a:t>
            </a:r>
            <a:r>
              <a:rPr lang="en-US" sz="3200" dirty="0"/>
              <a:t> </a:t>
            </a:r>
            <a:r>
              <a:rPr lang="en-US" sz="3200" dirty="0" err="1"/>
              <a:t>chuyển</a:t>
            </a:r>
            <a:r>
              <a:rPr lang="en-US" sz="3200" dirty="0"/>
              <a:t> </a:t>
            </a:r>
            <a:r>
              <a:rPr lang="en-US" sz="3200" dirty="0" err="1"/>
              <a:t>các</a:t>
            </a:r>
            <a:r>
              <a:rPr lang="en-US" sz="3200" dirty="0"/>
              <a:t> </a:t>
            </a:r>
            <a:r>
              <a:rPr lang="en-US" sz="3200" dirty="0" err="1"/>
              <a:t>tín</a:t>
            </a:r>
            <a:r>
              <a:rPr lang="en-US" sz="3200" dirty="0"/>
              <a:t> </a:t>
            </a:r>
            <a:r>
              <a:rPr lang="en-US" sz="3200" dirty="0" err="1"/>
              <a:t>hiệu</a:t>
            </a:r>
            <a:r>
              <a:rPr lang="en-US" sz="3200" dirty="0"/>
              <a:t> </a:t>
            </a:r>
            <a:r>
              <a:rPr lang="en-US" sz="3200" dirty="0" err="1"/>
              <a:t>số</a:t>
            </a:r>
            <a:r>
              <a:rPr lang="en-US" sz="3200" dirty="0"/>
              <a:t> </a:t>
            </a:r>
            <a:r>
              <a:rPr lang="en-US" sz="3200" dirty="0" err="1"/>
              <a:t>từ</a:t>
            </a:r>
            <a:r>
              <a:rPr lang="en-US" sz="3200" dirty="0"/>
              <a:t> </a:t>
            </a:r>
            <a:r>
              <a:rPr lang="en-US" sz="3200" dirty="0" err="1"/>
              <a:t>máy</a:t>
            </a:r>
            <a:r>
              <a:rPr lang="en-US" sz="3200" dirty="0"/>
              <a:t> </a:t>
            </a:r>
            <a:r>
              <a:rPr lang="en-US" sz="3200" dirty="0" err="1"/>
              <a:t>tính</a:t>
            </a:r>
            <a:r>
              <a:rPr lang="en-US" sz="3200" dirty="0"/>
              <a:t> </a:t>
            </a:r>
            <a:r>
              <a:rPr lang="en-US" sz="3200" dirty="0" err="1"/>
              <a:t>thành</a:t>
            </a:r>
            <a:r>
              <a:rPr lang="en-US" sz="3200" dirty="0"/>
              <a:t> </a:t>
            </a:r>
            <a:r>
              <a:rPr lang="en-US" sz="3200" dirty="0" err="1"/>
              <a:t>tín</a:t>
            </a:r>
            <a:r>
              <a:rPr lang="en-US" sz="3200" dirty="0"/>
              <a:t> </a:t>
            </a:r>
            <a:r>
              <a:rPr lang="en-US" sz="3200" dirty="0" err="1"/>
              <a:t>hiệu</a:t>
            </a:r>
            <a:r>
              <a:rPr lang="en-US" sz="3200" dirty="0"/>
              <a:t> </a:t>
            </a:r>
            <a:r>
              <a:rPr lang="en-US" sz="3200" dirty="0" err="1"/>
              <a:t>tương</a:t>
            </a:r>
            <a:r>
              <a:rPr lang="en-US" sz="3200" dirty="0"/>
              <a:t> </a:t>
            </a:r>
            <a:r>
              <a:rPr lang="en-US" sz="3200" dirty="0" err="1"/>
              <a:t>tự</a:t>
            </a:r>
            <a:r>
              <a:rPr lang="en-US" sz="3200" dirty="0"/>
              <a:t>  </a:t>
            </a:r>
            <a:r>
              <a:rPr lang="en-US" sz="3200" dirty="0" err="1"/>
              <a:t>truyền</a:t>
            </a:r>
            <a:r>
              <a:rPr lang="en-US" sz="3200" dirty="0"/>
              <a:t> </a:t>
            </a:r>
            <a:r>
              <a:rPr lang="en-US" sz="3200" dirty="0" err="1"/>
              <a:t>trên</a:t>
            </a:r>
            <a:r>
              <a:rPr lang="en-US" sz="3200" dirty="0"/>
              <a:t> </a:t>
            </a:r>
            <a:r>
              <a:rPr lang="en-US" sz="3200" dirty="0" err="1"/>
              <a:t>các</a:t>
            </a:r>
            <a:r>
              <a:rPr lang="en-US" sz="3200" dirty="0"/>
              <a:t> </a:t>
            </a:r>
            <a:r>
              <a:rPr lang="en-US" sz="3200" dirty="0" err="1"/>
              <a:t>kênh</a:t>
            </a:r>
            <a:r>
              <a:rPr lang="en-US" sz="3200" dirty="0"/>
              <a:t> </a:t>
            </a:r>
            <a:r>
              <a:rPr lang="en-US" sz="3200" dirty="0" err="1"/>
              <a:t>điện</a:t>
            </a:r>
            <a:r>
              <a:rPr lang="en-US" sz="3200" dirty="0"/>
              <a:t> </a:t>
            </a:r>
            <a:r>
              <a:rPr lang="en-US" sz="3200" dirty="0" err="1"/>
              <a:t>thoại</a:t>
            </a:r>
            <a:r>
              <a:rPr lang="en-US" sz="3200" dirty="0"/>
              <a:t> -&gt; </a:t>
            </a:r>
            <a:r>
              <a:rPr lang="en-US" sz="3200" dirty="0" err="1"/>
              <a:t>kết</a:t>
            </a:r>
            <a:r>
              <a:rPr lang="en-US" sz="3200" dirty="0"/>
              <a:t> </a:t>
            </a:r>
            <a:r>
              <a:rPr lang="en-US" sz="3200" dirty="0" err="1"/>
              <a:t>nối</a:t>
            </a:r>
            <a:r>
              <a:rPr lang="en-US" sz="3200" dirty="0"/>
              <a:t> quay </a:t>
            </a:r>
            <a:r>
              <a:rPr lang="en-US" sz="3200" dirty="0" err="1"/>
              <a:t>số</a:t>
            </a:r>
            <a:r>
              <a:rPr lang="en-US" sz="3200" dirty="0"/>
              <a:t> (dial up)</a:t>
            </a:r>
          </a:p>
          <a:p>
            <a:endParaRPr lang="en-US" dirty="0"/>
          </a:p>
        </p:txBody>
      </p:sp>
      <p:graphicFrame>
        <p:nvGraphicFramePr>
          <p:cNvPr id="4" name="Object 3"/>
          <p:cNvGraphicFramePr>
            <a:graphicFrameLocks noChangeAspect="1"/>
          </p:cNvGraphicFramePr>
          <p:nvPr/>
        </p:nvGraphicFramePr>
        <p:xfrm>
          <a:off x="3962401" y="4114800"/>
          <a:ext cx="4532313" cy="2019300"/>
        </p:xfrm>
        <a:graphic>
          <a:graphicData uri="http://schemas.openxmlformats.org/presentationml/2006/ole">
            <mc:AlternateContent xmlns:mc="http://schemas.openxmlformats.org/markup-compatibility/2006">
              <mc:Choice xmlns:v="urn:schemas-microsoft-com:vml" Requires="v">
                <p:oleObj name="Bitmap Image" r:id="rId2" imgW="6609524" imgH="3115110" progId="PBrush">
                  <p:embed/>
                </p:oleObj>
              </mc:Choice>
              <mc:Fallback>
                <p:oleObj name="Bitmap Image" r:id="rId2" imgW="6609524" imgH="3115110" progId="PBrush">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1" y="4114800"/>
                        <a:ext cx="4532313"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16131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r>
              <a:rPr lang="en-US" dirty="0" err="1"/>
              <a:t>Chuyển</a:t>
            </a:r>
            <a:r>
              <a:rPr lang="en-US" dirty="0"/>
              <a:t> </a:t>
            </a:r>
            <a:r>
              <a:rPr lang="en-US" dirty="0" err="1"/>
              <a:t>mạch</a:t>
            </a:r>
            <a:r>
              <a:rPr lang="en-US" dirty="0"/>
              <a:t> </a:t>
            </a:r>
            <a:r>
              <a:rPr lang="en-US" dirty="0" err="1"/>
              <a:t>số</a:t>
            </a:r>
            <a:r>
              <a:rPr lang="en-US" dirty="0"/>
              <a:t> - digital :</a:t>
            </a:r>
          </a:p>
          <a:p>
            <a:pPr lvl="1"/>
            <a:r>
              <a:rPr lang="en-US" sz="3200" dirty="0">
                <a:solidFill>
                  <a:srgbClr val="008000"/>
                </a:solidFill>
              </a:rPr>
              <a:t>ISDN – </a:t>
            </a:r>
            <a:r>
              <a:rPr lang="en-US" sz="3200" dirty="0" err="1">
                <a:solidFill>
                  <a:srgbClr val="008000"/>
                </a:solidFill>
              </a:rPr>
              <a:t>Intergrated</a:t>
            </a:r>
            <a:r>
              <a:rPr lang="en-US" sz="3200" dirty="0">
                <a:solidFill>
                  <a:srgbClr val="008000"/>
                </a:solidFill>
              </a:rPr>
              <a:t> Services Digital Network: </a:t>
            </a:r>
          </a:p>
          <a:p>
            <a:pPr lvl="2"/>
            <a:r>
              <a:rPr lang="en-US" sz="3200" dirty="0" err="1"/>
              <a:t>Mạng</a:t>
            </a:r>
            <a:r>
              <a:rPr lang="en-US" sz="3200" dirty="0"/>
              <a:t> </a:t>
            </a:r>
            <a:r>
              <a:rPr lang="en-US" sz="3200" dirty="0" err="1"/>
              <a:t>viễn</a:t>
            </a:r>
            <a:r>
              <a:rPr lang="en-US" sz="3200" dirty="0"/>
              <a:t> </a:t>
            </a:r>
            <a:r>
              <a:rPr lang="en-US" sz="3200" dirty="0" err="1"/>
              <a:t>thông</a:t>
            </a:r>
            <a:r>
              <a:rPr lang="en-US" sz="3200" dirty="0"/>
              <a:t> </a:t>
            </a:r>
            <a:r>
              <a:rPr lang="en-US" sz="3200" dirty="0" err="1"/>
              <a:t>tích</a:t>
            </a:r>
            <a:r>
              <a:rPr lang="en-US" sz="3200" dirty="0"/>
              <a:t> </a:t>
            </a:r>
            <a:r>
              <a:rPr lang="en-US" sz="3200" dirty="0" err="1"/>
              <a:t>hợp</a:t>
            </a:r>
            <a:r>
              <a:rPr lang="en-US" sz="3200" dirty="0"/>
              <a:t> </a:t>
            </a:r>
            <a:r>
              <a:rPr lang="en-US" sz="3200" dirty="0" err="1"/>
              <a:t>đa</a:t>
            </a:r>
            <a:r>
              <a:rPr lang="en-US" sz="3200" dirty="0"/>
              <a:t> </a:t>
            </a:r>
            <a:r>
              <a:rPr lang="en-US" sz="3200" dirty="0" err="1"/>
              <a:t>dịch</a:t>
            </a:r>
            <a:r>
              <a:rPr lang="en-US" sz="3200" dirty="0"/>
              <a:t> </a:t>
            </a:r>
            <a:r>
              <a:rPr lang="en-US" sz="3200" dirty="0" err="1"/>
              <a:t>vụ</a:t>
            </a:r>
            <a:r>
              <a:rPr lang="en-US" sz="3200" dirty="0"/>
              <a:t> </a:t>
            </a:r>
            <a:r>
              <a:rPr lang="en-US" sz="3200" dirty="0" err="1"/>
              <a:t>cho</a:t>
            </a:r>
            <a:r>
              <a:rPr lang="en-US" sz="3200" dirty="0"/>
              <a:t> </a:t>
            </a:r>
            <a:r>
              <a:rPr lang="en-US" sz="3200" dirty="0" err="1"/>
              <a:t>phép</a:t>
            </a:r>
            <a:r>
              <a:rPr lang="en-US" sz="3200" dirty="0"/>
              <a:t> </a:t>
            </a:r>
            <a:r>
              <a:rPr lang="en-US" sz="3200" dirty="0" err="1"/>
              <a:t>sử</a:t>
            </a:r>
            <a:r>
              <a:rPr lang="en-US" sz="3200" dirty="0"/>
              <a:t> </a:t>
            </a:r>
            <a:r>
              <a:rPr lang="en-US" sz="3200" dirty="0" err="1"/>
              <a:t>dụng</a:t>
            </a:r>
            <a:r>
              <a:rPr lang="en-US" sz="3200" dirty="0"/>
              <a:t> </a:t>
            </a:r>
            <a:r>
              <a:rPr lang="en-US" sz="3200" dirty="0" err="1"/>
              <a:t>nhiều</a:t>
            </a:r>
            <a:r>
              <a:rPr lang="en-US" sz="3200" dirty="0"/>
              <a:t> </a:t>
            </a:r>
            <a:r>
              <a:rPr lang="en-US" sz="3200" dirty="0" err="1"/>
              <a:t>dịch</a:t>
            </a:r>
            <a:r>
              <a:rPr lang="en-US" sz="3200" dirty="0"/>
              <a:t> </a:t>
            </a:r>
            <a:r>
              <a:rPr lang="en-US" sz="3200" dirty="0" err="1"/>
              <a:t>vụ</a:t>
            </a:r>
            <a:r>
              <a:rPr lang="en-US" sz="3200" dirty="0"/>
              <a:t> </a:t>
            </a:r>
            <a:r>
              <a:rPr lang="en-US" sz="3200" dirty="0" err="1"/>
              <a:t>trên</a:t>
            </a:r>
            <a:r>
              <a:rPr lang="en-US" sz="3200" dirty="0"/>
              <a:t> </a:t>
            </a:r>
            <a:r>
              <a:rPr lang="en-US" sz="3200" dirty="0" err="1"/>
              <a:t>đường</a:t>
            </a:r>
            <a:r>
              <a:rPr lang="en-US" sz="3200" dirty="0"/>
              <a:t> </a:t>
            </a:r>
            <a:r>
              <a:rPr lang="en-US" sz="3200" dirty="0" err="1"/>
              <a:t>dây</a:t>
            </a:r>
            <a:r>
              <a:rPr lang="en-US" sz="3200" dirty="0"/>
              <a:t> </a:t>
            </a:r>
            <a:r>
              <a:rPr lang="en-US" sz="3200" dirty="0" err="1"/>
              <a:t>điện</a:t>
            </a:r>
            <a:r>
              <a:rPr lang="en-US" sz="3200" dirty="0"/>
              <a:t> </a:t>
            </a:r>
            <a:r>
              <a:rPr lang="en-US" sz="3200" dirty="0" err="1"/>
              <a:t>thoại</a:t>
            </a:r>
            <a:r>
              <a:rPr lang="en-US" sz="3200" dirty="0"/>
              <a:t> </a:t>
            </a:r>
          </a:p>
          <a:p>
            <a:endParaRPr lang="en-US" dirty="0"/>
          </a:p>
        </p:txBody>
      </p:sp>
      <p:graphicFrame>
        <p:nvGraphicFramePr>
          <p:cNvPr id="4" name="Object 3"/>
          <p:cNvGraphicFramePr>
            <a:graphicFrameLocks noChangeAspect="1"/>
          </p:cNvGraphicFramePr>
          <p:nvPr/>
        </p:nvGraphicFramePr>
        <p:xfrm>
          <a:off x="5181601" y="3810000"/>
          <a:ext cx="3959225" cy="2190750"/>
        </p:xfrm>
        <a:graphic>
          <a:graphicData uri="http://schemas.openxmlformats.org/presentationml/2006/ole">
            <mc:AlternateContent xmlns:mc="http://schemas.openxmlformats.org/markup-compatibility/2006">
              <mc:Choice xmlns:v="urn:schemas-microsoft-com:vml" Requires="v">
                <p:oleObj name="Bitmap Image" r:id="rId2" imgW="5172797" imgH="2771429" progId="PBrush">
                  <p:embed/>
                </p:oleObj>
              </mc:Choice>
              <mc:Fallback>
                <p:oleObj name="Bitmap Image" r:id="rId2" imgW="5172797" imgH="2771429" progId="PBrush">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1" y="3810000"/>
                        <a:ext cx="3959225"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42155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r>
              <a:rPr lang="en-US" sz="3000" dirty="0"/>
              <a:t>ISDN – </a:t>
            </a:r>
            <a:r>
              <a:rPr lang="en-US" sz="3000" dirty="0" err="1"/>
              <a:t>Intergrated</a:t>
            </a:r>
            <a:r>
              <a:rPr lang="en-US" sz="3000" dirty="0"/>
              <a:t> Services Digital Network :</a:t>
            </a:r>
          </a:p>
          <a:p>
            <a:pPr lvl="1"/>
            <a:r>
              <a:rPr lang="en-US" dirty="0" err="1"/>
              <a:t>Các</a:t>
            </a:r>
            <a:r>
              <a:rPr lang="en-US" dirty="0"/>
              <a:t> </a:t>
            </a:r>
            <a:r>
              <a:rPr lang="en-US" dirty="0" err="1"/>
              <a:t>thiết</a:t>
            </a:r>
            <a:r>
              <a:rPr lang="en-US" dirty="0"/>
              <a:t> </a:t>
            </a:r>
            <a:r>
              <a:rPr lang="en-US" dirty="0" err="1"/>
              <a:t>bị</a:t>
            </a:r>
            <a:r>
              <a:rPr lang="en-US" dirty="0"/>
              <a:t> :</a:t>
            </a:r>
          </a:p>
          <a:p>
            <a:pPr lvl="2"/>
            <a:r>
              <a:rPr lang="en-US" sz="3000" dirty="0"/>
              <a:t>ISDN adapter</a:t>
            </a:r>
          </a:p>
          <a:p>
            <a:pPr lvl="2"/>
            <a:r>
              <a:rPr lang="en-US" sz="3000" dirty="0"/>
              <a:t>ISDN Router </a:t>
            </a:r>
          </a:p>
          <a:p>
            <a:pPr lvl="1"/>
            <a:r>
              <a:rPr lang="en-US" dirty="0" err="1"/>
              <a:t>Đánh</a:t>
            </a:r>
            <a:r>
              <a:rPr lang="en-US" dirty="0"/>
              <a:t> </a:t>
            </a:r>
            <a:r>
              <a:rPr lang="en-US" dirty="0" err="1"/>
              <a:t>giá</a:t>
            </a:r>
            <a:r>
              <a:rPr lang="en-US" dirty="0"/>
              <a:t> :</a:t>
            </a:r>
          </a:p>
          <a:p>
            <a:pPr lvl="2"/>
            <a:r>
              <a:rPr lang="en-US" sz="3000" dirty="0" err="1"/>
              <a:t>Đắt</a:t>
            </a:r>
            <a:r>
              <a:rPr lang="en-US" sz="3000" dirty="0"/>
              <a:t> </a:t>
            </a:r>
            <a:r>
              <a:rPr lang="en-US" sz="3000" dirty="0" err="1"/>
              <a:t>hơn</a:t>
            </a:r>
            <a:r>
              <a:rPr lang="en-US" sz="3000" dirty="0"/>
              <a:t> </a:t>
            </a:r>
            <a:r>
              <a:rPr lang="en-US" sz="3000" dirty="0" err="1"/>
              <a:t>điện</a:t>
            </a:r>
            <a:r>
              <a:rPr lang="en-US" sz="3000" dirty="0"/>
              <a:t> </a:t>
            </a:r>
            <a:r>
              <a:rPr lang="en-US" sz="3000" dirty="0" err="1"/>
              <a:t>thoại</a:t>
            </a:r>
            <a:r>
              <a:rPr lang="en-US" sz="3000" dirty="0"/>
              <a:t> </a:t>
            </a:r>
            <a:r>
              <a:rPr lang="en-US" sz="3000" dirty="0" err="1"/>
              <a:t>nhưng</a:t>
            </a:r>
            <a:r>
              <a:rPr lang="en-US" sz="3000" dirty="0"/>
              <a:t> </a:t>
            </a:r>
            <a:r>
              <a:rPr lang="en-US" sz="3000" dirty="0" err="1"/>
              <a:t>băng</a:t>
            </a:r>
            <a:r>
              <a:rPr lang="en-US" sz="3000" dirty="0"/>
              <a:t> </a:t>
            </a:r>
            <a:r>
              <a:rPr lang="en-US" sz="3000" dirty="0" err="1"/>
              <a:t>thông</a:t>
            </a:r>
            <a:r>
              <a:rPr lang="en-US" sz="3000" dirty="0"/>
              <a:t> </a:t>
            </a:r>
            <a:r>
              <a:rPr lang="en-US" sz="3000" dirty="0" err="1"/>
              <a:t>cao</a:t>
            </a:r>
            <a:r>
              <a:rPr lang="en-US" sz="3000" dirty="0"/>
              <a:t> </a:t>
            </a:r>
            <a:r>
              <a:rPr lang="en-US" sz="3000" dirty="0" err="1"/>
              <a:t>hơn</a:t>
            </a:r>
            <a:endParaRPr lang="en-US" sz="3000" dirty="0"/>
          </a:p>
          <a:p>
            <a:pPr lvl="2"/>
            <a:r>
              <a:rPr lang="en-US" sz="3000" dirty="0" err="1"/>
              <a:t>Hình</a:t>
            </a:r>
            <a:r>
              <a:rPr lang="en-US" sz="3000" dirty="0"/>
              <a:t> </a:t>
            </a:r>
            <a:r>
              <a:rPr lang="en-US" sz="3000" dirty="0" err="1"/>
              <a:t>thức</a:t>
            </a:r>
            <a:r>
              <a:rPr lang="en-US" sz="3000" dirty="0"/>
              <a:t> </a:t>
            </a:r>
            <a:r>
              <a:rPr lang="en-US" sz="3000" dirty="0" err="1"/>
              <a:t>kết</a:t>
            </a:r>
            <a:r>
              <a:rPr lang="en-US" sz="3000" dirty="0"/>
              <a:t> </a:t>
            </a:r>
            <a:r>
              <a:rPr lang="en-US" sz="3000" dirty="0" err="1"/>
              <a:t>nối</a:t>
            </a:r>
            <a:r>
              <a:rPr lang="en-US" sz="3000" dirty="0"/>
              <a:t> </a:t>
            </a:r>
            <a:r>
              <a:rPr lang="en-US" sz="3000" dirty="0" err="1"/>
              <a:t>liên</a:t>
            </a:r>
            <a:r>
              <a:rPr lang="en-US" sz="3000" dirty="0"/>
              <a:t> </a:t>
            </a:r>
            <a:r>
              <a:rPr lang="en-US" sz="3000" dirty="0" err="1"/>
              <a:t>tỉnh</a:t>
            </a:r>
            <a:r>
              <a:rPr lang="en-US" sz="3000" dirty="0"/>
              <a:t> </a:t>
            </a:r>
            <a:r>
              <a:rPr lang="en-US" sz="3000" dirty="0" err="1"/>
              <a:t>rẻ</a:t>
            </a:r>
            <a:r>
              <a:rPr lang="en-US" sz="3000" dirty="0"/>
              <a:t> </a:t>
            </a:r>
          </a:p>
          <a:p>
            <a:pPr lvl="2"/>
            <a:r>
              <a:rPr lang="en-US" sz="3000" dirty="0" err="1"/>
              <a:t>Yêu</a:t>
            </a:r>
            <a:r>
              <a:rPr lang="en-US" sz="3000" dirty="0"/>
              <a:t> </a:t>
            </a:r>
            <a:r>
              <a:rPr lang="en-US" sz="3000" dirty="0" err="1"/>
              <a:t>cầu</a:t>
            </a:r>
            <a:r>
              <a:rPr lang="en-US" sz="3000" dirty="0"/>
              <a:t> </a:t>
            </a:r>
            <a:r>
              <a:rPr lang="en-US" sz="3000" dirty="0" err="1"/>
              <a:t>tổng</a:t>
            </a:r>
            <a:r>
              <a:rPr lang="en-US" sz="3000" dirty="0"/>
              <a:t> </a:t>
            </a:r>
            <a:r>
              <a:rPr lang="en-US" sz="3000" dirty="0" err="1"/>
              <a:t>đài</a:t>
            </a:r>
            <a:r>
              <a:rPr lang="en-US" sz="3000" dirty="0"/>
              <a:t> </a:t>
            </a:r>
            <a:r>
              <a:rPr lang="en-US" sz="3000" dirty="0" err="1"/>
              <a:t>điện</a:t>
            </a:r>
            <a:r>
              <a:rPr lang="en-US" sz="3000" dirty="0"/>
              <a:t> </a:t>
            </a:r>
            <a:r>
              <a:rPr lang="en-US" sz="3000" dirty="0" err="1"/>
              <a:t>thoại</a:t>
            </a:r>
            <a:r>
              <a:rPr lang="en-US" sz="3000" dirty="0"/>
              <a:t> </a:t>
            </a:r>
            <a:r>
              <a:rPr lang="en-US" sz="3000" dirty="0" err="1"/>
              <a:t>phải</a:t>
            </a:r>
            <a:r>
              <a:rPr lang="en-US" sz="3000" dirty="0"/>
              <a:t> </a:t>
            </a:r>
            <a:r>
              <a:rPr lang="en-US" sz="3000" dirty="0" err="1"/>
              <a:t>hỗ</a:t>
            </a:r>
            <a:r>
              <a:rPr lang="en-US" sz="3000" dirty="0"/>
              <a:t> </a:t>
            </a:r>
            <a:r>
              <a:rPr lang="en-US" sz="3000" dirty="0" err="1"/>
              <a:t>trợ</a:t>
            </a:r>
            <a:r>
              <a:rPr lang="en-US" sz="3000" dirty="0"/>
              <a:t> </a:t>
            </a:r>
            <a:r>
              <a:rPr lang="en-US" sz="3000" dirty="0" err="1"/>
              <a:t>kết</a:t>
            </a:r>
            <a:r>
              <a:rPr lang="en-US" sz="3000" dirty="0"/>
              <a:t> </a:t>
            </a:r>
            <a:r>
              <a:rPr lang="en-US" sz="3000" dirty="0" err="1"/>
              <a:t>nối</a:t>
            </a:r>
            <a:r>
              <a:rPr lang="en-US" sz="3000" dirty="0"/>
              <a:t> ISDN</a:t>
            </a:r>
          </a:p>
          <a:p>
            <a:endParaRPr lang="en-US" sz="3000" dirty="0"/>
          </a:p>
        </p:txBody>
      </p:sp>
    </p:spTree>
    <p:extLst>
      <p:ext uri="{BB962C8B-B14F-4D97-AF65-F5344CB8AC3E}">
        <p14:creationId xmlns:p14="http://schemas.microsoft.com/office/powerpoint/2010/main" val="2855932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r>
              <a:rPr lang="en-US" dirty="0"/>
              <a:t>Leased Line Network :</a:t>
            </a:r>
          </a:p>
          <a:p>
            <a:pPr lvl="1"/>
            <a:r>
              <a:rPr lang="en-US" sz="2800" dirty="0" err="1"/>
              <a:t>Cách</a:t>
            </a:r>
            <a:r>
              <a:rPr lang="en-US" sz="2800" dirty="0"/>
              <a:t> </a:t>
            </a:r>
            <a:r>
              <a:rPr lang="en-US" sz="2800" dirty="0" err="1"/>
              <a:t>kết</a:t>
            </a:r>
            <a:r>
              <a:rPr lang="en-US" sz="2800" dirty="0"/>
              <a:t> </a:t>
            </a:r>
            <a:r>
              <a:rPr lang="en-US" sz="2800" dirty="0" err="1"/>
              <a:t>nối</a:t>
            </a:r>
            <a:r>
              <a:rPr lang="en-US" sz="2800" dirty="0"/>
              <a:t> </a:t>
            </a:r>
            <a:r>
              <a:rPr lang="en-US" sz="2800" dirty="0" err="1"/>
              <a:t>dành</a:t>
            </a:r>
            <a:r>
              <a:rPr lang="en-US" sz="2800" dirty="0"/>
              <a:t> </a:t>
            </a:r>
            <a:r>
              <a:rPr lang="en-US" sz="2800" dirty="0" err="1"/>
              <a:t>riêng</a:t>
            </a:r>
            <a:r>
              <a:rPr lang="en-US" sz="2800" dirty="0"/>
              <a:t> </a:t>
            </a:r>
            <a:r>
              <a:rPr lang="en-US" sz="2800" dirty="0" err="1"/>
              <a:t>giữa</a:t>
            </a:r>
            <a:r>
              <a:rPr lang="en-US" sz="2800" dirty="0"/>
              <a:t> 2 </a:t>
            </a:r>
            <a:r>
              <a:rPr lang="en-US" sz="2800" dirty="0" err="1"/>
              <a:t>điểm</a:t>
            </a:r>
            <a:r>
              <a:rPr lang="en-US" sz="2800" dirty="0"/>
              <a:t> </a:t>
            </a:r>
            <a:r>
              <a:rPr lang="en-US" sz="2800" dirty="0" err="1"/>
              <a:t>có</a:t>
            </a:r>
            <a:r>
              <a:rPr lang="en-US" sz="2800" dirty="0"/>
              <a:t> </a:t>
            </a:r>
            <a:r>
              <a:rPr lang="en-US" sz="2800" dirty="0" err="1"/>
              <a:t>khoảng</a:t>
            </a:r>
            <a:r>
              <a:rPr lang="en-US" sz="2800" dirty="0"/>
              <a:t> </a:t>
            </a:r>
            <a:r>
              <a:rPr lang="en-US" sz="2800" dirty="0" err="1"/>
              <a:t>cách</a:t>
            </a:r>
            <a:r>
              <a:rPr lang="en-US" sz="2800" dirty="0"/>
              <a:t> </a:t>
            </a:r>
            <a:r>
              <a:rPr lang="en-US" sz="2800" dirty="0" err="1"/>
              <a:t>lớn</a:t>
            </a:r>
            <a:endParaRPr lang="en-US" sz="2800" dirty="0"/>
          </a:p>
          <a:p>
            <a:pPr lvl="1"/>
            <a:r>
              <a:rPr lang="en-US" sz="2800" dirty="0" err="1"/>
              <a:t>Khi</a:t>
            </a:r>
            <a:r>
              <a:rPr lang="en-US" sz="2800" dirty="0"/>
              <a:t> </a:t>
            </a:r>
            <a:r>
              <a:rPr lang="en-US" sz="2800" dirty="0" err="1"/>
              <a:t>số</a:t>
            </a:r>
            <a:r>
              <a:rPr lang="en-US" sz="2800" dirty="0"/>
              <a:t> </a:t>
            </a:r>
            <a:r>
              <a:rPr lang="en-US" sz="2800" dirty="0" err="1"/>
              <a:t>lượng</a:t>
            </a:r>
            <a:r>
              <a:rPr lang="en-US" sz="2800" dirty="0"/>
              <a:t> </a:t>
            </a:r>
            <a:r>
              <a:rPr lang="en-US" sz="2800" dirty="0" err="1"/>
              <a:t>kết</a:t>
            </a:r>
            <a:r>
              <a:rPr lang="en-US" sz="2800" dirty="0"/>
              <a:t> </a:t>
            </a:r>
            <a:r>
              <a:rPr lang="en-US" sz="2800" dirty="0" err="1"/>
              <a:t>nối</a:t>
            </a:r>
            <a:r>
              <a:rPr lang="en-US" sz="2800" dirty="0"/>
              <a:t> </a:t>
            </a:r>
            <a:r>
              <a:rPr lang="en-US" sz="2800" dirty="0" err="1"/>
              <a:t>tăng</a:t>
            </a:r>
            <a:r>
              <a:rPr lang="en-US" sz="2800" dirty="0"/>
              <a:t> </a:t>
            </a:r>
            <a:r>
              <a:rPr lang="en-US" sz="2800" dirty="0" err="1"/>
              <a:t>cao</a:t>
            </a:r>
            <a:r>
              <a:rPr lang="en-US" sz="2800" dirty="0"/>
              <a:t>, </a:t>
            </a:r>
            <a:r>
              <a:rPr lang="en-US" sz="2800" dirty="0" err="1"/>
              <a:t>tại</a:t>
            </a:r>
            <a:r>
              <a:rPr lang="en-US" sz="2800" dirty="0"/>
              <a:t> </a:t>
            </a:r>
            <a:r>
              <a:rPr lang="en-US" sz="2800" dirty="0" err="1"/>
              <a:t>các</a:t>
            </a:r>
            <a:r>
              <a:rPr lang="en-US" sz="2800" dirty="0"/>
              <a:t> </a:t>
            </a:r>
            <a:r>
              <a:rPr lang="en-US" sz="2800" dirty="0" err="1"/>
              <a:t>nút</a:t>
            </a:r>
            <a:r>
              <a:rPr lang="en-US" sz="2800" dirty="0"/>
              <a:t> </a:t>
            </a:r>
            <a:r>
              <a:rPr lang="en-US" sz="2800" dirty="0" err="1"/>
              <a:t>mạng</a:t>
            </a:r>
            <a:r>
              <a:rPr lang="en-US" sz="2800" dirty="0"/>
              <a:t> </a:t>
            </a:r>
            <a:r>
              <a:rPr lang="en-US" sz="2800" dirty="0" err="1"/>
              <a:t>sử</a:t>
            </a:r>
            <a:r>
              <a:rPr lang="en-US" sz="2800" dirty="0"/>
              <a:t> </a:t>
            </a:r>
            <a:r>
              <a:rPr lang="en-US" sz="2800" dirty="0" err="1"/>
              <a:t>dụng</a:t>
            </a:r>
            <a:r>
              <a:rPr lang="en-US" sz="2800" dirty="0"/>
              <a:t> </a:t>
            </a:r>
            <a:r>
              <a:rPr lang="en-US" sz="2800" dirty="0" err="1"/>
              <a:t>kỹ</a:t>
            </a:r>
            <a:r>
              <a:rPr lang="en-US" sz="2800" dirty="0"/>
              <a:t> </a:t>
            </a:r>
            <a:r>
              <a:rPr lang="en-US" sz="2800" dirty="0" err="1"/>
              <a:t>thuật</a:t>
            </a:r>
            <a:r>
              <a:rPr lang="en-US" sz="2800" dirty="0"/>
              <a:t> </a:t>
            </a:r>
            <a:r>
              <a:rPr lang="en-US" sz="2800" dirty="0" err="1"/>
              <a:t>ghép</a:t>
            </a:r>
            <a:r>
              <a:rPr lang="en-US" sz="2800" dirty="0"/>
              <a:t> </a:t>
            </a:r>
            <a:r>
              <a:rPr lang="en-US" sz="2800" dirty="0" err="1"/>
              <a:t>kênh</a:t>
            </a:r>
            <a:r>
              <a:rPr lang="en-US" sz="2800" dirty="0"/>
              <a:t>. </a:t>
            </a:r>
            <a:r>
              <a:rPr lang="en-US" sz="2800" dirty="0" err="1"/>
              <a:t>Có</a:t>
            </a:r>
            <a:r>
              <a:rPr lang="en-US" sz="2800" dirty="0"/>
              <a:t> </a:t>
            </a:r>
            <a:r>
              <a:rPr lang="en-US" sz="2800" dirty="0" err="1"/>
              <a:t>hai</a:t>
            </a:r>
            <a:r>
              <a:rPr lang="en-US" sz="2800" dirty="0"/>
              <a:t> </a:t>
            </a:r>
            <a:r>
              <a:rPr lang="en-US" sz="2800" dirty="0" err="1"/>
              <a:t>phương</a:t>
            </a:r>
            <a:r>
              <a:rPr lang="en-US" sz="2800" dirty="0"/>
              <a:t> </a:t>
            </a:r>
            <a:r>
              <a:rPr lang="en-US" sz="2800" dirty="0" err="1"/>
              <a:t>thức</a:t>
            </a:r>
            <a:r>
              <a:rPr lang="en-US" sz="2800" dirty="0"/>
              <a:t> </a:t>
            </a:r>
            <a:r>
              <a:rPr lang="en-US" sz="2800" dirty="0" err="1"/>
              <a:t>ghép</a:t>
            </a:r>
            <a:r>
              <a:rPr lang="en-US" sz="2800" dirty="0"/>
              <a:t> </a:t>
            </a:r>
            <a:r>
              <a:rPr lang="en-US" sz="2800" dirty="0" err="1"/>
              <a:t>kênh</a:t>
            </a:r>
            <a:r>
              <a:rPr lang="en-US" sz="2800" dirty="0"/>
              <a:t> </a:t>
            </a:r>
            <a:r>
              <a:rPr lang="en-US" sz="2800" dirty="0" err="1"/>
              <a:t>chính</a:t>
            </a:r>
            <a:r>
              <a:rPr lang="en-US" sz="2800" dirty="0"/>
              <a:t> :</a:t>
            </a:r>
          </a:p>
          <a:p>
            <a:pPr lvl="2"/>
            <a:r>
              <a:rPr lang="en-US" dirty="0" err="1"/>
              <a:t>Ghép</a:t>
            </a:r>
            <a:r>
              <a:rPr lang="en-US" dirty="0"/>
              <a:t> </a:t>
            </a:r>
            <a:r>
              <a:rPr lang="en-US" dirty="0" err="1"/>
              <a:t>kênh</a:t>
            </a:r>
            <a:r>
              <a:rPr lang="en-US" dirty="0"/>
              <a:t> </a:t>
            </a:r>
            <a:r>
              <a:rPr lang="en-US" dirty="0" err="1"/>
              <a:t>theo</a:t>
            </a:r>
            <a:r>
              <a:rPr lang="en-US" dirty="0"/>
              <a:t> </a:t>
            </a:r>
            <a:r>
              <a:rPr lang="en-US" dirty="0" err="1"/>
              <a:t>tần</a:t>
            </a:r>
            <a:r>
              <a:rPr lang="en-US" dirty="0"/>
              <a:t> </a:t>
            </a:r>
            <a:r>
              <a:rPr lang="en-US" dirty="0" err="1"/>
              <a:t>số</a:t>
            </a:r>
            <a:r>
              <a:rPr lang="en-US" dirty="0"/>
              <a:t> :</a:t>
            </a:r>
          </a:p>
          <a:p>
            <a:pPr lvl="2"/>
            <a:r>
              <a:rPr lang="en-US" dirty="0" err="1"/>
              <a:t>Ghép</a:t>
            </a:r>
            <a:r>
              <a:rPr lang="en-US" dirty="0"/>
              <a:t> </a:t>
            </a:r>
            <a:r>
              <a:rPr lang="en-US" dirty="0" err="1"/>
              <a:t>kênh</a:t>
            </a:r>
            <a:r>
              <a:rPr lang="en-US" dirty="0"/>
              <a:t> </a:t>
            </a:r>
            <a:r>
              <a:rPr lang="en-US" dirty="0" err="1"/>
              <a:t>theo</a:t>
            </a:r>
            <a:r>
              <a:rPr lang="en-US" dirty="0"/>
              <a:t> </a:t>
            </a:r>
            <a:r>
              <a:rPr lang="en-US" dirty="0" err="1"/>
              <a:t>thời</a:t>
            </a:r>
            <a:r>
              <a:rPr lang="en-US" dirty="0"/>
              <a:t> </a:t>
            </a:r>
            <a:r>
              <a:rPr lang="en-US" dirty="0" err="1"/>
              <a:t>gian</a:t>
            </a:r>
            <a:r>
              <a:rPr lang="en-US" dirty="0"/>
              <a:t> :</a:t>
            </a:r>
          </a:p>
          <a:p>
            <a:endParaRPr lang="en-US" dirty="0"/>
          </a:p>
        </p:txBody>
      </p:sp>
      <p:graphicFrame>
        <p:nvGraphicFramePr>
          <p:cNvPr id="4" name="Object 3"/>
          <p:cNvGraphicFramePr>
            <a:graphicFrameLocks noChangeAspect="1"/>
          </p:cNvGraphicFramePr>
          <p:nvPr/>
        </p:nvGraphicFramePr>
        <p:xfrm>
          <a:off x="6934200" y="3962401"/>
          <a:ext cx="3581400" cy="1438275"/>
        </p:xfrm>
        <a:graphic>
          <a:graphicData uri="http://schemas.openxmlformats.org/presentationml/2006/ole">
            <mc:AlternateContent xmlns:mc="http://schemas.openxmlformats.org/markup-compatibility/2006">
              <mc:Choice xmlns:v="urn:schemas-microsoft-com:vml" Requires="v">
                <p:oleObj name="Bitmap Image" r:id="rId2" imgW="3580952" imgH="1438095" progId="PBrush">
                  <p:embed/>
                </p:oleObj>
              </mc:Choice>
              <mc:Fallback>
                <p:oleObj name="Bitmap Image" r:id="rId2" imgW="3580952" imgH="1438095" progId="PBrush">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3962401"/>
                        <a:ext cx="358140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73897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pPr>
              <a:lnSpc>
                <a:spcPct val="80000"/>
              </a:lnSpc>
            </a:pPr>
            <a:r>
              <a:rPr lang="en-US" dirty="0" err="1"/>
              <a:t>xDSL</a:t>
            </a:r>
            <a:r>
              <a:rPr lang="en-US" dirty="0"/>
              <a:t> – Digital Subscriber Line: </a:t>
            </a:r>
            <a:r>
              <a:rPr lang="en-US" dirty="0" err="1"/>
              <a:t>Công</a:t>
            </a:r>
            <a:r>
              <a:rPr lang="en-US" dirty="0"/>
              <a:t> </a:t>
            </a:r>
            <a:r>
              <a:rPr lang="en-US" dirty="0" err="1"/>
              <a:t>nghệ</a:t>
            </a:r>
            <a:r>
              <a:rPr lang="en-US" dirty="0"/>
              <a:t> </a:t>
            </a:r>
            <a:r>
              <a:rPr lang="en-US" dirty="0" err="1"/>
              <a:t>đường</a:t>
            </a:r>
            <a:r>
              <a:rPr lang="en-US" dirty="0"/>
              <a:t> </a:t>
            </a:r>
            <a:r>
              <a:rPr lang="en-US" dirty="0" err="1"/>
              <a:t>dây</a:t>
            </a:r>
            <a:r>
              <a:rPr lang="en-US" dirty="0"/>
              <a:t> </a:t>
            </a:r>
            <a:r>
              <a:rPr lang="en-US" dirty="0" err="1"/>
              <a:t>thuê</a:t>
            </a:r>
            <a:r>
              <a:rPr lang="en-US" dirty="0"/>
              <a:t> </a:t>
            </a:r>
            <a:r>
              <a:rPr lang="en-US" dirty="0" err="1"/>
              <a:t>bao</a:t>
            </a:r>
            <a:r>
              <a:rPr lang="en-US" dirty="0"/>
              <a:t> </a:t>
            </a:r>
            <a:r>
              <a:rPr lang="en-US" dirty="0" err="1"/>
              <a:t>số</a:t>
            </a:r>
            <a:endParaRPr lang="en-US" dirty="0"/>
          </a:p>
          <a:p>
            <a:pPr lvl="1">
              <a:lnSpc>
                <a:spcPct val="80000"/>
              </a:lnSpc>
            </a:pPr>
            <a:r>
              <a:rPr lang="en-US" sz="2800" dirty="0" err="1">
                <a:solidFill>
                  <a:schemeClr val="tx2"/>
                </a:solidFill>
              </a:rPr>
              <a:t>xDSL</a:t>
            </a:r>
            <a:r>
              <a:rPr lang="en-US" sz="2800" dirty="0">
                <a:solidFill>
                  <a:schemeClr val="tx2"/>
                </a:solidFill>
              </a:rPr>
              <a:t> </a:t>
            </a:r>
            <a:r>
              <a:rPr lang="en-US" sz="2800" dirty="0" err="1">
                <a:solidFill>
                  <a:schemeClr val="tx2"/>
                </a:solidFill>
              </a:rPr>
              <a:t>l</a:t>
            </a:r>
            <a:r>
              <a:rPr lang="en-US" sz="2800" dirty="0" err="1"/>
              <a:t>à</a:t>
            </a:r>
            <a:r>
              <a:rPr lang="en-US" sz="2800" dirty="0"/>
              <a:t> </a:t>
            </a:r>
            <a:r>
              <a:rPr lang="en-US" sz="2800" dirty="0" err="1"/>
              <a:t>kỹ</a:t>
            </a:r>
            <a:r>
              <a:rPr lang="en-US" sz="2800" dirty="0"/>
              <a:t> </a:t>
            </a:r>
            <a:r>
              <a:rPr lang="en-US" sz="2800" dirty="0" err="1"/>
              <a:t>thuật</a:t>
            </a:r>
            <a:r>
              <a:rPr lang="en-US" sz="2800" dirty="0"/>
              <a:t> </a:t>
            </a:r>
            <a:r>
              <a:rPr lang="en-US" sz="2800" dirty="0" err="1"/>
              <a:t>truyền</a:t>
            </a:r>
            <a:r>
              <a:rPr lang="en-US" sz="2800" dirty="0"/>
              <a:t> </a:t>
            </a:r>
            <a:r>
              <a:rPr lang="en-US" sz="2800" dirty="0" err="1"/>
              <a:t>dẫn</a:t>
            </a:r>
            <a:r>
              <a:rPr lang="en-US" sz="2800" dirty="0"/>
              <a:t> </a:t>
            </a:r>
            <a:r>
              <a:rPr lang="en-US" sz="2800" dirty="0" err="1"/>
              <a:t>dữ</a:t>
            </a:r>
            <a:r>
              <a:rPr lang="en-US" sz="2800" dirty="0"/>
              <a:t> </a:t>
            </a:r>
            <a:r>
              <a:rPr lang="en-US" sz="2800" dirty="0" err="1"/>
              <a:t>liệu</a:t>
            </a:r>
            <a:r>
              <a:rPr lang="en-US" sz="2800" dirty="0"/>
              <a:t> </a:t>
            </a:r>
            <a:r>
              <a:rPr lang="en-US" sz="2800" dirty="0" err="1"/>
              <a:t>tốc</a:t>
            </a:r>
            <a:r>
              <a:rPr lang="en-US" sz="2800" dirty="0"/>
              <a:t> </a:t>
            </a:r>
            <a:r>
              <a:rPr lang="en-US" sz="2800" dirty="0" err="1"/>
              <a:t>độ</a:t>
            </a:r>
            <a:r>
              <a:rPr lang="en-US" sz="2800" dirty="0"/>
              <a:t> </a:t>
            </a:r>
            <a:r>
              <a:rPr lang="en-US" sz="2800" dirty="0" err="1"/>
              <a:t>cao</a:t>
            </a:r>
            <a:r>
              <a:rPr lang="en-US" sz="2800" dirty="0"/>
              <a:t> </a:t>
            </a:r>
            <a:r>
              <a:rPr lang="en-US" sz="2800" dirty="0" err="1"/>
              <a:t>trên</a:t>
            </a:r>
            <a:r>
              <a:rPr lang="en-US" sz="2800" dirty="0"/>
              <a:t> </a:t>
            </a:r>
            <a:r>
              <a:rPr lang="en-US" sz="2800" dirty="0" err="1"/>
              <a:t>đôi</a:t>
            </a:r>
            <a:r>
              <a:rPr lang="en-US" sz="2800" dirty="0"/>
              <a:t> </a:t>
            </a:r>
            <a:r>
              <a:rPr lang="en-US" sz="2800" dirty="0" err="1"/>
              <a:t>dây</a:t>
            </a:r>
            <a:r>
              <a:rPr lang="en-US" sz="2800" dirty="0"/>
              <a:t> </a:t>
            </a:r>
            <a:r>
              <a:rPr lang="en-US" sz="2800" dirty="0" err="1"/>
              <a:t>cáp</a:t>
            </a:r>
            <a:r>
              <a:rPr lang="en-US" sz="2800" dirty="0"/>
              <a:t> </a:t>
            </a:r>
            <a:r>
              <a:rPr lang="en-US" sz="2800" dirty="0" err="1"/>
              <a:t>đồng</a:t>
            </a:r>
            <a:r>
              <a:rPr lang="en-US" sz="2800" dirty="0"/>
              <a:t> </a:t>
            </a:r>
            <a:r>
              <a:rPr lang="en-US" sz="2800" dirty="0" err="1"/>
              <a:t>truyền</a:t>
            </a:r>
            <a:r>
              <a:rPr lang="en-US" sz="2800" dirty="0"/>
              <a:t> </a:t>
            </a:r>
            <a:r>
              <a:rPr lang="en-US" sz="2800" dirty="0" err="1"/>
              <a:t>thống</a:t>
            </a:r>
            <a:endParaRPr lang="en-US" sz="2800" dirty="0">
              <a:solidFill>
                <a:schemeClr val="tx2"/>
              </a:solidFill>
            </a:endParaRPr>
          </a:p>
          <a:p>
            <a:pPr lvl="1">
              <a:lnSpc>
                <a:spcPct val="80000"/>
              </a:lnSpc>
            </a:pPr>
            <a:r>
              <a:rPr lang="en-US" sz="2800" dirty="0" err="1">
                <a:solidFill>
                  <a:schemeClr val="tx2"/>
                </a:solidFill>
              </a:rPr>
              <a:t>Ứng</a:t>
            </a:r>
            <a:r>
              <a:rPr lang="en-US" sz="2800" dirty="0">
                <a:solidFill>
                  <a:schemeClr val="tx2"/>
                </a:solidFill>
              </a:rPr>
              <a:t> </a:t>
            </a:r>
            <a:r>
              <a:rPr lang="en-US" sz="2800" dirty="0" err="1">
                <a:solidFill>
                  <a:schemeClr val="tx2"/>
                </a:solidFill>
              </a:rPr>
              <a:t>dụng</a:t>
            </a:r>
            <a:r>
              <a:rPr lang="en-US" sz="2800" dirty="0">
                <a:solidFill>
                  <a:schemeClr val="tx2"/>
                </a:solidFill>
              </a:rPr>
              <a:t> :</a:t>
            </a:r>
          </a:p>
          <a:p>
            <a:pPr lvl="2">
              <a:lnSpc>
                <a:spcPct val="80000"/>
              </a:lnSpc>
              <a:buSzPct val="75000"/>
            </a:pPr>
            <a:r>
              <a:rPr lang="en-US" sz="2400" dirty="0" err="1">
                <a:solidFill>
                  <a:schemeClr val="tx2"/>
                </a:solidFill>
              </a:rPr>
              <a:t>Phát</a:t>
            </a:r>
            <a:r>
              <a:rPr lang="en-US" sz="2400" dirty="0">
                <a:solidFill>
                  <a:schemeClr val="tx2"/>
                </a:solidFill>
              </a:rPr>
              <a:t> </a:t>
            </a:r>
            <a:r>
              <a:rPr lang="en-US" sz="2400" dirty="0" err="1">
                <a:solidFill>
                  <a:schemeClr val="tx2"/>
                </a:solidFill>
              </a:rPr>
              <a:t>các</a:t>
            </a:r>
            <a:r>
              <a:rPr lang="en-US" sz="2400" dirty="0">
                <a:solidFill>
                  <a:schemeClr val="tx2"/>
                </a:solidFill>
              </a:rPr>
              <a:t> </a:t>
            </a:r>
            <a:r>
              <a:rPr lang="en-US" sz="2400" dirty="0" err="1">
                <a:solidFill>
                  <a:schemeClr val="tx2"/>
                </a:solidFill>
              </a:rPr>
              <a:t>ứng</a:t>
            </a:r>
            <a:r>
              <a:rPr lang="en-US" sz="2400" dirty="0">
                <a:solidFill>
                  <a:schemeClr val="tx2"/>
                </a:solidFill>
              </a:rPr>
              <a:t> </a:t>
            </a:r>
            <a:r>
              <a:rPr lang="en-US" sz="2400" dirty="0" err="1">
                <a:solidFill>
                  <a:schemeClr val="tx2"/>
                </a:solidFill>
              </a:rPr>
              <a:t>dụng</a:t>
            </a:r>
            <a:r>
              <a:rPr lang="en-US" sz="2400" dirty="0">
                <a:solidFill>
                  <a:schemeClr val="tx2"/>
                </a:solidFill>
              </a:rPr>
              <a:t> </a:t>
            </a:r>
            <a:r>
              <a:rPr lang="en-US" sz="2400" dirty="0" err="1">
                <a:solidFill>
                  <a:schemeClr val="tx2"/>
                </a:solidFill>
              </a:rPr>
              <a:t>giữa</a:t>
            </a:r>
            <a:r>
              <a:rPr lang="en-US" sz="2400" dirty="0">
                <a:solidFill>
                  <a:schemeClr val="tx2"/>
                </a:solidFill>
              </a:rPr>
              <a:t> </a:t>
            </a:r>
            <a:r>
              <a:rPr lang="en-US" sz="2400" dirty="0" err="1">
                <a:solidFill>
                  <a:schemeClr val="tx2"/>
                </a:solidFill>
              </a:rPr>
              <a:t>các</a:t>
            </a:r>
            <a:r>
              <a:rPr lang="en-US" sz="2400" dirty="0">
                <a:solidFill>
                  <a:schemeClr val="tx2"/>
                </a:solidFill>
              </a:rPr>
              <a:t> users</a:t>
            </a:r>
          </a:p>
          <a:p>
            <a:pPr lvl="2">
              <a:lnSpc>
                <a:spcPct val="80000"/>
              </a:lnSpc>
              <a:buSzPct val="75000"/>
            </a:pPr>
            <a:r>
              <a:rPr lang="en-US" sz="2400" dirty="0" err="1">
                <a:solidFill>
                  <a:schemeClr val="tx2"/>
                </a:solidFill>
              </a:rPr>
              <a:t>Hội</a:t>
            </a:r>
            <a:r>
              <a:rPr lang="en-US" sz="2400" dirty="0">
                <a:solidFill>
                  <a:schemeClr val="tx2"/>
                </a:solidFill>
              </a:rPr>
              <a:t> </a:t>
            </a:r>
            <a:r>
              <a:rPr lang="en-US" sz="2400" dirty="0" err="1">
                <a:solidFill>
                  <a:schemeClr val="tx2"/>
                </a:solidFill>
              </a:rPr>
              <a:t>thảo</a:t>
            </a:r>
            <a:r>
              <a:rPr lang="en-US" sz="2400" dirty="0">
                <a:solidFill>
                  <a:schemeClr val="tx2"/>
                </a:solidFill>
              </a:rPr>
              <a:t> video</a:t>
            </a:r>
          </a:p>
          <a:p>
            <a:pPr lvl="2">
              <a:lnSpc>
                <a:spcPct val="80000"/>
              </a:lnSpc>
              <a:buSzPct val="75000"/>
            </a:pPr>
            <a:r>
              <a:rPr lang="en-US" sz="2400" dirty="0" err="1">
                <a:solidFill>
                  <a:schemeClr val="tx2"/>
                </a:solidFill>
              </a:rPr>
              <a:t>Truy</a:t>
            </a:r>
            <a:r>
              <a:rPr lang="en-US" sz="2400" dirty="0">
                <a:solidFill>
                  <a:schemeClr val="tx2"/>
                </a:solidFill>
              </a:rPr>
              <a:t> </a:t>
            </a:r>
            <a:r>
              <a:rPr lang="en-US" sz="2400" dirty="0" err="1">
                <a:solidFill>
                  <a:schemeClr val="tx2"/>
                </a:solidFill>
              </a:rPr>
              <a:t>cập</a:t>
            </a:r>
            <a:r>
              <a:rPr lang="en-US" sz="2400" dirty="0">
                <a:solidFill>
                  <a:schemeClr val="tx2"/>
                </a:solidFill>
              </a:rPr>
              <a:t> Internet </a:t>
            </a:r>
            <a:r>
              <a:rPr lang="en-US" sz="2400" dirty="0" err="1">
                <a:solidFill>
                  <a:schemeClr val="tx2"/>
                </a:solidFill>
              </a:rPr>
              <a:t>tốc</a:t>
            </a:r>
            <a:r>
              <a:rPr lang="en-US" sz="2400" dirty="0">
                <a:solidFill>
                  <a:schemeClr val="tx2"/>
                </a:solidFill>
              </a:rPr>
              <a:t> </a:t>
            </a:r>
            <a:r>
              <a:rPr lang="en-US" sz="2400" dirty="0" err="1">
                <a:solidFill>
                  <a:schemeClr val="tx2"/>
                </a:solidFill>
              </a:rPr>
              <a:t>độ</a:t>
            </a:r>
            <a:r>
              <a:rPr lang="en-US" sz="2400" dirty="0">
                <a:solidFill>
                  <a:schemeClr val="tx2"/>
                </a:solidFill>
              </a:rPr>
              <a:t> </a:t>
            </a:r>
            <a:r>
              <a:rPr lang="en-US" sz="2400" dirty="0" err="1">
                <a:solidFill>
                  <a:schemeClr val="tx2"/>
                </a:solidFill>
              </a:rPr>
              <a:t>cao</a:t>
            </a:r>
            <a:endParaRPr lang="en-US" sz="2400" dirty="0">
              <a:solidFill>
                <a:schemeClr val="tx2"/>
              </a:solidFill>
            </a:endParaRPr>
          </a:p>
          <a:p>
            <a:pPr lvl="2">
              <a:lnSpc>
                <a:spcPct val="80000"/>
              </a:lnSpc>
              <a:buSzPct val="75000"/>
            </a:pPr>
            <a:r>
              <a:rPr lang="en-US" sz="2400" dirty="0">
                <a:solidFill>
                  <a:schemeClr val="tx2"/>
                </a:solidFill>
              </a:rPr>
              <a:t>IP Fax</a:t>
            </a:r>
          </a:p>
          <a:p>
            <a:pPr lvl="2">
              <a:lnSpc>
                <a:spcPct val="80000"/>
              </a:lnSpc>
              <a:buSzPct val="75000"/>
            </a:pPr>
            <a:r>
              <a:rPr lang="en-US" sz="2400" dirty="0" err="1">
                <a:solidFill>
                  <a:schemeClr val="tx2"/>
                </a:solidFill>
              </a:rPr>
              <a:t>Kết</a:t>
            </a:r>
            <a:r>
              <a:rPr lang="en-US" sz="2400" dirty="0">
                <a:solidFill>
                  <a:schemeClr val="tx2"/>
                </a:solidFill>
              </a:rPr>
              <a:t> </a:t>
            </a:r>
            <a:r>
              <a:rPr lang="en-US" sz="2400" dirty="0" err="1">
                <a:solidFill>
                  <a:schemeClr val="tx2"/>
                </a:solidFill>
              </a:rPr>
              <a:t>nối</a:t>
            </a:r>
            <a:r>
              <a:rPr lang="en-US" sz="2400" dirty="0">
                <a:solidFill>
                  <a:schemeClr val="tx2"/>
                </a:solidFill>
              </a:rPr>
              <a:t> </a:t>
            </a:r>
            <a:r>
              <a:rPr lang="en-US" sz="2400" dirty="0" err="1">
                <a:solidFill>
                  <a:schemeClr val="tx2"/>
                </a:solidFill>
              </a:rPr>
              <a:t>giữa</a:t>
            </a:r>
            <a:r>
              <a:rPr lang="en-US" sz="2400" dirty="0">
                <a:solidFill>
                  <a:schemeClr val="tx2"/>
                </a:solidFill>
              </a:rPr>
              <a:t> </a:t>
            </a:r>
            <a:r>
              <a:rPr lang="en-US" sz="2400" dirty="0" err="1">
                <a:solidFill>
                  <a:schemeClr val="tx2"/>
                </a:solidFill>
              </a:rPr>
              <a:t>các</a:t>
            </a:r>
            <a:r>
              <a:rPr lang="en-US" sz="2400" dirty="0">
                <a:solidFill>
                  <a:schemeClr val="tx2"/>
                </a:solidFill>
              </a:rPr>
              <a:t> </a:t>
            </a:r>
            <a:r>
              <a:rPr lang="en-US" sz="2400" dirty="0" err="1">
                <a:solidFill>
                  <a:schemeClr val="tx2"/>
                </a:solidFill>
              </a:rPr>
              <a:t>mạng</a:t>
            </a:r>
            <a:r>
              <a:rPr lang="en-US" sz="2400" dirty="0">
                <a:solidFill>
                  <a:schemeClr val="tx2"/>
                </a:solidFill>
              </a:rPr>
              <a:t> LAN, </a:t>
            </a:r>
            <a:r>
              <a:rPr lang="en-US" sz="2400" dirty="0" err="1">
                <a:solidFill>
                  <a:schemeClr val="tx2"/>
                </a:solidFill>
              </a:rPr>
              <a:t>k</a:t>
            </a:r>
            <a:r>
              <a:rPr lang="en-US" sz="2400" dirty="0" err="1"/>
              <a:t>ết</a:t>
            </a:r>
            <a:r>
              <a:rPr lang="en-US" sz="2400" dirty="0"/>
              <a:t> </a:t>
            </a:r>
            <a:r>
              <a:rPr lang="en-US" sz="2400" dirty="0" err="1"/>
              <a:t>nối</a:t>
            </a:r>
            <a:r>
              <a:rPr lang="en-US" sz="2400" dirty="0"/>
              <a:t> WAN</a:t>
            </a:r>
            <a:endParaRPr lang="en-US" sz="2400" dirty="0">
              <a:solidFill>
                <a:schemeClr val="tx2"/>
              </a:solidFill>
            </a:endParaRPr>
          </a:p>
          <a:p>
            <a:endParaRPr lang="en-US" sz="2400" dirty="0"/>
          </a:p>
        </p:txBody>
      </p:sp>
      <p:graphicFrame>
        <p:nvGraphicFramePr>
          <p:cNvPr id="4" name="Object 3"/>
          <p:cNvGraphicFramePr>
            <a:graphicFrameLocks noChangeAspect="1"/>
          </p:cNvGraphicFramePr>
          <p:nvPr/>
        </p:nvGraphicFramePr>
        <p:xfrm>
          <a:off x="2743201" y="5486401"/>
          <a:ext cx="6510337" cy="1190625"/>
        </p:xfrm>
        <a:graphic>
          <a:graphicData uri="http://schemas.openxmlformats.org/presentationml/2006/ole">
            <mc:AlternateContent xmlns:mc="http://schemas.openxmlformats.org/markup-compatibility/2006">
              <mc:Choice xmlns:v="urn:schemas-microsoft-com:vml" Requires="v">
                <p:oleObj name="Bitmap Image" r:id="rId2" imgW="6942857" imgH="1991003" progId="PBrush">
                  <p:embed/>
                </p:oleObj>
              </mc:Choice>
              <mc:Fallback>
                <p:oleObj name="Bitmap Image" r:id="rId2" imgW="6942857" imgH="1991003" progId="PBrush">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5486401"/>
                        <a:ext cx="65103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85308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r>
              <a:rPr lang="en-US" dirty="0" err="1"/>
              <a:t>Chuyển</a:t>
            </a:r>
            <a:r>
              <a:rPr lang="en-US" dirty="0"/>
              <a:t> </a:t>
            </a:r>
            <a:r>
              <a:rPr lang="en-US" dirty="0" err="1"/>
              <a:t>mạch</a:t>
            </a:r>
            <a:r>
              <a:rPr lang="en-US" dirty="0"/>
              <a:t> </a:t>
            </a:r>
            <a:r>
              <a:rPr lang="en-US" dirty="0" err="1"/>
              <a:t>gói</a:t>
            </a:r>
            <a:r>
              <a:rPr lang="en-US" dirty="0"/>
              <a:t> :</a:t>
            </a:r>
          </a:p>
          <a:p>
            <a:pPr lvl="1">
              <a:spcAft>
                <a:spcPct val="10000"/>
              </a:spcAft>
            </a:pPr>
            <a:r>
              <a:rPr lang="en-US" sz="3200" dirty="0" err="1"/>
              <a:t>Nguyên</a:t>
            </a:r>
            <a:r>
              <a:rPr lang="en-US" sz="3200" dirty="0"/>
              <a:t> </a:t>
            </a:r>
            <a:r>
              <a:rPr lang="en-US" sz="3200" dirty="0" err="1"/>
              <a:t>tắc</a:t>
            </a:r>
            <a:r>
              <a:rPr lang="en-US" sz="3200" dirty="0"/>
              <a:t> </a:t>
            </a:r>
            <a:r>
              <a:rPr lang="en-US" sz="3200" dirty="0" err="1"/>
              <a:t>hoạt</a:t>
            </a:r>
            <a:r>
              <a:rPr lang="en-US" sz="3200" dirty="0"/>
              <a:t> </a:t>
            </a:r>
            <a:r>
              <a:rPr lang="en-US" sz="3200" dirty="0" err="1"/>
              <a:t>động</a:t>
            </a:r>
            <a:r>
              <a:rPr lang="en-US" sz="3200" dirty="0"/>
              <a:t> : Chia </a:t>
            </a:r>
            <a:r>
              <a:rPr lang="en-US" sz="3200" dirty="0" err="1"/>
              <a:t>dữ</a:t>
            </a:r>
            <a:r>
              <a:rPr lang="en-US" sz="3200" dirty="0"/>
              <a:t> </a:t>
            </a:r>
            <a:r>
              <a:rPr lang="en-US" sz="3200" dirty="0" err="1"/>
              <a:t>liệu</a:t>
            </a:r>
            <a:r>
              <a:rPr lang="en-US" sz="3200" dirty="0"/>
              <a:t> </a:t>
            </a:r>
            <a:r>
              <a:rPr lang="en-US" sz="3200" dirty="0" err="1"/>
              <a:t>thành</a:t>
            </a:r>
            <a:r>
              <a:rPr lang="en-US" sz="3200" dirty="0"/>
              <a:t> </a:t>
            </a:r>
            <a:r>
              <a:rPr lang="en-US" sz="3200" dirty="0" err="1"/>
              <a:t>các</a:t>
            </a:r>
            <a:r>
              <a:rPr lang="en-US" sz="3200" dirty="0"/>
              <a:t> </a:t>
            </a:r>
            <a:r>
              <a:rPr lang="en-US" sz="3200" dirty="0" err="1"/>
              <a:t>gói</a:t>
            </a:r>
            <a:r>
              <a:rPr lang="en-US" sz="3200" dirty="0"/>
              <a:t> </a:t>
            </a:r>
            <a:r>
              <a:rPr lang="en-US" sz="3200" dirty="0" err="1"/>
              <a:t>trước</a:t>
            </a:r>
            <a:r>
              <a:rPr lang="en-US" sz="3200" dirty="0"/>
              <a:t> </a:t>
            </a:r>
            <a:r>
              <a:rPr lang="en-US" sz="3200" dirty="0" err="1"/>
              <a:t>khi</a:t>
            </a:r>
            <a:r>
              <a:rPr lang="en-US" sz="3200" dirty="0"/>
              <a:t> </a:t>
            </a:r>
            <a:r>
              <a:rPr lang="en-US" sz="3200" dirty="0" err="1"/>
              <a:t>phát</a:t>
            </a:r>
            <a:endParaRPr lang="en-US" sz="3200" dirty="0"/>
          </a:p>
          <a:p>
            <a:endParaRPr lang="en-US" dirty="0"/>
          </a:p>
        </p:txBody>
      </p:sp>
      <p:graphicFrame>
        <p:nvGraphicFramePr>
          <p:cNvPr id="4" name="Object 3"/>
          <p:cNvGraphicFramePr>
            <a:graphicFrameLocks noChangeAspect="1"/>
          </p:cNvGraphicFramePr>
          <p:nvPr/>
        </p:nvGraphicFramePr>
        <p:xfrm>
          <a:off x="3757614" y="3143250"/>
          <a:ext cx="4560887" cy="2724150"/>
        </p:xfrm>
        <a:graphic>
          <a:graphicData uri="http://schemas.openxmlformats.org/presentationml/2006/ole">
            <mc:AlternateContent xmlns:mc="http://schemas.openxmlformats.org/markup-compatibility/2006">
              <mc:Choice xmlns:v="urn:schemas-microsoft-com:vml" Requires="v">
                <p:oleObj name="Bitmap Image" r:id="rId2" imgW="4552381" imgH="3448531" progId="PBrush">
                  <p:embed/>
                </p:oleObj>
              </mc:Choice>
              <mc:Fallback>
                <p:oleObj name="Bitmap Image" r:id="rId2" imgW="4552381" imgH="3448531" progId="PBrush">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7614" y="3143250"/>
                        <a:ext cx="4560887"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913795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VI.2 VẬN HÀNH CÁC GÓI TIN TRONG INTERNET</a:t>
            </a:r>
          </a:p>
        </p:txBody>
      </p:sp>
      <p:sp>
        <p:nvSpPr>
          <p:cNvPr id="3" name="Content Placeholder 2"/>
          <p:cNvSpPr>
            <a:spLocks noGrp="1"/>
          </p:cNvSpPr>
          <p:nvPr>
            <p:ph idx="1"/>
          </p:nvPr>
        </p:nvSpPr>
        <p:spPr/>
        <p:txBody>
          <a:bodyPr/>
          <a:lstStyle/>
          <a:p>
            <a:pPr>
              <a:lnSpc>
                <a:spcPct val="80000"/>
              </a:lnSpc>
              <a:spcAft>
                <a:spcPct val="10000"/>
              </a:spcAft>
            </a:pPr>
            <a:r>
              <a:rPr lang="en-US" dirty="0" err="1"/>
              <a:t>Chuyển</a:t>
            </a:r>
            <a:r>
              <a:rPr lang="en-US" dirty="0"/>
              <a:t> </a:t>
            </a:r>
            <a:r>
              <a:rPr lang="en-US" dirty="0" err="1"/>
              <a:t>mạch</a:t>
            </a:r>
            <a:r>
              <a:rPr lang="en-US" dirty="0"/>
              <a:t> </a:t>
            </a:r>
            <a:r>
              <a:rPr lang="en-US" dirty="0" err="1"/>
              <a:t>gói</a:t>
            </a:r>
            <a:r>
              <a:rPr lang="en-US" dirty="0"/>
              <a:t> :</a:t>
            </a:r>
          </a:p>
          <a:p>
            <a:pPr lvl="1">
              <a:lnSpc>
                <a:spcPct val="80000"/>
              </a:lnSpc>
              <a:spcAft>
                <a:spcPct val="10000"/>
              </a:spcAft>
            </a:pPr>
            <a:r>
              <a:rPr lang="en-US" sz="2800" dirty="0" err="1"/>
              <a:t>Phân</a:t>
            </a:r>
            <a:r>
              <a:rPr lang="en-US" sz="2800" dirty="0"/>
              <a:t> </a:t>
            </a:r>
            <a:r>
              <a:rPr lang="en-US" sz="2800" dirty="0" err="1"/>
              <a:t>loại</a:t>
            </a:r>
            <a:r>
              <a:rPr lang="en-US" sz="2800" dirty="0"/>
              <a:t> :</a:t>
            </a:r>
          </a:p>
          <a:p>
            <a:pPr lvl="2">
              <a:spcAft>
                <a:spcPct val="10000"/>
              </a:spcAft>
            </a:pPr>
            <a:r>
              <a:rPr lang="en-US" dirty="0" err="1">
                <a:solidFill>
                  <a:srgbClr val="008000"/>
                </a:solidFill>
              </a:rPr>
              <a:t>Hướng</a:t>
            </a:r>
            <a:r>
              <a:rPr lang="en-US" dirty="0">
                <a:solidFill>
                  <a:srgbClr val="008000"/>
                </a:solidFill>
              </a:rPr>
              <a:t> </a:t>
            </a:r>
            <a:r>
              <a:rPr lang="en-US" dirty="0" err="1">
                <a:solidFill>
                  <a:srgbClr val="008000"/>
                </a:solidFill>
              </a:rPr>
              <a:t>kết</a:t>
            </a:r>
            <a:r>
              <a:rPr lang="en-US" dirty="0">
                <a:solidFill>
                  <a:srgbClr val="008000"/>
                </a:solidFill>
              </a:rPr>
              <a:t> </a:t>
            </a:r>
            <a:r>
              <a:rPr lang="en-US" dirty="0" err="1">
                <a:solidFill>
                  <a:srgbClr val="008000"/>
                </a:solidFill>
              </a:rPr>
              <a:t>nối</a:t>
            </a:r>
            <a:r>
              <a:rPr lang="en-US" dirty="0">
                <a:solidFill>
                  <a:srgbClr val="008000"/>
                </a:solidFill>
              </a:rPr>
              <a:t> – connection</a:t>
            </a:r>
            <a:r>
              <a:rPr lang="en-US" dirty="0"/>
              <a:t> : </a:t>
            </a:r>
            <a:r>
              <a:rPr lang="en-US" dirty="0" err="1"/>
              <a:t>xác</a:t>
            </a:r>
            <a:r>
              <a:rPr lang="en-US" dirty="0"/>
              <a:t> </a:t>
            </a:r>
            <a:r>
              <a:rPr lang="en-US" dirty="0" err="1"/>
              <a:t>định</a:t>
            </a:r>
            <a:r>
              <a:rPr lang="en-US" dirty="0"/>
              <a:t> </a:t>
            </a:r>
            <a:r>
              <a:rPr lang="en-US" dirty="0" err="1"/>
              <a:t>đường</a:t>
            </a:r>
            <a:r>
              <a:rPr lang="en-US" dirty="0"/>
              <a:t> </a:t>
            </a:r>
            <a:r>
              <a:rPr lang="en-US" dirty="0" err="1"/>
              <a:t>đi</a:t>
            </a:r>
            <a:r>
              <a:rPr lang="en-US" dirty="0"/>
              <a:t> </a:t>
            </a:r>
            <a:r>
              <a:rPr lang="en-US" dirty="0" err="1"/>
              <a:t>bằng</a:t>
            </a:r>
            <a:r>
              <a:rPr lang="en-US" dirty="0"/>
              <a:t> </a:t>
            </a:r>
            <a:r>
              <a:rPr lang="en-US" dirty="0" err="1"/>
              <a:t>một</a:t>
            </a:r>
            <a:r>
              <a:rPr lang="en-US" dirty="0"/>
              <a:t> </a:t>
            </a:r>
            <a:r>
              <a:rPr lang="en-US" dirty="0" err="1"/>
              <a:t>gói</a:t>
            </a:r>
            <a:r>
              <a:rPr lang="en-US" dirty="0"/>
              <a:t>, </a:t>
            </a:r>
            <a:r>
              <a:rPr lang="en-US" dirty="0" err="1"/>
              <a:t>thông</a:t>
            </a:r>
            <a:r>
              <a:rPr lang="en-US" dirty="0"/>
              <a:t> tin </a:t>
            </a:r>
            <a:r>
              <a:rPr lang="en-US" dirty="0" err="1"/>
              <a:t>được</a:t>
            </a:r>
            <a:r>
              <a:rPr lang="en-US" dirty="0"/>
              <a:t> </a:t>
            </a:r>
            <a:r>
              <a:rPr lang="en-US" dirty="0" err="1"/>
              <a:t>lưu</a:t>
            </a:r>
            <a:r>
              <a:rPr lang="en-US" dirty="0"/>
              <a:t> </a:t>
            </a:r>
            <a:r>
              <a:rPr lang="en-US" dirty="0" err="1"/>
              <a:t>trong</a:t>
            </a:r>
            <a:r>
              <a:rPr lang="en-US" dirty="0"/>
              <a:t> </a:t>
            </a:r>
            <a:r>
              <a:rPr lang="en-US" dirty="0" err="1"/>
              <a:t>các</a:t>
            </a:r>
            <a:r>
              <a:rPr lang="en-US" dirty="0"/>
              <a:t> </a:t>
            </a:r>
            <a:r>
              <a:rPr lang="en-US" dirty="0" err="1"/>
              <a:t>chuyển</a:t>
            </a:r>
            <a:r>
              <a:rPr lang="en-US" dirty="0"/>
              <a:t> </a:t>
            </a:r>
            <a:r>
              <a:rPr lang="en-US" dirty="0" err="1"/>
              <a:t>mạch</a:t>
            </a:r>
            <a:r>
              <a:rPr lang="en-US" dirty="0"/>
              <a:t> </a:t>
            </a:r>
            <a:r>
              <a:rPr lang="en-US" dirty="0" err="1"/>
              <a:t>trên</a:t>
            </a:r>
            <a:r>
              <a:rPr lang="en-US" dirty="0"/>
              <a:t> </a:t>
            </a:r>
            <a:r>
              <a:rPr lang="en-US" dirty="0" err="1"/>
              <a:t>đường</a:t>
            </a:r>
            <a:r>
              <a:rPr lang="en-US" dirty="0"/>
              <a:t> </a:t>
            </a:r>
            <a:r>
              <a:rPr lang="en-US" dirty="0" err="1"/>
              <a:t>đi</a:t>
            </a:r>
            <a:r>
              <a:rPr lang="en-US" dirty="0"/>
              <a:t>, </a:t>
            </a:r>
            <a:r>
              <a:rPr lang="en-US" dirty="0" err="1"/>
              <a:t>các</a:t>
            </a:r>
            <a:r>
              <a:rPr lang="en-US" dirty="0"/>
              <a:t> </a:t>
            </a:r>
            <a:r>
              <a:rPr lang="en-US" dirty="0" err="1"/>
              <a:t>gói</a:t>
            </a:r>
            <a:r>
              <a:rPr lang="en-US" dirty="0"/>
              <a:t> </a:t>
            </a:r>
            <a:r>
              <a:rPr lang="en-US" dirty="0" err="1"/>
              <a:t>chỉ</a:t>
            </a:r>
            <a:r>
              <a:rPr lang="en-US" dirty="0"/>
              <a:t> </a:t>
            </a:r>
            <a:r>
              <a:rPr lang="en-US" dirty="0" err="1"/>
              <a:t>cần</a:t>
            </a:r>
            <a:r>
              <a:rPr lang="en-US" dirty="0"/>
              <a:t> </a:t>
            </a:r>
            <a:r>
              <a:rPr lang="en-US" dirty="0" err="1"/>
              <a:t>lưu</a:t>
            </a:r>
            <a:r>
              <a:rPr lang="en-US" dirty="0"/>
              <a:t> ID</a:t>
            </a:r>
          </a:p>
          <a:p>
            <a:pPr lvl="2">
              <a:spcAft>
                <a:spcPct val="10000"/>
              </a:spcAft>
            </a:pPr>
            <a:r>
              <a:rPr lang="en-US" dirty="0" err="1">
                <a:solidFill>
                  <a:srgbClr val="008000"/>
                </a:solidFill>
              </a:rPr>
              <a:t>Hướng</a:t>
            </a:r>
            <a:r>
              <a:rPr lang="en-US" dirty="0">
                <a:solidFill>
                  <a:srgbClr val="008000"/>
                </a:solidFill>
              </a:rPr>
              <a:t> </a:t>
            </a:r>
            <a:r>
              <a:rPr lang="en-US" dirty="0" err="1">
                <a:solidFill>
                  <a:srgbClr val="008000"/>
                </a:solidFill>
              </a:rPr>
              <a:t>không</a:t>
            </a:r>
            <a:r>
              <a:rPr lang="en-US" dirty="0">
                <a:solidFill>
                  <a:srgbClr val="008000"/>
                </a:solidFill>
              </a:rPr>
              <a:t> </a:t>
            </a:r>
            <a:r>
              <a:rPr lang="en-US" dirty="0" err="1">
                <a:solidFill>
                  <a:srgbClr val="008000"/>
                </a:solidFill>
              </a:rPr>
              <a:t>kết</a:t>
            </a:r>
            <a:r>
              <a:rPr lang="en-US" dirty="0">
                <a:solidFill>
                  <a:srgbClr val="008000"/>
                </a:solidFill>
              </a:rPr>
              <a:t> </a:t>
            </a:r>
            <a:r>
              <a:rPr lang="en-US" dirty="0" err="1">
                <a:solidFill>
                  <a:srgbClr val="008000"/>
                </a:solidFill>
              </a:rPr>
              <a:t>nối</a:t>
            </a:r>
            <a:r>
              <a:rPr lang="en-US" dirty="0">
                <a:solidFill>
                  <a:srgbClr val="008000"/>
                </a:solidFill>
              </a:rPr>
              <a:t> – connectionless</a:t>
            </a:r>
            <a:r>
              <a:rPr lang="en-US" dirty="0"/>
              <a:t> : </a:t>
            </a:r>
            <a:r>
              <a:rPr lang="en-US" dirty="0" err="1"/>
              <a:t>mỗi</a:t>
            </a:r>
            <a:r>
              <a:rPr lang="en-US" dirty="0"/>
              <a:t> </a:t>
            </a:r>
            <a:r>
              <a:rPr lang="en-US" dirty="0" err="1"/>
              <a:t>gói</a:t>
            </a:r>
            <a:r>
              <a:rPr lang="en-US" dirty="0"/>
              <a:t> </a:t>
            </a:r>
            <a:r>
              <a:rPr lang="en-US" dirty="0" err="1"/>
              <a:t>phải</a:t>
            </a:r>
            <a:r>
              <a:rPr lang="en-US" dirty="0"/>
              <a:t> </a:t>
            </a:r>
            <a:r>
              <a:rPr lang="en-US" dirty="0" err="1"/>
              <a:t>mang</a:t>
            </a:r>
            <a:r>
              <a:rPr lang="en-US" dirty="0"/>
              <a:t> </a:t>
            </a:r>
            <a:r>
              <a:rPr lang="en-US" dirty="0" err="1"/>
              <a:t>đầy</a:t>
            </a:r>
            <a:r>
              <a:rPr lang="en-US" dirty="0"/>
              <a:t> </a:t>
            </a:r>
            <a:r>
              <a:rPr lang="en-US" dirty="0" err="1"/>
              <a:t>đủ</a:t>
            </a:r>
            <a:r>
              <a:rPr lang="en-US" dirty="0"/>
              <a:t> </a:t>
            </a:r>
            <a:r>
              <a:rPr lang="en-US" dirty="0" err="1"/>
              <a:t>thông</a:t>
            </a:r>
            <a:r>
              <a:rPr lang="en-US" dirty="0"/>
              <a:t> tin </a:t>
            </a:r>
            <a:r>
              <a:rPr lang="en-US" dirty="0" err="1"/>
              <a:t>địa</a:t>
            </a:r>
            <a:r>
              <a:rPr lang="en-US" dirty="0"/>
              <a:t> </a:t>
            </a:r>
            <a:r>
              <a:rPr lang="en-US" dirty="0" err="1"/>
              <a:t>chỉ</a:t>
            </a:r>
            <a:endParaRPr lang="en-US" dirty="0"/>
          </a:p>
          <a:p>
            <a:pPr lvl="1">
              <a:lnSpc>
                <a:spcPct val="80000"/>
              </a:lnSpc>
              <a:spcAft>
                <a:spcPct val="10000"/>
              </a:spcAft>
            </a:pPr>
            <a:r>
              <a:rPr lang="en-US" sz="2800" dirty="0" err="1"/>
              <a:t>Ứng</a:t>
            </a:r>
            <a:r>
              <a:rPr lang="en-US" sz="2800" dirty="0"/>
              <a:t> </a:t>
            </a:r>
            <a:r>
              <a:rPr lang="en-US" sz="2800" dirty="0" err="1"/>
              <a:t>dụng</a:t>
            </a:r>
            <a:r>
              <a:rPr lang="en-US" sz="2800" dirty="0"/>
              <a:t> :</a:t>
            </a:r>
          </a:p>
          <a:p>
            <a:pPr lvl="2">
              <a:lnSpc>
                <a:spcPct val="80000"/>
              </a:lnSpc>
              <a:spcAft>
                <a:spcPct val="10000"/>
              </a:spcAft>
            </a:pPr>
            <a:r>
              <a:rPr lang="en-US" dirty="0" err="1"/>
              <a:t>Công</a:t>
            </a:r>
            <a:r>
              <a:rPr lang="en-US" dirty="0"/>
              <a:t> </a:t>
            </a:r>
            <a:r>
              <a:rPr lang="en-US" dirty="0" err="1"/>
              <a:t>nghệ</a:t>
            </a:r>
            <a:r>
              <a:rPr lang="en-US" dirty="0"/>
              <a:t> ATM</a:t>
            </a:r>
          </a:p>
          <a:p>
            <a:pPr lvl="2">
              <a:lnSpc>
                <a:spcPct val="80000"/>
              </a:lnSpc>
              <a:spcAft>
                <a:spcPct val="10000"/>
              </a:spcAft>
            </a:pPr>
            <a:r>
              <a:rPr lang="en-US" dirty="0" err="1"/>
              <a:t>Công</a:t>
            </a:r>
            <a:r>
              <a:rPr lang="en-US" dirty="0"/>
              <a:t> </a:t>
            </a:r>
            <a:r>
              <a:rPr lang="en-US" dirty="0" err="1"/>
              <a:t>nghệ</a:t>
            </a:r>
            <a:r>
              <a:rPr lang="en-US" dirty="0"/>
              <a:t> Frame Relay</a:t>
            </a:r>
          </a:p>
          <a:p>
            <a:pPr lvl="2">
              <a:lnSpc>
                <a:spcPct val="80000"/>
              </a:lnSpc>
              <a:spcAft>
                <a:spcPct val="10000"/>
              </a:spcAft>
            </a:pPr>
            <a:r>
              <a:rPr lang="en-US" dirty="0" err="1"/>
              <a:t>Công</a:t>
            </a:r>
            <a:r>
              <a:rPr lang="en-US" dirty="0"/>
              <a:t> </a:t>
            </a:r>
            <a:r>
              <a:rPr lang="en-US" dirty="0" err="1"/>
              <a:t>nghệ</a:t>
            </a:r>
            <a:r>
              <a:rPr lang="en-US" dirty="0"/>
              <a:t> SMDS</a:t>
            </a:r>
          </a:p>
          <a:p>
            <a:endParaRPr lang="en-US" dirty="0"/>
          </a:p>
        </p:txBody>
      </p:sp>
    </p:spTree>
    <p:extLst>
      <p:ext uri="{BB962C8B-B14F-4D97-AF65-F5344CB8AC3E}">
        <p14:creationId xmlns:p14="http://schemas.microsoft.com/office/powerpoint/2010/main" val="19112921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C742-33BE-475D-B2C2-F78D949D496E}"/>
              </a:ext>
            </a:extLst>
          </p:cNvPr>
          <p:cNvSpPr>
            <a:spLocks noGrp="1"/>
          </p:cNvSpPr>
          <p:nvPr>
            <p:ph type="title"/>
          </p:nvPr>
        </p:nvSpPr>
        <p:spPr/>
        <p:txBody>
          <a:bodyPr/>
          <a:lstStyle/>
          <a:p>
            <a:r>
              <a:rPr lang="en-US" dirty="0"/>
              <a:t>VII. CÁC THÔNG SỐ C</a:t>
            </a:r>
            <a:r>
              <a:rPr lang="vi-VN" dirty="0"/>
              <a:t>Ơ</a:t>
            </a:r>
            <a:r>
              <a:rPr lang="en-US" dirty="0"/>
              <a:t> BẢN TRÊN INTERNET</a:t>
            </a:r>
          </a:p>
        </p:txBody>
      </p:sp>
      <p:sp>
        <p:nvSpPr>
          <p:cNvPr id="3" name="Content Placeholder 2">
            <a:extLst>
              <a:ext uri="{FF2B5EF4-FFF2-40B4-BE49-F238E27FC236}">
                <a16:creationId xmlns:a16="http://schemas.microsoft.com/office/drawing/2014/main" id="{9256245A-195C-48F4-AF9A-69E9DDE579AC}"/>
              </a:ext>
            </a:extLst>
          </p:cNvPr>
          <p:cNvSpPr>
            <a:spLocks noGrp="1"/>
          </p:cNvSpPr>
          <p:nvPr>
            <p:ph idx="1"/>
          </p:nvPr>
        </p:nvSpPr>
        <p:spPr/>
        <p:txBody>
          <a:bodyPr/>
          <a:lstStyle/>
          <a:p>
            <a:r>
              <a:rPr lang="en-US" dirty="0" err="1"/>
              <a:t>Băng</a:t>
            </a:r>
            <a:r>
              <a:rPr lang="en-US" dirty="0"/>
              <a:t> </a:t>
            </a:r>
            <a:r>
              <a:rPr lang="en-US" dirty="0" err="1"/>
              <a:t>thông</a:t>
            </a:r>
            <a:endParaRPr lang="en-US" dirty="0"/>
          </a:p>
          <a:p>
            <a:r>
              <a:rPr lang="en-US" dirty="0" err="1"/>
              <a:t>Độ</a:t>
            </a:r>
            <a:r>
              <a:rPr lang="en-US" dirty="0"/>
              <a:t> </a:t>
            </a:r>
            <a:r>
              <a:rPr lang="en-US" dirty="0" err="1"/>
              <a:t>trễ</a:t>
            </a:r>
            <a:endParaRPr lang="en-US" dirty="0"/>
          </a:p>
          <a:p>
            <a:r>
              <a:rPr lang="en-US" dirty="0" err="1"/>
              <a:t>Mất</a:t>
            </a:r>
            <a:r>
              <a:rPr lang="en-US" dirty="0"/>
              <a:t> </a:t>
            </a:r>
            <a:r>
              <a:rPr lang="en-US" dirty="0" err="1"/>
              <a:t>gói</a:t>
            </a:r>
            <a:endParaRPr lang="en-US" dirty="0"/>
          </a:p>
        </p:txBody>
      </p:sp>
    </p:spTree>
    <p:extLst>
      <p:ext uri="{BB962C8B-B14F-4D97-AF65-F5344CB8AC3E}">
        <p14:creationId xmlns:p14="http://schemas.microsoft.com/office/powerpoint/2010/main" val="2810737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dirty="0"/>
              <a:t>VII.1. BĂNG THÔNG</a:t>
            </a:r>
          </a:p>
        </p:txBody>
      </p:sp>
      <p:sp>
        <p:nvSpPr>
          <p:cNvPr id="3075" name="Content Placeholder 2"/>
          <p:cNvSpPr>
            <a:spLocks noGrp="1"/>
          </p:cNvSpPr>
          <p:nvPr>
            <p:ph idx="1"/>
          </p:nvPr>
        </p:nvSpPr>
        <p:spPr/>
        <p:txBody>
          <a:bodyPr/>
          <a:lstStyle/>
          <a:p>
            <a:pPr algn="just" eaLnBrk="1" hangingPunct="1"/>
            <a:r>
              <a:rPr lang="en-US" dirty="0" err="1"/>
              <a:t>Băng</a:t>
            </a:r>
            <a:r>
              <a:rPr lang="en-US" dirty="0"/>
              <a:t> </a:t>
            </a:r>
            <a:r>
              <a:rPr lang="en-US" dirty="0" err="1"/>
              <a:t>thông</a:t>
            </a:r>
            <a:r>
              <a:rPr lang="en-US" dirty="0"/>
              <a:t> (Bandwidth - the width of a band of electromagnetic frequencies - </a:t>
            </a:r>
            <a:r>
              <a:rPr lang="en-US" dirty="0" err="1"/>
              <a:t>dịch</a:t>
            </a:r>
            <a:r>
              <a:rPr lang="en-US" dirty="0"/>
              <a:t> </a:t>
            </a:r>
            <a:r>
              <a:rPr lang="en-US" dirty="0" err="1"/>
              <a:t>nôm</a:t>
            </a:r>
            <a:r>
              <a:rPr lang="en-US" dirty="0"/>
              <a:t> </a:t>
            </a:r>
            <a:r>
              <a:rPr lang="en-US" dirty="0" err="1"/>
              <a:t>na</a:t>
            </a:r>
            <a:r>
              <a:rPr lang="en-US" dirty="0"/>
              <a:t> </a:t>
            </a:r>
            <a:r>
              <a:rPr lang="en-US" dirty="0" err="1"/>
              <a:t>là</a:t>
            </a:r>
            <a:r>
              <a:rPr lang="en-US" dirty="0"/>
              <a:t> </a:t>
            </a:r>
            <a:r>
              <a:rPr lang="en-US" dirty="0" err="1"/>
              <a:t>độ</a:t>
            </a:r>
            <a:r>
              <a:rPr lang="en-US" dirty="0"/>
              <a:t> </a:t>
            </a:r>
            <a:r>
              <a:rPr lang="en-US" dirty="0" err="1"/>
              <a:t>rộng</a:t>
            </a:r>
            <a:r>
              <a:rPr lang="en-US" dirty="0"/>
              <a:t> </a:t>
            </a:r>
            <a:r>
              <a:rPr lang="en-US" dirty="0" err="1"/>
              <a:t>của</a:t>
            </a:r>
            <a:r>
              <a:rPr lang="en-US" dirty="0"/>
              <a:t> </a:t>
            </a:r>
            <a:r>
              <a:rPr lang="en-US" dirty="0" err="1"/>
              <a:t>một</a:t>
            </a:r>
            <a:r>
              <a:rPr lang="en-US" dirty="0"/>
              <a:t> </a:t>
            </a:r>
            <a:r>
              <a:rPr lang="en-US" dirty="0" err="1"/>
              <a:t>dải</a:t>
            </a:r>
            <a:r>
              <a:rPr lang="en-US" dirty="0"/>
              <a:t> </a:t>
            </a:r>
            <a:r>
              <a:rPr lang="en-US" dirty="0" err="1"/>
              <a:t>tần</a:t>
            </a:r>
            <a:r>
              <a:rPr lang="en-US" dirty="0"/>
              <a:t> </a:t>
            </a:r>
            <a:r>
              <a:rPr lang="en-US" dirty="0" err="1"/>
              <a:t>số</a:t>
            </a:r>
            <a:r>
              <a:rPr lang="en-US" dirty="0"/>
              <a:t> </a:t>
            </a:r>
            <a:r>
              <a:rPr lang="en-US" dirty="0" err="1"/>
              <a:t>điện</a:t>
            </a:r>
            <a:r>
              <a:rPr lang="en-US" dirty="0"/>
              <a:t> </a:t>
            </a:r>
            <a:r>
              <a:rPr lang="en-US" dirty="0" err="1"/>
              <a:t>từ</a:t>
            </a:r>
            <a:r>
              <a:rPr lang="en-US" dirty="0"/>
              <a:t> ), </a:t>
            </a:r>
            <a:r>
              <a:rPr lang="en-US" dirty="0" err="1"/>
              <a:t>đại</a:t>
            </a:r>
            <a:r>
              <a:rPr lang="en-US" dirty="0"/>
              <a:t> </a:t>
            </a:r>
            <a:r>
              <a:rPr lang="en-US" dirty="0" err="1"/>
              <a:t>diện</a:t>
            </a:r>
            <a:r>
              <a:rPr lang="en-US" dirty="0"/>
              <a:t> </a:t>
            </a:r>
            <a:r>
              <a:rPr lang="en-US" dirty="0" err="1"/>
              <a:t>cho</a:t>
            </a:r>
            <a:r>
              <a:rPr lang="en-US" dirty="0"/>
              <a:t> </a:t>
            </a:r>
            <a:r>
              <a:rPr lang="en-US" dirty="0" err="1"/>
              <a:t>tốc</a:t>
            </a:r>
            <a:r>
              <a:rPr lang="en-US" dirty="0"/>
              <a:t> </a:t>
            </a:r>
            <a:r>
              <a:rPr lang="en-US" dirty="0" err="1"/>
              <a:t>độ</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của</a:t>
            </a:r>
            <a:r>
              <a:rPr lang="en-US" dirty="0"/>
              <a:t> </a:t>
            </a:r>
            <a:r>
              <a:rPr lang="en-US" dirty="0" err="1"/>
              <a:t>một</a:t>
            </a:r>
            <a:r>
              <a:rPr lang="en-US" dirty="0"/>
              <a:t> </a:t>
            </a:r>
            <a:r>
              <a:rPr lang="en-US" dirty="0" err="1"/>
              <a:t>đường</a:t>
            </a:r>
            <a:r>
              <a:rPr lang="en-US" dirty="0"/>
              <a:t> </a:t>
            </a:r>
            <a:r>
              <a:rPr lang="en-US" dirty="0" err="1"/>
              <a:t>truyền</a:t>
            </a:r>
            <a:r>
              <a:rPr lang="en-US" dirty="0"/>
              <a:t>, hay, </a:t>
            </a:r>
            <a:r>
              <a:rPr lang="en-US" dirty="0" err="1"/>
              <a:t>còn</a:t>
            </a:r>
            <a:r>
              <a:rPr lang="en-US" dirty="0"/>
              <a:t> </a:t>
            </a:r>
            <a:r>
              <a:rPr lang="en-US" dirty="0" err="1"/>
              <a:t>được</a:t>
            </a:r>
            <a:r>
              <a:rPr lang="en-US" dirty="0"/>
              <a:t> </a:t>
            </a:r>
            <a:r>
              <a:rPr lang="en-US" dirty="0" err="1"/>
              <a:t>hiểu</a:t>
            </a:r>
            <a:r>
              <a:rPr lang="en-US" dirty="0"/>
              <a:t> </a:t>
            </a:r>
            <a:r>
              <a:rPr lang="en-US" dirty="0" err="1"/>
              <a:t>là</a:t>
            </a:r>
            <a:r>
              <a:rPr lang="en-US" dirty="0"/>
              <a:t> </a:t>
            </a:r>
            <a:r>
              <a:rPr lang="en-US" dirty="0" err="1"/>
              <a:t>độ</a:t>
            </a:r>
            <a:r>
              <a:rPr lang="en-US" dirty="0"/>
              <a:t> </a:t>
            </a:r>
            <a:r>
              <a:rPr lang="en-US" dirty="0" err="1"/>
              <a:t>rộng</a:t>
            </a:r>
            <a:r>
              <a:rPr lang="en-US" dirty="0"/>
              <a:t> (width) </a:t>
            </a:r>
            <a:r>
              <a:rPr lang="en-US" dirty="0" err="1"/>
              <a:t>của</a:t>
            </a:r>
            <a:r>
              <a:rPr lang="en-US" dirty="0"/>
              <a:t> </a:t>
            </a:r>
            <a:r>
              <a:rPr lang="en-US" dirty="0" err="1"/>
              <a:t>một</a:t>
            </a:r>
            <a:r>
              <a:rPr lang="en-US" dirty="0"/>
              <a:t> </a:t>
            </a:r>
            <a:r>
              <a:rPr lang="en-US" dirty="0" err="1"/>
              <a:t>dải</a:t>
            </a:r>
            <a:r>
              <a:rPr lang="en-US" dirty="0"/>
              <a:t> </a:t>
            </a:r>
            <a:r>
              <a:rPr lang="en-US" dirty="0" err="1"/>
              <a:t>tần</a:t>
            </a:r>
            <a:r>
              <a:rPr lang="en-US" dirty="0"/>
              <a:t> </a:t>
            </a:r>
            <a:r>
              <a:rPr lang="en-US" dirty="0" err="1"/>
              <a:t>số</a:t>
            </a:r>
            <a:r>
              <a:rPr lang="en-US" dirty="0"/>
              <a:t> </a:t>
            </a:r>
            <a:r>
              <a:rPr lang="en-US" dirty="0" err="1"/>
              <a:t>mà</a:t>
            </a:r>
            <a:r>
              <a:rPr lang="en-US" dirty="0"/>
              <a:t> </a:t>
            </a:r>
            <a:r>
              <a:rPr lang="en-US" dirty="0" err="1"/>
              <a:t>các</a:t>
            </a:r>
            <a:r>
              <a:rPr lang="en-US" dirty="0"/>
              <a:t> </a:t>
            </a:r>
            <a:r>
              <a:rPr lang="en-US" dirty="0" err="1"/>
              <a:t>tín</a:t>
            </a:r>
            <a:r>
              <a:rPr lang="en-US" dirty="0"/>
              <a:t> </a:t>
            </a:r>
            <a:r>
              <a:rPr lang="en-US" dirty="0" err="1"/>
              <a:t>hiệu</a:t>
            </a:r>
            <a:r>
              <a:rPr lang="en-US" dirty="0"/>
              <a:t> </a:t>
            </a:r>
            <a:r>
              <a:rPr lang="en-US" dirty="0" err="1"/>
              <a:t>điện</a:t>
            </a:r>
            <a:r>
              <a:rPr lang="en-US" dirty="0"/>
              <a:t> </a:t>
            </a:r>
            <a:r>
              <a:rPr lang="en-US" dirty="0" err="1"/>
              <a:t>tử</a:t>
            </a:r>
            <a:r>
              <a:rPr lang="en-US" dirty="0"/>
              <a:t> </a:t>
            </a:r>
            <a:r>
              <a:rPr lang="en-US" dirty="0" err="1"/>
              <a:t>chiếm</a:t>
            </a:r>
            <a:r>
              <a:rPr lang="en-US" dirty="0"/>
              <a:t> </a:t>
            </a:r>
            <a:r>
              <a:rPr lang="en-US" dirty="0" err="1"/>
              <a:t>giữ</a:t>
            </a:r>
            <a:r>
              <a:rPr lang="en-US" dirty="0"/>
              <a:t> </a:t>
            </a:r>
            <a:r>
              <a:rPr lang="en-US" dirty="0" err="1"/>
              <a:t>trên</a:t>
            </a:r>
            <a:r>
              <a:rPr lang="en-US" dirty="0"/>
              <a:t> </a:t>
            </a:r>
            <a:r>
              <a:rPr lang="en-US" dirty="0" err="1"/>
              <a:t>một</a:t>
            </a:r>
            <a:r>
              <a:rPr lang="en-US" dirty="0"/>
              <a:t> </a:t>
            </a:r>
            <a:r>
              <a:rPr lang="en-US" dirty="0" err="1"/>
              <a:t>phương</a:t>
            </a:r>
            <a:r>
              <a:rPr lang="en-US" dirty="0"/>
              <a:t> </a:t>
            </a:r>
            <a:r>
              <a:rPr lang="en-US" dirty="0" err="1"/>
              <a:t>tiện</a:t>
            </a:r>
            <a:r>
              <a:rPr lang="en-US" dirty="0"/>
              <a:t> </a:t>
            </a:r>
            <a:r>
              <a:rPr lang="en-US" dirty="0" err="1"/>
              <a:t>truyền</a:t>
            </a:r>
            <a:r>
              <a:rPr lang="en-US" dirty="0"/>
              <a:t> </a:t>
            </a:r>
            <a:r>
              <a:rPr lang="en-US" dirty="0" err="1"/>
              <a:t>dẫn</a:t>
            </a:r>
            <a:r>
              <a:rPr lang="en-US" dirty="0"/>
              <a:t>.</a:t>
            </a:r>
          </a:p>
          <a:p>
            <a:pPr algn="just"/>
            <a:r>
              <a:rPr lang="en-US" dirty="0" err="1"/>
              <a:t>Nói</a:t>
            </a:r>
            <a:r>
              <a:rPr lang="en-US" dirty="0"/>
              <a:t> </a:t>
            </a:r>
            <a:r>
              <a:rPr lang="en-US" dirty="0" err="1"/>
              <a:t>chung</a:t>
            </a:r>
            <a:r>
              <a:rPr lang="en-US" dirty="0"/>
              <a:t>, bandwidth </a:t>
            </a:r>
            <a:r>
              <a:rPr lang="en-US" dirty="0" err="1"/>
              <a:t>đồng</a:t>
            </a:r>
            <a:r>
              <a:rPr lang="en-US" dirty="0"/>
              <a:t> </a:t>
            </a:r>
            <a:r>
              <a:rPr lang="en-US" dirty="0" err="1"/>
              <a:t>nghĩa</a:t>
            </a:r>
            <a:r>
              <a:rPr lang="en-US" dirty="0"/>
              <a:t> </a:t>
            </a:r>
            <a:r>
              <a:rPr lang="en-US" dirty="0" err="1"/>
              <a:t>với</a:t>
            </a:r>
            <a:r>
              <a:rPr lang="en-US" dirty="0"/>
              <a:t> </a:t>
            </a:r>
            <a:r>
              <a:rPr lang="en-US" dirty="0" err="1"/>
              <a:t>số</a:t>
            </a:r>
            <a:r>
              <a:rPr lang="en-US" dirty="0"/>
              <a:t> </a:t>
            </a:r>
            <a:r>
              <a:rPr lang="en-US" dirty="0" err="1"/>
              <a:t>lượng</a:t>
            </a:r>
            <a:r>
              <a:rPr lang="en-US" dirty="0"/>
              <a:t> </a:t>
            </a:r>
            <a:r>
              <a:rPr lang="en-US" dirty="0" err="1"/>
              <a:t>dữ</a:t>
            </a:r>
            <a:r>
              <a:rPr lang="en-US" dirty="0"/>
              <a:t> </a:t>
            </a:r>
            <a:r>
              <a:rPr lang="en-US" dirty="0" err="1"/>
              <a:t>liệu</a:t>
            </a:r>
            <a:r>
              <a:rPr lang="en-US" dirty="0"/>
              <a:t> </a:t>
            </a:r>
            <a:r>
              <a:rPr lang="en-US" dirty="0" err="1"/>
              <a:t>được</a:t>
            </a:r>
            <a:r>
              <a:rPr lang="en-US" dirty="0"/>
              <a:t> </a:t>
            </a:r>
            <a:r>
              <a:rPr lang="en-US" dirty="0" err="1"/>
              <a:t>truyền</a:t>
            </a:r>
            <a:r>
              <a:rPr lang="en-US" dirty="0"/>
              <a:t> </a:t>
            </a:r>
            <a:r>
              <a:rPr lang="en-US" dirty="0" err="1"/>
              <a:t>trên</a:t>
            </a:r>
            <a:r>
              <a:rPr lang="en-US" dirty="0"/>
              <a:t> </a:t>
            </a:r>
            <a:r>
              <a:rPr lang="en-US" dirty="0" err="1"/>
              <a:t>một</a:t>
            </a:r>
            <a:r>
              <a:rPr lang="en-US" dirty="0"/>
              <a:t> </a:t>
            </a:r>
            <a:r>
              <a:rPr lang="en-US" dirty="0" err="1"/>
              <a:t>đơn</a:t>
            </a:r>
            <a:r>
              <a:rPr lang="en-US" dirty="0"/>
              <a:t> </a:t>
            </a:r>
            <a:r>
              <a:rPr lang="en-US" dirty="0" err="1"/>
              <a:t>vị</a:t>
            </a:r>
            <a:r>
              <a:rPr lang="en-US" dirty="0"/>
              <a:t> </a:t>
            </a:r>
            <a:r>
              <a:rPr lang="en-US" dirty="0" err="1"/>
              <a:t>thời</a:t>
            </a:r>
            <a:r>
              <a:rPr lang="en-US" dirty="0"/>
              <a:t> </a:t>
            </a:r>
            <a:r>
              <a:rPr lang="en-US" dirty="0" err="1"/>
              <a:t>gian</a:t>
            </a:r>
            <a:r>
              <a:rPr lang="en-US" dirty="0"/>
              <a:t>. Bandwidth </a:t>
            </a:r>
            <a:r>
              <a:rPr lang="en-US" dirty="0" err="1"/>
              <a:t>cũng</a:t>
            </a:r>
            <a:r>
              <a:rPr lang="en-US" dirty="0"/>
              <a:t> </a:t>
            </a:r>
            <a:r>
              <a:rPr lang="en-US" dirty="0" err="1"/>
              <a:t>đồng</a:t>
            </a:r>
            <a:r>
              <a:rPr lang="en-US" dirty="0"/>
              <a:t> </a:t>
            </a:r>
            <a:r>
              <a:rPr lang="en-US" dirty="0" err="1"/>
              <a:t>nghĩa</a:t>
            </a:r>
            <a:r>
              <a:rPr lang="en-US" dirty="0"/>
              <a:t> </a:t>
            </a:r>
            <a:r>
              <a:rPr lang="en-US" dirty="0" err="1"/>
              <a:t>với</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của</a:t>
            </a:r>
            <a:r>
              <a:rPr lang="en-US" dirty="0"/>
              <a:t> </a:t>
            </a:r>
            <a:r>
              <a:rPr lang="en-US" dirty="0" err="1"/>
              <a:t>dữ</a:t>
            </a:r>
            <a:r>
              <a:rPr lang="en-US" dirty="0"/>
              <a:t> </a:t>
            </a:r>
            <a:r>
              <a:rPr lang="en-US" dirty="0" err="1"/>
              <a:t>liệu</a:t>
            </a:r>
            <a:r>
              <a:rPr lang="en-US" dirty="0"/>
              <a:t> </a:t>
            </a:r>
            <a:r>
              <a:rPr lang="en-US" dirty="0" err="1"/>
              <a:t>đối</a:t>
            </a:r>
            <a:r>
              <a:rPr lang="en-US" dirty="0"/>
              <a:t> </a:t>
            </a:r>
            <a:r>
              <a:rPr lang="en-US" dirty="0" err="1"/>
              <a:t>với</a:t>
            </a:r>
            <a:r>
              <a:rPr lang="en-US" dirty="0"/>
              <a:t> </a:t>
            </a:r>
            <a:r>
              <a:rPr lang="en-US" dirty="0" err="1"/>
              <a:t>khả</a:t>
            </a:r>
            <a:r>
              <a:rPr lang="en-US" dirty="0"/>
              <a:t> </a:t>
            </a:r>
            <a:r>
              <a:rPr lang="en-US" dirty="0" err="1"/>
              <a:t>năng</a:t>
            </a:r>
            <a:r>
              <a:rPr lang="en-US" dirty="0"/>
              <a:t> </a:t>
            </a:r>
            <a:r>
              <a:rPr lang="en-US" dirty="0" err="1"/>
              <a:t>của</a:t>
            </a:r>
            <a:r>
              <a:rPr lang="en-US" dirty="0"/>
              <a:t> </a:t>
            </a:r>
            <a:r>
              <a:rPr lang="en-US" dirty="0" err="1"/>
              <a:t>hệ</a:t>
            </a:r>
            <a:r>
              <a:rPr lang="en-US" dirty="0"/>
              <a:t> </a:t>
            </a:r>
            <a:r>
              <a:rPr lang="en-US" dirty="0" err="1"/>
              <a:t>thống</a:t>
            </a:r>
            <a:r>
              <a:rPr lang="en-US" dirty="0"/>
              <a:t>. </a:t>
            </a:r>
          </a:p>
          <a:p>
            <a:pPr algn="just"/>
            <a:r>
              <a:rPr lang="en-US" dirty="0" err="1"/>
              <a:t>Ví</a:t>
            </a:r>
            <a:r>
              <a:rPr lang="en-US" dirty="0"/>
              <a:t> </a:t>
            </a:r>
            <a:r>
              <a:rPr lang="en-US" dirty="0" err="1"/>
              <a:t>dụ</a:t>
            </a:r>
            <a:r>
              <a:rPr lang="en-US" dirty="0"/>
              <a:t>, </a:t>
            </a:r>
            <a:r>
              <a:rPr lang="en-US" dirty="0" err="1"/>
              <a:t>trong</a:t>
            </a:r>
            <a:r>
              <a:rPr lang="en-US" dirty="0"/>
              <a:t> 1 </a:t>
            </a:r>
            <a:r>
              <a:rPr lang="en-US" dirty="0" err="1"/>
              <a:t>giây</a:t>
            </a:r>
            <a:r>
              <a:rPr lang="en-US" dirty="0"/>
              <a:t>, download 1 </a:t>
            </a:r>
            <a:r>
              <a:rPr lang="en-US" dirty="0" err="1"/>
              <a:t>bức</a:t>
            </a:r>
            <a:r>
              <a:rPr lang="en-US" dirty="0"/>
              <a:t> </a:t>
            </a:r>
            <a:r>
              <a:rPr lang="en-US" dirty="0" err="1"/>
              <a:t>ảnh</a:t>
            </a:r>
            <a:r>
              <a:rPr lang="en-US" dirty="0"/>
              <a:t> </a:t>
            </a:r>
            <a:r>
              <a:rPr lang="en-US" dirty="0" err="1"/>
              <a:t>sẽ</a:t>
            </a:r>
            <a:r>
              <a:rPr lang="en-US" dirty="0"/>
              <a:t> </a:t>
            </a:r>
            <a:r>
              <a:rPr lang="en-US" dirty="0" err="1"/>
              <a:t>tốn</a:t>
            </a:r>
            <a:r>
              <a:rPr lang="en-US" dirty="0"/>
              <a:t> </a:t>
            </a:r>
            <a:r>
              <a:rPr lang="en-US" dirty="0" err="1"/>
              <a:t>nhiều</a:t>
            </a:r>
            <a:r>
              <a:rPr lang="en-US" dirty="0"/>
              <a:t> bandwidth </a:t>
            </a:r>
            <a:r>
              <a:rPr lang="en-US" dirty="0" err="1"/>
              <a:t>hơn</a:t>
            </a:r>
            <a:r>
              <a:rPr lang="en-US" dirty="0"/>
              <a:t> </a:t>
            </a:r>
            <a:r>
              <a:rPr lang="en-US" dirty="0" err="1"/>
              <a:t>là</a:t>
            </a:r>
            <a:r>
              <a:rPr lang="en-US" dirty="0"/>
              <a:t> download 1 </a:t>
            </a:r>
            <a:r>
              <a:rPr lang="en-US" dirty="0" err="1"/>
              <a:t>trang</a:t>
            </a:r>
            <a:r>
              <a:rPr lang="en-US" dirty="0"/>
              <a:t> </a:t>
            </a:r>
            <a:r>
              <a:rPr lang="en-US" dirty="0" err="1"/>
              <a:t>văn</a:t>
            </a:r>
            <a:r>
              <a:rPr lang="en-US" dirty="0"/>
              <a:t> </a:t>
            </a:r>
            <a:r>
              <a:rPr lang="en-US" dirty="0" err="1"/>
              <a:t>bản</a:t>
            </a:r>
            <a:r>
              <a:rPr lang="en-US" dirty="0"/>
              <a:t> </a:t>
            </a:r>
            <a:r>
              <a:rPr lang="en-US" dirty="0" err="1"/>
              <a:t>thô</a:t>
            </a:r>
            <a:r>
              <a:rPr lang="en-US" dirty="0"/>
              <a:t> ( </a:t>
            </a:r>
            <a:r>
              <a:rPr lang="en-US" dirty="0" err="1"/>
              <a:t>chỉ</a:t>
            </a:r>
            <a:r>
              <a:rPr lang="en-US" dirty="0"/>
              <a:t> </a:t>
            </a:r>
            <a:r>
              <a:rPr lang="en-US" dirty="0" err="1"/>
              <a:t>có</a:t>
            </a:r>
            <a:r>
              <a:rPr lang="en-US" dirty="0"/>
              <a:t> </a:t>
            </a:r>
            <a:r>
              <a:rPr lang="en-US" dirty="0" err="1"/>
              <a:t>chữ</a:t>
            </a:r>
            <a:r>
              <a:rPr lang="en-US" dirty="0"/>
              <a:t> ).</a:t>
            </a:r>
          </a:p>
          <a:p>
            <a:pPr algn="just" eaLnBrk="1" hangingPunct="1"/>
            <a:endParaRPr lang="en-US" dirty="0"/>
          </a:p>
          <a:p>
            <a:pPr algn="just" eaLnBrk="1" hangingPunct="1"/>
            <a:endParaRPr lang="en-US" dirty="0"/>
          </a:p>
        </p:txBody>
      </p:sp>
    </p:spTree>
    <p:extLst>
      <p:ext uri="{BB962C8B-B14F-4D97-AF65-F5344CB8AC3E}">
        <p14:creationId xmlns:p14="http://schemas.microsoft.com/office/powerpoint/2010/main" val="31803285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VII.1. BĂNG THÔNG</a:t>
            </a:r>
          </a:p>
        </p:txBody>
      </p:sp>
      <p:sp>
        <p:nvSpPr>
          <p:cNvPr id="3" name="Content Placeholder 2"/>
          <p:cNvSpPr>
            <a:spLocks noGrp="1"/>
          </p:cNvSpPr>
          <p:nvPr>
            <p:ph idx="1"/>
          </p:nvPr>
        </p:nvSpPr>
        <p:spPr/>
        <p:txBody>
          <a:bodyPr/>
          <a:lstStyle/>
          <a:p>
            <a:endParaRPr lang="en-US" dirty="0"/>
          </a:p>
        </p:txBody>
      </p:sp>
      <p:pic>
        <p:nvPicPr>
          <p:cNvPr id="20482" name="Picture 2" descr="http://imgs.vietnamnet.vn/Images/vnn/2015/06/02/17/20150602173049-cmc2.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6658" y="3551903"/>
            <a:ext cx="5306784" cy="2971800"/>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www.hungquan.com/uploads/News/08062015/2068112612.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166" y="1066801"/>
            <a:ext cx="6577768" cy="2363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59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VII.1. BĂNG THÔNG</a:t>
            </a:r>
          </a:p>
        </p:txBody>
      </p:sp>
      <p:sp>
        <p:nvSpPr>
          <p:cNvPr id="3" name="Content Placeholder 2"/>
          <p:cNvSpPr>
            <a:spLocks noGrp="1"/>
          </p:cNvSpPr>
          <p:nvPr>
            <p:ph idx="1"/>
          </p:nvPr>
        </p:nvSpPr>
        <p:spPr/>
        <p:txBody>
          <a:bodyPr/>
          <a:lstStyle/>
          <a:p>
            <a:endParaRPr lang="en-US" dirty="0"/>
          </a:p>
        </p:txBody>
      </p:sp>
      <p:pic>
        <p:nvPicPr>
          <p:cNvPr id="1026" name="Picture 2" descr="http://1.bp.blogspot.com/_wH4q7agRmuY/SwQwpYCpeUI/AAAAAAAAAFs/fAA-3jgqRjI/s1600/Bandwidth1.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155290"/>
            <a:ext cx="6629400" cy="4941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958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VII.1. BĂNG THÔNG</a:t>
            </a:r>
          </a:p>
        </p:txBody>
      </p:sp>
      <p:sp>
        <p:nvSpPr>
          <p:cNvPr id="3" name="Content Placeholder 2"/>
          <p:cNvSpPr>
            <a:spLocks noGrp="1"/>
          </p:cNvSpPr>
          <p:nvPr>
            <p:ph idx="1"/>
          </p:nvPr>
        </p:nvSpPr>
        <p:spPr/>
        <p:txBody>
          <a:bodyPr/>
          <a:lstStyle/>
          <a:p>
            <a:endParaRPr lang="en-US"/>
          </a:p>
        </p:txBody>
      </p:sp>
      <p:pic>
        <p:nvPicPr>
          <p:cNvPr id="2052" name="Picture 4" descr="http://1.bp.blogspot.com/_wH4q7agRmuY/SwQv5q-k7_I/AAAAAAAAAFk/5JkaeyKFU2A/s1600/Bandwidth.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990600"/>
            <a:ext cx="7391400" cy="5520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7654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VII.1. BĂNG THÔNG</a:t>
            </a:r>
          </a:p>
        </p:txBody>
      </p:sp>
      <p:sp>
        <p:nvSpPr>
          <p:cNvPr id="3" name="Content Placeholder 2"/>
          <p:cNvSpPr>
            <a:spLocks noGrp="1"/>
          </p:cNvSpPr>
          <p:nvPr>
            <p:ph idx="1"/>
          </p:nvPr>
        </p:nvSpPr>
        <p:spPr/>
        <p:txBody>
          <a:bodyPr/>
          <a:lstStyle/>
          <a:p>
            <a:endParaRPr lang="en-US"/>
          </a:p>
        </p:txBody>
      </p:sp>
      <p:pic>
        <p:nvPicPr>
          <p:cNvPr id="3074" name="Picture 2" descr="http://sunesysllc.files.wordpress.com/2013/04/highway-wd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066801"/>
            <a:ext cx="7086600" cy="5576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4524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08CB9-B0E3-4B50-8191-E799664BBBF7}"/>
              </a:ext>
            </a:extLst>
          </p:cNvPr>
          <p:cNvSpPr>
            <a:spLocks noGrp="1"/>
          </p:cNvSpPr>
          <p:nvPr>
            <p:ph type="title"/>
          </p:nvPr>
        </p:nvSpPr>
        <p:spPr/>
        <p:txBody>
          <a:bodyPr/>
          <a:lstStyle/>
          <a:p>
            <a:r>
              <a:rPr lang="en-US" dirty="0"/>
              <a:t>VII.2. ĐỘ TRỄ</a:t>
            </a:r>
          </a:p>
        </p:txBody>
      </p:sp>
      <p:sp>
        <p:nvSpPr>
          <p:cNvPr id="3" name="Content Placeholder 2">
            <a:extLst>
              <a:ext uri="{FF2B5EF4-FFF2-40B4-BE49-F238E27FC236}">
                <a16:creationId xmlns:a16="http://schemas.microsoft.com/office/drawing/2014/main" id="{2A48BF83-6CE5-4764-93B9-52284FA00C63}"/>
              </a:ext>
            </a:extLst>
          </p:cNvPr>
          <p:cNvSpPr>
            <a:spLocks noGrp="1"/>
          </p:cNvSpPr>
          <p:nvPr>
            <p:ph idx="1"/>
          </p:nvPr>
        </p:nvSpPr>
        <p:spPr/>
        <p:txBody>
          <a:bodyPr/>
          <a:lstStyle/>
          <a:p>
            <a:pPr algn="just"/>
            <a:r>
              <a:rPr lang="en-US" dirty="0"/>
              <a:t>Đ</a:t>
            </a:r>
            <a:r>
              <a:rPr lang="vi-VN" dirty="0"/>
              <a:t>ộ trễ</a:t>
            </a:r>
            <a:r>
              <a:rPr lang="en-US" dirty="0"/>
              <a:t> (latency)</a:t>
            </a:r>
            <a:r>
              <a:rPr lang="vi-VN" dirty="0"/>
              <a:t> của tốc độ mạng ở đây là thể hiện cho sự chậm trễ thường phát sinh trong xữ lý dữ liệu của mạng máy tính.</a:t>
            </a:r>
            <a:endParaRPr lang="en-US" dirty="0"/>
          </a:p>
          <a:p>
            <a:pPr algn="just"/>
            <a:r>
              <a:rPr lang="vi-VN" dirty="0"/>
              <a:t>Ngược lại với băng thông, độ trễ càng nhỏ thì tốc độ mạng càng nhanh và delay càng ít</a:t>
            </a:r>
            <a:r>
              <a:rPr lang="en-US" dirty="0"/>
              <a:t>.</a:t>
            </a:r>
            <a:r>
              <a:rPr lang="vi-VN" dirty="0"/>
              <a:t> </a:t>
            </a:r>
            <a:r>
              <a:rPr lang="en-US" dirty="0"/>
              <a:t>N</a:t>
            </a:r>
            <a:r>
              <a:rPr lang="vi-VN" dirty="0"/>
              <a:t>gược lại, độ trễ càng nhiều thì tốc độ mạng càng chậm và delay càng nhiều. </a:t>
            </a:r>
            <a:endParaRPr lang="en-US" dirty="0"/>
          </a:p>
          <a:p>
            <a:pPr algn="just"/>
            <a:r>
              <a:rPr lang="vi-VN" dirty="0"/>
              <a:t>Bên cạnh đó độ trễ cũng bị ảnh hưởng bởi môi trường xung quanh hoặc do máy chủ, proxy...</a:t>
            </a:r>
            <a:endParaRPr lang="en-US" dirty="0"/>
          </a:p>
        </p:txBody>
      </p:sp>
    </p:spTree>
    <p:extLst>
      <p:ext uri="{BB962C8B-B14F-4D97-AF65-F5344CB8AC3E}">
        <p14:creationId xmlns:p14="http://schemas.microsoft.com/office/powerpoint/2010/main" val="1812675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098C2-2082-4724-854F-36528EAF03B0}"/>
              </a:ext>
            </a:extLst>
          </p:cNvPr>
          <p:cNvSpPr>
            <a:spLocks noGrp="1"/>
          </p:cNvSpPr>
          <p:nvPr>
            <p:ph type="title"/>
          </p:nvPr>
        </p:nvSpPr>
        <p:spPr/>
        <p:txBody>
          <a:bodyPr/>
          <a:lstStyle/>
          <a:p>
            <a:r>
              <a:rPr lang="en-US" dirty="0"/>
              <a:t>VII.2. ĐỘ TRỄ</a:t>
            </a:r>
          </a:p>
        </p:txBody>
      </p:sp>
      <p:sp>
        <p:nvSpPr>
          <p:cNvPr id="3" name="Content Placeholder 2">
            <a:extLst>
              <a:ext uri="{FF2B5EF4-FFF2-40B4-BE49-F238E27FC236}">
                <a16:creationId xmlns:a16="http://schemas.microsoft.com/office/drawing/2014/main" id="{01DC5F5B-C191-401D-B38C-FFDA768A46B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0F0FF0F-F1C6-4418-A647-955549F58661}"/>
              </a:ext>
            </a:extLst>
          </p:cNvPr>
          <p:cNvPicPr>
            <a:picLocks noChangeAspect="1"/>
          </p:cNvPicPr>
          <p:nvPr/>
        </p:nvPicPr>
        <p:blipFill>
          <a:blip r:embed="rId2"/>
          <a:stretch>
            <a:fillRect/>
          </a:stretch>
        </p:blipFill>
        <p:spPr>
          <a:xfrm>
            <a:off x="2098543" y="1807490"/>
            <a:ext cx="8208153" cy="2717375"/>
          </a:xfrm>
          <a:prstGeom prst="rect">
            <a:avLst/>
          </a:prstGeom>
        </p:spPr>
      </p:pic>
    </p:spTree>
    <p:extLst>
      <p:ext uri="{BB962C8B-B14F-4D97-AF65-F5344CB8AC3E}">
        <p14:creationId xmlns:p14="http://schemas.microsoft.com/office/powerpoint/2010/main" val="29621619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C9617-62E0-41F8-B4F6-08FB03E44004}"/>
              </a:ext>
            </a:extLst>
          </p:cNvPr>
          <p:cNvSpPr>
            <a:spLocks noGrp="1"/>
          </p:cNvSpPr>
          <p:nvPr>
            <p:ph type="title"/>
          </p:nvPr>
        </p:nvSpPr>
        <p:spPr/>
        <p:txBody>
          <a:bodyPr/>
          <a:lstStyle/>
          <a:p>
            <a:r>
              <a:rPr lang="en-US" dirty="0"/>
              <a:t>VII.2. ĐỘ TRỄ</a:t>
            </a:r>
          </a:p>
        </p:txBody>
      </p:sp>
      <p:sp>
        <p:nvSpPr>
          <p:cNvPr id="3" name="Content Placeholder 2">
            <a:extLst>
              <a:ext uri="{FF2B5EF4-FFF2-40B4-BE49-F238E27FC236}">
                <a16:creationId xmlns:a16="http://schemas.microsoft.com/office/drawing/2014/main" id="{E7692E54-3929-492D-BDFB-5A05016CDB8F}"/>
              </a:ext>
            </a:extLst>
          </p:cNvPr>
          <p:cNvSpPr>
            <a:spLocks noGrp="1"/>
          </p:cNvSpPr>
          <p:nvPr>
            <p:ph idx="1"/>
          </p:nvPr>
        </p:nvSpPr>
        <p:spPr>
          <a:xfrm>
            <a:off x="508000" y="1066800"/>
            <a:ext cx="4535340" cy="5486400"/>
          </a:xfrm>
        </p:spPr>
        <p:txBody>
          <a:bodyPr/>
          <a:lstStyle/>
          <a:p>
            <a:pPr algn="just"/>
            <a:r>
              <a:rPr lang="en-US" dirty="0" err="1"/>
              <a:t>Nguyên</a:t>
            </a:r>
            <a:r>
              <a:rPr lang="en-US" dirty="0"/>
              <a:t> </a:t>
            </a:r>
            <a:r>
              <a:rPr lang="en-US" dirty="0" err="1"/>
              <a:t>nhân</a:t>
            </a:r>
            <a:r>
              <a:rPr lang="en-US" dirty="0"/>
              <a:t> </a:t>
            </a:r>
            <a:r>
              <a:rPr lang="en-US" dirty="0" err="1"/>
              <a:t>gây</a:t>
            </a:r>
            <a:r>
              <a:rPr lang="en-US" dirty="0"/>
              <a:t> ra </a:t>
            </a:r>
            <a:r>
              <a:rPr lang="en-US" dirty="0" err="1"/>
              <a:t>trễ</a:t>
            </a:r>
            <a:r>
              <a:rPr lang="en-US" dirty="0"/>
              <a:t> </a:t>
            </a:r>
            <a:r>
              <a:rPr lang="en-US" dirty="0" err="1"/>
              <a:t>gồm</a:t>
            </a:r>
            <a:r>
              <a:rPr lang="en-US" dirty="0"/>
              <a:t>:</a:t>
            </a:r>
          </a:p>
          <a:p>
            <a:pPr lvl="1" algn="just"/>
            <a:r>
              <a:rPr lang="en-US" b="1" dirty="0"/>
              <a:t>Processing delay</a:t>
            </a:r>
          </a:p>
          <a:p>
            <a:pPr lvl="1" algn="just"/>
            <a:r>
              <a:rPr lang="en-US" b="1" dirty="0"/>
              <a:t>Queuing delay</a:t>
            </a:r>
          </a:p>
          <a:p>
            <a:pPr lvl="1" algn="just"/>
            <a:r>
              <a:rPr lang="en-US" b="1" dirty="0"/>
              <a:t>Propagation delay</a:t>
            </a:r>
          </a:p>
          <a:p>
            <a:pPr algn="just"/>
            <a:r>
              <a:rPr lang="en-US" dirty="0" err="1"/>
              <a:t>Độ</a:t>
            </a:r>
            <a:r>
              <a:rPr lang="en-US" dirty="0"/>
              <a:t> </a:t>
            </a:r>
            <a:r>
              <a:rPr lang="en-US" dirty="0" err="1"/>
              <a:t>trễ</a:t>
            </a:r>
            <a:r>
              <a:rPr lang="en-US" dirty="0"/>
              <a:t> đ</a:t>
            </a:r>
            <a:r>
              <a:rPr lang="vi-VN" dirty="0"/>
              <a:t>ư</a:t>
            </a:r>
            <a:r>
              <a:rPr lang="en-US" dirty="0" err="1"/>
              <a:t>ợc</a:t>
            </a:r>
            <a:r>
              <a:rPr lang="en-US" dirty="0"/>
              <a:t> </a:t>
            </a:r>
            <a:r>
              <a:rPr lang="en-US" dirty="0" err="1"/>
              <a:t>tính</a:t>
            </a:r>
            <a:r>
              <a:rPr lang="en-US" dirty="0"/>
              <a:t> </a:t>
            </a:r>
            <a:r>
              <a:rPr lang="en-US" dirty="0" err="1"/>
              <a:t>bằng</a:t>
            </a:r>
            <a:r>
              <a:rPr lang="en-US" dirty="0"/>
              <a:t> </a:t>
            </a:r>
            <a:r>
              <a:rPr lang="en-US" dirty="0" err="1"/>
              <a:t>tổng</a:t>
            </a:r>
            <a:r>
              <a:rPr lang="en-US" dirty="0"/>
              <a:t> </a:t>
            </a:r>
            <a:r>
              <a:rPr lang="en-US" dirty="0" err="1"/>
              <a:t>thời</a:t>
            </a:r>
            <a:r>
              <a:rPr lang="en-US" dirty="0"/>
              <a:t> </a:t>
            </a:r>
            <a:r>
              <a:rPr lang="en-US" dirty="0" err="1"/>
              <a:t>gian</a:t>
            </a:r>
            <a:r>
              <a:rPr lang="en-US" dirty="0"/>
              <a:t> </a:t>
            </a:r>
            <a:r>
              <a:rPr lang="en-US" dirty="0" err="1"/>
              <a:t>của</a:t>
            </a:r>
            <a:r>
              <a:rPr lang="en-US" dirty="0"/>
              <a:t> </a:t>
            </a:r>
            <a:r>
              <a:rPr lang="en-US" dirty="0" err="1"/>
              <a:t>ba</a:t>
            </a:r>
            <a:r>
              <a:rPr lang="en-US" dirty="0"/>
              <a:t> </a:t>
            </a:r>
            <a:r>
              <a:rPr lang="en-US" dirty="0" err="1"/>
              <a:t>nguyên</a:t>
            </a:r>
            <a:r>
              <a:rPr lang="en-US" dirty="0"/>
              <a:t> </a:t>
            </a:r>
            <a:r>
              <a:rPr lang="en-US" dirty="0" err="1"/>
              <a:t>nhân</a:t>
            </a:r>
            <a:r>
              <a:rPr lang="en-US" dirty="0"/>
              <a:t> </a:t>
            </a:r>
            <a:r>
              <a:rPr lang="en-US" dirty="0" err="1"/>
              <a:t>trên</a:t>
            </a:r>
            <a:r>
              <a:rPr lang="en-US" dirty="0"/>
              <a:t>.</a:t>
            </a:r>
          </a:p>
          <a:p>
            <a:pPr lvl="1" algn="just"/>
            <a:endParaRPr lang="en-US" dirty="0"/>
          </a:p>
        </p:txBody>
      </p:sp>
      <p:pic>
        <p:nvPicPr>
          <p:cNvPr id="22530" name="Picture 2" descr="http://3.bp.blogspot.com/-EqUaWG4SwQQ/U4wwZFlWkzI/AAAAAAAAAAw/l7lXUVZitoY/s1600/2-3.PNG">
            <a:extLst>
              <a:ext uri="{FF2B5EF4-FFF2-40B4-BE49-F238E27FC236}">
                <a16:creationId xmlns:a16="http://schemas.microsoft.com/office/drawing/2014/main" id="{2DF70A81-5335-47A0-9C8D-87F1487B5D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8691" y="1864151"/>
            <a:ext cx="7443650" cy="2662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8238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1705D-307F-4587-87DF-6A9428C8E6E4}"/>
              </a:ext>
            </a:extLst>
          </p:cNvPr>
          <p:cNvSpPr>
            <a:spLocks noGrp="1"/>
          </p:cNvSpPr>
          <p:nvPr>
            <p:ph type="title"/>
          </p:nvPr>
        </p:nvSpPr>
        <p:spPr/>
        <p:txBody>
          <a:bodyPr/>
          <a:lstStyle/>
          <a:p>
            <a:r>
              <a:rPr lang="en-US" dirty="0"/>
              <a:t>VII.3. MẤT GÓI TIN</a:t>
            </a:r>
          </a:p>
        </p:txBody>
      </p:sp>
      <p:sp>
        <p:nvSpPr>
          <p:cNvPr id="3" name="Content Placeholder 2">
            <a:extLst>
              <a:ext uri="{FF2B5EF4-FFF2-40B4-BE49-F238E27FC236}">
                <a16:creationId xmlns:a16="http://schemas.microsoft.com/office/drawing/2014/main" id="{E1F93075-1AA2-42F3-9C87-8ACC43001C5C}"/>
              </a:ext>
            </a:extLst>
          </p:cNvPr>
          <p:cNvSpPr>
            <a:spLocks noGrp="1"/>
          </p:cNvSpPr>
          <p:nvPr>
            <p:ph idx="1"/>
          </p:nvPr>
        </p:nvSpPr>
        <p:spPr/>
        <p:txBody>
          <a:bodyPr/>
          <a:lstStyle/>
          <a:p>
            <a:r>
              <a:rPr lang="vi-VN" dirty="0"/>
              <a:t>Mất gói tin thông thường xảy ra khi các router hết bộ nhớ đệm ở hàng đợi cổng ra.</a:t>
            </a:r>
            <a:endParaRPr lang="en-US" dirty="0"/>
          </a:p>
        </p:txBody>
      </p:sp>
      <p:pic>
        <p:nvPicPr>
          <p:cNvPr id="23554" name="Picture 2" descr="http://3.bp.blogspot.com/-TQsZ3gri5us/U4wwZsVz5pI/AAAAAAAAABI/ZSf_U6zGoFM/s1600/2-4.PNG">
            <a:extLst>
              <a:ext uri="{FF2B5EF4-FFF2-40B4-BE49-F238E27FC236}">
                <a16:creationId xmlns:a16="http://schemas.microsoft.com/office/drawing/2014/main" id="{DFE400B6-B9DE-42AC-862C-8C445E958C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535" y="2317766"/>
            <a:ext cx="6191250" cy="252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0911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E7F15-BAFE-4699-B013-D8924F70B4A2}"/>
              </a:ext>
            </a:extLst>
          </p:cNvPr>
          <p:cNvSpPr>
            <a:spLocks noGrp="1"/>
          </p:cNvSpPr>
          <p:nvPr>
            <p:ph type="title"/>
          </p:nvPr>
        </p:nvSpPr>
        <p:spPr/>
        <p:txBody>
          <a:bodyPr/>
          <a:lstStyle/>
          <a:p>
            <a:r>
              <a:rPr lang="en-US" dirty="0"/>
              <a:t>VII.3. MẤT GÓI TIN</a:t>
            </a:r>
          </a:p>
        </p:txBody>
      </p:sp>
      <p:sp>
        <p:nvSpPr>
          <p:cNvPr id="3" name="Content Placeholder 2">
            <a:extLst>
              <a:ext uri="{FF2B5EF4-FFF2-40B4-BE49-F238E27FC236}">
                <a16:creationId xmlns:a16="http://schemas.microsoft.com/office/drawing/2014/main" id="{EABE71F9-FDEE-437E-8C21-E6F7862B00A3}"/>
              </a:ext>
            </a:extLst>
          </p:cNvPr>
          <p:cNvSpPr>
            <a:spLocks noGrp="1"/>
          </p:cNvSpPr>
          <p:nvPr>
            <p:ph idx="1"/>
          </p:nvPr>
        </p:nvSpPr>
        <p:spPr/>
        <p:txBody>
          <a:bodyPr/>
          <a:lstStyle/>
          <a:p>
            <a:r>
              <a:rPr lang="vi-VN" dirty="0"/>
              <a:t>Router cũng đánh rớt các gói tin với nhiều lý do khác, ví dụ như:</a:t>
            </a:r>
            <a:endParaRPr lang="en-US" dirty="0"/>
          </a:p>
          <a:p>
            <a:pPr lvl="1"/>
            <a:r>
              <a:rPr lang="en-US" dirty="0" err="1"/>
              <a:t>Hàng</a:t>
            </a:r>
            <a:r>
              <a:rPr lang="en-US" dirty="0"/>
              <a:t> </a:t>
            </a:r>
            <a:r>
              <a:rPr lang="en-US" dirty="0" err="1"/>
              <a:t>đợi</a:t>
            </a:r>
            <a:r>
              <a:rPr lang="en-US" dirty="0"/>
              <a:t> </a:t>
            </a:r>
            <a:r>
              <a:rPr lang="en-US" dirty="0" err="1"/>
              <a:t>vào</a:t>
            </a:r>
            <a:r>
              <a:rPr lang="en-US" dirty="0"/>
              <a:t> – CPU </a:t>
            </a:r>
            <a:r>
              <a:rPr lang="en-US" dirty="0" err="1"/>
              <a:t>bị</a:t>
            </a:r>
            <a:r>
              <a:rPr lang="en-US" dirty="0"/>
              <a:t> </a:t>
            </a:r>
            <a:r>
              <a:rPr lang="en-US" dirty="0" err="1"/>
              <a:t>tắc</a:t>
            </a:r>
            <a:r>
              <a:rPr lang="en-US" dirty="0"/>
              <a:t> </a:t>
            </a:r>
            <a:r>
              <a:rPr lang="en-US" dirty="0" err="1"/>
              <a:t>nghẽn</a:t>
            </a:r>
            <a:r>
              <a:rPr lang="en-US" dirty="0"/>
              <a:t> </a:t>
            </a:r>
            <a:r>
              <a:rPr lang="en-US" dirty="0" err="1"/>
              <a:t>và</a:t>
            </a:r>
            <a:r>
              <a:rPr lang="en-US" dirty="0"/>
              <a:t> </a:t>
            </a:r>
            <a:r>
              <a:rPr lang="en-US" dirty="0" err="1"/>
              <a:t>không</a:t>
            </a:r>
            <a:r>
              <a:rPr lang="en-US" dirty="0"/>
              <a:t> </a:t>
            </a:r>
            <a:r>
              <a:rPr lang="en-US" dirty="0" err="1"/>
              <a:t>thể</a:t>
            </a:r>
            <a:r>
              <a:rPr lang="en-US" dirty="0"/>
              <a:t> </a:t>
            </a:r>
            <a:r>
              <a:rPr lang="en-US" dirty="0" err="1"/>
              <a:t>xử</a:t>
            </a:r>
            <a:r>
              <a:rPr lang="en-US" dirty="0"/>
              <a:t> </a:t>
            </a:r>
            <a:r>
              <a:rPr lang="en-US" dirty="0" err="1"/>
              <a:t>lý</a:t>
            </a:r>
            <a:r>
              <a:rPr lang="en-US" dirty="0"/>
              <a:t> </a:t>
            </a:r>
            <a:r>
              <a:rPr lang="en-US" dirty="0" err="1"/>
              <a:t>các</a:t>
            </a:r>
            <a:r>
              <a:rPr lang="en-US" dirty="0"/>
              <a:t> </a:t>
            </a:r>
            <a:r>
              <a:rPr lang="en-US" dirty="0" err="1"/>
              <a:t>gói</a:t>
            </a:r>
            <a:r>
              <a:rPr lang="en-US" dirty="0"/>
              <a:t> tin ( </a:t>
            </a:r>
            <a:r>
              <a:rPr lang="en-US" dirty="0" err="1"/>
              <a:t>hàng</a:t>
            </a:r>
            <a:r>
              <a:rPr lang="en-US" dirty="0"/>
              <a:t> </a:t>
            </a:r>
            <a:r>
              <a:rPr lang="en-US" dirty="0" err="1"/>
              <a:t>đợi</a:t>
            </a:r>
            <a:r>
              <a:rPr lang="en-US" dirty="0"/>
              <a:t> </a:t>
            </a:r>
            <a:r>
              <a:rPr lang="en-US" dirty="0" err="1"/>
              <a:t>cổng</a:t>
            </a:r>
            <a:r>
              <a:rPr lang="en-US" dirty="0"/>
              <a:t> </a:t>
            </a:r>
            <a:r>
              <a:rPr lang="en-US" dirty="0" err="1"/>
              <a:t>vào</a:t>
            </a:r>
            <a:r>
              <a:rPr lang="en-US" dirty="0"/>
              <a:t> </a:t>
            </a:r>
            <a:r>
              <a:rPr lang="en-US" dirty="0" err="1"/>
              <a:t>đầy</a:t>
            </a:r>
            <a:r>
              <a:rPr lang="en-US" dirty="0"/>
              <a:t>).</a:t>
            </a:r>
          </a:p>
          <a:p>
            <a:pPr lvl="1"/>
            <a:r>
              <a:rPr lang="en-US" dirty="0" err="1"/>
              <a:t>Từ</a:t>
            </a:r>
            <a:r>
              <a:rPr lang="en-US" dirty="0"/>
              <a:t> </a:t>
            </a:r>
            <a:r>
              <a:rPr lang="en-US" dirty="0" err="1"/>
              <a:t>chối</a:t>
            </a:r>
            <a:r>
              <a:rPr lang="en-US" dirty="0"/>
              <a:t> – </a:t>
            </a:r>
            <a:r>
              <a:rPr lang="en-US" dirty="0" err="1"/>
              <a:t>bộ</a:t>
            </a:r>
            <a:r>
              <a:rPr lang="en-US" dirty="0"/>
              <a:t> </a:t>
            </a:r>
            <a:r>
              <a:rPr lang="en-US" dirty="0" err="1"/>
              <a:t>nhớ</a:t>
            </a:r>
            <a:r>
              <a:rPr lang="en-US" dirty="0"/>
              <a:t> </a:t>
            </a:r>
            <a:r>
              <a:rPr lang="en-US" dirty="0" err="1"/>
              <a:t>đệm</a:t>
            </a:r>
            <a:r>
              <a:rPr lang="en-US" dirty="0"/>
              <a:t> </a:t>
            </a:r>
            <a:r>
              <a:rPr lang="en-US" dirty="0" err="1"/>
              <a:t>của</a:t>
            </a:r>
            <a:r>
              <a:rPr lang="en-US" dirty="0"/>
              <a:t> router </a:t>
            </a:r>
            <a:r>
              <a:rPr lang="en-US" dirty="0" err="1"/>
              <a:t>đầy</a:t>
            </a:r>
            <a:r>
              <a:rPr lang="en-US" dirty="0"/>
              <a:t>.</a:t>
            </a:r>
          </a:p>
          <a:p>
            <a:pPr lvl="1"/>
            <a:r>
              <a:rPr lang="en-US" dirty="0" err="1"/>
              <a:t>Tràn</a:t>
            </a:r>
            <a:r>
              <a:rPr lang="en-US" dirty="0"/>
              <a:t> – CPU </a:t>
            </a:r>
            <a:r>
              <a:rPr lang="en-US" dirty="0" err="1"/>
              <a:t>bị</a:t>
            </a:r>
            <a:r>
              <a:rPr lang="en-US" dirty="0"/>
              <a:t> </a:t>
            </a:r>
            <a:r>
              <a:rPr lang="en-US" dirty="0" err="1"/>
              <a:t>tắc</a:t>
            </a:r>
            <a:r>
              <a:rPr lang="en-US" dirty="0"/>
              <a:t> </a:t>
            </a:r>
            <a:r>
              <a:rPr lang="en-US" dirty="0" err="1"/>
              <a:t>nghẽn</a:t>
            </a:r>
            <a:r>
              <a:rPr lang="en-US" dirty="0"/>
              <a:t> </a:t>
            </a:r>
            <a:r>
              <a:rPr lang="en-US" dirty="0" err="1"/>
              <a:t>và</a:t>
            </a:r>
            <a:r>
              <a:rPr lang="en-US" dirty="0"/>
              <a:t> </a:t>
            </a:r>
            <a:r>
              <a:rPr lang="en-US" dirty="0" err="1"/>
              <a:t>không</a:t>
            </a:r>
            <a:r>
              <a:rPr lang="en-US" dirty="0"/>
              <a:t> </a:t>
            </a:r>
            <a:r>
              <a:rPr lang="en-US" dirty="0" err="1"/>
              <a:t>thể</a:t>
            </a:r>
            <a:r>
              <a:rPr lang="en-US" dirty="0"/>
              <a:t> </a:t>
            </a:r>
            <a:r>
              <a:rPr lang="en-US" dirty="0" err="1"/>
              <a:t>chỉ</a:t>
            </a:r>
            <a:r>
              <a:rPr lang="en-US" dirty="0"/>
              <a:t> </a:t>
            </a:r>
            <a:r>
              <a:rPr lang="en-US" dirty="0" err="1"/>
              <a:t>định</a:t>
            </a:r>
            <a:r>
              <a:rPr lang="en-US" dirty="0"/>
              <a:t> </a:t>
            </a:r>
            <a:r>
              <a:rPr lang="en-US" dirty="0" err="1"/>
              <a:t>bộ</a:t>
            </a:r>
            <a:r>
              <a:rPr lang="en-US" dirty="0"/>
              <a:t> </a:t>
            </a:r>
            <a:r>
              <a:rPr lang="en-US" dirty="0" err="1"/>
              <a:t>nhớ</a:t>
            </a:r>
            <a:r>
              <a:rPr lang="en-US" dirty="0"/>
              <a:t> </a:t>
            </a:r>
            <a:r>
              <a:rPr lang="en-US" dirty="0" err="1"/>
              <a:t>đệm</a:t>
            </a:r>
            <a:r>
              <a:rPr lang="en-US" dirty="0"/>
              <a:t> </a:t>
            </a:r>
            <a:r>
              <a:rPr lang="en-US" dirty="0" err="1"/>
              <a:t>cho</a:t>
            </a:r>
            <a:r>
              <a:rPr lang="en-US" dirty="0"/>
              <a:t> </a:t>
            </a:r>
            <a:r>
              <a:rPr lang="en-US" dirty="0" err="1"/>
              <a:t>gói</a:t>
            </a:r>
            <a:r>
              <a:rPr lang="en-US" dirty="0"/>
              <a:t> tin </a:t>
            </a:r>
            <a:r>
              <a:rPr lang="en-US" dirty="0" err="1"/>
              <a:t>mới</a:t>
            </a:r>
            <a:r>
              <a:rPr lang="en-US" dirty="0"/>
              <a:t>.</a:t>
            </a:r>
          </a:p>
          <a:p>
            <a:pPr lvl="1"/>
            <a:r>
              <a:rPr lang="en-US" dirty="0" err="1"/>
              <a:t>Lỗi</a:t>
            </a:r>
            <a:r>
              <a:rPr lang="en-US" dirty="0"/>
              <a:t> </a:t>
            </a:r>
            <a:r>
              <a:rPr lang="en-US" dirty="0" err="1"/>
              <a:t>khung</a:t>
            </a:r>
            <a:r>
              <a:rPr lang="en-US" dirty="0"/>
              <a:t> – </a:t>
            </a:r>
            <a:r>
              <a:rPr lang="en-US" dirty="0" err="1"/>
              <a:t>lỗi</a:t>
            </a:r>
            <a:r>
              <a:rPr lang="en-US" dirty="0"/>
              <a:t> </a:t>
            </a:r>
            <a:r>
              <a:rPr lang="en-US" dirty="0" err="1"/>
              <a:t>phần</a:t>
            </a:r>
            <a:r>
              <a:rPr lang="en-US" dirty="0"/>
              <a:t> </a:t>
            </a:r>
            <a:r>
              <a:rPr lang="en-US" dirty="0" err="1"/>
              <a:t>cứng</a:t>
            </a:r>
            <a:r>
              <a:rPr lang="en-US" dirty="0"/>
              <a:t> </a:t>
            </a:r>
            <a:r>
              <a:rPr lang="en-US" dirty="0" err="1"/>
              <a:t>trong</a:t>
            </a:r>
            <a:r>
              <a:rPr lang="en-US" dirty="0"/>
              <a:t> </a:t>
            </a:r>
            <a:r>
              <a:rPr lang="en-US" dirty="0" err="1"/>
              <a:t>khung</a:t>
            </a:r>
            <a:r>
              <a:rPr lang="en-US" dirty="0"/>
              <a:t>.</a:t>
            </a:r>
          </a:p>
          <a:p>
            <a:pPr marL="0" indent="0">
              <a:buNone/>
            </a:pPr>
            <a:br>
              <a:rPr lang="en-US" dirty="0"/>
            </a:br>
            <a:endParaRPr lang="en-US" dirty="0"/>
          </a:p>
        </p:txBody>
      </p:sp>
    </p:spTree>
    <p:extLst>
      <p:ext uri="{BB962C8B-B14F-4D97-AF65-F5344CB8AC3E}">
        <p14:creationId xmlns:p14="http://schemas.microsoft.com/office/powerpoint/2010/main" val="2088850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VIII. CÁC THIẾT BỊ MẠNG</a:t>
            </a:r>
          </a:p>
        </p:txBody>
      </p:sp>
      <p:sp>
        <p:nvSpPr>
          <p:cNvPr id="3" name="Content Placeholder 2"/>
          <p:cNvSpPr>
            <a:spLocks noGrp="1"/>
          </p:cNvSpPr>
          <p:nvPr>
            <p:ph idx="1"/>
          </p:nvPr>
        </p:nvSpPr>
        <p:spPr/>
        <p:txBody>
          <a:bodyPr/>
          <a:lstStyle/>
          <a:p>
            <a:r>
              <a:rPr lang="en-US" dirty="0">
                <a:latin typeface="Arial" charset="0"/>
                <a:cs typeface="Arial" charset="0"/>
              </a:rPr>
              <a:t>Card </a:t>
            </a:r>
            <a:r>
              <a:rPr lang="en-US" dirty="0" err="1">
                <a:latin typeface="Arial" charset="0"/>
                <a:cs typeface="Arial" charset="0"/>
              </a:rPr>
              <a:t>mạng</a:t>
            </a:r>
            <a:r>
              <a:rPr lang="en-US" dirty="0">
                <a:latin typeface="Arial" charset="0"/>
                <a:cs typeface="Arial" charset="0"/>
              </a:rPr>
              <a:t> (Network Interface Card - NIC) </a:t>
            </a:r>
          </a:p>
          <a:p>
            <a:r>
              <a:rPr lang="en-US" dirty="0">
                <a:latin typeface="Arial" charset="0"/>
                <a:cs typeface="Arial" charset="0"/>
              </a:rPr>
              <a:t>Modem</a:t>
            </a:r>
          </a:p>
          <a:p>
            <a:r>
              <a:rPr lang="en-US" dirty="0">
                <a:latin typeface="Arial" charset="0"/>
                <a:cs typeface="Arial" charset="0"/>
              </a:rPr>
              <a:t>Repeater (</a:t>
            </a:r>
            <a:r>
              <a:rPr lang="en-US" dirty="0" err="1">
                <a:latin typeface="Arial" charset="0"/>
                <a:cs typeface="Arial" charset="0"/>
              </a:rPr>
              <a:t>Bộ</a:t>
            </a:r>
            <a:r>
              <a:rPr lang="en-US" dirty="0">
                <a:latin typeface="Arial" charset="0"/>
                <a:cs typeface="Arial" charset="0"/>
              </a:rPr>
              <a:t> </a:t>
            </a:r>
            <a:r>
              <a:rPr lang="en-US" dirty="0" err="1">
                <a:latin typeface="Arial" charset="0"/>
                <a:cs typeface="Arial" charset="0"/>
              </a:rPr>
              <a:t>chuyển</a:t>
            </a:r>
            <a:r>
              <a:rPr lang="en-US" dirty="0">
                <a:latin typeface="Arial" charset="0"/>
                <a:cs typeface="Arial" charset="0"/>
              </a:rPr>
              <a:t> </a:t>
            </a:r>
            <a:r>
              <a:rPr lang="en-US" dirty="0" err="1">
                <a:latin typeface="Arial" charset="0"/>
                <a:cs typeface="Arial" charset="0"/>
              </a:rPr>
              <a:t>tiếp</a:t>
            </a:r>
            <a:r>
              <a:rPr lang="en-US" dirty="0">
                <a:latin typeface="Arial" charset="0"/>
                <a:cs typeface="Arial" charset="0"/>
              </a:rPr>
              <a:t>)</a:t>
            </a:r>
          </a:p>
          <a:p>
            <a:r>
              <a:rPr lang="en-US" dirty="0">
                <a:latin typeface="Arial" charset="0"/>
                <a:cs typeface="Arial" charset="0"/>
              </a:rPr>
              <a:t>Hub (</a:t>
            </a:r>
            <a:r>
              <a:rPr lang="en-US" dirty="0" err="1">
                <a:latin typeface="Arial" charset="0"/>
                <a:cs typeface="Arial" charset="0"/>
              </a:rPr>
              <a:t>Bộ</a:t>
            </a:r>
            <a:r>
              <a:rPr lang="en-US" dirty="0">
                <a:latin typeface="Arial" charset="0"/>
                <a:cs typeface="Arial" charset="0"/>
              </a:rPr>
              <a:t> </a:t>
            </a:r>
            <a:r>
              <a:rPr lang="en-US" dirty="0" err="1">
                <a:latin typeface="Arial" charset="0"/>
                <a:cs typeface="Arial" charset="0"/>
              </a:rPr>
              <a:t>tập</a:t>
            </a:r>
            <a:r>
              <a:rPr lang="en-US" dirty="0">
                <a:latin typeface="Arial" charset="0"/>
                <a:cs typeface="Arial" charset="0"/>
              </a:rPr>
              <a:t> </a:t>
            </a:r>
            <a:r>
              <a:rPr lang="en-US" dirty="0" err="1">
                <a:latin typeface="Arial" charset="0"/>
                <a:cs typeface="Arial" charset="0"/>
              </a:rPr>
              <a:t>trung</a:t>
            </a:r>
            <a:r>
              <a:rPr lang="en-US" dirty="0">
                <a:latin typeface="Arial" charset="0"/>
                <a:cs typeface="Arial" charset="0"/>
              </a:rPr>
              <a:t>)</a:t>
            </a:r>
          </a:p>
          <a:p>
            <a:r>
              <a:rPr lang="en-US" dirty="0">
                <a:latin typeface="Arial" charset="0"/>
                <a:cs typeface="Arial" charset="0"/>
              </a:rPr>
              <a:t>Bridge (</a:t>
            </a:r>
            <a:r>
              <a:rPr lang="en-US" dirty="0" err="1">
                <a:latin typeface="Arial" charset="0"/>
                <a:cs typeface="Arial" charset="0"/>
              </a:rPr>
              <a:t>Cầu</a:t>
            </a:r>
            <a:r>
              <a:rPr lang="en-US" dirty="0">
                <a:latin typeface="Arial" charset="0"/>
                <a:cs typeface="Arial" charset="0"/>
              </a:rPr>
              <a:t> </a:t>
            </a:r>
            <a:r>
              <a:rPr lang="en-US" dirty="0" err="1">
                <a:latin typeface="Arial" charset="0"/>
                <a:cs typeface="Arial" charset="0"/>
              </a:rPr>
              <a:t>nối</a:t>
            </a:r>
            <a:r>
              <a:rPr lang="en-US" dirty="0">
                <a:latin typeface="Arial" charset="0"/>
                <a:cs typeface="Arial" charset="0"/>
              </a:rPr>
              <a:t>)</a:t>
            </a:r>
          </a:p>
          <a:p>
            <a:r>
              <a:rPr lang="en-US" dirty="0">
                <a:latin typeface="Arial" charset="0"/>
                <a:cs typeface="Arial" charset="0"/>
              </a:rPr>
              <a:t>Switch (</a:t>
            </a:r>
            <a:r>
              <a:rPr lang="en-US" dirty="0" err="1">
                <a:latin typeface="Arial" charset="0"/>
                <a:cs typeface="Arial" charset="0"/>
              </a:rPr>
              <a:t>Bộ</a:t>
            </a:r>
            <a:r>
              <a:rPr lang="en-US" dirty="0">
                <a:latin typeface="Arial" charset="0"/>
                <a:cs typeface="Arial" charset="0"/>
              </a:rPr>
              <a:t> </a:t>
            </a:r>
            <a:r>
              <a:rPr lang="en-US" dirty="0" err="1">
                <a:latin typeface="Arial" charset="0"/>
                <a:cs typeface="Arial" charset="0"/>
              </a:rPr>
              <a:t>chuyển</a:t>
            </a:r>
            <a:r>
              <a:rPr lang="en-US" dirty="0">
                <a:latin typeface="Arial" charset="0"/>
                <a:cs typeface="Arial" charset="0"/>
              </a:rPr>
              <a:t> </a:t>
            </a:r>
            <a:r>
              <a:rPr lang="en-US" dirty="0" err="1">
                <a:latin typeface="Arial" charset="0"/>
                <a:cs typeface="Arial" charset="0"/>
              </a:rPr>
              <a:t>mạch</a:t>
            </a:r>
            <a:r>
              <a:rPr lang="en-US" dirty="0">
                <a:latin typeface="Arial" charset="0"/>
                <a:cs typeface="Arial" charset="0"/>
              </a:rPr>
              <a:t>)</a:t>
            </a:r>
          </a:p>
          <a:p>
            <a:r>
              <a:rPr lang="en-US" dirty="0">
                <a:latin typeface="Arial" charset="0"/>
                <a:cs typeface="Arial" charset="0"/>
              </a:rPr>
              <a:t>Router (</a:t>
            </a:r>
            <a:r>
              <a:rPr lang="en-US" dirty="0" err="1">
                <a:latin typeface="Arial" charset="0"/>
                <a:cs typeface="Arial" charset="0"/>
              </a:rPr>
              <a:t>Bộ</a:t>
            </a:r>
            <a:r>
              <a:rPr lang="en-US" dirty="0">
                <a:latin typeface="Arial" charset="0"/>
                <a:cs typeface="Arial" charset="0"/>
              </a:rPr>
              <a:t> </a:t>
            </a:r>
            <a:r>
              <a:rPr lang="en-US" dirty="0" err="1">
                <a:latin typeface="Arial" charset="0"/>
                <a:cs typeface="Arial" charset="0"/>
              </a:rPr>
              <a:t>định</a:t>
            </a:r>
            <a:r>
              <a:rPr lang="en-US" dirty="0">
                <a:latin typeface="Arial" charset="0"/>
                <a:cs typeface="Arial" charset="0"/>
              </a:rPr>
              <a:t> </a:t>
            </a:r>
            <a:r>
              <a:rPr lang="en-US" dirty="0" err="1">
                <a:latin typeface="Arial" charset="0"/>
                <a:cs typeface="Arial" charset="0"/>
              </a:rPr>
              <a:t>tuyến</a:t>
            </a:r>
            <a:r>
              <a:rPr lang="en-US" dirty="0">
                <a:latin typeface="Arial" charset="0"/>
                <a:cs typeface="Arial" charset="0"/>
              </a:rPr>
              <a:t>)</a:t>
            </a:r>
          </a:p>
          <a:p>
            <a:r>
              <a:rPr lang="en-US" dirty="0">
                <a:latin typeface="Arial" charset="0"/>
                <a:cs typeface="Arial" charset="0"/>
              </a:rPr>
              <a:t>Gateway (</a:t>
            </a:r>
            <a:r>
              <a:rPr lang="en-US" dirty="0" err="1">
                <a:latin typeface="Arial" charset="0"/>
                <a:cs typeface="Arial" charset="0"/>
              </a:rPr>
              <a:t>Cổng</a:t>
            </a:r>
            <a:r>
              <a:rPr lang="en-US" dirty="0">
                <a:latin typeface="Arial" charset="0"/>
                <a:cs typeface="Arial" charset="0"/>
              </a:rPr>
              <a:t> </a:t>
            </a:r>
            <a:r>
              <a:rPr lang="en-US" dirty="0" err="1">
                <a:latin typeface="Arial" charset="0"/>
                <a:cs typeface="Arial" charset="0"/>
              </a:rPr>
              <a:t>nối</a:t>
            </a:r>
            <a:r>
              <a:rPr lang="en-US" dirty="0">
                <a:latin typeface="Arial" charset="0"/>
                <a:cs typeface="Arial" charset="0"/>
              </a:rPr>
              <a:t>)</a:t>
            </a:r>
          </a:p>
          <a:p>
            <a:endParaRPr lang="en-US" dirty="0"/>
          </a:p>
        </p:txBody>
      </p:sp>
    </p:spTree>
    <p:extLst>
      <p:ext uri="{BB962C8B-B14F-4D97-AF65-F5344CB8AC3E}">
        <p14:creationId xmlns:p14="http://schemas.microsoft.com/office/powerpoint/2010/main" val="23940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VIII. CÁC THIẾT BỊ MẠNG</a:t>
            </a:r>
          </a:p>
        </p:txBody>
      </p:sp>
      <p:sp>
        <p:nvSpPr>
          <p:cNvPr id="3" name="Content Placeholder 2"/>
          <p:cNvSpPr>
            <a:spLocks noGrp="1"/>
          </p:cNvSpPr>
          <p:nvPr>
            <p:ph idx="1"/>
          </p:nvPr>
        </p:nvSpPr>
        <p:spPr/>
        <p:txBody>
          <a:bodyPr/>
          <a:lstStyle/>
          <a:p>
            <a:r>
              <a:rPr lang="en-US" dirty="0" err="1">
                <a:latin typeface="Arial" charset="0"/>
                <a:cs typeface="Arial" charset="0"/>
              </a:rPr>
              <a:t>Biểu</a:t>
            </a:r>
            <a:r>
              <a:rPr lang="en-US" dirty="0">
                <a:latin typeface="Arial" charset="0"/>
                <a:cs typeface="Arial" charset="0"/>
              </a:rPr>
              <a:t> </a:t>
            </a:r>
            <a:r>
              <a:rPr lang="en-US" dirty="0" err="1">
                <a:latin typeface="Arial" charset="0"/>
                <a:cs typeface="Arial" charset="0"/>
              </a:rPr>
              <a:t>diễn</a:t>
            </a:r>
            <a:r>
              <a:rPr lang="en-US" dirty="0">
                <a:latin typeface="Arial" charset="0"/>
                <a:cs typeface="Arial" charset="0"/>
              </a:rPr>
              <a:t> </a:t>
            </a:r>
            <a:r>
              <a:rPr lang="en-US" dirty="0" err="1">
                <a:latin typeface="Arial" charset="0"/>
                <a:cs typeface="Arial" charset="0"/>
              </a:rPr>
              <a:t>của</a:t>
            </a:r>
            <a:r>
              <a:rPr lang="en-US" dirty="0">
                <a:latin typeface="Arial" charset="0"/>
                <a:cs typeface="Arial" charset="0"/>
              </a:rPr>
              <a:t> </a:t>
            </a:r>
            <a:r>
              <a:rPr lang="en-US" dirty="0" err="1">
                <a:latin typeface="Arial" charset="0"/>
                <a:cs typeface="Arial" charset="0"/>
              </a:rPr>
              <a:t>các</a:t>
            </a:r>
            <a:r>
              <a:rPr lang="en-US" dirty="0">
                <a:latin typeface="Arial" charset="0"/>
                <a:cs typeface="Arial" charset="0"/>
              </a:rPr>
              <a:t> </a:t>
            </a:r>
            <a:r>
              <a:rPr lang="en-US" dirty="0" err="1">
                <a:latin typeface="Arial" charset="0"/>
                <a:cs typeface="Arial" charset="0"/>
              </a:rPr>
              <a:t>thiết</a:t>
            </a:r>
            <a:r>
              <a:rPr lang="en-US" dirty="0">
                <a:latin typeface="Arial" charset="0"/>
                <a:cs typeface="Arial" charset="0"/>
              </a:rPr>
              <a:t> </a:t>
            </a:r>
            <a:r>
              <a:rPr lang="en-US" dirty="0" err="1">
                <a:latin typeface="Arial" charset="0"/>
                <a:cs typeface="Arial" charset="0"/>
              </a:rPr>
              <a:t>bị</a:t>
            </a:r>
            <a:r>
              <a:rPr lang="en-US" dirty="0">
                <a:latin typeface="Arial" charset="0"/>
                <a:cs typeface="Arial" charset="0"/>
              </a:rPr>
              <a:t> </a:t>
            </a:r>
            <a:r>
              <a:rPr lang="en-US" dirty="0" err="1">
                <a:latin typeface="Arial" charset="0"/>
                <a:cs typeface="Arial" charset="0"/>
              </a:rPr>
              <a:t>mạng</a:t>
            </a:r>
            <a:r>
              <a:rPr lang="en-US" dirty="0">
                <a:latin typeface="Arial" charset="0"/>
                <a:cs typeface="Arial" charset="0"/>
              </a:rPr>
              <a:t> </a:t>
            </a:r>
            <a:r>
              <a:rPr lang="en-US" dirty="0" err="1">
                <a:latin typeface="Arial" charset="0"/>
                <a:cs typeface="Arial" charset="0"/>
              </a:rPr>
              <a:t>trong</a:t>
            </a:r>
            <a:r>
              <a:rPr lang="en-US" dirty="0">
                <a:latin typeface="Arial" charset="0"/>
                <a:cs typeface="Arial" charset="0"/>
              </a:rPr>
              <a:t> </a:t>
            </a:r>
            <a:r>
              <a:rPr lang="en-US" dirty="0" err="1">
                <a:latin typeface="Arial" charset="0"/>
                <a:cs typeface="Arial" charset="0"/>
              </a:rPr>
              <a:t>sơ</a:t>
            </a:r>
            <a:r>
              <a:rPr lang="en-US" dirty="0">
                <a:latin typeface="Arial" charset="0"/>
                <a:cs typeface="Arial" charset="0"/>
              </a:rPr>
              <a:t> </a:t>
            </a:r>
            <a:r>
              <a:rPr lang="en-US" dirty="0" err="1">
                <a:latin typeface="Arial" charset="0"/>
                <a:cs typeface="Arial" charset="0"/>
              </a:rPr>
              <a:t>đồ</a:t>
            </a:r>
            <a:r>
              <a:rPr lang="en-US" dirty="0">
                <a:latin typeface="Arial" charset="0"/>
                <a:cs typeface="Arial" charset="0"/>
              </a:rPr>
              <a:t> </a:t>
            </a:r>
            <a:r>
              <a:rPr lang="en-US" dirty="0" err="1">
                <a:latin typeface="Arial" charset="0"/>
                <a:cs typeface="Arial" charset="0"/>
              </a:rPr>
              <a:t>mạng</a:t>
            </a:r>
            <a:endParaRPr lang="en-US" dirty="0">
              <a:latin typeface="Arial" charset="0"/>
              <a:cs typeface="Arial" charset="0"/>
            </a:endParaRPr>
          </a:p>
          <a:p>
            <a:endParaRPr lang="en-US" dirty="0">
              <a:latin typeface="Arial" charset="0"/>
              <a:cs typeface="Arial" charset="0"/>
            </a:endParaRPr>
          </a:p>
        </p:txBody>
      </p:sp>
      <p:pic>
        <p:nvPicPr>
          <p:cNvPr id="4" name="Picture 3" descr="icon thiet bi ma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1884" y="1676400"/>
            <a:ext cx="7096283"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35696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idx="1"/>
          </p:nvPr>
        </p:nvSpPr>
        <p:spPr>
          <a:xfrm>
            <a:off x="1981200" y="1371600"/>
            <a:ext cx="8458200" cy="4953000"/>
          </a:xfrm>
        </p:spPr>
        <p:txBody>
          <a:bodyPr/>
          <a:lstStyle/>
          <a:p>
            <a:pPr eaLnBrk="1" hangingPunct="1"/>
            <a:r>
              <a:rPr lang="en-US" sz="2800" dirty="0" err="1">
                <a:latin typeface="Arial" charset="0"/>
                <a:cs typeface="Arial" charset="0"/>
              </a:rPr>
              <a:t>Kết</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 </a:t>
            </a:r>
            <a:r>
              <a:rPr lang="en-US" sz="2800" dirty="0" err="1">
                <a:latin typeface="Arial" charset="0"/>
                <a:cs typeface="Arial" charset="0"/>
              </a:rPr>
              <a:t>giữa</a:t>
            </a:r>
            <a:r>
              <a:rPr lang="en-US" sz="2800" dirty="0">
                <a:latin typeface="Arial" charset="0"/>
                <a:cs typeface="Arial" charset="0"/>
              </a:rPr>
              <a:t> </a:t>
            </a:r>
            <a:r>
              <a:rPr lang="en-US" sz="2800" dirty="0" err="1">
                <a:latin typeface="Arial" charset="0"/>
                <a:cs typeface="Arial" charset="0"/>
              </a:rPr>
              <a:t>máy</a:t>
            </a:r>
            <a:r>
              <a:rPr lang="en-US" sz="2800" dirty="0">
                <a:latin typeface="Arial" charset="0"/>
                <a:cs typeface="Arial" charset="0"/>
              </a:rPr>
              <a:t> </a:t>
            </a:r>
            <a:r>
              <a:rPr lang="en-US" sz="2800" dirty="0" err="1">
                <a:latin typeface="Arial" charset="0"/>
                <a:cs typeface="Arial" charset="0"/>
              </a:rPr>
              <a:t>tính</a:t>
            </a:r>
            <a:r>
              <a:rPr lang="en-US" sz="2800" dirty="0">
                <a:latin typeface="Arial" charset="0"/>
                <a:cs typeface="Arial" charset="0"/>
              </a:rPr>
              <a:t> </a:t>
            </a:r>
            <a:r>
              <a:rPr lang="en-US" sz="2800" dirty="0" err="1">
                <a:latin typeface="Arial" charset="0"/>
                <a:cs typeface="Arial" charset="0"/>
              </a:rPr>
              <a:t>và</a:t>
            </a:r>
            <a:r>
              <a:rPr lang="en-US" sz="2800" dirty="0">
                <a:latin typeface="Arial" charset="0"/>
                <a:cs typeface="Arial" charset="0"/>
              </a:rPr>
              <a:t> </a:t>
            </a:r>
            <a:r>
              <a:rPr lang="en-US" sz="2800" dirty="0" err="1">
                <a:latin typeface="Arial" charset="0"/>
                <a:cs typeface="Arial" charset="0"/>
              </a:rPr>
              <a:t>cáp</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để</a:t>
            </a:r>
            <a:r>
              <a:rPr lang="en-US" sz="2800" dirty="0">
                <a:latin typeface="Arial" charset="0"/>
                <a:cs typeface="Arial" charset="0"/>
              </a:rPr>
              <a:t> </a:t>
            </a:r>
            <a:r>
              <a:rPr lang="en-US" sz="2800" dirty="0" err="1">
                <a:latin typeface="Arial" charset="0"/>
                <a:cs typeface="Arial" charset="0"/>
              </a:rPr>
              <a:t>phát</a:t>
            </a:r>
            <a:r>
              <a:rPr lang="en-US" sz="2800" dirty="0">
                <a:latin typeface="Arial" charset="0"/>
                <a:cs typeface="Arial" charset="0"/>
              </a:rPr>
              <a:t> </a:t>
            </a:r>
            <a:r>
              <a:rPr lang="en-US" sz="2800" dirty="0" err="1">
                <a:latin typeface="Arial" charset="0"/>
                <a:cs typeface="Arial" charset="0"/>
              </a:rPr>
              <a:t>hoặc</a:t>
            </a:r>
            <a:r>
              <a:rPr lang="en-US" sz="2800" dirty="0">
                <a:latin typeface="Arial" charset="0"/>
                <a:cs typeface="Arial" charset="0"/>
              </a:rPr>
              <a:t> </a:t>
            </a:r>
            <a:r>
              <a:rPr lang="en-US" sz="2800" dirty="0" err="1">
                <a:latin typeface="Arial" charset="0"/>
                <a:cs typeface="Arial" charset="0"/>
              </a:rPr>
              <a:t>nhận</a:t>
            </a:r>
            <a:r>
              <a:rPr lang="en-US" sz="2800" dirty="0">
                <a:latin typeface="Arial" charset="0"/>
                <a:cs typeface="Arial" charset="0"/>
              </a:rPr>
              <a:t> </a:t>
            </a:r>
            <a:r>
              <a:rPr lang="en-US" sz="2800" dirty="0" err="1">
                <a:latin typeface="Arial" charset="0"/>
                <a:cs typeface="Arial" charset="0"/>
              </a:rPr>
              <a:t>dữ</a:t>
            </a:r>
            <a:r>
              <a:rPr lang="en-US" sz="2800" dirty="0">
                <a:latin typeface="Arial" charset="0"/>
                <a:cs typeface="Arial" charset="0"/>
              </a:rPr>
              <a:t> </a:t>
            </a:r>
            <a:r>
              <a:rPr lang="en-US" sz="2800" dirty="0" err="1">
                <a:latin typeface="Arial" charset="0"/>
                <a:cs typeface="Arial" charset="0"/>
              </a:rPr>
              <a:t>liệu</a:t>
            </a:r>
            <a:r>
              <a:rPr lang="en-US" sz="2800" dirty="0">
                <a:latin typeface="Arial" charset="0"/>
                <a:cs typeface="Arial" charset="0"/>
              </a:rPr>
              <a:t> </a:t>
            </a:r>
            <a:r>
              <a:rPr lang="en-US" sz="2800" dirty="0" err="1">
                <a:latin typeface="Arial" charset="0"/>
                <a:cs typeface="Arial" charset="0"/>
              </a:rPr>
              <a:t>với</a:t>
            </a:r>
            <a:r>
              <a:rPr lang="en-US" sz="2800" dirty="0">
                <a:latin typeface="Arial" charset="0"/>
                <a:cs typeface="Arial" charset="0"/>
              </a:rPr>
              <a:t> </a:t>
            </a:r>
            <a:r>
              <a:rPr lang="en-US" sz="2800" dirty="0" err="1">
                <a:latin typeface="Arial" charset="0"/>
                <a:cs typeface="Arial" charset="0"/>
              </a:rPr>
              <a:t>các</a:t>
            </a:r>
            <a:r>
              <a:rPr lang="en-US" sz="2800" dirty="0">
                <a:latin typeface="Arial" charset="0"/>
                <a:cs typeface="Arial" charset="0"/>
              </a:rPr>
              <a:t> </a:t>
            </a:r>
            <a:r>
              <a:rPr lang="en-US" sz="2800" dirty="0" err="1">
                <a:latin typeface="Arial" charset="0"/>
                <a:cs typeface="Arial" charset="0"/>
              </a:rPr>
              <a:t>máy</a:t>
            </a:r>
            <a:r>
              <a:rPr lang="en-US" sz="2800" dirty="0">
                <a:latin typeface="Arial" charset="0"/>
                <a:cs typeface="Arial" charset="0"/>
              </a:rPr>
              <a:t> </a:t>
            </a:r>
            <a:r>
              <a:rPr lang="en-US" sz="2800" dirty="0" err="1">
                <a:latin typeface="Arial" charset="0"/>
                <a:cs typeface="Arial" charset="0"/>
              </a:rPr>
              <a:t>tính</a:t>
            </a:r>
            <a:r>
              <a:rPr lang="en-US" sz="2800" dirty="0">
                <a:latin typeface="Arial" charset="0"/>
                <a:cs typeface="Arial" charset="0"/>
              </a:rPr>
              <a:t> </a:t>
            </a:r>
            <a:r>
              <a:rPr lang="en-US" sz="2800" dirty="0" err="1">
                <a:latin typeface="Arial" charset="0"/>
                <a:cs typeface="Arial" charset="0"/>
              </a:rPr>
              <a:t>khác</a:t>
            </a:r>
            <a:r>
              <a:rPr lang="en-US" sz="2800" dirty="0">
                <a:latin typeface="Arial" charset="0"/>
                <a:cs typeface="Arial" charset="0"/>
              </a:rPr>
              <a:t> </a:t>
            </a:r>
            <a:r>
              <a:rPr lang="en-US" sz="2800" dirty="0" err="1">
                <a:latin typeface="Arial" charset="0"/>
                <a:cs typeface="Arial" charset="0"/>
              </a:rPr>
              <a:t>thông</a:t>
            </a:r>
            <a:r>
              <a:rPr lang="en-US" sz="2800" dirty="0">
                <a:latin typeface="Arial" charset="0"/>
                <a:cs typeface="Arial" charset="0"/>
              </a:rPr>
              <a:t> qua </a:t>
            </a:r>
            <a:r>
              <a:rPr lang="en-US" sz="2800" dirty="0" err="1">
                <a:latin typeface="Arial" charset="0"/>
                <a:cs typeface="Arial" charset="0"/>
              </a:rPr>
              <a:t>mạng</a:t>
            </a:r>
            <a:r>
              <a:rPr lang="en-US" sz="2800" dirty="0">
                <a:latin typeface="Arial" charset="0"/>
                <a:cs typeface="Arial" charset="0"/>
              </a:rPr>
              <a:t>.</a:t>
            </a:r>
          </a:p>
          <a:p>
            <a:pPr eaLnBrk="1" hangingPunct="1"/>
            <a:r>
              <a:rPr lang="en-US" sz="2800" dirty="0" err="1">
                <a:latin typeface="Arial" charset="0"/>
                <a:cs typeface="Arial" charset="0"/>
              </a:rPr>
              <a:t>Kiểm</a:t>
            </a:r>
            <a:r>
              <a:rPr lang="en-US" sz="2800" dirty="0">
                <a:latin typeface="Arial" charset="0"/>
                <a:cs typeface="Arial" charset="0"/>
              </a:rPr>
              <a:t> </a:t>
            </a:r>
            <a:r>
              <a:rPr lang="en-US" sz="2800" dirty="0" err="1">
                <a:latin typeface="Arial" charset="0"/>
                <a:cs typeface="Arial" charset="0"/>
              </a:rPr>
              <a:t>soát</a:t>
            </a:r>
            <a:r>
              <a:rPr lang="en-US" sz="2800" dirty="0">
                <a:latin typeface="Arial" charset="0"/>
                <a:cs typeface="Arial" charset="0"/>
              </a:rPr>
              <a:t> </a:t>
            </a:r>
            <a:r>
              <a:rPr lang="en-US" sz="2800" dirty="0" err="1">
                <a:latin typeface="Arial" charset="0"/>
                <a:cs typeface="Arial" charset="0"/>
              </a:rPr>
              <a:t>luồng</a:t>
            </a:r>
            <a:r>
              <a:rPr lang="en-US" sz="2800" dirty="0">
                <a:latin typeface="Arial" charset="0"/>
                <a:cs typeface="Arial" charset="0"/>
              </a:rPr>
              <a:t> </a:t>
            </a:r>
            <a:r>
              <a:rPr lang="en-US" sz="2800" dirty="0" err="1">
                <a:latin typeface="Arial" charset="0"/>
                <a:cs typeface="Arial" charset="0"/>
              </a:rPr>
              <a:t>dữ</a:t>
            </a:r>
            <a:r>
              <a:rPr lang="en-US" sz="2800" dirty="0">
                <a:latin typeface="Arial" charset="0"/>
                <a:cs typeface="Arial" charset="0"/>
              </a:rPr>
              <a:t> </a:t>
            </a:r>
            <a:r>
              <a:rPr lang="en-US" sz="2800" dirty="0" err="1">
                <a:latin typeface="Arial" charset="0"/>
                <a:cs typeface="Arial" charset="0"/>
              </a:rPr>
              <a:t>liệu</a:t>
            </a:r>
            <a:r>
              <a:rPr lang="en-US" sz="2800" dirty="0">
                <a:latin typeface="Arial" charset="0"/>
                <a:cs typeface="Arial" charset="0"/>
              </a:rPr>
              <a:t> </a:t>
            </a:r>
            <a:r>
              <a:rPr lang="en-US" sz="2800" dirty="0" err="1">
                <a:latin typeface="Arial" charset="0"/>
                <a:cs typeface="Arial" charset="0"/>
              </a:rPr>
              <a:t>giữa</a:t>
            </a:r>
            <a:r>
              <a:rPr lang="en-US" sz="2800" dirty="0">
                <a:latin typeface="Arial" charset="0"/>
                <a:cs typeface="Arial" charset="0"/>
              </a:rPr>
              <a:t> </a:t>
            </a:r>
            <a:r>
              <a:rPr lang="en-US" sz="2800" dirty="0" err="1">
                <a:latin typeface="Arial" charset="0"/>
                <a:cs typeface="Arial" charset="0"/>
              </a:rPr>
              <a:t>máy</a:t>
            </a:r>
            <a:r>
              <a:rPr lang="en-US" sz="2800" dirty="0">
                <a:latin typeface="Arial" charset="0"/>
                <a:cs typeface="Arial" charset="0"/>
              </a:rPr>
              <a:t> </a:t>
            </a:r>
            <a:r>
              <a:rPr lang="en-US" sz="2800" dirty="0" err="1">
                <a:latin typeface="Arial" charset="0"/>
                <a:cs typeface="Arial" charset="0"/>
              </a:rPr>
              <a:t>tính</a:t>
            </a:r>
            <a:r>
              <a:rPr lang="en-US" sz="2800" dirty="0">
                <a:latin typeface="Arial" charset="0"/>
                <a:cs typeface="Arial" charset="0"/>
              </a:rPr>
              <a:t> </a:t>
            </a:r>
            <a:r>
              <a:rPr lang="en-US" sz="2800" dirty="0" err="1">
                <a:latin typeface="Arial" charset="0"/>
                <a:cs typeface="Arial" charset="0"/>
              </a:rPr>
              <a:t>và</a:t>
            </a:r>
            <a:r>
              <a:rPr lang="en-US" sz="2800" dirty="0">
                <a:latin typeface="Arial" charset="0"/>
                <a:cs typeface="Arial" charset="0"/>
              </a:rPr>
              <a:t> </a:t>
            </a:r>
            <a:r>
              <a:rPr lang="en-US" sz="2800" dirty="0" err="1">
                <a:latin typeface="Arial" charset="0"/>
                <a:cs typeface="Arial" charset="0"/>
              </a:rPr>
              <a:t>hệ</a:t>
            </a:r>
            <a:r>
              <a:rPr lang="en-US" sz="2800" dirty="0">
                <a:latin typeface="Arial" charset="0"/>
                <a:cs typeface="Arial" charset="0"/>
              </a:rPr>
              <a:t> </a:t>
            </a:r>
            <a:r>
              <a:rPr lang="en-US" sz="2800" dirty="0" err="1">
                <a:latin typeface="Arial" charset="0"/>
                <a:cs typeface="Arial" charset="0"/>
              </a:rPr>
              <a:t>thống</a:t>
            </a:r>
            <a:r>
              <a:rPr lang="en-US" sz="2800" dirty="0">
                <a:latin typeface="Arial" charset="0"/>
                <a:cs typeface="Arial" charset="0"/>
              </a:rPr>
              <a:t> </a:t>
            </a:r>
            <a:r>
              <a:rPr lang="en-US" sz="2800" dirty="0" err="1">
                <a:latin typeface="Arial" charset="0"/>
                <a:cs typeface="Arial" charset="0"/>
              </a:rPr>
              <a:t>cáp</a:t>
            </a:r>
            <a:r>
              <a:rPr lang="en-US" sz="2800" dirty="0">
                <a:latin typeface="Arial" charset="0"/>
                <a:cs typeface="Arial" charset="0"/>
              </a:rPr>
              <a:t>.</a:t>
            </a:r>
          </a:p>
          <a:p>
            <a:pPr eaLnBrk="1" hangingPunct="1"/>
            <a:r>
              <a:rPr lang="en-US" sz="2800" dirty="0" err="1">
                <a:latin typeface="Arial" charset="0"/>
                <a:cs typeface="Arial" charset="0"/>
              </a:rPr>
              <a:t>Mỗi</a:t>
            </a:r>
            <a:r>
              <a:rPr lang="en-US" sz="2800" dirty="0">
                <a:latin typeface="Arial" charset="0"/>
                <a:cs typeface="Arial" charset="0"/>
              </a:rPr>
              <a:t> NIC (</a:t>
            </a:r>
            <a:r>
              <a:rPr lang="en-US" sz="2800" u="sng" dirty="0">
                <a:latin typeface="Arial" charset="0"/>
                <a:cs typeface="Arial" charset="0"/>
              </a:rPr>
              <a:t>N</a:t>
            </a:r>
            <a:r>
              <a:rPr lang="en-US" sz="2800" dirty="0">
                <a:latin typeface="Arial" charset="0"/>
                <a:cs typeface="Arial" charset="0"/>
              </a:rPr>
              <a:t>etwork </a:t>
            </a:r>
            <a:r>
              <a:rPr lang="en-US" sz="2800" u="sng" dirty="0">
                <a:latin typeface="Arial" charset="0"/>
                <a:cs typeface="Arial" charset="0"/>
              </a:rPr>
              <a:t>I</a:t>
            </a:r>
            <a:r>
              <a:rPr lang="en-US" sz="2800" dirty="0">
                <a:latin typeface="Arial" charset="0"/>
                <a:cs typeface="Arial" charset="0"/>
              </a:rPr>
              <a:t>nterface Adapter </a:t>
            </a:r>
            <a:r>
              <a:rPr lang="en-US" sz="2800" u="sng" dirty="0">
                <a:latin typeface="Arial" charset="0"/>
                <a:cs typeface="Arial" charset="0"/>
              </a:rPr>
              <a:t>C</a:t>
            </a:r>
            <a:r>
              <a:rPr lang="en-US" sz="2800" dirty="0">
                <a:latin typeface="Arial" charset="0"/>
                <a:cs typeface="Arial" charset="0"/>
              </a:rPr>
              <a:t>ard) </a:t>
            </a:r>
            <a:r>
              <a:rPr lang="en-US" sz="2800" dirty="0" err="1">
                <a:latin typeface="Arial" charset="0"/>
                <a:cs typeface="Arial" charset="0"/>
              </a:rPr>
              <a:t>có</a:t>
            </a:r>
            <a:r>
              <a:rPr lang="en-US" sz="2800" dirty="0">
                <a:latin typeface="Arial" charset="0"/>
                <a:cs typeface="Arial" charset="0"/>
              </a:rPr>
              <a:t> </a:t>
            </a:r>
            <a:r>
              <a:rPr lang="en-US" sz="2800" dirty="0" err="1">
                <a:latin typeface="Arial" charset="0"/>
                <a:cs typeface="Arial" charset="0"/>
              </a:rPr>
              <a:t>một</a:t>
            </a:r>
            <a:r>
              <a:rPr lang="en-US" sz="2800" dirty="0">
                <a:latin typeface="Arial" charset="0"/>
                <a:cs typeface="Arial" charset="0"/>
              </a:rPr>
              <a:t> </a:t>
            </a:r>
            <a:r>
              <a:rPr lang="en-US" sz="2800" dirty="0" err="1">
                <a:latin typeface="Arial" charset="0"/>
                <a:cs typeface="Arial" charset="0"/>
              </a:rPr>
              <a:t>mã</a:t>
            </a:r>
            <a:r>
              <a:rPr lang="en-US" sz="2800" dirty="0">
                <a:latin typeface="Arial" charset="0"/>
                <a:cs typeface="Arial" charset="0"/>
              </a:rPr>
              <a:t> </a:t>
            </a:r>
            <a:r>
              <a:rPr lang="en-US" sz="2800" dirty="0" err="1">
                <a:latin typeface="Arial" charset="0"/>
                <a:cs typeface="Arial" charset="0"/>
              </a:rPr>
              <a:t>duy</a:t>
            </a:r>
            <a:r>
              <a:rPr lang="en-US" sz="2800" dirty="0">
                <a:latin typeface="Arial" charset="0"/>
                <a:cs typeface="Arial" charset="0"/>
              </a:rPr>
              <a:t> </a:t>
            </a:r>
            <a:r>
              <a:rPr lang="en-US" sz="2800" dirty="0" err="1">
                <a:latin typeface="Arial" charset="0"/>
                <a:cs typeface="Arial" charset="0"/>
              </a:rPr>
              <a:t>nhất</a:t>
            </a:r>
            <a:r>
              <a:rPr lang="en-US" sz="2800" dirty="0">
                <a:latin typeface="Arial" charset="0"/>
                <a:cs typeface="Arial" charset="0"/>
              </a:rPr>
              <a:t> </a:t>
            </a:r>
            <a:r>
              <a:rPr lang="en-US" sz="2800" dirty="0" err="1">
                <a:latin typeface="Arial" charset="0"/>
                <a:cs typeface="Arial" charset="0"/>
              </a:rPr>
              <a:t>gọi</a:t>
            </a:r>
            <a:r>
              <a:rPr lang="en-US" sz="2800" dirty="0">
                <a:latin typeface="Arial" charset="0"/>
                <a:cs typeface="Arial" charset="0"/>
              </a:rPr>
              <a:t> </a:t>
            </a:r>
            <a:r>
              <a:rPr lang="en-US" sz="2800" dirty="0" err="1">
                <a:latin typeface="Arial" charset="0"/>
                <a:cs typeface="Arial" charset="0"/>
              </a:rPr>
              <a:t>là</a:t>
            </a:r>
            <a:r>
              <a:rPr lang="en-US" sz="2800" dirty="0">
                <a:latin typeface="Arial" charset="0"/>
                <a:cs typeface="Arial" charset="0"/>
              </a:rPr>
              <a:t> </a:t>
            </a:r>
            <a:r>
              <a:rPr lang="en-US" sz="2800" dirty="0" err="1">
                <a:latin typeface="Arial" charset="0"/>
                <a:cs typeface="Arial" charset="0"/>
              </a:rPr>
              <a:t>địa</a:t>
            </a:r>
            <a:r>
              <a:rPr lang="en-US" sz="2800" dirty="0">
                <a:latin typeface="Arial" charset="0"/>
                <a:cs typeface="Arial" charset="0"/>
              </a:rPr>
              <a:t> </a:t>
            </a:r>
            <a:r>
              <a:rPr lang="en-US" sz="2800" dirty="0" err="1">
                <a:latin typeface="Arial" charset="0"/>
                <a:cs typeface="Arial" charset="0"/>
              </a:rPr>
              <a:t>chỉ</a:t>
            </a:r>
            <a:r>
              <a:rPr lang="en-US" sz="2800" dirty="0">
                <a:latin typeface="Arial" charset="0"/>
                <a:cs typeface="Arial" charset="0"/>
              </a:rPr>
              <a:t> MAC (Media Access Control). MAC address </a:t>
            </a:r>
            <a:r>
              <a:rPr lang="en-US" sz="2800" dirty="0" err="1">
                <a:latin typeface="Arial" charset="0"/>
                <a:cs typeface="Arial" charset="0"/>
              </a:rPr>
              <a:t>có</a:t>
            </a:r>
            <a:r>
              <a:rPr lang="en-US" sz="2800" dirty="0">
                <a:latin typeface="Arial" charset="0"/>
                <a:cs typeface="Arial" charset="0"/>
              </a:rPr>
              <a:t> 6 byte, 3 byte </a:t>
            </a:r>
            <a:r>
              <a:rPr lang="en-US" sz="2800" dirty="0" err="1">
                <a:latin typeface="Arial" charset="0"/>
                <a:cs typeface="Arial" charset="0"/>
              </a:rPr>
              <a:t>đầu</a:t>
            </a:r>
            <a:r>
              <a:rPr lang="en-US" sz="2800" dirty="0">
                <a:latin typeface="Arial" charset="0"/>
                <a:cs typeface="Arial" charset="0"/>
              </a:rPr>
              <a:t> </a:t>
            </a:r>
            <a:r>
              <a:rPr lang="en-US" sz="2800" dirty="0" err="1">
                <a:latin typeface="Arial" charset="0"/>
                <a:cs typeface="Arial" charset="0"/>
              </a:rPr>
              <a:t>là</a:t>
            </a:r>
            <a:r>
              <a:rPr lang="en-US" sz="2800" dirty="0">
                <a:latin typeface="Arial" charset="0"/>
                <a:cs typeface="Arial" charset="0"/>
              </a:rPr>
              <a:t> </a:t>
            </a:r>
            <a:r>
              <a:rPr lang="en-US" sz="2800" dirty="0" err="1">
                <a:latin typeface="Arial" charset="0"/>
                <a:cs typeface="Arial" charset="0"/>
              </a:rPr>
              <a:t>mã</a:t>
            </a:r>
            <a:r>
              <a:rPr lang="en-US" sz="2800" dirty="0">
                <a:latin typeface="Arial" charset="0"/>
                <a:cs typeface="Arial" charset="0"/>
              </a:rPr>
              <a:t> </a:t>
            </a:r>
            <a:r>
              <a:rPr lang="en-US" sz="2800" dirty="0" err="1">
                <a:latin typeface="Arial" charset="0"/>
                <a:cs typeface="Arial" charset="0"/>
              </a:rPr>
              <a:t>số</a:t>
            </a:r>
            <a:r>
              <a:rPr lang="en-US" sz="2800" dirty="0">
                <a:latin typeface="Arial" charset="0"/>
                <a:cs typeface="Arial" charset="0"/>
              </a:rPr>
              <a:t> </a:t>
            </a:r>
            <a:r>
              <a:rPr lang="en-US" sz="2800" dirty="0" err="1">
                <a:latin typeface="Arial" charset="0"/>
                <a:cs typeface="Arial" charset="0"/>
              </a:rPr>
              <a:t>nhà</a:t>
            </a:r>
            <a:r>
              <a:rPr lang="en-US" sz="2800" dirty="0">
                <a:latin typeface="Arial" charset="0"/>
                <a:cs typeface="Arial" charset="0"/>
              </a:rPr>
              <a:t> </a:t>
            </a:r>
            <a:r>
              <a:rPr lang="en-US" sz="2800" dirty="0" err="1">
                <a:latin typeface="Arial" charset="0"/>
                <a:cs typeface="Arial" charset="0"/>
              </a:rPr>
              <a:t>sản</a:t>
            </a:r>
            <a:r>
              <a:rPr lang="en-US" sz="2800" dirty="0">
                <a:latin typeface="Arial" charset="0"/>
                <a:cs typeface="Arial" charset="0"/>
              </a:rPr>
              <a:t> </a:t>
            </a:r>
            <a:r>
              <a:rPr lang="en-US" sz="2800" dirty="0" err="1">
                <a:latin typeface="Arial" charset="0"/>
                <a:cs typeface="Arial" charset="0"/>
              </a:rPr>
              <a:t>xuất</a:t>
            </a:r>
            <a:r>
              <a:rPr lang="en-US" sz="2800" dirty="0">
                <a:latin typeface="Arial" charset="0"/>
                <a:cs typeface="Arial" charset="0"/>
              </a:rPr>
              <a:t>, 3 byte </a:t>
            </a:r>
            <a:r>
              <a:rPr lang="en-US" sz="2800" dirty="0" err="1">
                <a:latin typeface="Arial" charset="0"/>
                <a:cs typeface="Arial" charset="0"/>
              </a:rPr>
              <a:t>sau</a:t>
            </a:r>
            <a:r>
              <a:rPr lang="en-US" sz="2800" dirty="0">
                <a:latin typeface="Arial" charset="0"/>
                <a:cs typeface="Arial" charset="0"/>
              </a:rPr>
              <a:t> </a:t>
            </a:r>
            <a:r>
              <a:rPr lang="en-US" sz="2800" dirty="0" err="1">
                <a:latin typeface="Arial" charset="0"/>
                <a:cs typeface="Arial" charset="0"/>
              </a:rPr>
              <a:t>là</a:t>
            </a:r>
            <a:r>
              <a:rPr lang="en-US" sz="2800" dirty="0">
                <a:latin typeface="Arial" charset="0"/>
                <a:cs typeface="Arial" charset="0"/>
              </a:rPr>
              <a:t> </a:t>
            </a:r>
            <a:r>
              <a:rPr lang="en-US" sz="2800" dirty="0" err="1">
                <a:latin typeface="Arial" charset="0"/>
                <a:cs typeface="Arial" charset="0"/>
              </a:rPr>
              <a:t>số</a:t>
            </a:r>
            <a:r>
              <a:rPr lang="en-US" sz="2800" dirty="0">
                <a:latin typeface="Arial" charset="0"/>
                <a:cs typeface="Arial" charset="0"/>
              </a:rPr>
              <a:t> serial </a:t>
            </a:r>
            <a:r>
              <a:rPr lang="en-US" sz="2800" dirty="0" err="1">
                <a:latin typeface="Arial" charset="0"/>
                <a:cs typeface="Arial" charset="0"/>
              </a:rPr>
              <a:t>của</a:t>
            </a:r>
            <a:r>
              <a:rPr lang="en-US" sz="2800" dirty="0">
                <a:latin typeface="Arial" charset="0"/>
                <a:cs typeface="Arial" charset="0"/>
              </a:rPr>
              <a:t> card.</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54DCE12B-B2D9-42F3-8DE4-E3DDD585443C}" type="slidenum">
              <a:rPr lang="en-US"/>
              <a:pPr>
                <a:defRPr/>
              </a:pPr>
              <a:t>57</a:t>
            </a:fld>
            <a:endParaRPr lang="en-US"/>
          </a:p>
        </p:txBody>
      </p:sp>
      <p:sp>
        <p:nvSpPr>
          <p:cNvPr id="5" name="Title 1"/>
          <p:cNvSpPr>
            <a:spLocks noGrp="1"/>
          </p:cNvSpPr>
          <p:nvPr>
            <p:ph type="title"/>
          </p:nvPr>
        </p:nvSpPr>
        <p:spPr>
          <a:xfrm>
            <a:off x="1524000" y="60325"/>
            <a:ext cx="9144000" cy="838200"/>
          </a:xfrm>
        </p:spPr>
        <p:txBody>
          <a:bodyPr/>
          <a:lstStyle/>
          <a:p>
            <a:r>
              <a:rPr lang="en-US" dirty="0"/>
              <a:t>VIII.1 CARD MẠNG</a:t>
            </a:r>
          </a:p>
        </p:txBody>
      </p:sp>
    </p:spTree>
    <p:extLst>
      <p:ext uri="{BB962C8B-B14F-4D97-AF65-F5344CB8AC3E}">
        <p14:creationId xmlns:p14="http://schemas.microsoft.com/office/powerpoint/2010/main" val="269446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9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9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42F47B2-E198-4B6D-82AF-47D2BFE2145C}" type="slidenum">
              <a:rPr lang="en-US"/>
              <a:pPr>
                <a:defRPr/>
              </a:pPr>
              <a:t>58</a:t>
            </a:fld>
            <a:endParaRPr lang="en-US"/>
          </a:p>
        </p:txBody>
      </p:sp>
      <p:pic>
        <p:nvPicPr>
          <p:cNvPr id="83972" name="Picture 4" descr="card ma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828800"/>
            <a:ext cx="81534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24000" y="60325"/>
            <a:ext cx="9144000" cy="838200"/>
          </a:xfrm>
        </p:spPr>
        <p:txBody>
          <a:bodyPr/>
          <a:lstStyle/>
          <a:p>
            <a:r>
              <a:rPr lang="en-US" dirty="0"/>
              <a:t>VIII.1 CARD MẠNG</a:t>
            </a:r>
          </a:p>
        </p:txBody>
      </p:sp>
    </p:spTree>
    <p:extLst>
      <p:ext uri="{BB962C8B-B14F-4D97-AF65-F5344CB8AC3E}">
        <p14:creationId xmlns:p14="http://schemas.microsoft.com/office/powerpoint/2010/main" val="2846867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1"/>
          </p:nvPr>
        </p:nvSpPr>
        <p:spPr>
          <a:xfrm>
            <a:off x="1584326" y="1371601"/>
            <a:ext cx="8931275" cy="4754563"/>
          </a:xfrm>
        </p:spPr>
        <p:txBody>
          <a:bodyPr/>
          <a:lstStyle/>
          <a:p>
            <a:pPr eaLnBrk="1" hangingPunct="1"/>
            <a:r>
              <a:rPr lang="en-US" dirty="0" err="1">
                <a:latin typeface="Arial" charset="0"/>
                <a:cs typeface="Arial" charset="0"/>
              </a:rPr>
              <a:t>Là</a:t>
            </a:r>
            <a:r>
              <a:rPr lang="en-US" dirty="0">
                <a:latin typeface="Arial" charset="0"/>
                <a:cs typeface="Arial" charset="0"/>
              </a:rPr>
              <a:t> </a:t>
            </a:r>
            <a:r>
              <a:rPr lang="en-US" dirty="0" err="1">
                <a:latin typeface="Arial" charset="0"/>
                <a:cs typeface="Arial" charset="0"/>
              </a:rPr>
              <a:t>tên</a:t>
            </a:r>
            <a:r>
              <a:rPr lang="en-US" dirty="0">
                <a:latin typeface="Arial" charset="0"/>
                <a:cs typeface="Arial" charset="0"/>
              </a:rPr>
              <a:t> </a:t>
            </a:r>
            <a:r>
              <a:rPr lang="en-US" dirty="0" err="1">
                <a:latin typeface="Arial" charset="0"/>
                <a:cs typeface="Arial" charset="0"/>
              </a:rPr>
              <a:t>viết</a:t>
            </a:r>
            <a:r>
              <a:rPr lang="en-US" dirty="0">
                <a:latin typeface="Arial" charset="0"/>
                <a:cs typeface="Arial" charset="0"/>
              </a:rPr>
              <a:t> </a:t>
            </a:r>
            <a:r>
              <a:rPr lang="en-US" dirty="0" err="1">
                <a:latin typeface="Arial" charset="0"/>
                <a:cs typeface="Arial" charset="0"/>
              </a:rPr>
              <a:t>tắt</a:t>
            </a:r>
            <a:r>
              <a:rPr lang="en-US" dirty="0">
                <a:latin typeface="Arial" charset="0"/>
                <a:cs typeface="Arial" charset="0"/>
              </a:rPr>
              <a:t> </a:t>
            </a:r>
            <a:r>
              <a:rPr lang="en-US" dirty="0" err="1">
                <a:latin typeface="Arial" charset="0"/>
                <a:cs typeface="Arial" charset="0"/>
              </a:rPr>
              <a:t>của</a:t>
            </a:r>
            <a:r>
              <a:rPr lang="en-US" dirty="0">
                <a:latin typeface="Arial" charset="0"/>
                <a:cs typeface="Arial" charset="0"/>
              </a:rPr>
              <a:t> </a:t>
            </a:r>
            <a:r>
              <a:rPr lang="en-US" dirty="0" err="1">
                <a:latin typeface="Arial" charset="0"/>
                <a:cs typeface="Arial" charset="0"/>
              </a:rPr>
              <a:t>hai</a:t>
            </a:r>
            <a:r>
              <a:rPr lang="en-US" dirty="0">
                <a:latin typeface="Arial" charset="0"/>
                <a:cs typeface="Arial" charset="0"/>
              </a:rPr>
              <a:t> </a:t>
            </a:r>
            <a:r>
              <a:rPr lang="en-US" dirty="0" err="1">
                <a:latin typeface="Arial" charset="0"/>
                <a:cs typeface="Arial" charset="0"/>
              </a:rPr>
              <a:t>từ</a:t>
            </a:r>
            <a:r>
              <a:rPr lang="en-US" dirty="0">
                <a:latin typeface="Arial" charset="0"/>
                <a:cs typeface="Arial" charset="0"/>
              </a:rPr>
              <a:t> </a:t>
            </a:r>
            <a:r>
              <a:rPr lang="en-US" dirty="0" err="1">
                <a:latin typeface="Arial" charset="0"/>
                <a:cs typeface="Arial" charset="0"/>
              </a:rPr>
              <a:t>điều</a:t>
            </a:r>
            <a:r>
              <a:rPr lang="en-US" dirty="0">
                <a:latin typeface="Arial" charset="0"/>
                <a:cs typeface="Arial" charset="0"/>
              </a:rPr>
              <a:t> </a:t>
            </a:r>
            <a:r>
              <a:rPr lang="en-US" dirty="0" err="1">
                <a:latin typeface="Arial" charset="0"/>
                <a:cs typeface="Arial" charset="0"/>
              </a:rPr>
              <a:t>chế</a:t>
            </a:r>
            <a:r>
              <a:rPr lang="en-US" dirty="0">
                <a:latin typeface="Arial" charset="0"/>
                <a:cs typeface="Arial" charset="0"/>
              </a:rPr>
              <a:t> (</a:t>
            </a:r>
            <a:r>
              <a:rPr lang="en-US" dirty="0" err="1">
                <a:latin typeface="Arial" charset="0"/>
                <a:cs typeface="Arial" charset="0"/>
              </a:rPr>
              <a:t>MOdulation</a:t>
            </a:r>
            <a:r>
              <a:rPr lang="en-US" dirty="0">
                <a:latin typeface="Arial" charset="0"/>
                <a:cs typeface="Arial" charset="0"/>
              </a:rPr>
              <a:t>) </a:t>
            </a:r>
            <a:r>
              <a:rPr lang="en-US" dirty="0" err="1">
                <a:latin typeface="Arial" charset="0"/>
                <a:cs typeface="Arial" charset="0"/>
              </a:rPr>
              <a:t>và</a:t>
            </a:r>
            <a:r>
              <a:rPr lang="en-US" dirty="0">
                <a:latin typeface="Arial" charset="0"/>
                <a:cs typeface="Arial" charset="0"/>
              </a:rPr>
              <a:t> </a:t>
            </a:r>
            <a:r>
              <a:rPr lang="en-US" dirty="0" err="1">
                <a:latin typeface="Arial" charset="0"/>
                <a:cs typeface="Arial" charset="0"/>
              </a:rPr>
              <a:t>giải</a:t>
            </a:r>
            <a:r>
              <a:rPr lang="en-US" dirty="0">
                <a:latin typeface="Arial" charset="0"/>
                <a:cs typeface="Arial" charset="0"/>
              </a:rPr>
              <a:t> </a:t>
            </a:r>
            <a:r>
              <a:rPr lang="en-US" dirty="0" err="1">
                <a:latin typeface="Arial" charset="0"/>
                <a:cs typeface="Arial" charset="0"/>
              </a:rPr>
              <a:t>điều</a:t>
            </a:r>
            <a:r>
              <a:rPr lang="en-US" dirty="0">
                <a:latin typeface="Arial" charset="0"/>
                <a:cs typeface="Arial" charset="0"/>
              </a:rPr>
              <a:t> </a:t>
            </a:r>
            <a:r>
              <a:rPr lang="en-US" dirty="0" err="1">
                <a:latin typeface="Arial" charset="0"/>
                <a:cs typeface="Arial" charset="0"/>
              </a:rPr>
              <a:t>chế</a:t>
            </a:r>
            <a:r>
              <a:rPr lang="en-US" dirty="0">
                <a:latin typeface="Arial" charset="0"/>
                <a:cs typeface="Arial" charset="0"/>
              </a:rPr>
              <a:t> (</a:t>
            </a:r>
            <a:r>
              <a:rPr lang="en-US" dirty="0" err="1">
                <a:latin typeface="Arial" charset="0"/>
                <a:cs typeface="Arial" charset="0"/>
              </a:rPr>
              <a:t>DEModulation</a:t>
            </a:r>
            <a:r>
              <a:rPr lang="en-US" dirty="0">
                <a:latin typeface="Arial" charset="0"/>
                <a:cs typeface="Arial" charset="0"/>
              </a:rPr>
              <a:t>).</a:t>
            </a:r>
          </a:p>
          <a:p>
            <a:pPr eaLnBrk="1" hangingPunct="1"/>
            <a:r>
              <a:rPr lang="en-US" dirty="0" err="1">
                <a:latin typeface="Arial" charset="0"/>
                <a:cs typeface="Arial" charset="0"/>
              </a:rPr>
              <a:t>Điều</a:t>
            </a:r>
            <a:r>
              <a:rPr lang="en-US" dirty="0">
                <a:latin typeface="Arial" charset="0"/>
                <a:cs typeface="Arial" charset="0"/>
              </a:rPr>
              <a:t> </a:t>
            </a:r>
            <a:r>
              <a:rPr lang="en-US" dirty="0" err="1">
                <a:latin typeface="Arial" charset="0"/>
                <a:cs typeface="Arial" charset="0"/>
              </a:rPr>
              <a:t>chế</a:t>
            </a:r>
            <a:r>
              <a:rPr lang="en-US" dirty="0">
                <a:latin typeface="Arial" charset="0"/>
                <a:cs typeface="Arial" charset="0"/>
              </a:rPr>
              <a:t> </a:t>
            </a:r>
            <a:r>
              <a:rPr lang="en-US" dirty="0" err="1">
                <a:latin typeface="Arial" charset="0"/>
                <a:cs typeface="Arial" charset="0"/>
              </a:rPr>
              <a:t>tín</a:t>
            </a:r>
            <a:r>
              <a:rPr lang="en-US" dirty="0">
                <a:latin typeface="Arial" charset="0"/>
                <a:cs typeface="Arial" charset="0"/>
              </a:rPr>
              <a:t> </a:t>
            </a:r>
            <a:r>
              <a:rPr lang="en-US" dirty="0" err="1">
                <a:latin typeface="Arial" charset="0"/>
                <a:cs typeface="Arial" charset="0"/>
              </a:rPr>
              <a:t>hiệu</a:t>
            </a:r>
            <a:r>
              <a:rPr lang="en-US" dirty="0">
                <a:latin typeface="Arial" charset="0"/>
                <a:cs typeface="Arial" charset="0"/>
              </a:rPr>
              <a:t> </a:t>
            </a:r>
            <a:r>
              <a:rPr lang="en-US" dirty="0" err="1">
                <a:latin typeface="Arial" charset="0"/>
                <a:cs typeface="Arial" charset="0"/>
              </a:rPr>
              <a:t>số</a:t>
            </a:r>
            <a:r>
              <a:rPr lang="en-US" dirty="0">
                <a:latin typeface="Arial" charset="0"/>
                <a:cs typeface="Arial" charset="0"/>
              </a:rPr>
              <a:t> (Digital) sang </a:t>
            </a:r>
            <a:r>
              <a:rPr lang="en-US" dirty="0" err="1">
                <a:latin typeface="Arial" charset="0"/>
                <a:cs typeface="Arial" charset="0"/>
              </a:rPr>
              <a:t>tín</a:t>
            </a:r>
            <a:r>
              <a:rPr lang="en-US" dirty="0">
                <a:latin typeface="Arial" charset="0"/>
                <a:cs typeface="Arial" charset="0"/>
              </a:rPr>
              <a:t> </a:t>
            </a:r>
            <a:r>
              <a:rPr lang="en-US" dirty="0" err="1">
                <a:latin typeface="Arial" charset="0"/>
                <a:cs typeface="Arial" charset="0"/>
              </a:rPr>
              <a:t>hiệu</a:t>
            </a:r>
            <a:r>
              <a:rPr lang="en-US" dirty="0">
                <a:latin typeface="Arial" charset="0"/>
                <a:cs typeface="Arial" charset="0"/>
              </a:rPr>
              <a:t> </a:t>
            </a:r>
            <a:r>
              <a:rPr lang="en-US" dirty="0" err="1">
                <a:latin typeface="Arial" charset="0"/>
                <a:cs typeface="Arial" charset="0"/>
              </a:rPr>
              <a:t>tương</a:t>
            </a:r>
            <a:r>
              <a:rPr lang="en-US" dirty="0">
                <a:latin typeface="Arial" charset="0"/>
                <a:cs typeface="Arial" charset="0"/>
              </a:rPr>
              <a:t> </a:t>
            </a:r>
            <a:r>
              <a:rPr lang="en-US" dirty="0" err="1">
                <a:latin typeface="Arial" charset="0"/>
                <a:cs typeface="Arial" charset="0"/>
              </a:rPr>
              <a:t>tự</a:t>
            </a:r>
            <a:r>
              <a:rPr lang="en-US" dirty="0">
                <a:latin typeface="Arial" charset="0"/>
                <a:cs typeface="Arial" charset="0"/>
              </a:rPr>
              <a:t> (Analog) </a:t>
            </a:r>
            <a:r>
              <a:rPr lang="en-US" dirty="0" err="1">
                <a:latin typeface="Arial" charset="0"/>
                <a:cs typeface="Arial" charset="0"/>
              </a:rPr>
              <a:t>để</a:t>
            </a:r>
            <a:r>
              <a:rPr lang="en-US" dirty="0">
                <a:latin typeface="Arial" charset="0"/>
                <a:cs typeface="Arial" charset="0"/>
              </a:rPr>
              <a:t> </a:t>
            </a:r>
            <a:r>
              <a:rPr lang="en-US" dirty="0" err="1">
                <a:latin typeface="Arial" charset="0"/>
                <a:cs typeface="Arial" charset="0"/>
              </a:rPr>
              <a:t>gởi</a:t>
            </a:r>
            <a:r>
              <a:rPr lang="en-US" dirty="0">
                <a:latin typeface="Arial" charset="0"/>
                <a:cs typeface="Arial" charset="0"/>
              </a:rPr>
              <a:t> </a:t>
            </a:r>
            <a:r>
              <a:rPr lang="en-US" dirty="0" err="1">
                <a:latin typeface="Arial" charset="0"/>
                <a:cs typeface="Arial" charset="0"/>
              </a:rPr>
              <a:t>theo</a:t>
            </a:r>
            <a:r>
              <a:rPr lang="en-US" dirty="0">
                <a:latin typeface="Arial" charset="0"/>
                <a:cs typeface="Arial" charset="0"/>
              </a:rPr>
              <a:t> </a:t>
            </a:r>
            <a:r>
              <a:rPr lang="en-US" dirty="0" err="1">
                <a:latin typeface="Arial" charset="0"/>
                <a:cs typeface="Arial" charset="0"/>
              </a:rPr>
              <a:t>đường</a:t>
            </a:r>
            <a:r>
              <a:rPr lang="en-US" dirty="0">
                <a:latin typeface="Arial" charset="0"/>
                <a:cs typeface="Arial" charset="0"/>
              </a:rPr>
              <a:t> </a:t>
            </a:r>
            <a:r>
              <a:rPr lang="en-US" dirty="0" err="1">
                <a:latin typeface="Arial" charset="0"/>
                <a:cs typeface="Arial" charset="0"/>
              </a:rPr>
              <a:t>điện</a:t>
            </a:r>
            <a:r>
              <a:rPr lang="en-US" dirty="0">
                <a:latin typeface="Arial" charset="0"/>
                <a:cs typeface="Arial" charset="0"/>
              </a:rPr>
              <a:t> </a:t>
            </a:r>
            <a:r>
              <a:rPr lang="en-US" dirty="0" err="1">
                <a:latin typeface="Arial" charset="0"/>
                <a:cs typeface="Arial" charset="0"/>
              </a:rPr>
              <a:t>thoại</a:t>
            </a:r>
            <a:r>
              <a:rPr lang="en-US" dirty="0">
                <a:latin typeface="Arial" charset="0"/>
                <a:cs typeface="Arial" charset="0"/>
              </a:rPr>
              <a:t> </a:t>
            </a:r>
            <a:r>
              <a:rPr lang="en-US" dirty="0" err="1">
                <a:latin typeface="Arial" charset="0"/>
                <a:cs typeface="Arial" charset="0"/>
              </a:rPr>
              <a:t>và</a:t>
            </a:r>
            <a:r>
              <a:rPr lang="en-US" dirty="0">
                <a:latin typeface="Arial" charset="0"/>
                <a:cs typeface="Arial" charset="0"/>
              </a:rPr>
              <a:t> </a:t>
            </a:r>
            <a:r>
              <a:rPr lang="en-US" dirty="0" err="1">
                <a:latin typeface="Arial" charset="0"/>
                <a:cs typeface="Arial" charset="0"/>
              </a:rPr>
              <a:t>ngược</a:t>
            </a:r>
            <a:r>
              <a:rPr lang="en-US" dirty="0">
                <a:latin typeface="Arial" charset="0"/>
                <a:cs typeface="Arial" charset="0"/>
              </a:rPr>
              <a:t> </a:t>
            </a:r>
            <a:r>
              <a:rPr lang="en-US" dirty="0" err="1">
                <a:latin typeface="Arial" charset="0"/>
                <a:cs typeface="Arial" charset="0"/>
              </a:rPr>
              <a:t>lại</a:t>
            </a:r>
            <a:r>
              <a:rPr lang="en-US" dirty="0">
                <a:latin typeface="Arial" charset="0"/>
                <a:cs typeface="Arial" charset="0"/>
              </a:rPr>
              <a:t>.</a:t>
            </a:r>
          </a:p>
          <a:p>
            <a:pPr eaLnBrk="1" hangingPunct="1"/>
            <a:r>
              <a:rPr lang="en-US" dirty="0" err="1">
                <a:latin typeface="Arial" charset="0"/>
                <a:cs typeface="Arial" charset="0"/>
              </a:rPr>
              <a:t>Có</a:t>
            </a:r>
            <a:r>
              <a:rPr lang="en-US" dirty="0">
                <a:latin typeface="Arial" charset="0"/>
                <a:cs typeface="Arial" charset="0"/>
              </a:rPr>
              <a:t> 2 </a:t>
            </a:r>
            <a:r>
              <a:rPr lang="en-US" dirty="0" err="1">
                <a:latin typeface="Arial" charset="0"/>
                <a:cs typeface="Arial" charset="0"/>
              </a:rPr>
              <a:t>loại</a:t>
            </a:r>
            <a:r>
              <a:rPr lang="en-US" dirty="0">
                <a:latin typeface="Arial" charset="0"/>
                <a:cs typeface="Arial" charset="0"/>
              </a:rPr>
              <a:t> </a:t>
            </a:r>
            <a:r>
              <a:rPr lang="en-US" dirty="0" err="1">
                <a:latin typeface="Arial" charset="0"/>
                <a:cs typeface="Arial" charset="0"/>
              </a:rPr>
              <a:t>là</a:t>
            </a:r>
            <a:r>
              <a:rPr lang="en-US" dirty="0">
                <a:latin typeface="Arial" charset="0"/>
                <a:cs typeface="Arial" charset="0"/>
              </a:rPr>
              <a:t> Internal </a:t>
            </a:r>
            <a:r>
              <a:rPr lang="en-US" dirty="0" err="1">
                <a:latin typeface="Arial" charset="0"/>
                <a:cs typeface="Arial" charset="0"/>
              </a:rPr>
              <a:t>và</a:t>
            </a:r>
            <a:r>
              <a:rPr lang="en-US" dirty="0">
                <a:latin typeface="Arial" charset="0"/>
                <a:cs typeface="Arial" charset="0"/>
              </a:rPr>
              <a:t> External.</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AB7CF23B-FFF0-46A6-854D-C2261DFEC7E7}" type="slidenum">
              <a:rPr lang="en-US">
                <a:latin typeface="Arial" pitchFamily="34" charset="0"/>
                <a:cs typeface="Arial" pitchFamily="34" charset="0"/>
              </a:rPr>
              <a:pPr>
                <a:defRPr/>
              </a:pPr>
              <a:t>59</a:t>
            </a:fld>
            <a:endParaRPr lang="en-US">
              <a:latin typeface="Arial" pitchFamily="34" charset="0"/>
              <a:cs typeface="Arial" pitchFamily="34" charset="0"/>
            </a:endParaRPr>
          </a:p>
        </p:txBody>
      </p:sp>
      <p:sp>
        <p:nvSpPr>
          <p:cNvPr id="7" name="Title 1"/>
          <p:cNvSpPr>
            <a:spLocks noGrp="1"/>
          </p:cNvSpPr>
          <p:nvPr>
            <p:ph type="title"/>
          </p:nvPr>
        </p:nvSpPr>
        <p:spPr>
          <a:xfrm>
            <a:off x="1524000" y="60325"/>
            <a:ext cx="9144000" cy="838200"/>
          </a:xfrm>
        </p:spPr>
        <p:txBody>
          <a:bodyPr/>
          <a:lstStyle/>
          <a:p>
            <a:r>
              <a:rPr lang="en-US" dirty="0"/>
              <a:t>VIII.2 MODEM</a:t>
            </a:r>
          </a:p>
        </p:txBody>
      </p:sp>
    </p:spTree>
    <p:extLst>
      <p:ext uri="{BB962C8B-B14F-4D97-AF65-F5344CB8AC3E}">
        <p14:creationId xmlns:p14="http://schemas.microsoft.com/office/powerpoint/2010/main" val="142630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D7851B95-20AD-486C-84F8-E906AAEE19E6}" type="slidenum">
              <a:rPr lang="en-US"/>
              <a:pPr>
                <a:defRPr/>
              </a:pPr>
              <a:t>60</a:t>
            </a:fld>
            <a:endParaRPr lang="en-US"/>
          </a:p>
        </p:txBody>
      </p:sp>
      <p:pic>
        <p:nvPicPr>
          <p:cNvPr id="8602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2700" y="3810000"/>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1" y="2743200"/>
            <a:ext cx="3952875"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057401"/>
            <a:ext cx="377190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VIII.2 MODEM</a:t>
            </a:r>
          </a:p>
        </p:txBody>
      </p:sp>
    </p:spTree>
    <p:extLst>
      <p:ext uri="{BB962C8B-B14F-4D97-AF65-F5344CB8AC3E}">
        <p14:creationId xmlns:p14="http://schemas.microsoft.com/office/powerpoint/2010/main" val="2543597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xfrm>
            <a:off x="2362200" y="1600200"/>
            <a:ext cx="7848600" cy="4038600"/>
          </a:xfrm>
        </p:spPr>
        <p:txBody>
          <a:bodyPr/>
          <a:lstStyle/>
          <a:p>
            <a:pPr eaLnBrk="1" hangingPunct="1">
              <a:lnSpc>
                <a:spcPct val="80000"/>
              </a:lnSpc>
            </a:pPr>
            <a:r>
              <a:rPr lang="en-US" sz="2800" dirty="0" err="1">
                <a:latin typeface="Arial" charset="0"/>
                <a:cs typeface="Arial" charset="0"/>
              </a:rPr>
              <a:t>Khuếch</a:t>
            </a:r>
            <a:r>
              <a:rPr lang="en-US" sz="2800" dirty="0">
                <a:latin typeface="Arial" charset="0"/>
                <a:cs typeface="Arial" charset="0"/>
              </a:rPr>
              <a:t> </a:t>
            </a:r>
            <a:r>
              <a:rPr lang="en-US" sz="2800" dirty="0" err="1">
                <a:latin typeface="Arial" charset="0"/>
                <a:cs typeface="Arial" charset="0"/>
              </a:rPr>
              <a:t>đại</a:t>
            </a:r>
            <a:r>
              <a:rPr lang="en-US" sz="2800" dirty="0">
                <a:latin typeface="Arial" charset="0"/>
                <a:cs typeface="Arial" charset="0"/>
              </a:rPr>
              <a:t>, </a:t>
            </a:r>
            <a:r>
              <a:rPr lang="en-US" sz="2800" dirty="0" err="1">
                <a:latin typeface="Arial" charset="0"/>
                <a:cs typeface="Arial" charset="0"/>
              </a:rPr>
              <a:t>phục</a:t>
            </a:r>
            <a:r>
              <a:rPr lang="en-US" sz="2800" dirty="0">
                <a:latin typeface="Arial" charset="0"/>
                <a:cs typeface="Arial" charset="0"/>
              </a:rPr>
              <a:t> </a:t>
            </a:r>
            <a:r>
              <a:rPr lang="en-US" sz="2800" dirty="0" err="1">
                <a:latin typeface="Arial" charset="0"/>
                <a:cs typeface="Arial" charset="0"/>
              </a:rPr>
              <a:t>hồi</a:t>
            </a:r>
            <a:r>
              <a:rPr lang="en-US" sz="2800" dirty="0">
                <a:latin typeface="Arial" charset="0"/>
                <a:cs typeface="Arial" charset="0"/>
              </a:rPr>
              <a:t> </a:t>
            </a:r>
            <a:r>
              <a:rPr lang="en-US" sz="2800" dirty="0" err="1">
                <a:latin typeface="Arial" charset="0"/>
                <a:cs typeface="Arial" charset="0"/>
              </a:rPr>
              <a:t>các</a:t>
            </a:r>
            <a:r>
              <a:rPr lang="en-US" sz="2800" dirty="0">
                <a:latin typeface="Arial" charset="0"/>
                <a:cs typeface="Arial" charset="0"/>
              </a:rPr>
              <a:t> </a:t>
            </a:r>
            <a:r>
              <a:rPr lang="en-US" sz="2800" dirty="0" err="1">
                <a:latin typeface="Arial" charset="0"/>
                <a:cs typeface="Arial" charset="0"/>
              </a:rPr>
              <a:t>tín</a:t>
            </a:r>
            <a:r>
              <a:rPr lang="en-US" sz="2800" dirty="0">
                <a:latin typeface="Arial" charset="0"/>
                <a:cs typeface="Arial" charset="0"/>
              </a:rPr>
              <a:t> </a:t>
            </a:r>
            <a:r>
              <a:rPr lang="en-US" sz="2800" dirty="0" err="1">
                <a:latin typeface="Arial" charset="0"/>
                <a:cs typeface="Arial" charset="0"/>
              </a:rPr>
              <a:t>hiệu</a:t>
            </a:r>
            <a:r>
              <a:rPr lang="en-US" sz="2800" dirty="0">
                <a:latin typeface="Arial" charset="0"/>
                <a:cs typeface="Arial" charset="0"/>
              </a:rPr>
              <a:t> </a:t>
            </a:r>
            <a:r>
              <a:rPr lang="en-US" sz="2800" dirty="0" err="1">
                <a:latin typeface="Arial" charset="0"/>
                <a:cs typeface="Arial" charset="0"/>
              </a:rPr>
              <a:t>đã</a:t>
            </a:r>
            <a:r>
              <a:rPr lang="en-US" sz="2800" dirty="0">
                <a:latin typeface="Arial" charset="0"/>
                <a:cs typeface="Arial" charset="0"/>
              </a:rPr>
              <a:t> </a:t>
            </a:r>
            <a:r>
              <a:rPr lang="en-US" sz="2800" dirty="0" err="1">
                <a:latin typeface="Arial" charset="0"/>
                <a:cs typeface="Arial" charset="0"/>
              </a:rPr>
              <a:t>bị</a:t>
            </a:r>
            <a:r>
              <a:rPr lang="en-US" sz="2800" dirty="0">
                <a:latin typeface="Arial" charset="0"/>
                <a:cs typeface="Arial" charset="0"/>
              </a:rPr>
              <a:t> </a:t>
            </a:r>
            <a:r>
              <a:rPr lang="en-US" sz="2800" dirty="0" err="1">
                <a:latin typeface="Arial" charset="0"/>
                <a:cs typeface="Arial" charset="0"/>
              </a:rPr>
              <a:t>suy</a:t>
            </a:r>
            <a:r>
              <a:rPr lang="en-US" sz="2800" dirty="0">
                <a:latin typeface="Arial" charset="0"/>
                <a:cs typeface="Arial" charset="0"/>
              </a:rPr>
              <a:t> </a:t>
            </a:r>
            <a:r>
              <a:rPr lang="en-US" sz="2800" dirty="0" err="1">
                <a:latin typeface="Arial" charset="0"/>
                <a:cs typeface="Arial" charset="0"/>
              </a:rPr>
              <a:t>thoái</a:t>
            </a:r>
            <a:r>
              <a:rPr lang="en-US" sz="2800" dirty="0">
                <a:latin typeface="Arial" charset="0"/>
                <a:cs typeface="Arial" charset="0"/>
              </a:rPr>
              <a:t> do </a:t>
            </a:r>
            <a:r>
              <a:rPr lang="en-US" sz="2800" dirty="0" err="1">
                <a:latin typeface="Arial" charset="0"/>
                <a:cs typeface="Arial" charset="0"/>
              </a:rPr>
              <a:t>tổn</a:t>
            </a:r>
            <a:r>
              <a:rPr lang="en-US" sz="2800" dirty="0">
                <a:latin typeface="Arial" charset="0"/>
                <a:cs typeface="Arial" charset="0"/>
              </a:rPr>
              <a:t> </a:t>
            </a:r>
            <a:r>
              <a:rPr lang="en-US" sz="2800" dirty="0" err="1">
                <a:latin typeface="Arial" charset="0"/>
                <a:cs typeface="Arial" charset="0"/>
              </a:rPr>
              <a:t>thất</a:t>
            </a:r>
            <a:r>
              <a:rPr lang="en-US" sz="2800" dirty="0">
                <a:latin typeface="Arial" charset="0"/>
                <a:cs typeface="Arial" charset="0"/>
              </a:rPr>
              <a:t> </a:t>
            </a:r>
            <a:r>
              <a:rPr lang="en-US" sz="2800" dirty="0" err="1">
                <a:latin typeface="Arial" charset="0"/>
                <a:cs typeface="Arial" charset="0"/>
              </a:rPr>
              <a:t>năng</a:t>
            </a:r>
            <a:r>
              <a:rPr lang="en-US" sz="2800" dirty="0">
                <a:latin typeface="Arial" charset="0"/>
                <a:cs typeface="Arial" charset="0"/>
              </a:rPr>
              <a:t> </a:t>
            </a:r>
            <a:r>
              <a:rPr lang="en-US" sz="2800" dirty="0" err="1">
                <a:latin typeface="Arial" charset="0"/>
                <a:cs typeface="Arial" charset="0"/>
              </a:rPr>
              <a:t>lượng</a:t>
            </a:r>
            <a:r>
              <a:rPr lang="en-US" sz="2800" dirty="0">
                <a:latin typeface="Arial" charset="0"/>
                <a:cs typeface="Arial" charset="0"/>
              </a:rPr>
              <a:t> </a:t>
            </a:r>
            <a:r>
              <a:rPr lang="en-US" sz="2800" dirty="0" err="1">
                <a:latin typeface="Arial" charset="0"/>
                <a:cs typeface="Arial" charset="0"/>
              </a:rPr>
              <a:t>trong</a:t>
            </a:r>
            <a:r>
              <a:rPr lang="en-US" sz="2800" dirty="0">
                <a:latin typeface="Arial" charset="0"/>
                <a:cs typeface="Arial" charset="0"/>
              </a:rPr>
              <a:t> </a:t>
            </a:r>
            <a:r>
              <a:rPr lang="en-US" sz="2800" dirty="0" err="1">
                <a:latin typeface="Arial" charset="0"/>
                <a:cs typeface="Arial" charset="0"/>
              </a:rPr>
              <a:t>khi</a:t>
            </a:r>
            <a:r>
              <a:rPr lang="en-US" sz="2800" dirty="0">
                <a:latin typeface="Arial" charset="0"/>
                <a:cs typeface="Arial" charset="0"/>
              </a:rPr>
              <a:t> </a:t>
            </a:r>
            <a:r>
              <a:rPr lang="en-US" sz="2800" dirty="0" err="1">
                <a:latin typeface="Arial" charset="0"/>
                <a:cs typeface="Arial" charset="0"/>
              </a:rPr>
              <a:t>truyền</a:t>
            </a:r>
            <a:r>
              <a:rPr lang="en-US" sz="2800" dirty="0">
                <a:latin typeface="Arial" charset="0"/>
                <a:cs typeface="Arial" charset="0"/>
              </a:rPr>
              <a:t>.</a:t>
            </a:r>
          </a:p>
          <a:p>
            <a:pPr eaLnBrk="1" hangingPunct="1">
              <a:lnSpc>
                <a:spcPct val="80000"/>
              </a:lnSpc>
            </a:pPr>
            <a:r>
              <a:rPr lang="en-US" sz="2800" dirty="0">
                <a:latin typeface="Arial" charset="0"/>
                <a:cs typeface="Arial" charset="0"/>
              </a:rPr>
              <a:t>Cho </a:t>
            </a:r>
            <a:r>
              <a:rPr lang="en-US" sz="2800" dirty="0" err="1">
                <a:latin typeface="Arial" charset="0"/>
                <a:cs typeface="Arial" charset="0"/>
              </a:rPr>
              <a:t>phép</a:t>
            </a:r>
            <a:r>
              <a:rPr lang="en-US" sz="2800" dirty="0">
                <a:latin typeface="Arial" charset="0"/>
                <a:cs typeface="Arial" charset="0"/>
              </a:rPr>
              <a:t> </a:t>
            </a:r>
            <a:r>
              <a:rPr lang="en-US" sz="2800" dirty="0" err="1">
                <a:latin typeface="Arial" charset="0"/>
                <a:cs typeface="Arial" charset="0"/>
              </a:rPr>
              <a:t>mở</a:t>
            </a:r>
            <a:r>
              <a:rPr lang="en-US" sz="2800" dirty="0">
                <a:latin typeface="Arial" charset="0"/>
                <a:cs typeface="Arial" charset="0"/>
              </a:rPr>
              <a:t> </a:t>
            </a:r>
            <a:r>
              <a:rPr lang="en-US" sz="2800" dirty="0" err="1">
                <a:latin typeface="Arial" charset="0"/>
                <a:cs typeface="Arial" charset="0"/>
              </a:rPr>
              <a:t>rộng</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vượt</a:t>
            </a:r>
            <a:r>
              <a:rPr lang="en-US" sz="2800" dirty="0">
                <a:latin typeface="Arial" charset="0"/>
                <a:cs typeface="Arial" charset="0"/>
              </a:rPr>
              <a:t> </a:t>
            </a:r>
            <a:r>
              <a:rPr lang="en-US" sz="2800" dirty="0" err="1">
                <a:latin typeface="Arial" charset="0"/>
                <a:cs typeface="Arial" charset="0"/>
              </a:rPr>
              <a:t>xa</a:t>
            </a:r>
            <a:r>
              <a:rPr lang="en-US" sz="2800" dirty="0">
                <a:latin typeface="Arial" charset="0"/>
                <a:cs typeface="Arial" charset="0"/>
              </a:rPr>
              <a:t> </a:t>
            </a:r>
            <a:r>
              <a:rPr lang="en-US" sz="2800" dirty="0" err="1">
                <a:latin typeface="Arial" charset="0"/>
                <a:cs typeface="Arial" charset="0"/>
              </a:rPr>
              <a:t>chiều</a:t>
            </a:r>
            <a:r>
              <a:rPr lang="en-US" sz="2800" dirty="0">
                <a:latin typeface="Arial" charset="0"/>
                <a:cs typeface="Arial" charset="0"/>
              </a:rPr>
              <a:t> </a:t>
            </a:r>
            <a:r>
              <a:rPr lang="en-US" sz="2800" dirty="0" err="1">
                <a:latin typeface="Arial" charset="0"/>
                <a:cs typeface="Arial" charset="0"/>
              </a:rPr>
              <a:t>dài</a:t>
            </a:r>
            <a:r>
              <a:rPr lang="en-US" sz="2800" dirty="0">
                <a:latin typeface="Arial" charset="0"/>
                <a:cs typeface="Arial" charset="0"/>
              </a:rPr>
              <a:t> </a:t>
            </a:r>
            <a:r>
              <a:rPr lang="en-US" sz="2800" dirty="0" err="1">
                <a:latin typeface="Arial" charset="0"/>
                <a:cs typeface="Arial" charset="0"/>
              </a:rPr>
              <a:t>giới</a:t>
            </a:r>
            <a:r>
              <a:rPr lang="en-US" sz="2800" dirty="0">
                <a:latin typeface="Arial" charset="0"/>
                <a:cs typeface="Arial" charset="0"/>
              </a:rPr>
              <a:t> </a:t>
            </a:r>
            <a:r>
              <a:rPr lang="en-US" sz="2800" dirty="0" err="1">
                <a:latin typeface="Arial" charset="0"/>
                <a:cs typeface="Arial" charset="0"/>
              </a:rPr>
              <a:t>hạn</a:t>
            </a:r>
            <a:r>
              <a:rPr lang="en-US" sz="2800" dirty="0">
                <a:latin typeface="Arial" charset="0"/>
                <a:cs typeface="Arial" charset="0"/>
              </a:rPr>
              <a:t> </a:t>
            </a:r>
            <a:r>
              <a:rPr lang="en-US" sz="2800" dirty="0" err="1">
                <a:latin typeface="Arial" charset="0"/>
                <a:cs typeface="Arial" charset="0"/>
              </a:rPr>
              <a:t>của</a:t>
            </a:r>
            <a:r>
              <a:rPr lang="en-US" sz="2800" dirty="0">
                <a:latin typeface="Arial" charset="0"/>
                <a:cs typeface="Arial" charset="0"/>
              </a:rPr>
              <a:t> </a:t>
            </a:r>
            <a:r>
              <a:rPr lang="en-US" sz="2800" dirty="0" err="1">
                <a:latin typeface="Arial" charset="0"/>
                <a:cs typeface="Arial" charset="0"/>
              </a:rPr>
              <a:t>một</a:t>
            </a:r>
            <a:r>
              <a:rPr lang="en-US" sz="2800" dirty="0">
                <a:latin typeface="Arial" charset="0"/>
                <a:cs typeface="Arial" charset="0"/>
              </a:rPr>
              <a:t> </a:t>
            </a:r>
            <a:r>
              <a:rPr lang="en-US" sz="2800" dirty="0" err="1">
                <a:latin typeface="Arial" charset="0"/>
                <a:cs typeface="Arial" charset="0"/>
              </a:rPr>
              <a:t>môi</a:t>
            </a:r>
            <a:r>
              <a:rPr lang="en-US" sz="2800" dirty="0">
                <a:latin typeface="Arial" charset="0"/>
                <a:cs typeface="Arial" charset="0"/>
              </a:rPr>
              <a:t> </a:t>
            </a:r>
            <a:r>
              <a:rPr lang="en-US" sz="2800" dirty="0" err="1">
                <a:latin typeface="Arial" charset="0"/>
                <a:cs typeface="Arial" charset="0"/>
              </a:rPr>
              <a:t>trường</a:t>
            </a:r>
            <a:r>
              <a:rPr lang="en-US" sz="2800" dirty="0">
                <a:latin typeface="Arial" charset="0"/>
                <a:cs typeface="Arial" charset="0"/>
              </a:rPr>
              <a:t> </a:t>
            </a:r>
            <a:r>
              <a:rPr lang="en-US" sz="2800" dirty="0" err="1">
                <a:latin typeface="Arial" charset="0"/>
                <a:cs typeface="Arial" charset="0"/>
              </a:rPr>
              <a:t>truyền</a:t>
            </a:r>
            <a:r>
              <a:rPr lang="en-US" sz="2800" dirty="0">
                <a:latin typeface="Arial" charset="0"/>
                <a:cs typeface="Arial" charset="0"/>
              </a:rPr>
              <a:t>.</a:t>
            </a:r>
          </a:p>
          <a:p>
            <a:pPr eaLnBrk="1" hangingPunct="1">
              <a:lnSpc>
                <a:spcPct val="80000"/>
              </a:lnSpc>
            </a:pPr>
            <a:r>
              <a:rPr lang="en-US" sz="2800" dirty="0" err="1">
                <a:latin typeface="Arial" charset="0"/>
                <a:cs typeface="Arial" charset="0"/>
              </a:rPr>
              <a:t>Chỉ</a:t>
            </a:r>
            <a:r>
              <a:rPr lang="en-US" sz="2800" dirty="0">
                <a:latin typeface="Arial" charset="0"/>
                <a:cs typeface="Arial" charset="0"/>
              </a:rPr>
              <a:t> </a:t>
            </a:r>
            <a:r>
              <a:rPr lang="en-US" sz="2800" dirty="0" err="1">
                <a:latin typeface="Arial" charset="0"/>
                <a:cs typeface="Arial" charset="0"/>
              </a:rPr>
              <a:t>được</a:t>
            </a:r>
            <a:r>
              <a:rPr lang="en-US" sz="2800" dirty="0">
                <a:latin typeface="Arial" charset="0"/>
                <a:cs typeface="Arial" charset="0"/>
              </a:rPr>
              <a:t> </a:t>
            </a:r>
            <a:r>
              <a:rPr lang="en-US" sz="2800" dirty="0" err="1">
                <a:latin typeface="Arial" charset="0"/>
                <a:cs typeface="Arial" charset="0"/>
              </a:rPr>
              <a:t>dùng</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 </a:t>
            </a:r>
            <a:r>
              <a:rPr lang="en-US" sz="2800" dirty="0" err="1">
                <a:latin typeface="Arial" charset="0"/>
                <a:cs typeface="Arial" charset="0"/>
              </a:rPr>
              <a:t>hai</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có</a:t>
            </a:r>
            <a:r>
              <a:rPr lang="en-US" sz="2800" dirty="0">
                <a:latin typeface="Arial" charset="0"/>
                <a:cs typeface="Arial" charset="0"/>
              </a:rPr>
              <a:t> </a:t>
            </a:r>
            <a:r>
              <a:rPr lang="en-US" sz="2800" dirty="0" err="1">
                <a:latin typeface="Arial" charset="0"/>
                <a:cs typeface="Arial" charset="0"/>
              </a:rPr>
              <a:t>cùng</a:t>
            </a:r>
            <a:r>
              <a:rPr lang="en-US" sz="2800" dirty="0">
                <a:latin typeface="Arial" charset="0"/>
                <a:cs typeface="Arial" charset="0"/>
              </a:rPr>
              <a:t> </a:t>
            </a:r>
            <a:r>
              <a:rPr lang="en-US" sz="2800" dirty="0" err="1">
                <a:latin typeface="Arial" charset="0"/>
                <a:cs typeface="Arial" charset="0"/>
              </a:rPr>
              <a:t>giao</a:t>
            </a:r>
            <a:r>
              <a:rPr lang="en-US" sz="2800" dirty="0">
                <a:latin typeface="Arial" charset="0"/>
                <a:cs typeface="Arial" charset="0"/>
              </a:rPr>
              <a:t> </a:t>
            </a:r>
            <a:r>
              <a:rPr lang="en-US" sz="2800" dirty="0" err="1">
                <a:latin typeface="Arial" charset="0"/>
                <a:cs typeface="Arial" charset="0"/>
              </a:rPr>
              <a:t>thức</a:t>
            </a:r>
            <a:r>
              <a:rPr lang="en-US" sz="2800" dirty="0">
                <a:latin typeface="Arial" charset="0"/>
                <a:cs typeface="Arial" charset="0"/>
              </a:rPr>
              <a:t> </a:t>
            </a:r>
            <a:r>
              <a:rPr lang="en-US" sz="2800" dirty="0" err="1">
                <a:latin typeface="Arial" charset="0"/>
                <a:cs typeface="Arial" charset="0"/>
              </a:rPr>
              <a:t>truyền</a:t>
            </a:r>
            <a:r>
              <a:rPr lang="en-US" sz="2800" dirty="0">
                <a:latin typeface="Arial" charset="0"/>
                <a:cs typeface="Arial" charset="0"/>
              </a:rPr>
              <a:t> </a:t>
            </a:r>
            <a:r>
              <a:rPr lang="en-US" sz="2800" dirty="0" err="1">
                <a:latin typeface="Arial" charset="0"/>
                <a:cs typeface="Arial" charset="0"/>
              </a:rPr>
              <a:t>thông</a:t>
            </a:r>
            <a:r>
              <a:rPr lang="en-US" sz="2800" dirty="0">
                <a:latin typeface="Arial" charset="0"/>
                <a:cs typeface="Arial" charset="0"/>
              </a:rPr>
              <a:t>.</a:t>
            </a:r>
          </a:p>
          <a:p>
            <a:pPr eaLnBrk="1" hangingPunct="1">
              <a:lnSpc>
                <a:spcPct val="80000"/>
              </a:lnSpc>
            </a:pPr>
            <a:r>
              <a:rPr lang="en-US" sz="2800" dirty="0" err="1">
                <a:latin typeface="Arial" charset="0"/>
                <a:cs typeface="Arial" charset="0"/>
              </a:rPr>
              <a:t>Hoạt</a:t>
            </a:r>
            <a:r>
              <a:rPr lang="en-US" sz="2800" dirty="0">
                <a:latin typeface="Arial" charset="0"/>
                <a:cs typeface="Arial" charset="0"/>
              </a:rPr>
              <a:t> </a:t>
            </a:r>
            <a:r>
              <a:rPr lang="en-US" sz="2800" dirty="0" err="1">
                <a:latin typeface="Arial" charset="0"/>
                <a:cs typeface="Arial" charset="0"/>
              </a:rPr>
              <a:t>động</a:t>
            </a:r>
            <a:r>
              <a:rPr lang="en-US" sz="2800" dirty="0">
                <a:latin typeface="Arial" charset="0"/>
                <a:cs typeface="Arial" charset="0"/>
              </a:rPr>
              <a:t> ở </a:t>
            </a:r>
            <a:r>
              <a:rPr lang="en-US" sz="2800" dirty="0" err="1">
                <a:latin typeface="Arial" charset="0"/>
                <a:cs typeface="Arial" charset="0"/>
              </a:rPr>
              <a:t>lớp</a:t>
            </a:r>
            <a:r>
              <a:rPr lang="en-US" sz="2800" dirty="0">
                <a:latin typeface="Arial" charset="0"/>
                <a:cs typeface="Arial" charset="0"/>
              </a:rPr>
              <a:t> Physical.</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78359854-F458-4EE2-B8F2-33231A1A38CD}" type="slidenum">
              <a:rPr lang="en-US">
                <a:latin typeface="Arial" pitchFamily="34" charset="0"/>
                <a:cs typeface="Arial" pitchFamily="34" charset="0"/>
              </a:rPr>
              <a:pPr>
                <a:defRPr/>
              </a:pPr>
              <a:t>61</a:t>
            </a:fld>
            <a:endParaRPr lang="en-US">
              <a:latin typeface="Arial" pitchFamily="34" charset="0"/>
              <a:cs typeface="Arial" pitchFamily="34" charset="0"/>
            </a:endParaRPr>
          </a:p>
        </p:txBody>
      </p:sp>
      <p:sp>
        <p:nvSpPr>
          <p:cNvPr id="2" name="Title 1"/>
          <p:cNvSpPr>
            <a:spLocks noGrp="1"/>
          </p:cNvSpPr>
          <p:nvPr>
            <p:ph type="title"/>
          </p:nvPr>
        </p:nvSpPr>
        <p:spPr/>
        <p:txBody>
          <a:bodyPr/>
          <a:lstStyle/>
          <a:p>
            <a:r>
              <a:rPr lang="en-US" dirty="0"/>
              <a:t>VIII.3 REPEATER (BỘ CHUYỂN TIẾP)</a:t>
            </a:r>
          </a:p>
        </p:txBody>
      </p:sp>
    </p:spTree>
    <p:extLst>
      <p:ext uri="{BB962C8B-B14F-4D97-AF65-F5344CB8AC3E}">
        <p14:creationId xmlns:p14="http://schemas.microsoft.com/office/powerpoint/2010/main" val="325307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0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70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EECBEAF-DF14-4DA9-B183-4B0E97896D38}" type="slidenum">
              <a:rPr lang="en-US"/>
              <a:pPr>
                <a:defRPr/>
              </a:pPr>
              <a:t>62</a:t>
            </a:fld>
            <a:endParaRPr lang="en-US"/>
          </a:p>
        </p:txBody>
      </p:sp>
      <p:pic>
        <p:nvPicPr>
          <p:cNvPr id="88068" name="Picture 4" descr="repea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944813"/>
            <a:ext cx="2971800" cy="218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9" name="Picture 5" descr="repeater noi ma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1" y="2514600"/>
            <a:ext cx="439102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VIII.3 REPEATER (BỘ CHUYỂN TIẾP)</a:t>
            </a:r>
          </a:p>
        </p:txBody>
      </p:sp>
    </p:spTree>
    <p:extLst>
      <p:ext uri="{BB962C8B-B14F-4D97-AF65-F5344CB8AC3E}">
        <p14:creationId xmlns:p14="http://schemas.microsoft.com/office/powerpoint/2010/main" val="1899255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a:xfrm>
            <a:off x="1981200" y="1600201"/>
            <a:ext cx="8305800" cy="4525963"/>
          </a:xfrm>
        </p:spPr>
        <p:txBody>
          <a:bodyPr/>
          <a:lstStyle/>
          <a:p>
            <a:pPr eaLnBrk="1" hangingPunct="1"/>
            <a:r>
              <a:rPr lang="en-US" sz="2800" dirty="0" err="1">
                <a:latin typeface="Arial" charset="0"/>
                <a:cs typeface="Arial" charset="0"/>
              </a:rPr>
              <a:t>Chức</a:t>
            </a:r>
            <a:r>
              <a:rPr lang="en-US" sz="2800" dirty="0">
                <a:latin typeface="Arial" charset="0"/>
                <a:cs typeface="Arial" charset="0"/>
              </a:rPr>
              <a:t> </a:t>
            </a:r>
            <a:r>
              <a:rPr lang="en-US" sz="2800" dirty="0" err="1">
                <a:latin typeface="Arial" charset="0"/>
                <a:cs typeface="Arial" charset="0"/>
              </a:rPr>
              <a:t>năng</a:t>
            </a:r>
            <a:r>
              <a:rPr lang="en-US" sz="2800" dirty="0">
                <a:latin typeface="Arial" charset="0"/>
                <a:cs typeface="Arial" charset="0"/>
              </a:rPr>
              <a:t> </a:t>
            </a:r>
            <a:r>
              <a:rPr lang="en-US" sz="2800" dirty="0" err="1">
                <a:latin typeface="Arial" charset="0"/>
                <a:cs typeface="Arial" charset="0"/>
              </a:rPr>
              <a:t>như</a:t>
            </a:r>
            <a:r>
              <a:rPr lang="en-US" sz="2800" dirty="0">
                <a:latin typeface="Arial" charset="0"/>
                <a:cs typeface="Arial" charset="0"/>
              </a:rPr>
              <a:t> Repeater </a:t>
            </a:r>
            <a:r>
              <a:rPr lang="en-US" sz="2800" dirty="0" err="1">
                <a:latin typeface="Arial" charset="0"/>
                <a:cs typeface="Arial" charset="0"/>
              </a:rPr>
              <a:t>nhưng</a:t>
            </a:r>
            <a:r>
              <a:rPr lang="en-US" sz="2800" dirty="0">
                <a:latin typeface="Arial" charset="0"/>
                <a:cs typeface="Arial" charset="0"/>
              </a:rPr>
              <a:t> </a:t>
            </a:r>
            <a:r>
              <a:rPr lang="en-US" sz="2800" dirty="0" err="1">
                <a:latin typeface="Arial" charset="0"/>
                <a:cs typeface="Arial" charset="0"/>
              </a:rPr>
              <a:t>mở</a:t>
            </a:r>
            <a:r>
              <a:rPr lang="en-US" sz="2800" dirty="0">
                <a:latin typeface="Arial" charset="0"/>
                <a:cs typeface="Arial" charset="0"/>
              </a:rPr>
              <a:t> </a:t>
            </a:r>
            <a:r>
              <a:rPr lang="en-US" sz="2800" dirty="0" err="1">
                <a:latin typeface="Arial" charset="0"/>
                <a:cs typeface="Arial" charset="0"/>
              </a:rPr>
              <a:t>rộng</a:t>
            </a:r>
            <a:r>
              <a:rPr lang="en-US" sz="2800" dirty="0">
                <a:latin typeface="Arial" charset="0"/>
                <a:cs typeface="Arial" charset="0"/>
              </a:rPr>
              <a:t> </a:t>
            </a:r>
            <a:r>
              <a:rPr lang="en-US" sz="2800" dirty="0" err="1">
                <a:latin typeface="Arial" charset="0"/>
                <a:cs typeface="Arial" charset="0"/>
              </a:rPr>
              <a:t>hơn</a:t>
            </a:r>
            <a:r>
              <a:rPr lang="en-US" sz="2800" dirty="0">
                <a:latin typeface="Arial" charset="0"/>
                <a:cs typeface="Arial" charset="0"/>
              </a:rPr>
              <a:t> </a:t>
            </a:r>
            <a:r>
              <a:rPr lang="en-US" sz="2800" dirty="0" err="1">
                <a:latin typeface="Arial" charset="0"/>
                <a:cs typeface="Arial" charset="0"/>
              </a:rPr>
              <a:t>với</a:t>
            </a:r>
            <a:r>
              <a:rPr lang="en-US" sz="2800" dirty="0">
                <a:latin typeface="Arial" charset="0"/>
                <a:cs typeface="Arial" charset="0"/>
              </a:rPr>
              <a:t> </a:t>
            </a:r>
            <a:r>
              <a:rPr lang="en-US" sz="2800" dirty="0" err="1">
                <a:latin typeface="Arial" charset="0"/>
                <a:cs typeface="Arial" charset="0"/>
              </a:rPr>
              <a:t>nhiều</a:t>
            </a:r>
            <a:r>
              <a:rPr lang="en-US" sz="2800" dirty="0">
                <a:latin typeface="Arial" charset="0"/>
                <a:cs typeface="Arial" charset="0"/>
              </a:rPr>
              <a:t> </a:t>
            </a:r>
            <a:r>
              <a:rPr lang="en-US" sz="2800" dirty="0" err="1">
                <a:latin typeface="Arial" charset="0"/>
                <a:cs typeface="Arial" charset="0"/>
              </a:rPr>
              <a:t>đầu</a:t>
            </a:r>
            <a:r>
              <a:rPr lang="en-US" sz="2800" dirty="0">
                <a:latin typeface="Arial" charset="0"/>
                <a:cs typeface="Arial" charset="0"/>
              </a:rPr>
              <a:t> </a:t>
            </a:r>
            <a:r>
              <a:rPr lang="en-US" sz="2800" dirty="0" err="1">
                <a:latin typeface="Arial" charset="0"/>
                <a:cs typeface="Arial" charset="0"/>
              </a:rPr>
              <a:t>cắm</a:t>
            </a:r>
            <a:r>
              <a:rPr lang="en-US" sz="2800" dirty="0">
                <a:latin typeface="Arial" charset="0"/>
                <a:cs typeface="Arial" charset="0"/>
              </a:rPr>
              <a:t> </a:t>
            </a:r>
            <a:r>
              <a:rPr lang="en-US" sz="2800" dirty="0" err="1">
                <a:latin typeface="Arial" charset="0"/>
                <a:cs typeface="Arial" charset="0"/>
              </a:rPr>
              <a:t>các</a:t>
            </a:r>
            <a:r>
              <a:rPr lang="en-US" sz="2800" dirty="0">
                <a:latin typeface="Arial" charset="0"/>
                <a:cs typeface="Arial" charset="0"/>
              </a:rPr>
              <a:t> </a:t>
            </a:r>
            <a:r>
              <a:rPr lang="en-US" sz="2800" dirty="0" err="1">
                <a:latin typeface="Arial" charset="0"/>
                <a:cs typeface="Arial" charset="0"/>
              </a:rPr>
              <a:t>đầu</a:t>
            </a:r>
            <a:r>
              <a:rPr lang="en-US" sz="2800" dirty="0">
                <a:latin typeface="Arial" charset="0"/>
                <a:cs typeface="Arial" charset="0"/>
              </a:rPr>
              <a:t> </a:t>
            </a:r>
            <a:r>
              <a:rPr lang="en-US" sz="2800" dirty="0" err="1">
                <a:latin typeface="Arial" charset="0"/>
                <a:cs typeface="Arial" charset="0"/>
              </a:rPr>
              <a:t>cáp</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a:t>
            </a:r>
          </a:p>
          <a:p>
            <a:pPr eaLnBrk="1" hangingPunct="1"/>
            <a:r>
              <a:rPr lang="en-US" sz="2800" dirty="0" err="1">
                <a:latin typeface="Arial" charset="0"/>
                <a:cs typeface="Arial" charset="0"/>
              </a:rPr>
              <a:t>Tạo</a:t>
            </a:r>
            <a:r>
              <a:rPr lang="en-US" sz="2800" dirty="0">
                <a:latin typeface="Arial" charset="0"/>
                <a:cs typeface="Arial" charset="0"/>
              </a:rPr>
              <a:t> </a:t>
            </a:r>
            <a:r>
              <a:rPr lang="en-US" sz="2800" dirty="0" err="1">
                <a:latin typeface="Arial" charset="0"/>
                <a:cs typeface="Arial" charset="0"/>
              </a:rPr>
              <a:t>ra</a:t>
            </a:r>
            <a:r>
              <a:rPr lang="en-US" sz="2800" dirty="0">
                <a:latin typeface="Arial" charset="0"/>
                <a:cs typeface="Arial" charset="0"/>
              </a:rPr>
              <a:t> </a:t>
            </a:r>
            <a:r>
              <a:rPr lang="en-US" sz="2800" dirty="0" err="1">
                <a:latin typeface="Arial" charset="0"/>
                <a:cs typeface="Arial" charset="0"/>
              </a:rPr>
              <a:t>điểm</a:t>
            </a:r>
            <a:r>
              <a:rPr lang="en-US" sz="2800" dirty="0">
                <a:latin typeface="Arial" charset="0"/>
                <a:cs typeface="Arial" charset="0"/>
              </a:rPr>
              <a:t> </a:t>
            </a:r>
            <a:r>
              <a:rPr lang="en-US" sz="2800" dirty="0" err="1">
                <a:latin typeface="Arial" charset="0"/>
                <a:cs typeface="Arial" charset="0"/>
              </a:rPr>
              <a:t>kết</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 </a:t>
            </a:r>
            <a:r>
              <a:rPr lang="en-US" sz="2800" dirty="0" err="1">
                <a:latin typeface="Arial" charset="0"/>
                <a:cs typeface="Arial" charset="0"/>
              </a:rPr>
              <a:t>tập</a:t>
            </a:r>
            <a:r>
              <a:rPr lang="en-US" sz="2800" dirty="0">
                <a:latin typeface="Arial" charset="0"/>
                <a:cs typeface="Arial" charset="0"/>
              </a:rPr>
              <a:t> </a:t>
            </a:r>
            <a:r>
              <a:rPr lang="en-US" sz="2800" dirty="0" err="1">
                <a:latin typeface="Arial" charset="0"/>
                <a:cs typeface="Arial" charset="0"/>
              </a:rPr>
              <a:t>trung</a:t>
            </a:r>
            <a:r>
              <a:rPr lang="en-US" sz="2800" dirty="0">
                <a:latin typeface="Arial" charset="0"/>
                <a:cs typeface="Arial" charset="0"/>
              </a:rPr>
              <a:t> </a:t>
            </a:r>
            <a:r>
              <a:rPr lang="en-US" sz="2800" dirty="0" err="1">
                <a:latin typeface="Arial" charset="0"/>
                <a:cs typeface="Arial" charset="0"/>
              </a:rPr>
              <a:t>để</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theo</a:t>
            </a:r>
            <a:r>
              <a:rPr lang="en-US" sz="2800" dirty="0">
                <a:latin typeface="Arial" charset="0"/>
                <a:cs typeface="Arial" charset="0"/>
              </a:rPr>
              <a:t> </a:t>
            </a:r>
            <a:r>
              <a:rPr lang="en-US" sz="2800" dirty="0" err="1">
                <a:latin typeface="Arial" charset="0"/>
                <a:cs typeface="Arial" charset="0"/>
              </a:rPr>
              <a:t>kiểu</a:t>
            </a:r>
            <a:r>
              <a:rPr lang="en-US" sz="2800" dirty="0">
                <a:latin typeface="Arial" charset="0"/>
                <a:cs typeface="Arial" charset="0"/>
              </a:rPr>
              <a:t> </a:t>
            </a:r>
            <a:r>
              <a:rPr lang="en-US" sz="2800" dirty="0" err="1">
                <a:latin typeface="Arial" charset="0"/>
                <a:cs typeface="Arial" charset="0"/>
              </a:rPr>
              <a:t>hình</a:t>
            </a:r>
            <a:r>
              <a:rPr lang="en-US" sz="2800" dirty="0">
                <a:latin typeface="Arial" charset="0"/>
                <a:cs typeface="Arial" charset="0"/>
              </a:rPr>
              <a:t> </a:t>
            </a:r>
            <a:r>
              <a:rPr lang="en-US" sz="2800" dirty="0" err="1">
                <a:latin typeface="Arial" charset="0"/>
                <a:cs typeface="Arial" charset="0"/>
              </a:rPr>
              <a:t>sao</a:t>
            </a:r>
            <a:r>
              <a:rPr lang="en-US" sz="2800" dirty="0">
                <a:latin typeface="Arial" charset="0"/>
                <a:cs typeface="Arial" charset="0"/>
              </a:rPr>
              <a:t>.</a:t>
            </a:r>
          </a:p>
          <a:p>
            <a:pPr eaLnBrk="1" hangingPunct="1"/>
            <a:r>
              <a:rPr lang="en-US" sz="2800" dirty="0" err="1">
                <a:latin typeface="Arial" charset="0"/>
                <a:cs typeface="Arial" charset="0"/>
              </a:rPr>
              <a:t>Tín</a:t>
            </a:r>
            <a:r>
              <a:rPr lang="en-US" sz="2800" dirty="0">
                <a:latin typeface="Arial" charset="0"/>
                <a:cs typeface="Arial" charset="0"/>
              </a:rPr>
              <a:t> </a:t>
            </a:r>
            <a:r>
              <a:rPr lang="en-US" sz="2800" dirty="0" err="1">
                <a:latin typeface="Arial" charset="0"/>
                <a:cs typeface="Arial" charset="0"/>
              </a:rPr>
              <a:t>hiệu</a:t>
            </a:r>
            <a:r>
              <a:rPr lang="en-US" sz="2800" dirty="0">
                <a:latin typeface="Arial" charset="0"/>
                <a:cs typeface="Arial" charset="0"/>
              </a:rPr>
              <a:t> </a:t>
            </a:r>
            <a:r>
              <a:rPr lang="en-US" sz="2800" dirty="0" err="1">
                <a:latin typeface="Arial" charset="0"/>
                <a:cs typeface="Arial" charset="0"/>
              </a:rPr>
              <a:t>được</a:t>
            </a:r>
            <a:r>
              <a:rPr lang="en-US" sz="2800" dirty="0">
                <a:latin typeface="Arial" charset="0"/>
                <a:cs typeface="Arial" charset="0"/>
              </a:rPr>
              <a:t> </a:t>
            </a:r>
            <a:r>
              <a:rPr lang="en-US" sz="2800" dirty="0" err="1">
                <a:latin typeface="Arial" charset="0"/>
                <a:cs typeface="Arial" charset="0"/>
              </a:rPr>
              <a:t>phân</a:t>
            </a:r>
            <a:r>
              <a:rPr lang="en-US" sz="2800" dirty="0">
                <a:latin typeface="Arial" charset="0"/>
                <a:cs typeface="Arial" charset="0"/>
              </a:rPr>
              <a:t> </a:t>
            </a:r>
            <a:r>
              <a:rPr lang="en-US" sz="2800" dirty="0" err="1">
                <a:latin typeface="Arial" charset="0"/>
                <a:cs typeface="Arial" charset="0"/>
              </a:rPr>
              <a:t>phối</a:t>
            </a:r>
            <a:r>
              <a:rPr lang="en-US" sz="2800" dirty="0">
                <a:latin typeface="Arial" charset="0"/>
                <a:cs typeface="Arial" charset="0"/>
              </a:rPr>
              <a:t> </a:t>
            </a:r>
            <a:r>
              <a:rPr lang="en-US" sz="2800" dirty="0" err="1">
                <a:latin typeface="Arial" charset="0"/>
                <a:cs typeface="Arial" charset="0"/>
              </a:rPr>
              <a:t>đến</a:t>
            </a:r>
            <a:r>
              <a:rPr lang="en-US" sz="2800" dirty="0">
                <a:latin typeface="Arial" charset="0"/>
                <a:cs typeface="Arial" charset="0"/>
              </a:rPr>
              <a:t> </a:t>
            </a:r>
            <a:r>
              <a:rPr lang="en-US" sz="2800" dirty="0" err="1">
                <a:latin typeface="Arial" charset="0"/>
                <a:cs typeface="Arial" charset="0"/>
              </a:rPr>
              <a:t>tất</a:t>
            </a:r>
            <a:r>
              <a:rPr lang="en-US" sz="2800" dirty="0">
                <a:latin typeface="Arial" charset="0"/>
                <a:cs typeface="Arial" charset="0"/>
              </a:rPr>
              <a:t> </a:t>
            </a:r>
            <a:r>
              <a:rPr lang="en-US" sz="2800" dirty="0" err="1">
                <a:latin typeface="Arial" charset="0"/>
                <a:cs typeface="Arial" charset="0"/>
              </a:rPr>
              <a:t>cả</a:t>
            </a:r>
            <a:r>
              <a:rPr lang="en-US" sz="2800" dirty="0">
                <a:latin typeface="Arial" charset="0"/>
                <a:cs typeface="Arial" charset="0"/>
              </a:rPr>
              <a:t> </a:t>
            </a:r>
            <a:r>
              <a:rPr lang="en-US" sz="2800" dirty="0" err="1">
                <a:latin typeface="Arial" charset="0"/>
                <a:cs typeface="Arial" charset="0"/>
              </a:rPr>
              <a:t>các</a:t>
            </a:r>
            <a:r>
              <a:rPr lang="en-US" sz="2800" dirty="0">
                <a:latin typeface="Arial" charset="0"/>
                <a:cs typeface="Arial" charset="0"/>
              </a:rPr>
              <a:t> </a:t>
            </a:r>
            <a:r>
              <a:rPr lang="en-US" sz="2800" dirty="0" err="1">
                <a:latin typeface="Arial" charset="0"/>
                <a:cs typeface="Arial" charset="0"/>
              </a:rPr>
              <a:t>kết</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a:t>
            </a:r>
          </a:p>
          <a:p>
            <a:pPr eaLnBrk="1" hangingPunct="1"/>
            <a:r>
              <a:rPr lang="en-US" sz="2800" dirty="0" err="1">
                <a:latin typeface="Arial" charset="0"/>
                <a:cs typeface="Arial" charset="0"/>
              </a:rPr>
              <a:t>Có</a:t>
            </a:r>
            <a:r>
              <a:rPr lang="en-US" sz="2800" dirty="0">
                <a:latin typeface="Arial" charset="0"/>
                <a:cs typeface="Arial" charset="0"/>
              </a:rPr>
              <a:t> 3 </a:t>
            </a:r>
            <a:r>
              <a:rPr lang="en-US" sz="2800" dirty="0" err="1">
                <a:latin typeface="Arial" charset="0"/>
                <a:cs typeface="Arial" charset="0"/>
              </a:rPr>
              <a:t>loại</a:t>
            </a:r>
            <a:r>
              <a:rPr lang="en-US" sz="2800" dirty="0">
                <a:latin typeface="Arial" charset="0"/>
                <a:cs typeface="Arial" charset="0"/>
              </a:rPr>
              <a:t> Hub: </a:t>
            </a:r>
            <a:r>
              <a:rPr lang="en-US" sz="2800" dirty="0" err="1">
                <a:latin typeface="Arial" charset="0"/>
                <a:cs typeface="Arial" charset="0"/>
              </a:rPr>
              <a:t>thụ</a:t>
            </a:r>
            <a:r>
              <a:rPr lang="en-US" sz="2800" dirty="0">
                <a:latin typeface="Arial" charset="0"/>
                <a:cs typeface="Arial" charset="0"/>
              </a:rPr>
              <a:t> </a:t>
            </a:r>
            <a:r>
              <a:rPr lang="en-US" sz="2800" dirty="0" err="1">
                <a:latin typeface="Arial" charset="0"/>
                <a:cs typeface="Arial" charset="0"/>
              </a:rPr>
              <a:t>động</a:t>
            </a:r>
            <a:r>
              <a:rPr lang="en-US" sz="2800" dirty="0">
                <a:latin typeface="Arial" charset="0"/>
                <a:cs typeface="Arial" charset="0"/>
              </a:rPr>
              <a:t>, </a:t>
            </a:r>
            <a:r>
              <a:rPr lang="en-US" sz="2800" dirty="0" err="1">
                <a:latin typeface="Arial" charset="0"/>
                <a:cs typeface="Arial" charset="0"/>
              </a:rPr>
              <a:t>chủ</a:t>
            </a:r>
            <a:r>
              <a:rPr lang="en-US" sz="2800" dirty="0">
                <a:latin typeface="Arial" charset="0"/>
                <a:cs typeface="Arial" charset="0"/>
              </a:rPr>
              <a:t> </a:t>
            </a:r>
            <a:r>
              <a:rPr lang="en-US" sz="2800" dirty="0" err="1">
                <a:latin typeface="Arial" charset="0"/>
                <a:cs typeface="Arial" charset="0"/>
              </a:rPr>
              <a:t>động</a:t>
            </a:r>
            <a:r>
              <a:rPr lang="en-US" sz="2800" dirty="0">
                <a:latin typeface="Arial" charset="0"/>
                <a:cs typeface="Arial" charset="0"/>
              </a:rPr>
              <a:t>, </a:t>
            </a:r>
            <a:r>
              <a:rPr lang="en-US" sz="2800" dirty="0" err="1">
                <a:latin typeface="Arial" charset="0"/>
                <a:cs typeface="Arial" charset="0"/>
              </a:rPr>
              <a:t>thông</a:t>
            </a:r>
            <a:r>
              <a:rPr lang="en-US" sz="2800" dirty="0">
                <a:latin typeface="Arial" charset="0"/>
                <a:cs typeface="Arial" charset="0"/>
              </a:rPr>
              <a:t> minh.</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A0A1D741-F5CA-4CC1-909C-6AB0ACC32A47}" type="slidenum">
              <a:rPr lang="en-US">
                <a:latin typeface="Arial" pitchFamily="34" charset="0"/>
                <a:cs typeface="Arial" pitchFamily="34" charset="0"/>
              </a:rPr>
              <a:pPr>
                <a:defRPr/>
              </a:pPr>
              <a:t>63</a:t>
            </a:fld>
            <a:endParaRPr lang="en-US">
              <a:latin typeface="Arial" pitchFamily="34" charset="0"/>
              <a:cs typeface="Arial" pitchFamily="34" charset="0"/>
            </a:endParaRPr>
          </a:p>
        </p:txBody>
      </p:sp>
      <p:sp>
        <p:nvSpPr>
          <p:cNvPr id="2" name="Title 1"/>
          <p:cNvSpPr>
            <a:spLocks noGrp="1"/>
          </p:cNvSpPr>
          <p:nvPr>
            <p:ph type="title"/>
          </p:nvPr>
        </p:nvSpPr>
        <p:spPr/>
        <p:txBody>
          <a:bodyPr/>
          <a:lstStyle/>
          <a:p>
            <a:r>
              <a:rPr lang="en-US" dirty="0"/>
              <a:t>VIII.4 HUB (BỘ TẬP TRUNG)</a:t>
            </a:r>
          </a:p>
        </p:txBody>
      </p:sp>
    </p:spTree>
    <p:extLst>
      <p:ext uri="{BB962C8B-B14F-4D97-AF65-F5344CB8AC3E}">
        <p14:creationId xmlns:p14="http://schemas.microsoft.com/office/powerpoint/2010/main" val="1855749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0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0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1"/>
          </p:nvPr>
        </p:nvSpPr>
        <p:spPr>
          <a:xfrm>
            <a:off x="2706688" y="1524000"/>
            <a:ext cx="7772400" cy="2819400"/>
          </a:xfrm>
        </p:spPr>
        <p:txBody>
          <a:bodyPr rtlCol="0">
            <a:normAutofit lnSpcReduction="10000"/>
          </a:bodyPr>
          <a:lstStyle/>
          <a:p>
            <a:pPr lvl="1" fontAlgn="auto">
              <a:lnSpc>
                <a:spcPct val="90000"/>
              </a:lnSpc>
              <a:spcAft>
                <a:spcPts val="0"/>
              </a:spcAft>
              <a:buFont typeface="Arial" pitchFamily="34" charset="0"/>
              <a:buChar char="–"/>
              <a:defRPr/>
            </a:pPr>
            <a:r>
              <a:rPr lang="en-US" sz="2400">
                <a:latin typeface="Arial" pitchFamily="34" charset="0"/>
                <a:cs typeface="Arial" pitchFamily="34" charset="0"/>
              </a:rPr>
              <a:t>Hub thụ động (Passive Hub): chỉ đảm bảo chức năng kết nối, không xử lý lại tín hiệu.</a:t>
            </a:r>
          </a:p>
          <a:p>
            <a:pPr lvl="1" fontAlgn="auto">
              <a:lnSpc>
                <a:spcPct val="90000"/>
              </a:lnSpc>
              <a:spcAft>
                <a:spcPts val="0"/>
              </a:spcAft>
              <a:buFont typeface="Arial" pitchFamily="34" charset="0"/>
              <a:buChar char="–"/>
              <a:defRPr/>
            </a:pPr>
            <a:r>
              <a:rPr lang="en-US" sz="2400">
                <a:latin typeface="Arial" pitchFamily="34" charset="0"/>
                <a:cs typeface="Arial" pitchFamily="34" charset="0"/>
              </a:rPr>
              <a:t>Hub chủ động (Active Hub): có khả năng khuếch đại tín hiệu để chống suy hao.</a:t>
            </a:r>
          </a:p>
          <a:p>
            <a:pPr lvl="1" fontAlgn="auto">
              <a:lnSpc>
                <a:spcPct val="90000"/>
              </a:lnSpc>
              <a:spcAft>
                <a:spcPts val="0"/>
              </a:spcAft>
              <a:buFont typeface="Arial" pitchFamily="34" charset="0"/>
              <a:buChar char="–"/>
              <a:defRPr/>
            </a:pPr>
            <a:r>
              <a:rPr lang="en-US" sz="2400">
                <a:latin typeface="Arial" pitchFamily="34" charset="0"/>
                <a:cs typeface="Arial" pitchFamily="34" charset="0"/>
              </a:rPr>
              <a:t>Hub thông minh (Intelligent Hub): là Hub chủ động nhưng có thêm khả năng tạo ra các gói tin thông báo hoạt động của mình giúp cho việc quản trị mạng dễ dàng hơn.</a:t>
            </a:r>
          </a:p>
        </p:txBody>
      </p:sp>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F5893C35-37E8-4B77-B706-92642A6BF6B7}" type="slidenum">
              <a:rPr lang="en-US">
                <a:latin typeface="Arial" pitchFamily="34" charset="0"/>
                <a:cs typeface="Arial" pitchFamily="34" charset="0"/>
              </a:rPr>
              <a:pPr>
                <a:defRPr/>
              </a:pPr>
              <a:t>64</a:t>
            </a:fld>
            <a:endParaRPr lang="en-US">
              <a:latin typeface="Arial" pitchFamily="34" charset="0"/>
              <a:cs typeface="Arial" pitchFamily="34" charset="0"/>
            </a:endParaRPr>
          </a:p>
        </p:txBody>
      </p:sp>
      <p:pic>
        <p:nvPicPr>
          <p:cNvPr id="90117" name="Picture 4" descr="hu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5105401"/>
            <a:ext cx="32004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6" descr="hup noi ma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1" y="4419600"/>
            <a:ext cx="24288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VIII.4 HUB (BỘ TẬP TRUNG)</a:t>
            </a:r>
          </a:p>
        </p:txBody>
      </p:sp>
    </p:spTree>
    <p:extLst>
      <p:ext uri="{BB962C8B-B14F-4D97-AF65-F5344CB8AC3E}">
        <p14:creationId xmlns:p14="http://schemas.microsoft.com/office/powerpoint/2010/main" val="26650842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424C5E5C-F070-4842-A986-024BB2DF082C}" type="slidenum">
              <a:rPr lang="en-US"/>
              <a:pPr>
                <a:defRPr/>
              </a:pPr>
              <a:t>65</a:t>
            </a:fld>
            <a:endParaRPr lang="en-US"/>
          </a:p>
        </p:txBody>
      </p:sp>
      <p:pic>
        <p:nvPicPr>
          <p:cNvPr id="91140" name="Picture 4" descr="switching voi hu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133600"/>
            <a:ext cx="6858000" cy="395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VIII.4 HUB (BỘ TẬP TRUNG)</a:t>
            </a:r>
          </a:p>
        </p:txBody>
      </p:sp>
    </p:spTree>
    <p:extLst>
      <p:ext uri="{BB962C8B-B14F-4D97-AF65-F5344CB8AC3E}">
        <p14:creationId xmlns:p14="http://schemas.microsoft.com/office/powerpoint/2010/main" val="39003207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idx="1"/>
          </p:nvPr>
        </p:nvSpPr>
        <p:spPr>
          <a:xfrm>
            <a:off x="2706688" y="1600200"/>
            <a:ext cx="7772400" cy="4343400"/>
          </a:xfrm>
        </p:spPr>
        <p:txBody>
          <a:bodyPr/>
          <a:lstStyle/>
          <a:p>
            <a:pPr eaLnBrk="1" hangingPunct="1">
              <a:lnSpc>
                <a:spcPct val="90000"/>
              </a:lnSpc>
            </a:pPr>
            <a:r>
              <a:rPr lang="en-US" sz="2800" dirty="0" err="1">
                <a:latin typeface="Arial" charset="0"/>
                <a:cs typeface="Arial" charset="0"/>
              </a:rPr>
              <a:t>Dùng</a:t>
            </a:r>
            <a:r>
              <a:rPr lang="en-US" sz="2800" dirty="0">
                <a:latin typeface="Arial" charset="0"/>
                <a:cs typeface="Arial" charset="0"/>
              </a:rPr>
              <a:t> </a:t>
            </a:r>
            <a:r>
              <a:rPr lang="en-US" sz="2800" dirty="0" err="1">
                <a:latin typeface="Arial" charset="0"/>
                <a:cs typeface="Arial" charset="0"/>
              </a:rPr>
              <a:t>để</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 2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có</a:t>
            </a:r>
            <a:r>
              <a:rPr lang="en-US" sz="2800" dirty="0">
                <a:latin typeface="Arial" charset="0"/>
                <a:cs typeface="Arial" charset="0"/>
              </a:rPr>
              <a:t> </a:t>
            </a:r>
            <a:r>
              <a:rPr lang="en-US" sz="2800" dirty="0" err="1">
                <a:latin typeface="Arial" charset="0"/>
                <a:cs typeface="Arial" charset="0"/>
              </a:rPr>
              <a:t>giao</a:t>
            </a:r>
            <a:r>
              <a:rPr lang="en-US" sz="2800" dirty="0">
                <a:latin typeface="Arial" charset="0"/>
                <a:cs typeface="Arial" charset="0"/>
              </a:rPr>
              <a:t> </a:t>
            </a:r>
            <a:r>
              <a:rPr lang="en-US" sz="2800" dirty="0" err="1">
                <a:latin typeface="Arial" charset="0"/>
                <a:cs typeface="Arial" charset="0"/>
              </a:rPr>
              <a:t>thức</a:t>
            </a:r>
            <a:r>
              <a:rPr lang="en-US" sz="2800" dirty="0">
                <a:latin typeface="Arial" charset="0"/>
                <a:cs typeface="Arial" charset="0"/>
              </a:rPr>
              <a:t> </a:t>
            </a:r>
            <a:r>
              <a:rPr lang="en-US" sz="2800" dirty="0" err="1">
                <a:latin typeface="Arial" charset="0"/>
                <a:cs typeface="Arial" charset="0"/>
              </a:rPr>
              <a:t>giống</a:t>
            </a:r>
            <a:r>
              <a:rPr lang="en-US" sz="2800" dirty="0">
                <a:latin typeface="Arial" charset="0"/>
                <a:cs typeface="Arial" charset="0"/>
              </a:rPr>
              <a:t> </a:t>
            </a:r>
            <a:r>
              <a:rPr lang="en-US" sz="2800" dirty="0" err="1">
                <a:latin typeface="Arial" charset="0"/>
                <a:cs typeface="Arial" charset="0"/>
              </a:rPr>
              <a:t>hoặc</a:t>
            </a:r>
            <a:r>
              <a:rPr lang="en-US" sz="2800" dirty="0">
                <a:latin typeface="Arial" charset="0"/>
                <a:cs typeface="Arial" charset="0"/>
              </a:rPr>
              <a:t> </a:t>
            </a:r>
            <a:r>
              <a:rPr lang="en-US" sz="2800" dirty="0" err="1">
                <a:latin typeface="Arial" charset="0"/>
                <a:cs typeface="Arial" charset="0"/>
              </a:rPr>
              <a:t>khác</a:t>
            </a:r>
            <a:r>
              <a:rPr lang="en-US" sz="2800" dirty="0">
                <a:latin typeface="Arial" charset="0"/>
                <a:cs typeface="Arial" charset="0"/>
              </a:rPr>
              <a:t> </a:t>
            </a:r>
            <a:r>
              <a:rPr lang="en-US" sz="2800" dirty="0" err="1">
                <a:latin typeface="Arial" charset="0"/>
                <a:cs typeface="Arial" charset="0"/>
              </a:rPr>
              <a:t>nhau</a:t>
            </a:r>
            <a:r>
              <a:rPr lang="en-US" sz="2800" dirty="0">
                <a:latin typeface="Arial" charset="0"/>
                <a:cs typeface="Arial" charset="0"/>
              </a:rPr>
              <a:t>.</a:t>
            </a:r>
          </a:p>
          <a:p>
            <a:pPr eaLnBrk="1" hangingPunct="1">
              <a:lnSpc>
                <a:spcPct val="90000"/>
              </a:lnSpc>
            </a:pPr>
            <a:r>
              <a:rPr lang="en-US" sz="2800" dirty="0">
                <a:latin typeface="Arial" charset="0"/>
                <a:cs typeface="Arial" charset="0"/>
              </a:rPr>
              <a:t>Chia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thành</a:t>
            </a:r>
            <a:r>
              <a:rPr lang="en-US" sz="2800" dirty="0">
                <a:latin typeface="Arial" charset="0"/>
                <a:cs typeface="Arial" charset="0"/>
              </a:rPr>
              <a:t> </a:t>
            </a:r>
            <a:r>
              <a:rPr lang="en-US" sz="2800" dirty="0" err="1">
                <a:latin typeface="Arial" charset="0"/>
                <a:cs typeface="Arial" charset="0"/>
              </a:rPr>
              <a:t>nhiều</a:t>
            </a:r>
            <a:r>
              <a:rPr lang="en-US" sz="2800" dirty="0">
                <a:latin typeface="Arial" charset="0"/>
                <a:cs typeface="Arial" charset="0"/>
              </a:rPr>
              <a:t> </a:t>
            </a:r>
            <a:r>
              <a:rPr lang="en-US" sz="2800" dirty="0" err="1">
                <a:latin typeface="Arial" charset="0"/>
                <a:cs typeface="Arial" charset="0"/>
              </a:rPr>
              <a:t>phân</a:t>
            </a:r>
            <a:r>
              <a:rPr lang="en-US" sz="2800" dirty="0">
                <a:latin typeface="Arial" charset="0"/>
                <a:cs typeface="Arial" charset="0"/>
              </a:rPr>
              <a:t> </a:t>
            </a:r>
            <a:r>
              <a:rPr lang="en-US" sz="2800" dirty="0" err="1">
                <a:latin typeface="Arial" charset="0"/>
                <a:cs typeface="Arial" charset="0"/>
              </a:rPr>
              <a:t>đoạn</a:t>
            </a:r>
            <a:r>
              <a:rPr lang="en-US" sz="2800" dirty="0">
                <a:latin typeface="Arial" charset="0"/>
                <a:cs typeface="Arial" charset="0"/>
              </a:rPr>
              <a:t> </a:t>
            </a:r>
            <a:r>
              <a:rPr lang="en-US" sz="2800" dirty="0" err="1">
                <a:latin typeface="Arial" charset="0"/>
                <a:cs typeface="Arial" charset="0"/>
              </a:rPr>
              <a:t>nhằm</a:t>
            </a:r>
            <a:r>
              <a:rPr lang="en-US" sz="2800" dirty="0">
                <a:latin typeface="Arial" charset="0"/>
                <a:cs typeface="Arial" charset="0"/>
              </a:rPr>
              <a:t> </a:t>
            </a:r>
            <a:r>
              <a:rPr lang="en-US" sz="2800" dirty="0" err="1">
                <a:latin typeface="Arial" charset="0"/>
                <a:cs typeface="Arial" charset="0"/>
              </a:rPr>
              <a:t>giảm</a:t>
            </a:r>
            <a:r>
              <a:rPr lang="en-US" sz="2800" dirty="0">
                <a:latin typeface="Arial" charset="0"/>
                <a:cs typeface="Arial" charset="0"/>
              </a:rPr>
              <a:t> </a:t>
            </a:r>
            <a:r>
              <a:rPr lang="en-US" sz="2800" dirty="0" err="1">
                <a:latin typeface="Arial" charset="0"/>
                <a:cs typeface="Arial" charset="0"/>
              </a:rPr>
              <a:t>lưu</a:t>
            </a:r>
            <a:r>
              <a:rPr lang="en-US" sz="2800" dirty="0">
                <a:latin typeface="Arial" charset="0"/>
                <a:cs typeface="Arial" charset="0"/>
              </a:rPr>
              <a:t> </a:t>
            </a:r>
            <a:r>
              <a:rPr lang="en-US" sz="2800" dirty="0" err="1">
                <a:latin typeface="Arial" charset="0"/>
                <a:cs typeface="Arial" charset="0"/>
              </a:rPr>
              <a:t>lượng</a:t>
            </a:r>
            <a:r>
              <a:rPr lang="en-US" sz="2800" dirty="0">
                <a:latin typeface="Arial" charset="0"/>
                <a:cs typeface="Arial" charset="0"/>
              </a:rPr>
              <a:t> </a:t>
            </a:r>
            <a:r>
              <a:rPr lang="en-US" sz="2800" dirty="0" err="1">
                <a:latin typeface="Arial" charset="0"/>
                <a:cs typeface="Arial" charset="0"/>
              </a:rPr>
              <a:t>trên</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a:t>
            </a:r>
          </a:p>
          <a:p>
            <a:pPr eaLnBrk="1" hangingPunct="1">
              <a:lnSpc>
                <a:spcPct val="90000"/>
              </a:lnSpc>
            </a:pPr>
            <a:r>
              <a:rPr lang="en-US" sz="2800" dirty="0" err="1">
                <a:latin typeface="Arial" charset="0"/>
                <a:cs typeface="Arial" charset="0"/>
              </a:rPr>
              <a:t>Hoạt</a:t>
            </a:r>
            <a:r>
              <a:rPr lang="en-US" sz="2800" dirty="0">
                <a:latin typeface="Arial" charset="0"/>
                <a:cs typeface="Arial" charset="0"/>
              </a:rPr>
              <a:t> </a:t>
            </a:r>
            <a:r>
              <a:rPr lang="en-US" sz="2800" dirty="0" err="1">
                <a:latin typeface="Arial" charset="0"/>
                <a:cs typeface="Arial" charset="0"/>
              </a:rPr>
              <a:t>động</a:t>
            </a:r>
            <a:r>
              <a:rPr lang="en-US" sz="2800" dirty="0">
                <a:latin typeface="Arial" charset="0"/>
                <a:cs typeface="Arial" charset="0"/>
              </a:rPr>
              <a:t> ở </a:t>
            </a:r>
            <a:r>
              <a:rPr lang="en-US" sz="2800" dirty="0" err="1">
                <a:latin typeface="Arial" charset="0"/>
                <a:cs typeface="Arial" charset="0"/>
              </a:rPr>
              <a:t>lớp</a:t>
            </a:r>
            <a:r>
              <a:rPr lang="en-US" sz="2800" dirty="0">
                <a:latin typeface="Arial" charset="0"/>
                <a:cs typeface="Arial" charset="0"/>
              </a:rPr>
              <a:t> Data Link </a:t>
            </a:r>
            <a:r>
              <a:rPr lang="en-US" sz="2800" dirty="0" err="1">
                <a:latin typeface="Arial" charset="0"/>
                <a:cs typeface="Arial" charset="0"/>
              </a:rPr>
              <a:t>với</a:t>
            </a:r>
            <a:r>
              <a:rPr lang="en-US" sz="2800" dirty="0">
                <a:latin typeface="Arial" charset="0"/>
                <a:cs typeface="Arial" charset="0"/>
              </a:rPr>
              <a:t> 2 </a:t>
            </a:r>
            <a:r>
              <a:rPr lang="en-US" sz="2800" dirty="0" err="1">
                <a:latin typeface="Arial" charset="0"/>
                <a:cs typeface="Arial" charset="0"/>
              </a:rPr>
              <a:t>chức</a:t>
            </a:r>
            <a:r>
              <a:rPr lang="en-US" sz="2800" dirty="0">
                <a:latin typeface="Arial" charset="0"/>
                <a:cs typeface="Arial" charset="0"/>
              </a:rPr>
              <a:t> </a:t>
            </a:r>
            <a:r>
              <a:rPr lang="en-US" sz="2800" dirty="0" err="1">
                <a:latin typeface="Arial" charset="0"/>
                <a:cs typeface="Arial" charset="0"/>
              </a:rPr>
              <a:t>năng</a:t>
            </a:r>
            <a:r>
              <a:rPr lang="en-US" sz="2800" dirty="0">
                <a:latin typeface="Arial" charset="0"/>
                <a:cs typeface="Arial" charset="0"/>
              </a:rPr>
              <a:t> </a:t>
            </a:r>
            <a:r>
              <a:rPr lang="en-US" sz="2800" dirty="0" err="1">
                <a:latin typeface="Arial" charset="0"/>
                <a:cs typeface="Arial" charset="0"/>
              </a:rPr>
              <a:t>chính</a:t>
            </a:r>
            <a:r>
              <a:rPr lang="en-US" sz="2800" dirty="0">
                <a:latin typeface="Arial" charset="0"/>
                <a:cs typeface="Arial" charset="0"/>
              </a:rPr>
              <a:t> </a:t>
            </a:r>
            <a:r>
              <a:rPr lang="en-US" sz="2800" dirty="0" err="1">
                <a:latin typeface="Arial" charset="0"/>
                <a:cs typeface="Arial" charset="0"/>
              </a:rPr>
              <a:t>là</a:t>
            </a:r>
            <a:r>
              <a:rPr lang="en-US" sz="2800" dirty="0">
                <a:latin typeface="Arial" charset="0"/>
                <a:cs typeface="Arial" charset="0"/>
              </a:rPr>
              <a:t> </a:t>
            </a:r>
            <a:r>
              <a:rPr lang="en-US" sz="2800" dirty="0" err="1">
                <a:latin typeface="Arial" charset="0"/>
                <a:cs typeface="Arial" charset="0"/>
              </a:rPr>
              <a:t>lọc</a:t>
            </a:r>
            <a:r>
              <a:rPr lang="en-US" sz="2800" dirty="0">
                <a:latin typeface="Arial" charset="0"/>
                <a:cs typeface="Arial" charset="0"/>
              </a:rPr>
              <a:t> </a:t>
            </a:r>
            <a:r>
              <a:rPr lang="en-US" sz="2800" dirty="0" err="1">
                <a:latin typeface="Arial" charset="0"/>
                <a:cs typeface="Arial" charset="0"/>
              </a:rPr>
              <a:t>và</a:t>
            </a:r>
            <a:r>
              <a:rPr lang="en-US" sz="2800" dirty="0">
                <a:latin typeface="Arial" charset="0"/>
                <a:cs typeface="Arial" charset="0"/>
              </a:rPr>
              <a:t> </a:t>
            </a:r>
            <a:r>
              <a:rPr lang="en-US" sz="2800" dirty="0" err="1">
                <a:latin typeface="Arial" charset="0"/>
                <a:cs typeface="Arial" charset="0"/>
              </a:rPr>
              <a:t>chuyển</a:t>
            </a:r>
            <a:r>
              <a:rPr lang="en-US" sz="2800" dirty="0">
                <a:latin typeface="Arial" charset="0"/>
                <a:cs typeface="Arial" charset="0"/>
              </a:rPr>
              <a:t> </a:t>
            </a:r>
            <a:r>
              <a:rPr lang="en-US" sz="2800" dirty="0" err="1">
                <a:latin typeface="Arial" charset="0"/>
                <a:cs typeface="Arial" charset="0"/>
              </a:rPr>
              <a:t>vận</a:t>
            </a:r>
            <a:r>
              <a:rPr lang="en-US" sz="2800" dirty="0">
                <a:latin typeface="Arial" charset="0"/>
                <a:cs typeface="Arial" charset="0"/>
              </a:rPr>
              <a:t>.</a:t>
            </a:r>
          </a:p>
          <a:p>
            <a:pPr eaLnBrk="1" hangingPunct="1">
              <a:lnSpc>
                <a:spcPct val="90000"/>
              </a:lnSpc>
            </a:pPr>
            <a:r>
              <a:rPr lang="en-US" sz="2800" dirty="0" err="1">
                <a:latin typeface="Arial" charset="0"/>
                <a:cs typeface="Arial" charset="0"/>
              </a:rPr>
              <a:t>Dựa</a:t>
            </a:r>
            <a:r>
              <a:rPr lang="en-US" sz="2800" dirty="0">
                <a:latin typeface="Arial" charset="0"/>
                <a:cs typeface="Arial" charset="0"/>
              </a:rPr>
              <a:t> </a:t>
            </a:r>
            <a:r>
              <a:rPr lang="en-US" sz="2800" dirty="0" err="1">
                <a:latin typeface="Arial" charset="0"/>
                <a:cs typeface="Arial" charset="0"/>
              </a:rPr>
              <a:t>trên</a:t>
            </a:r>
            <a:r>
              <a:rPr lang="en-US" sz="2800" dirty="0">
                <a:latin typeface="Arial" charset="0"/>
                <a:cs typeface="Arial" charset="0"/>
              </a:rPr>
              <a:t> </a:t>
            </a:r>
            <a:r>
              <a:rPr lang="en-US" sz="2800" dirty="0" err="1">
                <a:latin typeface="Arial" charset="0"/>
                <a:cs typeface="Arial" charset="0"/>
              </a:rPr>
              <a:t>bảng</a:t>
            </a:r>
            <a:r>
              <a:rPr lang="en-US" sz="2800" dirty="0">
                <a:latin typeface="Arial" charset="0"/>
                <a:cs typeface="Arial" charset="0"/>
              </a:rPr>
              <a:t> </a:t>
            </a:r>
            <a:r>
              <a:rPr lang="en-US" sz="2800" dirty="0" err="1">
                <a:latin typeface="Arial" charset="0"/>
                <a:cs typeface="Arial" charset="0"/>
              </a:rPr>
              <a:t>địa</a:t>
            </a:r>
            <a:r>
              <a:rPr lang="en-US" sz="2800" dirty="0">
                <a:latin typeface="Arial" charset="0"/>
                <a:cs typeface="Arial" charset="0"/>
              </a:rPr>
              <a:t> </a:t>
            </a:r>
            <a:r>
              <a:rPr lang="en-US" sz="2800" dirty="0" err="1">
                <a:latin typeface="Arial" charset="0"/>
                <a:cs typeface="Arial" charset="0"/>
              </a:rPr>
              <a:t>chỉ</a:t>
            </a:r>
            <a:r>
              <a:rPr lang="en-US" sz="2800" dirty="0">
                <a:latin typeface="Arial" charset="0"/>
                <a:cs typeface="Arial" charset="0"/>
              </a:rPr>
              <a:t> MAC </a:t>
            </a:r>
            <a:r>
              <a:rPr lang="en-US" sz="2800" dirty="0" err="1">
                <a:latin typeface="Arial" charset="0"/>
                <a:cs typeface="Arial" charset="0"/>
              </a:rPr>
              <a:t>lưu</a:t>
            </a:r>
            <a:r>
              <a:rPr lang="en-US" sz="2800" dirty="0">
                <a:latin typeface="Arial" charset="0"/>
                <a:cs typeface="Arial" charset="0"/>
              </a:rPr>
              <a:t> </a:t>
            </a:r>
            <a:r>
              <a:rPr lang="en-US" sz="2800" dirty="0" err="1">
                <a:latin typeface="Arial" charset="0"/>
                <a:cs typeface="Arial" charset="0"/>
              </a:rPr>
              <a:t>trữ</a:t>
            </a:r>
            <a:r>
              <a:rPr lang="en-US" sz="2800" dirty="0">
                <a:latin typeface="Arial" charset="0"/>
                <a:cs typeface="Arial" charset="0"/>
              </a:rPr>
              <a:t>, </a:t>
            </a:r>
            <a:r>
              <a:rPr lang="en-US" sz="2800" dirty="0" err="1">
                <a:latin typeface="Arial" charset="0"/>
                <a:cs typeface="Arial" charset="0"/>
              </a:rPr>
              <a:t>Brigde</a:t>
            </a:r>
            <a:r>
              <a:rPr lang="en-US" sz="2800" dirty="0">
                <a:latin typeface="Arial" charset="0"/>
                <a:cs typeface="Arial" charset="0"/>
              </a:rPr>
              <a:t> </a:t>
            </a:r>
            <a:r>
              <a:rPr lang="en-US" sz="2800" dirty="0" err="1">
                <a:latin typeface="Arial" charset="0"/>
                <a:cs typeface="Arial" charset="0"/>
              </a:rPr>
              <a:t>kiểm</a:t>
            </a:r>
            <a:r>
              <a:rPr lang="en-US" sz="2800" dirty="0">
                <a:latin typeface="Arial" charset="0"/>
                <a:cs typeface="Arial" charset="0"/>
              </a:rPr>
              <a:t> </a:t>
            </a:r>
            <a:r>
              <a:rPr lang="en-US" sz="2800" dirty="0" err="1">
                <a:latin typeface="Arial" charset="0"/>
                <a:cs typeface="Arial" charset="0"/>
              </a:rPr>
              <a:t>tra</a:t>
            </a:r>
            <a:r>
              <a:rPr lang="en-US" sz="2800" dirty="0">
                <a:latin typeface="Arial" charset="0"/>
                <a:cs typeface="Arial" charset="0"/>
              </a:rPr>
              <a:t> </a:t>
            </a:r>
            <a:r>
              <a:rPr lang="en-US" sz="2800" dirty="0" err="1">
                <a:latin typeface="Arial" charset="0"/>
                <a:cs typeface="Arial" charset="0"/>
              </a:rPr>
              <a:t>các</a:t>
            </a:r>
            <a:r>
              <a:rPr lang="en-US" sz="2800" dirty="0">
                <a:latin typeface="Arial" charset="0"/>
                <a:cs typeface="Arial" charset="0"/>
              </a:rPr>
              <a:t> </a:t>
            </a:r>
            <a:r>
              <a:rPr lang="en-US" sz="2800" dirty="0" err="1">
                <a:latin typeface="Arial" charset="0"/>
                <a:cs typeface="Arial" charset="0"/>
              </a:rPr>
              <a:t>gói</a:t>
            </a:r>
            <a:r>
              <a:rPr lang="en-US" sz="2800" dirty="0">
                <a:latin typeface="Arial" charset="0"/>
                <a:cs typeface="Arial" charset="0"/>
              </a:rPr>
              <a:t> tin </a:t>
            </a:r>
            <a:r>
              <a:rPr lang="en-US" sz="2800" dirty="0" err="1">
                <a:latin typeface="Arial" charset="0"/>
                <a:cs typeface="Arial" charset="0"/>
              </a:rPr>
              <a:t>và</a:t>
            </a:r>
            <a:r>
              <a:rPr lang="en-US" sz="2800" dirty="0">
                <a:latin typeface="Arial" charset="0"/>
                <a:cs typeface="Arial" charset="0"/>
              </a:rPr>
              <a:t> </a:t>
            </a:r>
            <a:r>
              <a:rPr lang="en-US" sz="2800" dirty="0" err="1">
                <a:latin typeface="Arial" charset="0"/>
                <a:cs typeface="Arial" charset="0"/>
              </a:rPr>
              <a:t>xử</a:t>
            </a:r>
            <a:r>
              <a:rPr lang="en-US" sz="2800" dirty="0">
                <a:latin typeface="Arial" charset="0"/>
                <a:cs typeface="Arial" charset="0"/>
              </a:rPr>
              <a:t> </a:t>
            </a:r>
            <a:r>
              <a:rPr lang="en-US" sz="2800" dirty="0" err="1">
                <a:latin typeface="Arial" charset="0"/>
                <a:cs typeface="Arial" charset="0"/>
              </a:rPr>
              <a:t>lý</a:t>
            </a:r>
            <a:r>
              <a:rPr lang="en-US" sz="2800" dirty="0">
                <a:latin typeface="Arial" charset="0"/>
                <a:cs typeface="Arial" charset="0"/>
              </a:rPr>
              <a:t> </a:t>
            </a:r>
            <a:r>
              <a:rPr lang="en-US" sz="2800" dirty="0" err="1">
                <a:latin typeface="Arial" charset="0"/>
                <a:cs typeface="Arial" charset="0"/>
              </a:rPr>
              <a:t>chúng</a:t>
            </a:r>
            <a:r>
              <a:rPr lang="en-US" sz="2800" dirty="0">
                <a:latin typeface="Arial" charset="0"/>
                <a:cs typeface="Arial" charset="0"/>
              </a:rPr>
              <a:t> </a:t>
            </a:r>
            <a:r>
              <a:rPr lang="en-US" sz="2800" dirty="0" err="1">
                <a:latin typeface="Arial" charset="0"/>
                <a:cs typeface="Arial" charset="0"/>
              </a:rPr>
              <a:t>trước</a:t>
            </a:r>
            <a:r>
              <a:rPr lang="en-US" sz="2800" dirty="0">
                <a:latin typeface="Arial" charset="0"/>
                <a:cs typeface="Arial" charset="0"/>
              </a:rPr>
              <a:t> </a:t>
            </a:r>
            <a:r>
              <a:rPr lang="en-US" sz="2800" dirty="0" err="1">
                <a:latin typeface="Arial" charset="0"/>
                <a:cs typeface="Arial" charset="0"/>
              </a:rPr>
              <a:t>khi</a:t>
            </a:r>
            <a:r>
              <a:rPr lang="en-US" sz="2800" dirty="0">
                <a:latin typeface="Arial" charset="0"/>
                <a:cs typeface="Arial" charset="0"/>
              </a:rPr>
              <a:t> </a:t>
            </a:r>
            <a:r>
              <a:rPr lang="en-US" sz="2800" dirty="0" err="1">
                <a:latin typeface="Arial" charset="0"/>
                <a:cs typeface="Arial" charset="0"/>
              </a:rPr>
              <a:t>có</a:t>
            </a:r>
            <a:r>
              <a:rPr lang="en-US" sz="2800" dirty="0">
                <a:latin typeface="Arial" charset="0"/>
                <a:cs typeface="Arial" charset="0"/>
              </a:rPr>
              <a:t> </a:t>
            </a:r>
            <a:r>
              <a:rPr lang="en-US" sz="2800" dirty="0" err="1">
                <a:latin typeface="Arial" charset="0"/>
                <a:cs typeface="Arial" charset="0"/>
              </a:rPr>
              <a:t>quyết</a:t>
            </a:r>
            <a:r>
              <a:rPr lang="en-US" sz="2800" dirty="0">
                <a:latin typeface="Arial" charset="0"/>
                <a:cs typeface="Arial" charset="0"/>
              </a:rPr>
              <a:t> </a:t>
            </a:r>
            <a:r>
              <a:rPr lang="en-US" sz="2800" dirty="0" err="1">
                <a:latin typeface="Arial" charset="0"/>
                <a:cs typeface="Arial" charset="0"/>
              </a:rPr>
              <a:t>định</a:t>
            </a:r>
            <a:r>
              <a:rPr lang="en-US" sz="2800" dirty="0">
                <a:latin typeface="Arial" charset="0"/>
                <a:cs typeface="Arial" charset="0"/>
              </a:rPr>
              <a:t> </a:t>
            </a:r>
            <a:r>
              <a:rPr lang="en-US" sz="2800" dirty="0" err="1">
                <a:latin typeface="Arial" charset="0"/>
                <a:cs typeface="Arial" charset="0"/>
              </a:rPr>
              <a:t>chuyển</a:t>
            </a:r>
            <a:r>
              <a:rPr lang="en-US" sz="2800" dirty="0">
                <a:latin typeface="Arial" charset="0"/>
                <a:cs typeface="Arial" charset="0"/>
              </a:rPr>
              <a:t> </a:t>
            </a:r>
            <a:r>
              <a:rPr lang="en-US" sz="2800" dirty="0" err="1">
                <a:latin typeface="Arial" charset="0"/>
                <a:cs typeface="Arial" charset="0"/>
              </a:rPr>
              <a:t>đi</a:t>
            </a:r>
            <a:r>
              <a:rPr lang="en-US" sz="2800" dirty="0">
                <a:latin typeface="Arial" charset="0"/>
                <a:cs typeface="Arial" charset="0"/>
              </a:rPr>
              <a:t> hay </a:t>
            </a:r>
            <a:r>
              <a:rPr lang="en-US" sz="2800" dirty="0" err="1">
                <a:latin typeface="Arial" charset="0"/>
                <a:cs typeface="Arial" charset="0"/>
              </a:rPr>
              <a:t>không</a:t>
            </a:r>
            <a:r>
              <a:rPr lang="en-US" sz="2800" dirty="0">
                <a:latin typeface="Arial" charset="0"/>
                <a:cs typeface="Arial" charset="0"/>
              </a:rPr>
              <a:t>.</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5AE49F8-DDF8-422D-88C8-D2CB0AAFCFDE}" type="slidenum">
              <a:rPr lang="en-US">
                <a:latin typeface="Arial" pitchFamily="34" charset="0"/>
                <a:cs typeface="Arial" pitchFamily="34" charset="0"/>
              </a:rPr>
              <a:pPr>
                <a:defRPr/>
              </a:pPr>
              <a:t>66</a:t>
            </a:fld>
            <a:endParaRPr lang="en-US">
              <a:latin typeface="Arial" pitchFamily="34" charset="0"/>
              <a:cs typeface="Arial" pitchFamily="34" charset="0"/>
            </a:endParaRPr>
          </a:p>
        </p:txBody>
      </p:sp>
      <p:sp>
        <p:nvSpPr>
          <p:cNvPr id="2" name="Title 1"/>
          <p:cNvSpPr>
            <a:spLocks noGrp="1"/>
          </p:cNvSpPr>
          <p:nvPr>
            <p:ph type="title"/>
          </p:nvPr>
        </p:nvSpPr>
        <p:spPr/>
        <p:txBody>
          <a:bodyPr/>
          <a:lstStyle/>
          <a:p>
            <a:r>
              <a:rPr lang="en-US" dirty="0"/>
              <a:t>VIII.5 BRIDGE (CẦU NỐI)</a:t>
            </a:r>
          </a:p>
        </p:txBody>
      </p:sp>
    </p:spTree>
    <p:extLst>
      <p:ext uri="{BB962C8B-B14F-4D97-AF65-F5344CB8AC3E}">
        <p14:creationId xmlns:p14="http://schemas.microsoft.com/office/powerpoint/2010/main" val="59347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1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DCCFD394-F266-4B16-B76C-1E372FBF7330}" type="slidenum">
              <a:rPr lang="en-US"/>
              <a:pPr>
                <a:defRPr/>
              </a:pPr>
              <a:t>67</a:t>
            </a:fld>
            <a:endParaRPr lang="en-US"/>
          </a:p>
        </p:txBody>
      </p:sp>
      <p:pic>
        <p:nvPicPr>
          <p:cNvPr id="93188" name="Picture 4" descr="brid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1143000"/>
            <a:ext cx="28956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9" name="Picture 5" descr="bridge noi ma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895601"/>
            <a:ext cx="5791200"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0" name="Text Box 6"/>
          <p:cNvSpPr txBox="1">
            <a:spLocks noChangeArrowheads="1"/>
          </p:cNvSpPr>
          <p:nvPr/>
        </p:nvSpPr>
        <p:spPr bwMode="auto">
          <a:xfrm>
            <a:off x="4114800" y="4800601"/>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Hub</a:t>
            </a:r>
          </a:p>
        </p:txBody>
      </p:sp>
      <p:sp>
        <p:nvSpPr>
          <p:cNvPr id="93191" name="Text Box 7"/>
          <p:cNvSpPr txBox="1">
            <a:spLocks noChangeArrowheads="1"/>
          </p:cNvSpPr>
          <p:nvPr/>
        </p:nvSpPr>
        <p:spPr bwMode="auto">
          <a:xfrm>
            <a:off x="6172200" y="4800601"/>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Hub</a:t>
            </a:r>
          </a:p>
        </p:txBody>
      </p:sp>
      <p:sp>
        <p:nvSpPr>
          <p:cNvPr id="93192" name="Text Box 8"/>
          <p:cNvSpPr txBox="1">
            <a:spLocks noChangeArrowheads="1"/>
          </p:cNvSpPr>
          <p:nvPr/>
        </p:nvSpPr>
        <p:spPr bwMode="auto">
          <a:xfrm>
            <a:off x="5029200" y="342900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b="1"/>
              <a:t>Bridge</a:t>
            </a:r>
          </a:p>
        </p:txBody>
      </p:sp>
      <p:sp>
        <p:nvSpPr>
          <p:cNvPr id="2" name="Title 1"/>
          <p:cNvSpPr>
            <a:spLocks noGrp="1"/>
          </p:cNvSpPr>
          <p:nvPr>
            <p:ph type="title"/>
          </p:nvPr>
        </p:nvSpPr>
        <p:spPr/>
        <p:txBody>
          <a:bodyPr/>
          <a:lstStyle/>
          <a:p>
            <a:r>
              <a:rPr lang="en-US" dirty="0"/>
              <a:t>VIII.5 BRIDGE (CẦU NỐI)</a:t>
            </a:r>
          </a:p>
        </p:txBody>
      </p:sp>
    </p:spTree>
    <p:extLst>
      <p:ext uri="{BB962C8B-B14F-4D97-AF65-F5344CB8AC3E}">
        <p14:creationId xmlns:p14="http://schemas.microsoft.com/office/powerpoint/2010/main" val="36371753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Grp="1" noChangeArrowheads="1"/>
          </p:cNvSpPr>
          <p:nvPr>
            <p:ph idx="1"/>
          </p:nvPr>
        </p:nvSpPr>
        <p:spPr>
          <a:xfrm>
            <a:off x="1981200" y="1447800"/>
            <a:ext cx="8477250" cy="4800600"/>
          </a:xfrm>
        </p:spPr>
        <p:txBody>
          <a:bodyPr/>
          <a:lstStyle/>
          <a:p>
            <a:pPr>
              <a:lnSpc>
                <a:spcPct val="90000"/>
              </a:lnSpc>
              <a:spcBef>
                <a:spcPts val="1800"/>
              </a:spcBef>
            </a:pPr>
            <a:r>
              <a:rPr lang="en-US" dirty="0" err="1">
                <a:latin typeface="Arial" charset="0"/>
                <a:cs typeface="Arial" charset="0"/>
              </a:rPr>
              <a:t>Là</a:t>
            </a:r>
            <a:r>
              <a:rPr lang="en-US" dirty="0">
                <a:latin typeface="Arial" charset="0"/>
                <a:cs typeface="Arial" charset="0"/>
              </a:rPr>
              <a:t> </a:t>
            </a:r>
            <a:r>
              <a:rPr lang="en-US" dirty="0" err="1">
                <a:latin typeface="Arial" charset="0"/>
                <a:cs typeface="Arial" charset="0"/>
              </a:rPr>
              <a:t>thiết</a:t>
            </a:r>
            <a:r>
              <a:rPr lang="en-US" dirty="0">
                <a:latin typeface="Arial" charset="0"/>
                <a:cs typeface="Arial" charset="0"/>
              </a:rPr>
              <a:t> </a:t>
            </a:r>
            <a:r>
              <a:rPr lang="en-US" dirty="0" err="1">
                <a:latin typeface="Arial" charset="0"/>
                <a:cs typeface="Arial" charset="0"/>
              </a:rPr>
              <a:t>bị</a:t>
            </a:r>
            <a:r>
              <a:rPr lang="en-US" dirty="0">
                <a:latin typeface="Arial" charset="0"/>
                <a:cs typeface="Arial" charset="0"/>
              </a:rPr>
              <a:t> </a:t>
            </a:r>
            <a:r>
              <a:rPr lang="en-US" dirty="0" err="1">
                <a:latin typeface="Arial" charset="0"/>
                <a:cs typeface="Arial" charset="0"/>
              </a:rPr>
              <a:t>giống</a:t>
            </a:r>
            <a:r>
              <a:rPr lang="en-US" dirty="0">
                <a:latin typeface="Arial" charset="0"/>
                <a:cs typeface="Arial" charset="0"/>
              </a:rPr>
              <a:t> Bridge </a:t>
            </a:r>
            <a:r>
              <a:rPr lang="en-US" dirty="0" err="1">
                <a:latin typeface="Arial" charset="0"/>
                <a:cs typeface="Arial" charset="0"/>
              </a:rPr>
              <a:t>và</a:t>
            </a:r>
            <a:r>
              <a:rPr lang="en-US" dirty="0">
                <a:latin typeface="Arial" charset="0"/>
                <a:cs typeface="Arial" charset="0"/>
              </a:rPr>
              <a:t> Hub </a:t>
            </a:r>
            <a:r>
              <a:rPr lang="en-US" dirty="0" err="1">
                <a:latin typeface="Arial" charset="0"/>
                <a:cs typeface="Arial" charset="0"/>
              </a:rPr>
              <a:t>cộng</a:t>
            </a:r>
            <a:r>
              <a:rPr lang="en-US" dirty="0">
                <a:latin typeface="Arial" charset="0"/>
                <a:cs typeface="Arial" charset="0"/>
              </a:rPr>
              <a:t> </a:t>
            </a:r>
            <a:r>
              <a:rPr lang="en-US" dirty="0" err="1">
                <a:latin typeface="Arial" charset="0"/>
                <a:cs typeface="Arial" charset="0"/>
              </a:rPr>
              <a:t>lại</a:t>
            </a:r>
            <a:r>
              <a:rPr lang="en-US" dirty="0">
                <a:latin typeface="Arial" charset="0"/>
                <a:cs typeface="Arial" charset="0"/>
              </a:rPr>
              <a:t> </a:t>
            </a:r>
            <a:r>
              <a:rPr lang="en-US" dirty="0" err="1">
                <a:latin typeface="Arial" charset="0"/>
                <a:cs typeface="Arial" charset="0"/>
              </a:rPr>
              <a:t>nhưng</a:t>
            </a:r>
            <a:r>
              <a:rPr lang="en-US" dirty="0">
                <a:latin typeface="Arial" charset="0"/>
                <a:cs typeface="Arial" charset="0"/>
              </a:rPr>
              <a:t> </a:t>
            </a:r>
            <a:r>
              <a:rPr lang="en-US" dirty="0" err="1">
                <a:latin typeface="Arial" charset="0"/>
                <a:cs typeface="Arial" charset="0"/>
              </a:rPr>
              <a:t>thông</a:t>
            </a:r>
            <a:r>
              <a:rPr lang="en-US" dirty="0">
                <a:latin typeface="Arial" charset="0"/>
                <a:cs typeface="Arial" charset="0"/>
              </a:rPr>
              <a:t> minh </a:t>
            </a:r>
            <a:r>
              <a:rPr lang="en-US" dirty="0" err="1">
                <a:latin typeface="Arial" charset="0"/>
                <a:cs typeface="Arial" charset="0"/>
              </a:rPr>
              <a:t>hơn</a:t>
            </a:r>
            <a:r>
              <a:rPr lang="en-US" dirty="0">
                <a:latin typeface="Arial" charset="0"/>
                <a:cs typeface="Arial" charset="0"/>
              </a:rPr>
              <a:t>.</a:t>
            </a:r>
          </a:p>
          <a:p>
            <a:pPr>
              <a:lnSpc>
                <a:spcPct val="90000"/>
              </a:lnSpc>
              <a:spcBef>
                <a:spcPts val="1800"/>
              </a:spcBef>
            </a:pPr>
            <a:r>
              <a:rPr lang="en-US" dirty="0" err="1">
                <a:latin typeface="Arial" charset="0"/>
                <a:cs typeface="Arial" charset="0"/>
              </a:rPr>
              <a:t>Có</a:t>
            </a:r>
            <a:r>
              <a:rPr lang="en-US" dirty="0">
                <a:latin typeface="Arial" charset="0"/>
                <a:cs typeface="Arial" charset="0"/>
              </a:rPr>
              <a:t> </a:t>
            </a:r>
            <a:r>
              <a:rPr lang="en-US" dirty="0" err="1">
                <a:latin typeface="Arial" charset="0"/>
                <a:cs typeface="Arial" charset="0"/>
              </a:rPr>
              <a:t>khả</a:t>
            </a:r>
            <a:r>
              <a:rPr lang="en-US" dirty="0">
                <a:latin typeface="Arial" charset="0"/>
                <a:cs typeface="Arial" charset="0"/>
              </a:rPr>
              <a:t> </a:t>
            </a:r>
            <a:r>
              <a:rPr lang="en-US" dirty="0" err="1">
                <a:latin typeface="Arial" charset="0"/>
                <a:cs typeface="Arial" charset="0"/>
              </a:rPr>
              <a:t>năng</a:t>
            </a:r>
            <a:r>
              <a:rPr lang="en-US" dirty="0">
                <a:latin typeface="Arial" charset="0"/>
                <a:cs typeface="Arial" charset="0"/>
              </a:rPr>
              <a:t> </a:t>
            </a:r>
            <a:r>
              <a:rPr lang="en-US" dirty="0" err="1">
                <a:latin typeface="Arial" charset="0"/>
                <a:cs typeface="Arial" charset="0"/>
              </a:rPr>
              <a:t>chỉ</a:t>
            </a:r>
            <a:r>
              <a:rPr lang="en-US" dirty="0">
                <a:latin typeface="Arial" charset="0"/>
                <a:cs typeface="Arial" charset="0"/>
              </a:rPr>
              <a:t> </a:t>
            </a:r>
            <a:r>
              <a:rPr lang="en-US" dirty="0" err="1">
                <a:latin typeface="Arial" charset="0"/>
                <a:cs typeface="Arial" charset="0"/>
              </a:rPr>
              <a:t>chuyển</a:t>
            </a:r>
            <a:r>
              <a:rPr lang="en-US" dirty="0">
                <a:latin typeface="Arial" charset="0"/>
                <a:cs typeface="Arial" charset="0"/>
              </a:rPr>
              <a:t> </a:t>
            </a:r>
            <a:r>
              <a:rPr lang="en-US" dirty="0" err="1">
                <a:latin typeface="Arial" charset="0"/>
                <a:cs typeface="Arial" charset="0"/>
              </a:rPr>
              <a:t>dữ</a:t>
            </a:r>
            <a:r>
              <a:rPr lang="en-US" dirty="0">
                <a:latin typeface="Arial" charset="0"/>
                <a:cs typeface="Arial" charset="0"/>
              </a:rPr>
              <a:t> </a:t>
            </a:r>
            <a:r>
              <a:rPr lang="en-US" dirty="0" err="1">
                <a:latin typeface="Arial" charset="0"/>
                <a:cs typeface="Arial" charset="0"/>
              </a:rPr>
              <a:t>liệu</a:t>
            </a:r>
            <a:r>
              <a:rPr lang="en-US" dirty="0">
                <a:latin typeface="Arial" charset="0"/>
                <a:cs typeface="Arial" charset="0"/>
              </a:rPr>
              <a:t> </a:t>
            </a:r>
            <a:r>
              <a:rPr lang="en-US" dirty="0" err="1">
                <a:latin typeface="Arial" charset="0"/>
                <a:cs typeface="Arial" charset="0"/>
              </a:rPr>
              <a:t>đến</a:t>
            </a:r>
            <a:r>
              <a:rPr lang="en-US" dirty="0">
                <a:latin typeface="Arial" charset="0"/>
                <a:cs typeface="Arial" charset="0"/>
              </a:rPr>
              <a:t> </a:t>
            </a:r>
            <a:r>
              <a:rPr lang="en-US" dirty="0" err="1">
                <a:latin typeface="Arial" charset="0"/>
                <a:cs typeface="Arial" charset="0"/>
              </a:rPr>
              <a:t>đúng</a:t>
            </a:r>
            <a:r>
              <a:rPr lang="en-US" dirty="0">
                <a:latin typeface="Arial" charset="0"/>
                <a:cs typeface="Arial" charset="0"/>
              </a:rPr>
              <a:t> </a:t>
            </a:r>
            <a:r>
              <a:rPr lang="en-US" dirty="0" err="1">
                <a:latin typeface="Arial" charset="0"/>
                <a:cs typeface="Arial" charset="0"/>
              </a:rPr>
              <a:t>kết</a:t>
            </a:r>
            <a:r>
              <a:rPr lang="en-US" dirty="0">
                <a:latin typeface="Arial" charset="0"/>
                <a:cs typeface="Arial" charset="0"/>
              </a:rPr>
              <a:t> </a:t>
            </a:r>
            <a:r>
              <a:rPr lang="en-US" dirty="0" err="1">
                <a:latin typeface="Arial" charset="0"/>
                <a:cs typeface="Arial" charset="0"/>
              </a:rPr>
              <a:t>nối</a:t>
            </a:r>
            <a:r>
              <a:rPr lang="en-US" dirty="0">
                <a:latin typeface="Arial" charset="0"/>
                <a:cs typeface="Arial" charset="0"/>
              </a:rPr>
              <a:t> </a:t>
            </a:r>
            <a:r>
              <a:rPr lang="en-US" dirty="0" err="1">
                <a:latin typeface="Arial" charset="0"/>
                <a:cs typeface="Arial" charset="0"/>
              </a:rPr>
              <a:t>thực</a:t>
            </a:r>
            <a:r>
              <a:rPr lang="en-US" dirty="0">
                <a:latin typeface="Arial" charset="0"/>
                <a:cs typeface="Arial" charset="0"/>
              </a:rPr>
              <a:t> </a:t>
            </a:r>
            <a:r>
              <a:rPr lang="en-US" dirty="0" err="1">
                <a:latin typeface="Arial" charset="0"/>
                <a:cs typeface="Arial" charset="0"/>
              </a:rPr>
              <a:t>sự</a:t>
            </a:r>
            <a:r>
              <a:rPr lang="en-US" dirty="0">
                <a:latin typeface="Arial" charset="0"/>
                <a:cs typeface="Arial" charset="0"/>
              </a:rPr>
              <a:t> </a:t>
            </a:r>
            <a:r>
              <a:rPr lang="en-US" dirty="0" err="1">
                <a:latin typeface="Arial" charset="0"/>
                <a:cs typeface="Arial" charset="0"/>
              </a:rPr>
              <a:t>cần</a:t>
            </a:r>
            <a:r>
              <a:rPr lang="en-US" dirty="0">
                <a:latin typeface="Arial" charset="0"/>
                <a:cs typeface="Arial" charset="0"/>
              </a:rPr>
              <a:t> </a:t>
            </a:r>
            <a:r>
              <a:rPr lang="en-US" dirty="0" err="1">
                <a:latin typeface="Arial" charset="0"/>
                <a:cs typeface="Arial" charset="0"/>
              </a:rPr>
              <a:t>dữ</a:t>
            </a:r>
            <a:r>
              <a:rPr lang="en-US" dirty="0">
                <a:latin typeface="Arial" charset="0"/>
                <a:cs typeface="Arial" charset="0"/>
              </a:rPr>
              <a:t> </a:t>
            </a:r>
            <a:r>
              <a:rPr lang="en-US" dirty="0" err="1">
                <a:latin typeface="Arial" charset="0"/>
                <a:cs typeface="Arial" charset="0"/>
              </a:rPr>
              <a:t>liệu</a:t>
            </a:r>
            <a:r>
              <a:rPr lang="en-US" dirty="0">
                <a:latin typeface="Arial" charset="0"/>
                <a:cs typeface="Arial" charset="0"/>
              </a:rPr>
              <a:t> </a:t>
            </a:r>
            <a:r>
              <a:rPr lang="en-US" dirty="0" err="1">
                <a:latin typeface="Arial" charset="0"/>
                <a:cs typeface="Arial" charset="0"/>
              </a:rPr>
              <a:t>này</a:t>
            </a:r>
            <a:r>
              <a:rPr lang="en-US" dirty="0">
                <a:latin typeface="Arial" charset="0"/>
                <a:cs typeface="Arial" charset="0"/>
              </a:rPr>
              <a:t> </a:t>
            </a:r>
            <a:r>
              <a:rPr lang="en-US" dirty="0" err="1">
                <a:latin typeface="Arial" charset="0"/>
                <a:cs typeface="Arial" charset="0"/>
              </a:rPr>
              <a:t>làm</a:t>
            </a:r>
            <a:r>
              <a:rPr lang="en-US" dirty="0">
                <a:latin typeface="Arial" charset="0"/>
                <a:cs typeface="Arial" charset="0"/>
              </a:rPr>
              <a:t> </a:t>
            </a:r>
            <a:r>
              <a:rPr lang="en-US" dirty="0" err="1">
                <a:latin typeface="Arial" charset="0"/>
                <a:cs typeface="Arial" charset="0"/>
              </a:rPr>
              <a:t>giảm</a:t>
            </a:r>
            <a:r>
              <a:rPr lang="en-US" dirty="0">
                <a:latin typeface="Arial" charset="0"/>
                <a:cs typeface="Arial" charset="0"/>
              </a:rPr>
              <a:t> </a:t>
            </a:r>
            <a:r>
              <a:rPr lang="en-US" dirty="0" err="1">
                <a:latin typeface="Arial" charset="0"/>
                <a:cs typeface="Arial" charset="0"/>
              </a:rPr>
              <a:t>đụng</a:t>
            </a:r>
            <a:r>
              <a:rPr lang="en-US" dirty="0">
                <a:latin typeface="Arial" charset="0"/>
                <a:cs typeface="Arial" charset="0"/>
              </a:rPr>
              <a:t> </a:t>
            </a:r>
            <a:r>
              <a:rPr lang="en-US" dirty="0" err="1">
                <a:latin typeface="Arial" charset="0"/>
                <a:cs typeface="Arial" charset="0"/>
              </a:rPr>
              <a:t>độ</a:t>
            </a:r>
            <a:r>
              <a:rPr lang="en-US" dirty="0">
                <a:latin typeface="Arial" charset="0"/>
                <a:cs typeface="Arial" charset="0"/>
              </a:rPr>
              <a:t> </a:t>
            </a:r>
            <a:r>
              <a:rPr lang="en-US" dirty="0" err="1">
                <a:latin typeface="Arial" charset="0"/>
                <a:cs typeface="Arial" charset="0"/>
              </a:rPr>
              <a:t>trên</a:t>
            </a:r>
            <a:r>
              <a:rPr lang="en-US" dirty="0">
                <a:latin typeface="Arial" charset="0"/>
                <a:cs typeface="Arial" charset="0"/>
              </a:rPr>
              <a:t> </a:t>
            </a:r>
            <a:r>
              <a:rPr lang="en-US" dirty="0" err="1">
                <a:latin typeface="Arial" charset="0"/>
                <a:cs typeface="Arial" charset="0"/>
              </a:rPr>
              <a:t>mạng</a:t>
            </a:r>
            <a:r>
              <a:rPr lang="en-US" dirty="0">
                <a:latin typeface="Arial" charset="0"/>
                <a:cs typeface="Arial" charset="0"/>
              </a:rPr>
              <a:t>.</a:t>
            </a:r>
          </a:p>
          <a:p>
            <a:pPr>
              <a:lnSpc>
                <a:spcPct val="90000"/>
              </a:lnSpc>
              <a:spcBef>
                <a:spcPts val="1800"/>
              </a:spcBef>
            </a:pPr>
            <a:r>
              <a:rPr lang="en-US" dirty="0" err="1">
                <a:latin typeface="Arial" charset="0"/>
                <a:cs typeface="Arial" charset="0"/>
              </a:rPr>
              <a:t>Dùng</a:t>
            </a:r>
            <a:r>
              <a:rPr lang="en-US" dirty="0">
                <a:latin typeface="Arial" charset="0"/>
                <a:cs typeface="Arial" charset="0"/>
              </a:rPr>
              <a:t> </a:t>
            </a:r>
            <a:r>
              <a:rPr lang="en-US" dirty="0" err="1">
                <a:latin typeface="Arial" charset="0"/>
                <a:cs typeface="Arial" charset="0"/>
              </a:rPr>
              <a:t>để</a:t>
            </a:r>
            <a:r>
              <a:rPr lang="en-US" dirty="0">
                <a:latin typeface="Arial" charset="0"/>
                <a:cs typeface="Arial" charset="0"/>
              </a:rPr>
              <a:t> </a:t>
            </a:r>
            <a:r>
              <a:rPr lang="en-US" dirty="0" err="1">
                <a:latin typeface="Arial" charset="0"/>
                <a:cs typeface="Arial" charset="0"/>
              </a:rPr>
              <a:t>phân</a:t>
            </a:r>
            <a:r>
              <a:rPr lang="en-US" dirty="0">
                <a:latin typeface="Arial" charset="0"/>
                <a:cs typeface="Arial" charset="0"/>
              </a:rPr>
              <a:t> </a:t>
            </a:r>
            <a:r>
              <a:rPr lang="en-US" dirty="0" err="1">
                <a:latin typeface="Arial" charset="0"/>
                <a:cs typeface="Arial" charset="0"/>
              </a:rPr>
              <a:t>đoạn</a:t>
            </a:r>
            <a:r>
              <a:rPr lang="en-US" dirty="0">
                <a:latin typeface="Arial" charset="0"/>
                <a:cs typeface="Arial" charset="0"/>
              </a:rPr>
              <a:t> </a:t>
            </a:r>
            <a:r>
              <a:rPr lang="en-US" dirty="0" err="1">
                <a:latin typeface="Arial" charset="0"/>
                <a:cs typeface="Arial" charset="0"/>
              </a:rPr>
              <a:t>mạng</a:t>
            </a:r>
            <a:r>
              <a:rPr lang="en-US" dirty="0">
                <a:latin typeface="Arial" charset="0"/>
                <a:cs typeface="Arial" charset="0"/>
              </a:rPr>
              <a:t> </a:t>
            </a:r>
            <a:r>
              <a:rPr lang="en-US" dirty="0" err="1">
                <a:latin typeface="Arial" charset="0"/>
                <a:cs typeface="Arial" charset="0"/>
              </a:rPr>
              <a:t>trong</a:t>
            </a:r>
            <a:r>
              <a:rPr lang="en-US" dirty="0">
                <a:latin typeface="Arial" charset="0"/>
                <a:cs typeface="Arial" charset="0"/>
              </a:rPr>
              <a:t> </a:t>
            </a:r>
            <a:r>
              <a:rPr lang="en-US" dirty="0" err="1">
                <a:latin typeface="Arial" charset="0"/>
                <a:cs typeface="Arial" charset="0"/>
              </a:rPr>
              <a:t>các</a:t>
            </a:r>
            <a:r>
              <a:rPr lang="en-US" dirty="0">
                <a:latin typeface="Arial" charset="0"/>
                <a:cs typeface="Arial" charset="0"/>
              </a:rPr>
              <a:t> </a:t>
            </a:r>
            <a:r>
              <a:rPr lang="en-US" dirty="0" err="1">
                <a:latin typeface="Arial" charset="0"/>
                <a:cs typeface="Arial" charset="0"/>
              </a:rPr>
              <a:t>mạng</a:t>
            </a:r>
            <a:r>
              <a:rPr lang="en-US" dirty="0">
                <a:latin typeface="Arial" charset="0"/>
                <a:cs typeface="Arial" charset="0"/>
              </a:rPr>
              <a:t> </a:t>
            </a:r>
            <a:r>
              <a:rPr lang="en-US" dirty="0" err="1">
                <a:latin typeface="Arial" charset="0"/>
                <a:cs typeface="Arial" charset="0"/>
              </a:rPr>
              <a:t>cục</a:t>
            </a:r>
            <a:r>
              <a:rPr lang="en-US" dirty="0">
                <a:latin typeface="Arial" charset="0"/>
                <a:cs typeface="Arial" charset="0"/>
              </a:rPr>
              <a:t> </a:t>
            </a:r>
            <a:r>
              <a:rPr lang="en-US" dirty="0" err="1">
                <a:latin typeface="Arial" charset="0"/>
                <a:cs typeface="Arial" charset="0"/>
              </a:rPr>
              <a:t>bộ</a:t>
            </a:r>
            <a:r>
              <a:rPr lang="en-US" dirty="0">
                <a:latin typeface="Arial" charset="0"/>
                <a:cs typeface="Arial" charset="0"/>
              </a:rPr>
              <a:t> </a:t>
            </a:r>
            <a:r>
              <a:rPr lang="en-US" dirty="0" err="1">
                <a:latin typeface="Arial" charset="0"/>
                <a:cs typeface="Arial" charset="0"/>
              </a:rPr>
              <a:t>lớn</a:t>
            </a:r>
            <a:r>
              <a:rPr lang="en-US" dirty="0">
                <a:latin typeface="Arial" charset="0"/>
                <a:cs typeface="Arial" charset="0"/>
              </a:rPr>
              <a:t> (VLAN).</a:t>
            </a:r>
          </a:p>
          <a:p>
            <a:pPr>
              <a:lnSpc>
                <a:spcPct val="90000"/>
              </a:lnSpc>
              <a:spcBef>
                <a:spcPts val="1800"/>
              </a:spcBef>
            </a:pPr>
            <a:r>
              <a:rPr lang="en-US" dirty="0" err="1">
                <a:latin typeface="Arial" charset="0"/>
                <a:cs typeface="Arial" charset="0"/>
              </a:rPr>
              <a:t>Hoạt</a:t>
            </a:r>
            <a:r>
              <a:rPr lang="en-US" dirty="0">
                <a:latin typeface="Arial" charset="0"/>
                <a:cs typeface="Arial" charset="0"/>
              </a:rPr>
              <a:t> </a:t>
            </a:r>
            <a:r>
              <a:rPr lang="en-US" dirty="0" err="1">
                <a:latin typeface="Arial" charset="0"/>
                <a:cs typeface="Arial" charset="0"/>
              </a:rPr>
              <a:t>động</a:t>
            </a:r>
            <a:r>
              <a:rPr lang="en-US" dirty="0">
                <a:latin typeface="Arial" charset="0"/>
                <a:cs typeface="Arial" charset="0"/>
              </a:rPr>
              <a:t> ở </a:t>
            </a:r>
            <a:r>
              <a:rPr lang="en-US" dirty="0" err="1">
                <a:latin typeface="Arial" charset="0"/>
                <a:cs typeface="Arial" charset="0"/>
              </a:rPr>
              <a:t>lớp</a:t>
            </a:r>
            <a:r>
              <a:rPr lang="en-US" dirty="0">
                <a:latin typeface="Arial" charset="0"/>
                <a:cs typeface="Arial" charset="0"/>
              </a:rPr>
              <a:t> Data Link.</a:t>
            </a:r>
          </a:p>
          <a:p>
            <a:pPr eaLnBrk="1" hangingPunct="1">
              <a:lnSpc>
                <a:spcPct val="90000"/>
              </a:lnSpc>
            </a:pPr>
            <a:endParaRPr lang="en-US" dirty="0">
              <a:latin typeface="Arial" charset="0"/>
              <a:cs typeface="Arial" charset="0"/>
            </a:endParaRP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E37799C1-4FB8-4EB3-BC41-643F1A35FAF8}" type="slidenum">
              <a:rPr lang="en-US">
                <a:latin typeface="Arial" pitchFamily="34" charset="0"/>
                <a:cs typeface="Arial" pitchFamily="34" charset="0"/>
              </a:rPr>
              <a:pPr>
                <a:defRPr/>
              </a:pPr>
              <a:t>68</a:t>
            </a:fld>
            <a:endParaRPr lang="en-US">
              <a:latin typeface="Arial" pitchFamily="34" charset="0"/>
              <a:cs typeface="Arial" pitchFamily="34" charset="0"/>
            </a:endParaRPr>
          </a:p>
        </p:txBody>
      </p:sp>
      <p:sp>
        <p:nvSpPr>
          <p:cNvPr id="2" name="Title 1"/>
          <p:cNvSpPr>
            <a:spLocks noGrp="1"/>
          </p:cNvSpPr>
          <p:nvPr>
            <p:ph type="title"/>
          </p:nvPr>
        </p:nvSpPr>
        <p:spPr/>
        <p:txBody>
          <a:bodyPr/>
          <a:lstStyle/>
          <a:p>
            <a:r>
              <a:rPr lang="en-US" dirty="0"/>
              <a:t>VIII.6 SWITCH (BỘ CHUYỂN MẠCH)</a:t>
            </a:r>
          </a:p>
        </p:txBody>
      </p:sp>
    </p:spTree>
    <p:extLst>
      <p:ext uri="{BB962C8B-B14F-4D97-AF65-F5344CB8AC3E}">
        <p14:creationId xmlns:p14="http://schemas.microsoft.com/office/powerpoint/2010/main" val="142220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42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7024D33A-9F48-419F-BD59-4515024C7B4C}" type="slidenum">
              <a:rPr lang="en-US"/>
              <a:pPr>
                <a:defRPr/>
              </a:pPr>
              <a:t>69</a:t>
            </a:fld>
            <a:endParaRPr lang="en-US"/>
          </a:p>
        </p:txBody>
      </p:sp>
      <p:pic>
        <p:nvPicPr>
          <p:cNvPr id="95236" name="Picture 4" descr="swit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2057400"/>
            <a:ext cx="3757613"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5" descr="switch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352800"/>
            <a:ext cx="3581400"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8" name="Picture 7" descr="switch noi ma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2551114"/>
            <a:ext cx="3733800" cy="339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VIII.6 SWITCH (BỘ CHUYỂN MẠCH)</a:t>
            </a:r>
          </a:p>
        </p:txBody>
      </p:sp>
    </p:spTree>
    <p:extLst>
      <p:ext uri="{BB962C8B-B14F-4D97-AF65-F5344CB8AC3E}">
        <p14:creationId xmlns:p14="http://schemas.microsoft.com/office/powerpoint/2010/main" val="12829942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1B8CE3AF-79DB-4C22-A567-2919385102E8}" type="slidenum">
              <a:rPr lang="en-US"/>
              <a:pPr>
                <a:defRPr/>
              </a:pPr>
              <a:t>70</a:t>
            </a:fld>
            <a:endParaRPr lang="en-US"/>
          </a:p>
        </p:txBody>
      </p:sp>
      <p:pic>
        <p:nvPicPr>
          <p:cNvPr id="96260" name="Picture 4" descr="switching voi switch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133601"/>
            <a:ext cx="7086600"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VIII.6 SWITCH (BỘ CHUYỂN MẠCH)</a:t>
            </a:r>
          </a:p>
        </p:txBody>
      </p:sp>
    </p:spTree>
    <p:extLst>
      <p:ext uri="{BB962C8B-B14F-4D97-AF65-F5344CB8AC3E}">
        <p14:creationId xmlns:p14="http://schemas.microsoft.com/office/powerpoint/2010/main" val="17196766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p:cNvSpPr>
            <a:spLocks noGrp="1" noChangeArrowheads="1"/>
          </p:cNvSpPr>
          <p:nvPr>
            <p:ph idx="1"/>
          </p:nvPr>
        </p:nvSpPr>
        <p:spPr>
          <a:xfrm>
            <a:off x="1905000" y="1295400"/>
            <a:ext cx="8553450" cy="5105400"/>
          </a:xfrm>
        </p:spPr>
        <p:txBody>
          <a:bodyPr/>
          <a:lstStyle/>
          <a:p>
            <a:pPr>
              <a:lnSpc>
                <a:spcPct val="80000"/>
              </a:lnSpc>
              <a:spcBef>
                <a:spcPts val="1200"/>
              </a:spcBef>
            </a:pPr>
            <a:r>
              <a:rPr lang="en-US" sz="2500" dirty="0" err="1">
                <a:latin typeface="Arial" charset="0"/>
                <a:cs typeface="Arial" charset="0"/>
              </a:rPr>
              <a:t>Dùng</a:t>
            </a:r>
            <a:r>
              <a:rPr lang="en-US" sz="2500" dirty="0">
                <a:latin typeface="Arial" charset="0"/>
                <a:cs typeface="Arial" charset="0"/>
              </a:rPr>
              <a:t> </a:t>
            </a:r>
            <a:r>
              <a:rPr lang="en-US" sz="2500" dirty="0" err="1">
                <a:latin typeface="Arial" charset="0"/>
                <a:cs typeface="Arial" charset="0"/>
              </a:rPr>
              <a:t>để</a:t>
            </a:r>
            <a:r>
              <a:rPr lang="en-US" sz="2500" dirty="0">
                <a:latin typeface="Arial" charset="0"/>
                <a:cs typeface="Arial" charset="0"/>
              </a:rPr>
              <a:t> </a:t>
            </a:r>
            <a:r>
              <a:rPr lang="en-US" sz="2500" dirty="0" err="1">
                <a:latin typeface="Arial" charset="0"/>
                <a:cs typeface="Arial" charset="0"/>
              </a:rPr>
              <a:t>ghép</a:t>
            </a:r>
            <a:r>
              <a:rPr lang="en-US" sz="2500" dirty="0">
                <a:latin typeface="Arial" charset="0"/>
                <a:cs typeface="Arial" charset="0"/>
              </a:rPr>
              <a:t> </a:t>
            </a:r>
            <a:r>
              <a:rPr lang="en-US" sz="2500" dirty="0" err="1">
                <a:latin typeface="Arial" charset="0"/>
                <a:cs typeface="Arial" charset="0"/>
              </a:rPr>
              <a:t>nối</a:t>
            </a:r>
            <a:r>
              <a:rPr lang="en-US" sz="2500" dirty="0">
                <a:latin typeface="Arial" charset="0"/>
                <a:cs typeface="Arial" charset="0"/>
              </a:rPr>
              <a:t> </a:t>
            </a:r>
            <a:r>
              <a:rPr lang="en-US" sz="2500" dirty="0" err="1">
                <a:latin typeface="Arial" charset="0"/>
                <a:cs typeface="Arial" charset="0"/>
              </a:rPr>
              <a:t>các</a:t>
            </a:r>
            <a:r>
              <a:rPr lang="en-US" sz="2500" dirty="0">
                <a:latin typeface="Arial" charset="0"/>
                <a:cs typeface="Arial" charset="0"/>
              </a:rPr>
              <a:t> </a:t>
            </a:r>
            <a:r>
              <a:rPr lang="en-US" sz="2500" dirty="0" err="1">
                <a:latin typeface="Arial" charset="0"/>
                <a:cs typeface="Arial" charset="0"/>
              </a:rPr>
              <a:t>mạng</a:t>
            </a:r>
            <a:r>
              <a:rPr lang="en-US" sz="2500" dirty="0">
                <a:latin typeface="Arial" charset="0"/>
                <a:cs typeface="Arial" charset="0"/>
              </a:rPr>
              <a:t> </a:t>
            </a:r>
            <a:r>
              <a:rPr lang="en-US" sz="2500" dirty="0" err="1">
                <a:latin typeface="Arial" charset="0"/>
                <a:cs typeface="Arial" charset="0"/>
              </a:rPr>
              <a:t>cục</a:t>
            </a:r>
            <a:r>
              <a:rPr lang="en-US" sz="2500" dirty="0">
                <a:latin typeface="Arial" charset="0"/>
                <a:cs typeface="Arial" charset="0"/>
              </a:rPr>
              <a:t> </a:t>
            </a:r>
            <a:r>
              <a:rPr lang="en-US" sz="2500" dirty="0" err="1">
                <a:latin typeface="Arial" charset="0"/>
                <a:cs typeface="Arial" charset="0"/>
              </a:rPr>
              <a:t>bộ</a:t>
            </a:r>
            <a:r>
              <a:rPr lang="en-US" sz="2500" dirty="0">
                <a:latin typeface="Arial" charset="0"/>
                <a:cs typeface="Arial" charset="0"/>
              </a:rPr>
              <a:t> </a:t>
            </a:r>
            <a:r>
              <a:rPr lang="en-US" sz="2500" dirty="0" err="1">
                <a:latin typeface="Arial" charset="0"/>
                <a:cs typeface="Arial" charset="0"/>
              </a:rPr>
              <a:t>lại</a:t>
            </a:r>
            <a:r>
              <a:rPr lang="en-US" sz="2500" dirty="0">
                <a:latin typeface="Arial" charset="0"/>
                <a:cs typeface="Arial" charset="0"/>
              </a:rPr>
              <a:t> </a:t>
            </a:r>
            <a:r>
              <a:rPr lang="en-US" sz="2500" dirty="0" err="1">
                <a:latin typeface="Arial" charset="0"/>
                <a:cs typeface="Arial" charset="0"/>
              </a:rPr>
              <a:t>với</a:t>
            </a:r>
            <a:r>
              <a:rPr lang="en-US" sz="2500" dirty="0">
                <a:latin typeface="Arial" charset="0"/>
                <a:cs typeface="Arial" charset="0"/>
              </a:rPr>
              <a:t> </a:t>
            </a:r>
            <a:r>
              <a:rPr lang="en-US" sz="2500" dirty="0" err="1">
                <a:latin typeface="Arial" charset="0"/>
                <a:cs typeface="Arial" charset="0"/>
              </a:rPr>
              <a:t>nhau</a:t>
            </a:r>
            <a:r>
              <a:rPr lang="en-US" sz="2500" dirty="0">
                <a:latin typeface="Arial" charset="0"/>
                <a:cs typeface="Arial" charset="0"/>
              </a:rPr>
              <a:t> </a:t>
            </a:r>
            <a:r>
              <a:rPr lang="en-US" sz="2500" dirty="0" err="1">
                <a:latin typeface="Arial" charset="0"/>
                <a:cs typeface="Arial" charset="0"/>
              </a:rPr>
              <a:t>thành</a:t>
            </a:r>
            <a:r>
              <a:rPr lang="en-US" sz="2500" dirty="0">
                <a:latin typeface="Arial" charset="0"/>
                <a:cs typeface="Arial" charset="0"/>
              </a:rPr>
              <a:t> </a:t>
            </a:r>
            <a:r>
              <a:rPr lang="en-US" sz="2500" dirty="0" err="1">
                <a:latin typeface="Arial" charset="0"/>
                <a:cs typeface="Arial" charset="0"/>
              </a:rPr>
              <a:t>mạng</a:t>
            </a:r>
            <a:r>
              <a:rPr lang="en-US" sz="2500" dirty="0">
                <a:latin typeface="Arial" charset="0"/>
                <a:cs typeface="Arial" charset="0"/>
              </a:rPr>
              <a:t> </a:t>
            </a:r>
            <a:r>
              <a:rPr lang="en-US" sz="2500" dirty="0" err="1">
                <a:latin typeface="Arial" charset="0"/>
                <a:cs typeface="Arial" charset="0"/>
              </a:rPr>
              <a:t>rộng</a:t>
            </a:r>
            <a:r>
              <a:rPr lang="en-US" sz="2500" dirty="0">
                <a:latin typeface="Arial" charset="0"/>
                <a:cs typeface="Arial" charset="0"/>
              </a:rPr>
              <a:t>.</a:t>
            </a:r>
          </a:p>
          <a:p>
            <a:pPr>
              <a:lnSpc>
                <a:spcPct val="80000"/>
              </a:lnSpc>
              <a:spcBef>
                <a:spcPts val="1200"/>
              </a:spcBef>
            </a:pPr>
            <a:r>
              <a:rPr lang="en-US" sz="2500" dirty="0" err="1">
                <a:latin typeface="Arial" charset="0"/>
                <a:cs typeface="Arial" charset="0"/>
              </a:rPr>
              <a:t>Lựa</a:t>
            </a:r>
            <a:r>
              <a:rPr lang="en-US" sz="2500" dirty="0">
                <a:latin typeface="Arial" charset="0"/>
                <a:cs typeface="Arial" charset="0"/>
              </a:rPr>
              <a:t> </a:t>
            </a:r>
            <a:r>
              <a:rPr lang="en-US" sz="2500" dirty="0" err="1">
                <a:latin typeface="Arial" charset="0"/>
                <a:cs typeface="Arial" charset="0"/>
              </a:rPr>
              <a:t>chọn</a:t>
            </a:r>
            <a:r>
              <a:rPr lang="en-US" sz="2500" dirty="0">
                <a:latin typeface="Arial" charset="0"/>
                <a:cs typeface="Arial" charset="0"/>
              </a:rPr>
              <a:t> </a:t>
            </a:r>
            <a:r>
              <a:rPr lang="en-US" sz="2500" dirty="0" err="1">
                <a:latin typeface="Arial" charset="0"/>
                <a:cs typeface="Arial" charset="0"/>
              </a:rPr>
              <a:t>đường</a:t>
            </a:r>
            <a:r>
              <a:rPr lang="en-US" sz="2500" dirty="0">
                <a:latin typeface="Arial" charset="0"/>
                <a:cs typeface="Arial" charset="0"/>
              </a:rPr>
              <a:t> </a:t>
            </a:r>
            <a:r>
              <a:rPr lang="en-US" sz="2500" dirty="0" err="1">
                <a:latin typeface="Arial" charset="0"/>
                <a:cs typeface="Arial" charset="0"/>
              </a:rPr>
              <a:t>đi</a:t>
            </a:r>
            <a:r>
              <a:rPr lang="en-US" sz="2500" dirty="0">
                <a:latin typeface="Arial" charset="0"/>
                <a:cs typeface="Arial" charset="0"/>
              </a:rPr>
              <a:t> </a:t>
            </a:r>
            <a:r>
              <a:rPr lang="en-US" sz="2500" dirty="0" err="1">
                <a:latin typeface="Arial" charset="0"/>
                <a:cs typeface="Arial" charset="0"/>
              </a:rPr>
              <a:t>tốt</a:t>
            </a:r>
            <a:r>
              <a:rPr lang="en-US" sz="2500" dirty="0">
                <a:latin typeface="Arial" charset="0"/>
                <a:cs typeface="Arial" charset="0"/>
              </a:rPr>
              <a:t> </a:t>
            </a:r>
            <a:r>
              <a:rPr lang="en-US" sz="2500" dirty="0" err="1">
                <a:latin typeface="Arial" charset="0"/>
                <a:cs typeface="Arial" charset="0"/>
              </a:rPr>
              <a:t>nhất</a:t>
            </a:r>
            <a:r>
              <a:rPr lang="en-US" sz="2500" dirty="0">
                <a:latin typeface="Arial" charset="0"/>
                <a:cs typeface="Arial" charset="0"/>
              </a:rPr>
              <a:t> </a:t>
            </a:r>
            <a:r>
              <a:rPr lang="en-US" sz="2500" dirty="0" err="1">
                <a:latin typeface="Arial" charset="0"/>
                <a:cs typeface="Arial" charset="0"/>
              </a:rPr>
              <a:t>cho</a:t>
            </a:r>
            <a:r>
              <a:rPr lang="en-US" sz="2500" dirty="0">
                <a:latin typeface="Arial" charset="0"/>
                <a:cs typeface="Arial" charset="0"/>
              </a:rPr>
              <a:t> </a:t>
            </a:r>
            <a:r>
              <a:rPr lang="en-US" sz="2500" dirty="0" err="1">
                <a:latin typeface="Arial" charset="0"/>
                <a:cs typeface="Arial" charset="0"/>
              </a:rPr>
              <a:t>các</a:t>
            </a:r>
            <a:r>
              <a:rPr lang="en-US" sz="2500" dirty="0">
                <a:latin typeface="Arial" charset="0"/>
                <a:cs typeface="Arial" charset="0"/>
              </a:rPr>
              <a:t> </a:t>
            </a:r>
            <a:r>
              <a:rPr lang="en-US" sz="2500" dirty="0" err="1">
                <a:latin typeface="Arial" charset="0"/>
                <a:cs typeface="Arial" charset="0"/>
              </a:rPr>
              <a:t>gói</a:t>
            </a:r>
            <a:r>
              <a:rPr lang="en-US" sz="2500" dirty="0">
                <a:latin typeface="Arial" charset="0"/>
                <a:cs typeface="Arial" charset="0"/>
              </a:rPr>
              <a:t> tin </a:t>
            </a:r>
            <a:r>
              <a:rPr lang="en-US" sz="2500" dirty="0" err="1">
                <a:latin typeface="Arial" charset="0"/>
                <a:cs typeface="Arial" charset="0"/>
              </a:rPr>
              <a:t>hướng</a:t>
            </a:r>
            <a:r>
              <a:rPr lang="en-US" sz="2500" dirty="0">
                <a:latin typeface="Arial" charset="0"/>
                <a:cs typeface="Arial" charset="0"/>
              </a:rPr>
              <a:t> </a:t>
            </a:r>
            <a:r>
              <a:rPr lang="en-US" sz="2500" dirty="0" err="1">
                <a:latin typeface="Arial" charset="0"/>
                <a:cs typeface="Arial" charset="0"/>
              </a:rPr>
              <a:t>ra</a:t>
            </a:r>
            <a:r>
              <a:rPr lang="en-US" sz="2500" dirty="0">
                <a:latin typeface="Arial" charset="0"/>
                <a:cs typeface="Arial" charset="0"/>
              </a:rPr>
              <a:t> </a:t>
            </a:r>
            <a:r>
              <a:rPr lang="en-US" sz="2500" dirty="0" err="1">
                <a:latin typeface="Arial" charset="0"/>
                <a:cs typeface="Arial" charset="0"/>
              </a:rPr>
              <a:t>mạng</a:t>
            </a:r>
            <a:r>
              <a:rPr lang="en-US" sz="2500" dirty="0">
                <a:latin typeface="Arial" charset="0"/>
                <a:cs typeface="Arial" charset="0"/>
              </a:rPr>
              <a:t> </a:t>
            </a:r>
            <a:r>
              <a:rPr lang="en-US" sz="2500" dirty="0" err="1">
                <a:latin typeface="Arial" charset="0"/>
                <a:cs typeface="Arial" charset="0"/>
              </a:rPr>
              <a:t>bên</a:t>
            </a:r>
            <a:r>
              <a:rPr lang="en-US" sz="2500" dirty="0">
                <a:latin typeface="Arial" charset="0"/>
                <a:cs typeface="Arial" charset="0"/>
              </a:rPr>
              <a:t> </a:t>
            </a:r>
            <a:r>
              <a:rPr lang="en-US" sz="2500" dirty="0" err="1">
                <a:latin typeface="Arial" charset="0"/>
                <a:cs typeface="Arial" charset="0"/>
              </a:rPr>
              <a:t>ngoài</a:t>
            </a:r>
            <a:r>
              <a:rPr lang="en-US" sz="2500" dirty="0">
                <a:latin typeface="Arial" charset="0"/>
                <a:cs typeface="Arial" charset="0"/>
              </a:rPr>
              <a:t>.</a:t>
            </a:r>
          </a:p>
          <a:p>
            <a:pPr>
              <a:lnSpc>
                <a:spcPct val="80000"/>
              </a:lnSpc>
              <a:spcBef>
                <a:spcPts val="1200"/>
              </a:spcBef>
            </a:pPr>
            <a:r>
              <a:rPr lang="en-US" sz="2500" dirty="0" err="1">
                <a:latin typeface="Arial" charset="0"/>
                <a:cs typeface="Arial" charset="0"/>
              </a:rPr>
              <a:t>Hoạt</a:t>
            </a:r>
            <a:r>
              <a:rPr lang="en-US" sz="2500" dirty="0">
                <a:latin typeface="Arial" charset="0"/>
                <a:cs typeface="Arial" charset="0"/>
              </a:rPr>
              <a:t> </a:t>
            </a:r>
            <a:r>
              <a:rPr lang="en-US" sz="2500" dirty="0" err="1">
                <a:latin typeface="Arial" charset="0"/>
                <a:cs typeface="Arial" charset="0"/>
              </a:rPr>
              <a:t>động</a:t>
            </a:r>
            <a:r>
              <a:rPr lang="en-US" sz="2500" dirty="0">
                <a:latin typeface="Arial" charset="0"/>
                <a:cs typeface="Arial" charset="0"/>
              </a:rPr>
              <a:t> </a:t>
            </a:r>
            <a:r>
              <a:rPr lang="en-US" sz="2500" dirty="0" err="1">
                <a:latin typeface="Arial" charset="0"/>
                <a:cs typeface="Arial" charset="0"/>
              </a:rPr>
              <a:t>chủ</a:t>
            </a:r>
            <a:r>
              <a:rPr lang="en-US" sz="2500" dirty="0">
                <a:latin typeface="Arial" charset="0"/>
                <a:cs typeface="Arial" charset="0"/>
              </a:rPr>
              <a:t> </a:t>
            </a:r>
            <a:r>
              <a:rPr lang="en-US" sz="2500" dirty="0" err="1">
                <a:latin typeface="Arial" charset="0"/>
                <a:cs typeface="Arial" charset="0"/>
              </a:rPr>
              <a:t>yếu</a:t>
            </a:r>
            <a:r>
              <a:rPr lang="en-US" sz="2500" dirty="0">
                <a:latin typeface="Arial" charset="0"/>
                <a:cs typeface="Arial" charset="0"/>
              </a:rPr>
              <a:t> ở </a:t>
            </a:r>
            <a:r>
              <a:rPr lang="en-US" sz="2500" dirty="0" err="1">
                <a:latin typeface="Arial" charset="0"/>
                <a:cs typeface="Arial" charset="0"/>
              </a:rPr>
              <a:t>lớp</a:t>
            </a:r>
            <a:r>
              <a:rPr lang="en-US" sz="2500" dirty="0">
                <a:latin typeface="Arial" charset="0"/>
                <a:cs typeface="Arial" charset="0"/>
              </a:rPr>
              <a:t> Network.</a:t>
            </a:r>
          </a:p>
          <a:p>
            <a:pPr>
              <a:lnSpc>
                <a:spcPct val="80000"/>
              </a:lnSpc>
              <a:spcBef>
                <a:spcPts val="1200"/>
              </a:spcBef>
            </a:pPr>
            <a:r>
              <a:rPr lang="en-US" sz="2500" dirty="0" err="1">
                <a:latin typeface="Arial" charset="0"/>
                <a:cs typeface="Arial" charset="0"/>
              </a:rPr>
              <a:t>Có</a:t>
            </a:r>
            <a:r>
              <a:rPr lang="en-US" sz="2500" dirty="0">
                <a:latin typeface="Arial" charset="0"/>
                <a:cs typeface="Arial" charset="0"/>
              </a:rPr>
              <a:t> 2 </a:t>
            </a:r>
            <a:r>
              <a:rPr lang="en-US" sz="2500" dirty="0" err="1">
                <a:latin typeface="Arial" charset="0"/>
                <a:cs typeface="Arial" charset="0"/>
              </a:rPr>
              <a:t>phương</a:t>
            </a:r>
            <a:r>
              <a:rPr lang="en-US" sz="2500" dirty="0">
                <a:latin typeface="Arial" charset="0"/>
                <a:cs typeface="Arial" charset="0"/>
              </a:rPr>
              <a:t> </a:t>
            </a:r>
            <a:r>
              <a:rPr lang="en-US" sz="2500" dirty="0" err="1">
                <a:latin typeface="Arial" charset="0"/>
                <a:cs typeface="Arial" charset="0"/>
              </a:rPr>
              <a:t>thức</a:t>
            </a:r>
            <a:r>
              <a:rPr lang="en-US" sz="2500" dirty="0">
                <a:latin typeface="Arial" charset="0"/>
                <a:cs typeface="Arial" charset="0"/>
              </a:rPr>
              <a:t> </a:t>
            </a:r>
            <a:r>
              <a:rPr lang="en-US" sz="2500" dirty="0" err="1">
                <a:latin typeface="Arial" charset="0"/>
                <a:cs typeface="Arial" charset="0"/>
              </a:rPr>
              <a:t>định</a:t>
            </a:r>
            <a:r>
              <a:rPr lang="en-US" sz="2500" dirty="0">
                <a:latin typeface="Arial" charset="0"/>
                <a:cs typeface="Arial" charset="0"/>
              </a:rPr>
              <a:t> </a:t>
            </a:r>
            <a:r>
              <a:rPr lang="en-US" sz="2500" dirty="0" err="1">
                <a:latin typeface="Arial" charset="0"/>
                <a:cs typeface="Arial" charset="0"/>
              </a:rPr>
              <a:t>tuyến</a:t>
            </a:r>
            <a:r>
              <a:rPr lang="en-US" sz="2500" dirty="0">
                <a:latin typeface="Arial" charset="0"/>
                <a:cs typeface="Arial" charset="0"/>
              </a:rPr>
              <a:t> </a:t>
            </a:r>
            <a:r>
              <a:rPr lang="en-US" sz="2500" dirty="0" err="1">
                <a:latin typeface="Arial" charset="0"/>
                <a:cs typeface="Arial" charset="0"/>
              </a:rPr>
              <a:t>chính</a:t>
            </a:r>
            <a:r>
              <a:rPr lang="en-US" sz="2500" dirty="0">
                <a:latin typeface="Arial" charset="0"/>
                <a:cs typeface="Arial" charset="0"/>
              </a:rPr>
              <a:t>:</a:t>
            </a:r>
          </a:p>
          <a:p>
            <a:pPr lvl="1">
              <a:lnSpc>
                <a:spcPct val="80000"/>
              </a:lnSpc>
              <a:spcBef>
                <a:spcPts val="1200"/>
              </a:spcBef>
            </a:pPr>
            <a:r>
              <a:rPr lang="en-US" sz="2500" dirty="0" err="1">
                <a:latin typeface="Arial" charset="0"/>
                <a:cs typeface="Arial" charset="0"/>
              </a:rPr>
              <a:t>Định</a:t>
            </a:r>
            <a:r>
              <a:rPr lang="en-US" sz="2500" dirty="0">
                <a:latin typeface="Arial" charset="0"/>
                <a:cs typeface="Arial" charset="0"/>
              </a:rPr>
              <a:t> </a:t>
            </a:r>
            <a:r>
              <a:rPr lang="en-US" sz="2500" dirty="0" err="1">
                <a:latin typeface="Arial" charset="0"/>
                <a:cs typeface="Arial" charset="0"/>
              </a:rPr>
              <a:t>tuyến</a:t>
            </a:r>
            <a:r>
              <a:rPr lang="en-US" sz="2500" dirty="0">
                <a:latin typeface="Arial" charset="0"/>
                <a:cs typeface="Arial" charset="0"/>
              </a:rPr>
              <a:t> </a:t>
            </a:r>
            <a:r>
              <a:rPr lang="en-US" sz="2500" dirty="0" err="1">
                <a:latin typeface="Arial" charset="0"/>
                <a:cs typeface="Arial" charset="0"/>
              </a:rPr>
              <a:t>tĩnh</a:t>
            </a:r>
            <a:r>
              <a:rPr lang="en-US" sz="2500" dirty="0">
                <a:latin typeface="Arial" charset="0"/>
                <a:cs typeface="Arial" charset="0"/>
              </a:rPr>
              <a:t>: </a:t>
            </a:r>
            <a:r>
              <a:rPr lang="en-US" sz="2500" dirty="0" err="1">
                <a:latin typeface="Arial" charset="0"/>
                <a:cs typeface="Arial" charset="0"/>
              </a:rPr>
              <a:t>cấu</a:t>
            </a:r>
            <a:r>
              <a:rPr lang="en-US" sz="2500" dirty="0">
                <a:latin typeface="Arial" charset="0"/>
                <a:cs typeface="Arial" charset="0"/>
              </a:rPr>
              <a:t> </a:t>
            </a:r>
            <a:r>
              <a:rPr lang="en-US" sz="2500" dirty="0" err="1">
                <a:latin typeface="Arial" charset="0"/>
                <a:cs typeface="Arial" charset="0"/>
              </a:rPr>
              <a:t>hình</a:t>
            </a:r>
            <a:r>
              <a:rPr lang="en-US" sz="2500" dirty="0">
                <a:latin typeface="Arial" charset="0"/>
                <a:cs typeface="Arial" charset="0"/>
              </a:rPr>
              <a:t> </a:t>
            </a:r>
            <a:r>
              <a:rPr lang="en-US" sz="2500" dirty="0" err="1">
                <a:latin typeface="Arial" charset="0"/>
                <a:cs typeface="Arial" charset="0"/>
              </a:rPr>
              <a:t>các</a:t>
            </a:r>
            <a:r>
              <a:rPr lang="en-US" sz="2500" dirty="0">
                <a:latin typeface="Arial" charset="0"/>
                <a:cs typeface="Arial" charset="0"/>
              </a:rPr>
              <a:t> </a:t>
            </a:r>
            <a:r>
              <a:rPr lang="en-US" sz="2500" dirty="0" err="1">
                <a:latin typeface="Arial" charset="0"/>
                <a:cs typeface="Arial" charset="0"/>
              </a:rPr>
              <a:t>đường</a:t>
            </a:r>
            <a:r>
              <a:rPr lang="en-US" sz="2500" dirty="0">
                <a:latin typeface="Arial" charset="0"/>
                <a:cs typeface="Arial" charset="0"/>
              </a:rPr>
              <a:t> </a:t>
            </a:r>
            <a:r>
              <a:rPr lang="en-US" sz="2500" dirty="0" err="1">
                <a:latin typeface="Arial" charset="0"/>
                <a:cs typeface="Arial" charset="0"/>
              </a:rPr>
              <a:t>cố</a:t>
            </a:r>
            <a:r>
              <a:rPr lang="en-US" sz="2500" dirty="0">
                <a:latin typeface="Arial" charset="0"/>
                <a:cs typeface="Arial" charset="0"/>
              </a:rPr>
              <a:t> </a:t>
            </a:r>
            <a:r>
              <a:rPr lang="en-US" sz="2500" dirty="0" err="1">
                <a:latin typeface="Arial" charset="0"/>
                <a:cs typeface="Arial" charset="0"/>
              </a:rPr>
              <a:t>định</a:t>
            </a:r>
            <a:r>
              <a:rPr lang="en-US" sz="2500" dirty="0">
                <a:latin typeface="Arial" charset="0"/>
                <a:cs typeface="Arial" charset="0"/>
              </a:rPr>
              <a:t> </a:t>
            </a:r>
            <a:r>
              <a:rPr lang="en-US" sz="2500" dirty="0" err="1">
                <a:latin typeface="Arial" charset="0"/>
                <a:cs typeface="Arial" charset="0"/>
              </a:rPr>
              <a:t>và</a:t>
            </a:r>
            <a:r>
              <a:rPr lang="en-US" sz="2500" dirty="0">
                <a:latin typeface="Arial" charset="0"/>
                <a:cs typeface="Arial" charset="0"/>
              </a:rPr>
              <a:t> </a:t>
            </a:r>
            <a:r>
              <a:rPr lang="en-US" sz="2500" dirty="0" err="1">
                <a:latin typeface="Arial" charset="0"/>
                <a:cs typeface="Arial" charset="0"/>
              </a:rPr>
              <a:t>cài</a:t>
            </a:r>
            <a:r>
              <a:rPr lang="en-US" sz="2500" dirty="0">
                <a:latin typeface="Arial" charset="0"/>
                <a:cs typeface="Arial" charset="0"/>
              </a:rPr>
              <a:t> </a:t>
            </a:r>
            <a:r>
              <a:rPr lang="en-US" sz="2500" dirty="0" err="1">
                <a:latin typeface="Arial" charset="0"/>
                <a:cs typeface="Arial" charset="0"/>
              </a:rPr>
              <a:t>đặt</a:t>
            </a:r>
            <a:r>
              <a:rPr lang="en-US" sz="2500" dirty="0">
                <a:latin typeface="Arial" charset="0"/>
                <a:cs typeface="Arial" charset="0"/>
              </a:rPr>
              <a:t> </a:t>
            </a:r>
            <a:r>
              <a:rPr lang="en-US" sz="2500" dirty="0" err="1">
                <a:latin typeface="Arial" charset="0"/>
                <a:cs typeface="Arial" charset="0"/>
              </a:rPr>
              <a:t>các</a:t>
            </a:r>
            <a:r>
              <a:rPr lang="en-US" sz="2500" dirty="0">
                <a:latin typeface="Arial" charset="0"/>
                <a:cs typeface="Arial" charset="0"/>
              </a:rPr>
              <a:t> </a:t>
            </a:r>
            <a:r>
              <a:rPr lang="en-US" sz="2500" dirty="0" err="1">
                <a:latin typeface="Arial" charset="0"/>
                <a:cs typeface="Arial" charset="0"/>
              </a:rPr>
              <a:t>đường</a:t>
            </a:r>
            <a:r>
              <a:rPr lang="en-US" sz="2500" dirty="0">
                <a:latin typeface="Arial" charset="0"/>
                <a:cs typeface="Arial" charset="0"/>
              </a:rPr>
              <a:t> </a:t>
            </a:r>
            <a:r>
              <a:rPr lang="en-US" sz="2500" dirty="0" err="1">
                <a:latin typeface="Arial" charset="0"/>
                <a:cs typeface="Arial" charset="0"/>
              </a:rPr>
              <a:t>đi</a:t>
            </a:r>
            <a:r>
              <a:rPr lang="en-US" sz="2500" dirty="0">
                <a:latin typeface="Arial" charset="0"/>
                <a:cs typeface="Arial" charset="0"/>
              </a:rPr>
              <a:t> </a:t>
            </a:r>
            <a:r>
              <a:rPr lang="en-US" sz="2500" dirty="0" err="1">
                <a:latin typeface="Arial" charset="0"/>
                <a:cs typeface="Arial" charset="0"/>
              </a:rPr>
              <a:t>này</a:t>
            </a:r>
            <a:r>
              <a:rPr lang="en-US" sz="2500" dirty="0">
                <a:latin typeface="Arial" charset="0"/>
                <a:cs typeface="Arial" charset="0"/>
              </a:rPr>
              <a:t> </a:t>
            </a:r>
            <a:r>
              <a:rPr lang="en-US" sz="2500" dirty="0" err="1">
                <a:latin typeface="Arial" charset="0"/>
                <a:cs typeface="Arial" charset="0"/>
              </a:rPr>
              <a:t>vào</a:t>
            </a:r>
            <a:r>
              <a:rPr lang="en-US" sz="2500" dirty="0">
                <a:latin typeface="Arial" charset="0"/>
                <a:cs typeface="Arial" charset="0"/>
              </a:rPr>
              <a:t> </a:t>
            </a:r>
            <a:r>
              <a:rPr lang="en-US" sz="2500" dirty="0" err="1">
                <a:latin typeface="Arial" charset="0"/>
                <a:cs typeface="Arial" charset="0"/>
              </a:rPr>
              <a:t>bảng</a:t>
            </a:r>
            <a:r>
              <a:rPr lang="en-US" sz="2500" dirty="0">
                <a:latin typeface="Arial" charset="0"/>
                <a:cs typeface="Arial" charset="0"/>
              </a:rPr>
              <a:t> </a:t>
            </a:r>
            <a:r>
              <a:rPr lang="en-US" sz="2500" dirty="0" err="1">
                <a:latin typeface="Arial" charset="0"/>
                <a:cs typeface="Arial" charset="0"/>
              </a:rPr>
              <a:t>định</a:t>
            </a:r>
            <a:r>
              <a:rPr lang="en-US" sz="2500" dirty="0">
                <a:latin typeface="Arial" charset="0"/>
                <a:cs typeface="Arial" charset="0"/>
              </a:rPr>
              <a:t> </a:t>
            </a:r>
            <a:r>
              <a:rPr lang="en-US" sz="2500" dirty="0" err="1">
                <a:latin typeface="Arial" charset="0"/>
                <a:cs typeface="Arial" charset="0"/>
              </a:rPr>
              <a:t>tuyến</a:t>
            </a:r>
            <a:r>
              <a:rPr lang="en-US" sz="2500" dirty="0">
                <a:latin typeface="Arial" charset="0"/>
                <a:cs typeface="Arial" charset="0"/>
              </a:rPr>
              <a:t>.</a:t>
            </a:r>
          </a:p>
          <a:p>
            <a:pPr lvl="1">
              <a:lnSpc>
                <a:spcPct val="80000"/>
              </a:lnSpc>
              <a:spcBef>
                <a:spcPts val="1200"/>
              </a:spcBef>
            </a:pPr>
            <a:r>
              <a:rPr lang="en-US" sz="2500" dirty="0" err="1">
                <a:latin typeface="Arial" charset="0"/>
                <a:cs typeface="Arial" charset="0"/>
              </a:rPr>
              <a:t>Định</a:t>
            </a:r>
            <a:r>
              <a:rPr lang="en-US" sz="2500" dirty="0">
                <a:latin typeface="Arial" charset="0"/>
                <a:cs typeface="Arial" charset="0"/>
              </a:rPr>
              <a:t> </a:t>
            </a:r>
            <a:r>
              <a:rPr lang="en-US" sz="2500" dirty="0" err="1">
                <a:latin typeface="Arial" charset="0"/>
                <a:cs typeface="Arial" charset="0"/>
              </a:rPr>
              <a:t>tuyến</a:t>
            </a:r>
            <a:r>
              <a:rPr lang="en-US" sz="2500" dirty="0">
                <a:latin typeface="Arial" charset="0"/>
                <a:cs typeface="Arial" charset="0"/>
              </a:rPr>
              <a:t> </a:t>
            </a:r>
            <a:r>
              <a:rPr lang="en-US" sz="2500" dirty="0" err="1">
                <a:latin typeface="Arial" charset="0"/>
                <a:cs typeface="Arial" charset="0"/>
              </a:rPr>
              <a:t>động</a:t>
            </a:r>
            <a:r>
              <a:rPr lang="en-US" sz="2500" dirty="0">
                <a:latin typeface="Arial" charset="0"/>
                <a:cs typeface="Arial" charset="0"/>
              </a:rPr>
              <a:t>:</a:t>
            </a:r>
          </a:p>
          <a:p>
            <a:pPr lvl="2">
              <a:lnSpc>
                <a:spcPct val="80000"/>
              </a:lnSpc>
              <a:spcBef>
                <a:spcPts val="1200"/>
              </a:spcBef>
            </a:pPr>
            <a:r>
              <a:rPr lang="en-US" sz="2500" dirty="0" err="1">
                <a:latin typeface="Arial" charset="0"/>
                <a:cs typeface="Arial" charset="0"/>
              </a:rPr>
              <a:t>Vectơ</a:t>
            </a:r>
            <a:r>
              <a:rPr lang="en-US" sz="2500" dirty="0">
                <a:latin typeface="Arial" charset="0"/>
                <a:cs typeface="Arial" charset="0"/>
              </a:rPr>
              <a:t> </a:t>
            </a:r>
            <a:r>
              <a:rPr lang="en-US" sz="2500" dirty="0" err="1">
                <a:latin typeface="Arial" charset="0"/>
                <a:cs typeface="Arial" charset="0"/>
              </a:rPr>
              <a:t>khoảng</a:t>
            </a:r>
            <a:r>
              <a:rPr lang="en-US" sz="2500" dirty="0">
                <a:latin typeface="Arial" charset="0"/>
                <a:cs typeface="Arial" charset="0"/>
              </a:rPr>
              <a:t> </a:t>
            </a:r>
            <a:r>
              <a:rPr lang="en-US" sz="2500" dirty="0" err="1">
                <a:latin typeface="Arial" charset="0"/>
                <a:cs typeface="Arial" charset="0"/>
              </a:rPr>
              <a:t>cách</a:t>
            </a:r>
            <a:r>
              <a:rPr lang="en-US" sz="2500" dirty="0">
                <a:latin typeface="Arial" charset="0"/>
                <a:cs typeface="Arial" charset="0"/>
              </a:rPr>
              <a:t>: RIP, IGRP, EIGRP, BGP</a:t>
            </a:r>
          </a:p>
          <a:p>
            <a:pPr lvl="2">
              <a:lnSpc>
                <a:spcPct val="80000"/>
              </a:lnSpc>
              <a:spcBef>
                <a:spcPts val="1200"/>
              </a:spcBef>
            </a:pPr>
            <a:r>
              <a:rPr lang="en-US" sz="2500" dirty="0" err="1">
                <a:latin typeface="Arial" charset="0"/>
                <a:cs typeface="Arial" charset="0"/>
              </a:rPr>
              <a:t>Trạng</a:t>
            </a:r>
            <a:r>
              <a:rPr lang="en-US" sz="2500" dirty="0">
                <a:latin typeface="Arial" charset="0"/>
                <a:cs typeface="Arial" charset="0"/>
              </a:rPr>
              <a:t> </a:t>
            </a:r>
            <a:r>
              <a:rPr lang="en-US" sz="2500" dirty="0" err="1">
                <a:latin typeface="Arial" charset="0"/>
                <a:cs typeface="Arial" charset="0"/>
              </a:rPr>
              <a:t>thái</a:t>
            </a:r>
            <a:r>
              <a:rPr lang="en-US" sz="2500" dirty="0">
                <a:latin typeface="Arial" charset="0"/>
                <a:cs typeface="Arial" charset="0"/>
              </a:rPr>
              <a:t> </a:t>
            </a:r>
            <a:r>
              <a:rPr lang="en-US" sz="2500" dirty="0" err="1">
                <a:latin typeface="Arial" charset="0"/>
                <a:cs typeface="Arial" charset="0"/>
              </a:rPr>
              <a:t>đường</a:t>
            </a:r>
            <a:r>
              <a:rPr lang="en-US" sz="2500" dirty="0">
                <a:latin typeface="Arial" charset="0"/>
                <a:cs typeface="Arial" charset="0"/>
              </a:rPr>
              <a:t> </a:t>
            </a:r>
            <a:r>
              <a:rPr lang="en-US" sz="2500" dirty="0" err="1">
                <a:latin typeface="Arial" charset="0"/>
                <a:cs typeface="Arial" charset="0"/>
              </a:rPr>
              <a:t>liên</a:t>
            </a:r>
            <a:r>
              <a:rPr lang="en-US" sz="2500" dirty="0">
                <a:latin typeface="Arial" charset="0"/>
                <a:cs typeface="Arial" charset="0"/>
              </a:rPr>
              <a:t> </a:t>
            </a:r>
            <a:r>
              <a:rPr lang="en-US" sz="2500" dirty="0" err="1">
                <a:latin typeface="Arial" charset="0"/>
                <a:cs typeface="Arial" charset="0"/>
              </a:rPr>
              <a:t>kết</a:t>
            </a:r>
            <a:r>
              <a:rPr lang="en-US" sz="2500" dirty="0">
                <a:latin typeface="Arial" charset="0"/>
                <a:cs typeface="Arial" charset="0"/>
              </a:rPr>
              <a:t>: OSPF</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543A24A5-49A7-4F02-B050-B1A295B131C1}" type="slidenum">
              <a:rPr lang="en-US"/>
              <a:pPr>
                <a:defRPr/>
              </a:pPr>
              <a:t>71</a:t>
            </a:fld>
            <a:endParaRPr lang="en-US"/>
          </a:p>
        </p:txBody>
      </p:sp>
      <p:sp>
        <p:nvSpPr>
          <p:cNvPr id="2" name="Title 1"/>
          <p:cNvSpPr>
            <a:spLocks noGrp="1"/>
          </p:cNvSpPr>
          <p:nvPr>
            <p:ph type="title"/>
          </p:nvPr>
        </p:nvSpPr>
        <p:spPr/>
        <p:txBody>
          <a:bodyPr/>
          <a:lstStyle/>
          <a:p>
            <a:r>
              <a:rPr lang="en-US" dirty="0"/>
              <a:t>VIII.7 ROUTER (BỘ ĐỊNH TUYẾN)</a:t>
            </a:r>
          </a:p>
        </p:txBody>
      </p:sp>
    </p:spTree>
    <p:extLst>
      <p:ext uri="{BB962C8B-B14F-4D97-AF65-F5344CB8AC3E}">
        <p14:creationId xmlns:p14="http://schemas.microsoft.com/office/powerpoint/2010/main" val="142383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72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72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728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728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728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728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2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1ADB5261-2A4A-451B-8FE6-56871B374152}" type="slidenum">
              <a:rPr lang="en-US"/>
              <a:pPr>
                <a:defRPr/>
              </a:pPr>
              <a:t>72</a:t>
            </a:fld>
            <a:endParaRPr lang="en-US"/>
          </a:p>
        </p:txBody>
      </p:sp>
      <p:pic>
        <p:nvPicPr>
          <p:cNvPr id="98308" name="Picture 4" descr="ro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981200"/>
            <a:ext cx="266700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09" name="Picture 5" descr="router interfac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752601"/>
            <a:ext cx="518160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10" name="Picture 6" descr="router noi ma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114800"/>
            <a:ext cx="7543800"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VIII.7 ROUTER (BỘ ĐỊNH TUYẾN)</a:t>
            </a:r>
          </a:p>
        </p:txBody>
      </p:sp>
    </p:spTree>
    <p:extLst>
      <p:ext uri="{BB962C8B-B14F-4D97-AF65-F5344CB8AC3E}">
        <p14:creationId xmlns:p14="http://schemas.microsoft.com/office/powerpoint/2010/main" val="6149930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p:cNvSpPr>
            <a:spLocks noGrp="1" noChangeArrowheads="1"/>
          </p:cNvSpPr>
          <p:nvPr>
            <p:ph idx="1"/>
          </p:nvPr>
        </p:nvSpPr>
        <p:spPr>
          <a:xfrm>
            <a:off x="1981200" y="1600201"/>
            <a:ext cx="6248400" cy="4532313"/>
          </a:xfrm>
        </p:spPr>
        <p:txBody>
          <a:bodyPr/>
          <a:lstStyle/>
          <a:p>
            <a:pPr eaLnBrk="1" hangingPunct="1"/>
            <a:r>
              <a:rPr lang="en-US" sz="2800" dirty="0" err="1">
                <a:latin typeface="Arial" charset="0"/>
                <a:cs typeface="Arial" charset="0"/>
              </a:rPr>
              <a:t>Thường</a:t>
            </a:r>
            <a:r>
              <a:rPr lang="en-US" sz="2800" dirty="0">
                <a:latin typeface="Arial" charset="0"/>
                <a:cs typeface="Arial" charset="0"/>
              </a:rPr>
              <a:t> </a:t>
            </a:r>
            <a:r>
              <a:rPr lang="en-US" sz="2800" dirty="0" err="1">
                <a:latin typeface="Arial" charset="0"/>
                <a:cs typeface="Arial" charset="0"/>
              </a:rPr>
              <a:t>dùng</a:t>
            </a:r>
            <a:r>
              <a:rPr lang="en-US" sz="2800" dirty="0">
                <a:latin typeface="Arial" charset="0"/>
                <a:cs typeface="Arial" charset="0"/>
              </a:rPr>
              <a:t> </a:t>
            </a:r>
            <a:r>
              <a:rPr lang="en-US" sz="2800" dirty="0" err="1">
                <a:latin typeface="Arial" charset="0"/>
                <a:cs typeface="Arial" charset="0"/>
              </a:rPr>
              <a:t>để</a:t>
            </a:r>
            <a:r>
              <a:rPr lang="en-US" sz="2800" dirty="0">
                <a:latin typeface="Arial" charset="0"/>
                <a:cs typeface="Arial" charset="0"/>
              </a:rPr>
              <a:t> </a:t>
            </a:r>
            <a:r>
              <a:rPr lang="en-US" sz="2800" dirty="0" err="1">
                <a:latin typeface="Arial" charset="0"/>
                <a:cs typeface="Arial" charset="0"/>
              </a:rPr>
              <a:t>kết</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 </a:t>
            </a:r>
            <a:r>
              <a:rPr lang="en-US" sz="2800" dirty="0" err="1">
                <a:latin typeface="Arial" charset="0"/>
                <a:cs typeface="Arial" charset="0"/>
              </a:rPr>
              <a:t>các</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không</a:t>
            </a:r>
            <a:r>
              <a:rPr lang="en-US" sz="2800" dirty="0">
                <a:latin typeface="Arial" charset="0"/>
                <a:cs typeface="Arial" charset="0"/>
              </a:rPr>
              <a:t> </a:t>
            </a:r>
            <a:r>
              <a:rPr lang="en-US" sz="2800" dirty="0" err="1">
                <a:latin typeface="Arial" charset="0"/>
                <a:cs typeface="Arial" charset="0"/>
              </a:rPr>
              <a:t>thuần</a:t>
            </a:r>
            <a:r>
              <a:rPr lang="en-US" sz="2800" dirty="0">
                <a:latin typeface="Arial" charset="0"/>
                <a:cs typeface="Arial" charset="0"/>
              </a:rPr>
              <a:t> </a:t>
            </a:r>
            <a:r>
              <a:rPr lang="en-US" sz="2800" dirty="0" err="1">
                <a:latin typeface="Arial" charset="0"/>
                <a:cs typeface="Arial" charset="0"/>
              </a:rPr>
              <a:t>nhất</a:t>
            </a:r>
            <a:r>
              <a:rPr lang="en-US" sz="2800" dirty="0">
                <a:latin typeface="Arial" charset="0"/>
                <a:cs typeface="Arial" charset="0"/>
              </a:rPr>
              <a:t>, </a:t>
            </a:r>
            <a:r>
              <a:rPr lang="en-US" sz="2800" dirty="0" err="1">
                <a:latin typeface="Arial" charset="0"/>
                <a:cs typeface="Arial" charset="0"/>
              </a:rPr>
              <a:t>chủ</a:t>
            </a:r>
            <a:r>
              <a:rPr lang="en-US" sz="2800" dirty="0">
                <a:latin typeface="Arial" charset="0"/>
                <a:cs typeface="Arial" charset="0"/>
              </a:rPr>
              <a:t> </a:t>
            </a:r>
            <a:r>
              <a:rPr lang="en-US" sz="2800" dirty="0" err="1">
                <a:latin typeface="Arial" charset="0"/>
                <a:cs typeface="Arial" charset="0"/>
              </a:rPr>
              <a:t>yếu</a:t>
            </a:r>
            <a:r>
              <a:rPr lang="en-US" sz="2800" dirty="0">
                <a:latin typeface="Arial" charset="0"/>
                <a:cs typeface="Arial" charset="0"/>
              </a:rPr>
              <a:t> </a:t>
            </a:r>
            <a:r>
              <a:rPr lang="en-US" sz="2800" dirty="0" err="1">
                <a:latin typeface="Arial" charset="0"/>
                <a:cs typeface="Arial" charset="0"/>
              </a:rPr>
              <a:t>là</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LAN </a:t>
            </a:r>
            <a:r>
              <a:rPr lang="en-US" sz="2800" dirty="0" err="1">
                <a:latin typeface="Arial" charset="0"/>
                <a:cs typeface="Arial" charset="0"/>
              </a:rPr>
              <a:t>với</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a:t>
            </a:r>
            <a:r>
              <a:rPr lang="en-US" sz="2800" dirty="0" err="1">
                <a:latin typeface="Arial" charset="0"/>
                <a:cs typeface="Arial" charset="0"/>
              </a:rPr>
              <a:t>lớn</a:t>
            </a:r>
            <a:r>
              <a:rPr lang="en-US" sz="2800" dirty="0">
                <a:latin typeface="Arial" charset="0"/>
                <a:cs typeface="Arial" charset="0"/>
              </a:rPr>
              <a:t> </a:t>
            </a:r>
            <a:r>
              <a:rPr lang="en-US" sz="2800" dirty="0" err="1">
                <a:latin typeface="Arial" charset="0"/>
                <a:cs typeface="Arial" charset="0"/>
              </a:rPr>
              <a:t>bên</a:t>
            </a:r>
            <a:r>
              <a:rPr lang="en-US" sz="2800" dirty="0">
                <a:latin typeface="Arial" charset="0"/>
                <a:cs typeface="Arial" charset="0"/>
              </a:rPr>
              <a:t> </a:t>
            </a:r>
            <a:r>
              <a:rPr lang="en-US" sz="2800" dirty="0" err="1">
                <a:latin typeface="Arial" charset="0"/>
                <a:cs typeface="Arial" charset="0"/>
              </a:rPr>
              <a:t>ngoài</a:t>
            </a:r>
            <a:r>
              <a:rPr lang="en-US" sz="2800" dirty="0">
                <a:latin typeface="Arial" charset="0"/>
                <a:cs typeface="Arial" charset="0"/>
              </a:rPr>
              <a:t> </a:t>
            </a:r>
            <a:r>
              <a:rPr lang="en-US" sz="2800" dirty="0" err="1">
                <a:latin typeface="Arial" charset="0"/>
                <a:cs typeface="Arial" charset="0"/>
              </a:rPr>
              <a:t>chứ</a:t>
            </a:r>
            <a:r>
              <a:rPr lang="en-US" sz="2800" dirty="0">
                <a:latin typeface="Arial" charset="0"/>
                <a:cs typeface="Arial" charset="0"/>
              </a:rPr>
              <a:t> </a:t>
            </a:r>
            <a:r>
              <a:rPr lang="en-US" sz="2800" dirty="0" err="1">
                <a:latin typeface="Arial" charset="0"/>
                <a:cs typeface="Arial" charset="0"/>
              </a:rPr>
              <a:t>không</a:t>
            </a:r>
            <a:r>
              <a:rPr lang="en-US" sz="2800" dirty="0">
                <a:latin typeface="Arial" charset="0"/>
                <a:cs typeface="Arial" charset="0"/>
              </a:rPr>
              <a:t> </a:t>
            </a:r>
            <a:r>
              <a:rPr lang="en-US" sz="2800" dirty="0" err="1">
                <a:latin typeface="Arial" charset="0"/>
                <a:cs typeface="Arial" charset="0"/>
              </a:rPr>
              <a:t>dùng</a:t>
            </a:r>
            <a:r>
              <a:rPr lang="en-US" sz="2800" dirty="0">
                <a:latin typeface="Arial" charset="0"/>
                <a:cs typeface="Arial" charset="0"/>
              </a:rPr>
              <a:t> </a:t>
            </a:r>
            <a:r>
              <a:rPr lang="en-US" sz="2800" dirty="0" err="1">
                <a:latin typeface="Arial" charset="0"/>
                <a:cs typeface="Arial" charset="0"/>
              </a:rPr>
              <a:t>kết</a:t>
            </a:r>
            <a:r>
              <a:rPr lang="en-US" sz="2800" dirty="0">
                <a:latin typeface="Arial" charset="0"/>
                <a:cs typeface="Arial" charset="0"/>
              </a:rPr>
              <a:t> </a:t>
            </a:r>
            <a:r>
              <a:rPr lang="en-US" sz="2800" dirty="0" err="1">
                <a:latin typeface="Arial" charset="0"/>
                <a:cs typeface="Arial" charset="0"/>
              </a:rPr>
              <a:t>nối</a:t>
            </a:r>
            <a:r>
              <a:rPr lang="en-US" sz="2800" dirty="0">
                <a:latin typeface="Arial" charset="0"/>
                <a:cs typeface="Arial" charset="0"/>
              </a:rPr>
              <a:t> LAN – LAN.</a:t>
            </a:r>
          </a:p>
          <a:p>
            <a:pPr eaLnBrk="1" hangingPunct="1"/>
            <a:r>
              <a:rPr lang="en-US" sz="2800" dirty="0" err="1">
                <a:latin typeface="Arial" charset="0"/>
                <a:cs typeface="Arial" charset="0"/>
              </a:rPr>
              <a:t>Kiểm</a:t>
            </a:r>
            <a:r>
              <a:rPr lang="en-US" sz="2800" dirty="0">
                <a:latin typeface="Arial" charset="0"/>
                <a:cs typeface="Arial" charset="0"/>
              </a:rPr>
              <a:t> </a:t>
            </a:r>
            <a:r>
              <a:rPr lang="en-US" sz="2800" dirty="0" err="1">
                <a:latin typeface="Arial" charset="0"/>
                <a:cs typeface="Arial" charset="0"/>
              </a:rPr>
              <a:t>soát</a:t>
            </a:r>
            <a:r>
              <a:rPr lang="en-US" sz="2800" dirty="0">
                <a:latin typeface="Arial" charset="0"/>
                <a:cs typeface="Arial" charset="0"/>
              </a:rPr>
              <a:t> </a:t>
            </a:r>
            <a:r>
              <a:rPr lang="en-US" sz="2800" dirty="0" err="1">
                <a:latin typeface="Arial" charset="0"/>
                <a:cs typeface="Arial" charset="0"/>
              </a:rPr>
              <a:t>luồng</a:t>
            </a:r>
            <a:r>
              <a:rPr lang="en-US" sz="2800" dirty="0">
                <a:latin typeface="Arial" charset="0"/>
                <a:cs typeface="Arial" charset="0"/>
              </a:rPr>
              <a:t> </a:t>
            </a:r>
            <a:r>
              <a:rPr lang="en-US" sz="2800" dirty="0" err="1">
                <a:latin typeface="Arial" charset="0"/>
                <a:cs typeface="Arial" charset="0"/>
              </a:rPr>
              <a:t>dữ</a:t>
            </a:r>
            <a:r>
              <a:rPr lang="en-US" sz="2800" dirty="0">
                <a:latin typeface="Arial" charset="0"/>
                <a:cs typeface="Arial" charset="0"/>
              </a:rPr>
              <a:t> </a:t>
            </a:r>
            <a:r>
              <a:rPr lang="en-US" sz="2800" dirty="0" err="1">
                <a:latin typeface="Arial" charset="0"/>
                <a:cs typeface="Arial" charset="0"/>
              </a:rPr>
              <a:t>liệu</a:t>
            </a:r>
            <a:r>
              <a:rPr lang="en-US" sz="2800" dirty="0">
                <a:latin typeface="Arial" charset="0"/>
                <a:cs typeface="Arial" charset="0"/>
              </a:rPr>
              <a:t> </a:t>
            </a:r>
            <a:r>
              <a:rPr lang="en-US" sz="2800" dirty="0" err="1">
                <a:latin typeface="Arial" charset="0"/>
                <a:cs typeface="Arial" charset="0"/>
              </a:rPr>
              <a:t>ra</a:t>
            </a:r>
            <a:r>
              <a:rPr lang="en-US" sz="2800" dirty="0">
                <a:latin typeface="Arial" charset="0"/>
                <a:cs typeface="Arial" charset="0"/>
              </a:rPr>
              <a:t> </a:t>
            </a:r>
            <a:r>
              <a:rPr lang="en-US" sz="2800" dirty="0" err="1">
                <a:latin typeface="Arial" charset="0"/>
                <a:cs typeface="Arial" charset="0"/>
              </a:rPr>
              <a:t>vào</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a:t>
            </a:r>
          </a:p>
          <a:p>
            <a:pPr eaLnBrk="1" hangingPunct="1"/>
            <a:r>
              <a:rPr lang="en-US" sz="2800" dirty="0" err="1">
                <a:latin typeface="Arial" charset="0"/>
                <a:cs typeface="Arial" charset="0"/>
              </a:rPr>
              <a:t>Hoạt</a:t>
            </a:r>
            <a:r>
              <a:rPr lang="en-US" sz="2800" dirty="0">
                <a:latin typeface="Arial" charset="0"/>
                <a:cs typeface="Arial" charset="0"/>
              </a:rPr>
              <a:t> </a:t>
            </a:r>
            <a:r>
              <a:rPr lang="en-US" sz="2800" dirty="0" err="1">
                <a:latin typeface="Arial" charset="0"/>
                <a:cs typeface="Arial" charset="0"/>
              </a:rPr>
              <a:t>động</a:t>
            </a:r>
            <a:r>
              <a:rPr lang="en-US" sz="2800" dirty="0">
                <a:latin typeface="Arial" charset="0"/>
                <a:cs typeface="Arial" charset="0"/>
              </a:rPr>
              <a:t> </a:t>
            </a:r>
            <a:r>
              <a:rPr lang="en-US" sz="2800" dirty="0" err="1">
                <a:latin typeface="Arial" charset="0"/>
                <a:cs typeface="Arial" charset="0"/>
              </a:rPr>
              <a:t>phức</a:t>
            </a:r>
            <a:r>
              <a:rPr lang="en-US" sz="2800" dirty="0">
                <a:latin typeface="Arial" charset="0"/>
                <a:cs typeface="Arial" charset="0"/>
              </a:rPr>
              <a:t> </a:t>
            </a:r>
            <a:r>
              <a:rPr lang="en-US" sz="2800" dirty="0" err="1">
                <a:latin typeface="Arial" charset="0"/>
                <a:cs typeface="Arial" charset="0"/>
              </a:rPr>
              <a:t>tạp</a:t>
            </a:r>
            <a:r>
              <a:rPr lang="en-US" sz="2800" dirty="0">
                <a:latin typeface="Arial" charset="0"/>
                <a:cs typeface="Arial" charset="0"/>
              </a:rPr>
              <a:t> </a:t>
            </a:r>
            <a:r>
              <a:rPr lang="en-US" sz="2800" dirty="0" err="1">
                <a:latin typeface="Arial" charset="0"/>
                <a:cs typeface="Arial" charset="0"/>
              </a:rPr>
              <a:t>và</a:t>
            </a:r>
            <a:r>
              <a:rPr lang="en-US" sz="2800" dirty="0">
                <a:latin typeface="Arial" charset="0"/>
                <a:cs typeface="Arial" charset="0"/>
              </a:rPr>
              <a:t> </a:t>
            </a:r>
            <a:r>
              <a:rPr lang="en-US" sz="2800" dirty="0" err="1">
                <a:latin typeface="Arial" charset="0"/>
                <a:cs typeface="Arial" charset="0"/>
              </a:rPr>
              <a:t>chậm</a:t>
            </a:r>
            <a:r>
              <a:rPr lang="en-US" sz="2800" dirty="0">
                <a:latin typeface="Arial" charset="0"/>
                <a:cs typeface="Arial" charset="0"/>
              </a:rPr>
              <a:t> </a:t>
            </a:r>
            <a:r>
              <a:rPr lang="en-US" sz="2800" dirty="0" err="1">
                <a:latin typeface="Arial" charset="0"/>
                <a:cs typeface="Arial" charset="0"/>
              </a:rPr>
              <a:t>hơn</a:t>
            </a:r>
            <a:r>
              <a:rPr lang="en-US" sz="2800" dirty="0">
                <a:latin typeface="Arial" charset="0"/>
                <a:cs typeface="Arial" charset="0"/>
              </a:rPr>
              <a:t> Router.</a:t>
            </a:r>
          </a:p>
          <a:p>
            <a:pPr eaLnBrk="1" hangingPunct="1"/>
            <a:r>
              <a:rPr lang="en-US" sz="2800" dirty="0" err="1">
                <a:latin typeface="Arial" charset="0"/>
                <a:cs typeface="Arial" charset="0"/>
              </a:rPr>
              <a:t>Hoạt</a:t>
            </a:r>
            <a:r>
              <a:rPr lang="en-US" sz="2800" dirty="0">
                <a:latin typeface="Arial" charset="0"/>
                <a:cs typeface="Arial" charset="0"/>
              </a:rPr>
              <a:t> </a:t>
            </a:r>
            <a:r>
              <a:rPr lang="en-US" sz="2800" dirty="0" err="1">
                <a:latin typeface="Arial" charset="0"/>
                <a:cs typeface="Arial" charset="0"/>
              </a:rPr>
              <a:t>động</a:t>
            </a:r>
            <a:r>
              <a:rPr lang="en-US" sz="2800" dirty="0">
                <a:latin typeface="Arial" charset="0"/>
                <a:cs typeface="Arial" charset="0"/>
              </a:rPr>
              <a:t> </a:t>
            </a:r>
            <a:r>
              <a:rPr lang="en-US" sz="2800" dirty="0" err="1">
                <a:latin typeface="Arial" charset="0"/>
                <a:cs typeface="Arial" charset="0"/>
              </a:rPr>
              <a:t>từ</a:t>
            </a:r>
            <a:r>
              <a:rPr lang="en-US" sz="2800" dirty="0">
                <a:latin typeface="Arial" charset="0"/>
                <a:cs typeface="Arial" charset="0"/>
              </a:rPr>
              <a:t> </a:t>
            </a:r>
            <a:r>
              <a:rPr lang="en-US" sz="2800" dirty="0" err="1">
                <a:latin typeface="Arial" charset="0"/>
                <a:cs typeface="Arial" charset="0"/>
              </a:rPr>
              <a:t>tầng</a:t>
            </a:r>
            <a:r>
              <a:rPr lang="en-US" sz="2800" dirty="0">
                <a:latin typeface="Arial" charset="0"/>
                <a:cs typeface="Arial" charset="0"/>
              </a:rPr>
              <a:t> </a:t>
            </a:r>
            <a:r>
              <a:rPr lang="en-US" sz="2800" dirty="0" err="1">
                <a:latin typeface="Arial" charset="0"/>
                <a:cs typeface="Arial" charset="0"/>
              </a:rPr>
              <a:t>thứ</a:t>
            </a:r>
            <a:r>
              <a:rPr lang="en-US" sz="2800" dirty="0">
                <a:latin typeface="Arial" charset="0"/>
                <a:cs typeface="Arial" charset="0"/>
              </a:rPr>
              <a:t> 4</a:t>
            </a:r>
            <a:r>
              <a:rPr lang="en-US" sz="2800" dirty="0">
                <a:latin typeface="Arial" charset="0"/>
                <a:cs typeface="Arial" charset="0"/>
                <a:sym typeface="Wingdings" pitchFamily="2" charset="2"/>
              </a:rPr>
              <a:t>7</a:t>
            </a:r>
            <a:endParaRPr lang="en-US" sz="2800" dirty="0">
              <a:latin typeface="Arial" charset="0"/>
              <a:cs typeface="Arial" charset="0"/>
            </a:endParaRPr>
          </a:p>
        </p:txBody>
      </p:sp>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67B0AF69-DF8A-4173-AE7F-4BF69E1ECB56}" type="slidenum">
              <a:rPr lang="en-US">
                <a:latin typeface="Arial" pitchFamily="34" charset="0"/>
                <a:cs typeface="Arial" pitchFamily="34" charset="0"/>
              </a:rPr>
              <a:pPr>
                <a:defRPr/>
              </a:pPr>
              <a:t>73</a:t>
            </a:fld>
            <a:endParaRPr lang="en-US">
              <a:latin typeface="Arial" pitchFamily="34" charset="0"/>
              <a:cs typeface="Arial" pitchFamily="34" charset="0"/>
            </a:endParaRPr>
          </a:p>
        </p:txBody>
      </p:sp>
      <p:pic>
        <p:nvPicPr>
          <p:cNvPr id="99333" name="Picture 4" descr="gatew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1" y="2514601"/>
            <a:ext cx="1895475"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VIII.8 GATEWAY (PROXY – CỔNG NỐI) </a:t>
            </a:r>
          </a:p>
        </p:txBody>
      </p:sp>
    </p:spTree>
    <p:extLst>
      <p:ext uri="{BB962C8B-B14F-4D97-AF65-F5344CB8AC3E}">
        <p14:creationId xmlns:p14="http://schemas.microsoft.com/office/powerpoint/2010/main" val="362395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3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93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IX. TOPO MẠNG</a:t>
            </a:r>
          </a:p>
        </p:txBody>
      </p:sp>
      <p:sp>
        <p:nvSpPr>
          <p:cNvPr id="3" name="Content Placeholder 2"/>
          <p:cNvSpPr>
            <a:spLocks noGrp="1"/>
          </p:cNvSpPr>
          <p:nvPr>
            <p:ph idx="1"/>
          </p:nvPr>
        </p:nvSpPr>
        <p:spPr/>
        <p:txBody>
          <a:bodyPr/>
          <a:lstStyle/>
          <a:p>
            <a:r>
              <a:rPr lang="en-US" dirty="0" err="1">
                <a:latin typeface="Arial" charset="0"/>
                <a:cs typeface="Arial" charset="0"/>
              </a:rPr>
              <a:t>Phương</a:t>
            </a:r>
            <a:r>
              <a:rPr lang="en-US" dirty="0">
                <a:latin typeface="Arial" charset="0"/>
                <a:cs typeface="Arial" charset="0"/>
              </a:rPr>
              <a:t> </a:t>
            </a:r>
            <a:r>
              <a:rPr lang="en-US" dirty="0" err="1">
                <a:latin typeface="Arial" charset="0"/>
                <a:cs typeface="Arial" charset="0"/>
              </a:rPr>
              <a:t>thức</a:t>
            </a:r>
            <a:r>
              <a:rPr lang="en-US" dirty="0">
                <a:latin typeface="Arial" charset="0"/>
                <a:cs typeface="Arial" charset="0"/>
              </a:rPr>
              <a:t> </a:t>
            </a:r>
            <a:r>
              <a:rPr lang="en-US" dirty="0" err="1">
                <a:latin typeface="Arial" charset="0"/>
                <a:cs typeface="Arial" charset="0"/>
              </a:rPr>
              <a:t>nối</a:t>
            </a:r>
            <a:r>
              <a:rPr lang="en-US" dirty="0">
                <a:latin typeface="Arial" charset="0"/>
                <a:cs typeface="Arial" charset="0"/>
              </a:rPr>
              <a:t> </a:t>
            </a:r>
            <a:r>
              <a:rPr lang="en-US" dirty="0" err="1">
                <a:latin typeface="Arial" charset="0"/>
                <a:cs typeface="Arial" charset="0"/>
              </a:rPr>
              <a:t>mạng</a:t>
            </a:r>
            <a:endParaRPr lang="en-US" dirty="0">
              <a:latin typeface="Arial" charset="0"/>
              <a:cs typeface="Arial" charset="0"/>
            </a:endParaRPr>
          </a:p>
          <a:p>
            <a:r>
              <a:rPr lang="en-US" dirty="0" err="1">
                <a:latin typeface="Arial" charset="0"/>
                <a:cs typeface="Arial" charset="0"/>
              </a:rPr>
              <a:t>Cấu</a:t>
            </a:r>
            <a:r>
              <a:rPr lang="en-US" dirty="0">
                <a:latin typeface="Arial" charset="0"/>
                <a:cs typeface="Arial" charset="0"/>
              </a:rPr>
              <a:t> </a:t>
            </a:r>
            <a:r>
              <a:rPr lang="en-US" dirty="0" err="1">
                <a:latin typeface="Arial" charset="0"/>
                <a:cs typeface="Arial" charset="0"/>
              </a:rPr>
              <a:t>trúc</a:t>
            </a:r>
            <a:r>
              <a:rPr lang="en-US" dirty="0">
                <a:latin typeface="Arial" charset="0"/>
                <a:cs typeface="Arial" charset="0"/>
              </a:rPr>
              <a:t> </a:t>
            </a:r>
            <a:r>
              <a:rPr lang="en-US" dirty="0" err="1">
                <a:latin typeface="Arial" charset="0"/>
                <a:cs typeface="Arial" charset="0"/>
              </a:rPr>
              <a:t>vật</a:t>
            </a:r>
            <a:r>
              <a:rPr lang="en-US" dirty="0">
                <a:latin typeface="Arial" charset="0"/>
                <a:cs typeface="Arial" charset="0"/>
              </a:rPr>
              <a:t> </a:t>
            </a:r>
            <a:r>
              <a:rPr lang="en-US" dirty="0" err="1">
                <a:latin typeface="Arial" charset="0"/>
                <a:cs typeface="Arial" charset="0"/>
              </a:rPr>
              <a:t>lý</a:t>
            </a:r>
            <a:r>
              <a:rPr lang="en-US" dirty="0">
                <a:latin typeface="Arial" charset="0"/>
                <a:cs typeface="Arial" charset="0"/>
              </a:rPr>
              <a:t> </a:t>
            </a:r>
            <a:r>
              <a:rPr lang="en-US" dirty="0" err="1">
                <a:latin typeface="Arial" charset="0"/>
                <a:cs typeface="Arial" charset="0"/>
              </a:rPr>
              <a:t>của</a:t>
            </a:r>
            <a:r>
              <a:rPr lang="en-US" dirty="0">
                <a:latin typeface="Arial" charset="0"/>
                <a:cs typeface="Arial" charset="0"/>
              </a:rPr>
              <a:t> </a:t>
            </a:r>
            <a:r>
              <a:rPr lang="en-US" dirty="0" err="1">
                <a:latin typeface="Arial" charset="0"/>
                <a:cs typeface="Arial" charset="0"/>
              </a:rPr>
              <a:t>mạng</a:t>
            </a:r>
            <a:endParaRPr lang="en-US" dirty="0">
              <a:latin typeface="Arial" charset="0"/>
              <a:cs typeface="Arial" charset="0"/>
            </a:endParaRPr>
          </a:p>
          <a:p>
            <a:endParaRPr lang="en-US" dirty="0"/>
          </a:p>
        </p:txBody>
      </p:sp>
    </p:spTree>
    <p:extLst>
      <p:ext uri="{BB962C8B-B14F-4D97-AF65-F5344CB8AC3E}">
        <p14:creationId xmlns:p14="http://schemas.microsoft.com/office/powerpoint/2010/main" val="35596969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4"/>
          <p:cNvSpPr>
            <a:spLocks noGrp="1" noChangeArrowheads="1"/>
          </p:cNvSpPr>
          <p:nvPr>
            <p:ph idx="1"/>
          </p:nvPr>
        </p:nvSpPr>
        <p:spPr>
          <a:xfrm>
            <a:off x="2209800" y="2590800"/>
            <a:ext cx="4495800" cy="3505200"/>
          </a:xfrm>
        </p:spPr>
        <p:txBody>
          <a:bodyPr/>
          <a:lstStyle/>
          <a:p>
            <a:pPr eaLnBrk="1" hangingPunct="1"/>
            <a:r>
              <a:rPr lang="en-US">
                <a:latin typeface="Arial" charset="0"/>
                <a:cs typeface="Arial" charset="0"/>
              </a:rPr>
              <a:t>Point-to-point (điểm – điểm): các đường truyền riêng biệt được thiết lập để nối các cặp máy tính lại với nhau. </a:t>
            </a:r>
          </a:p>
        </p:txBody>
      </p:sp>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1FDD9C36-D12B-41EA-81B2-EFC82D1366EC}" type="slidenum">
              <a:rPr lang="en-US">
                <a:latin typeface="Arial" pitchFamily="34" charset="0"/>
                <a:cs typeface="Arial" pitchFamily="34" charset="0"/>
              </a:rPr>
              <a:pPr>
                <a:defRPr/>
              </a:pPr>
              <a:t>75</a:t>
            </a:fld>
            <a:endParaRPr lang="en-US">
              <a:latin typeface="Arial" pitchFamily="34" charset="0"/>
              <a:cs typeface="Arial" pitchFamily="34" charset="0"/>
            </a:endParaRPr>
          </a:p>
        </p:txBody>
      </p:sp>
      <p:pic>
        <p:nvPicPr>
          <p:cNvPr id="5530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2590800"/>
            <a:ext cx="3017838"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IX.1 PHƯƠNG THỨC NỐI MẠNG</a:t>
            </a:r>
          </a:p>
        </p:txBody>
      </p:sp>
    </p:spTree>
    <p:extLst>
      <p:ext uri="{BB962C8B-B14F-4D97-AF65-F5344CB8AC3E}">
        <p14:creationId xmlns:p14="http://schemas.microsoft.com/office/powerpoint/2010/main" val="37016247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4"/>
          <p:cNvSpPr>
            <a:spLocks noGrp="1" noChangeArrowheads="1"/>
          </p:cNvSpPr>
          <p:nvPr>
            <p:ph idx="1"/>
          </p:nvPr>
        </p:nvSpPr>
        <p:spPr>
          <a:xfrm>
            <a:off x="2438400" y="2438400"/>
            <a:ext cx="7162800" cy="1676400"/>
          </a:xfrm>
        </p:spPr>
        <p:txBody>
          <a:bodyPr/>
          <a:lstStyle/>
          <a:p>
            <a:pPr eaLnBrk="1" hangingPunct="1"/>
            <a:r>
              <a:rPr lang="en-US" altLang="ja-JP">
                <a:latin typeface="Arial" charset="0"/>
                <a:cs typeface="Arial" charset="0"/>
              </a:rPr>
              <a:t>Broadcast </a:t>
            </a:r>
            <a:r>
              <a:rPr lang="en-US">
                <a:latin typeface="Arial" charset="0"/>
                <a:ea typeface="MS PGothic" pitchFamily="34" charset="-128"/>
                <a:cs typeface="Arial" charset="0"/>
              </a:rPr>
              <a:t>(một điểm - nhiều điểm): tất cả các trạm phân chia chung một đường truyền vật lý. </a:t>
            </a:r>
          </a:p>
        </p:txBody>
      </p:sp>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D1AF0914-01D3-4C14-A750-585226FC52CA}" type="slidenum">
              <a:rPr lang="en-US">
                <a:latin typeface="Arial" pitchFamily="34" charset="0"/>
                <a:cs typeface="Arial" pitchFamily="34" charset="0"/>
              </a:rPr>
              <a:pPr>
                <a:defRPr/>
              </a:pPr>
              <a:t>76</a:t>
            </a:fld>
            <a:endParaRPr lang="en-US">
              <a:latin typeface="Arial" pitchFamily="34" charset="0"/>
              <a:cs typeface="Arial" pitchFamily="34" charset="0"/>
            </a:endParaRPr>
          </a:p>
        </p:txBody>
      </p:sp>
      <p:pic>
        <p:nvPicPr>
          <p:cNvPr id="563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4267200"/>
            <a:ext cx="6096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IX.1 PHƯƠNG THỨC NỐI MẠNG</a:t>
            </a:r>
          </a:p>
        </p:txBody>
      </p:sp>
    </p:spTree>
    <p:extLst>
      <p:ext uri="{BB962C8B-B14F-4D97-AF65-F5344CB8AC3E}">
        <p14:creationId xmlns:p14="http://schemas.microsoft.com/office/powerpoint/2010/main" val="7123193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IX.1 PHƯƠNG THỨC NỐI MẠNG</a:t>
            </a:r>
          </a:p>
        </p:txBody>
      </p:sp>
      <p:sp>
        <p:nvSpPr>
          <p:cNvPr id="3" name="Content Placeholder 2"/>
          <p:cNvSpPr>
            <a:spLocks noGrp="1"/>
          </p:cNvSpPr>
          <p:nvPr>
            <p:ph idx="1"/>
          </p:nvPr>
        </p:nvSpPr>
        <p:spPr/>
        <p:txBody>
          <a:bodyPr/>
          <a:lstStyle/>
          <a:p>
            <a:r>
              <a:rPr lang="vi-VN" dirty="0"/>
              <a:t>Multicast là thuật ngữ được sử dụng để mô tả cách thức truyền tin được gửi từ 1 hoặc nhiều điểm đến 1 tập hợp các điểm khác</a:t>
            </a:r>
            <a:endParaRPr lang="en-US" dirty="0"/>
          </a:p>
        </p:txBody>
      </p:sp>
      <p:pic>
        <p:nvPicPr>
          <p:cNvPr id="1026" name="Picture 2" descr="Kết quả hình ảnh cho multica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7259" y="2257671"/>
            <a:ext cx="6229350" cy="3676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4711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IX.1 PHƯƠNG THỨC NỐI MẠNG</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751325" y="2270773"/>
            <a:ext cx="9474435" cy="2533047"/>
          </a:xfrm>
          <a:prstGeom prst="rect">
            <a:avLst/>
          </a:prstGeom>
        </p:spPr>
      </p:pic>
    </p:spTree>
    <p:extLst>
      <p:ext uri="{BB962C8B-B14F-4D97-AF65-F5344CB8AC3E}">
        <p14:creationId xmlns:p14="http://schemas.microsoft.com/office/powerpoint/2010/main" val="42565212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IX.2 CẤU TRÚC VẬT LÝ CỦA MẠNG</a:t>
            </a:r>
          </a:p>
        </p:txBody>
      </p:sp>
      <p:sp>
        <p:nvSpPr>
          <p:cNvPr id="3" name="Content Placeholder 2"/>
          <p:cNvSpPr>
            <a:spLocks noGrp="1"/>
          </p:cNvSpPr>
          <p:nvPr>
            <p:ph idx="1"/>
          </p:nvPr>
        </p:nvSpPr>
        <p:spPr/>
        <p:txBody>
          <a:bodyPr/>
          <a:lstStyle/>
          <a:p>
            <a:endParaRPr lang="en-US"/>
          </a:p>
        </p:txBody>
      </p:sp>
      <p:pic>
        <p:nvPicPr>
          <p:cNvPr id="4" name="Picture 3" descr="topo ma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1221580"/>
            <a:ext cx="8293755" cy="4950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12012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61FD910F-5BFA-404D-9332-D3B396E2B064}" type="slidenum">
              <a:rPr lang="en-US">
                <a:latin typeface="Arial" pitchFamily="34" charset="0"/>
                <a:cs typeface="Arial" pitchFamily="34" charset="0"/>
              </a:rPr>
              <a:pPr>
                <a:defRPr/>
              </a:pPr>
              <a:t>80</a:t>
            </a:fld>
            <a:endParaRPr lang="en-US">
              <a:latin typeface="Arial" pitchFamily="34" charset="0"/>
              <a:cs typeface="Arial" pitchFamily="34" charset="0"/>
            </a:endParaRPr>
          </a:p>
        </p:txBody>
      </p:sp>
      <p:sp>
        <p:nvSpPr>
          <p:cNvPr id="58372" name="Rectangle 4"/>
          <p:cNvSpPr>
            <a:spLocks noChangeArrowheads="1"/>
          </p:cNvSpPr>
          <p:nvPr/>
        </p:nvSpPr>
        <p:spPr bwMode="auto">
          <a:xfrm>
            <a:off x="1752600" y="1447800"/>
            <a:ext cx="5943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folHlink"/>
              </a:buClr>
              <a:buSzPct val="60000"/>
              <a:buFont typeface="Wingdings" pitchFamily="2" charset="2"/>
              <a:buChar char="n"/>
            </a:pPr>
            <a:r>
              <a:rPr lang="en-US" sz="2400" dirty="0" err="1">
                <a:latin typeface="Arial" charset="0"/>
                <a:cs typeface="Arial" charset="0"/>
              </a:rPr>
              <a:t>Ưu</a:t>
            </a:r>
            <a:r>
              <a:rPr lang="en-US" sz="2400" dirty="0">
                <a:latin typeface="Arial" charset="0"/>
                <a:cs typeface="Arial" charset="0"/>
              </a:rPr>
              <a:t> </a:t>
            </a:r>
            <a:r>
              <a:rPr lang="en-US" sz="2400" dirty="0" err="1">
                <a:latin typeface="Arial" charset="0"/>
                <a:cs typeface="Arial" charset="0"/>
              </a:rPr>
              <a:t>điểm</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r>
              <a:rPr lang="en-US" sz="2400" dirty="0" err="1">
                <a:latin typeface="Arial" charset="0"/>
                <a:cs typeface="Arial" charset="0"/>
              </a:rPr>
              <a:t>Dễ</a:t>
            </a:r>
            <a:r>
              <a:rPr lang="en-US" sz="2400" dirty="0">
                <a:latin typeface="Arial" charset="0"/>
                <a:cs typeface="Arial" charset="0"/>
              </a:rPr>
              <a:t> </a:t>
            </a:r>
            <a:r>
              <a:rPr lang="en-US" sz="2400" dirty="0" err="1">
                <a:latin typeface="Arial" charset="0"/>
                <a:cs typeface="Arial" charset="0"/>
              </a:rPr>
              <a:t>dàng</a:t>
            </a:r>
            <a:r>
              <a:rPr lang="en-US" sz="2400" dirty="0">
                <a:latin typeface="Arial" charset="0"/>
                <a:cs typeface="Arial" charset="0"/>
              </a:rPr>
              <a:t> </a:t>
            </a:r>
            <a:r>
              <a:rPr lang="en-US" sz="2400" dirty="0" err="1">
                <a:latin typeface="Arial" charset="0"/>
                <a:cs typeface="Arial" charset="0"/>
              </a:rPr>
              <a:t>cài</a:t>
            </a:r>
            <a:r>
              <a:rPr lang="en-US" sz="2400" dirty="0">
                <a:latin typeface="Arial" charset="0"/>
                <a:cs typeface="Arial" charset="0"/>
              </a:rPr>
              <a:t> </a:t>
            </a:r>
            <a:r>
              <a:rPr lang="en-US" sz="2400" dirty="0" err="1">
                <a:latin typeface="Arial" charset="0"/>
                <a:cs typeface="Arial" charset="0"/>
              </a:rPr>
              <a:t>đặt</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mở</a:t>
            </a:r>
            <a:r>
              <a:rPr lang="en-US" sz="2400" dirty="0">
                <a:latin typeface="Arial" charset="0"/>
                <a:cs typeface="Arial" charset="0"/>
              </a:rPr>
              <a:t> </a:t>
            </a:r>
            <a:r>
              <a:rPr lang="en-US" sz="2400" dirty="0" err="1">
                <a:latin typeface="Arial" charset="0"/>
                <a:cs typeface="Arial" charset="0"/>
              </a:rPr>
              <a:t>rộng</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r>
              <a:rPr lang="en-US" sz="2400" dirty="0">
                <a:latin typeface="Arial" charset="0"/>
                <a:cs typeface="Arial" charset="0"/>
              </a:rPr>
              <a:t>Chi </a:t>
            </a:r>
            <a:r>
              <a:rPr lang="en-US" sz="2400" dirty="0" err="1">
                <a:latin typeface="Arial" charset="0"/>
                <a:cs typeface="Arial" charset="0"/>
              </a:rPr>
              <a:t>phí</a:t>
            </a:r>
            <a:r>
              <a:rPr lang="en-US" sz="2400" dirty="0">
                <a:latin typeface="Arial" charset="0"/>
                <a:cs typeface="Arial" charset="0"/>
              </a:rPr>
              <a:t> </a:t>
            </a:r>
            <a:r>
              <a:rPr lang="en-US" sz="2400" dirty="0" err="1">
                <a:latin typeface="Arial" charset="0"/>
                <a:cs typeface="Arial" charset="0"/>
              </a:rPr>
              <a:t>thấp</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r>
              <a:rPr lang="en-US" sz="2400" dirty="0" err="1">
                <a:latin typeface="Arial" charset="0"/>
                <a:cs typeface="Arial" charset="0"/>
              </a:rPr>
              <a:t>Một</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hỏng</a:t>
            </a:r>
            <a:r>
              <a:rPr lang="en-US" sz="2400" dirty="0">
                <a:latin typeface="Arial" charset="0"/>
                <a:cs typeface="Arial" charset="0"/>
              </a:rPr>
              <a:t> </a:t>
            </a:r>
            <a:r>
              <a:rPr lang="en-US" sz="2400" dirty="0" err="1">
                <a:latin typeface="Arial" charset="0"/>
                <a:cs typeface="Arial" charset="0"/>
              </a:rPr>
              <a:t>không</a:t>
            </a:r>
            <a:r>
              <a:rPr lang="en-US" sz="2400" dirty="0">
                <a:latin typeface="Arial" charset="0"/>
                <a:cs typeface="Arial" charset="0"/>
              </a:rPr>
              <a:t> </a:t>
            </a:r>
            <a:r>
              <a:rPr lang="en-US" sz="2400" dirty="0" err="1">
                <a:latin typeface="Arial" charset="0"/>
                <a:cs typeface="Arial" charset="0"/>
              </a:rPr>
              <a:t>ảnh</a:t>
            </a:r>
            <a:r>
              <a:rPr lang="en-US" sz="2400" dirty="0">
                <a:latin typeface="Arial" charset="0"/>
                <a:cs typeface="Arial" charset="0"/>
              </a:rPr>
              <a:t> </a:t>
            </a:r>
            <a:r>
              <a:rPr lang="en-US" sz="2400" dirty="0" err="1">
                <a:latin typeface="Arial" charset="0"/>
                <a:cs typeface="Arial" charset="0"/>
              </a:rPr>
              <a:t>hưởng</a:t>
            </a:r>
            <a:r>
              <a:rPr lang="en-US" sz="2400" dirty="0">
                <a:latin typeface="Arial" charset="0"/>
                <a:cs typeface="Arial" charset="0"/>
              </a:rPr>
              <a:t> </a:t>
            </a:r>
            <a:r>
              <a:rPr lang="en-US" sz="2400" dirty="0" err="1">
                <a:latin typeface="Arial" charset="0"/>
                <a:cs typeface="Arial" charset="0"/>
              </a:rPr>
              <a:t>đến</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khác</a:t>
            </a:r>
            <a:r>
              <a:rPr lang="en-US" sz="2400" dirty="0">
                <a:latin typeface="Arial" charset="0"/>
                <a:cs typeface="Arial" charset="0"/>
              </a:rPr>
              <a:t>.</a:t>
            </a:r>
          </a:p>
          <a:p>
            <a:pPr marL="342900" indent="-342900">
              <a:lnSpc>
                <a:spcPct val="90000"/>
              </a:lnSpc>
              <a:spcBef>
                <a:spcPct val="20000"/>
              </a:spcBef>
              <a:buClr>
                <a:schemeClr val="folHlink"/>
              </a:buClr>
              <a:buSzPct val="60000"/>
              <a:buFont typeface="Wingdings" pitchFamily="2" charset="2"/>
              <a:buChar char="n"/>
            </a:pPr>
            <a:r>
              <a:rPr lang="en-US" sz="2400" dirty="0" err="1">
                <a:latin typeface="Arial" charset="0"/>
                <a:cs typeface="Arial" charset="0"/>
              </a:rPr>
              <a:t>Hạn</a:t>
            </a:r>
            <a:r>
              <a:rPr lang="en-US" sz="2400" dirty="0">
                <a:latin typeface="Arial" charset="0"/>
                <a:cs typeface="Arial" charset="0"/>
              </a:rPr>
              <a:t> </a:t>
            </a:r>
            <a:r>
              <a:rPr lang="en-US" sz="2400" dirty="0" err="1">
                <a:latin typeface="Arial" charset="0"/>
                <a:cs typeface="Arial" charset="0"/>
              </a:rPr>
              <a:t>chế</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r>
              <a:rPr lang="en-US" sz="2400" dirty="0" err="1">
                <a:latin typeface="Arial" charset="0"/>
                <a:cs typeface="Arial" charset="0"/>
              </a:rPr>
              <a:t>Khó</a:t>
            </a:r>
            <a:r>
              <a:rPr lang="en-US" sz="2400" dirty="0">
                <a:latin typeface="Arial" charset="0"/>
                <a:cs typeface="Arial" charset="0"/>
              </a:rPr>
              <a:t> </a:t>
            </a:r>
            <a:r>
              <a:rPr lang="en-US" sz="2400" dirty="0" err="1">
                <a:latin typeface="Arial" charset="0"/>
                <a:cs typeface="Arial" charset="0"/>
              </a:rPr>
              <a:t>quản</a:t>
            </a:r>
            <a:r>
              <a:rPr lang="en-US" sz="2400" dirty="0">
                <a:latin typeface="Arial" charset="0"/>
                <a:cs typeface="Arial" charset="0"/>
              </a:rPr>
              <a:t> </a:t>
            </a:r>
            <a:r>
              <a:rPr lang="en-US" sz="2400" dirty="0" err="1">
                <a:latin typeface="Arial" charset="0"/>
                <a:cs typeface="Arial" charset="0"/>
              </a:rPr>
              <a:t>trị</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tìm</a:t>
            </a:r>
            <a:r>
              <a:rPr lang="en-US" sz="2400" dirty="0">
                <a:latin typeface="Arial" charset="0"/>
                <a:cs typeface="Arial" charset="0"/>
              </a:rPr>
              <a:t> </a:t>
            </a:r>
            <a:r>
              <a:rPr lang="en-US" sz="2400" dirty="0" err="1">
                <a:latin typeface="Arial" charset="0"/>
                <a:cs typeface="Arial" charset="0"/>
              </a:rPr>
              <a:t>nguyên</a:t>
            </a:r>
            <a:r>
              <a:rPr lang="en-US" sz="2400" dirty="0">
                <a:latin typeface="Arial" charset="0"/>
                <a:cs typeface="Arial" charset="0"/>
              </a:rPr>
              <a:t> </a:t>
            </a:r>
            <a:r>
              <a:rPr lang="en-US" sz="2400" dirty="0" err="1">
                <a:latin typeface="Arial" charset="0"/>
                <a:cs typeface="Arial" charset="0"/>
              </a:rPr>
              <a:t>nhân</a:t>
            </a:r>
            <a:r>
              <a:rPr lang="en-US" sz="2400" dirty="0">
                <a:latin typeface="Arial" charset="0"/>
                <a:cs typeface="Arial" charset="0"/>
              </a:rPr>
              <a:t> </a:t>
            </a:r>
            <a:r>
              <a:rPr lang="en-US" sz="2400" dirty="0" err="1">
                <a:latin typeface="Arial" charset="0"/>
                <a:cs typeface="Arial" charset="0"/>
              </a:rPr>
              <a:t>lỗi</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r>
              <a:rPr lang="en-US" sz="2400" dirty="0" err="1">
                <a:latin typeface="Arial" charset="0"/>
                <a:cs typeface="Arial" charset="0"/>
              </a:rPr>
              <a:t>Giới</a:t>
            </a:r>
            <a:r>
              <a:rPr lang="en-US" sz="2400" dirty="0">
                <a:latin typeface="Arial" charset="0"/>
                <a:cs typeface="Arial" charset="0"/>
              </a:rPr>
              <a:t> </a:t>
            </a:r>
            <a:r>
              <a:rPr lang="en-US" sz="2400" dirty="0" err="1">
                <a:latin typeface="Arial" charset="0"/>
                <a:cs typeface="Arial" charset="0"/>
              </a:rPr>
              <a:t>hạn</a:t>
            </a:r>
            <a:r>
              <a:rPr lang="en-US" sz="2400" dirty="0">
                <a:latin typeface="Arial" charset="0"/>
                <a:cs typeface="Arial" charset="0"/>
              </a:rPr>
              <a:t> </a:t>
            </a:r>
            <a:r>
              <a:rPr lang="en-US" sz="2400" dirty="0" err="1">
                <a:latin typeface="Arial" charset="0"/>
                <a:cs typeface="Arial" charset="0"/>
              </a:rPr>
              <a:t>chiều</a:t>
            </a:r>
            <a:r>
              <a:rPr lang="en-US" sz="2400" dirty="0">
                <a:latin typeface="Arial" charset="0"/>
                <a:cs typeface="Arial" charset="0"/>
              </a:rPr>
              <a:t> </a:t>
            </a:r>
            <a:r>
              <a:rPr lang="en-US" sz="2400" dirty="0" err="1">
                <a:latin typeface="Arial" charset="0"/>
                <a:cs typeface="Arial" charset="0"/>
              </a:rPr>
              <a:t>dài</a:t>
            </a:r>
            <a:r>
              <a:rPr lang="en-US" sz="2400" dirty="0">
                <a:latin typeface="Arial" charset="0"/>
                <a:cs typeface="Arial" charset="0"/>
              </a:rPr>
              <a:t> </a:t>
            </a:r>
            <a:r>
              <a:rPr lang="en-US" sz="2400" dirty="0" err="1">
                <a:latin typeface="Arial" charset="0"/>
                <a:cs typeface="Arial" charset="0"/>
              </a:rPr>
              <a:t>cáp</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số</a:t>
            </a:r>
            <a:r>
              <a:rPr lang="en-US" sz="2400" dirty="0">
                <a:latin typeface="Arial" charset="0"/>
                <a:cs typeface="Arial" charset="0"/>
              </a:rPr>
              <a:t> </a:t>
            </a:r>
            <a:r>
              <a:rPr lang="en-US" sz="2400" dirty="0" err="1">
                <a:latin typeface="Arial" charset="0"/>
                <a:cs typeface="Arial" charset="0"/>
              </a:rPr>
              <a:t>lượng</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tính</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r>
              <a:rPr lang="en-US" sz="2400" dirty="0" err="1">
                <a:latin typeface="Arial" charset="0"/>
                <a:cs typeface="Arial" charset="0"/>
              </a:rPr>
              <a:t>Hiệu</a:t>
            </a:r>
            <a:r>
              <a:rPr lang="en-US" sz="2400" dirty="0">
                <a:latin typeface="Arial" charset="0"/>
                <a:cs typeface="Arial" charset="0"/>
              </a:rPr>
              <a:t> </a:t>
            </a:r>
            <a:r>
              <a:rPr lang="en-US" sz="2400" dirty="0" err="1">
                <a:latin typeface="Arial" charset="0"/>
                <a:cs typeface="Arial" charset="0"/>
              </a:rPr>
              <a:t>năng</a:t>
            </a:r>
            <a:r>
              <a:rPr lang="en-US" sz="2400" dirty="0">
                <a:latin typeface="Arial" charset="0"/>
                <a:cs typeface="Arial" charset="0"/>
              </a:rPr>
              <a:t> </a:t>
            </a:r>
            <a:r>
              <a:rPr lang="en-US" sz="2400" dirty="0" err="1">
                <a:latin typeface="Arial" charset="0"/>
                <a:cs typeface="Arial" charset="0"/>
              </a:rPr>
              <a:t>giảm</a:t>
            </a:r>
            <a:r>
              <a:rPr lang="en-US" sz="2400" dirty="0">
                <a:latin typeface="Arial" charset="0"/>
                <a:cs typeface="Arial" charset="0"/>
              </a:rPr>
              <a:t> </a:t>
            </a:r>
            <a:r>
              <a:rPr lang="en-US" sz="2400" dirty="0" err="1">
                <a:latin typeface="Arial" charset="0"/>
                <a:cs typeface="Arial" charset="0"/>
              </a:rPr>
              <a:t>khi</a:t>
            </a:r>
            <a:r>
              <a:rPr lang="en-US" sz="2400" dirty="0">
                <a:latin typeface="Arial" charset="0"/>
                <a:cs typeface="Arial" charset="0"/>
              </a:rPr>
              <a:t> </a:t>
            </a: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tính</a:t>
            </a:r>
            <a:r>
              <a:rPr lang="en-US" sz="2400" dirty="0">
                <a:latin typeface="Arial" charset="0"/>
                <a:cs typeface="Arial" charset="0"/>
              </a:rPr>
              <a:t> </a:t>
            </a:r>
            <a:r>
              <a:rPr lang="en-US" sz="2400" dirty="0" err="1">
                <a:latin typeface="Arial" charset="0"/>
                <a:cs typeface="Arial" charset="0"/>
              </a:rPr>
              <a:t>được</a:t>
            </a:r>
            <a:r>
              <a:rPr lang="en-US" sz="2400" dirty="0">
                <a:latin typeface="Arial" charset="0"/>
                <a:cs typeface="Arial" charset="0"/>
              </a:rPr>
              <a:t> </a:t>
            </a:r>
            <a:r>
              <a:rPr lang="en-US" sz="2400" dirty="0" err="1">
                <a:latin typeface="Arial" charset="0"/>
                <a:cs typeface="Arial" charset="0"/>
              </a:rPr>
              <a:t>thêm</a:t>
            </a:r>
            <a:r>
              <a:rPr lang="en-US" sz="2400" dirty="0">
                <a:latin typeface="Arial" charset="0"/>
                <a:cs typeface="Arial" charset="0"/>
              </a:rPr>
              <a:t> </a:t>
            </a:r>
            <a:r>
              <a:rPr lang="en-US" sz="2400" dirty="0" err="1">
                <a:latin typeface="Arial" charset="0"/>
                <a:cs typeface="Arial" charset="0"/>
              </a:rPr>
              <a:t>vào</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r>
              <a:rPr lang="en-US" sz="2400" dirty="0" err="1">
                <a:latin typeface="Arial" charset="0"/>
                <a:cs typeface="Arial" charset="0"/>
              </a:rPr>
              <a:t>Một</a:t>
            </a:r>
            <a:r>
              <a:rPr lang="en-US" sz="2400" dirty="0">
                <a:latin typeface="Arial" charset="0"/>
                <a:cs typeface="Arial" charset="0"/>
              </a:rPr>
              <a:t> </a:t>
            </a:r>
            <a:r>
              <a:rPr lang="en-US" sz="2400" dirty="0" err="1">
                <a:latin typeface="Arial" charset="0"/>
                <a:cs typeface="Arial" charset="0"/>
              </a:rPr>
              <a:t>đoạn</a:t>
            </a:r>
            <a:r>
              <a:rPr lang="en-US" sz="2400" dirty="0">
                <a:latin typeface="Arial" charset="0"/>
                <a:cs typeface="Arial" charset="0"/>
              </a:rPr>
              <a:t> </a:t>
            </a:r>
            <a:r>
              <a:rPr lang="en-US" sz="2400" dirty="0" err="1">
                <a:latin typeface="Arial" charset="0"/>
                <a:cs typeface="Arial" charset="0"/>
              </a:rPr>
              <a:t>cáp</a:t>
            </a:r>
            <a:r>
              <a:rPr lang="en-US" sz="2400" dirty="0">
                <a:latin typeface="Arial" charset="0"/>
                <a:cs typeface="Arial" charset="0"/>
              </a:rPr>
              <a:t> backbone </a:t>
            </a:r>
            <a:r>
              <a:rPr lang="en-US" sz="2400" dirty="0" err="1">
                <a:latin typeface="Arial" charset="0"/>
                <a:cs typeface="Arial" charset="0"/>
              </a:rPr>
              <a:t>bị</a:t>
            </a:r>
            <a:r>
              <a:rPr lang="en-US" sz="2400" dirty="0">
                <a:latin typeface="Arial" charset="0"/>
                <a:cs typeface="Arial" charset="0"/>
              </a:rPr>
              <a:t> </a:t>
            </a:r>
            <a:r>
              <a:rPr lang="en-US" sz="2400" dirty="0" err="1">
                <a:latin typeface="Arial" charset="0"/>
                <a:cs typeface="Arial" charset="0"/>
              </a:rPr>
              <a:t>đứt</a:t>
            </a:r>
            <a:r>
              <a:rPr lang="en-US" sz="2400" dirty="0">
                <a:latin typeface="Arial" charset="0"/>
                <a:cs typeface="Arial" charset="0"/>
              </a:rPr>
              <a:t> </a:t>
            </a:r>
            <a:r>
              <a:rPr lang="en-US" sz="2400" dirty="0" err="1">
                <a:latin typeface="Arial" charset="0"/>
                <a:cs typeface="Arial" charset="0"/>
              </a:rPr>
              <a:t>sẽ</a:t>
            </a:r>
            <a:r>
              <a:rPr lang="en-US" sz="2400" dirty="0">
                <a:latin typeface="Arial" charset="0"/>
                <a:cs typeface="Arial" charset="0"/>
              </a:rPr>
              <a:t> </a:t>
            </a:r>
            <a:r>
              <a:rPr lang="en-US" sz="2400" dirty="0" err="1">
                <a:latin typeface="Arial" charset="0"/>
                <a:cs typeface="Arial" charset="0"/>
              </a:rPr>
              <a:t>ảnh</a:t>
            </a:r>
            <a:r>
              <a:rPr lang="en-US" sz="2400" dirty="0">
                <a:latin typeface="Arial" charset="0"/>
                <a:cs typeface="Arial" charset="0"/>
              </a:rPr>
              <a:t> </a:t>
            </a:r>
            <a:r>
              <a:rPr lang="en-US" sz="2400" dirty="0" err="1">
                <a:latin typeface="Arial" charset="0"/>
                <a:cs typeface="Arial" charset="0"/>
              </a:rPr>
              <a:t>hưởng</a:t>
            </a:r>
            <a:r>
              <a:rPr lang="en-US" sz="2400" dirty="0">
                <a:latin typeface="Arial" charset="0"/>
                <a:cs typeface="Arial" charset="0"/>
              </a:rPr>
              <a:t> </a:t>
            </a:r>
            <a:r>
              <a:rPr lang="en-US" sz="2400" dirty="0" err="1">
                <a:latin typeface="Arial" charset="0"/>
                <a:cs typeface="Arial" charset="0"/>
              </a:rPr>
              <a:t>đến</a:t>
            </a:r>
            <a:r>
              <a:rPr lang="en-US" sz="2400" dirty="0">
                <a:latin typeface="Arial" charset="0"/>
                <a:cs typeface="Arial" charset="0"/>
              </a:rPr>
              <a:t> </a:t>
            </a:r>
            <a:r>
              <a:rPr lang="en-US" sz="2400" dirty="0" err="1">
                <a:latin typeface="Arial" charset="0"/>
                <a:cs typeface="Arial" charset="0"/>
              </a:rPr>
              <a:t>toàn</a:t>
            </a:r>
            <a:r>
              <a:rPr lang="en-US" sz="2400" dirty="0">
                <a:latin typeface="Arial" charset="0"/>
                <a:cs typeface="Arial" charset="0"/>
              </a:rPr>
              <a:t> </a:t>
            </a:r>
            <a:r>
              <a:rPr lang="en-US" sz="2400" dirty="0" err="1">
                <a:latin typeface="Arial" charset="0"/>
                <a:cs typeface="Arial" charset="0"/>
              </a:rPr>
              <a:t>mạng</a:t>
            </a:r>
            <a:endParaRPr lang="en-US" sz="2400" dirty="0">
              <a:latin typeface="Arial" charset="0"/>
              <a:cs typeface="Arial" charset="0"/>
            </a:endParaRPr>
          </a:p>
          <a:p>
            <a:pPr marL="742950" lvl="1" indent="-285750">
              <a:lnSpc>
                <a:spcPct val="90000"/>
              </a:lnSpc>
              <a:spcBef>
                <a:spcPct val="20000"/>
              </a:spcBef>
              <a:buClr>
                <a:schemeClr val="hlink"/>
              </a:buClr>
              <a:buSzPct val="55000"/>
              <a:buFont typeface="Wingdings" pitchFamily="2" charset="2"/>
              <a:buChar char="n"/>
            </a:pPr>
            <a:endParaRPr lang="en-US" sz="2400" dirty="0">
              <a:latin typeface="Arial" charset="0"/>
              <a:cs typeface="Arial" charset="0"/>
            </a:endParaRPr>
          </a:p>
        </p:txBody>
      </p:sp>
      <p:pic>
        <p:nvPicPr>
          <p:cNvPr id="58373" name="Picture 7" descr="net016.gif (2203 by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1" y="2366964"/>
            <a:ext cx="2892425"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8" descr="net017.gif (1799 by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4760914"/>
            <a:ext cx="2743200"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DẠNG ĐƯỜNG THẲNG (BUS)</a:t>
            </a:r>
          </a:p>
        </p:txBody>
      </p:sp>
    </p:spTree>
    <p:extLst>
      <p:ext uri="{BB962C8B-B14F-4D97-AF65-F5344CB8AC3E}">
        <p14:creationId xmlns:p14="http://schemas.microsoft.com/office/powerpoint/2010/main" val="256455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4"/>
          <p:cNvSpPr>
            <a:spLocks noGrp="1" noChangeArrowheads="1"/>
          </p:cNvSpPr>
          <p:nvPr>
            <p:ph idx="1"/>
          </p:nvPr>
        </p:nvSpPr>
        <p:spPr>
          <a:xfrm>
            <a:off x="2209800" y="1752600"/>
            <a:ext cx="4114800" cy="4800600"/>
          </a:xfrm>
        </p:spPr>
        <p:txBody>
          <a:bodyPr/>
          <a:lstStyle/>
          <a:p>
            <a:pPr eaLnBrk="1" hangingPunct="1">
              <a:lnSpc>
                <a:spcPct val="80000"/>
              </a:lnSpc>
              <a:buClr>
                <a:srgbClr val="7030A0"/>
              </a:buClr>
              <a:buFont typeface="Wingdings" pitchFamily="2" charset="2"/>
              <a:buChar char="§"/>
            </a:pPr>
            <a:r>
              <a:rPr lang="en-US" sz="2400" dirty="0" err="1">
                <a:latin typeface="Arial" charset="0"/>
                <a:cs typeface="Arial" charset="0"/>
              </a:rPr>
              <a:t>Ưu</a:t>
            </a:r>
            <a:r>
              <a:rPr lang="en-US" sz="2400" dirty="0">
                <a:latin typeface="Arial" charset="0"/>
                <a:cs typeface="Arial" charset="0"/>
              </a:rPr>
              <a:t> </a:t>
            </a:r>
            <a:r>
              <a:rPr lang="en-US" sz="2400" dirty="0" err="1">
                <a:latin typeface="Arial" charset="0"/>
                <a:cs typeface="Arial" charset="0"/>
              </a:rPr>
              <a:t>điểm</a:t>
            </a:r>
            <a:endParaRPr lang="en-US" sz="2400" dirty="0">
              <a:latin typeface="Arial" charset="0"/>
              <a:cs typeface="Arial" charset="0"/>
            </a:endParaRPr>
          </a:p>
          <a:p>
            <a:pPr lvl="1" eaLnBrk="1" hangingPunct="1">
              <a:lnSpc>
                <a:spcPct val="80000"/>
              </a:lnSpc>
              <a:buClr>
                <a:srgbClr val="0070C0"/>
              </a:buClr>
              <a:buFont typeface="Wingdings" pitchFamily="2" charset="2"/>
              <a:buChar char="§"/>
            </a:pPr>
            <a:r>
              <a:rPr lang="en-US" sz="2400" dirty="0" err="1">
                <a:latin typeface="Arial" charset="0"/>
                <a:cs typeface="Arial" charset="0"/>
              </a:rPr>
              <a:t>Sự</a:t>
            </a:r>
            <a:r>
              <a:rPr lang="en-US" sz="2400" dirty="0">
                <a:latin typeface="Arial" charset="0"/>
                <a:cs typeface="Arial" charset="0"/>
              </a:rPr>
              <a:t> </a:t>
            </a:r>
            <a:r>
              <a:rPr lang="en-US" sz="2400" dirty="0" err="1">
                <a:latin typeface="Arial" charset="0"/>
                <a:cs typeface="Arial" charset="0"/>
              </a:rPr>
              <a:t>phát</a:t>
            </a:r>
            <a:r>
              <a:rPr lang="en-US" sz="2400" dirty="0">
                <a:latin typeface="Arial" charset="0"/>
                <a:cs typeface="Arial" charset="0"/>
              </a:rPr>
              <a:t> </a:t>
            </a:r>
            <a:r>
              <a:rPr lang="en-US" sz="2400" dirty="0" err="1">
                <a:latin typeface="Arial" charset="0"/>
                <a:cs typeface="Arial" charset="0"/>
              </a:rPr>
              <a:t>triển</a:t>
            </a:r>
            <a:r>
              <a:rPr lang="en-US" sz="2400" dirty="0">
                <a:latin typeface="Arial" charset="0"/>
                <a:cs typeface="Arial" charset="0"/>
              </a:rPr>
              <a:t> </a:t>
            </a:r>
            <a:r>
              <a:rPr lang="en-US" sz="2400" dirty="0" err="1">
                <a:latin typeface="Arial" charset="0"/>
                <a:cs typeface="Arial" charset="0"/>
              </a:rPr>
              <a:t>của</a:t>
            </a:r>
            <a:r>
              <a:rPr lang="en-US" sz="2400" dirty="0">
                <a:latin typeface="Arial" charset="0"/>
                <a:cs typeface="Arial" charset="0"/>
              </a:rPr>
              <a:t> </a:t>
            </a:r>
            <a:r>
              <a:rPr lang="en-US" sz="2400" dirty="0" err="1">
                <a:latin typeface="Arial" charset="0"/>
                <a:cs typeface="Arial" charset="0"/>
              </a:rPr>
              <a:t>hệ</a:t>
            </a:r>
            <a:r>
              <a:rPr lang="en-US" sz="2400" dirty="0">
                <a:latin typeface="Arial" charset="0"/>
                <a:cs typeface="Arial" charset="0"/>
              </a:rPr>
              <a:t> </a:t>
            </a:r>
            <a:r>
              <a:rPr lang="en-US" sz="2400" dirty="0" err="1">
                <a:latin typeface="Arial" charset="0"/>
                <a:cs typeface="Arial" charset="0"/>
              </a:rPr>
              <a:t>thống</a:t>
            </a:r>
            <a:r>
              <a:rPr lang="en-US" sz="2400" dirty="0">
                <a:latin typeface="Arial" charset="0"/>
                <a:cs typeface="Arial" charset="0"/>
              </a:rPr>
              <a:t> </a:t>
            </a:r>
            <a:r>
              <a:rPr lang="en-US" sz="2400" dirty="0" err="1">
                <a:latin typeface="Arial" charset="0"/>
                <a:cs typeface="Arial" charset="0"/>
              </a:rPr>
              <a:t>không</a:t>
            </a:r>
            <a:r>
              <a:rPr lang="en-US" sz="2400" dirty="0">
                <a:latin typeface="Arial" charset="0"/>
                <a:cs typeface="Arial" charset="0"/>
              </a:rPr>
              <a:t> </a:t>
            </a:r>
            <a:r>
              <a:rPr lang="en-US" sz="2400" dirty="0" err="1">
                <a:latin typeface="Arial" charset="0"/>
                <a:cs typeface="Arial" charset="0"/>
              </a:rPr>
              <a:t>tác</a:t>
            </a:r>
            <a:r>
              <a:rPr lang="en-US" sz="2400" dirty="0">
                <a:latin typeface="Arial" charset="0"/>
                <a:cs typeface="Arial" charset="0"/>
              </a:rPr>
              <a:t> </a:t>
            </a:r>
            <a:r>
              <a:rPr lang="en-US" sz="2400" dirty="0" err="1">
                <a:latin typeface="Arial" charset="0"/>
                <a:cs typeface="Arial" charset="0"/>
              </a:rPr>
              <a:t>động</a:t>
            </a:r>
            <a:r>
              <a:rPr lang="en-US" sz="2400" dirty="0">
                <a:latin typeface="Arial" charset="0"/>
                <a:cs typeface="Arial" charset="0"/>
              </a:rPr>
              <a:t> </a:t>
            </a:r>
            <a:r>
              <a:rPr lang="en-US" sz="2400" dirty="0" err="1">
                <a:latin typeface="Arial" charset="0"/>
                <a:cs typeface="Arial" charset="0"/>
              </a:rPr>
              <a:t>đáng</a:t>
            </a:r>
            <a:r>
              <a:rPr lang="en-US" sz="2400" dirty="0">
                <a:latin typeface="Arial" charset="0"/>
                <a:cs typeface="Arial" charset="0"/>
              </a:rPr>
              <a:t> </a:t>
            </a:r>
            <a:r>
              <a:rPr lang="en-US" sz="2400" dirty="0" err="1">
                <a:latin typeface="Arial" charset="0"/>
                <a:cs typeface="Arial" charset="0"/>
              </a:rPr>
              <a:t>kể</a:t>
            </a:r>
            <a:r>
              <a:rPr lang="en-US" sz="2400" dirty="0">
                <a:latin typeface="Arial" charset="0"/>
                <a:cs typeface="Arial" charset="0"/>
              </a:rPr>
              <a:t> </a:t>
            </a:r>
            <a:r>
              <a:rPr lang="en-US" sz="2400" dirty="0" err="1">
                <a:latin typeface="Arial" charset="0"/>
                <a:cs typeface="Arial" charset="0"/>
              </a:rPr>
              <a:t>đến</a:t>
            </a:r>
            <a:r>
              <a:rPr lang="en-US" sz="2400" dirty="0">
                <a:latin typeface="Arial" charset="0"/>
                <a:cs typeface="Arial" charset="0"/>
              </a:rPr>
              <a:t> </a:t>
            </a:r>
            <a:r>
              <a:rPr lang="en-US" sz="2400" dirty="0" err="1">
                <a:latin typeface="Arial" charset="0"/>
                <a:cs typeface="Arial" charset="0"/>
              </a:rPr>
              <a:t>hiệu</a:t>
            </a:r>
            <a:r>
              <a:rPr lang="en-US" sz="2400" dirty="0">
                <a:latin typeface="Arial" charset="0"/>
                <a:cs typeface="Arial" charset="0"/>
              </a:rPr>
              <a:t> </a:t>
            </a:r>
            <a:r>
              <a:rPr lang="en-US" sz="2400" dirty="0" err="1">
                <a:latin typeface="Arial" charset="0"/>
                <a:cs typeface="Arial" charset="0"/>
              </a:rPr>
              <a:t>năng</a:t>
            </a:r>
            <a:endParaRPr lang="en-US" sz="2400" dirty="0">
              <a:latin typeface="Arial" charset="0"/>
              <a:cs typeface="Arial" charset="0"/>
            </a:endParaRPr>
          </a:p>
          <a:p>
            <a:pPr lvl="1" eaLnBrk="1" hangingPunct="1">
              <a:lnSpc>
                <a:spcPct val="80000"/>
              </a:lnSpc>
              <a:buClr>
                <a:srgbClr val="0070C0"/>
              </a:buClr>
              <a:buFont typeface="Wingdings" pitchFamily="2" charset="2"/>
              <a:buChar char="§"/>
            </a:pPr>
            <a:r>
              <a:rPr lang="en-US" sz="2400" dirty="0" err="1">
                <a:latin typeface="Arial" charset="0"/>
                <a:cs typeface="Arial" charset="0"/>
              </a:rPr>
              <a:t>Tất</a:t>
            </a:r>
            <a:r>
              <a:rPr lang="en-US" sz="2400" dirty="0">
                <a:latin typeface="Arial" charset="0"/>
                <a:cs typeface="Arial" charset="0"/>
              </a:rPr>
              <a:t> </a:t>
            </a:r>
            <a:r>
              <a:rPr lang="en-US" sz="2400" dirty="0" err="1">
                <a:latin typeface="Arial" charset="0"/>
                <a:cs typeface="Arial" charset="0"/>
              </a:rPr>
              <a:t>cả</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tính</a:t>
            </a:r>
            <a:r>
              <a:rPr lang="en-US" sz="2400" dirty="0">
                <a:latin typeface="Arial" charset="0"/>
                <a:cs typeface="Arial" charset="0"/>
              </a:rPr>
              <a:t> </a:t>
            </a: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quyền</a:t>
            </a:r>
            <a:r>
              <a:rPr lang="en-US" sz="2400" dirty="0">
                <a:latin typeface="Arial" charset="0"/>
                <a:cs typeface="Arial" charset="0"/>
              </a:rPr>
              <a:t> </a:t>
            </a:r>
            <a:r>
              <a:rPr lang="en-US" sz="2400" dirty="0" err="1">
                <a:latin typeface="Arial" charset="0"/>
                <a:cs typeface="Arial" charset="0"/>
              </a:rPr>
              <a:t>truy</a:t>
            </a:r>
            <a:r>
              <a:rPr lang="en-US" sz="2400" dirty="0">
                <a:latin typeface="Arial" charset="0"/>
                <a:cs typeface="Arial" charset="0"/>
              </a:rPr>
              <a:t> </a:t>
            </a:r>
            <a:r>
              <a:rPr lang="en-US" sz="2400" dirty="0" err="1">
                <a:latin typeface="Arial" charset="0"/>
                <a:cs typeface="Arial" charset="0"/>
              </a:rPr>
              <a:t>cập</a:t>
            </a:r>
            <a:r>
              <a:rPr lang="en-US" sz="2400" dirty="0">
                <a:latin typeface="Arial" charset="0"/>
                <a:cs typeface="Arial" charset="0"/>
              </a:rPr>
              <a:t> </a:t>
            </a:r>
            <a:r>
              <a:rPr lang="en-US" sz="2400" dirty="0" err="1">
                <a:latin typeface="Arial" charset="0"/>
                <a:cs typeface="Arial" charset="0"/>
              </a:rPr>
              <a:t>như</a:t>
            </a:r>
            <a:r>
              <a:rPr lang="en-US" sz="2400" dirty="0">
                <a:latin typeface="Arial" charset="0"/>
                <a:cs typeface="Arial" charset="0"/>
              </a:rPr>
              <a:t> </a:t>
            </a:r>
            <a:r>
              <a:rPr lang="en-US" sz="2400" dirty="0" err="1">
                <a:latin typeface="Arial" charset="0"/>
                <a:cs typeface="Arial" charset="0"/>
              </a:rPr>
              <a:t>nhau</a:t>
            </a:r>
            <a:endParaRPr lang="en-US" sz="2400" dirty="0">
              <a:latin typeface="Arial" charset="0"/>
              <a:cs typeface="Arial" charset="0"/>
            </a:endParaRPr>
          </a:p>
          <a:p>
            <a:pPr eaLnBrk="1" hangingPunct="1">
              <a:lnSpc>
                <a:spcPct val="80000"/>
              </a:lnSpc>
              <a:buClr>
                <a:srgbClr val="7030A0"/>
              </a:buClr>
              <a:buFont typeface="Wingdings" pitchFamily="2" charset="2"/>
              <a:buChar char="§"/>
            </a:pPr>
            <a:r>
              <a:rPr lang="en-US" sz="2400" dirty="0" err="1">
                <a:latin typeface="Arial" charset="0"/>
                <a:cs typeface="Arial" charset="0"/>
              </a:rPr>
              <a:t>Hạn</a:t>
            </a:r>
            <a:r>
              <a:rPr lang="en-US" sz="2400" dirty="0">
                <a:latin typeface="Arial" charset="0"/>
                <a:cs typeface="Arial" charset="0"/>
              </a:rPr>
              <a:t> </a:t>
            </a:r>
            <a:r>
              <a:rPr lang="en-US" sz="2400" dirty="0" err="1">
                <a:latin typeface="Arial" charset="0"/>
                <a:cs typeface="Arial" charset="0"/>
              </a:rPr>
              <a:t>chế</a:t>
            </a:r>
            <a:endParaRPr lang="en-US" sz="2400" dirty="0">
              <a:latin typeface="Arial" charset="0"/>
              <a:cs typeface="Arial" charset="0"/>
            </a:endParaRPr>
          </a:p>
          <a:p>
            <a:pPr lvl="1" eaLnBrk="1" hangingPunct="1">
              <a:lnSpc>
                <a:spcPct val="80000"/>
              </a:lnSpc>
              <a:buClr>
                <a:srgbClr val="0070C0"/>
              </a:buClr>
              <a:buFont typeface="Wingdings" pitchFamily="2" charset="2"/>
              <a:buChar char="§"/>
            </a:pPr>
            <a:r>
              <a:rPr lang="en-US" sz="2400" dirty="0">
                <a:latin typeface="Arial" charset="0"/>
                <a:cs typeface="Arial" charset="0"/>
              </a:rPr>
              <a:t>Chi </a:t>
            </a:r>
            <a:r>
              <a:rPr lang="en-US" sz="2400" dirty="0" err="1">
                <a:latin typeface="Arial" charset="0"/>
                <a:cs typeface="Arial" charset="0"/>
              </a:rPr>
              <a:t>phí</a:t>
            </a:r>
            <a:r>
              <a:rPr lang="en-US" sz="2400" dirty="0">
                <a:latin typeface="Arial" charset="0"/>
                <a:cs typeface="Arial" charset="0"/>
              </a:rPr>
              <a:t> </a:t>
            </a:r>
            <a:r>
              <a:rPr lang="en-US" sz="2400" dirty="0" err="1">
                <a:latin typeface="Arial" charset="0"/>
                <a:cs typeface="Arial" charset="0"/>
              </a:rPr>
              <a:t>thực</a:t>
            </a:r>
            <a:r>
              <a:rPr lang="en-US" sz="2400" dirty="0">
                <a:latin typeface="Arial" charset="0"/>
                <a:cs typeface="Arial" charset="0"/>
              </a:rPr>
              <a:t> </a:t>
            </a:r>
            <a:r>
              <a:rPr lang="en-US" sz="2400" dirty="0" err="1">
                <a:latin typeface="Arial" charset="0"/>
                <a:cs typeface="Arial" charset="0"/>
              </a:rPr>
              <a:t>hiện</a:t>
            </a:r>
            <a:r>
              <a:rPr lang="en-US" sz="2400" dirty="0">
                <a:latin typeface="Arial" charset="0"/>
                <a:cs typeface="Arial" charset="0"/>
              </a:rPr>
              <a:t> </a:t>
            </a:r>
            <a:r>
              <a:rPr lang="en-US" sz="2400" dirty="0" err="1">
                <a:latin typeface="Arial" charset="0"/>
                <a:cs typeface="Arial" charset="0"/>
              </a:rPr>
              <a:t>cao</a:t>
            </a:r>
            <a:endParaRPr lang="en-US" sz="2400" dirty="0">
              <a:latin typeface="Arial" charset="0"/>
              <a:cs typeface="Arial" charset="0"/>
            </a:endParaRPr>
          </a:p>
          <a:p>
            <a:pPr lvl="1" eaLnBrk="1" hangingPunct="1">
              <a:lnSpc>
                <a:spcPct val="80000"/>
              </a:lnSpc>
              <a:buClr>
                <a:srgbClr val="0070C0"/>
              </a:buClr>
              <a:buFont typeface="Wingdings" pitchFamily="2" charset="2"/>
              <a:buChar char="§"/>
            </a:pPr>
            <a:r>
              <a:rPr lang="en-US" sz="2400" dirty="0" err="1">
                <a:latin typeface="Arial" charset="0"/>
                <a:cs typeface="Arial" charset="0"/>
              </a:rPr>
              <a:t>Phức</a:t>
            </a:r>
            <a:r>
              <a:rPr lang="en-US" sz="2400" dirty="0">
                <a:latin typeface="Arial" charset="0"/>
                <a:cs typeface="Arial" charset="0"/>
              </a:rPr>
              <a:t> </a:t>
            </a:r>
            <a:r>
              <a:rPr lang="en-US" sz="2400" dirty="0" err="1">
                <a:latin typeface="Arial" charset="0"/>
                <a:cs typeface="Arial" charset="0"/>
              </a:rPr>
              <a:t>tạp</a:t>
            </a:r>
            <a:endParaRPr lang="en-US" sz="2400" dirty="0">
              <a:latin typeface="Arial" charset="0"/>
              <a:cs typeface="Arial" charset="0"/>
            </a:endParaRPr>
          </a:p>
          <a:p>
            <a:pPr lvl="1" eaLnBrk="1" hangingPunct="1">
              <a:lnSpc>
                <a:spcPct val="80000"/>
              </a:lnSpc>
              <a:buClr>
                <a:srgbClr val="0070C0"/>
              </a:buClr>
              <a:buFont typeface="Wingdings" pitchFamily="2" charset="2"/>
              <a:buChar char="§"/>
            </a:pPr>
            <a:r>
              <a:rPr lang="en-US" sz="2400" dirty="0" err="1">
                <a:latin typeface="Arial" charset="0"/>
                <a:cs typeface="Arial" charset="0"/>
              </a:rPr>
              <a:t>Khi</a:t>
            </a:r>
            <a:r>
              <a:rPr lang="en-US" sz="2400" dirty="0">
                <a:latin typeface="Arial" charset="0"/>
                <a:cs typeface="Arial" charset="0"/>
              </a:rPr>
              <a:t> </a:t>
            </a:r>
            <a:r>
              <a:rPr lang="en-US" sz="2400" dirty="0" err="1">
                <a:latin typeface="Arial" charset="0"/>
                <a:cs typeface="Arial" charset="0"/>
              </a:rPr>
              <a:t>một</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sự</a:t>
            </a:r>
            <a:r>
              <a:rPr lang="en-US" sz="2400" dirty="0">
                <a:latin typeface="Arial" charset="0"/>
                <a:cs typeface="Arial" charset="0"/>
              </a:rPr>
              <a:t> </a:t>
            </a:r>
            <a:r>
              <a:rPr lang="en-US" sz="2400" dirty="0" err="1">
                <a:latin typeface="Arial" charset="0"/>
                <a:cs typeface="Arial" charset="0"/>
              </a:rPr>
              <a:t>cố</a:t>
            </a:r>
            <a:r>
              <a:rPr lang="en-US" sz="2400" dirty="0">
                <a:latin typeface="Arial" charset="0"/>
                <a:cs typeface="Arial" charset="0"/>
              </a:rPr>
              <a:t> </a:t>
            </a:r>
            <a:r>
              <a:rPr lang="en-US" sz="2400" dirty="0" err="1">
                <a:latin typeface="Arial" charset="0"/>
                <a:cs typeface="Arial" charset="0"/>
              </a:rPr>
              <a:t>thì</a:t>
            </a:r>
            <a:r>
              <a:rPr lang="en-US" sz="2400" dirty="0">
                <a:latin typeface="Arial" charset="0"/>
                <a:cs typeface="Arial" charset="0"/>
              </a:rPr>
              <a:t> </a:t>
            </a: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thể</a:t>
            </a:r>
            <a:r>
              <a:rPr lang="en-US" sz="2400" dirty="0">
                <a:latin typeface="Arial" charset="0"/>
                <a:cs typeface="Arial" charset="0"/>
              </a:rPr>
              <a:t> </a:t>
            </a:r>
            <a:r>
              <a:rPr lang="en-US" sz="2400" dirty="0" err="1">
                <a:latin typeface="Arial" charset="0"/>
                <a:cs typeface="Arial" charset="0"/>
              </a:rPr>
              <a:t>ảnh</a:t>
            </a:r>
            <a:r>
              <a:rPr lang="en-US" sz="2400" dirty="0">
                <a:latin typeface="Arial" charset="0"/>
                <a:cs typeface="Arial" charset="0"/>
              </a:rPr>
              <a:t> </a:t>
            </a:r>
            <a:r>
              <a:rPr lang="en-US" sz="2400" dirty="0" err="1">
                <a:latin typeface="Arial" charset="0"/>
                <a:cs typeface="Arial" charset="0"/>
              </a:rPr>
              <a:t>hưởng</a:t>
            </a:r>
            <a:r>
              <a:rPr lang="en-US" sz="2400" dirty="0">
                <a:latin typeface="Arial" charset="0"/>
                <a:cs typeface="Arial" charset="0"/>
              </a:rPr>
              <a:t> </a:t>
            </a:r>
            <a:r>
              <a:rPr lang="en-US" sz="2400" dirty="0" err="1">
                <a:latin typeface="Arial" charset="0"/>
                <a:cs typeface="Arial" charset="0"/>
              </a:rPr>
              <a:t>đến</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tính</a:t>
            </a:r>
            <a:r>
              <a:rPr lang="en-US" sz="2400" dirty="0">
                <a:latin typeface="Arial" charset="0"/>
                <a:cs typeface="Arial" charset="0"/>
              </a:rPr>
              <a:t> </a:t>
            </a:r>
            <a:r>
              <a:rPr lang="en-US" sz="2400" dirty="0" err="1">
                <a:latin typeface="Arial" charset="0"/>
                <a:cs typeface="Arial" charset="0"/>
              </a:rPr>
              <a:t>khác</a:t>
            </a:r>
            <a:endParaRPr lang="en-US" sz="2400" dirty="0">
              <a:latin typeface="Arial" charset="0"/>
              <a:cs typeface="Arial" charset="0"/>
            </a:endParaRPr>
          </a:p>
        </p:txBody>
      </p:sp>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B17FD366-7CA1-4C81-B082-AD4F96C36A49}" type="slidenum">
              <a:rPr lang="en-US">
                <a:latin typeface="Arial" pitchFamily="34" charset="0"/>
                <a:cs typeface="Arial" pitchFamily="34" charset="0"/>
              </a:rPr>
              <a:pPr>
                <a:defRPr/>
              </a:pPr>
              <a:t>81</a:t>
            </a:fld>
            <a:endParaRPr lang="en-US">
              <a:latin typeface="Arial" pitchFamily="34" charset="0"/>
              <a:cs typeface="Arial" pitchFamily="34" charset="0"/>
            </a:endParaRPr>
          </a:p>
        </p:txBody>
      </p:sp>
      <p:pic>
        <p:nvPicPr>
          <p:cNvPr id="59397" name="Picture 6" descr="net021.gif (3696 by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4572000"/>
            <a:ext cx="2959100" cy="19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1" y="1371601"/>
            <a:ext cx="324802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DẠNG VÒNG TRÒN (RING)</a:t>
            </a:r>
          </a:p>
        </p:txBody>
      </p:sp>
    </p:spTree>
    <p:extLst>
      <p:ext uri="{BB962C8B-B14F-4D97-AF65-F5344CB8AC3E}">
        <p14:creationId xmlns:p14="http://schemas.microsoft.com/office/powerpoint/2010/main" val="945453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3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39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4"/>
          <p:cNvSpPr>
            <a:spLocks noGrp="1" noChangeArrowheads="1"/>
          </p:cNvSpPr>
          <p:nvPr>
            <p:ph idx="1"/>
          </p:nvPr>
        </p:nvSpPr>
        <p:spPr>
          <a:xfrm>
            <a:off x="1981200" y="1524000"/>
            <a:ext cx="4572000" cy="4648200"/>
          </a:xfrm>
        </p:spPr>
        <p:txBody>
          <a:bodyPr/>
          <a:lstStyle/>
          <a:p>
            <a:pPr eaLnBrk="1" hangingPunct="1">
              <a:lnSpc>
                <a:spcPct val="85000"/>
              </a:lnSpc>
              <a:spcBef>
                <a:spcPct val="25000"/>
              </a:spcBef>
              <a:buClr>
                <a:srgbClr val="7030A0"/>
              </a:buClr>
              <a:buFont typeface="Wingdings" pitchFamily="2" charset="2"/>
              <a:buChar char="§"/>
            </a:pPr>
            <a:r>
              <a:rPr lang="en-US" sz="2400" dirty="0" err="1">
                <a:latin typeface="Arial" charset="0"/>
                <a:cs typeface="Arial" charset="0"/>
              </a:rPr>
              <a:t>Ưu</a:t>
            </a:r>
            <a:r>
              <a:rPr lang="en-US" sz="2400" dirty="0">
                <a:latin typeface="Arial" charset="0"/>
                <a:cs typeface="Arial" charset="0"/>
              </a:rPr>
              <a:t> </a:t>
            </a:r>
            <a:r>
              <a:rPr lang="en-US" sz="2400" dirty="0" err="1">
                <a:latin typeface="Arial" charset="0"/>
                <a:cs typeface="Arial" charset="0"/>
              </a:rPr>
              <a:t>điểm</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Dễ</a:t>
            </a:r>
            <a:r>
              <a:rPr lang="en-US" sz="2400" dirty="0">
                <a:latin typeface="Arial" charset="0"/>
                <a:cs typeface="Arial" charset="0"/>
              </a:rPr>
              <a:t> </a:t>
            </a:r>
            <a:r>
              <a:rPr lang="en-US" sz="2400" dirty="0" err="1">
                <a:latin typeface="Arial" charset="0"/>
                <a:cs typeface="Arial" charset="0"/>
              </a:rPr>
              <a:t>dàng</a:t>
            </a:r>
            <a:r>
              <a:rPr lang="en-US" sz="2400" dirty="0">
                <a:latin typeface="Arial" charset="0"/>
                <a:cs typeface="Arial" charset="0"/>
              </a:rPr>
              <a:t> </a:t>
            </a:r>
            <a:r>
              <a:rPr lang="en-US" sz="2400" dirty="0" err="1">
                <a:latin typeface="Arial" charset="0"/>
                <a:cs typeface="Arial" charset="0"/>
              </a:rPr>
              <a:t>bổ</a:t>
            </a:r>
            <a:r>
              <a:rPr lang="en-US" sz="2400" dirty="0">
                <a:latin typeface="Arial" charset="0"/>
                <a:cs typeface="Arial" charset="0"/>
              </a:rPr>
              <a:t> sung hay </a:t>
            </a:r>
            <a:r>
              <a:rPr lang="en-US" sz="2400" dirty="0" err="1">
                <a:latin typeface="Arial" charset="0"/>
                <a:cs typeface="Arial" charset="0"/>
              </a:rPr>
              <a:t>loại</a:t>
            </a:r>
            <a:r>
              <a:rPr lang="en-US" sz="2400" dirty="0">
                <a:latin typeface="Arial" charset="0"/>
                <a:cs typeface="Arial" charset="0"/>
              </a:rPr>
              <a:t> </a:t>
            </a:r>
            <a:r>
              <a:rPr lang="en-US" sz="2400" dirty="0" err="1">
                <a:latin typeface="Arial" charset="0"/>
                <a:cs typeface="Arial" charset="0"/>
              </a:rPr>
              <a:t>bỏ</a:t>
            </a:r>
            <a:r>
              <a:rPr lang="en-US" sz="2400" dirty="0">
                <a:latin typeface="Arial" charset="0"/>
                <a:cs typeface="Arial" charset="0"/>
              </a:rPr>
              <a:t> </a:t>
            </a:r>
            <a:r>
              <a:rPr lang="en-US" sz="2400" dirty="0" err="1">
                <a:latin typeface="Arial" charset="0"/>
                <a:cs typeface="Arial" charset="0"/>
              </a:rPr>
              <a:t>bớt</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tính</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Dễ</a:t>
            </a:r>
            <a:r>
              <a:rPr lang="en-US" sz="2400" dirty="0">
                <a:latin typeface="Arial" charset="0"/>
                <a:cs typeface="Arial" charset="0"/>
              </a:rPr>
              <a:t> </a:t>
            </a:r>
            <a:r>
              <a:rPr lang="en-US" sz="2400" dirty="0" err="1">
                <a:latin typeface="Arial" charset="0"/>
                <a:cs typeface="Arial" charset="0"/>
              </a:rPr>
              <a:t>dàng</a:t>
            </a:r>
            <a:r>
              <a:rPr lang="en-US" sz="2400" dirty="0">
                <a:latin typeface="Arial" charset="0"/>
                <a:cs typeface="Arial" charset="0"/>
              </a:rPr>
              <a:t> </a:t>
            </a:r>
            <a:r>
              <a:rPr lang="en-US" sz="2400" dirty="0" err="1">
                <a:latin typeface="Arial" charset="0"/>
                <a:cs typeface="Arial" charset="0"/>
              </a:rPr>
              <a:t>theo</a:t>
            </a:r>
            <a:r>
              <a:rPr lang="en-US" sz="2400" dirty="0">
                <a:latin typeface="Arial" charset="0"/>
                <a:cs typeface="Arial" charset="0"/>
              </a:rPr>
              <a:t> </a:t>
            </a:r>
            <a:r>
              <a:rPr lang="en-US" sz="2400" dirty="0" err="1">
                <a:latin typeface="Arial" charset="0"/>
                <a:cs typeface="Arial" charset="0"/>
              </a:rPr>
              <a:t>dõi</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giải</a:t>
            </a:r>
            <a:r>
              <a:rPr lang="en-US" sz="2400" dirty="0">
                <a:latin typeface="Arial" charset="0"/>
                <a:cs typeface="Arial" charset="0"/>
              </a:rPr>
              <a:t> </a:t>
            </a:r>
            <a:r>
              <a:rPr lang="en-US" sz="2400" dirty="0" err="1">
                <a:latin typeface="Arial" charset="0"/>
                <a:cs typeface="Arial" charset="0"/>
              </a:rPr>
              <a:t>quyết</a:t>
            </a:r>
            <a:r>
              <a:rPr lang="en-US" sz="2400" dirty="0">
                <a:latin typeface="Arial" charset="0"/>
                <a:cs typeface="Arial" charset="0"/>
              </a:rPr>
              <a:t> </a:t>
            </a:r>
            <a:r>
              <a:rPr lang="en-US" sz="2400" dirty="0" err="1">
                <a:latin typeface="Arial" charset="0"/>
                <a:cs typeface="Arial" charset="0"/>
              </a:rPr>
              <a:t>sự</a:t>
            </a:r>
            <a:r>
              <a:rPr lang="en-US" sz="2400" dirty="0">
                <a:latin typeface="Arial" charset="0"/>
                <a:cs typeface="Arial" charset="0"/>
              </a:rPr>
              <a:t> </a:t>
            </a:r>
            <a:r>
              <a:rPr lang="en-US" sz="2400" dirty="0" err="1">
                <a:latin typeface="Arial" charset="0"/>
                <a:cs typeface="Arial" charset="0"/>
              </a:rPr>
              <a:t>cố</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thể</a:t>
            </a:r>
            <a:r>
              <a:rPr lang="en-US" sz="2400" dirty="0">
                <a:latin typeface="Arial" charset="0"/>
                <a:cs typeface="Arial" charset="0"/>
              </a:rPr>
              <a:t> </a:t>
            </a:r>
            <a:r>
              <a:rPr lang="en-US" sz="2400" dirty="0" err="1">
                <a:latin typeface="Arial" charset="0"/>
                <a:cs typeface="Arial" charset="0"/>
              </a:rPr>
              <a:t>phù</a:t>
            </a:r>
            <a:r>
              <a:rPr lang="en-US" sz="2400" dirty="0">
                <a:latin typeface="Arial" charset="0"/>
                <a:cs typeface="Arial" charset="0"/>
              </a:rPr>
              <a:t> </a:t>
            </a:r>
            <a:r>
              <a:rPr lang="en-US" sz="2400" dirty="0" err="1">
                <a:latin typeface="Arial" charset="0"/>
                <a:cs typeface="Arial" charset="0"/>
              </a:rPr>
              <a:t>hợp</a:t>
            </a:r>
            <a:r>
              <a:rPr lang="en-US" sz="2400" dirty="0">
                <a:latin typeface="Arial" charset="0"/>
                <a:cs typeface="Arial" charset="0"/>
              </a:rPr>
              <a:t> </a:t>
            </a:r>
            <a:r>
              <a:rPr lang="en-US" sz="2400" dirty="0" err="1">
                <a:latin typeface="Arial" charset="0"/>
                <a:cs typeface="Arial" charset="0"/>
              </a:rPr>
              <a:t>với</a:t>
            </a:r>
            <a:r>
              <a:rPr lang="en-US" sz="2400" dirty="0">
                <a:latin typeface="Arial" charset="0"/>
                <a:cs typeface="Arial" charset="0"/>
              </a:rPr>
              <a:t> </a:t>
            </a:r>
            <a:r>
              <a:rPr lang="en-US" sz="2400" dirty="0" err="1">
                <a:latin typeface="Arial" charset="0"/>
                <a:cs typeface="Arial" charset="0"/>
              </a:rPr>
              <a:t>nhiều</a:t>
            </a:r>
            <a:r>
              <a:rPr lang="en-US" sz="2400" dirty="0">
                <a:latin typeface="Arial" charset="0"/>
                <a:cs typeface="Arial" charset="0"/>
              </a:rPr>
              <a:t> </a:t>
            </a:r>
            <a:r>
              <a:rPr lang="en-US" sz="2400" dirty="0" err="1">
                <a:latin typeface="Arial" charset="0"/>
                <a:cs typeface="Arial" charset="0"/>
              </a:rPr>
              <a:t>loại</a:t>
            </a:r>
            <a:r>
              <a:rPr lang="en-US" sz="2400" dirty="0">
                <a:latin typeface="Arial" charset="0"/>
                <a:cs typeface="Arial" charset="0"/>
              </a:rPr>
              <a:t> </a:t>
            </a:r>
            <a:r>
              <a:rPr lang="en-US" sz="2400" dirty="0" err="1">
                <a:latin typeface="Arial" charset="0"/>
                <a:cs typeface="Arial" charset="0"/>
              </a:rPr>
              <a:t>cáp</a:t>
            </a:r>
            <a:r>
              <a:rPr lang="en-US" sz="2400" dirty="0">
                <a:latin typeface="Arial" charset="0"/>
                <a:cs typeface="Arial" charset="0"/>
              </a:rPr>
              <a:t> </a:t>
            </a:r>
            <a:r>
              <a:rPr lang="en-US" sz="2400" dirty="0" err="1">
                <a:latin typeface="Arial" charset="0"/>
                <a:cs typeface="Arial" charset="0"/>
              </a:rPr>
              <a:t>khác</a:t>
            </a:r>
            <a:r>
              <a:rPr lang="en-US" sz="2400" dirty="0">
                <a:latin typeface="Arial" charset="0"/>
                <a:cs typeface="Arial" charset="0"/>
              </a:rPr>
              <a:t> </a:t>
            </a:r>
            <a:r>
              <a:rPr lang="en-US" sz="2400" dirty="0" err="1">
                <a:latin typeface="Arial" charset="0"/>
                <a:cs typeface="Arial" charset="0"/>
              </a:rPr>
              <a:t>nhau</a:t>
            </a:r>
            <a:endParaRPr lang="en-US" sz="2400" dirty="0">
              <a:latin typeface="Arial" charset="0"/>
              <a:cs typeface="Arial" charset="0"/>
            </a:endParaRPr>
          </a:p>
          <a:p>
            <a:pPr eaLnBrk="1" hangingPunct="1">
              <a:lnSpc>
                <a:spcPct val="85000"/>
              </a:lnSpc>
              <a:spcBef>
                <a:spcPct val="45000"/>
              </a:spcBef>
              <a:buClr>
                <a:srgbClr val="7030A0"/>
              </a:buClr>
              <a:buFont typeface="Wingdings" pitchFamily="2" charset="2"/>
              <a:buChar char="§"/>
            </a:pPr>
            <a:r>
              <a:rPr lang="en-US" sz="2400" dirty="0" err="1">
                <a:latin typeface="Arial" charset="0"/>
                <a:cs typeface="Arial" charset="0"/>
              </a:rPr>
              <a:t>Hạn</a:t>
            </a:r>
            <a:r>
              <a:rPr lang="en-US" sz="2400" dirty="0">
                <a:latin typeface="Arial" charset="0"/>
                <a:cs typeface="Arial" charset="0"/>
              </a:rPr>
              <a:t> </a:t>
            </a:r>
            <a:r>
              <a:rPr lang="en-US" sz="2400" dirty="0" err="1">
                <a:latin typeface="Arial" charset="0"/>
                <a:cs typeface="Arial" charset="0"/>
              </a:rPr>
              <a:t>chế</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Khi</a:t>
            </a:r>
            <a:r>
              <a:rPr lang="en-US" sz="2400" dirty="0">
                <a:latin typeface="Arial" charset="0"/>
                <a:cs typeface="Arial" charset="0"/>
              </a:rPr>
              <a:t> hub </a:t>
            </a:r>
            <a:r>
              <a:rPr lang="en-US" sz="2400" dirty="0" err="1">
                <a:latin typeface="Arial" charset="0"/>
                <a:cs typeface="Arial" charset="0"/>
              </a:rPr>
              <a:t>không</a:t>
            </a:r>
            <a:r>
              <a:rPr lang="en-US" sz="2400" dirty="0">
                <a:latin typeface="Arial" charset="0"/>
                <a:cs typeface="Arial" charset="0"/>
              </a:rPr>
              <a:t> </a:t>
            </a:r>
            <a:r>
              <a:rPr lang="en-US" sz="2400" dirty="0" err="1">
                <a:latin typeface="Arial" charset="0"/>
                <a:cs typeface="Arial" charset="0"/>
              </a:rPr>
              <a:t>làm</a:t>
            </a:r>
            <a:r>
              <a:rPr lang="en-US" sz="2400" dirty="0">
                <a:latin typeface="Arial" charset="0"/>
                <a:cs typeface="Arial" charset="0"/>
              </a:rPr>
              <a:t> </a:t>
            </a:r>
            <a:r>
              <a:rPr lang="en-US" sz="2400" dirty="0" err="1">
                <a:latin typeface="Arial" charset="0"/>
                <a:cs typeface="Arial" charset="0"/>
              </a:rPr>
              <a:t>việc</a:t>
            </a:r>
            <a:r>
              <a:rPr lang="en-US" sz="2400" dirty="0">
                <a:latin typeface="Arial" charset="0"/>
                <a:cs typeface="Arial" charset="0"/>
              </a:rPr>
              <a:t>, </a:t>
            </a:r>
            <a:r>
              <a:rPr lang="en-US" sz="2400" dirty="0" err="1">
                <a:latin typeface="Arial" charset="0"/>
                <a:cs typeface="Arial" charset="0"/>
              </a:rPr>
              <a:t>toàn</a:t>
            </a:r>
            <a:r>
              <a:rPr lang="en-US" sz="2400" dirty="0">
                <a:latin typeface="Arial" charset="0"/>
                <a:cs typeface="Arial" charset="0"/>
              </a:rPr>
              <a:t> </a:t>
            </a:r>
            <a:r>
              <a:rPr lang="en-US" sz="2400" dirty="0" err="1">
                <a:latin typeface="Arial" charset="0"/>
                <a:cs typeface="Arial" charset="0"/>
              </a:rPr>
              <a:t>mạng</a:t>
            </a:r>
            <a:r>
              <a:rPr lang="en-US" sz="2400" dirty="0">
                <a:latin typeface="Arial" charset="0"/>
                <a:cs typeface="Arial" charset="0"/>
              </a:rPr>
              <a:t> </a:t>
            </a:r>
            <a:r>
              <a:rPr lang="en-US" sz="2400" dirty="0" err="1">
                <a:latin typeface="Arial" charset="0"/>
                <a:cs typeface="Arial" charset="0"/>
              </a:rPr>
              <a:t>cũng</a:t>
            </a:r>
            <a:r>
              <a:rPr lang="en-US" sz="2400" dirty="0">
                <a:latin typeface="Arial" charset="0"/>
                <a:cs typeface="Arial" charset="0"/>
              </a:rPr>
              <a:t> </a:t>
            </a:r>
            <a:r>
              <a:rPr lang="en-US" sz="2400" dirty="0" err="1">
                <a:latin typeface="Arial" charset="0"/>
                <a:cs typeface="Arial" charset="0"/>
              </a:rPr>
              <a:t>sẽ</a:t>
            </a:r>
            <a:r>
              <a:rPr lang="en-US" sz="2400" dirty="0">
                <a:latin typeface="Arial" charset="0"/>
                <a:cs typeface="Arial" charset="0"/>
              </a:rPr>
              <a:t> </a:t>
            </a:r>
            <a:r>
              <a:rPr lang="en-US" sz="2400" dirty="0" err="1">
                <a:latin typeface="Arial" charset="0"/>
                <a:cs typeface="Arial" charset="0"/>
              </a:rPr>
              <a:t>không</a:t>
            </a:r>
            <a:r>
              <a:rPr lang="en-US" sz="2400" dirty="0">
                <a:latin typeface="Arial" charset="0"/>
                <a:cs typeface="Arial" charset="0"/>
              </a:rPr>
              <a:t> </a:t>
            </a:r>
            <a:r>
              <a:rPr lang="en-US" sz="2400" dirty="0" err="1">
                <a:latin typeface="Arial" charset="0"/>
                <a:cs typeface="Arial" charset="0"/>
              </a:rPr>
              <a:t>làm</a:t>
            </a:r>
            <a:r>
              <a:rPr lang="en-US" sz="2400" dirty="0">
                <a:latin typeface="Arial" charset="0"/>
                <a:cs typeface="Arial" charset="0"/>
              </a:rPr>
              <a:t> </a:t>
            </a:r>
            <a:r>
              <a:rPr lang="en-US" sz="2400" dirty="0" err="1">
                <a:latin typeface="Arial" charset="0"/>
                <a:cs typeface="Arial" charset="0"/>
              </a:rPr>
              <a:t>việc</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Sử</a:t>
            </a:r>
            <a:r>
              <a:rPr lang="en-US" sz="2400" dirty="0">
                <a:latin typeface="Arial" charset="0"/>
                <a:cs typeface="Arial" charset="0"/>
              </a:rPr>
              <a:t> </a:t>
            </a:r>
            <a:r>
              <a:rPr lang="en-US" sz="2400" dirty="0" err="1">
                <a:latin typeface="Arial" charset="0"/>
                <a:cs typeface="Arial" charset="0"/>
              </a:rPr>
              <a:t>dụng</a:t>
            </a:r>
            <a:r>
              <a:rPr lang="en-US" sz="2400" dirty="0">
                <a:latin typeface="Arial" charset="0"/>
                <a:cs typeface="Arial" charset="0"/>
              </a:rPr>
              <a:t> </a:t>
            </a:r>
            <a:r>
              <a:rPr lang="en-US" sz="2400" dirty="0" err="1">
                <a:latin typeface="Arial" charset="0"/>
                <a:cs typeface="Arial" charset="0"/>
              </a:rPr>
              <a:t>nhiều</a:t>
            </a:r>
            <a:r>
              <a:rPr lang="en-US" sz="2400" dirty="0">
                <a:latin typeface="Arial" charset="0"/>
                <a:cs typeface="Arial" charset="0"/>
              </a:rPr>
              <a:t> </a:t>
            </a:r>
            <a:r>
              <a:rPr lang="en-US" sz="2400" dirty="0" err="1">
                <a:latin typeface="Arial" charset="0"/>
                <a:cs typeface="Arial" charset="0"/>
              </a:rPr>
              <a:t>cáp</a:t>
            </a:r>
            <a:endParaRPr lang="en-US" sz="2400" dirty="0">
              <a:latin typeface="Arial" charset="0"/>
              <a:cs typeface="Arial" charset="0"/>
            </a:endParaRPr>
          </a:p>
        </p:txBody>
      </p:sp>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D4F2972-A52A-4FF9-8A6A-B9FA289E05C3}" type="slidenum">
              <a:rPr lang="en-US">
                <a:latin typeface="Arial" pitchFamily="34" charset="0"/>
                <a:cs typeface="Arial" pitchFamily="34" charset="0"/>
              </a:rPr>
              <a:pPr>
                <a:defRPr/>
              </a:pPr>
              <a:t>82</a:t>
            </a:fld>
            <a:endParaRPr lang="en-US">
              <a:latin typeface="Arial" pitchFamily="34" charset="0"/>
              <a:cs typeface="Arial" pitchFamily="34" charset="0"/>
            </a:endParaRPr>
          </a:p>
        </p:txBody>
      </p:sp>
      <p:pic>
        <p:nvPicPr>
          <p:cNvPr id="6042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2514601"/>
            <a:ext cx="381000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DẠNG HÌNH SAO (STAR)</a:t>
            </a:r>
          </a:p>
        </p:txBody>
      </p:sp>
    </p:spTree>
    <p:extLst>
      <p:ext uri="{BB962C8B-B14F-4D97-AF65-F5344CB8AC3E}">
        <p14:creationId xmlns:p14="http://schemas.microsoft.com/office/powerpoint/2010/main" val="273668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4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04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4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4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4"/>
          <p:cNvSpPr>
            <a:spLocks noGrp="1" noChangeArrowheads="1"/>
          </p:cNvSpPr>
          <p:nvPr>
            <p:ph idx="1"/>
          </p:nvPr>
        </p:nvSpPr>
        <p:spPr>
          <a:xfrm>
            <a:off x="1981200" y="1524000"/>
            <a:ext cx="4572000" cy="4648200"/>
          </a:xfrm>
        </p:spPr>
        <p:txBody>
          <a:bodyPr/>
          <a:lstStyle/>
          <a:p>
            <a:pPr eaLnBrk="1" hangingPunct="1">
              <a:lnSpc>
                <a:spcPct val="85000"/>
              </a:lnSpc>
              <a:spcBef>
                <a:spcPct val="25000"/>
              </a:spcBef>
              <a:buClr>
                <a:srgbClr val="7030A0"/>
              </a:buClr>
              <a:buFont typeface="Wingdings" pitchFamily="2" charset="2"/>
              <a:buChar char="§"/>
            </a:pPr>
            <a:r>
              <a:rPr lang="en-US" sz="2400" dirty="0" err="1">
                <a:latin typeface="Arial" charset="0"/>
                <a:cs typeface="Arial" charset="0"/>
              </a:rPr>
              <a:t>Ưu</a:t>
            </a:r>
            <a:r>
              <a:rPr lang="en-US" sz="2400" dirty="0">
                <a:latin typeface="Arial" charset="0"/>
                <a:cs typeface="Arial" charset="0"/>
              </a:rPr>
              <a:t> </a:t>
            </a:r>
            <a:r>
              <a:rPr lang="en-US" sz="2400" dirty="0" err="1">
                <a:latin typeface="Arial" charset="0"/>
                <a:cs typeface="Arial" charset="0"/>
              </a:rPr>
              <a:t>điểm</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Tính</a:t>
            </a:r>
            <a:r>
              <a:rPr lang="en-US" sz="2400" dirty="0">
                <a:latin typeface="Arial" charset="0"/>
                <a:cs typeface="Arial" charset="0"/>
              </a:rPr>
              <a:t> </a:t>
            </a:r>
            <a:r>
              <a:rPr lang="en-US" sz="2400" dirty="0" err="1">
                <a:latin typeface="Arial" charset="0"/>
                <a:cs typeface="Arial" charset="0"/>
              </a:rPr>
              <a:t>sẳn</a:t>
            </a:r>
            <a:r>
              <a:rPr lang="en-US" sz="2400" dirty="0">
                <a:latin typeface="Arial" charset="0"/>
                <a:cs typeface="Arial" charset="0"/>
              </a:rPr>
              <a:t> </a:t>
            </a:r>
            <a:r>
              <a:rPr lang="en-US" sz="2400" dirty="0" err="1">
                <a:latin typeface="Arial" charset="0"/>
                <a:cs typeface="Arial" charset="0"/>
              </a:rPr>
              <a:t>sàng</a:t>
            </a:r>
            <a:r>
              <a:rPr lang="en-US" sz="2400" dirty="0">
                <a:latin typeface="Arial" charset="0"/>
                <a:cs typeface="Arial" charset="0"/>
              </a:rPr>
              <a:t> </a:t>
            </a:r>
            <a:r>
              <a:rPr lang="en-US" sz="2400" dirty="0" err="1">
                <a:latin typeface="Arial" charset="0"/>
                <a:cs typeface="Arial" charset="0"/>
              </a:rPr>
              <a:t>hoạt</a:t>
            </a:r>
            <a:r>
              <a:rPr lang="en-US" sz="2400" dirty="0">
                <a:latin typeface="Arial" charset="0"/>
                <a:cs typeface="Arial" charset="0"/>
              </a:rPr>
              <a:t> </a:t>
            </a:r>
            <a:r>
              <a:rPr lang="en-US" sz="2400" dirty="0" err="1">
                <a:latin typeface="Arial" charset="0"/>
                <a:cs typeface="Arial" charset="0"/>
              </a:rPr>
              <a:t>động</a:t>
            </a:r>
            <a:r>
              <a:rPr lang="en-US" sz="2400" dirty="0">
                <a:latin typeface="Arial" charset="0"/>
                <a:cs typeface="Arial" charset="0"/>
              </a:rPr>
              <a:t> </a:t>
            </a:r>
            <a:r>
              <a:rPr lang="en-US" sz="2400" dirty="0" err="1">
                <a:latin typeface="Arial" charset="0"/>
                <a:cs typeface="Arial" charset="0"/>
              </a:rPr>
              <a:t>cao</a:t>
            </a:r>
            <a:r>
              <a:rPr lang="en-US" sz="2400" dirty="0">
                <a:latin typeface="Arial" charset="0"/>
                <a:cs typeface="Arial" charset="0"/>
              </a:rPr>
              <a:t>.</a:t>
            </a: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Áp</a:t>
            </a:r>
            <a:r>
              <a:rPr lang="en-US" sz="2400" dirty="0">
                <a:latin typeface="Arial" charset="0"/>
                <a:cs typeface="Arial" charset="0"/>
              </a:rPr>
              <a:t> </a:t>
            </a:r>
            <a:r>
              <a:rPr lang="en-US" sz="2400" dirty="0" err="1">
                <a:latin typeface="Arial" charset="0"/>
                <a:cs typeface="Arial" charset="0"/>
              </a:rPr>
              <a:t>dụng</a:t>
            </a:r>
            <a:r>
              <a:rPr lang="en-US" sz="2400" dirty="0">
                <a:latin typeface="Arial" charset="0"/>
                <a:cs typeface="Arial" charset="0"/>
              </a:rPr>
              <a:t> </a:t>
            </a:r>
            <a:r>
              <a:rPr lang="en-US" sz="2400" dirty="0" err="1">
                <a:latin typeface="Arial" charset="0"/>
                <a:cs typeface="Arial" charset="0"/>
              </a:rPr>
              <a:t>cho</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hệ</a:t>
            </a:r>
            <a:r>
              <a:rPr lang="en-US" sz="2400" dirty="0">
                <a:latin typeface="Arial" charset="0"/>
                <a:cs typeface="Arial" charset="0"/>
              </a:rPr>
              <a:t> </a:t>
            </a:r>
            <a:r>
              <a:rPr lang="en-US" sz="2400" dirty="0" err="1">
                <a:latin typeface="Arial" charset="0"/>
                <a:cs typeface="Arial" charset="0"/>
              </a:rPr>
              <a:t>thống</a:t>
            </a:r>
            <a:r>
              <a:rPr lang="en-US" sz="2400" dirty="0">
                <a:latin typeface="Arial" charset="0"/>
                <a:cs typeface="Arial" charset="0"/>
              </a:rPr>
              <a:t> </a:t>
            </a:r>
            <a:r>
              <a:rPr lang="en-US" sz="2400" dirty="0" err="1">
                <a:latin typeface="Arial" charset="0"/>
                <a:cs typeface="Arial" charset="0"/>
              </a:rPr>
              <a:t>mạng</a:t>
            </a:r>
            <a:r>
              <a:rPr lang="en-US" sz="2400" dirty="0">
                <a:latin typeface="Arial" charset="0"/>
                <a:cs typeface="Arial" charset="0"/>
              </a:rPr>
              <a:t> </a:t>
            </a:r>
            <a:r>
              <a:rPr lang="en-US" sz="2400" dirty="0" err="1">
                <a:latin typeface="Arial" charset="0"/>
                <a:cs typeface="Arial" charset="0"/>
              </a:rPr>
              <a:t>phải</a:t>
            </a:r>
            <a:r>
              <a:rPr lang="en-US" sz="2400" dirty="0">
                <a:latin typeface="Arial" charset="0"/>
                <a:cs typeface="Arial" charset="0"/>
              </a:rPr>
              <a:t> </a:t>
            </a:r>
            <a:r>
              <a:rPr lang="en-US" sz="2400" dirty="0" err="1">
                <a:latin typeface="Arial" charset="0"/>
                <a:cs typeface="Arial" charset="0"/>
              </a:rPr>
              <a:t>hoạt</a:t>
            </a:r>
            <a:r>
              <a:rPr lang="en-US" sz="2400" dirty="0">
                <a:latin typeface="Arial" charset="0"/>
                <a:cs typeface="Arial" charset="0"/>
              </a:rPr>
              <a:t> </a:t>
            </a:r>
            <a:r>
              <a:rPr lang="en-US" sz="2400" dirty="0" err="1">
                <a:latin typeface="Arial" charset="0"/>
                <a:cs typeface="Arial" charset="0"/>
              </a:rPr>
              <a:t>động</a:t>
            </a:r>
            <a:r>
              <a:rPr lang="en-US" sz="2400" dirty="0">
                <a:latin typeface="Arial" charset="0"/>
                <a:cs typeface="Arial" charset="0"/>
              </a:rPr>
              <a:t> </a:t>
            </a:r>
            <a:r>
              <a:rPr lang="en-US" sz="2400" dirty="0" err="1">
                <a:latin typeface="Arial" charset="0"/>
                <a:cs typeface="Arial" charset="0"/>
              </a:rPr>
              <a:t>thường</a:t>
            </a:r>
            <a:r>
              <a:rPr lang="en-US" sz="2400" dirty="0">
                <a:latin typeface="Arial" charset="0"/>
                <a:cs typeface="Arial" charset="0"/>
              </a:rPr>
              <a:t> </a:t>
            </a:r>
            <a:r>
              <a:rPr lang="en-US" sz="2400" dirty="0" err="1">
                <a:latin typeface="Arial" charset="0"/>
                <a:cs typeface="Arial" charset="0"/>
              </a:rPr>
              <a:t>xuyên</a:t>
            </a:r>
            <a:r>
              <a:rPr lang="en-US" sz="2400" dirty="0">
                <a:latin typeface="Arial" charset="0"/>
                <a:cs typeface="Arial" charset="0"/>
              </a:rPr>
              <a:t>.</a:t>
            </a:r>
          </a:p>
          <a:p>
            <a:pPr eaLnBrk="1" hangingPunct="1">
              <a:lnSpc>
                <a:spcPct val="85000"/>
              </a:lnSpc>
              <a:spcBef>
                <a:spcPct val="45000"/>
              </a:spcBef>
              <a:buClr>
                <a:srgbClr val="7030A0"/>
              </a:buClr>
              <a:buFont typeface="Wingdings" pitchFamily="2" charset="2"/>
              <a:buChar char="§"/>
            </a:pPr>
            <a:r>
              <a:rPr lang="en-US" sz="2400" dirty="0" err="1">
                <a:latin typeface="Arial" charset="0"/>
                <a:cs typeface="Arial" charset="0"/>
              </a:rPr>
              <a:t>Hạn</a:t>
            </a:r>
            <a:r>
              <a:rPr lang="en-US" sz="2400" dirty="0">
                <a:latin typeface="Arial" charset="0"/>
                <a:cs typeface="Arial" charset="0"/>
              </a:rPr>
              <a:t> </a:t>
            </a:r>
            <a:r>
              <a:rPr lang="en-US" sz="2400" dirty="0" err="1">
                <a:latin typeface="Arial" charset="0"/>
                <a:cs typeface="Arial" charset="0"/>
              </a:rPr>
              <a:t>chế</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Khi</a:t>
            </a:r>
            <a:r>
              <a:rPr lang="en-US" sz="2400" dirty="0">
                <a:latin typeface="Arial" charset="0"/>
                <a:cs typeface="Arial" charset="0"/>
              </a:rPr>
              <a:t> </a:t>
            </a:r>
            <a:r>
              <a:rPr lang="en-US" sz="2400" dirty="0" err="1">
                <a:latin typeface="Arial" charset="0"/>
                <a:cs typeface="Arial" charset="0"/>
              </a:rPr>
              <a:t>thêm</a:t>
            </a:r>
            <a:r>
              <a:rPr lang="en-US" sz="2400" dirty="0">
                <a:latin typeface="Arial" charset="0"/>
                <a:cs typeface="Arial" charset="0"/>
              </a:rPr>
              <a:t> </a:t>
            </a:r>
            <a:r>
              <a:rPr lang="en-US" sz="2400" dirty="0" err="1">
                <a:latin typeface="Arial" charset="0"/>
                <a:cs typeface="Arial" charset="0"/>
              </a:rPr>
              <a:t>một</a:t>
            </a:r>
            <a:r>
              <a:rPr lang="en-US" sz="2400" dirty="0">
                <a:latin typeface="Arial" charset="0"/>
                <a:cs typeface="Arial" charset="0"/>
              </a:rPr>
              <a:t> </a:t>
            </a:r>
            <a:r>
              <a:rPr lang="en-US" sz="2400" dirty="0" err="1">
                <a:latin typeface="Arial" charset="0"/>
                <a:cs typeface="Arial" charset="0"/>
              </a:rPr>
              <a:t>máy</a:t>
            </a:r>
            <a:r>
              <a:rPr lang="en-US" sz="2400" dirty="0">
                <a:latin typeface="Arial" charset="0"/>
                <a:cs typeface="Arial" charset="0"/>
              </a:rPr>
              <a:t> </a:t>
            </a:r>
            <a:r>
              <a:rPr lang="en-US" sz="2400" dirty="0" err="1">
                <a:latin typeface="Arial" charset="0"/>
                <a:cs typeface="Arial" charset="0"/>
              </a:rPr>
              <a:t>tính</a:t>
            </a:r>
            <a:r>
              <a:rPr lang="en-US" sz="2400" dirty="0">
                <a:latin typeface="Arial" charset="0"/>
                <a:cs typeface="Arial" charset="0"/>
              </a:rPr>
              <a:t> </a:t>
            </a:r>
            <a:r>
              <a:rPr lang="en-US" sz="2400" dirty="0" err="1">
                <a:latin typeface="Arial" charset="0"/>
                <a:cs typeface="Arial" charset="0"/>
              </a:rPr>
              <a:t>vào</a:t>
            </a:r>
            <a:r>
              <a:rPr lang="en-US" sz="2400" dirty="0">
                <a:latin typeface="Arial" charset="0"/>
                <a:cs typeface="Arial" charset="0"/>
              </a:rPr>
              <a:t>, </a:t>
            </a:r>
            <a:r>
              <a:rPr lang="en-US" sz="2400" dirty="0" err="1">
                <a:latin typeface="Arial" charset="0"/>
                <a:cs typeface="Arial" charset="0"/>
              </a:rPr>
              <a:t>số</a:t>
            </a:r>
            <a:r>
              <a:rPr lang="en-US" sz="2400" dirty="0">
                <a:latin typeface="Arial" charset="0"/>
                <a:cs typeface="Arial" charset="0"/>
              </a:rPr>
              <a:t> </a:t>
            </a:r>
            <a:r>
              <a:rPr lang="en-US" sz="2400" dirty="0" err="1">
                <a:latin typeface="Arial" charset="0"/>
                <a:cs typeface="Arial" charset="0"/>
              </a:rPr>
              <a:t>lượng</a:t>
            </a:r>
            <a:r>
              <a:rPr lang="en-US" sz="2400" dirty="0">
                <a:latin typeface="Arial" charset="0"/>
                <a:cs typeface="Arial" charset="0"/>
              </a:rPr>
              <a:t> </a:t>
            </a:r>
            <a:r>
              <a:rPr lang="en-US" sz="2400" dirty="0" err="1">
                <a:latin typeface="Arial" charset="0"/>
                <a:cs typeface="Arial" charset="0"/>
              </a:rPr>
              <a:t>kết</a:t>
            </a:r>
            <a:r>
              <a:rPr lang="en-US" sz="2400" dirty="0">
                <a:latin typeface="Arial" charset="0"/>
                <a:cs typeface="Arial" charset="0"/>
              </a:rPr>
              <a:t> </a:t>
            </a:r>
            <a:r>
              <a:rPr lang="en-US" sz="2400" dirty="0" err="1">
                <a:latin typeface="Arial" charset="0"/>
                <a:cs typeface="Arial" charset="0"/>
              </a:rPr>
              <a:t>nối</a:t>
            </a:r>
            <a:r>
              <a:rPr lang="en-US" sz="2400" dirty="0">
                <a:latin typeface="Arial" charset="0"/>
                <a:cs typeface="Arial" charset="0"/>
              </a:rPr>
              <a:t> </a:t>
            </a:r>
            <a:r>
              <a:rPr lang="en-US" sz="2400" dirty="0" err="1">
                <a:latin typeface="Arial" charset="0"/>
                <a:cs typeface="Arial" charset="0"/>
              </a:rPr>
              <a:t>gia</a:t>
            </a:r>
            <a:r>
              <a:rPr lang="en-US" sz="2400" dirty="0">
                <a:latin typeface="Arial" charset="0"/>
                <a:cs typeface="Arial" charset="0"/>
              </a:rPr>
              <a:t> </a:t>
            </a:r>
            <a:r>
              <a:rPr lang="en-US" sz="2400" dirty="0" err="1">
                <a:latin typeface="Arial" charset="0"/>
                <a:cs typeface="Arial" charset="0"/>
              </a:rPr>
              <a:t>tăng</a:t>
            </a:r>
            <a:r>
              <a:rPr lang="en-US" sz="2400" dirty="0">
                <a:latin typeface="Arial" charset="0"/>
                <a:cs typeface="Arial" charset="0"/>
              </a:rPr>
              <a:t> </a:t>
            </a:r>
            <a:r>
              <a:rPr lang="en-US" sz="2400" dirty="0" err="1">
                <a:latin typeface="Arial" charset="0"/>
                <a:cs typeface="Arial" charset="0"/>
              </a:rPr>
              <a:t>rất</a:t>
            </a:r>
            <a:r>
              <a:rPr lang="en-US" sz="2400" dirty="0">
                <a:latin typeface="Arial" charset="0"/>
                <a:cs typeface="Arial" charset="0"/>
              </a:rPr>
              <a:t> </a:t>
            </a:r>
            <a:r>
              <a:rPr lang="en-US" sz="2400" dirty="0" err="1">
                <a:latin typeface="Arial" charset="0"/>
                <a:cs typeface="Arial" charset="0"/>
              </a:rPr>
              <a:t>lớn</a:t>
            </a:r>
            <a:r>
              <a:rPr lang="en-US" sz="2400" dirty="0">
                <a:latin typeface="Arial" charset="0"/>
                <a:cs typeface="Arial" charset="0"/>
              </a:rPr>
              <a:t>.</a:t>
            </a: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Khó</a:t>
            </a:r>
            <a:r>
              <a:rPr lang="en-US" sz="2400" dirty="0">
                <a:latin typeface="Arial" charset="0"/>
                <a:cs typeface="Arial" charset="0"/>
              </a:rPr>
              <a:t> </a:t>
            </a:r>
            <a:r>
              <a:rPr lang="en-US" sz="2400" dirty="0" err="1">
                <a:latin typeface="Arial" charset="0"/>
                <a:cs typeface="Arial" charset="0"/>
              </a:rPr>
              <a:t>áp</a:t>
            </a:r>
            <a:r>
              <a:rPr lang="en-US" sz="2400" dirty="0">
                <a:latin typeface="Arial" charset="0"/>
                <a:cs typeface="Arial" charset="0"/>
              </a:rPr>
              <a:t> </a:t>
            </a:r>
            <a:r>
              <a:rPr lang="en-US" sz="2400" dirty="0" err="1">
                <a:latin typeface="Arial" charset="0"/>
                <a:cs typeface="Arial" charset="0"/>
              </a:rPr>
              <a:t>dụng</a:t>
            </a:r>
            <a:r>
              <a:rPr lang="en-US" sz="2400" dirty="0">
                <a:latin typeface="Arial" charset="0"/>
                <a:cs typeface="Arial" charset="0"/>
              </a:rPr>
              <a:t> </a:t>
            </a:r>
            <a:r>
              <a:rPr lang="en-US" sz="2400" dirty="0" err="1">
                <a:latin typeface="Arial" charset="0"/>
                <a:cs typeface="Arial" charset="0"/>
              </a:rPr>
              <a:t>cho</a:t>
            </a:r>
            <a:r>
              <a:rPr lang="en-US" sz="2400" dirty="0">
                <a:latin typeface="Arial" charset="0"/>
                <a:cs typeface="Arial" charset="0"/>
              </a:rPr>
              <a:t> </a:t>
            </a:r>
            <a:r>
              <a:rPr lang="en-US" sz="2400" dirty="0" err="1">
                <a:latin typeface="Arial" charset="0"/>
                <a:cs typeface="Arial" charset="0"/>
              </a:rPr>
              <a:t>hệ</a:t>
            </a:r>
            <a:r>
              <a:rPr lang="en-US" sz="2400" dirty="0">
                <a:latin typeface="Arial" charset="0"/>
                <a:cs typeface="Arial" charset="0"/>
              </a:rPr>
              <a:t> </a:t>
            </a:r>
            <a:r>
              <a:rPr lang="en-US" sz="2400" dirty="0" err="1">
                <a:latin typeface="Arial" charset="0"/>
                <a:cs typeface="Arial" charset="0"/>
              </a:rPr>
              <a:t>thống</a:t>
            </a:r>
            <a:r>
              <a:rPr lang="en-US" sz="2400" dirty="0">
                <a:latin typeface="Arial" charset="0"/>
                <a:cs typeface="Arial" charset="0"/>
              </a:rPr>
              <a:t> </a:t>
            </a:r>
            <a:r>
              <a:rPr lang="en-US" sz="2400" dirty="0" err="1">
                <a:latin typeface="Arial" charset="0"/>
                <a:cs typeface="Arial" charset="0"/>
              </a:rPr>
              <a:t>mạng</a:t>
            </a:r>
            <a:r>
              <a:rPr lang="en-US" sz="2400" dirty="0">
                <a:latin typeface="Arial" charset="0"/>
                <a:cs typeface="Arial" charset="0"/>
              </a:rPr>
              <a:t> </a:t>
            </a:r>
            <a:r>
              <a:rPr lang="en-US" sz="2400" dirty="0" err="1">
                <a:latin typeface="Arial" charset="0"/>
                <a:cs typeface="Arial" charset="0"/>
              </a:rPr>
              <a:t>lớn</a:t>
            </a:r>
            <a:endParaRPr lang="en-US" sz="2400" dirty="0">
              <a:latin typeface="Arial" charset="0"/>
              <a:cs typeface="Arial" charset="0"/>
            </a:endParaRPr>
          </a:p>
          <a:p>
            <a:pPr lvl="1" eaLnBrk="1" hangingPunct="1">
              <a:lnSpc>
                <a:spcPct val="85000"/>
              </a:lnSpc>
              <a:spcBef>
                <a:spcPct val="25000"/>
              </a:spcBef>
              <a:buClr>
                <a:srgbClr val="0070C0"/>
              </a:buClr>
              <a:buFont typeface="Wingdings" pitchFamily="2" charset="2"/>
              <a:buChar char="§"/>
            </a:pPr>
            <a:r>
              <a:rPr lang="en-US" sz="2400" dirty="0" err="1">
                <a:latin typeface="Arial" charset="0"/>
                <a:cs typeface="Arial" charset="0"/>
              </a:rPr>
              <a:t>Phức</a:t>
            </a:r>
            <a:r>
              <a:rPr lang="en-US" sz="2400" dirty="0">
                <a:latin typeface="Arial" charset="0"/>
                <a:cs typeface="Arial" charset="0"/>
              </a:rPr>
              <a:t> </a:t>
            </a:r>
            <a:r>
              <a:rPr lang="en-US" sz="2400" dirty="0" err="1">
                <a:latin typeface="Arial" charset="0"/>
                <a:cs typeface="Arial" charset="0"/>
              </a:rPr>
              <a:t>tạp</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tốn</a:t>
            </a:r>
            <a:r>
              <a:rPr lang="en-US" sz="2400" dirty="0">
                <a:latin typeface="Arial" charset="0"/>
                <a:cs typeface="Arial" charset="0"/>
              </a:rPr>
              <a:t> chi </a:t>
            </a:r>
            <a:r>
              <a:rPr lang="en-US" sz="2400" dirty="0" err="1">
                <a:latin typeface="Arial" charset="0"/>
                <a:cs typeface="Arial" charset="0"/>
              </a:rPr>
              <a:t>phí</a:t>
            </a:r>
            <a:r>
              <a:rPr lang="en-US" sz="2400" dirty="0">
                <a:latin typeface="Arial" charset="0"/>
                <a:cs typeface="Arial" charset="0"/>
              </a:rPr>
              <a:t>.</a:t>
            </a:r>
          </a:p>
        </p:txBody>
      </p:sp>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D4F2972-A52A-4FF9-8A6A-B9FA289E05C3}" type="slidenum">
              <a:rPr lang="en-US">
                <a:latin typeface="Arial" pitchFamily="34" charset="0"/>
                <a:cs typeface="Arial" pitchFamily="34" charset="0"/>
              </a:rPr>
              <a:pPr>
                <a:defRPr/>
              </a:pPr>
              <a:t>83</a:t>
            </a:fld>
            <a:endParaRPr lang="en-US">
              <a:latin typeface="Arial" pitchFamily="34" charset="0"/>
              <a:cs typeface="Arial" pitchFamily="34" charset="0"/>
            </a:endParaRPr>
          </a:p>
        </p:txBody>
      </p:sp>
      <p:sp>
        <p:nvSpPr>
          <p:cNvPr id="2" name="Title 1"/>
          <p:cNvSpPr>
            <a:spLocks noGrp="1"/>
          </p:cNvSpPr>
          <p:nvPr>
            <p:ph type="title"/>
          </p:nvPr>
        </p:nvSpPr>
        <p:spPr/>
        <p:txBody>
          <a:bodyPr/>
          <a:lstStyle/>
          <a:p>
            <a:r>
              <a:rPr lang="en-US" dirty="0"/>
              <a:t>DẠNG MESH</a:t>
            </a:r>
          </a:p>
        </p:txBody>
      </p:sp>
      <p:pic>
        <p:nvPicPr>
          <p:cNvPr id="19458" name="Picture 2" descr="http://a9.vietbao.vn/images/vn902/2005/11/20508317-images809881_mesh.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2471" y="2057400"/>
            <a:ext cx="3682504"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348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4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4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4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4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MẠNG STAR - BUS</a:t>
            </a:r>
          </a:p>
        </p:txBody>
      </p:sp>
      <p:sp>
        <p:nvSpPr>
          <p:cNvPr id="3" name="Content Placeholder 2"/>
          <p:cNvSpPr>
            <a:spLocks noGrp="1"/>
          </p:cNvSpPr>
          <p:nvPr>
            <p:ph idx="1"/>
          </p:nvPr>
        </p:nvSpPr>
        <p:spPr/>
        <p:txBody>
          <a:bodyPr/>
          <a:lstStyle/>
          <a:p>
            <a:pPr algn="just"/>
            <a:r>
              <a:rPr lang="en-US" b="1" dirty="0"/>
              <a:t>Star bus </a:t>
            </a:r>
            <a:r>
              <a:rPr lang="en-US" dirty="0" err="1"/>
              <a:t>là</a:t>
            </a:r>
            <a:r>
              <a:rPr lang="en-US" dirty="0"/>
              <a:t> </a:t>
            </a:r>
            <a:r>
              <a:rPr lang="en-US" dirty="0" err="1"/>
              <a:t>mạng</a:t>
            </a:r>
            <a:r>
              <a:rPr lang="en-US" dirty="0"/>
              <a:t> </a:t>
            </a:r>
            <a:r>
              <a:rPr lang="en-US" dirty="0" err="1"/>
              <a:t>kết</a:t>
            </a:r>
            <a:r>
              <a:rPr lang="en-US" dirty="0"/>
              <a:t> </a:t>
            </a:r>
            <a:r>
              <a:rPr lang="en-US" dirty="0" err="1"/>
              <a:t>hợp</a:t>
            </a:r>
            <a:r>
              <a:rPr lang="en-US" dirty="0"/>
              <a:t> </a:t>
            </a:r>
            <a:r>
              <a:rPr lang="en-US" dirty="0" err="1"/>
              <a:t>giữa</a:t>
            </a:r>
            <a:r>
              <a:rPr lang="en-US" dirty="0"/>
              <a:t> </a:t>
            </a:r>
            <a:r>
              <a:rPr lang="en-US" dirty="0" err="1"/>
              <a:t>mạng</a:t>
            </a:r>
            <a:r>
              <a:rPr lang="en-US" dirty="0"/>
              <a:t> </a:t>
            </a:r>
            <a:r>
              <a:rPr lang="en-US" b="1" dirty="0"/>
              <a:t>star </a:t>
            </a:r>
            <a:r>
              <a:rPr lang="en-US" dirty="0" err="1"/>
              <a:t>và</a:t>
            </a:r>
            <a:r>
              <a:rPr lang="en-US" dirty="0"/>
              <a:t> </a:t>
            </a:r>
            <a:r>
              <a:rPr lang="en-US" dirty="0" err="1"/>
              <a:t>mạng</a:t>
            </a:r>
            <a:r>
              <a:rPr lang="en-US" dirty="0"/>
              <a:t> </a:t>
            </a:r>
            <a:r>
              <a:rPr lang="en-US" b="1" dirty="0"/>
              <a:t>bus</a:t>
            </a:r>
            <a:r>
              <a:rPr lang="en-US" dirty="0"/>
              <a:t>. </a:t>
            </a:r>
          </a:p>
          <a:p>
            <a:pPr algn="just"/>
            <a:r>
              <a:rPr lang="en-US" dirty="0" err="1"/>
              <a:t>Trong</a:t>
            </a:r>
            <a:r>
              <a:rPr lang="en-US" dirty="0"/>
              <a:t> </a:t>
            </a:r>
            <a:r>
              <a:rPr lang="en-US" dirty="0" err="1"/>
              <a:t>kiến</a:t>
            </a:r>
            <a:r>
              <a:rPr lang="en-US" dirty="0"/>
              <a:t> </a:t>
            </a:r>
            <a:r>
              <a:rPr lang="en-US" dirty="0" err="1"/>
              <a:t>trúc</a:t>
            </a:r>
            <a:r>
              <a:rPr lang="en-US" dirty="0"/>
              <a:t> </a:t>
            </a:r>
            <a:r>
              <a:rPr lang="en-US" dirty="0" err="1"/>
              <a:t>này</a:t>
            </a:r>
            <a:r>
              <a:rPr lang="en-US" dirty="0"/>
              <a:t> </a:t>
            </a:r>
            <a:r>
              <a:rPr lang="en-US" dirty="0" err="1"/>
              <a:t>một</a:t>
            </a:r>
            <a:r>
              <a:rPr lang="en-US" dirty="0"/>
              <a:t> </a:t>
            </a:r>
            <a:r>
              <a:rPr lang="en-US" dirty="0" err="1"/>
              <a:t>vài</a:t>
            </a:r>
            <a:r>
              <a:rPr lang="en-US" dirty="0"/>
              <a:t> </a:t>
            </a:r>
            <a:r>
              <a:rPr lang="en-US" dirty="0" err="1"/>
              <a:t>mạng</a:t>
            </a:r>
            <a:r>
              <a:rPr lang="en-US" dirty="0"/>
              <a:t> </a:t>
            </a:r>
            <a:r>
              <a:rPr lang="en-US" dirty="0" err="1"/>
              <a:t>có</a:t>
            </a:r>
            <a:r>
              <a:rPr lang="en-US" dirty="0"/>
              <a:t> </a:t>
            </a:r>
            <a:r>
              <a:rPr lang="en-US" dirty="0" err="1"/>
              <a:t>kiến</a:t>
            </a:r>
            <a:r>
              <a:rPr lang="en-US" dirty="0"/>
              <a:t> </a:t>
            </a:r>
            <a:r>
              <a:rPr lang="en-US" dirty="0" err="1"/>
              <a:t>trúc</a:t>
            </a:r>
            <a:r>
              <a:rPr lang="en-US" dirty="0"/>
              <a:t> </a:t>
            </a:r>
            <a:r>
              <a:rPr lang="vi-VN" dirty="0"/>
              <a:t>hình </a:t>
            </a:r>
            <a:r>
              <a:rPr lang="vi-VN" b="1" dirty="0"/>
              <a:t>star </a:t>
            </a:r>
            <a:r>
              <a:rPr lang="vi-VN" dirty="0"/>
              <a:t>được nối với trục cáp chính (</a:t>
            </a:r>
            <a:r>
              <a:rPr lang="vi-VN" b="1" dirty="0"/>
              <a:t>bus</a:t>
            </a:r>
            <a:r>
              <a:rPr lang="vi-VN" dirty="0"/>
              <a:t>). </a:t>
            </a:r>
            <a:endParaRPr lang="en-US" dirty="0"/>
          </a:p>
          <a:p>
            <a:pPr algn="just"/>
            <a:r>
              <a:rPr lang="vi-VN" dirty="0"/>
              <a:t>Nếu một máy tính nào đó bị hỏng thì nó không ảnh hưởng</a:t>
            </a:r>
            <a:r>
              <a:rPr lang="en-US" dirty="0"/>
              <a:t> </a:t>
            </a:r>
            <a:r>
              <a:rPr lang="vi-VN" dirty="0"/>
              <a:t>đến phần còn lại của mạng. </a:t>
            </a:r>
            <a:endParaRPr lang="en-US" dirty="0"/>
          </a:p>
          <a:p>
            <a:pPr algn="just"/>
            <a:r>
              <a:rPr lang="vi-VN" dirty="0"/>
              <a:t>Nếu một </a:t>
            </a:r>
            <a:r>
              <a:rPr lang="vi-VN" b="1" dirty="0"/>
              <a:t>Hub </a:t>
            </a:r>
            <a:r>
              <a:rPr lang="vi-VN" dirty="0"/>
              <a:t>bị hỏng thì toàn bộ các máy tính trên </a:t>
            </a:r>
            <a:r>
              <a:rPr lang="vi-VN" b="1" dirty="0"/>
              <a:t>Hub </a:t>
            </a:r>
            <a:r>
              <a:rPr lang="vi-VN" dirty="0"/>
              <a:t>đó sẽ không thể</a:t>
            </a:r>
            <a:r>
              <a:rPr lang="en-US" dirty="0"/>
              <a:t> </a:t>
            </a:r>
            <a:r>
              <a:rPr lang="vi-VN" dirty="0"/>
              <a:t>giao tiếp được.</a:t>
            </a:r>
            <a:endParaRPr lang="en-US" dirty="0"/>
          </a:p>
        </p:txBody>
      </p:sp>
    </p:spTree>
    <p:extLst>
      <p:ext uri="{BB962C8B-B14F-4D97-AF65-F5344CB8AC3E}">
        <p14:creationId xmlns:p14="http://schemas.microsoft.com/office/powerpoint/2010/main" val="174961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MẠNG STAR - BUS</a:t>
            </a:r>
          </a:p>
        </p:txBody>
      </p:sp>
      <p:sp>
        <p:nvSpPr>
          <p:cNvPr id="3" name="Content Placeholder 2"/>
          <p:cNvSpPr>
            <a:spLocks noGrp="1"/>
          </p:cNvSpPr>
          <p:nvPr>
            <p:ph idx="1"/>
          </p:nvPr>
        </p:nvSpPr>
        <p:spPr/>
        <p:txBody>
          <a:bodyPr/>
          <a:lstStyle/>
          <a:p>
            <a:endParaRPr lang="en-US" dirty="0"/>
          </a:p>
        </p:txBody>
      </p:sp>
      <p:pic>
        <p:nvPicPr>
          <p:cNvPr id="24578" name="Picture 2" descr="http://a9.vietbao.vn/images/vn902/2005/11/20508317-images806099_star-bus.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219200"/>
            <a:ext cx="7772400" cy="2202874"/>
          </a:xfrm>
          <a:prstGeom prst="rect">
            <a:avLst/>
          </a:prstGeom>
          <a:noFill/>
          <a:extLst>
            <a:ext uri="{909E8E84-426E-40DD-AFC4-6F175D3DCCD1}">
              <a14:hiddenFill xmlns:a14="http://schemas.microsoft.com/office/drawing/2010/main">
                <a:solidFill>
                  <a:srgbClr val="FFFFFF"/>
                </a:solidFill>
              </a14:hiddenFill>
            </a:ext>
          </a:extLst>
        </p:spPr>
      </p:pic>
      <p:pic>
        <p:nvPicPr>
          <p:cNvPr id="245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1" y="3856703"/>
            <a:ext cx="680606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943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MẠNG STAR RING</a:t>
            </a:r>
          </a:p>
        </p:txBody>
      </p:sp>
      <p:sp>
        <p:nvSpPr>
          <p:cNvPr id="3" name="Content Placeholder 2"/>
          <p:cNvSpPr>
            <a:spLocks noGrp="1"/>
          </p:cNvSpPr>
          <p:nvPr>
            <p:ph idx="1"/>
          </p:nvPr>
        </p:nvSpPr>
        <p:spPr/>
        <p:txBody>
          <a:bodyPr/>
          <a:lstStyle/>
          <a:p>
            <a:pPr algn="just"/>
            <a:r>
              <a:rPr lang="vi-VN" dirty="0"/>
              <a:t>Mạng </a:t>
            </a:r>
            <a:r>
              <a:rPr lang="vi-VN" b="1" dirty="0"/>
              <a:t>Star Ring </a:t>
            </a:r>
            <a:r>
              <a:rPr lang="vi-VN" dirty="0"/>
              <a:t>tương tự như mạng </a:t>
            </a:r>
            <a:r>
              <a:rPr lang="vi-VN" b="1" dirty="0"/>
              <a:t>Star Bus</a:t>
            </a:r>
            <a:r>
              <a:rPr lang="vi-VN" dirty="0"/>
              <a:t>. </a:t>
            </a:r>
            <a:endParaRPr lang="en-US" dirty="0"/>
          </a:p>
          <a:p>
            <a:pPr algn="just"/>
            <a:r>
              <a:rPr lang="vi-VN" dirty="0"/>
              <a:t>Các </a:t>
            </a:r>
            <a:r>
              <a:rPr lang="vi-VN" b="1" dirty="0"/>
              <a:t>Hub </a:t>
            </a:r>
            <a:r>
              <a:rPr lang="vi-VN" dirty="0"/>
              <a:t>trong kiến trúc </a:t>
            </a:r>
            <a:r>
              <a:rPr lang="vi-VN" b="1" dirty="0"/>
              <a:t>Star Bus </a:t>
            </a:r>
            <a:r>
              <a:rPr lang="vi-VN" dirty="0"/>
              <a:t>đều được nối với</a:t>
            </a:r>
            <a:r>
              <a:rPr lang="en-US" dirty="0"/>
              <a:t> </a:t>
            </a:r>
            <a:r>
              <a:rPr lang="vi-VN" dirty="0"/>
              <a:t>nhau bằng trục cáp thẳng (</a:t>
            </a:r>
            <a:r>
              <a:rPr lang="vi-VN" b="1" dirty="0"/>
              <a:t>bus</a:t>
            </a:r>
            <a:r>
              <a:rPr lang="vi-VN" dirty="0"/>
              <a:t>) trong khi </a:t>
            </a:r>
            <a:r>
              <a:rPr lang="vi-VN" b="1" dirty="0"/>
              <a:t>Hub </a:t>
            </a:r>
            <a:r>
              <a:rPr lang="vi-VN" dirty="0"/>
              <a:t>trong cấu hình </a:t>
            </a:r>
            <a:r>
              <a:rPr lang="vi-VN" b="1" dirty="0"/>
              <a:t>Star Ring </a:t>
            </a:r>
            <a:r>
              <a:rPr lang="vi-VN" dirty="0"/>
              <a:t>được nối theo dạng hình </a:t>
            </a:r>
            <a:r>
              <a:rPr lang="vi-VN" b="1" dirty="0"/>
              <a:t>Star</a:t>
            </a:r>
            <a:r>
              <a:rPr lang="en-US" b="1" dirty="0"/>
              <a:t> </a:t>
            </a:r>
            <a:r>
              <a:rPr lang="en-US" dirty="0" err="1"/>
              <a:t>với</a:t>
            </a:r>
            <a:r>
              <a:rPr lang="en-US" dirty="0"/>
              <a:t> </a:t>
            </a:r>
            <a:r>
              <a:rPr lang="en-US" dirty="0" err="1"/>
              <a:t>một</a:t>
            </a:r>
            <a:r>
              <a:rPr lang="en-US" dirty="0"/>
              <a:t> </a:t>
            </a:r>
            <a:r>
              <a:rPr lang="en-US" b="1" dirty="0"/>
              <a:t>Hub </a:t>
            </a:r>
            <a:r>
              <a:rPr lang="en-US" dirty="0" err="1"/>
              <a:t>chính</a:t>
            </a:r>
            <a:r>
              <a:rPr lang="en-US" dirty="0"/>
              <a:t>.</a:t>
            </a:r>
          </a:p>
        </p:txBody>
      </p:sp>
    </p:spTree>
    <p:extLst>
      <p:ext uri="{BB962C8B-B14F-4D97-AF65-F5344CB8AC3E}">
        <p14:creationId xmlns:p14="http://schemas.microsoft.com/office/powerpoint/2010/main" val="1481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MẠNG STAR RING</a:t>
            </a:r>
          </a:p>
        </p:txBody>
      </p:sp>
      <p:sp>
        <p:nvSpPr>
          <p:cNvPr id="3" name="Content Placeholder 2"/>
          <p:cNvSpPr>
            <a:spLocks noGrp="1"/>
          </p:cNvSpPr>
          <p:nvPr>
            <p:ph idx="1"/>
          </p:nvPr>
        </p:nvSpPr>
        <p:spPr/>
        <p:txBody>
          <a:bodyPr/>
          <a:lstStyle/>
          <a:p>
            <a:endParaRPr lang="en-U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406013"/>
            <a:ext cx="5257800" cy="4390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5290203"/>
      </p:ext>
    </p:extLst>
  </p:cSld>
  <p:clrMapOvr>
    <a:masterClrMapping/>
  </p:clrMapOvr>
</p:sld>
</file>

<file path=ppt/theme/theme1.xml><?xml version="1.0" encoding="utf-8"?>
<a:theme xmlns:a="http://schemas.openxmlformats.org/drawingml/2006/main" name="Theme2">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 id="{AB3D1D73-043F-4C36-8D92-AC5E229F8BFF}" vid="{1ED8D232-2326-4316-83FD-C16664DD1864}"/>
    </a:ext>
  </a:extLst>
</a:theme>
</file>

<file path=docProps/app.xml><?xml version="1.0" encoding="utf-8"?>
<Properties xmlns="http://schemas.openxmlformats.org/officeDocument/2006/extended-properties" xmlns:vt="http://schemas.openxmlformats.org/officeDocument/2006/docPropsVTypes">
  <Template>Theme2</Template>
  <TotalTime>173</TotalTime>
  <Words>4068</Words>
  <Application>Microsoft Office PowerPoint</Application>
  <PresentationFormat>Widescreen</PresentationFormat>
  <Paragraphs>381</Paragraphs>
  <Slides>87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87</vt:i4>
      </vt:variant>
    </vt:vector>
  </HeadingPairs>
  <TitlesOfParts>
    <vt:vector size="93" baseType="lpstr">
      <vt:lpstr>Arial</vt:lpstr>
      <vt:lpstr>Tahoma</vt:lpstr>
      <vt:lpstr>Times New Roman</vt:lpstr>
      <vt:lpstr>Wingdings</vt:lpstr>
      <vt:lpstr>Theme2</vt:lpstr>
      <vt:lpstr>Bitmap Image</vt:lpstr>
      <vt:lpstr>CHƯƠNG 1: TỔNG QUAN VỀ  MẠNG MÁY TÍNH VÀ INTERNET</vt:lpstr>
      <vt:lpstr>NỘI DUNG</vt:lpstr>
      <vt:lpstr>I. LỊCH SỬ MẠNG MÁY TÍNH</vt:lpstr>
      <vt:lpstr>I. LỊCH SỬ MẠNG MÁY TÍNH</vt:lpstr>
      <vt:lpstr>I. LỊCH SỬ MẠNG MÁY TÍNH</vt:lpstr>
      <vt:lpstr>I. LỊCH SỬ MẠNG MÁY TÍNH</vt:lpstr>
      <vt:lpstr>I. LỊCH SỬ MẠNG MÁY TÍNH</vt:lpstr>
      <vt:lpstr>I. LỊCH SỬ MẠNG MÁY TÍNH</vt:lpstr>
      <vt:lpstr>II. KHÁI NIỆM MẠNG MÁY TÍNH</vt:lpstr>
      <vt:lpstr>II. KHÁI NIỆM MẠNG MÁY TÍNH</vt:lpstr>
      <vt:lpstr>II. KHÁI NIỆM MẠNG MÁY TÍNH</vt:lpstr>
      <vt:lpstr>PowerPoint Presentation</vt:lpstr>
      <vt:lpstr>III. CẤU TRÚC TỔNG QUÁT CỦA MẠNG MÁY TÍNH</vt:lpstr>
      <vt:lpstr>III. CẤU TRÚC TỔNG QUÁT CỦA MẠNG MÁY TÍNH</vt:lpstr>
      <vt:lpstr>III. CẤU TRÚC TỔNG QUÁT CỦA MẠNG MÁY TÍNH</vt:lpstr>
      <vt:lpstr>III. CẤU TRÚC TỔNG QUÁT CỦA MẠNG MÁY TÍNH</vt:lpstr>
      <vt:lpstr>PowerPoint Presentation</vt:lpstr>
      <vt:lpstr>IV. PHÂN LOẠI MẠNG MÁY TÍNH</vt:lpstr>
      <vt:lpstr>IV. PHÂN LOẠI MẠNG MÁY TÍNH</vt:lpstr>
      <vt:lpstr>IV. PHÂN LOẠI MẠNG MÁY TÍNH</vt:lpstr>
      <vt:lpstr>IV. PHÂN LOẠI MẠNG MÁY TÍNH</vt:lpstr>
      <vt:lpstr>V. ỨNG DỤNG CỦA MẠNG MÁY TÍNH</vt:lpstr>
      <vt:lpstr>V. ỨNG DỤNG CỦA MẠNG MÁY TÍNH</vt:lpstr>
      <vt:lpstr>PowerPoint Presentation</vt:lpstr>
      <vt:lpstr>V. ỨNG DỤNG CỦA MẠNG MÁY TÍNH</vt:lpstr>
      <vt:lpstr>PowerPoint Presentation</vt:lpstr>
      <vt:lpstr>V. ỨNG DỤNG CỦA MẠNG MÁY TÍNH</vt:lpstr>
      <vt:lpstr>VI. MỐI TƯƠNG QUAN GIỮA MẠNG MÁY TÍNH VÀ INTERNET</vt:lpstr>
      <vt:lpstr>VI.1. CÁC THÀNH PHẦN CỦA INTERNET</vt:lpstr>
      <vt:lpstr>VI.1. CÁC THÀNH PHẦN CỦA INTERNET</vt:lpstr>
      <vt:lpstr>VI.1. CÁC THÀNH PHẦN CỦA INTERNET</vt:lpstr>
      <vt:lpstr>VI.1. CÁC THÀNH PHẦN CỦA INTERNET</vt:lpstr>
      <vt:lpstr>PowerPoint Presentation</vt:lpstr>
      <vt:lpstr>VI.2 VẬN HÀNH CÁC GÓI TIN TRONG INTERNET</vt:lpstr>
      <vt:lpstr>VI.2 VẬN HÀNH CÁC GÓI TIN TRONG INTERNET</vt:lpstr>
      <vt:lpstr>VI.2 VẬN HÀNH CÁC GÓI TIN TRONG INTERNET</vt:lpstr>
      <vt:lpstr>VI.2 VẬN HÀNH CÁC GÓI TIN TRONG INTERNET</vt:lpstr>
      <vt:lpstr>VI.2 VẬN HÀNH CÁC GÓI TIN TRONG INTERNET</vt:lpstr>
      <vt:lpstr>VI.2 VẬN HÀNH CÁC GÓI TIN TRONG INTERNET</vt:lpstr>
      <vt:lpstr>VI.2 VẬN HÀNH CÁC GÓI TIN TRONG INTERNET</vt:lpstr>
      <vt:lpstr>VI.2 VẬN HÀNH CÁC GÓI TIN TRONG INTERNET</vt:lpstr>
      <vt:lpstr>VI.2 VẬN HÀNH CÁC GÓI TIN TRONG INTERNET</vt:lpstr>
      <vt:lpstr>VI.2 VẬN HÀNH CÁC GÓI TIN TRONG INTERNET</vt:lpstr>
      <vt:lpstr>VII. CÁC THÔNG SỐ CƠ BẢN TRÊN INTERNET</vt:lpstr>
      <vt:lpstr>VII.1. BĂNG THÔNG</vt:lpstr>
      <vt:lpstr>VII.1. BĂNG THÔNG</vt:lpstr>
      <vt:lpstr>VII.1. BĂNG THÔNG</vt:lpstr>
      <vt:lpstr>VII.1. BĂNG THÔNG</vt:lpstr>
      <vt:lpstr>VII.1. BĂNG THÔNG</vt:lpstr>
      <vt:lpstr>VII.2. ĐỘ TRỄ</vt:lpstr>
      <vt:lpstr>VII.2. ĐỘ TRỄ</vt:lpstr>
      <vt:lpstr>VII.2. ĐỘ TRỄ</vt:lpstr>
      <vt:lpstr>VII.3. MẤT GÓI TIN</vt:lpstr>
      <vt:lpstr>VII.3. MẤT GÓI TIN</vt:lpstr>
      <vt:lpstr>VIII. CÁC THIẾT BỊ MẠNG</vt:lpstr>
      <vt:lpstr>VIII. CÁC THIẾT BỊ MẠNG</vt:lpstr>
      <vt:lpstr>VIII.1 CARD MẠNG</vt:lpstr>
      <vt:lpstr>VIII.1 CARD MẠNG</vt:lpstr>
      <vt:lpstr>VIII.2 MODEM</vt:lpstr>
      <vt:lpstr>VIII.2 MODEM</vt:lpstr>
      <vt:lpstr>VIII.3 REPEATER (BỘ CHUYỂN TIẾP)</vt:lpstr>
      <vt:lpstr>VIII.3 REPEATER (BỘ CHUYỂN TIẾP)</vt:lpstr>
      <vt:lpstr>VIII.4 HUB (BỘ TẬP TRUNG)</vt:lpstr>
      <vt:lpstr>VIII.4 HUB (BỘ TẬP TRUNG)</vt:lpstr>
      <vt:lpstr>VIII.4 HUB (BỘ TẬP TRUNG)</vt:lpstr>
      <vt:lpstr>VIII.5 BRIDGE (CẦU NỐI)</vt:lpstr>
      <vt:lpstr>VIII.5 BRIDGE (CẦU NỐI)</vt:lpstr>
      <vt:lpstr>VIII.6 SWITCH (BỘ CHUYỂN MẠCH)</vt:lpstr>
      <vt:lpstr>VIII.6 SWITCH (BỘ CHUYỂN MẠCH)</vt:lpstr>
      <vt:lpstr>VIII.6 SWITCH (BỘ CHUYỂN MẠCH)</vt:lpstr>
      <vt:lpstr>VIII.7 ROUTER (BỘ ĐỊNH TUYẾN)</vt:lpstr>
      <vt:lpstr>VIII.7 ROUTER (BỘ ĐỊNH TUYẾN)</vt:lpstr>
      <vt:lpstr>VIII.8 GATEWAY (PROXY – CỔNG NỐI) </vt:lpstr>
      <vt:lpstr>IX. TOPO MẠNG</vt:lpstr>
      <vt:lpstr>IX.1 PHƯƠNG THỨC NỐI MẠNG</vt:lpstr>
      <vt:lpstr>IX.1 PHƯƠNG THỨC NỐI MẠNG</vt:lpstr>
      <vt:lpstr>IX.1 PHƯƠNG THỨC NỐI MẠNG</vt:lpstr>
      <vt:lpstr>IX.1 PHƯƠNG THỨC NỐI MẠNG</vt:lpstr>
      <vt:lpstr>IX.2 CẤU TRÚC VẬT LÝ CỦA MẠNG</vt:lpstr>
      <vt:lpstr>DẠNG ĐƯỜNG THẲNG (BUS)</vt:lpstr>
      <vt:lpstr>DẠNG VÒNG TRÒN (RING)</vt:lpstr>
      <vt:lpstr>DẠNG HÌNH SAO (STAR)</vt:lpstr>
      <vt:lpstr>DẠNG MESH</vt:lpstr>
      <vt:lpstr>MẠNG STAR - BUS</vt:lpstr>
      <vt:lpstr>MẠNG STAR - BUS</vt:lpstr>
      <vt:lpstr>MẠNG STAR RING</vt:lpstr>
      <vt:lpstr>MẠNG STAR 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TỔNG QUAN VỀ MẠNG MÁY TÍNH VÀ INTERNET</dc:title>
  <dc:creator>huan luong</dc:creator>
  <cp:lastModifiedBy>huan luong</cp:lastModifiedBy>
  <cp:revision>20</cp:revision>
  <dcterms:created xsi:type="dcterms:W3CDTF">2018-09-07T17:12:14Z</dcterms:created>
  <dcterms:modified xsi:type="dcterms:W3CDTF">2023-02-05T15:08:36Z</dcterms:modified>
</cp:coreProperties>
</file>