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2"/>
  </p:notesMasterIdLst>
  <p:sldIdLst>
    <p:sldId id="256" r:id="rId2"/>
    <p:sldId id="257" r:id="rId3"/>
    <p:sldId id="332" r:id="rId4"/>
    <p:sldId id="333" r:id="rId5"/>
    <p:sldId id="282" r:id="rId6"/>
    <p:sldId id="330" r:id="rId7"/>
    <p:sldId id="331" r:id="rId8"/>
    <p:sldId id="334" r:id="rId9"/>
    <p:sldId id="335" r:id="rId10"/>
    <p:sldId id="336" r:id="rId11"/>
    <p:sldId id="337" r:id="rId12"/>
    <p:sldId id="338" r:id="rId13"/>
    <p:sldId id="339" r:id="rId14"/>
    <p:sldId id="425" r:id="rId15"/>
    <p:sldId id="283" r:id="rId16"/>
    <p:sldId id="277" r:id="rId17"/>
    <p:sldId id="416" r:id="rId18"/>
    <p:sldId id="417" r:id="rId19"/>
    <p:sldId id="418" r:id="rId20"/>
    <p:sldId id="414" r:id="rId21"/>
    <p:sldId id="415" r:id="rId22"/>
    <p:sldId id="395" r:id="rId23"/>
    <p:sldId id="284" r:id="rId24"/>
    <p:sldId id="386" r:id="rId25"/>
    <p:sldId id="377" r:id="rId26"/>
    <p:sldId id="422" r:id="rId27"/>
    <p:sldId id="286" r:id="rId28"/>
    <p:sldId id="287" r:id="rId29"/>
    <p:sldId id="288" r:id="rId30"/>
    <p:sldId id="426" r:id="rId31"/>
    <p:sldId id="289" r:id="rId32"/>
    <p:sldId id="290" r:id="rId33"/>
    <p:sldId id="291" r:id="rId34"/>
    <p:sldId id="292" r:id="rId35"/>
    <p:sldId id="293" r:id="rId36"/>
    <p:sldId id="294" r:id="rId37"/>
    <p:sldId id="295" r:id="rId38"/>
    <p:sldId id="296" r:id="rId39"/>
    <p:sldId id="297" r:id="rId40"/>
    <p:sldId id="403" r:id="rId41"/>
    <p:sldId id="298" r:id="rId42"/>
    <p:sldId id="299" r:id="rId43"/>
    <p:sldId id="300" r:id="rId44"/>
    <p:sldId id="352" r:id="rId45"/>
    <p:sldId id="301" r:id="rId46"/>
    <p:sldId id="311" r:id="rId47"/>
    <p:sldId id="431" r:id="rId48"/>
    <p:sldId id="432" r:id="rId49"/>
    <p:sldId id="434" r:id="rId50"/>
    <p:sldId id="312" r:id="rId51"/>
    <p:sldId id="436" r:id="rId52"/>
    <p:sldId id="437" r:id="rId53"/>
    <p:sldId id="313" r:id="rId54"/>
    <p:sldId id="314" r:id="rId55"/>
    <p:sldId id="315" r:id="rId56"/>
    <p:sldId id="316" r:id="rId57"/>
    <p:sldId id="302" r:id="rId58"/>
    <p:sldId id="438" r:id="rId59"/>
    <p:sldId id="303" r:id="rId60"/>
    <p:sldId id="304" r:id="rId61"/>
    <p:sldId id="305" r:id="rId62"/>
    <p:sldId id="306" r:id="rId63"/>
    <p:sldId id="307" r:id="rId64"/>
    <p:sldId id="308" r:id="rId65"/>
    <p:sldId id="309" r:id="rId66"/>
    <p:sldId id="310" r:id="rId67"/>
    <p:sldId id="317" r:id="rId68"/>
    <p:sldId id="318" r:id="rId69"/>
    <p:sldId id="319" r:id="rId70"/>
    <p:sldId id="320" r:id="rId71"/>
    <p:sldId id="321" r:id="rId72"/>
    <p:sldId id="322" r:id="rId73"/>
    <p:sldId id="323" r:id="rId74"/>
    <p:sldId id="324" r:id="rId75"/>
    <p:sldId id="325" r:id="rId76"/>
    <p:sldId id="326" r:id="rId77"/>
    <p:sldId id="258" r:id="rId78"/>
    <p:sldId id="349" r:id="rId79"/>
    <p:sldId id="350" r:id="rId80"/>
    <p:sldId id="351" r:id="rId81"/>
    <p:sldId id="365" r:id="rId82"/>
    <p:sldId id="366" r:id="rId83"/>
    <p:sldId id="439" r:id="rId84"/>
    <p:sldId id="440" r:id="rId85"/>
    <p:sldId id="361" r:id="rId86"/>
    <p:sldId id="360" r:id="rId87"/>
    <p:sldId id="362" r:id="rId88"/>
    <p:sldId id="363" r:id="rId89"/>
    <p:sldId id="364" r:id="rId90"/>
    <p:sldId id="441" r:id="rId91"/>
    <p:sldId id="442" r:id="rId92"/>
    <p:sldId id="443" r:id="rId93"/>
    <p:sldId id="264" r:id="rId94"/>
    <p:sldId id="265" r:id="rId95"/>
    <p:sldId id="266" r:id="rId96"/>
    <p:sldId id="269" r:id="rId97"/>
    <p:sldId id="270" r:id="rId98"/>
    <p:sldId id="267" r:id="rId99"/>
    <p:sldId id="259" r:id="rId100"/>
    <p:sldId id="444"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14657F-1FC6-429E-8A88-BA3AE8500398}" type="doc">
      <dgm:prSet loTypeId="urn:microsoft.com/office/officeart/2005/8/layout/vProcess5" loCatId="process" qsTypeId="urn:microsoft.com/office/officeart/2005/8/quickstyle/simple1" qsCatId="simple" csTypeId="urn:microsoft.com/office/officeart/2005/8/colors/accent0_1" csCatId="mainScheme" phldr="1"/>
      <dgm:spPr/>
      <dgm:t>
        <a:bodyPr/>
        <a:lstStyle/>
        <a:p>
          <a:endParaRPr lang="en-US"/>
        </a:p>
      </dgm:t>
    </dgm:pt>
    <dgm:pt modelId="{7D1B5981-7F33-44D9-A1BE-EA2D96DA0CB3}">
      <dgm:prSet phldrT="[Text]" custT="1"/>
      <dgm:spPr>
        <a:solidFill>
          <a:schemeClr val="tx2">
            <a:lumMod val="20000"/>
            <a:lumOff val="80000"/>
          </a:schemeClr>
        </a:solidFill>
        <a:scene3d>
          <a:camera prst="orthographicFront"/>
          <a:lightRig rig="threePt" dir="t"/>
        </a:scene3d>
        <a:sp3d>
          <a:bevelT/>
        </a:sp3d>
      </dgm:spPr>
      <dgm:t>
        <a:bodyPr/>
        <a:lstStyle/>
        <a:p>
          <a:pPr algn="l"/>
          <a:r>
            <a:rPr lang="en-US" sz="2400" b="1">
              <a:solidFill>
                <a:srgbClr val="0070C0"/>
              </a:solidFill>
              <a:latin typeface="Courier New" pitchFamily="49" charset="0"/>
              <a:cs typeface="Courier New" pitchFamily="49" charset="0"/>
            </a:rPr>
            <a:t>POST</a:t>
          </a:r>
        </a:p>
      </dgm:t>
    </dgm:pt>
    <dgm:pt modelId="{F4B91F98-81D3-4355-B9BD-72B18097D3A5}" type="parTrans" cxnId="{22A0379C-EE53-4AA7-99A2-1C40E3C19C4A}">
      <dgm:prSet/>
      <dgm:spPr/>
      <dgm:t>
        <a:bodyPr/>
        <a:lstStyle/>
        <a:p>
          <a:pPr algn="l"/>
          <a:endParaRPr lang="en-US" sz="1800">
            <a:solidFill>
              <a:srgbClr val="0070C0"/>
            </a:solidFill>
          </a:endParaRPr>
        </a:p>
      </dgm:t>
    </dgm:pt>
    <dgm:pt modelId="{AF61A70E-808C-4BDE-A9B0-B0C87DF412AC}" type="sibTrans" cxnId="{22A0379C-EE53-4AA7-99A2-1C40E3C19C4A}">
      <dgm:prSet custT="1"/>
      <dgm:spPr/>
      <dgm:t>
        <a:bodyPr/>
        <a:lstStyle/>
        <a:p>
          <a:pPr algn="l"/>
          <a:endParaRPr lang="en-US" sz="2800">
            <a:solidFill>
              <a:srgbClr val="0070C0"/>
            </a:solidFill>
          </a:endParaRPr>
        </a:p>
      </dgm:t>
    </dgm:pt>
    <dgm:pt modelId="{076A474D-3A92-4F93-9FAF-19B0C3EE4C48}">
      <dgm:prSet phldrT="[Text]" custT="1"/>
      <dgm:spPr>
        <a:solidFill>
          <a:schemeClr val="tx2">
            <a:lumMod val="20000"/>
            <a:lumOff val="80000"/>
          </a:schemeClr>
        </a:solidFill>
        <a:scene3d>
          <a:camera prst="orthographicFront"/>
          <a:lightRig rig="threePt" dir="t"/>
        </a:scene3d>
        <a:sp3d>
          <a:bevelT/>
        </a:sp3d>
      </dgm:spPr>
      <dgm:t>
        <a:bodyPr/>
        <a:lstStyle/>
        <a:p>
          <a:pPr algn="l"/>
          <a:r>
            <a:rPr lang="en-US" sz="2400" b="1">
              <a:solidFill>
                <a:srgbClr val="0070C0"/>
              </a:solidFill>
              <a:latin typeface="Courier New" pitchFamily="49" charset="0"/>
              <a:cs typeface="Courier New" pitchFamily="49" charset="0"/>
            </a:rPr>
            <a:t>Find &amp; load IOS</a:t>
          </a:r>
        </a:p>
      </dgm:t>
    </dgm:pt>
    <dgm:pt modelId="{4BF9A6C6-DDB2-47F4-B242-684961D808C2}" type="parTrans" cxnId="{DD7ED2F3-AADD-4A32-B756-841EEF4F068F}">
      <dgm:prSet/>
      <dgm:spPr/>
      <dgm:t>
        <a:bodyPr/>
        <a:lstStyle/>
        <a:p>
          <a:pPr algn="l"/>
          <a:endParaRPr lang="en-US" sz="1800">
            <a:solidFill>
              <a:srgbClr val="0070C0"/>
            </a:solidFill>
          </a:endParaRPr>
        </a:p>
      </dgm:t>
    </dgm:pt>
    <dgm:pt modelId="{9AD817A0-CA2C-451D-8A02-E82B2ECD714C}" type="sibTrans" cxnId="{DD7ED2F3-AADD-4A32-B756-841EEF4F068F}">
      <dgm:prSet custT="1"/>
      <dgm:spPr/>
      <dgm:t>
        <a:bodyPr/>
        <a:lstStyle/>
        <a:p>
          <a:pPr algn="l"/>
          <a:endParaRPr lang="en-US" sz="2800">
            <a:solidFill>
              <a:srgbClr val="0070C0"/>
            </a:solidFill>
          </a:endParaRPr>
        </a:p>
      </dgm:t>
    </dgm:pt>
    <dgm:pt modelId="{434D683A-E59C-4423-961F-C6C93FA0F515}">
      <dgm:prSet phldrT="[Text]" custT="1"/>
      <dgm:spPr>
        <a:solidFill>
          <a:schemeClr val="tx2">
            <a:lumMod val="20000"/>
            <a:lumOff val="80000"/>
          </a:schemeClr>
        </a:solidFill>
        <a:scene3d>
          <a:camera prst="orthographicFront"/>
          <a:lightRig rig="threePt" dir="t"/>
        </a:scene3d>
        <a:sp3d>
          <a:bevelT/>
        </a:sp3d>
      </dgm:spPr>
      <dgm:t>
        <a:bodyPr/>
        <a:lstStyle/>
        <a:p>
          <a:pPr algn="l"/>
          <a:r>
            <a:rPr lang="en-US" sz="2400" b="1">
              <a:solidFill>
                <a:srgbClr val="0070C0"/>
              </a:solidFill>
              <a:latin typeface="Courier New" pitchFamily="49" charset="0"/>
              <a:cs typeface="Courier New" pitchFamily="49" charset="0"/>
            </a:rPr>
            <a:t>Find &amp; load configuration</a:t>
          </a:r>
        </a:p>
      </dgm:t>
    </dgm:pt>
    <dgm:pt modelId="{503C5ADF-031C-409E-8A78-81D1AE1AEA71}" type="parTrans" cxnId="{F8B965B2-9856-4DC8-BD48-3B9ED31707C9}">
      <dgm:prSet/>
      <dgm:spPr/>
      <dgm:t>
        <a:bodyPr/>
        <a:lstStyle/>
        <a:p>
          <a:pPr algn="l"/>
          <a:endParaRPr lang="en-US" sz="1800">
            <a:solidFill>
              <a:srgbClr val="0070C0"/>
            </a:solidFill>
          </a:endParaRPr>
        </a:p>
      </dgm:t>
    </dgm:pt>
    <dgm:pt modelId="{4B84A545-1C12-4F4E-B220-81519C755C27}" type="sibTrans" cxnId="{F8B965B2-9856-4DC8-BD48-3B9ED31707C9}">
      <dgm:prSet/>
      <dgm:spPr/>
      <dgm:t>
        <a:bodyPr/>
        <a:lstStyle/>
        <a:p>
          <a:pPr algn="l"/>
          <a:endParaRPr lang="en-US" sz="1800">
            <a:solidFill>
              <a:srgbClr val="0070C0"/>
            </a:solidFill>
          </a:endParaRPr>
        </a:p>
      </dgm:t>
    </dgm:pt>
    <dgm:pt modelId="{5B26F6B5-F1FB-4562-8104-18B28F15625A}">
      <dgm:prSet custT="1"/>
      <dgm:spPr>
        <a:solidFill>
          <a:schemeClr val="tx2">
            <a:lumMod val="20000"/>
            <a:lumOff val="80000"/>
          </a:schemeClr>
        </a:solidFill>
        <a:scene3d>
          <a:camera prst="orthographicFront"/>
          <a:lightRig rig="threePt" dir="t"/>
        </a:scene3d>
        <a:sp3d>
          <a:bevelT/>
        </a:sp3d>
      </dgm:spPr>
      <dgm:t>
        <a:bodyPr/>
        <a:lstStyle/>
        <a:p>
          <a:pPr algn="l"/>
          <a:r>
            <a:rPr lang="en-US" sz="2400" b="1">
              <a:solidFill>
                <a:srgbClr val="0070C0"/>
              </a:solidFill>
              <a:latin typeface="Courier New" pitchFamily="49" charset="0"/>
              <a:cs typeface="Courier New" pitchFamily="49" charset="0"/>
            </a:rPr>
            <a:t>Bootstrap</a:t>
          </a:r>
          <a:endParaRPr lang="en-US" sz="2400" b="1" dirty="0">
            <a:solidFill>
              <a:srgbClr val="0070C0"/>
            </a:solidFill>
            <a:latin typeface="Courier New" pitchFamily="49" charset="0"/>
            <a:cs typeface="Courier New" pitchFamily="49" charset="0"/>
          </a:endParaRPr>
        </a:p>
      </dgm:t>
    </dgm:pt>
    <dgm:pt modelId="{36130775-60FB-4322-9070-127F5B3778EB}" type="parTrans" cxnId="{03FCD9F7-B3B7-4C31-A868-C56713D8555B}">
      <dgm:prSet/>
      <dgm:spPr/>
      <dgm:t>
        <a:bodyPr/>
        <a:lstStyle/>
        <a:p>
          <a:pPr algn="l"/>
          <a:endParaRPr lang="en-US" sz="1800">
            <a:solidFill>
              <a:srgbClr val="0070C0"/>
            </a:solidFill>
          </a:endParaRPr>
        </a:p>
      </dgm:t>
    </dgm:pt>
    <dgm:pt modelId="{1FDBDDC8-063D-4A43-A993-9235CADEB66C}" type="sibTrans" cxnId="{03FCD9F7-B3B7-4C31-A868-C56713D8555B}">
      <dgm:prSet custT="1"/>
      <dgm:spPr/>
      <dgm:t>
        <a:bodyPr/>
        <a:lstStyle/>
        <a:p>
          <a:pPr algn="l"/>
          <a:endParaRPr lang="en-US" sz="2800">
            <a:solidFill>
              <a:srgbClr val="0070C0"/>
            </a:solidFill>
          </a:endParaRPr>
        </a:p>
      </dgm:t>
    </dgm:pt>
    <dgm:pt modelId="{639FEDD1-A7FF-48A1-8A89-CB95789F2074}" type="pres">
      <dgm:prSet presAssocID="{FE14657F-1FC6-429E-8A88-BA3AE8500398}" presName="outerComposite" presStyleCnt="0">
        <dgm:presLayoutVars>
          <dgm:chMax val="5"/>
          <dgm:dir/>
          <dgm:resizeHandles val="exact"/>
        </dgm:presLayoutVars>
      </dgm:prSet>
      <dgm:spPr/>
    </dgm:pt>
    <dgm:pt modelId="{B28CC113-9DAE-480C-AA08-567E3CFC7CC7}" type="pres">
      <dgm:prSet presAssocID="{FE14657F-1FC6-429E-8A88-BA3AE8500398}" presName="dummyMaxCanvas" presStyleCnt="0">
        <dgm:presLayoutVars/>
      </dgm:prSet>
      <dgm:spPr/>
    </dgm:pt>
    <dgm:pt modelId="{6B1EE416-A40B-45E6-B3C7-F1EFA865050A}" type="pres">
      <dgm:prSet presAssocID="{FE14657F-1FC6-429E-8A88-BA3AE8500398}" presName="FourNodes_1" presStyleLbl="node1" presStyleIdx="0" presStyleCnt="4" custLinFactNeighborX="962">
        <dgm:presLayoutVars>
          <dgm:bulletEnabled val="1"/>
        </dgm:presLayoutVars>
      </dgm:prSet>
      <dgm:spPr/>
    </dgm:pt>
    <dgm:pt modelId="{738A021D-ACB3-4929-9236-9F4636E3DE54}" type="pres">
      <dgm:prSet presAssocID="{FE14657F-1FC6-429E-8A88-BA3AE8500398}" presName="FourNodes_2" presStyleLbl="node1" presStyleIdx="1" presStyleCnt="4">
        <dgm:presLayoutVars>
          <dgm:bulletEnabled val="1"/>
        </dgm:presLayoutVars>
      </dgm:prSet>
      <dgm:spPr/>
    </dgm:pt>
    <dgm:pt modelId="{2F8655BB-BB82-4905-AFC9-17597B88E596}" type="pres">
      <dgm:prSet presAssocID="{FE14657F-1FC6-429E-8A88-BA3AE8500398}" presName="FourNodes_3" presStyleLbl="node1" presStyleIdx="2" presStyleCnt="4">
        <dgm:presLayoutVars>
          <dgm:bulletEnabled val="1"/>
        </dgm:presLayoutVars>
      </dgm:prSet>
      <dgm:spPr/>
    </dgm:pt>
    <dgm:pt modelId="{B027D3C6-8BB9-4683-B6CE-6C2DB0611C95}" type="pres">
      <dgm:prSet presAssocID="{FE14657F-1FC6-429E-8A88-BA3AE8500398}" presName="FourNodes_4" presStyleLbl="node1" presStyleIdx="3" presStyleCnt="4">
        <dgm:presLayoutVars>
          <dgm:bulletEnabled val="1"/>
        </dgm:presLayoutVars>
      </dgm:prSet>
      <dgm:spPr/>
    </dgm:pt>
    <dgm:pt modelId="{1758F520-F517-44ED-8B75-239336461D61}" type="pres">
      <dgm:prSet presAssocID="{FE14657F-1FC6-429E-8A88-BA3AE8500398}" presName="FourConn_1-2" presStyleLbl="fgAccFollowNode1" presStyleIdx="0" presStyleCnt="3">
        <dgm:presLayoutVars>
          <dgm:bulletEnabled val="1"/>
        </dgm:presLayoutVars>
      </dgm:prSet>
      <dgm:spPr/>
    </dgm:pt>
    <dgm:pt modelId="{0CB227FE-D626-4CA6-BA24-ED7803EB198D}" type="pres">
      <dgm:prSet presAssocID="{FE14657F-1FC6-429E-8A88-BA3AE8500398}" presName="FourConn_2-3" presStyleLbl="fgAccFollowNode1" presStyleIdx="1" presStyleCnt="3">
        <dgm:presLayoutVars>
          <dgm:bulletEnabled val="1"/>
        </dgm:presLayoutVars>
      </dgm:prSet>
      <dgm:spPr/>
    </dgm:pt>
    <dgm:pt modelId="{660E49CA-3673-4E0D-B9F6-2B81BE7B3FA7}" type="pres">
      <dgm:prSet presAssocID="{FE14657F-1FC6-429E-8A88-BA3AE8500398}" presName="FourConn_3-4" presStyleLbl="fgAccFollowNode1" presStyleIdx="2" presStyleCnt="3">
        <dgm:presLayoutVars>
          <dgm:bulletEnabled val="1"/>
        </dgm:presLayoutVars>
      </dgm:prSet>
      <dgm:spPr/>
    </dgm:pt>
    <dgm:pt modelId="{FA19A169-D819-4CDA-A39C-E0E23ED3E838}" type="pres">
      <dgm:prSet presAssocID="{FE14657F-1FC6-429E-8A88-BA3AE8500398}" presName="FourNodes_1_text" presStyleLbl="node1" presStyleIdx="3" presStyleCnt="4">
        <dgm:presLayoutVars>
          <dgm:bulletEnabled val="1"/>
        </dgm:presLayoutVars>
      </dgm:prSet>
      <dgm:spPr/>
    </dgm:pt>
    <dgm:pt modelId="{0AF5FFBC-AB2E-49ED-A3F0-B41BCFC8CE0C}" type="pres">
      <dgm:prSet presAssocID="{FE14657F-1FC6-429E-8A88-BA3AE8500398}" presName="FourNodes_2_text" presStyleLbl="node1" presStyleIdx="3" presStyleCnt="4">
        <dgm:presLayoutVars>
          <dgm:bulletEnabled val="1"/>
        </dgm:presLayoutVars>
      </dgm:prSet>
      <dgm:spPr/>
    </dgm:pt>
    <dgm:pt modelId="{14E76029-AB7E-42A6-9D17-1101AA2F09BD}" type="pres">
      <dgm:prSet presAssocID="{FE14657F-1FC6-429E-8A88-BA3AE8500398}" presName="FourNodes_3_text" presStyleLbl="node1" presStyleIdx="3" presStyleCnt="4">
        <dgm:presLayoutVars>
          <dgm:bulletEnabled val="1"/>
        </dgm:presLayoutVars>
      </dgm:prSet>
      <dgm:spPr/>
    </dgm:pt>
    <dgm:pt modelId="{E3CBEC1E-089B-4FCE-8173-A09701EE2B53}" type="pres">
      <dgm:prSet presAssocID="{FE14657F-1FC6-429E-8A88-BA3AE8500398}" presName="FourNodes_4_text" presStyleLbl="node1" presStyleIdx="3" presStyleCnt="4">
        <dgm:presLayoutVars>
          <dgm:bulletEnabled val="1"/>
        </dgm:presLayoutVars>
      </dgm:prSet>
      <dgm:spPr/>
    </dgm:pt>
  </dgm:ptLst>
  <dgm:cxnLst>
    <dgm:cxn modelId="{AA09B60A-E775-407C-B1DC-E6069FEB3F1A}" type="presOf" srcId="{5B26F6B5-F1FB-4562-8104-18B28F15625A}" destId="{0AF5FFBC-AB2E-49ED-A3F0-B41BCFC8CE0C}" srcOrd="1" destOrd="0" presId="urn:microsoft.com/office/officeart/2005/8/layout/vProcess5"/>
    <dgm:cxn modelId="{E16FD90A-FA8F-4E87-B68A-00BA27C3B68E}" type="presOf" srcId="{7D1B5981-7F33-44D9-A1BE-EA2D96DA0CB3}" destId="{6B1EE416-A40B-45E6-B3C7-F1EFA865050A}" srcOrd="0" destOrd="0" presId="urn:microsoft.com/office/officeart/2005/8/layout/vProcess5"/>
    <dgm:cxn modelId="{043E7E0B-9747-4355-B07B-F273AA88D936}" type="presOf" srcId="{1FDBDDC8-063D-4A43-A993-9235CADEB66C}" destId="{0CB227FE-D626-4CA6-BA24-ED7803EB198D}" srcOrd="0" destOrd="0" presId="urn:microsoft.com/office/officeart/2005/8/layout/vProcess5"/>
    <dgm:cxn modelId="{A0EB2B12-19AD-4D42-8420-11CDA9643206}" type="presOf" srcId="{434D683A-E59C-4423-961F-C6C93FA0F515}" destId="{E3CBEC1E-089B-4FCE-8173-A09701EE2B53}" srcOrd="1" destOrd="0" presId="urn:microsoft.com/office/officeart/2005/8/layout/vProcess5"/>
    <dgm:cxn modelId="{B288E54B-AD65-43EA-AD24-C616A54FE011}" type="presOf" srcId="{434D683A-E59C-4423-961F-C6C93FA0F515}" destId="{B027D3C6-8BB9-4683-B6CE-6C2DB0611C95}" srcOrd="0" destOrd="0" presId="urn:microsoft.com/office/officeart/2005/8/layout/vProcess5"/>
    <dgm:cxn modelId="{BF5D257D-801C-47EB-A178-8BA2BCD7F291}" type="presOf" srcId="{076A474D-3A92-4F93-9FAF-19B0C3EE4C48}" destId="{2F8655BB-BB82-4905-AFC9-17597B88E596}" srcOrd="0" destOrd="0" presId="urn:microsoft.com/office/officeart/2005/8/layout/vProcess5"/>
    <dgm:cxn modelId="{496AFF96-7604-402A-8B57-C08487214D46}" type="presOf" srcId="{076A474D-3A92-4F93-9FAF-19B0C3EE4C48}" destId="{14E76029-AB7E-42A6-9D17-1101AA2F09BD}" srcOrd="1" destOrd="0" presId="urn:microsoft.com/office/officeart/2005/8/layout/vProcess5"/>
    <dgm:cxn modelId="{A84B6498-3B01-4FFD-BB75-D53CC0465F51}" type="presOf" srcId="{FE14657F-1FC6-429E-8A88-BA3AE8500398}" destId="{639FEDD1-A7FF-48A1-8A89-CB95789F2074}" srcOrd="0" destOrd="0" presId="urn:microsoft.com/office/officeart/2005/8/layout/vProcess5"/>
    <dgm:cxn modelId="{22A0379C-EE53-4AA7-99A2-1C40E3C19C4A}" srcId="{FE14657F-1FC6-429E-8A88-BA3AE8500398}" destId="{7D1B5981-7F33-44D9-A1BE-EA2D96DA0CB3}" srcOrd="0" destOrd="0" parTransId="{F4B91F98-81D3-4355-B9BD-72B18097D3A5}" sibTransId="{AF61A70E-808C-4BDE-A9B0-B0C87DF412AC}"/>
    <dgm:cxn modelId="{15F842A6-2577-494E-BF14-469F2293F149}" type="presOf" srcId="{7D1B5981-7F33-44D9-A1BE-EA2D96DA0CB3}" destId="{FA19A169-D819-4CDA-A39C-E0E23ED3E838}" srcOrd="1" destOrd="0" presId="urn:microsoft.com/office/officeart/2005/8/layout/vProcess5"/>
    <dgm:cxn modelId="{AB089BAB-C555-4B9C-BE09-270CA169D6A8}" type="presOf" srcId="{9AD817A0-CA2C-451D-8A02-E82B2ECD714C}" destId="{660E49CA-3673-4E0D-B9F6-2B81BE7B3FA7}" srcOrd="0" destOrd="0" presId="urn:microsoft.com/office/officeart/2005/8/layout/vProcess5"/>
    <dgm:cxn modelId="{F8B965B2-9856-4DC8-BD48-3B9ED31707C9}" srcId="{FE14657F-1FC6-429E-8A88-BA3AE8500398}" destId="{434D683A-E59C-4423-961F-C6C93FA0F515}" srcOrd="3" destOrd="0" parTransId="{503C5ADF-031C-409E-8A78-81D1AE1AEA71}" sibTransId="{4B84A545-1C12-4F4E-B220-81519C755C27}"/>
    <dgm:cxn modelId="{7ADB3CCA-82AD-4258-B286-844DBDB2B425}" type="presOf" srcId="{5B26F6B5-F1FB-4562-8104-18B28F15625A}" destId="{738A021D-ACB3-4929-9236-9F4636E3DE54}" srcOrd="0" destOrd="0" presId="urn:microsoft.com/office/officeart/2005/8/layout/vProcess5"/>
    <dgm:cxn modelId="{B67661EF-D086-4B74-A5C9-0548ADD053FA}" type="presOf" srcId="{AF61A70E-808C-4BDE-A9B0-B0C87DF412AC}" destId="{1758F520-F517-44ED-8B75-239336461D61}" srcOrd="0" destOrd="0" presId="urn:microsoft.com/office/officeart/2005/8/layout/vProcess5"/>
    <dgm:cxn modelId="{DD7ED2F3-AADD-4A32-B756-841EEF4F068F}" srcId="{FE14657F-1FC6-429E-8A88-BA3AE8500398}" destId="{076A474D-3A92-4F93-9FAF-19B0C3EE4C48}" srcOrd="2" destOrd="0" parTransId="{4BF9A6C6-DDB2-47F4-B242-684961D808C2}" sibTransId="{9AD817A0-CA2C-451D-8A02-E82B2ECD714C}"/>
    <dgm:cxn modelId="{03FCD9F7-B3B7-4C31-A868-C56713D8555B}" srcId="{FE14657F-1FC6-429E-8A88-BA3AE8500398}" destId="{5B26F6B5-F1FB-4562-8104-18B28F15625A}" srcOrd="1" destOrd="0" parTransId="{36130775-60FB-4322-9070-127F5B3778EB}" sibTransId="{1FDBDDC8-063D-4A43-A993-9235CADEB66C}"/>
    <dgm:cxn modelId="{F85CFA31-475A-4B7E-976A-B573D89C02A9}" type="presParOf" srcId="{639FEDD1-A7FF-48A1-8A89-CB95789F2074}" destId="{B28CC113-9DAE-480C-AA08-567E3CFC7CC7}" srcOrd="0" destOrd="0" presId="urn:microsoft.com/office/officeart/2005/8/layout/vProcess5"/>
    <dgm:cxn modelId="{359EC206-5691-43A0-86BB-ADF66B99FA7E}" type="presParOf" srcId="{639FEDD1-A7FF-48A1-8A89-CB95789F2074}" destId="{6B1EE416-A40B-45E6-B3C7-F1EFA865050A}" srcOrd="1" destOrd="0" presId="urn:microsoft.com/office/officeart/2005/8/layout/vProcess5"/>
    <dgm:cxn modelId="{A6186BB8-9634-4A0C-AD15-6FEABC7F661A}" type="presParOf" srcId="{639FEDD1-A7FF-48A1-8A89-CB95789F2074}" destId="{738A021D-ACB3-4929-9236-9F4636E3DE54}" srcOrd="2" destOrd="0" presId="urn:microsoft.com/office/officeart/2005/8/layout/vProcess5"/>
    <dgm:cxn modelId="{F4CECA51-13B6-4367-A038-4B9666146FA2}" type="presParOf" srcId="{639FEDD1-A7FF-48A1-8A89-CB95789F2074}" destId="{2F8655BB-BB82-4905-AFC9-17597B88E596}" srcOrd="3" destOrd="0" presId="urn:microsoft.com/office/officeart/2005/8/layout/vProcess5"/>
    <dgm:cxn modelId="{BDFB6C81-E4C4-4567-AF6A-BC6BF9F8FEBE}" type="presParOf" srcId="{639FEDD1-A7FF-48A1-8A89-CB95789F2074}" destId="{B027D3C6-8BB9-4683-B6CE-6C2DB0611C95}" srcOrd="4" destOrd="0" presId="urn:microsoft.com/office/officeart/2005/8/layout/vProcess5"/>
    <dgm:cxn modelId="{FF201AD4-3C9B-4BE2-A883-267FF94F6C56}" type="presParOf" srcId="{639FEDD1-A7FF-48A1-8A89-CB95789F2074}" destId="{1758F520-F517-44ED-8B75-239336461D61}" srcOrd="5" destOrd="0" presId="urn:microsoft.com/office/officeart/2005/8/layout/vProcess5"/>
    <dgm:cxn modelId="{65D10FCA-7C27-41E2-955C-7FDE4FEC7C93}" type="presParOf" srcId="{639FEDD1-A7FF-48A1-8A89-CB95789F2074}" destId="{0CB227FE-D626-4CA6-BA24-ED7803EB198D}" srcOrd="6" destOrd="0" presId="urn:microsoft.com/office/officeart/2005/8/layout/vProcess5"/>
    <dgm:cxn modelId="{E5329F8A-D0E1-45AF-AB3C-20430015214B}" type="presParOf" srcId="{639FEDD1-A7FF-48A1-8A89-CB95789F2074}" destId="{660E49CA-3673-4E0D-B9F6-2B81BE7B3FA7}" srcOrd="7" destOrd="0" presId="urn:microsoft.com/office/officeart/2005/8/layout/vProcess5"/>
    <dgm:cxn modelId="{E12C1013-A263-423B-A1F8-84607F55049B}" type="presParOf" srcId="{639FEDD1-A7FF-48A1-8A89-CB95789F2074}" destId="{FA19A169-D819-4CDA-A39C-E0E23ED3E838}" srcOrd="8" destOrd="0" presId="urn:microsoft.com/office/officeart/2005/8/layout/vProcess5"/>
    <dgm:cxn modelId="{C55BBA40-D3EE-4A43-BF12-01D9318A9C22}" type="presParOf" srcId="{639FEDD1-A7FF-48A1-8A89-CB95789F2074}" destId="{0AF5FFBC-AB2E-49ED-A3F0-B41BCFC8CE0C}" srcOrd="9" destOrd="0" presId="urn:microsoft.com/office/officeart/2005/8/layout/vProcess5"/>
    <dgm:cxn modelId="{F3CBE8FE-548A-4604-8903-895958248200}" type="presParOf" srcId="{639FEDD1-A7FF-48A1-8A89-CB95789F2074}" destId="{14E76029-AB7E-42A6-9D17-1101AA2F09BD}" srcOrd="10" destOrd="0" presId="urn:microsoft.com/office/officeart/2005/8/layout/vProcess5"/>
    <dgm:cxn modelId="{F81ABF8E-2523-4FC6-9453-35E1C95F6A0F}" type="presParOf" srcId="{639FEDD1-A7FF-48A1-8A89-CB95789F2074}" destId="{E3CBEC1E-089B-4FCE-8173-A09701EE2B53}" srcOrd="11" destOrd="0" presId="urn:microsoft.com/office/officeart/2005/8/layout/vProcess5"/>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1EE416-A40B-45E6-B3C7-F1EFA865050A}">
      <dsp:nvSpPr>
        <dsp:cNvPr id="0" name=""/>
        <dsp:cNvSpPr/>
      </dsp:nvSpPr>
      <dsp:spPr>
        <a:xfrm>
          <a:off x="60989" y="0"/>
          <a:ext cx="6339840" cy="894080"/>
        </a:xfrm>
        <a:prstGeom prst="roundRect">
          <a:avLst>
            <a:gd name="adj" fmla="val 10000"/>
          </a:avLst>
        </a:prstGeom>
        <a:solidFill>
          <a:schemeClr val="tx2">
            <a:lumMod val="20000"/>
            <a:lumOff val="80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solidFill>
                <a:srgbClr val="0070C0"/>
              </a:solidFill>
              <a:latin typeface="Courier New" pitchFamily="49" charset="0"/>
              <a:cs typeface="Courier New" pitchFamily="49" charset="0"/>
            </a:rPr>
            <a:t>POST</a:t>
          </a:r>
        </a:p>
      </dsp:txBody>
      <dsp:txXfrm>
        <a:off x="87176" y="26187"/>
        <a:ext cx="5299507" cy="841706"/>
      </dsp:txXfrm>
    </dsp:sp>
    <dsp:sp modelId="{738A021D-ACB3-4929-9236-9F4636E3DE54}">
      <dsp:nvSpPr>
        <dsp:cNvPr id="0" name=""/>
        <dsp:cNvSpPr/>
      </dsp:nvSpPr>
      <dsp:spPr>
        <a:xfrm>
          <a:off x="530961" y="1056640"/>
          <a:ext cx="6339840" cy="894080"/>
        </a:xfrm>
        <a:prstGeom prst="roundRect">
          <a:avLst>
            <a:gd name="adj" fmla="val 10000"/>
          </a:avLst>
        </a:prstGeom>
        <a:solidFill>
          <a:schemeClr val="tx2">
            <a:lumMod val="20000"/>
            <a:lumOff val="80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solidFill>
                <a:srgbClr val="0070C0"/>
              </a:solidFill>
              <a:latin typeface="Courier New" pitchFamily="49" charset="0"/>
              <a:cs typeface="Courier New" pitchFamily="49" charset="0"/>
            </a:rPr>
            <a:t>Bootstrap</a:t>
          </a:r>
          <a:endParaRPr lang="en-US" sz="2400" b="1" kern="1200" dirty="0">
            <a:solidFill>
              <a:srgbClr val="0070C0"/>
            </a:solidFill>
            <a:latin typeface="Courier New" pitchFamily="49" charset="0"/>
            <a:cs typeface="Courier New" pitchFamily="49" charset="0"/>
          </a:endParaRPr>
        </a:p>
      </dsp:txBody>
      <dsp:txXfrm>
        <a:off x="557148" y="1082827"/>
        <a:ext cx="5175352" cy="841706"/>
      </dsp:txXfrm>
    </dsp:sp>
    <dsp:sp modelId="{2F8655BB-BB82-4905-AFC9-17597B88E596}">
      <dsp:nvSpPr>
        <dsp:cNvPr id="0" name=""/>
        <dsp:cNvSpPr/>
      </dsp:nvSpPr>
      <dsp:spPr>
        <a:xfrm>
          <a:off x="1053998" y="2113280"/>
          <a:ext cx="6339840" cy="894080"/>
        </a:xfrm>
        <a:prstGeom prst="roundRect">
          <a:avLst>
            <a:gd name="adj" fmla="val 10000"/>
          </a:avLst>
        </a:prstGeom>
        <a:solidFill>
          <a:schemeClr val="tx2">
            <a:lumMod val="20000"/>
            <a:lumOff val="80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solidFill>
                <a:srgbClr val="0070C0"/>
              </a:solidFill>
              <a:latin typeface="Courier New" pitchFamily="49" charset="0"/>
              <a:cs typeface="Courier New" pitchFamily="49" charset="0"/>
            </a:rPr>
            <a:t>Find &amp; load IOS</a:t>
          </a:r>
        </a:p>
      </dsp:txBody>
      <dsp:txXfrm>
        <a:off x="1080185" y="2139467"/>
        <a:ext cx="5183277" cy="841706"/>
      </dsp:txXfrm>
    </dsp:sp>
    <dsp:sp modelId="{B027D3C6-8BB9-4683-B6CE-6C2DB0611C95}">
      <dsp:nvSpPr>
        <dsp:cNvPr id="0" name=""/>
        <dsp:cNvSpPr/>
      </dsp:nvSpPr>
      <dsp:spPr>
        <a:xfrm>
          <a:off x="1584959" y="3169919"/>
          <a:ext cx="6339840" cy="894080"/>
        </a:xfrm>
        <a:prstGeom prst="roundRect">
          <a:avLst>
            <a:gd name="adj" fmla="val 10000"/>
          </a:avLst>
        </a:prstGeom>
        <a:solidFill>
          <a:schemeClr val="tx2">
            <a:lumMod val="20000"/>
            <a:lumOff val="80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solidFill>
                <a:srgbClr val="0070C0"/>
              </a:solidFill>
              <a:latin typeface="Courier New" pitchFamily="49" charset="0"/>
              <a:cs typeface="Courier New" pitchFamily="49" charset="0"/>
            </a:rPr>
            <a:t>Find &amp; load configuration</a:t>
          </a:r>
        </a:p>
      </dsp:txBody>
      <dsp:txXfrm>
        <a:off x="1611146" y="3196106"/>
        <a:ext cx="5175352" cy="841706"/>
      </dsp:txXfrm>
    </dsp:sp>
    <dsp:sp modelId="{1758F520-F517-44ED-8B75-239336461D61}">
      <dsp:nvSpPr>
        <dsp:cNvPr id="0" name=""/>
        <dsp:cNvSpPr/>
      </dsp:nvSpPr>
      <dsp:spPr>
        <a:xfrm>
          <a:off x="5758688" y="684783"/>
          <a:ext cx="581152" cy="581152"/>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dk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1244600">
            <a:lnSpc>
              <a:spcPct val="90000"/>
            </a:lnSpc>
            <a:spcBef>
              <a:spcPct val="0"/>
            </a:spcBef>
            <a:spcAft>
              <a:spcPct val="35000"/>
            </a:spcAft>
            <a:buNone/>
          </a:pPr>
          <a:endParaRPr lang="en-US" sz="2800" kern="1200">
            <a:solidFill>
              <a:srgbClr val="0070C0"/>
            </a:solidFill>
          </a:endParaRPr>
        </a:p>
      </dsp:txBody>
      <dsp:txXfrm>
        <a:off x="5889447" y="684783"/>
        <a:ext cx="319634" cy="437317"/>
      </dsp:txXfrm>
    </dsp:sp>
    <dsp:sp modelId="{0CB227FE-D626-4CA6-BA24-ED7803EB198D}">
      <dsp:nvSpPr>
        <dsp:cNvPr id="0" name=""/>
        <dsp:cNvSpPr/>
      </dsp:nvSpPr>
      <dsp:spPr>
        <a:xfrm>
          <a:off x="6289649" y="1741423"/>
          <a:ext cx="581152" cy="581152"/>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dk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1244600">
            <a:lnSpc>
              <a:spcPct val="90000"/>
            </a:lnSpc>
            <a:spcBef>
              <a:spcPct val="0"/>
            </a:spcBef>
            <a:spcAft>
              <a:spcPct val="35000"/>
            </a:spcAft>
            <a:buNone/>
          </a:pPr>
          <a:endParaRPr lang="en-US" sz="2800" kern="1200">
            <a:solidFill>
              <a:srgbClr val="0070C0"/>
            </a:solidFill>
          </a:endParaRPr>
        </a:p>
      </dsp:txBody>
      <dsp:txXfrm>
        <a:off x="6420408" y="1741423"/>
        <a:ext cx="319634" cy="437317"/>
      </dsp:txXfrm>
    </dsp:sp>
    <dsp:sp modelId="{660E49CA-3673-4E0D-B9F6-2B81BE7B3FA7}">
      <dsp:nvSpPr>
        <dsp:cNvPr id="0" name=""/>
        <dsp:cNvSpPr/>
      </dsp:nvSpPr>
      <dsp:spPr>
        <a:xfrm>
          <a:off x="6812686" y="2798064"/>
          <a:ext cx="581152" cy="581152"/>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dk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1244600">
            <a:lnSpc>
              <a:spcPct val="90000"/>
            </a:lnSpc>
            <a:spcBef>
              <a:spcPct val="0"/>
            </a:spcBef>
            <a:spcAft>
              <a:spcPct val="35000"/>
            </a:spcAft>
            <a:buNone/>
          </a:pPr>
          <a:endParaRPr lang="en-US" sz="2800" kern="1200">
            <a:solidFill>
              <a:srgbClr val="0070C0"/>
            </a:solidFill>
          </a:endParaRPr>
        </a:p>
      </dsp:txBody>
      <dsp:txXfrm>
        <a:off x="6943445" y="2798064"/>
        <a:ext cx="319634" cy="43731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65A13F-9911-453A-942C-AA7E2F1C88AE}" type="datetimeFigureOut">
              <a:rPr lang="en-US" smtClean="0"/>
              <a:t>9/3/2019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E6835D-D47D-4F39-BCC0-23AA0327B770}" type="slidenum">
              <a:rPr lang="en-US" smtClean="0"/>
              <a:t>‹#›</a:t>
            </a:fld>
            <a:endParaRPr lang="en-US"/>
          </a:p>
        </p:txBody>
      </p:sp>
    </p:spTree>
    <p:extLst>
      <p:ext uri="{BB962C8B-B14F-4D97-AF65-F5344CB8AC3E}">
        <p14:creationId xmlns:p14="http://schemas.microsoft.com/office/powerpoint/2010/main" val="1908026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sz="3000" b="1">
                <a:solidFill>
                  <a:schemeClr val="tx1"/>
                </a:solidFill>
                <a:latin typeface="Arial" charset="0"/>
              </a:defRPr>
            </a:lvl1pPr>
            <a:lvl2pPr marL="742950" indent="-285750">
              <a:defRPr sz="3000" b="1">
                <a:solidFill>
                  <a:schemeClr val="tx1"/>
                </a:solidFill>
                <a:latin typeface="Arial" charset="0"/>
              </a:defRPr>
            </a:lvl2pPr>
            <a:lvl3pPr marL="1143000" indent="-228600">
              <a:defRPr sz="3000" b="1">
                <a:solidFill>
                  <a:schemeClr val="tx1"/>
                </a:solidFill>
                <a:latin typeface="Arial" charset="0"/>
              </a:defRPr>
            </a:lvl3pPr>
            <a:lvl4pPr marL="1600200" indent="-228600">
              <a:defRPr sz="3000" b="1">
                <a:solidFill>
                  <a:schemeClr val="tx1"/>
                </a:solidFill>
                <a:latin typeface="Arial" charset="0"/>
              </a:defRPr>
            </a:lvl4pPr>
            <a:lvl5pPr marL="2057400" indent="-228600">
              <a:defRPr sz="3000" b="1">
                <a:solidFill>
                  <a:schemeClr val="tx1"/>
                </a:solidFill>
                <a:latin typeface="Arial" charset="0"/>
              </a:defRPr>
            </a:lvl5pPr>
            <a:lvl6pPr marL="2514600" indent="-228600" eaLnBrk="0" fontAlgn="base" hangingPunct="0">
              <a:lnSpc>
                <a:spcPct val="90000"/>
              </a:lnSpc>
              <a:spcBef>
                <a:spcPct val="0"/>
              </a:spcBef>
              <a:spcAft>
                <a:spcPct val="0"/>
              </a:spcAft>
              <a:defRPr sz="3000" b="1">
                <a:solidFill>
                  <a:schemeClr val="tx1"/>
                </a:solidFill>
                <a:latin typeface="Arial" charset="0"/>
              </a:defRPr>
            </a:lvl6pPr>
            <a:lvl7pPr marL="2971800" indent="-228600" eaLnBrk="0" fontAlgn="base" hangingPunct="0">
              <a:lnSpc>
                <a:spcPct val="90000"/>
              </a:lnSpc>
              <a:spcBef>
                <a:spcPct val="0"/>
              </a:spcBef>
              <a:spcAft>
                <a:spcPct val="0"/>
              </a:spcAft>
              <a:defRPr sz="3000" b="1">
                <a:solidFill>
                  <a:schemeClr val="tx1"/>
                </a:solidFill>
                <a:latin typeface="Arial" charset="0"/>
              </a:defRPr>
            </a:lvl7pPr>
            <a:lvl8pPr marL="3429000" indent="-228600" eaLnBrk="0" fontAlgn="base" hangingPunct="0">
              <a:lnSpc>
                <a:spcPct val="90000"/>
              </a:lnSpc>
              <a:spcBef>
                <a:spcPct val="0"/>
              </a:spcBef>
              <a:spcAft>
                <a:spcPct val="0"/>
              </a:spcAft>
              <a:defRPr sz="3000" b="1">
                <a:solidFill>
                  <a:schemeClr val="tx1"/>
                </a:solidFill>
                <a:latin typeface="Arial" charset="0"/>
              </a:defRPr>
            </a:lvl8pPr>
            <a:lvl9pPr marL="3886200" indent="-228600" eaLnBrk="0" fontAlgn="base" hangingPunct="0">
              <a:lnSpc>
                <a:spcPct val="90000"/>
              </a:lnSpc>
              <a:spcBef>
                <a:spcPct val="0"/>
              </a:spcBef>
              <a:spcAft>
                <a:spcPct val="0"/>
              </a:spcAft>
              <a:defRPr sz="3000" b="1">
                <a:solidFill>
                  <a:schemeClr val="tx1"/>
                </a:solidFill>
                <a:latin typeface="Arial" charset="0"/>
              </a:defRPr>
            </a:lvl9pPr>
          </a:lstStyle>
          <a:p>
            <a:fld id="{0DEAE196-1996-4C50-B726-3FB0F912A0CB}" type="slidenum">
              <a:rPr lang="en-US" sz="1200"/>
              <a:pPr/>
              <a:t>16</a:t>
            </a:fld>
            <a:endParaRPr lang="en-US" sz="1200"/>
          </a:p>
        </p:txBody>
      </p:sp>
      <p:sp>
        <p:nvSpPr>
          <p:cNvPr id="17411" name="Rectangle 2"/>
          <p:cNvSpPr>
            <a:spLocks noGrp="1" noRot="1" noChangeAspect="1" noChangeArrowheads="1" noTextEdit="1"/>
          </p:cNvSpPr>
          <p:nvPr>
            <p:ph type="sldImg"/>
          </p:nvPr>
        </p:nvSpPr>
        <p:spPr>
          <a:xfrm>
            <a:off x="307975" y="300038"/>
            <a:ext cx="6270625" cy="3527425"/>
          </a:xfrm>
          <a:ln/>
        </p:spPr>
      </p:sp>
      <p:sp>
        <p:nvSpPr>
          <p:cNvPr id="17412" name="Rectangle 3"/>
          <p:cNvSpPr>
            <a:spLocks noGrp="1" noChangeArrowheads="1"/>
          </p:cNvSpPr>
          <p:nvPr>
            <p:ph type="body" idx="1"/>
          </p:nvPr>
        </p:nvSpPr>
        <p:spPr>
          <a:xfrm>
            <a:off x="523875" y="4052888"/>
            <a:ext cx="5835650" cy="4579937"/>
          </a:xfrm>
          <a:noFill/>
        </p:spPr>
        <p:txBody>
          <a:bodyPr/>
          <a:lstStyle/>
          <a:p>
            <a:pPr eaLnBrk="1" hangingPunct="1"/>
            <a:r>
              <a:rPr lang="en-US" b="1"/>
              <a:t>Emphasize:</a:t>
            </a:r>
            <a:r>
              <a:rPr lang="en-US"/>
              <a:t> Here is a list of some of the configuration modes available. </a:t>
            </a:r>
          </a:p>
          <a:p>
            <a:pPr eaLnBrk="1" hangingPunct="1"/>
            <a:r>
              <a:rPr lang="en-US"/>
              <a:t>For a complete list of the router configuration modes, refer to the Cisco Documentation CD-ROM.</a:t>
            </a:r>
          </a:p>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sz="3000" b="1">
                <a:solidFill>
                  <a:schemeClr val="tx1"/>
                </a:solidFill>
                <a:latin typeface="Arial" charset="0"/>
              </a:defRPr>
            </a:lvl1pPr>
            <a:lvl2pPr marL="742950" indent="-285750">
              <a:defRPr sz="3000" b="1">
                <a:solidFill>
                  <a:schemeClr val="tx1"/>
                </a:solidFill>
                <a:latin typeface="Arial" charset="0"/>
              </a:defRPr>
            </a:lvl2pPr>
            <a:lvl3pPr marL="1143000" indent="-228600">
              <a:defRPr sz="3000" b="1">
                <a:solidFill>
                  <a:schemeClr val="tx1"/>
                </a:solidFill>
                <a:latin typeface="Arial" charset="0"/>
              </a:defRPr>
            </a:lvl3pPr>
            <a:lvl4pPr marL="1600200" indent="-228600">
              <a:defRPr sz="3000" b="1">
                <a:solidFill>
                  <a:schemeClr val="tx1"/>
                </a:solidFill>
                <a:latin typeface="Arial" charset="0"/>
              </a:defRPr>
            </a:lvl4pPr>
            <a:lvl5pPr marL="2057400" indent="-228600">
              <a:defRPr sz="3000" b="1">
                <a:solidFill>
                  <a:schemeClr val="tx1"/>
                </a:solidFill>
                <a:latin typeface="Arial" charset="0"/>
              </a:defRPr>
            </a:lvl5pPr>
            <a:lvl6pPr marL="2514600" indent="-228600" eaLnBrk="0" fontAlgn="base" hangingPunct="0">
              <a:lnSpc>
                <a:spcPct val="90000"/>
              </a:lnSpc>
              <a:spcBef>
                <a:spcPct val="0"/>
              </a:spcBef>
              <a:spcAft>
                <a:spcPct val="0"/>
              </a:spcAft>
              <a:defRPr sz="3000" b="1">
                <a:solidFill>
                  <a:schemeClr val="tx1"/>
                </a:solidFill>
                <a:latin typeface="Arial" charset="0"/>
              </a:defRPr>
            </a:lvl6pPr>
            <a:lvl7pPr marL="2971800" indent="-228600" eaLnBrk="0" fontAlgn="base" hangingPunct="0">
              <a:lnSpc>
                <a:spcPct val="90000"/>
              </a:lnSpc>
              <a:spcBef>
                <a:spcPct val="0"/>
              </a:spcBef>
              <a:spcAft>
                <a:spcPct val="0"/>
              </a:spcAft>
              <a:defRPr sz="3000" b="1">
                <a:solidFill>
                  <a:schemeClr val="tx1"/>
                </a:solidFill>
                <a:latin typeface="Arial" charset="0"/>
              </a:defRPr>
            </a:lvl7pPr>
            <a:lvl8pPr marL="3429000" indent="-228600" eaLnBrk="0" fontAlgn="base" hangingPunct="0">
              <a:lnSpc>
                <a:spcPct val="90000"/>
              </a:lnSpc>
              <a:spcBef>
                <a:spcPct val="0"/>
              </a:spcBef>
              <a:spcAft>
                <a:spcPct val="0"/>
              </a:spcAft>
              <a:defRPr sz="3000" b="1">
                <a:solidFill>
                  <a:schemeClr val="tx1"/>
                </a:solidFill>
                <a:latin typeface="Arial" charset="0"/>
              </a:defRPr>
            </a:lvl8pPr>
            <a:lvl9pPr marL="3886200" indent="-228600" eaLnBrk="0" fontAlgn="base" hangingPunct="0">
              <a:lnSpc>
                <a:spcPct val="90000"/>
              </a:lnSpc>
              <a:spcBef>
                <a:spcPct val="0"/>
              </a:spcBef>
              <a:spcAft>
                <a:spcPct val="0"/>
              </a:spcAft>
              <a:defRPr sz="3000" b="1">
                <a:solidFill>
                  <a:schemeClr val="tx1"/>
                </a:solidFill>
                <a:latin typeface="Arial" charset="0"/>
              </a:defRPr>
            </a:lvl9pPr>
          </a:lstStyle>
          <a:p>
            <a:fld id="{0DEAE196-1996-4C50-B726-3FB0F912A0CB}" type="slidenum">
              <a:rPr lang="en-US" sz="1200">
                <a:solidFill>
                  <a:prstClr val="black"/>
                </a:solidFill>
              </a:rPr>
              <a:pPr/>
              <a:t>20</a:t>
            </a:fld>
            <a:endParaRPr lang="en-US" sz="1200">
              <a:solidFill>
                <a:prstClr val="black"/>
              </a:solidFill>
            </a:endParaRPr>
          </a:p>
        </p:txBody>
      </p:sp>
      <p:sp>
        <p:nvSpPr>
          <p:cNvPr id="17411" name="Rectangle 2"/>
          <p:cNvSpPr>
            <a:spLocks noGrp="1" noRot="1" noChangeAspect="1" noChangeArrowheads="1" noTextEdit="1"/>
          </p:cNvSpPr>
          <p:nvPr>
            <p:ph type="sldImg"/>
          </p:nvPr>
        </p:nvSpPr>
        <p:spPr>
          <a:xfrm>
            <a:off x="1092200" y="300038"/>
            <a:ext cx="4702175" cy="3527425"/>
          </a:xfrm>
          <a:ln/>
        </p:spPr>
      </p:sp>
      <p:sp>
        <p:nvSpPr>
          <p:cNvPr id="17412" name="Rectangle 3"/>
          <p:cNvSpPr>
            <a:spLocks noGrp="1" noChangeArrowheads="1"/>
          </p:cNvSpPr>
          <p:nvPr>
            <p:ph type="body" idx="1"/>
          </p:nvPr>
        </p:nvSpPr>
        <p:spPr>
          <a:xfrm>
            <a:off x="523875" y="4052888"/>
            <a:ext cx="5835650" cy="4579937"/>
          </a:xfrm>
          <a:noFill/>
        </p:spPr>
        <p:txBody>
          <a:bodyPr/>
          <a:lstStyle/>
          <a:p>
            <a:pPr eaLnBrk="1" hangingPunct="1"/>
            <a:r>
              <a:rPr lang="en-US" b="1"/>
              <a:t>Emphasize:</a:t>
            </a:r>
            <a:r>
              <a:rPr lang="en-US"/>
              <a:t> Here is a list of some of the configuration modes available. </a:t>
            </a:r>
          </a:p>
          <a:p>
            <a:pPr eaLnBrk="1" hangingPunct="1"/>
            <a:r>
              <a:rPr lang="en-US"/>
              <a:t>For a complete list of the router configuration modes, refer to the Cisco Documentation CD-ROM.</a:t>
            </a:r>
          </a:p>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sz="3000" b="1">
                <a:solidFill>
                  <a:schemeClr val="tx1"/>
                </a:solidFill>
                <a:latin typeface="Arial" charset="0"/>
              </a:defRPr>
            </a:lvl1pPr>
            <a:lvl2pPr marL="742950" indent="-285750">
              <a:defRPr sz="3000" b="1">
                <a:solidFill>
                  <a:schemeClr val="tx1"/>
                </a:solidFill>
                <a:latin typeface="Arial" charset="0"/>
              </a:defRPr>
            </a:lvl2pPr>
            <a:lvl3pPr marL="1143000" indent="-228600">
              <a:defRPr sz="3000" b="1">
                <a:solidFill>
                  <a:schemeClr val="tx1"/>
                </a:solidFill>
                <a:latin typeface="Arial" charset="0"/>
              </a:defRPr>
            </a:lvl3pPr>
            <a:lvl4pPr marL="1600200" indent="-228600">
              <a:defRPr sz="3000" b="1">
                <a:solidFill>
                  <a:schemeClr val="tx1"/>
                </a:solidFill>
                <a:latin typeface="Arial" charset="0"/>
              </a:defRPr>
            </a:lvl4pPr>
            <a:lvl5pPr marL="2057400" indent="-228600">
              <a:defRPr sz="3000" b="1">
                <a:solidFill>
                  <a:schemeClr val="tx1"/>
                </a:solidFill>
                <a:latin typeface="Arial" charset="0"/>
              </a:defRPr>
            </a:lvl5pPr>
            <a:lvl6pPr marL="2514600" indent="-228600" eaLnBrk="0" fontAlgn="base" hangingPunct="0">
              <a:lnSpc>
                <a:spcPct val="90000"/>
              </a:lnSpc>
              <a:spcBef>
                <a:spcPct val="0"/>
              </a:spcBef>
              <a:spcAft>
                <a:spcPct val="0"/>
              </a:spcAft>
              <a:defRPr sz="3000" b="1">
                <a:solidFill>
                  <a:schemeClr val="tx1"/>
                </a:solidFill>
                <a:latin typeface="Arial" charset="0"/>
              </a:defRPr>
            </a:lvl6pPr>
            <a:lvl7pPr marL="2971800" indent="-228600" eaLnBrk="0" fontAlgn="base" hangingPunct="0">
              <a:lnSpc>
                <a:spcPct val="90000"/>
              </a:lnSpc>
              <a:spcBef>
                <a:spcPct val="0"/>
              </a:spcBef>
              <a:spcAft>
                <a:spcPct val="0"/>
              </a:spcAft>
              <a:defRPr sz="3000" b="1">
                <a:solidFill>
                  <a:schemeClr val="tx1"/>
                </a:solidFill>
                <a:latin typeface="Arial" charset="0"/>
              </a:defRPr>
            </a:lvl7pPr>
            <a:lvl8pPr marL="3429000" indent="-228600" eaLnBrk="0" fontAlgn="base" hangingPunct="0">
              <a:lnSpc>
                <a:spcPct val="90000"/>
              </a:lnSpc>
              <a:spcBef>
                <a:spcPct val="0"/>
              </a:spcBef>
              <a:spcAft>
                <a:spcPct val="0"/>
              </a:spcAft>
              <a:defRPr sz="3000" b="1">
                <a:solidFill>
                  <a:schemeClr val="tx1"/>
                </a:solidFill>
                <a:latin typeface="Arial" charset="0"/>
              </a:defRPr>
            </a:lvl8pPr>
            <a:lvl9pPr marL="3886200" indent="-228600" eaLnBrk="0" fontAlgn="base" hangingPunct="0">
              <a:lnSpc>
                <a:spcPct val="90000"/>
              </a:lnSpc>
              <a:spcBef>
                <a:spcPct val="0"/>
              </a:spcBef>
              <a:spcAft>
                <a:spcPct val="0"/>
              </a:spcAft>
              <a:defRPr sz="3000" b="1">
                <a:solidFill>
                  <a:schemeClr val="tx1"/>
                </a:solidFill>
                <a:latin typeface="Arial" charset="0"/>
              </a:defRPr>
            </a:lvl9pPr>
          </a:lstStyle>
          <a:p>
            <a:fld id="{0DEAE196-1996-4C50-B726-3FB0F912A0CB}" type="slidenum">
              <a:rPr lang="en-US" sz="1200">
                <a:solidFill>
                  <a:prstClr val="black"/>
                </a:solidFill>
              </a:rPr>
              <a:pPr/>
              <a:t>21</a:t>
            </a:fld>
            <a:endParaRPr lang="en-US" sz="1200">
              <a:solidFill>
                <a:prstClr val="black"/>
              </a:solidFill>
            </a:endParaRPr>
          </a:p>
        </p:txBody>
      </p:sp>
      <p:sp>
        <p:nvSpPr>
          <p:cNvPr id="17411" name="Rectangle 2"/>
          <p:cNvSpPr>
            <a:spLocks noGrp="1" noRot="1" noChangeAspect="1" noChangeArrowheads="1" noTextEdit="1"/>
          </p:cNvSpPr>
          <p:nvPr>
            <p:ph type="sldImg"/>
          </p:nvPr>
        </p:nvSpPr>
        <p:spPr>
          <a:xfrm>
            <a:off x="1092200" y="300038"/>
            <a:ext cx="4702175" cy="3527425"/>
          </a:xfrm>
          <a:ln/>
        </p:spPr>
      </p:sp>
      <p:sp>
        <p:nvSpPr>
          <p:cNvPr id="17412" name="Rectangle 3"/>
          <p:cNvSpPr>
            <a:spLocks noGrp="1" noChangeArrowheads="1"/>
          </p:cNvSpPr>
          <p:nvPr>
            <p:ph type="body" idx="1"/>
          </p:nvPr>
        </p:nvSpPr>
        <p:spPr>
          <a:xfrm>
            <a:off x="523875" y="4052888"/>
            <a:ext cx="5835650" cy="4579937"/>
          </a:xfrm>
          <a:noFill/>
        </p:spPr>
        <p:txBody>
          <a:bodyPr/>
          <a:lstStyle/>
          <a:p>
            <a:pPr eaLnBrk="1" hangingPunct="1"/>
            <a:r>
              <a:rPr lang="en-US" b="1"/>
              <a:t>Emphasize:</a:t>
            </a:r>
            <a:r>
              <a:rPr lang="en-US"/>
              <a:t> Here is a list of some of the configuration modes available. </a:t>
            </a:r>
          </a:p>
          <a:p>
            <a:pPr eaLnBrk="1" hangingPunct="1"/>
            <a:r>
              <a:rPr lang="en-US"/>
              <a:t>For a complete list of the router configuration modes, refer to the Cisco Documentation CD-ROM.</a:t>
            </a:r>
          </a:p>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fld id="{072E4F78-AEF3-4B1E-90C0-99A546B2E00C}" type="slidenum">
              <a:rPr lang="en-US" b="0">
                <a:solidFill>
                  <a:prstClr val="black"/>
                </a:solidFill>
                <a:latin typeface="Times New Roman" charset="0"/>
              </a:rPr>
              <a:pPr/>
              <a:t>22</a:t>
            </a:fld>
            <a:endParaRPr lang="en-US" b="0">
              <a:solidFill>
                <a:prstClr val="black"/>
              </a:solidFill>
              <a:latin typeface="Times New Roman"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sz="3000" b="1">
                <a:solidFill>
                  <a:schemeClr val="tx1"/>
                </a:solidFill>
                <a:latin typeface="Arial" charset="0"/>
              </a:defRPr>
            </a:lvl1pPr>
            <a:lvl2pPr marL="742950" indent="-285750">
              <a:defRPr sz="3000" b="1">
                <a:solidFill>
                  <a:schemeClr val="tx1"/>
                </a:solidFill>
                <a:latin typeface="Arial" charset="0"/>
              </a:defRPr>
            </a:lvl2pPr>
            <a:lvl3pPr marL="1143000" indent="-228600">
              <a:defRPr sz="3000" b="1">
                <a:solidFill>
                  <a:schemeClr val="tx1"/>
                </a:solidFill>
                <a:latin typeface="Arial" charset="0"/>
              </a:defRPr>
            </a:lvl3pPr>
            <a:lvl4pPr marL="1600200" indent="-228600">
              <a:defRPr sz="3000" b="1">
                <a:solidFill>
                  <a:schemeClr val="tx1"/>
                </a:solidFill>
                <a:latin typeface="Arial" charset="0"/>
              </a:defRPr>
            </a:lvl4pPr>
            <a:lvl5pPr marL="2057400" indent="-228600">
              <a:defRPr sz="3000" b="1">
                <a:solidFill>
                  <a:schemeClr val="tx1"/>
                </a:solidFill>
                <a:latin typeface="Arial" charset="0"/>
              </a:defRPr>
            </a:lvl5pPr>
            <a:lvl6pPr marL="2514600" indent="-228600" eaLnBrk="0" fontAlgn="base" hangingPunct="0">
              <a:lnSpc>
                <a:spcPct val="90000"/>
              </a:lnSpc>
              <a:spcBef>
                <a:spcPct val="0"/>
              </a:spcBef>
              <a:spcAft>
                <a:spcPct val="0"/>
              </a:spcAft>
              <a:defRPr sz="3000" b="1">
                <a:solidFill>
                  <a:schemeClr val="tx1"/>
                </a:solidFill>
                <a:latin typeface="Arial" charset="0"/>
              </a:defRPr>
            </a:lvl6pPr>
            <a:lvl7pPr marL="2971800" indent="-228600" eaLnBrk="0" fontAlgn="base" hangingPunct="0">
              <a:lnSpc>
                <a:spcPct val="90000"/>
              </a:lnSpc>
              <a:spcBef>
                <a:spcPct val="0"/>
              </a:spcBef>
              <a:spcAft>
                <a:spcPct val="0"/>
              </a:spcAft>
              <a:defRPr sz="3000" b="1">
                <a:solidFill>
                  <a:schemeClr val="tx1"/>
                </a:solidFill>
                <a:latin typeface="Arial" charset="0"/>
              </a:defRPr>
            </a:lvl7pPr>
            <a:lvl8pPr marL="3429000" indent="-228600" eaLnBrk="0" fontAlgn="base" hangingPunct="0">
              <a:lnSpc>
                <a:spcPct val="90000"/>
              </a:lnSpc>
              <a:spcBef>
                <a:spcPct val="0"/>
              </a:spcBef>
              <a:spcAft>
                <a:spcPct val="0"/>
              </a:spcAft>
              <a:defRPr sz="3000" b="1">
                <a:solidFill>
                  <a:schemeClr val="tx1"/>
                </a:solidFill>
                <a:latin typeface="Arial" charset="0"/>
              </a:defRPr>
            </a:lvl8pPr>
            <a:lvl9pPr marL="3886200" indent="-228600" eaLnBrk="0" fontAlgn="base" hangingPunct="0">
              <a:lnSpc>
                <a:spcPct val="90000"/>
              </a:lnSpc>
              <a:spcBef>
                <a:spcPct val="0"/>
              </a:spcBef>
              <a:spcAft>
                <a:spcPct val="0"/>
              </a:spcAft>
              <a:defRPr sz="3000" b="1">
                <a:solidFill>
                  <a:schemeClr val="tx1"/>
                </a:solidFill>
                <a:latin typeface="Arial" charset="0"/>
              </a:defRPr>
            </a:lvl9pPr>
          </a:lstStyle>
          <a:p>
            <a:fld id="{0DEAE196-1996-4C50-B726-3FB0F912A0CB}" type="slidenum">
              <a:rPr lang="en-US" sz="1200">
                <a:solidFill>
                  <a:prstClr val="black"/>
                </a:solidFill>
              </a:rPr>
              <a:pPr/>
              <a:t>24</a:t>
            </a:fld>
            <a:endParaRPr lang="en-US" sz="1200">
              <a:solidFill>
                <a:prstClr val="black"/>
              </a:solidFill>
            </a:endParaRPr>
          </a:p>
        </p:txBody>
      </p:sp>
      <p:sp>
        <p:nvSpPr>
          <p:cNvPr id="17411" name="Rectangle 2"/>
          <p:cNvSpPr>
            <a:spLocks noGrp="1" noRot="1" noChangeAspect="1" noChangeArrowheads="1" noTextEdit="1"/>
          </p:cNvSpPr>
          <p:nvPr>
            <p:ph type="sldImg"/>
          </p:nvPr>
        </p:nvSpPr>
        <p:spPr>
          <a:xfrm>
            <a:off x="1092200" y="300038"/>
            <a:ext cx="4702175" cy="3527425"/>
          </a:xfrm>
          <a:ln/>
        </p:spPr>
      </p:sp>
      <p:sp>
        <p:nvSpPr>
          <p:cNvPr id="17412" name="Rectangle 3"/>
          <p:cNvSpPr>
            <a:spLocks noGrp="1" noChangeArrowheads="1"/>
          </p:cNvSpPr>
          <p:nvPr>
            <p:ph type="body" idx="1"/>
          </p:nvPr>
        </p:nvSpPr>
        <p:spPr>
          <a:xfrm>
            <a:off x="523875" y="4052888"/>
            <a:ext cx="5835650" cy="4579937"/>
          </a:xfrm>
          <a:noFill/>
        </p:spPr>
        <p:txBody>
          <a:bodyPr/>
          <a:lstStyle/>
          <a:p>
            <a:pPr eaLnBrk="1" hangingPunct="1"/>
            <a:r>
              <a:rPr lang="en-US" b="1"/>
              <a:t>Emphasize:</a:t>
            </a:r>
            <a:r>
              <a:rPr lang="en-US"/>
              <a:t> Here is a list of some of the configuration modes available. </a:t>
            </a:r>
          </a:p>
          <a:p>
            <a:pPr eaLnBrk="1" hangingPunct="1"/>
            <a:r>
              <a:rPr lang="en-US"/>
              <a:t>For a complete list of the router configuration modes, refer to the Cisco Documentation CD-ROM.</a:t>
            </a:r>
          </a:p>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sz="3000" b="1">
                <a:solidFill>
                  <a:schemeClr val="tx1"/>
                </a:solidFill>
                <a:latin typeface="Arial" charset="0"/>
              </a:defRPr>
            </a:lvl1pPr>
            <a:lvl2pPr marL="742950" indent="-285750">
              <a:defRPr sz="3000" b="1">
                <a:solidFill>
                  <a:schemeClr val="tx1"/>
                </a:solidFill>
                <a:latin typeface="Arial" charset="0"/>
              </a:defRPr>
            </a:lvl2pPr>
            <a:lvl3pPr marL="1143000" indent="-228600">
              <a:defRPr sz="3000" b="1">
                <a:solidFill>
                  <a:schemeClr val="tx1"/>
                </a:solidFill>
                <a:latin typeface="Arial" charset="0"/>
              </a:defRPr>
            </a:lvl3pPr>
            <a:lvl4pPr marL="1600200" indent="-228600">
              <a:defRPr sz="3000" b="1">
                <a:solidFill>
                  <a:schemeClr val="tx1"/>
                </a:solidFill>
                <a:latin typeface="Arial" charset="0"/>
              </a:defRPr>
            </a:lvl4pPr>
            <a:lvl5pPr marL="2057400" indent="-228600">
              <a:defRPr sz="3000" b="1">
                <a:solidFill>
                  <a:schemeClr val="tx1"/>
                </a:solidFill>
                <a:latin typeface="Arial" charset="0"/>
              </a:defRPr>
            </a:lvl5pPr>
            <a:lvl6pPr marL="2514600" indent="-228600" eaLnBrk="0" fontAlgn="base" hangingPunct="0">
              <a:lnSpc>
                <a:spcPct val="90000"/>
              </a:lnSpc>
              <a:spcBef>
                <a:spcPct val="0"/>
              </a:spcBef>
              <a:spcAft>
                <a:spcPct val="0"/>
              </a:spcAft>
              <a:defRPr sz="3000" b="1">
                <a:solidFill>
                  <a:schemeClr val="tx1"/>
                </a:solidFill>
                <a:latin typeface="Arial" charset="0"/>
              </a:defRPr>
            </a:lvl6pPr>
            <a:lvl7pPr marL="2971800" indent="-228600" eaLnBrk="0" fontAlgn="base" hangingPunct="0">
              <a:lnSpc>
                <a:spcPct val="90000"/>
              </a:lnSpc>
              <a:spcBef>
                <a:spcPct val="0"/>
              </a:spcBef>
              <a:spcAft>
                <a:spcPct val="0"/>
              </a:spcAft>
              <a:defRPr sz="3000" b="1">
                <a:solidFill>
                  <a:schemeClr val="tx1"/>
                </a:solidFill>
                <a:latin typeface="Arial" charset="0"/>
              </a:defRPr>
            </a:lvl7pPr>
            <a:lvl8pPr marL="3429000" indent="-228600" eaLnBrk="0" fontAlgn="base" hangingPunct="0">
              <a:lnSpc>
                <a:spcPct val="90000"/>
              </a:lnSpc>
              <a:spcBef>
                <a:spcPct val="0"/>
              </a:spcBef>
              <a:spcAft>
                <a:spcPct val="0"/>
              </a:spcAft>
              <a:defRPr sz="3000" b="1">
                <a:solidFill>
                  <a:schemeClr val="tx1"/>
                </a:solidFill>
                <a:latin typeface="Arial" charset="0"/>
              </a:defRPr>
            </a:lvl8pPr>
            <a:lvl9pPr marL="3886200" indent="-228600" eaLnBrk="0" fontAlgn="base" hangingPunct="0">
              <a:lnSpc>
                <a:spcPct val="90000"/>
              </a:lnSpc>
              <a:spcBef>
                <a:spcPct val="0"/>
              </a:spcBef>
              <a:spcAft>
                <a:spcPct val="0"/>
              </a:spcAft>
              <a:defRPr sz="3000" b="1">
                <a:solidFill>
                  <a:schemeClr val="tx1"/>
                </a:solidFill>
                <a:latin typeface="Arial" charset="0"/>
              </a:defRPr>
            </a:lvl9pPr>
          </a:lstStyle>
          <a:p>
            <a:fld id="{0DEAE196-1996-4C50-B726-3FB0F912A0CB}" type="slidenum">
              <a:rPr lang="en-US" sz="1200">
                <a:solidFill>
                  <a:prstClr val="black"/>
                </a:solidFill>
              </a:rPr>
              <a:pPr/>
              <a:t>25</a:t>
            </a:fld>
            <a:endParaRPr lang="en-US" sz="1200">
              <a:solidFill>
                <a:prstClr val="black"/>
              </a:solidFill>
            </a:endParaRPr>
          </a:p>
        </p:txBody>
      </p:sp>
      <p:sp>
        <p:nvSpPr>
          <p:cNvPr id="17411" name="Rectangle 2"/>
          <p:cNvSpPr>
            <a:spLocks noGrp="1" noRot="1" noChangeAspect="1" noChangeArrowheads="1" noTextEdit="1"/>
          </p:cNvSpPr>
          <p:nvPr>
            <p:ph type="sldImg"/>
          </p:nvPr>
        </p:nvSpPr>
        <p:spPr>
          <a:xfrm>
            <a:off x="1092200" y="300038"/>
            <a:ext cx="4702175" cy="3527425"/>
          </a:xfrm>
          <a:ln/>
        </p:spPr>
      </p:sp>
      <p:sp>
        <p:nvSpPr>
          <p:cNvPr id="17412" name="Rectangle 3"/>
          <p:cNvSpPr>
            <a:spLocks noGrp="1" noChangeArrowheads="1"/>
          </p:cNvSpPr>
          <p:nvPr>
            <p:ph type="body" idx="1"/>
          </p:nvPr>
        </p:nvSpPr>
        <p:spPr>
          <a:xfrm>
            <a:off x="523875" y="4052888"/>
            <a:ext cx="5835650" cy="4579937"/>
          </a:xfrm>
          <a:noFill/>
        </p:spPr>
        <p:txBody>
          <a:bodyPr/>
          <a:lstStyle/>
          <a:p>
            <a:pPr eaLnBrk="1" hangingPunct="1"/>
            <a:r>
              <a:rPr lang="en-US" b="1"/>
              <a:t>Emphasize:</a:t>
            </a:r>
            <a:r>
              <a:rPr lang="en-US"/>
              <a:t> Here is a list of some of the configuration modes available. </a:t>
            </a:r>
          </a:p>
          <a:p>
            <a:pPr eaLnBrk="1" hangingPunct="1"/>
            <a:r>
              <a:rPr lang="en-US"/>
              <a:t>For a complete list of the router configuration modes, refer to the Cisco Documentation CD-ROM.</a:t>
            </a:r>
          </a:p>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sz="3000" b="1">
                <a:solidFill>
                  <a:schemeClr val="tx1"/>
                </a:solidFill>
                <a:latin typeface="Arial" charset="0"/>
              </a:defRPr>
            </a:lvl1pPr>
            <a:lvl2pPr marL="742950" indent="-285750">
              <a:defRPr sz="3000" b="1">
                <a:solidFill>
                  <a:schemeClr val="tx1"/>
                </a:solidFill>
                <a:latin typeface="Arial" charset="0"/>
              </a:defRPr>
            </a:lvl2pPr>
            <a:lvl3pPr marL="1143000" indent="-228600">
              <a:defRPr sz="3000" b="1">
                <a:solidFill>
                  <a:schemeClr val="tx1"/>
                </a:solidFill>
                <a:latin typeface="Arial" charset="0"/>
              </a:defRPr>
            </a:lvl3pPr>
            <a:lvl4pPr marL="1600200" indent="-228600">
              <a:defRPr sz="3000" b="1">
                <a:solidFill>
                  <a:schemeClr val="tx1"/>
                </a:solidFill>
                <a:latin typeface="Arial" charset="0"/>
              </a:defRPr>
            </a:lvl4pPr>
            <a:lvl5pPr marL="2057400" indent="-228600">
              <a:defRPr sz="3000" b="1">
                <a:solidFill>
                  <a:schemeClr val="tx1"/>
                </a:solidFill>
                <a:latin typeface="Arial" charset="0"/>
              </a:defRPr>
            </a:lvl5pPr>
            <a:lvl6pPr marL="2514600" indent="-228600" eaLnBrk="0" fontAlgn="base" hangingPunct="0">
              <a:lnSpc>
                <a:spcPct val="90000"/>
              </a:lnSpc>
              <a:spcBef>
                <a:spcPct val="0"/>
              </a:spcBef>
              <a:spcAft>
                <a:spcPct val="0"/>
              </a:spcAft>
              <a:defRPr sz="3000" b="1">
                <a:solidFill>
                  <a:schemeClr val="tx1"/>
                </a:solidFill>
                <a:latin typeface="Arial" charset="0"/>
              </a:defRPr>
            </a:lvl6pPr>
            <a:lvl7pPr marL="2971800" indent="-228600" eaLnBrk="0" fontAlgn="base" hangingPunct="0">
              <a:lnSpc>
                <a:spcPct val="90000"/>
              </a:lnSpc>
              <a:spcBef>
                <a:spcPct val="0"/>
              </a:spcBef>
              <a:spcAft>
                <a:spcPct val="0"/>
              </a:spcAft>
              <a:defRPr sz="3000" b="1">
                <a:solidFill>
                  <a:schemeClr val="tx1"/>
                </a:solidFill>
                <a:latin typeface="Arial" charset="0"/>
              </a:defRPr>
            </a:lvl7pPr>
            <a:lvl8pPr marL="3429000" indent="-228600" eaLnBrk="0" fontAlgn="base" hangingPunct="0">
              <a:lnSpc>
                <a:spcPct val="90000"/>
              </a:lnSpc>
              <a:spcBef>
                <a:spcPct val="0"/>
              </a:spcBef>
              <a:spcAft>
                <a:spcPct val="0"/>
              </a:spcAft>
              <a:defRPr sz="3000" b="1">
                <a:solidFill>
                  <a:schemeClr val="tx1"/>
                </a:solidFill>
                <a:latin typeface="Arial" charset="0"/>
              </a:defRPr>
            </a:lvl8pPr>
            <a:lvl9pPr marL="3886200" indent="-228600" eaLnBrk="0" fontAlgn="base" hangingPunct="0">
              <a:lnSpc>
                <a:spcPct val="90000"/>
              </a:lnSpc>
              <a:spcBef>
                <a:spcPct val="0"/>
              </a:spcBef>
              <a:spcAft>
                <a:spcPct val="0"/>
              </a:spcAft>
              <a:defRPr sz="3000" b="1">
                <a:solidFill>
                  <a:schemeClr val="tx1"/>
                </a:solidFill>
                <a:latin typeface="Arial" charset="0"/>
              </a:defRPr>
            </a:lvl9pPr>
          </a:lstStyle>
          <a:p>
            <a:fld id="{0DEAE196-1996-4C50-B726-3FB0F912A0CB}" type="slidenum">
              <a:rPr lang="en-US" sz="1200"/>
              <a:pPr/>
              <a:t>30</a:t>
            </a:fld>
            <a:endParaRPr lang="en-US" sz="1200"/>
          </a:p>
        </p:txBody>
      </p:sp>
      <p:sp>
        <p:nvSpPr>
          <p:cNvPr id="17411" name="Rectangle 2"/>
          <p:cNvSpPr>
            <a:spLocks noGrp="1" noRot="1" noChangeAspect="1" noChangeArrowheads="1" noTextEdit="1"/>
          </p:cNvSpPr>
          <p:nvPr>
            <p:ph type="sldImg"/>
          </p:nvPr>
        </p:nvSpPr>
        <p:spPr>
          <a:xfrm>
            <a:off x="307975" y="300038"/>
            <a:ext cx="6270625" cy="3527425"/>
          </a:xfrm>
          <a:ln/>
        </p:spPr>
      </p:sp>
      <p:sp>
        <p:nvSpPr>
          <p:cNvPr id="17412" name="Rectangle 3"/>
          <p:cNvSpPr>
            <a:spLocks noGrp="1" noChangeArrowheads="1"/>
          </p:cNvSpPr>
          <p:nvPr>
            <p:ph type="body" idx="1"/>
          </p:nvPr>
        </p:nvSpPr>
        <p:spPr>
          <a:xfrm>
            <a:off x="523875" y="4052888"/>
            <a:ext cx="5835650" cy="4579937"/>
          </a:xfrm>
          <a:noFill/>
        </p:spPr>
        <p:txBody>
          <a:bodyPr/>
          <a:lstStyle/>
          <a:p>
            <a:pPr eaLnBrk="1" hangingPunct="1"/>
            <a:r>
              <a:rPr lang="en-US" b="1"/>
              <a:t>Emphasize:</a:t>
            </a:r>
            <a:r>
              <a:rPr lang="en-US"/>
              <a:t> Here is a list of some of the configuration modes available. </a:t>
            </a:r>
          </a:p>
          <a:p>
            <a:pPr eaLnBrk="1" hangingPunct="1"/>
            <a:r>
              <a:rPr lang="en-US"/>
              <a:t>For a complete list of the router configuration modes, refer to the Cisco Documentation CD-ROM.</a:t>
            </a:r>
          </a:p>
          <a:p>
            <a:pPr eaLnBrk="1" hangingPunct="1"/>
            <a:endParaRPr lang="en-US"/>
          </a:p>
        </p:txBody>
      </p:sp>
    </p:spTree>
    <p:extLst>
      <p:ext uri="{BB962C8B-B14F-4D97-AF65-F5344CB8AC3E}">
        <p14:creationId xmlns:p14="http://schemas.microsoft.com/office/powerpoint/2010/main" val="2209150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9E1277E-4786-41C9-AB4C-856E3E2F43D0}" type="slidenum">
              <a:rPr lang="en-US" smtClean="0"/>
              <a:t>31</a:t>
            </a:fld>
            <a:endParaRPr lang="en-US"/>
          </a:p>
        </p:txBody>
      </p:sp>
    </p:spTree>
    <p:extLst>
      <p:ext uri="{BB962C8B-B14F-4D97-AF65-F5344CB8AC3E}">
        <p14:creationId xmlns:p14="http://schemas.microsoft.com/office/powerpoint/2010/main" val="2407957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sz="3000" b="1">
                <a:solidFill>
                  <a:schemeClr val="tx1"/>
                </a:solidFill>
                <a:latin typeface="Arial" charset="0"/>
              </a:defRPr>
            </a:lvl1pPr>
            <a:lvl2pPr marL="742950" indent="-285750">
              <a:defRPr sz="3000" b="1">
                <a:solidFill>
                  <a:schemeClr val="tx1"/>
                </a:solidFill>
                <a:latin typeface="Arial" charset="0"/>
              </a:defRPr>
            </a:lvl2pPr>
            <a:lvl3pPr marL="1143000" indent="-228600">
              <a:defRPr sz="3000" b="1">
                <a:solidFill>
                  <a:schemeClr val="tx1"/>
                </a:solidFill>
                <a:latin typeface="Arial" charset="0"/>
              </a:defRPr>
            </a:lvl3pPr>
            <a:lvl4pPr marL="1600200" indent="-228600">
              <a:defRPr sz="3000" b="1">
                <a:solidFill>
                  <a:schemeClr val="tx1"/>
                </a:solidFill>
                <a:latin typeface="Arial" charset="0"/>
              </a:defRPr>
            </a:lvl4pPr>
            <a:lvl5pPr marL="2057400" indent="-228600">
              <a:defRPr sz="3000" b="1">
                <a:solidFill>
                  <a:schemeClr val="tx1"/>
                </a:solidFill>
                <a:latin typeface="Arial" charset="0"/>
              </a:defRPr>
            </a:lvl5pPr>
            <a:lvl6pPr marL="2514600" indent="-228600" eaLnBrk="0" fontAlgn="base" hangingPunct="0">
              <a:lnSpc>
                <a:spcPct val="90000"/>
              </a:lnSpc>
              <a:spcBef>
                <a:spcPct val="0"/>
              </a:spcBef>
              <a:spcAft>
                <a:spcPct val="0"/>
              </a:spcAft>
              <a:defRPr sz="3000" b="1">
                <a:solidFill>
                  <a:schemeClr val="tx1"/>
                </a:solidFill>
                <a:latin typeface="Arial" charset="0"/>
              </a:defRPr>
            </a:lvl6pPr>
            <a:lvl7pPr marL="2971800" indent="-228600" eaLnBrk="0" fontAlgn="base" hangingPunct="0">
              <a:lnSpc>
                <a:spcPct val="90000"/>
              </a:lnSpc>
              <a:spcBef>
                <a:spcPct val="0"/>
              </a:spcBef>
              <a:spcAft>
                <a:spcPct val="0"/>
              </a:spcAft>
              <a:defRPr sz="3000" b="1">
                <a:solidFill>
                  <a:schemeClr val="tx1"/>
                </a:solidFill>
                <a:latin typeface="Arial" charset="0"/>
              </a:defRPr>
            </a:lvl7pPr>
            <a:lvl8pPr marL="3429000" indent="-228600" eaLnBrk="0" fontAlgn="base" hangingPunct="0">
              <a:lnSpc>
                <a:spcPct val="90000"/>
              </a:lnSpc>
              <a:spcBef>
                <a:spcPct val="0"/>
              </a:spcBef>
              <a:spcAft>
                <a:spcPct val="0"/>
              </a:spcAft>
              <a:defRPr sz="3000" b="1">
                <a:solidFill>
                  <a:schemeClr val="tx1"/>
                </a:solidFill>
                <a:latin typeface="Arial" charset="0"/>
              </a:defRPr>
            </a:lvl8pPr>
            <a:lvl9pPr marL="3886200" indent="-228600" eaLnBrk="0" fontAlgn="base" hangingPunct="0">
              <a:lnSpc>
                <a:spcPct val="90000"/>
              </a:lnSpc>
              <a:spcBef>
                <a:spcPct val="0"/>
              </a:spcBef>
              <a:spcAft>
                <a:spcPct val="0"/>
              </a:spcAft>
              <a:defRPr sz="3000" b="1">
                <a:solidFill>
                  <a:schemeClr val="tx1"/>
                </a:solidFill>
                <a:latin typeface="Arial" charset="0"/>
              </a:defRPr>
            </a:lvl9pPr>
          </a:lstStyle>
          <a:p>
            <a:fld id="{0DEAE196-1996-4C50-B726-3FB0F912A0CB}" type="slidenum">
              <a:rPr lang="en-US" sz="1200">
                <a:solidFill>
                  <a:prstClr val="black"/>
                </a:solidFill>
              </a:rPr>
              <a:pPr/>
              <a:t>40</a:t>
            </a:fld>
            <a:endParaRPr lang="en-US" sz="1200">
              <a:solidFill>
                <a:prstClr val="black"/>
              </a:solidFill>
            </a:endParaRPr>
          </a:p>
        </p:txBody>
      </p:sp>
      <p:sp>
        <p:nvSpPr>
          <p:cNvPr id="17411" name="Rectangle 2"/>
          <p:cNvSpPr>
            <a:spLocks noGrp="1" noRot="1" noChangeAspect="1" noChangeArrowheads="1" noTextEdit="1"/>
          </p:cNvSpPr>
          <p:nvPr>
            <p:ph type="sldImg"/>
          </p:nvPr>
        </p:nvSpPr>
        <p:spPr>
          <a:xfrm>
            <a:off x="307975" y="300038"/>
            <a:ext cx="6270625" cy="3527425"/>
          </a:xfrm>
          <a:ln/>
        </p:spPr>
      </p:sp>
      <p:sp>
        <p:nvSpPr>
          <p:cNvPr id="17412" name="Rectangle 3"/>
          <p:cNvSpPr>
            <a:spLocks noGrp="1" noChangeArrowheads="1"/>
          </p:cNvSpPr>
          <p:nvPr>
            <p:ph type="body" idx="1"/>
          </p:nvPr>
        </p:nvSpPr>
        <p:spPr>
          <a:xfrm>
            <a:off x="523875" y="4052888"/>
            <a:ext cx="5835650" cy="4579937"/>
          </a:xfrm>
          <a:noFill/>
        </p:spPr>
        <p:txBody>
          <a:bodyPr/>
          <a:lstStyle/>
          <a:p>
            <a:pPr eaLnBrk="1" hangingPunct="1"/>
            <a:r>
              <a:rPr lang="en-US" b="1"/>
              <a:t>Emphasize:</a:t>
            </a:r>
            <a:r>
              <a:rPr lang="en-US"/>
              <a:t> Here is a list of some of the configuration modes available. </a:t>
            </a:r>
          </a:p>
          <a:p>
            <a:pPr eaLnBrk="1" hangingPunct="1"/>
            <a:r>
              <a:rPr lang="en-US"/>
              <a:t>For a complete list of the router configuration modes, refer to the Cisco Documentation CD-ROM.</a:t>
            </a:r>
          </a:p>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defRPr sz="3000" b="1">
                <a:solidFill>
                  <a:schemeClr val="tx1"/>
                </a:solidFill>
                <a:latin typeface="Arial" charset="0"/>
              </a:defRPr>
            </a:lvl1pPr>
            <a:lvl2pPr marL="742950" indent="-285750">
              <a:defRPr sz="3000" b="1">
                <a:solidFill>
                  <a:schemeClr val="tx1"/>
                </a:solidFill>
                <a:latin typeface="Arial" charset="0"/>
              </a:defRPr>
            </a:lvl2pPr>
            <a:lvl3pPr marL="1143000" indent="-228600">
              <a:defRPr sz="3000" b="1">
                <a:solidFill>
                  <a:schemeClr val="tx1"/>
                </a:solidFill>
                <a:latin typeface="Arial" charset="0"/>
              </a:defRPr>
            </a:lvl3pPr>
            <a:lvl4pPr marL="1600200" indent="-228600">
              <a:defRPr sz="3000" b="1">
                <a:solidFill>
                  <a:schemeClr val="tx1"/>
                </a:solidFill>
                <a:latin typeface="Arial" charset="0"/>
              </a:defRPr>
            </a:lvl4pPr>
            <a:lvl5pPr marL="2057400" indent="-228600">
              <a:defRPr sz="3000" b="1">
                <a:solidFill>
                  <a:schemeClr val="tx1"/>
                </a:solidFill>
                <a:latin typeface="Arial" charset="0"/>
              </a:defRPr>
            </a:lvl5pPr>
            <a:lvl6pPr marL="2514600" indent="-228600" eaLnBrk="0" fontAlgn="base" hangingPunct="0">
              <a:lnSpc>
                <a:spcPct val="90000"/>
              </a:lnSpc>
              <a:spcBef>
                <a:spcPct val="0"/>
              </a:spcBef>
              <a:spcAft>
                <a:spcPct val="0"/>
              </a:spcAft>
              <a:defRPr sz="3000" b="1">
                <a:solidFill>
                  <a:schemeClr val="tx1"/>
                </a:solidFill>
                <a:latin typeface="Arial" charset="0"/>
              </a:defRPr>
            </a:lvl6pPr>
            <a:lvl7pPr marL="2971800" indent="-228600" eaLnBrk="0" fontAlgn="base" hangingPunct="0">
              <a:lnSpc>
                <a:spcPct val="90000"/>
              </a:lnSpc>
              <a:spcBef>
                <a:spcPct val="0"/>
              </a:spcBef>
              <a:spcAft>
                <a:spcPct val="0"/>
              </a:spcAft>
              <a:defRPr sz="3000" b="1">
                <a:solidFill>
                  <a:schemeClr val="tx1"/>
                </a:solidFill>
                <a:latin typeface="Arial" charset="0"/>
              </a:defRPr>
            </a:lvl7pPr>
            <a:lvl8pPr marL="3429000" indent="-228600" eaLnBrk="0" fontAlgn="base" hangingPunct="0">
              <a:lnSpc>
                <a:spcPct val="90000"/>
              </a:lnSpc>
              <a:spcBef>
                <a:spcPct val="0"/>
              </a:spcBef>
              <a:spcAft>
                <a:spcPct val="0"/>
              </a:spcAft>
              <a:defRPr sz="3000" b="1">
                <a:solidFill>
                  <a:schemeClr val="tx1"/>
                </a:solidFill>
                <a:latin typeface="Arial" charset="0"/>
              </a:defRPr>
            </a:lvl8pPr>
            <a:lvl9pPr marL="3886200" indent="-228600" eaLnBrk="0" fontAlgn="base" hangingPunct="0">
              <a:lnSpc>
                <a:spcPct val="90000"/>
              </a:lnSpc>
              <a:spcBef>
                <a:spcPct val="0"/>
              </a:spcBef>
              <a:spcAft>
                <a:spcPct val="0"/>
              </a:spcAft>
              <a:defRPr sz="3000" b="1">
                <a:solidFill>
                  <a:schemeClr val="tx1"/>
                </a:solidFill>
                <a:latin typeface="Arial" charset="0"/>
              </a:defRPr>
            </a:lvl9pPr>
          </a:lstStyle>
          <a:p>
            <a:fld id="{40A59122-5C79-400E-B14B-CC28C5F5736C}" type="slidenum">
              <a:rPr lang="en-US" sz="1200"/>
              <a:pPr/>
              <a:t>44</a:t>
            </a:fld>
            <a:endParaRPr lang="en-US" sz="1200"/>
          </a:p>
        </p:txBody>
      </p:sp>
      <p:sp>
        <p:nvSpPr>
          <p:cNvPr id="25603" name="Rectangle 2"/>
          <p:cNvSpPr>
            <a:spLocks noGrp="1" noRot="1" noChangeAspect="1" noChangeArrowheads="1" noTextEdit="1"/>
          </p:cNvSpPr>
          <p:nvPr>
            <p:ph type="sldImg"/>
          </p:nvPr>
        </p:nvSpPr>
        <p:spPr>
          <a:xfrm>
            <a:off x="307975" y="300038"/>
            <a:ext cx="6270625" cy="3527425"/>
          </a:xfrm>
          <a:ln/>
        </p:spPr>
      </p:sp>
      <p:sp>
        <p:nvSpPr>
          <p:cNvPr id="25604" name="Rectangle 3"/>
          <p:cNvSpPr>
            <a:spLocks noGrp="1" noChangeArrowheads="1"/>
          </p:cNvSpPr>
          <p:nvPr>
            <p:ph type="body" idx="1"/>
          </p:nvPr>
        </p:nvSpPr>
        <p:spPr>
          <a:xfrm>
            <a:off x="523875" y="4052888"/>
            <a:ext cx="5835650" cy="4579937"/>
          </a:xfrm>
          <a:noFill/>
        </p:spPr>
        <p:txBody>
          <a:bodyPr/>
          <a:lstStyle/>
          <a:p>
            <a:pPr eaLnBrk="1" hangingPunct="1"/>
            <a:r>
              <a:rPr lang="en-US" b="1"/>
              <a:t>Purpose: </a:t>
            </a:r>
            <a:r>
              <a:rPr lang="en-US"/>
              <a:t>This slide presents the </a:t>
            </a:r>
            <a:r>
              <a:rPr lang="en-US" b="1"/>
              <a:t>show interfaces </a:t>
            </a:r>
            <a:r>
              <a:rPr lang="en-US"/>
              <a:t>command, which indicates whether the network is operating at the physical and data link layers. The command output is interpreted later in this chapter.</a:t>
            </a:r>
            <a:endParaRPr lang="en-US" b="1"/>
          </a:p>
          <a:p>
            <a:pPr eaLnBrk="1" hangingPunct="1"/>
            <a:r>
              <a:rPr lang="en-US" b="1"/>
              <a:t>Emphasize:</a:t>
            </a:r>
            <a:r>
              <a:rPr lang="en-US"/>
              <a:t> The top line of the output tells us that the line is up. A few lines down, the output provides the IP address, and below that some characteristics like BW for bandwidth, and DLY for delay. On the next line down, we find an encapsulation type of ARPA. ARPA means Ethernet II, which is the default IP encapsulation type for Ethernet interfaces on Cisco routers.</a:t>
            </a:r>
          </a:p>
          <a:p>
            <a:pPr eaLnBrk="1" hangingPunct="1"/>
            <a:r>
              <a:rPr lang="en-US"/>
              <a:t>A runt is an Ethernet frame that is too small to be legal (less than 64 bytes), and a giant is an Ethernet frame that is too big (greater than 1518 bytes).	</a:t>
            </a:r>
          </a:p>
          <a:p>
            <a:pPr eaLnBrk="1" hangingPunct="1"/>
            <a:endParaRPr lang="en-US"/>
          </a:p>
          <a:p>
            <a:pPr eaLnBrk="1" hangingPunct="1"/>
            <a:r>
              <a:rPr lang="en-US"/>
              <a:t>	</a:t>
            </a:r>
          </a:p>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78</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4082182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79</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18502016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80</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pPr marL="112713" marR="0" lvl="0" indent="-112713" algn="l" defTabSz="1020763" rtl="0" eaLnBrk="0" fontAlgn="base" latinLnBrk="0" hangingPunct="0">
              <a:lnSpc>
                <a:spcPct val="90000"/>
              </a:lnSpc>
              <a:spcBef>
                <a:spcPct val="40000"/>
              </a:spcBef>
              <a:spcAft>
                <a:spcPct val="0"/>
              </a:spcAft>
              <a:buClrTx/>
              <a:buSzPct val="100000"/>
              <a:buFontTx/>
              <a:buChar char="•"/>
              <a:tabLst/>
              <a:defRPr/>
            </a:pPr>
            <a:r>
              <a:rPr lang="en-US" sz="1400" spc="-150">
                <a:solidFill>
                  <a:srgbClr val="0070C0"/>
                </a:solidFill>
                <a:latin typeface="Courier New" pitchFamily="49" charset="0"/>
                <a:cs typeface="Courier New" pitchFamily="49" charset="0"/>
              </a:rPr>
              <a:t>Router(config-line)#  no  </a:t>
            </a:r>
            <a:r>
              <a:rPr lang="en-US" sz="1400" spc="-150">
                <a:solidFill>
                  <a:srgbClr val="C00000"/>
                </a:solidFill>
                <a:latin typeface="Courier New" pitchFamily="49" charset="0"/>
                <a:cs typeface="Courier New" pitchFamily="49" charset="0"/>
              </a:rPr>
              <a:t>login</a:t>
            </a:r>
            <a:r>
              <a:rPr lang="en-US" sz="1400" spc="-150">
                <a:solidFill>
                  <a:srgbClr val="0070C0"/>
                </a:solidFill>
                <a:latin typeface="Courier New" pitchFamily="49" charset="0"/>
                <a:cs typeface="Courier New" pitchFamily="49" charset="0"/>
              </a:rPr>
              <a:t> 	khong can mat khau khi dang nhap telnet</a:t>
            </a:r>
          </a:p>
          <a:p>
            <a:endParaRPr lang="zh-CN" altLang="en-US"/>
          </a:p>
        </p:txBody>
      </p:sp>
    </p:spTree>
    <p:extLst>
      <p:ext uri="{BB962C8B-B14F-4D97-AF65-F5344CB8AC3E}">
        <p14:creationId xmlns:p14="http://schemas.microsoft.com/office/powerpoint/2010/main" val="4277951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81</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737926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82</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3201330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84</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159331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85</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3060146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86</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12797217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87</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3041373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88</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1911849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89</a:t>
            </a:fld>
            <a:endPar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531813" y="571500"/>
            <a:ext cx="5934075"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a:p>
        </p:txBody>
      </p:sp>
    </p:spTree>
    <p:extLst>
      <p:ext uri="{BB962C8B-B14F-4D97-AF65-F5344CB8AC3E}">
        <p14:creationId xmlns:p14="http://schemas.microsoft.com/office/powerpoint/2010/main" val="26027976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7" descr="Main"/>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descr="Lin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9" descr="Bott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 descr="Title"/>
          <p:cNvPicPr>
            <a:picLocks noChangeAspect="1" noChangeArrowheads="1"/>
          </p:cNvPicPr>
          <p:nvPr/>
        </p:nvPicPr>
        <p:blipFill>
          <a:blip r:embed="rId5">
            <a:lum bright="36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dirty="0"/>
          </a:p>
        </p:txBody>
      </p:sp>
      <p:sp>
        <p:nvSpPr>
          <p:cNvPr id="9" name="Rectangle 24"/>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dirty="0">
              <a:solidFill>
                <a:srgbClr val="0066CC"/>
              </a:solidFill>
            </a:endParaRPr>
          </a:p>
        </p:txBody>
      </p:sp>
      <p:sp>
        <p:nvSpPr>
          <p:cNvPr id="10" name="Rectangle 25"/>
          <p:cNvSpPr>
            <a:spLocks noChangeArrowheads="1"/>
          </p:cNvSpPr>
          <p:nvPr/>
        </p:nvSpPr>
        <p:spPr bwMode="auto">
          <a:xfrm>
            <a:off x="0" y="0"/>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3200" b="1" dirty="0">
                <a:solidFill>
                  <a:srgbClr val="FFFF00"/>
                </a:solidFill>
                <a:latin typeface="Times New Roman" pitchFamily="18" charset="0"/>
              </a:rPr>
              <a:t>TR</a:t>
            </a:r>
            <a:r>
              <a:rPr lang="vi-VN" sz="3200" b="1" dirty="0">
                <a:solidFill>
                  <a:srgbClr val="FFFF00"/>
                </a:solidFill>
                <a:latin typeface="Times New Roman" pitchFamily="18" charset="0"/>
              </a:rPr>
              <a:t>Ư</a:t>
            </a:r>
            <a:r>
              <a:rPr lang="en-US" sz="3200" b="1" dirty="0">
                <a:solidFill>
                  <a:srgbClr val="FFFF00"/>
                </a:solidFill>
                <a:latin typeface="Times New Roman" pitchFamily="18" charset="0"/>
              </a:rPr>
              <a:t>ỜNG CAO ĐẲNG KỸ THUẬT CAO THẮNG</a:t>
            </a:r>
          </a:p>
        </p:txBody>
      </p:sp>
      <p:sp>
        <p:nvSpPr>
          <p:cNvPr id="4118" name="Rectangle 22"/>
          <p:cNvSpPr>
            <a:spLocks noGrp="1" noChangeArrowheads="1"/>
          </p:cNvSpPr>
          <p:nvPr>
            <p:ph type="ctrTitle"/>
          </p:nvPr>
        </p:nvSpPr>
        <p:spPr>
          <a:xfrm>
            <a:off x="914400" y="2130426"/>
            <a:ext cx="10363200" cy="1470025"/>
          </a:xfrm>
        </p:spPr>
        <p:txBody>
          <a:bodyPr/>
          <a:lstStyle>
            <a:lvl1pPr>
              <a:defRPr sz="4000">
                <a:solidFill>
                  <a:srgbClr val="CC3300"/>
                </a:solidFill>
              </a:defRPr>
            </a:lvl1pPr>
          </a:lstStyle>
          <a:p>
            <a:r>
              <a:rPr lang="en-US"/>
              <a:t>Click to edit Master title style</a:t>
            </a:r>
          </a:p>
        </p:txBody>
      </p:sp>
      <p:sp>
        <p:nvSpPr>
          <p:cNvPr id="4119" name="Rectangle 2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solidFill>
                  <a:srgbClr val="000066"/>
                </a:solidFill>
              </a:defRPr>
            </a:lvl1pPr>
          </a:lstStyle>
          <a:p>
            <a:r>
              <a:rPr lang="en-US"/>
              <a:t>Click to edit Master subtitle style</a:t>
            </a:r>
          </a:p>
        </p:txBody>
      </p:sp>
    </p:spTree>
    <p:extLst>
      <p:ext uri="{BB962C8B-B14F-4D97-AF65-F5344CB8AC3E}">
        <p14:creationId xmlns:p14="http://schemas.microsoft.com/office/powerpoint/2010/main" val="1953129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508000" y="1066800"/>
            <a:ext cx="11480800" cy="5486400"/>
          </a:xfrm>
        </p:spPr>
        <p:txBody>
          <a:bodyPr/>
          <a:lstStyle>
            <a:lvl1pPr>
              <a:spcBef>
                <a:spcPts val="600"/>
              </a:spcBef>
              <a:spcAft>
                <a:spcPts val="600"/>
              </a:spcAft>
              <a:defRPr>
                <a:solidFill>
                  <a:srgbClr val="0000CC"/>
                </a:solidFill>
              </a:defRPr>
            </a:lvl1pPr>
            <a:lvl2pPr>
              <a:spcBef>
                <a:spcPts val="600"/>
              </a:spcBef>
              <a:spcAft>
                <a:spcPts val="600"/>
              </a:spcAft>
              <a:defRPr sz="3000">
                <a:solidFill>
                  <a:srgbClr val="C00000"/>
                </a:solidFill>
              </a:defRPr>
            </a:lvl2pPr>
            <a:lvl3pPr>
              <a:spcBef>
                <a:spcPts val="600"/>
              </a:spcBef>
              <a:spcAft>
                <a:spcPts val="600"/>
              </a:spcAft>
              <a:defRPr sz="2800"/>
            </a:lvl3pPr>
            <a:lvl4pPr>
              <a:spcBef>
                <a:spcPts val="600"/>
              </a:spcBef>
              <a:spcAft>
                <a:spcPts val="600"/>
              </a:spcAft>
              <a:defRPr sz="2600"/>
            </a:lvl4pPr>
            <a:lvl5pPr>
              <a:spcBef>
                <a:spcPts val="60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8501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02298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410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4257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1980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5900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26434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6825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2272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60326"/>
            <a:ext cx="3048000" cy="6492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60326"/>
            <a:ext cx="8940800" cy="6492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8687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12192000" cy="838200"/>
          </a:xfrm>
        </p:spPr>
        <p:txBody>
          <a:bodyPr/>
          <a:lstStyle/>
          <a:p>
            <a:r>
              <a:rPr lang="en-US"/>
              <a:t>Click to edit Master title style</a:t>
            </a:r>
          </a:p>
        </p:txBody>
      </p:sp>
      <p:sp>
        <p:nvSpPr>
          <p:cNvPr id="3" name="Table Placeholder 2"/>
          <p:cNvSpPr>
            <a:spLocks noGrp="1"/>
          </p:cNvSpPr>
          <p:nvPr>
            <p:ph type="tbl" idx="1"/>
          </p:nvPr>
        </p:nvSpPr>
        <p:spPr>
          <a:xfrm>
            <a:off x="203200" y="1066800"/>
            <a:ext cx="11785600" cy="5486400"/>
          </a:xfrm>
        </p:spPr>
        <p:txBody>
          <a:bodyPr/>
          <a:lstStyle/>
          <a:p>
            <a:pPr lvl="0"/>
            <a:r>
              <a:rPr lang="en-US" noProof="0"/>
              <a:t>Click icon to add table</a:t>
            </a:r>
            <a:endParaRPr lang="en-US" noProof="0" dirty="0"/>
          </a:p>
        </p:txBody>
      </p:sp>
    </p:spTree>
    <p:extLst>
      <p:ext uri="{BB962C8B-B14F-4D97-AF65-F5344CB8AC3E}">
        <p14:creationId xmlns:p14="http://schemas.microsoft.com/office/powerpoint/2010/main" val="404724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a:prstGeom prst="rect">
            <a:avLst/>
          </a:prstGeom>
        </p:spPr>
        <p:txBody>
          <a:bodyPr/>
          <a:lstStyle>
            <a:lvl1pPr>
              <a:defRPr/>
            </a:lvl1pPr>
          </a:lstStyle>
          <a:p>
            <a:fld id="{E3A0B314-DD18-46EB-AF20-ADF54BE1C8B6}" type="datetimeFigureOut">
              <a:rPr lang="en-US" smtClean="0"/>
              <a:t>9/3/2019</a:t>
            </a:fld>
            <a:endParaRPr lang="en-US"/>
          </a:p>
        </p:txBody>
      </p:sp>
      <p:sp>
        <p:nvSpPr>
          <p:cNvPr id="7" name="Footer Placeholder 6"/>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8" name="Slide Number Placeholder 7"/>
          <p:cNvSpPr>
            <a:spLocks noGrp="1"/>
          </p:cNvSpPr>
          <p:nvPr>
            <p:ph type="sldNum" sz="quarter" idx="12"/>
          </p:nvPr>
        </p:nvSpPr>
        <p:spPr>
          <a:xfrm>
            <a:off x="9389533" y="6243638"/>
            <a:ext cx="2540000" cy="457200"/>
          </a:xfrm>
          <a:prstGeom prst="rect">
            <a:avLst/>
          </a:prstGeom>
        </p:spPr>
        <p:txBody>
          <a:bodyPr/>
          <a:lstStyle>
            <a:lvl1pPr>
              <a:defRPr/>
            </a:lvl1pPr>
          </a:lstStyle>
          <a:p>
            <a:fld id="{B63C30D9-07F5-4773-9903-01250A646044}" type="slidenum">
              <a:rPr lang="en-US" smtClean="0"/>
              <a:t>‹#›</a:t>
            </a:fld>
            <a:endParaRPr lang="en-US"/>
          </a:p>
        </p:txBody>
      </p:sp>
    </p:spTree>
    <p:extLst>
      <p:ext uri="{BB962C8B-B14F-4D97-AF65-F5344CB8AC3E}">
        <p14:creationId xmlns:p14="http://schemas.microsoft.com/office/powerpoint/2010/main" val="1589984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a:prstGeom prst="rect">
            <a:avLst/>
          </a:prstGeom>
        </p:spPr>
        <p:txBody>
          <a:bodyPr/>
          <a:lstStyle>
            <a:lvl1pPr>
              <a:defRPr/>
            </a:lvl1pPr>
          </a:lstStyle>
          <a:p>
            <a:fld id="{E3A0B314-DD18-46EB-AF20-ADF54BE1C8B6}" type="datetimeFigureOut">
              <a:rPr lang="en-US" smtClean="0"/>
              <a:t>9/3/2019</a:t>
            </a:fld>
            <a:endParaRPr lang="en-US"/>
          </a:p>
        </p:txBody>
      </p:sp>
      <p:sp>
        <p:nvSpPr>
          <p:cNvPr id="6" name="Footer Placeholder 5"/>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9389533" y="6243638"/>
            <a:ext cx="2540000" cy="457200"/>
          </a:xfrm>
          <a:prstGeom prst="rect">
            <a:avLst/>
          </a:prstGeom>
        </p:spPr>
        <p:txBody>
          <a:bodyPr/>
          <a:lstStyle>
            <a:lvl1pPr>
              <a:defRPr/>
            </a:lvl1pPr>
          </a:lstStyle>
          <a:p>
            <a:fld id="{B63C30D9-07F5-4773-9903-01250A646044}" type="slidenum">
              <a:rPr lang="en-US" smtClean="0"/>
              <a:t>‹#›</a:t>
            </a:fld>
            <a:endParaRPr lang="en-US"/>
          </a:p>
        </p:txBody>
      </p:sp>
    </p:spTree>
    <p:extLst>
      <p:ext uri="{BB962C8B-B14F-4D97-AF65-F5344CB8AC3E}">
        <p14:creationId xmlns:p14="http://schemas.microsoft.com/office/powerpoint/2010/main" val="749580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026" name="Picture 28" descr="Main"/>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 name="Picture 29" descr="Title"/>
          <p:cNvPicPr>
            <a:picLocks noChangeAspect="1" noChangeArrowheads="1"/>
          </p:cNvPicPr>
          <p:nvPr/>
        </p:nvPicPr>
        <p:blipFill>
          <a:blip r:embed="rId18">
            <a:lum bright="30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0"/>
          <p:cNvSpPr>
            <a:spLocks noGrp="1" noChangeArrowheads="1"/>
          </p:cNvSpPr>
          <p:nvPr>
            <p:ph type="title"/>
          </p:nvPr>
        </p:nvSpPr>
        <p:spPr bwMode="auto">
          <a:xfrm>
            <a:off x="0" y="60325"/>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9" name="Freeform 3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dirty="0"/>
          </a:p>
        </p:txBody>
      </p:sp>
      <p:sp>
        <p:nvSpPr>
          <p:cNvPr id="1030" name="Rectangle 32"/>
          <p:cNvSpPr>
            <a:spLocks noGrp="1" noChangeArrowheads="1"/>
          </p:cNvSpPr>
          <p:nvPr>
            <p:ph type="body" idx="1"/>
          </p:nvPr>
        </p:nvSpPr>
        <p:spPr bwMode="auto">
          <a:xfrm>
            <a:off x="508000" y="1066800"/>
            <a:ext cx="1148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1" name="Picture 33" descr="Lin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34" descr="Bottom"/>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35"/>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dirty="0">
              <a:solidFill>
                <a:srgbClr val="0066CC"/>
              </a:solidFill>
            </a:endParaRPr>
          </a:p>
        </p:txBody>
      </p:sp>
    </p:spTree>
    <p:extLst>
      <p:ext uri="{BB962C8B-B14F-4D97-AF65-F5344CB8AC3E}">
        <p14:creationId xmlns:p14="http://schemas.microsoft.com/office/powerpoint/2010/main" val="1067613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p:titleStyle>
    <p:bodyStyle>
      <a:lvl1pPr marL="342900" indent="-342900" algn="l" rtl="0" eaLnBrk="1" fontAlgn="base" hangingPunct="1">
        <a:spcBef>
          <a:spcPts val="600"/>
        </a:spcBef>
        <a:spcAft>
          <a:spcPts val="600"/>
        </a:spcAft>
        <a:buFont typeface="Wingdings" pitchFamily="2" charset="2"/>
        <a:buChar char="Ø"/>
        <a:defRPr sz="3200">
          <a:solidFill>
            <a:srgbClr val="0000CC"/>
          </a:solidFill>
          <a:latin typeface="Times New Roman" pitchFamily="18" charset="0"/>
          <a:ea typeface="+mn-ea"/>
          <a:cs typeface="Times New Roman" pitchFamily="18" charset="0"/>
        </a:defRPr>
      </a:lvl1pPr>
      <a:lvl2pPr marL="742950" indent="-285750" algn="l" rtl="0" eaLnBrk="1" fontAlgn="base" hangingPunct="1">
        <a:spcBef>
          <a:spcPts val="600"/>
        </a:spcBef>
        <a:spcAft>
          <a:spcPts val="600"/>
        </a:spcAft>
        <a:buFont typeface="Wingdings" pitchFamily="2" charset="2"/>
        <a:buChar char="§"/>
        <a:defRPr sz="3000">
          <a:solidFill>
            <a:srgbClr val="C00000"/>
          </a:solidFill>
          <a:latin typeface="Times New Roman" pitchFamily="18" charset="0"/>
          <a:cs typeface="Times New Roman" pitchFamily="18" charset="0"/>
        </a:defRPr>
      </a:lvl2pPr>
      <a:lvl3pPr marL="1143000" indent="-228600" algn="l" rtl="0" eaLnBrk="1" fontAlgn="base" hangingPunct="1">
        <a:spcBef>
          <a:spcPts val="600"/>
        </a:spcBef>
        <a:spcAft>
          <a:spcPts val="600"/>
        </a:spcAft>
        <a:buChar char="•"/>
        <a:defRPr sz="2800">
          <a:solidFill>
            <a:srgbClr val="333399"/>
          </a:solidFill>
          <a:latin typeface="Times New Roman" pitchFamily="18" charset="0"/>
          <a:cs typeface="Times New Roman" pitchFamily="18" charset="0"/>
        </a:defRPr>
      </a:lvl3pPr>
      <a:lvl4pPr marL="1600200" indent="-228600" algn="l" rtl="0" eaLnBrk="1" fontAlgn="base" hangingPunct="1">
        <a:spcBef>
          <a:spcPts val="600"/>
        </a:spcBef>
        <a:spcAft>
          <a:spcPts val="600"/>
        </a:spcAft>
        <a:buChar char="–"/>
        <a:defRPr sz="2600">
          <a:solidFill>
            <a:srgbClr val="000066"/>
          </a:solidFill>
          <a:latin typeface="Times New Roman" pitchFamily="18" charset="0"/>
          <a:cs typeface="Times New Roman" pitchFamily="18" charset="0"/>
        </a:defRPr>
      </a:lvl4pPr>
      <a:lvl5pPr marL="2057400" indent="-228600" algn="l" rtl="0" eaLnBrk="1" fontAlgn="base" hangingPunct="1">
        <a:spcBef>
          <a:spcPts val="600"/>
        </a:spcBef>
        <a:spcAft>
          <a:spcPts val="600"/>
        </a:spcAft>
        <a:buChar char="»"/>
        <a:defRPr sz="2000">
          <a:solidFill>
            <a:srgbClr val="000066"/>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2000" b="1">
          <a:solidFill>
            <a:srgbClr val="000066"/>
          </a:solidFill>
          <a:latin typeface="+mn-lt"/>
        </a:defRPr>
      </a:lvl6pPr>
      <a:lvl7pPr marL="2971800" indent="-228600" algn="l" rtl="0" eaLnBrk="1" fontAlgn="base" hangingPunct="1">
        <a:spcBef>
          <a:spcPct val="20000"/>
        </a:spcBef>
        <a:spcAft>
          <a:spcPct val="0"/>
        </a:spcAft>
        <a:buChar char="»"/>
        <a:defRPr sz="2000" b="1">
          <a:solidFill>
            <a:srgbClr val="000066"/>
          </a:solidFill>
          <a:latin typeface="+mn-lt"/>
        </a:defRPr>
      </a:lvl7pPr>
      <a:lvl8pPr marL="3429000" indent="-228600" algn="l" rtl="0" eaLnBrk="1" fontAlgn="base" hangingPunct="1">
        <a:spcBef>
          <a:spcPct val="20000"/>
        </a:spcBef>
        <a:spcAft>
          <a:spcPct val="0"/>
        </a:spcAft>
        <a:buChar char="»"/>
        <a:defRPr sz="2000" b="1">
          <a:solidFill>
            <a:srgbClr val="000066"/>
          </a:solidFill>
          <a:latin typeface="+mn-lt"/>
        </a:defRPr>
      </a:lvl8pPr>
      <a:lvl9pPr marL="3886200" indent="-228600" algn="l" rtl="0" eaLnBrk="1" fontAlgn="base" hangingPunct="1">
        <a:spcBef>
          <a:spcPct val="20000"/>
        </a:spcBef>
        <a:spcAft>
          <a:spcPct val="0"/>
        </a:spcAft>
        <a:buChar char="»"/>
        <a:defRPr sz="20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3.jp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52.png"/><Relationship Id="rId4" Type="http://schemas.openxmlformats.org/officeDocument/2006/relationships/image" Target="../media/image51.wmf"/></Relationships>
</file>

<file path=ppt/slides/_rels/slide8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52.png"/><Relationship Id="rId4" Type="http://schemas.openxmlformats.org/officeDocument/2006/relationships/image" Target="../media/image51.wmf"/></Relationships>
</file>

<file path=ppt/slides/_rels/slide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52.png"/><Relationship Id="rId4" Type="http://schemas.openxmlformats.org/officeDocument/2006/relationships/image" Target="../media/image51.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52.png"/><Relationship Id="rId4" Type="http://schemas.openxmlformats.org/officeDocument/2006/relationships/image" Target="../media/image51.wmf"/></Relationships>
</file>

<file path=ppt/slides/_rels/slide8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7.emf"/><Relationship Id="rId7" Type="http://schemas.openxmlformats.org/officeDocument/2006/relationships/image" Target="../media/image51.wmf"/><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58.png"/><Relationship Id="rId4" Type="http://schemas.openxmlformats.org/officeDocument/2006/relationships/image" Target="../media/image56.png"/><Relationship Id="rId9" Type="http://schemas.openxmlformats.org/officeDocument/2006/relationships/image" Target="../media/image59.png"/></Relationships>
</file>

<file path=ppt/slides/_rels/slide8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7.emf"/><Relationship Id="rId7" Type="http://schemas.openxmlformats.org/officeDocument/2006/relationships/image" Target="../media/image51.wmf"/><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58.png"/><Relationship Id="rId4" Type="http://schemas.openxmlformats.org/officeDocument/2006/relationships/image" Target="../media/image56.png"/></Relationships>
</file>

<file path=ppt/slides/_rels/slide8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52.png"/><Relationship Id="rId4" Type="http://schemas.openxmlformats.org/officeDocument/2006/relationships/image" Target="../media/image51.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86D0-223C-4D84-925D-1C39602572EE}"/>
              </a:ext>
            </a:extLst>
          </p:cNvPr>
          <p:cNvSpPr>
            <a:spLocks noGrp="1"/>
          </p:cNvSpPr>
          <p:nvPr>
            <p:ph type="ctrTitle"/>
          </p:nvPr>
        </p:nvSpPr>
        <p:spPr/>
        <p:txBody>
          <a:bodyPr/>
          <a:lstStyle/>
          <a:p>
            <a:r>
              <a:rPr lang="en-US" dirty="0"/>
              <a:t>QUẢN TRỊ THIẾT BỊ MẠNG CISCO</a:t>
            </a:r>
          </a:p>
        </p:txBody>
      </p:sp>
      <p:sp>
        <p:nvSpPr>
          <p:cNvPr id="3" name="Subtitle 2">
            <a:extLst>
              <a:ext uri="{FF2B5EF4-FFF2-40B4-BE49-F238E27FC236}">
                <a16:creationId xmlns:a16="http://schemas.microsoft.com/office/drawing/2014/main" id="{6C713666-0558-4B7D-A100-C74073B33B92}"/>
              </a:ext>
            </a:extLst>
          </p:cNvPr>
          <p:cNvSpPr>
            <a:spLocks noGrp="1"/>
          </p:cNvSpPr>
          <p:nvPr>
            <p:ph type="subTitle" idx="1"/>
          </p:nvPr>
        </p:nvSpPr>
        <p:spPr/>
        <p:txBody>
          <a:bodyPr/>
          <a:lstStyle/>
          <a:p>
            <a:r>
              <a:rPr lang="en-US" dirty="0"/>
              <a:t>CH</a:t>
            </a:r>
            <a:r>
              <a:rPr lang="vi-VN" dirty="0"/>
              <a:t>Ư</a:t>
            </a:r>
            <a:r>
              <a:rPr lang="en-US" dirty="0"/>
              <a:t>ƠNG 1: CẤU HÌNH C</a:t>
            </a:r>
            <a:r>
              <a:rPr lang="vi-VN" dirty="0"/>
              <a:t>Ơ</a:t>
            </a:r>
            <a:r>
              <a:rPr lang="en-US" dirty="0"/>
              <a:t> BẢN TRÊN ROUTER CISCO</a:t>
            </a:r>
          </a:p>
        </p:txBody>
      </p:sp>
    </p:spTree>
    <p:extLst>
      <p:ext uri="{BB962C8B-B14F-4D97-AF65-F5344CB8AC3E}">
        <p14:creationId xmlns:p14="http://schemas.microsoft.com/office/powerpoint/2010/main" val="3032583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9280F-36A1-41D3-8F21-653FB4F8E18F}"/>
              </a:ext>
            </a:extLst>
          </p:cNvPr>
          <p:cNvSpPr>
            <a:spLocks noGrp="1"/>
          </p:cNvSpPr>
          <p:nvPr>
            <p:ph type="title"/>
          </p:nvPr>
        </p:nvSpPr>
        <p:spPr/>
        <p:txBody>
          <a:bodyPr/>
          <a:lstStyle/>
          <a:p>
            <a:r>
              <a:rPr lang="en-US" dirty="0"/>
              <a:t>NỘI DUNG</a:t>
            </a:r>
          </a:p>
        </p:txBody>
      </p:sp>
      <p:sp>
        <p:nvSpPr>
          <p:cNvPr id="3" name="Content Placeholder 2">
            <a:extLst>
              <a:ext uri="{FF2B5EF4-FFF2-40B4-BE49-F238E27FC236}">
                <a16:creationId xmlns:a16="http://schemas.microsoft.com/office/drawing/2014/main" id="{2F85B60E-268E-439B-8FB4-ED761F370CAF}"/>
              </a:ext>
            </a:extLst>
          </p:cNvPr>
          <p:cNvSpPr>
            <a:spLocks noGrp="1"/>
          </p:cNvSpPr>
          <p:nvPr>
            <p:ph idx="1"/>
          </p:nvPr>
        </p:nvSpPr>
        <p:spPr/>
        <p:txBody>
          <a:bodyPr/>
          <a:lstStyle/>
          <a:p>
            <a:pPr marL="571500" indent="-571500">
              <a:buFont typeface="+mj-lt"/>
              <a:buAutoNum type="romanUcPeriod"/>
            </a:pPr>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Router</a:t>
            </a:r>
          </a:p>
          <a:p>
            <a:pPr marL="571500" indent="-571500">
              <a:buFont typeface="+mj-lt"/>
              <a:buAutoNum type="romanUcPeriod"/>
            </a:pPr>
            <a:r>
              <a:rPr lang="en-US" dirty="0" err="1"/>
              <a:t>Các</a:t>
            </a:r>
            <a:r>
              <a:rPr lang="en-US" dirty="0"/>
              <a:t> </a:t>
            </a:r>
            <a:r>
              <a:rPr lang="en-US" dirty="0" err="1"/>
              <a:t>thao</a:t>
            </a:r>
            <a:r>
              <a:rPr lang="en-US" dirty="0"/>
              <a:t> </a:t>
            </a:r>
            <a:r>
              <a:rPr lang="en-US" dirty="0" err="1"/>
              <a:t>tác</a:t>
            </a:r>
            <a:r>
              <a:rPr lang="en-US" dirty="0"/>
              <a:t> c</a:t>
            </a:r>
            <a:r>
              <a:rPr lang="vi-VN" dirty="0"/>
              <a:t>ơ</a:t>
            </a:r>
            <a:r>
              <a:rPr lang="en-US" dirty="0"/>
              <a:t> </a:t>
            </a:r>
            <a:r>
              <a:rPr lang="en-US" dirty="0" err="1"/>
              <a:t>bản</a:t>
            </a:r>
            <a:endParaRPr lang="en-US" dirty="0"/>
          </a:p>
          <a:p>
            <a:pPr marL="571500" indent="-571500">
              <a:buFont typeface="+mj-lt"/>
              <a:buAutoNum type="romanUcPeriod"/>
            </a:pPr>
            <a:r>
              <a:rPr lang="en-US" dirty="0"/>
              <a:t>Sao l</a:t>
            </a:r>
            <a:r>
              <a:rPr lang="vi-VN" dirty="0"/>
              <a:t>ư</a:t>
            </a:r>
            <a:r>
              <a:rPr lang="en-US" dirty="0"/>
              <a:t>u </a:t>
            </a:r>
            <a:r>
              <a:rPr lang="en-US" dirty="0" err="1"/>
              <a:t>và</a:t>
            </a:r>
            <a:r>
              <a:rPr lang="en-US" dirty="0"/>
              <a:t> </a:t>
            </a:r>
            <a:r>
              <a:rPr lang="en-US" dirty="0" err="1"/>
              <a:t>nạp</a:t>
            </a:r>
            <a:r>
              <a:rPr lang="en-US" dirty="0"/>
              <a:t> IOS </a:t>
            </a:r>
            <a:r>
              <a:rPr lang="en-US" dirty="0" err="1"/>
              <a:t>cho</a:t>
            </a:r>
            <a:r>
              <a:rPr lang="en-US" dirty="0"/>
              <a:t> router Cisco</a:t>
            </a:r>
          </a:p>
          <a:p>
            <a:pPr marL="571500" indent="-571500">
              <a:buFont typeface="+mj-lt"/>
              <a:buAutoNum type="romanUcPeriod"/>
            </a:pPr>
            <a:r>
              <a:rPr lang="en-US" dirty="0" err="1"/>
              <a:t>Khôi</a:t>
            </a:r>
            <a:r>
              <a:rPr lang="en-US" dirty="0"/>
              <a:t> </a:t>
            </a:r>
            <a:r>
              <a:rPr lang="en-US" dirty="0" err="1"/>
              <a:t>phục</a:t>
            </a:r>
            <a:r>
              <a:rPr lang="en-US" dirty="0"/>
              <a:t> </a:t>
            </a:r>
            <a:r>
              <a:rPr lang="en-US" dirty="0" err="1"/>
              <a:t>mật</a:t>
            </a:r>
            <a:r>
              <a:rPr lang="en-US" dirty="0"/>
              <a:t> </a:t>
            </a:r>
            <a:r>
              <a:rPr lang="en-US" dirty="0" err="1"/>
              <a:t>khẩu</a:t>
            </a:r>
            <a:r>
              <a:rPr lang="en-US" dirty="0"/>
              <a:t> </a:t>
            </a:r>
            <a:r>
              <a:rPr lang="en-US" dirty="0" err="1"/>
              <a:t>cho</a:t>
            </a:r>
            <a:r>
              <a:rPr lang="en-US" dirty="0"/>
              <a:t> router Cisco, Switch</a:t>
            </a:r>
          </a:p>
          <a:p>
            <a:pPr marL="571500" indent="-571500">
              <a:buFont typeface="+mj-lt"/>
              <a:buAutoNum type="romanUcPeriod"/>
            </a:pPr>
            <a:r>
              <a:rPr lang="en-US" dirty="0"/>
              <a:t>Cisco Discovery Protocol (CDP)</a:t>
            </a:r>
          </a:p>
          <a:p>
            <a:pPr marL="571500" indent="-571500">
              <a:buFont typeface="+mj-lt"/>
              <a:buAutoNum type="romanUcPeriod"/>
            </a:pPr>
            <a:r>
              <a:rPr lang="en-US" dirty="0"/>
              <a:t>Telnet, SSH</a:t>
            </a:r>
          </a:p>
          <a:p>
            <a:pPr marL="571500" indent="-571500">
              <a:buFont typeface="+mj-lt"/>
              <a:buAutoNum type="romanUcPeriod"/>
            </a:pPr>
            <a:r>
              <a:rPr lang="en-US" dirty="0"/>
              <a:t>TFTP Server</a:t>
            </a:r>
          </a:p>
          <a:p>
            <a:endParaRPr lang="en-US" dirty="0"/>
          </a:p>
        </p:txBody>
      </p:sp>
    </p:spTree>
    <p:extLst>
      <p:ext uri="{BB962C8B-B14F-4D97-AF65-F5344CB8AC3E}">
        <p14:creationId xmlns:p14="http://schemas.microsoft.com/office/powerpoint/2010/main" val="3676740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9634" name="Picture 2" descr="Kết quả hình ảnh cho cisco ro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428482"/>
            <a:ext cx="6019800" cy="1752600"/>
          </a:xfrm>
          <a:prstGeom prst="rect">
            <a:avLst/>
          </a:prstGeom>
          <a:noFill/>
          <a:extLst>
            <a:ext uri="{909E8E84-426E-40DD-AFC4-6F175D3DCCD1}">
              <a14:hiddenFill xmlns:a14="http://schemas.microsoft.com/office/drawing/2010/main">
                <a:solidFill>
                  <a:srgbClr val="FFFFFF"/>
                </a:solidFill>
              </a14:hiddenFill>
            </a:ext>
          </a:extLst>
        </p:spPr>
      </p:pic>
      <p:pic>
        <p:nvPicPr>
          <p:cNvPr id="69636" name="Picture 4" descr="Kết quả hình ảnh cho cisco ro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25" y="1061769"/>
            <a:ext cx="4829175" cy="2486026"/>
          </a:xfrm>
          <a:prstGeom prst="rect">
            <a:avLst/>
          </a:prstGeom>
          <a:noFill/>
          <a:extLst>
            <a:ext uri="{909E8E84-426E-40DD-AFC4-6F175D3DCCD1}">
              <a14:hiddenFill xmlns:a14="http://schemas.microsoft.com/office/drawing/2010/main">
                <a:solidFill>
                  <a:srgbClr val="FFFFFF"/>
                </a:solidFill>
              </a14:hiddenFill>
            </a:ext>
          </a:extLst>
        </p:spPr>
      </p:pic>
      <p:pic>
        <p:nvPicPr>
          <p:cNvPr id="69638" name="Picture 6" descr="Kết quả hình ảnh cho cisco 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400" y="3732358"/>
            <a:ext cx="5715000" cy="2286001"/>
          </a:xfrm>
          <a:prstGeom prst="rect">
            <a:avLst/>
          </a:prstGeom>
          <a:noFill/>
          <a:extLst>
            <a:ext uri="{909E8E84-426E-40DD-AFC4-6F175D3DCCD1}">
              <a14:hiddenFill xmlns:a14="http://schemas.microsoft.com/office/drawing/2010/main">
                <a:solidFill>
                  <a:srgbClr val="FFFFFF"/>
                </a:solidFill>
              </a14:hiddenFill>
            </a:ext>
          </a:extLst>
        </p:spPr>
      </p:pic>
      <p:pic>
        <p:nvPicPr>
          <p:cNvPr id="69640" name="Picture 8" descr="Kết quả hình ảnh cho cisco rou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8530" y="4327301"/>
            <a:ext cx="5129779" cy="169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174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0658" name="Picture 2" descr="Kết quả hình ảnh cho cisco ro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788" y="1066800"/>
            <a:ext cx="5179252" cy="5347717"/>
          </a:xfrm>
          <a:prstGeom prst="rect">
            <a:avLst/>
          </a:prstGeom>
          <a:noFill/>
          <a:extLst>
            <a:ext uri="{909E8E84-426E-40DD-AFC4-6F175D3DCCD1}">
              <a14:hiddenFill xmlns:a14="http://schemas.microsoft.com/office/drawing/2010/main">
                <a:solidFill>
                  <a:srgbClr val="FFFFFF"/>
                </a:solidFill>
              </a14:hiddenFill>
            </a:ext>
          </a:extLst>
        </p:spPr>
      </p:pic>
      <p:pic>
        <p:nvPicPr>
          <p:cNvPr id="70660" name="Picture 4" descr="Kết quả hình ảnh cho cisco ro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8949" y="1934402"/>
            <a:ext cx="4848225" cy="300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806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marL="514350" indent="-514350">
              <a:buNone/>
            </a:pPr>
            <a:r>
              <a:rPr lang="en-US" dirty="0"/>
              <a:t>I. CÁC THÀNH PHẦN CỦA ROUTER:</a:t>
            </a:r>
          </a:p>
        </p:txBody>
      </p:sp>
      <p:sp>
        <p:nvSpPr>
          <p:cNvPr id="12291" name="Content Placeholder 2"/>
          <p:cNvSpPr>
            <a:spLocks noGrp="1"/>
          </p:cNvSpPr>
          <p:nvPr>
            <p:ph idx="1"/>
          </p:nvPr>
        </p:nvSpPr>
        <p:spPr>
          <a:xfrm>
            <a:off x="347730" y="1056068"/>
            <a:ext cx="11603864" cy="5268532"/>
          </a:xfrm>
        </p:spPr>
        <p:txBody>
          <a:bodyPr/>
          <a:lstStyle/>
          <a:p>
            <a:pPr marL="514350" indent="-514350">
              <a:spcBef>
                <a:spcPts val="1200"/>
              </a:spcBef>
              <a:buBlip>
                <a:blip r:embed="rId2"/>
              </a:buBlip>
            </a:pPr>
            <a:r>
              <a:rPr lang="en-US" sz="2200" dirty="0"/>
              <a:t>RAM/DRAM : </a:t>
            </a:r>
            <a:r>
              <a:rPr lang="en-US" sz="2200" dirty="0" err="1"/>
              <a:t>Ramdom</a:t>
            </a:r>
            <a:r>
              <a:rPr lang="en-US" sz="2200" dirty="0"/>
              <a:t> Access Memory</a:t>
            </a:r>
          </a:p>
          <a:p>
            <a:pPr marL="514350" indent="-514350">
              <a:buBlip>
                <a:blip r:embed="rId2"/>
              </a:buBlip>
            </a:pPr>
            <a:r>
              <a:rPr lang="en-US" sz="2200" dirty="0"/>
              <a:t>ROM : Read Only Memory</a:t>
            </a:r>
          </a:p>
          <a:p>
            <a:pPr marL="514350" indent="-514350">
              <a:buBlip>
                <a:blip r:embed="rId2"/>
              </a:buBlip>
            </a:pPr>
            <a:r>
              <a:rPr lang="en-US" sz="2200" dirty="0"/>
              <a:t>FLASH : </a:t>
            </a:r>
            <a:r>
              <a:rPr lang="en-US" sz="2200" dirty="0" err="1"/>
              <a:t>Lưu</a:t>
            </a:r>
            <a:r>
              <a:rPr lang="en-US" sz="2200" dirty="0"/>
              <a:t> </a:t>
            </a:r>
            <a:r>
              <a:rPr lang="en-US" sz="2200" dirty="0" err="1"/>
              <a:t>trữ</a:t>
            </a:r>
            <a:r>
              <a:rPr lang="en-US" sz="2200" dirty="0"/>
              <a:t> </a:t>
            </a:r>
            <a:r>
              <a:rPr lang="en-US" sz="2200" dirty="0" err="1"/>
              <a:t>hệ</a:t>
            </a:r>
            <a:r>
              <a:rPr lang="en-US" sz="2200" dirty="0"/>
              <a:t> </a:t>
            </a:r>
            <a:r>
              <a:rPr lang="en-US" sz="2200" dirty="0" err="1"/>
              <a:t>điều</a:t>
            </a:r>
            <a:r>
              <a:rPr lang="en-US" sz="2200" dirty="0"/>
              <a:t> </a:t>
            </a:r>
            <a:r>
              <a:rPr lang="en-US" sz="2200" dirty="0" err="1"/>
              <a:t>hành</a:t>
            </a:r>
            <a:r>
              <a:rPr lang="en-US" sz="2200" dirty="0"/>
              <a:t> (IOS) </a:t>
            </a:r>
            <a:r>
              <a:rPr lang="en-US" sz="2200" dirty="0" err="1"/>
              <a:t>của</a:t>
            </a:r>
            <a:r>
              <a:rPr lang="en-US" sz="2200" dirty="0"/>
              <a:t> router</a:t>
            </a:r>
          </a:p>
          <a:p>
            <a:pPr marL="514350" indent="-514350">
              <a:buBlip>
                <a:blip r:embed="rId2"/>
              </a:buBlip>
            </a:pPr>
            <a:r>
              <a:rPr lang="en-US" sz="2200" dirty="0"/>
              <a:t>NVRAM: </a:t>
            </a:r>
            <a:r>
              <a:rPr lang="en-US" sz="2200" dirty="0" err="1"/>
              <a:t>Lưu</a:t>
            </a:r>
            <a:r>
              <a:rPr lang="en-US" sz="2200" dirty="0"/>
              <a:t> </a:t>
            </a:r>
            <a:r>
              <a:rPr lang="en-US" sz="2200" dirty="0" err="1"/>
              <a:t>tập</a:t>
            </a:r>
            <a:r>
              <a:rPr lang="en-US" sz="2200" dirty="0"/>
              <a:t> tin </a:t>
            </a:r>
            <a:r>
              <a:rPr lang="en-US" sz="2200" dirty="0" err="1"/>
              <a:t>cấu</a:t>
            </a:r>
            <a:r>
              <a:rPr lang="en-US" sz="2200" dirty="0"/>
              <a:t> </a:t>
            </a:r>
            <a:r>
              <a:rPr lang="en-US" sz="2200" dirty="0" err="1"/>
              <a:t>hình</a:t>
            </a:r>
            <a:r>
              <a:rPr lang="en-US" sz="2200" dirty="0"/>
              <a:t>(configuration file) </a:t>
            </a:r>
            <a:r>
              <a:rPr lang="en-US" sz="2200" dirty="0" err="1"/>
              <a:t>của</a:t>
            </a:r>
            <a:r>
              <a:rPr lang="en-US" sz="2200" dirty="0"/>
              <a:t> router</a:t>
            </a:r>
          </a:p>
          <a:p>
            <a:pPr marL="514350" indent="-514350">
              <a:buBlip>
                <a:blip r:embed="rId2"/>
              </a:buBlip>
            </a:pPr>
            <a:r>
              <a:rPr lang="en-US" sz="2200" dirty="0"/>
              <a:t>INTERFACES: </a:t>
            </a:r>
            <a:r>
              <a:rPr lang="en-US" sz="2200" dirty="0" err="1"/>
              <a:t>Các</a:t>
            </a:r>
            <a:r>
              <a:rPr lang="en-US" sz="2200" dirty="0"/>
              <a:t> </a:t>
            </a:r>
            <a:r>
              <a:rPr lang="en-US" sz="2200" dirty="0" err="1"/>
              <a:t>cổng</a:t>
            </a:r>
            <a:r>
              <a:rPr lang="en-US" sz="2200" dirty="0"/>
              <a:t> </a:t>
            </a:r>
            <a:r>
              <a:rPr lang="en-US" sz="2200" dirty="0" err="1"/>
              <a:t>của</a:t>
            </a:r>
            <a:r>
              <a:rPr lang="en-US" sz="2200" dirty="0"/>
              <a:t> router:</a:t>
            </a:r>
          </a:p>
          <a:p>
            <a:pPr marL="1771650" lvl="3" indent="-514350"/>
            <a:r>
              <a:rPr lang="en-US" sz="2200" dirty="0"/>
              <a:t>Console</a:t>
            </a:r>
          </a:p>
          <a:p>
            <a:pPr marL="1771650" lvl="3" indent="-514350"/>
            <a:r>
              <a:rPr lang="en-US" sz="2200" dirty="0"/>
              <a:t>Serial</a:t>
            </a:r>
          </a:p>
          <a:p>
            <a:pPr marL="1771650" lvl="3" indent="-514350"/>
            <a:r>
              <a:rPr lang="en-US" sz="2200" dirty="0" err="1"/>
              <a:t>FastEthernet</a:t>
            </a:r>
            <a:endParaRPr lang="en-US" sz="2200" dirty="0"/>
          </a:p>
          <a:p>
            <a:pPr marL="1771650" lvl="3" indent="-514350"/>
            <a:r>
              <a:rPr lang="en-US" sz="2200" dirty="0"/>
              <a:t>Aux</a:t>
            </a:r>
          </a:p>
          <a:p>
            <a:pPr marL="1771650" lvl="3" indent="-514350"/>
            <a:r>
              <a:rPr lang="en-US" sz="2200" dirty="0"/>
              <a:t>…..,</a:t>
            </a:r>
          </a:p>
          <a:p>
            <a:pPr marL="1771650" lvl="3" indent="-514350"/>
            <a:endParaRPr lang="en-US" sz="2200" dirty="0"/>
          </a:p>
        </p:txBody>
      </p:sp>
    </p:spTree>
    <p:extLst>
      <p:ext uri="{BB962C8B-B14F-4D97-AF65-F5344CB8AC3E}">
        <p14:creationId xmlns:p14="http://schemas.microsoft.com/office/powerpoint/2010/main" val="2972353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RAM/DRAM</a:t>
            </a:r>
          </a:p>
        </p:txBody>
      </p:sp>
      <p:sp>
        <p:nvSpPr>
          <p:cNvPr id="3" name="Content Placeholder 2"/>
          <p:cNvSpPr>
            <a:spLocks noGrp="1"/>
          </p:cNvSpPr>
          <p:nvPr>
            <p:ph idx="1"/>
          </p:nvPr>
        </p:nvSpPr>
        <p:spPr/>
        <p:txBody>
          <a:bodyPr/>
          <a:lstStyle/>
          <a:p>
            <a:r>
              <a:rPr lang="vi-VN" dirty="0"/>
              <a:t>Chứa file cấu hình running-config</a:t>
            </a:r>
            <a:endParaRPr lang="en-US" dirty="0"/>
          </a:p>
          <a:p>
            <a:r>
              <a:rPr lang="vi-VN" dirty="0"/>
              <a:t>Ngoài ra trên router thì nó chứa routing tables</a:t>
            </a:r>
            <a:endParaRPr lang="en-US" dirty="0"/>
          </a:p>
          <a:p>
            <a:r>
              <a:rPr lang="vi-VN" dirty="0"/>
              <a:t>Bộ nhớ RAM được chia ra bởi IOS(hệ điều hành của ROUTER) gồm :</a:t>
            </a:r>
            <a:endParaRPr lang="en-US" dirty="0"/>
          </a:p>
          <a:p>
            <a:pPr lvl="1"/>
            <a:r>
              <a:rPr lang="vi-VN" b="1" dirty="0"/>
              <a:t>Main </a:t>
            </a:r>
            <a:r>
              <a:rPr lang="vi-VN" dirty="0"/>
              <a:t>: bộ nhớ chính dung để lưu các file như running-config, routing tables, switching cache, ARP tables …</a:t>
            </a:r>
            <a:endParaRPr lang="en-US" dirty="0"/>
          </a:p>
          <a:p>
            <a:pPr lvl="1"/>
            <a:r>
              <a:rPr lang="vi-VN" b="1" dirty="0"/>
              <a:t>Shared memory</a:t>
            </a:r>
            <a:r>
              <a:rPr lang="vi-VN" dirty="0"/>
              <a:t> : dùng làm buffer cho tiến trình đang xử lý.</a:t>
            </a:r>
          </a:p>
          <a:p>
            <a:r>
              <a:rPr lang="vi-VN" dirty="0"/>
              <a:t>Bộ nhớ RAM sẽ bị mất khi mất nguồn.</a:t>
            </a:r>
            <a:endParaRPr lang="en-US" dirty="0"/>
          </a:p>
          <a:p>
            <a:r>
              <a:rPr lang="vi-VN" dirty="0"/>
              <a:t>RAM có thể được nâng cấp</a:t>
            </a:r>
            <a:endParaRPr lang="en-US" dirty="0"/>
          </a:p>
        </p:txBody>
      </p:sp>
    </p:spTree>
    <p:extLst>
      <p:ext uri="{BB962C8B-B14F-4D97-AF65-F5344CB8AC3E}">
        <p14:creationId xmlns:p14="http://schemas.microsoft.com/office/powerpoint/2010/main" val="290100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Hình ảnh có liên qu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487" y="1919100"/>
            <a:ext cx="6245225" cy="416348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ình ảnh có liên qu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5804" y="1919100"/>
            <a:ext cx="4205556" cy="3154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504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ROM</a:t>
            </a:r>
          </a:p>
        </p:txBody>
      </p:sp>
      <p:sp>
        <p:nvSpPr>
          <p:cNvPr id="3" name="Content Placeholder 2"/>
          <p:cNvSpPr>
            <a:spLocks noGrp="1"/>
          </p:cNvSpPr>
          <p:nvPr>
            <p:ph idx="1"/>
          </p:nvPr>
        </p:nvSpPr>
        <p:spPr/>
        <p:txBody>
          <a:bodyPr/>
          <a:lstStyle/>
          <a:p>
            <a:r>
              <a:rPr lang="vi-VN" dirty="0"/>
              <a:t>Gồm 3 thành phần chính</a:t>
            </a:r>
            <a:endParaRPr lang="en-US" dirty="0"/>
          </a:p>
          <a:p>
            <a:pPr lvl="1"/>
            <a:r>
              <a:rPr lang="en-US" dirty="0"/>
              <a:t>C</a:t>
            </a:r>
            <a:r>
              <a:rPr lang="vi-VN" dirty="0"/>
              <a:t>hương trình Power-on diagnonstics kiểm tra phần cứng.</a:t>
            </a:r>
            <a:endParaRPr lang="en-US" dirty="0"/>
          </a:p>
          <a:p>
            <a:pPr lvl="1"/>
            <a:r>
              <a:rPr lang="vi-VN" dirty="0"/>
              <a:t>Chương trình Bootstrap kiểm tra thanh ghi cấu hình thiết bị.</a:t>
            </a:r>
            <a:endParaRPr lang="en-US" dirty="0"/>
          </a:p>
          <a:p>
            <a:pPr lvl="1"/>
            <a:r>
              <a:rPr lang="vi-VN" dirty="0"/>
              <a:t>IOS phụ</a:t>
            </a:r>
          </a:p>
          <a:p>
            <a:r>
              <a:rPr lang="vi-VN" dirty="0"/>
              <a:t>Không thể xóa, chỉ có thể đọc chỉnh sửa th</a:t>
            </a:r>
            <a:r>
              <a:rPr lang="en-US" dirty="0"/>
              <a:t>ô</a:t>
            </a:r>
            <a:r>
              <a:rPr lang="vi-VN" dirty="0"/>
              <a:t>ng tin trên bộ nhớ ROM.</a:t>
            </a:r>
            <a:endParaRPr lang="en-US" dirty="0"/>
          </a:p>
          <a:p>
            <a:r>
              <a:rPr lang="vi-VN" dirty="0"/>
              <a:t>Chức năng : kiểm tra phần cứng khi OS khởi động và load IOS từ flash vào RAM.</a:t>
            </a:r>
            <a:endParaRPr lang="en-US" dirty="0"/>
          </a:p>
          <a:p>
            <a:r>
              <a:rPr lang="vi-VN" dirty="0"/>
              <a:t>Chỉ có thể nâng cấp bằng cách thay thế ROM chips hoặc sockets</a:t>
            </a:r>
            <a:endParaRPr lang="en-US" dirty="0"/>
          </a:p>
        </p:txBody>
      </p:sp>
    </p:spTree>
    <p:extLst>
      <p:ext uri="{BB962C8B-B14F-4D97-AF65-F5344CB8AC3E}">
        <p14:creationId xmlns:p14="http://schemas.microsoft.com/office/powerpoint/2010/main" val="2310344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FLASH</a:t>
            </a:r>
          </a:p>
        </p:txBody>
      </p:sp>
      <p:sp>
        <p:nvSpPr>
          <p:cNvPr id="3" name="Content Placeholder 2"/>
          <p:cNvSpPr>
            <a:spLocks noGrp="1"/>
          </p:cNvSpPr>
          <p:nvPr>
            <p:ph idx="1"/>
          </p:nvPr>
        </p:nvSpPr>
        <p:spPr/>
        <p:txBody>
          <a:bodyPr/>
          <a:lstStyle/>
          <a:p>
            <a:r>
              <a:rPr lang="vi-VN" dirty="0"/>
              <a:t>Là bộ nhớ chứa IOS chính có 2 loại : nén và không nén.</a:t>
            </a:r>
          </a:p>
          <a:p>
            <a:r>
              <a:rPr lang="vi-VN" dirty="0"/>
              <a:t>FLASH chứa IOS dưới dạng nén </a:t>
            </a:r>
            <a:r>
              <a:rPr lang="en-US" dirty="0" err="1"/>
              <a:t>thì</a:t>
            </a:r>
            <a:r>
              <a:rPr lang="vi-VN" dirty="0"/>
              <a:t> khi khỏi động nó được bung vào RAM giải nén ra để chạy.</a:t>
            </a:r>
          </a:p>
          <a:p>
            <a:r>
              <a:rPr lang="vi-VN" dirty="0"/>
              <a:t>Các đời ROUTER cũ 2500 thì IOS được chạy trực tiếp trên FLASH. Ngày nay thì nó chạy trên RAM</a:t>
            </a:r>
          </a:p>
          <a:p>
            <a:endParaRPr lang="en-US" dirty="0"/>
          </a:p>
        </p:txBody>
      </p:sp>
    </p:spTree>
    <p:extLst>
      <p:ext uri="{BB962C8B-B14F-4D97-AF65-F5344CB8AC3E}">
        <p14:creationId xmlns:p14="http://schemas.microsoft.com/office/powerpoint/2010/main" val="818122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NVRAM</a:t>
            </a:r>
          </a:p>
        </p:txBody>
      </p:sp>
      <p:sp>
        <p:nvSpPr>
          <p:cNvPr id="3" name="Content Placeholder 2"/>
          <p:cNvSpPr>
            <a:spLocks noGrp="1"/>
          </p:cNvSpPr>
          <p:nvPr>
            <p:ph idx="1"/>
          </p:nvPr>
        </p:nvSpPr>
        <p:spPr/>
        <p:txBody>
          <a:bodyPr/>
          <a:lstStyle/>
          <a:p>
            <a:r>
              <a:rPr lang="en-US" dirty="0" err="1"/>
              <a:t>Chứa</a:t>
            </a:r>
            <a:r>
              <a:rPr lang="en-US" dirty="0"/>
              <a:t> file </a:t>
            </a:r>
            <a:r>
              <a:rPr lang="en-US" dirty="0" err="1"/>
              <a:t>starup</a:t>
            </a:r>
            <a:r>
              <a:rPr lang="en-US" dirty="0"/>
              <a:t>-configuration </a:t>
            </a:r>
            <a:r>
              <a:rPr lang="en-US" dirty="0" err="1"/>
              <a:t>là</a:t>
            </a:r>
            <a:r>
              <a:rPr lang="en-US" dirty="0"/>
              <a:t> file </a:t>
            </a:r>
            <a:r>
              <a:rPr lang="en-US" dirty="0" err="1"/>
              <a:t>cấu</a:t>
            </a:r>
            <a:r>
              <a:rPr lang="en-US" dirty="0"/>
              <a:t> </a:t>
            </a:r>
            <a:r>
              <a:rPr lang="en-US" dirty="0" err="1"/>
              <a:t>hình</a:t>
            </a:r>
            <a:r>
              <a:rPr lang="en-US" dirty="0"/>
              <a:t> </a:t>
            </a:r>
            <a:r>
              <a:rPr lang="en-US" dirty="0" err="1"/>
              <a:t>của</a:t>
            </a:r>
            <a:r>
              <a:rPr lang="en-US" dirty="0"/>
              <a:t> Router</a:t>
            </a:r>
          </a:p>
          <a:p>
            <a:r>
              <a:rPr lang="en-US" dirty="0" err="1"/>
              <a:t>Nội</a:t>
            </a:r>
            <a:r>
              <a:rPr lang="en-US" dirty="0"/>
              <a:t> dung </a:t>
            </a:r>
            <a:r>
              <a:rPr lang="en-US" dirty="0" err="1"/>
              <a:t>của</a:t>
            </a:r>
            <a:r>
              <a:rPr lang="en-US" dirty="0"/>
              <a:t> NVRAM </a:t>
            </a:r>
            <a:r>
              <a:rPr lang="en-US" dirty="0" err="1"/>
              <a:t>không</a:t>
            </a:r>
            <a:r>
              <a:rPr lang="en-US" dirty="0"/>
              <a:t> </a:t>
            </a:r>
            <a:r>
              <a:rPr lang="en-US" dirty="0" err="1"/>
              <a:t>bị</a:t>
            </a:r>
            <a:r>
              <a:rPr lang="en-US" dirty="0"/>
              <a:t> </a:t>
            </a:r>
            <a:r>
              <a:rPr lang="en-US" dirty="0" err="1"/>
              <a:t>mất</a:t>
            </a:r>
            <a:r>
              <a:rPr lang="en-US" dirty="0"/>
              <a:t> </a:t>
            </a:r>
            <a:r>
              <a:rPr lang="en-US" dirty="0" err="1"/>
              <a:t>khi</a:t>
            </a:r>
            <a:r>
              <a:rPr lang="en-US" dirty="0"/>
              <a:t> </a:t>
            </a:r>
            <a:r>
              <a:rPr lang="en-US" dirty="0" err="1"/>
              <a:t>cúp</a:t>
            </a:r>
            <a:r>
              <a:rPr lang="en-US" dirty="0"/>
              <a:t> </a:t>
            </a:r>
            <a:r>
              <a:rPr lang="en-US" dirty="0" err="1"/>
              <a:t>điện</a:t>
            </a:r>
            <a:endParaRPr lang="en-US" dirty="0"/>
          </a:p>
          <a:p>
            <a:endParaRPr lang="en-US" dirty="0"/>
          </a:p>
        </p:txBody>
      </p:sp>
      <p:pic>
        <p:nvPicPr>
          <p:cNvPr id="4" name="Picture 4" descr="301P_283">
            <a:extLst>
              <a:ext uri="{FF2B5EF4-FFF2-40B4-BE49-F238E27FC236}">
                <a16:creationId xmlns:a16="http://schemas.microsoft.com/office/drawing/2014/main" id="{AE0664E8-216E-47D7-B4D6-E9F4B7291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733675"/>
            <a:ext cx="9144000" cy="2909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8871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BUSES</a:t>
            </a:r>
          </a:p>
        </p:txBody>
      </p:sp>
      <p:sp>
        <p:nvSpPr>
          <p:cNvPr id="3" name="Content Placeholder 2"/>
          <p:cNvSpPr>
            <a:spLocks noGrp="1"/>
          </p:cNvSpPr>
          <p:nvPr>
            <p:ph idx="1"/>
          </p:nvPr>
        </p:nvSpPr>
        <p:spPr/>
        <p:txBody>
          <a:bodyPr/>
          <a:lstStyle/>
          <a:p>
            <a:r>
              <a:rPr lang="vi-VN" dirty="0"/>
              <a:t>Các đoạn bus được dùng để đấu giữa :</a:t>
            </a:r>
            <a:endParaRPr lang="en-US" dirty="0"/>
          </a:p>
          <a:p>
            <a:pPr lvl="1"/>
            <a:r>
              <a:rPr lang="vi-VN" dirty="0"/>
              <a:t>CPU với Interface gọi là : system Bus</a:t>
            </a:r>
            <a:endParaRPr lang="en-US" dirty="0"/>
          </a:p>
          <a:p>
            <a:pPr lvl="1"/>
            <a:r>
              <a:rPr lang="vi-VN" dirty="0"/>
              <a:t>CPU với Memory gọi là : CPU Bus</a:t>
            </a:r>
          </a:p>
          <a:p>
            <a:r>
              <a:rPr lang="vi-VN" dirty="0"/>
              <a:t>Các đoạn bus này dùng để truyền số liệu</a:t>
            </a:r>
          </a:p>
          <a:p>
            <a:endParaRPr lang="en-US" dirty="0"/>
          </a:p>
        </p:txBody>
      </p:sp>
    </p:spTree>
    <p:extLst>
      <p:ext uri="{BB962C8B-B14F-4D97-AF65-F5344CB8AC3E}">
        <p14:creationId xmlns:p14="http://schemas.microsoft.com/office/powerpoint/2010/main" val="1667943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INTERFACES</a:t>
            </a:r>
          </a:p>
        </p:txBody>
      </p:sp>
      <p:sp>
        <p:nvSpPr>
          <p:cNvPr id="3" name="Content Placeholder 2"/>
          <p:cNvSpPr>
            <a:spLocks noGrp="1"/>
          </p:cNvSpPr>
          <p:nvPr>
            <p:ph idx="1"/>
          </p:nvPr>
        </p:nvSpPr>
        <p:spPr/>
        <p:txBody>
          <a:bodyPr/>
          <a:lstStyle/>
          <a:p>
            <a:r>
              <a:rPr lang="vi-VN" dirty="0"/>
              <a:t>Là các cổng mạng dùng để kết nối với mối trường bên ngoài. Gồm có 3 loại Interface :</a:t>
            </a:r>
            <a:endParaRPr lang="en-US" dirty="0"/>
          </a:p>
          <a:p>
            <a:pPr lvl="1"/>
            <a:r>
              <a:rPr lang="vi-VN" b="1" dirty="0"/>
              <a:t>LANs </a:t>
            </a:r>
            <a:r>
              <a:rPr lang="vi-VN" dirty="0"/>
              <a:t>: các cổng kết nối LAN</a:t>
            </a:r>
            <a:endParaRPr lang="en-US" dirty="0"/>
          </a:p>
          <a:p>
            <a:pPr lvl="1"/>
            <a:r>
              <a:rPr lang="vi-VN" b="1" dirty="0"/>
              <a:t>WANs </a:t>
            </a:r>
            <a:r>
              <a:rPr lang="vi-VN" dirty="0"/>
              <a:t>: các cổng kết nối WAN.</a:t>
            </a:r>
          </a:p>
          <a:p>
            <a:pPr lvl="1"/>
            <a:r>
              <a:rPr lang="vi-VN" b="1" dirty="0"/>
              <a:t>Console/AUX </a:t>
            </a:r>
            <a:r>
              <a:rPr lang="vi-VN" dirty="0"/>
              <a:t>: các c</a:t>
            </a:r>
            <a:r>
              <a:rPr lang="en-US" dirty="0"/>
              <a:t>ổ</a:t>
            </a:r>
            <a:r>
              <a:rPr lang="vi-VN" dirty="0"/>
              <a:t>ng quản lý</a:t>
            </a:r>
          </a:p>
          <a:p>
            <a:endParaRPr lang="en-US" dirty="0"/>
          </a:p>
        </p:txBody>
      </p:sp>
    </p:spTree>
    <p:extLst>
      <p:ext uri="{BB962C8B-B14F-4D97-AF65-F5344CB8AC3E}">
        <p14:creationId xmlns:p14="http://schemas.microsoft.com/office/powerpoint/2010/main" val="1549989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682" name="Picture 2" descr="Tim hieu Router Cisco(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490" y="1630898"/>
            <a:ext cx="9777375" cy="3494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923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F6C83-7474-4756-8117-1852B6A16604}"/>
              </a:ext>
            </a:extLst>
          </p:cNvPr>
          <p:cNvSpPr>
            <a:spLocks noGrp="1"/>
          </p:cNvSpPr>
          <p:nvPr>
            <p:ph type="title"/>
          </p:nvPr>
        </p:nvSpPr>
        <p:spPr/>
        <p:txBody>
          <a:bodyPr/>
          <a:lstStyle/>
          <a:p>
            <a:r>
              <a:rPr lang="en-US" dirty="0" err="1"/>
              <a:t>Quá</a:t>
            </a:r>
            <a:r>
              <a:rPr lang="en-US" dirty="0"/>
              <a:t> </a:t>
            </a:r>
            <a:r>
              <a:rPr lang="en-US" dirty="0" err="1"/>
              <a:t>trình</a:t>
            </a:r>
            <a:r>
              <a:rPr lang="en-US" dirty="0"/>
              <a:t> </a:t>
            </a:r>
            <a:r>
              <a:rPr lang="en-US" dirty="0" err="1"/>
              <a:t>khởi</a:t>
            </a:r>
            <a:r>
              <a:rPr lang="en-US" dirty="0"/>
              <a:t> </a:t>
            </a:r>
            <a:r>
              <a:rPr lang="en-US" dirty="0" err="1"/>
              <a:t>động</a:t>
            </a:r>
            <a:r>
              <a:rPr lang="en-US" dirty="0"/>
              <a:t> Router</a:t>
            </a:r>
          </a:p>
        </p:txBody>
      </p:sp>
      <p:sp>
        <p:nvSpPr>
          <p:cNvPr id="3" name="Content Placeholder 2">
            <a:extLst>
              <a:ext uri="{FF2B5EF4-FFF2-40B4-BE49-F238E27FC236}">
                <a16:creationId xmlns:a16="http://schemas.microsoft.com/office/drawing/2014/main" id="{E83DBBF4-CC77-41FA-A7AA-4F40FA2E57C7}"/>
              </a:ext>
            </a:extLst>
          </p:cNvPr>
          <p:cNvSpPr>
            <a:spLocks noGrp="1"/>
          </p:cNvSpPr>
          <p:nvPr>
            <p:ph idx="1"/>
          </p:nvPr>
        </p:nvSpPr>
        <p:spPr/>
        <p:txBody>
          <a:bodyPr/>
          <a:lstStyle/>
          <a:p>
            <a:pPr marL="0" indent="0">
              <a:buNone/>
            </a:pPr>
            <a:r>
              <a:rPr lang="en-US" b="1"/>
              <a:t>1. Perform power-on self-test (POST).</a:t>
            </a:r>
            <a:br>
              <a:rPr lang="en-US"/>
            </a:br>
            <a:r>
              <a:rPr lang="en-US" b="1"/>
              <a:t>2. Load and run bootstrap code.</a:t>
            </a:r>
            <a:br>
              <a:rPr lang="en-US"/>
            </a:br>
            <a:r>
              <a:rPr lang="en-US" b="1"/>
              <a:t>3. Find the Cisco IOS Software.</a:t>
            </a:r>
            <a:br>
              <a:rPr lang="en-US"/>
            </a:br>
            <a:r>
              <a:rPr lang="en-US" b="1"/>
              <a:t>4. Load the Cisco IOS Software.</a:t>
            </a:r>
            <a:br>
              <a:rPr lang="en-US"/>
            </a:br>
            <a:r>
              <a:rPr lang="en-US" b="1"/>
              <a:t>5. Find the configuration.</a:t>
            </a:r>
            <a:br>
              <a:rPr lang="en-US"/>
            </a:br>
            <a:r>
              <a:rPr lang="en-US" b="1"/>
              <a:t>6. Load the configuration.</a:t>
            </a:r>
            <a:br>
              <a:rPr lang="en-US"/>
            </a:br>
            <a:r>
              <a:rPr lang="en-US" b="1"/>
              <a:t>7. Run the configured Cisco IOS Software.</a:t>
            </a:r>
            <a:br>
              <a:rPr lang="en-US"/>
            </a:br>
            <a:br>
              <a:rPr lang="en-US"/>
            </a:br>
            <a:endParaRPr lang="en-US"/>
          </a:p>
        </p:txBody>
      </p:sp>
    </p:spTree>
    <p:extLst>
      <p:ext uri="{BB962C8B-B14F-4D97-AF65-F5344CB8AC3E}">
        <p14:creationId xmlns:p14="http://schemas.microsoft.com/office/powerpoint/2010/main" val="691574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dirty="0"/>
              <a:t>II. MỘT SỐ THAO TÁC CƠ BẢN</a:t>
            </a:r>
          </a:p>
        </p:txBody>
      </p:sp>
      <p:sp>
        <p:nvSpPr>
          <p:cNvPr id="13315" name="Content Placeholder 2"/>
          <p:cNvSpPr>
            <a:spLocks noGrp="1"/>
          </p:cNvSpPr>
          <p:nvPr>
            <p:ph idx="1"/>
          </p:nvPr>
        </p:nvSpPr>
        <p:spPr>
          <a:xfrm>
            <a:off x="533399" y="1219200"/>
            <a:ext cx="10715625" cy="5029200"/>
          </a:xfrm>
        </p:spPr>
        <p:txBody>
          <a:bodyPr/>
          <a:lstStyle/>
          <a:p>
            <a:r>
              <a:rPr lang="en-US" dirty="0" err="1"/>
              <a:t>Sơ</a:t>
            </a:r>
            <a:r>
              <a:rPr lang="en-US" dirty="0"/>
              <a:t> </a:t>
            </a:r>
            <a:r>
              <a:rPr lang="en-US" dirty="0" err="1"/>
              <a:t>đồ</a:t>
            </a:r>
            <a:r>
              <a:rPr lang="en-US" dirty="0"/>
              <a:t> </a:t>
            </a:r>
            <a:r>
              <a:rPr lang="en-US" dirty="0" err="1"/>
              <a:t>kết</a:t>
            </a:r>
            <a:r>
              <a:rPr lang="en-US" dirty="0"/>
              <a:t> </a:t>
            </a:r>
            <a:r>
              <a:rPr lang="en-US" dirty="0" err="1"/>
              <a:t>nối</a:t>
            </a:r>
            <a:r>
              <a:rPr lang="en-US" dirty="0"/>
              <a:t>:</a:t>
            </a:r>
          </a:p>
          <a:p>
            <a:pPr>
              <a:buFont typeface="Wingdings" panose="05000000000000000000" pitchFamily="2" charset="2"/>
              <a:buNone/>
            </a:pPr>
            <a:r>
              <a:rPr lang="en-US" dirty="0" err="1"/>
              <a:t>Kết</a:t>
            </a:r>
            <a:r>
              <a:rPr lang="en-US" dirty="0"/>
              <a:t> </a:t>
            </a:r>
            <a:r>
              <a:rPr lang="en-US" dirty="0" err="1"/>
              <a:t>nối</a:t>
            </a:r>
            <a:r>
              <a:rPr lang="en-US" dirty="0"/>
              <a:t> </a:t>
            </a:r>
            <a:r>
              <a:rPr lang="en-US" dirty="0" err="1"/>
              <a:t>cổng</a:t>
            </a:r>
            <a:r>
              <a:rPr lang="en-US" dirty="0"/>
              <a:t> COM </a:t>
            </a:r>
            <a:r>
              <a:rPr lang="en-US" dirty="0" err="1"/>
              <a:t>của</a:t>
            </a:r>
            <a:r>
              <a:rPr lang="en-US" dirty="0"/>
              <a:t> PC </a:t>
            </a:r>
            <a:r>
              <a:rPr lang="en-US" dirty="0" err="1"/>
              <a:t>với</a:t>
            </a:r>
            <a:r>
              <a:rPr lang="en-US" dirty="0"/>
              <a:t> </a:t>
            </a:r>
            <a:r>
              <a:rPr lang="en-US" dirty="0" err="1"/>
              <a:t>cổng</a:t>
            </a:r>
            <a:r>
              <a:rPr lang="en-US" dirty="0"/>
              <a:t> Console </a:t>
            </a:r>
            <a:r>
              <a:rPr lang="en-US" dirty="0" err="1"/>
              <a:t>của</a:t>
            </a:r>
            <a:r>
              <a:rPr lang="en-US" dirty="0"/>
              <a:t> Router.</a:t>
            </a:r>
          </a:p>
          <a:p>
            <a:pPr>
              <a:buFont typeface="Wingdings" panose="05000000000000000000" pitchFamily="2" charset="2"/>
              <a:buNone/>
            </a:pPr>
            <a:endParaRPr lang="en-US" dirty="0"/>
          </a:p>
          <a:p>
            <a:pPr>
              <a:buFont typeface="Wingdings" panose="05000000000000000000" pitchFamily="2" charset="2"/>
              <a:buNone/>
            </a:pPr>
            <a:endParaRPr lang="en-US" dirty="0"/>
          </a:p>
          <a:p>
            <a:r>
              <a:rPr lang="en-US" dirty="0" err="1"/>
              <a:t>Yêu</a:t>
            </a:r>
            <a:r>
              <a:rPr lang="en-US" dirty="0"/>
              <a:t> </a:t>
            </a:r>
            <a:r>
              <a:rPr lang="en-US" dirty="0" err="1"/>
              <a:t>cầu</a:t>
            </a:r>
            <a:r>
              <a:rPr lang="en-US" dirty="0"/>
              <a:t>:</a:t>
            </a:r>
          </a:p>
          <a:p>
            <a:pPr lvl="1"/>
            <a:r>
              <a:rPr lang="en-US" sz="2400" dirty="0" err="1"/>
              <a:t>Đăng</a:t>
            </a:r>
            <a:r>
              <a:rPr lang="en-US" sz="2400" dirty="0"/>
              <a:t> </a:t>
            </a:r>
            <a:r>
              <a:rPr lang="en-US" sz="2400" dirty="0" err="1"/>
              <a:t>nhập</a:t>
            </a:r>
            <a:r>
              <a:rPr lang="en-US" sz="2400" dirty="0"/>
              <a:t> </a:t>
            </a:r>
            <a:r>
              <a:rPr lang="en-US" sz="2400" dirty="0" err="1"/>
              <a:t>bằng</a:t>
            </a:r>
            <a:r>
              <a:rPr lang="en-US" sz="2400" dirty="0"/>
              <a:t> </a:t>
            </a:r>
            <a:r>
              <a:rPr lang="en-US" sz="2400" dirty="0" err="1"/>
              <a:t>chế</a:t>
            </a:r>
            <a:r>
              <a:rPr lang="en-US" sz="2400" dirty="0"/>
              <a:t> </a:t>
            </a:r>
            <a:r>
              <a:rPr lang="en-US" sz="2400" dirty="0" err="1"/>
              <a:t>độ</a:t>
            </a:r>
            <a:r>
              <a:rPr lang="en-US" sz="2400" dirty="0"/>
              <a:t> </a:t>
            </a:r>
            <a:r>
              <a:rPr lang="en-US" sz="2400" dirty="0" err="1"/>
              <a:t>dòng</a:t>
            </a:r>
            <a:r>
              <a:rPr lang="en-US" sz="2400" dirty="0"/>
              <a:t> </a:t>
            </a:r>
            <a:r>
              <a:rPr lang="en-US" sz="2400" dirty="0" err="1"/>
              <a:t>lệnh</a:t>
            </a:r>
            <a:r>
              <a:rPr lang="en-US" sz="2400" dirty="0"/>
              <a:t> (CLI)</a:t>
            </a:r>
          </a:p>
          <a:p>
            <a:pPr lvl="1"/>
            <a:r>
              <a:rPr lang="en-US" sz="2400" dirty="0" err="1"/>
              <a:t>Đặt</a:t>
            </a:r>
            <a:r>
              <a:rPr lang="en-US" sz="2400" dirty="0"/>
              <a:t> </a:t>
            </a:r>
            <a:r>
              <a:rPr lang="en-US" sz="2400" dirty="0" err="1"/>
              <a:t>mật</a:t>
            </a:r>
            <a:r>
              <a:rPr lang="en-US" sz="2400" dirty="0"/>
              <a:t> </a:t>
            </a:r>
            <a:r>
              <a:rPr lang="en-US" sz="2400" dirty="0" err="1"/>
              <a:t>khẩu</a:t>
            </a:r>
            <a:r>
              <a:rPr lang="en-US" sz="2400" dirty="0"/>
              <a:t> </a:t>
            </a:r>
            <a:r>
              <a:rPr lang="en-US" sz="2400" dirty="0" err="1"/>
              <a:t>cho</a:t>
            </a:r>
            <a:r>
              <a:rPr lang="en-US" sz="2400" dirty="0"/>
              <a:t> </a:t>
            </a:r>
            <a:r>
              <a:rPr lang="en-US" sz="2400" dirty="0" err="1"/>
              <a:t>các</a:t>
            </a:r>
            <a:r>
              <a:rPr lang="en-US" sz="2400" dirty="0"/>
              <a:t> mode</a:t>
            </a:r>
          </a:p>
          <a:p>
            <a:pPr lvl="1"/>
            <a:r>
              <a:rPr lang="en-US" sz="2400" dirty="0" err="1"/>
              <a:t>Đặt</a:t>
            </a:r>
            <a:r>
              <a:rPr lang="en-US" sz="2400" dirty="0"/>
              <a:t> </a:t>
            </a:r>
            <a:r>
              <a:rPr lang="en-US" sz="2400" dirty="0" err="1"/>
              <a:t>địa</a:t>
            </a:r>
            <a:r>
              <a:rPr lang="en-US" sz="2400" dirty="0"/>
              <a:t> </a:t>
            </a:r>
            <a:r>
              <a:rPr lang="en-US" sz="2400" dirty="0" err="1"/>
              <a:t>chỉ</a:t>
            </a:r>
            <a:r>
              <a:rPr lang="en-US" sz="2400" dirty="0"/>
              <a:t> </a:t>
            </a:r>
            <a:r>
              <a:rPr lang="en-US" sz="2400" dirty="0" err="1"/>
              <a:t>cho</a:t>
            </a:r>
            <a:r>
              <a:rPr lang="en-US" sz="2400" dirty="0"/>
              <a:t> </a:t>
            </a:r>
            <a:r>
              <a:rPr lang="en-US" sz="2400" dirty="0" err="1"/>
              <a:t>các</a:t>
            </a:r>
            <a:r>
              <a:rPr lang="en-US" sz="2400" dirty="0"/>
              <a:t> interface</a:t>
            </a:r>
          </a:p>
          <a:p>
            <a:pPr lvl="1"/>
            <a:r>
              <a:rPr lang="en-US" sz="2400" dirty="0" err="1"/>
              <a:t>Mở</a:t>
            </a:r>
            <a:r>
              <a:rPr lang="en-US" sz="2400" dirty="0"/>
              <a:t> </a:t>
            </a:r>
            <a:r>
              <a:rPr lang="en-US" sz="2400" dirty="0" err="1"/>
              <a:t>đường</a:t>
            </a:r>
            <a:r>
              <a:rPr lang="en-US" sz="2400" dirty="0"/>
              <a:t> telnet </a:t>
            </a:r>
            <a:r>
              <a:rPr lang="en-US" sz="2400" dirty="0" err="1"/>
              <a:t>cho</a:t>
            </a:r>
            <a:r>
              <a:rPr lang="en-US" sz="2400" dirty="0"/>
              <a:t> </a:t>
            </a:r>
            <a:r>
              <a:rPr lang="en-US" sz="2400" dirty="0" err="1"/>
              <a:t>phép</a:t>
            </a:r>
            <a:r>
              <a:rPr lang="en-US" sz="2400" dirty="0"/>
              <a:t> </a:t>
            </a:r>
            <a:r>
              <a:rPr lang="en-US" sz="2400" dirty="0" err="1"/>
              <a:t>truy</a:t>
            </a:r>
            <a:r>
              <a:rPr lang="en-US" sz="2400" dirty="0"/>
              <a:t> </a:t>
            </a:r>
            <a:r>
              <a:rPr lang="en-US" sz="2400" dirty="0" err="1"/>
              <a:t>cập</a:t>
            </a:r>
            <a:r>
              <a:rPr lang="en-US" sz="2400" dirty="0"/>
              <a:t> Router </a:t>
            </a:r>
            <a:r>
              <a:rPr lang="en-US" sz="2400" dirty="0" err="1"/>
              <a:t>từ</a:t>
            </a:r>
            <a:r>
              <a:rPr lang="en-US" sz="2400" dirty="0"/>
              <a:t> </a:t>
            </a:r>
            <a:r>
              <a:rPr lang="en-US" sz="2400" dirty="0" err="1"/>
              <a:t>xa</a:t>
            </a:r>
            <a:endParaRPr lang="en-US" sz="2400" dirty="0"/>
          </a:p>
          <a:p>
            <a:pPr>
              <a:buFont typeface="Wingdings" panose="05000000000000000000" pitchFamily="2" charset="2"/>
              <a:buNone/>
            </a:pPr>
            <a:endParaRPr lang="en-US" dirty="0"/>
          </a:p>
          <a:p>
            <a:pPr>
              <a:buFont typeface="Wingdings" panose="05000000000000000000" pitchFamily="2" charset="2"/>
              <a:buNone/>
            </a:pPr>
            <a:endParaRPr lang="en-US" dirty="0"/>
          </a:p>
        </p:txBody>
      </p:sp>
      <p:grpSp>
        <p:nvGrpSpPr>
          <p:cNvPr id="13318" name="Group 36"/>
          <p:cNvGrpSpPr>
            <a:grpSpLocks/>
          </p:cNvGrpSpPr>
          <p:nvPr/>
        </p:nvGrpSpPr>
        <p:grpSpPr bwMode="auto">
          <a:xfrm>
            <a:off x="5029200" y="2819400"/>
            <a:ext cx="990600" cy="960438"/>
            <a:chOff x="432" y="1218"/>
            <a:chExt cx="624" cy="605"/>
          </a:xfrm>
        </p:grpSpPr>
        <p:pic>
          <p:nvPicPr>
            <p:cNvPr id="13331" name="Picture 37" descr="Ro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9" y="1218"/>
              <a:ext cx="570"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2" name="Rectangle 38"/>
            <p:cNvSpPr>
              <a:spLocks noChangeArrowheads="1"/>
            </p:cNvSpPr>
            <p:nvPr/>
          </p:nvSpPr>
          <p:spPr bwMode="auto">
            <a:xfrm>
              <a:off x="432" y="1632"/>
              <a:ext cx="62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eaLnBrk="0" hangingPunct="0">
                <a:defRPr b="1">
                  <a:solidFill>
                    <a:schemeClr val="tx1"/>
                  </a:solidFill>
                  <a:latin typeface="Arial" panose="020B0604020202020204" pitchFamily="34" charset="0"/>
                </a:defRPr>
              </a:lvl1pPr>
              <a:lvl2pPr marL="742950" indent="-285750" defTabSz="1028700" eaLnBrk="0" hangingPunct="0">
                <a:defRPr b="1">
                  <a:solidFill>
                    <a:schemeClr val="tx1"/>
                  </a:solidFill>
                  <a:latin typeface="Arial" panose="020B0604020202020204" pitchFamily="34" charset="0"/>
                </a:defRPr>
              </a:lvl2pPr>
              <a:lvl3pPr marL="1143000" indent="-228600" defTabSz="1028700" eaLnBrk="0" hangingPunct="0">
                <a:defRPr b="1">
                  <a:solidFill>
                    <a:schemeClr val="tx1"/>
                  </a:solidFill>
                  <a:latin typeface="Arial" panose="020B0604020202020204" pitchFamily="34" charset="0"/>
                </a:defRPr>
              </a:lvl3pPr>
              <a:lvl4pPr marL="1600200" indent="-228600" defTabSz="1028700" eaLnBrk="0" hangingPunct="0">
                <a:defRPr b="1">
                  <a:solidFill>
                    <a:schemeClr val="tx1"/>
                  </a:solidFill>
                  <a:latin typeface="Arial" panose="020B0604020202020204" pitchFamily="34" charset="0"/>
                </a:defRPr>
              </a:lvl4pPr>
              <a:lvl5pPr marL="2057400" indent="-228600" defTabSz="1028700" eaLnBrk="0" hangingPunct="0">
                <a:defRPr b="1">
                  <a:solidFill>
                    <a:schemeClr val="tx1"/>
                  </a:solidFill>
                  <a:latin typeface="Arial" panose="020B0604020202020204" pitchFamily="34" charset="0"/>
                </a:defRPr>
              </a:lvl5pPr>
              <a:lvl6pPr marL="2514600" indent="-228600" defTabSz="1028700" eaLnBrk="0" fontAlgn="base" hangingPunct="0">
                <a:spcBef>
                  <a:spcPct val="0"/>
                </a:spcBef>
                <a:spcAft>
                  <a:spcPct val="0"/>
                </a:spcAft>
                <a:defRPr b="1">
                  <a:solidFill>
                    <a:schemeClr val="tx1"/>
                  </a:solidFill>
                  <a:latin typeface="Arial" panose="020B0604020202020204" pitchFamily="34" charset="0"/>
                </a:defRPr>
              </a:lvl6pPr>
              <a:lvl7pPr marL="2971800" indent="-228600" defTabSz="1028700" eaLnBrk="0" fontAlgn="base" hangingPunct="0">
                <a:spcBef>
                  <a:spcPct val="0"/>
                </a:spcBef>
                <a:spcAft>
                  <a:spcPct val="0"/>
                </a:spcAft>
                <a:defRPr b="1">
                  <a:solidFill>
                    <a:schemeClr val="tx1"/>
                  </a:solidFill>
                  <a:latin typeface="Arial" panose="020B0604020202020204" pitchFamily="34" charset="0"/>
                </a:defRPr>
              </a:lvl7pPr>
              <a:lvl8pPr marL="3429000" indent="-228600" defTabSz="1028700" eaLnBrk="0" fontAlgn="base" hangingPunct="0">
                <a:spcBef>
                  <a:spcPct val="0"/>
                </a:spcBef>
                <a:spcAft>
                  <a:spcPct val="0"/>
                </a:spcAft>
                <a:defRPr b="1">
                  <a:solidFill>
                    <a:schemeClr val="tx1"/>
                  </a:solidFill>
                  <a:latin typeface="Arial" panose="020B0604020202020204" pitchFamily="34" charset="0"/>
                </a:defRPr>
              </a:lvl8pPr>
              <a:lvl9pPr marL="3886200" indent="-228600" defTabSz="10287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sz="1300" b="0"/>
                <a:t>Router</a:t>
              </a:r>
            </a:p>
          </p:txBody>
        </p:sp>
      </p:grpSp>
      <p:grpSp>
        <p:nvGrpSpPr>
          <p:cNvPr id="13319" name="Group 54"/>
          <p:cNvGrpSpPr>
            <a:grpSpLocks/>
          </p:cNvGrpSpPr>
          <p:nvPr/>
        </p:nvGrpSpPr>
        <p:grpSpPr bwMode="auto">
          <a:xfrm>
            <a:off x="5957888" y="3173414"/>
            <a:ext cx="2805112" cy="401637"/>
            <a:chOff x="4080" y="3538"/>
            <a:chExt cx="1346" cy="253"/>
          </a:xfrm>
        </p:grpSpPr>
        <p:sp>
          <p:nvSpPr>
            <p:cNvPr id="13329" name="Line 55"/>
            <p:cNvSpPr>
              <a:spLocks noChangeShapeType="1"/>
            </p:cNvSpPr>
            <p:nvPr/>
          </p:nvSpPr>
          <p:spPr bwMode="auto">
            <a:xfrm>
              <a:off x="4080" y="3538"/>
              <a:ext cx="1346"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30" name="Rectangle 56"/>
            <p:cNvSpPr>
              <a:spLocks noChangeArrowheads="1"/>
            </p:cNvSpPr>
            <p:nvPr/>
          </p:nvSpPr>
          <p:spPr bwMode="auto">
            <a:xfrm>
              <a:off x="4137" y="3600"/>
              <a:ext cx="1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eaLnBrk="0" hangingPunct="0">
                <a:defRPr b="1">
                  <a:solidFill>
                    <a:schemeClr val="tx1"/>
                  </a:solidFill>
                  <a:latin typeface="Arial" panose="020B0604020202020204" pitchFamily="34" charset="0"/>
                </a:defRPr>
              </a:lvl1pPr>
              <a:lvl2pPr marL="742950" indent="-285750" defTabSz="1028700" eaLnBrk="0" hangingPunct="0">
                <a:defRPr b="1">
                  <a:solidFill>
                    <a:schemeClr val="tx1"/>
                  </a:solidFill>
                  <a:latin typeface="Arial" panose="020B0604020202020204" pitchFamily="34" charset="0"/>
                </a:defRPr>
              </a:lvl2pPr>
              <a:lvl3pPr marL="1143000" indent="-228600" defTabSz="1028700" eaLnBrk="0" hangingPunct="0">
                <a:defRPr b="1">
                  <a:solidFill>
                    <a:schemeClr val="tx1"/>
                  </a:solidFill>
                  <a:latin typeface="Arial" panose="020B0604020202020204" pitchFamily="34" charset="0"/>
                </a:defRPr>
              </a:lvl3pPr>
              <a:lvl4pPr marL="1600200" indent="-228600" defTabSz="1028700" eaLnBrk="0" hangingPunct="0">
                <a:defRPr b="1">
                  <a:solidFill>
                    <a:schemeClr val="tx1"/>
                  </a:solidFill>
                  <a:latin typeface="Arial" panose="020B0604020202020204" pitchFamily="34" charset="0"/>
                </a:defRPr>
              </a:lvl4pPr>
              <a:lvl5pPr marL="2057400" indent="-228600" defTabSz="1028700" eaLnBrk="0" hangingPunct="0">
                <a:defRPr b="1">
                  <a:solidFill>
                    <a:schemeClr val="tx1"/>
                  </a:solidFill>
                  <a:latin typeface="Arial" panose="020B0604020202020204" pitchFamily="34" charset="0"/>
                </a:defRPr>
              </a:lvl5pPr>
              <a:lvl6pPr marL="2514600" indent="-228600" defTabSz="1028700" eaLnBrk="0" fontAlgn="base" hangingPunct="0">
                <a:spcBef>
                  <a:spcPct val="0"/>
                </a:spcBef>
                <a:spcAft>
                  <a:spcPct val="0"/>
                </a:spcAft>
                <a:defRPr b="1">
                  <a:solidFill>
                    <a:schemeClr val="tx1"/>
                  </a:solidFill>
                  <a:latin typeface="Arial" panose="020B0604020202020204" pitchFamily="34" charset="0"/>
                </a:defRPr>
              </a:lvl6pPr>
              <a:lvl7pPr marL="2971800" indent="-228600" defTabSz="1028700" eaLnBrk="0" fontAlgn="base" hangingPunct="0">
                <a:spcBef>
                  <a:spcPct val="0"/>
                </a:spcBef>
                <a:spcAft>
                  <a:spcPct val="0"/>
                </a:spcAft>
                <a:defRPr b="1">
                  <a:solidFill>
                    <a:schemeClr val="tx1"/>
                  </a:solidFill>
                  <a:latin typeface="Arial" panose="020B0604020202020204" pitchFamily="34" charset="0"/>
                </a:defRPr>
              </a:lvl7pPr>
              <a:lvl8pPr marL="3429000" indent="-228600" defTabSz="1028700" eaLnBrk="0" fontAlgn="base" hangingPunct="0">
                <a:spcBef>
                  <a:spcPct val="0"/>
                </a:spcBef>
                <a:spcAft>
                  <a:spcPct val="0"/>
                </a:spcAft>
                <a:defRPr b="1">
                  <a:solidFill>
                    <a:schemeClr val="tx1"/>
                  </a:solidFill>
                  <a:latin typeface="Arial" panose="020B0604020202020204" pitchFamily="34" charset="0"/>
                </a:defRPr>
              </a:lvl8pPr>
              <a:lvl9pPr marL="3886200" indent="-228600" defTabSz="10287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sz="1300" b="0">
                  <a:solidFill>
                    <a:srgbClr val="FF0000"/>
                  </a:solidFill>
                </a:rPr>
                <a:t>Line: Ethernet</a:t>
              </a:r>
            </a:p>
          </p:txBody>
        </p:sp>
      </p:grpSp>
      <p:grpSp>
        <p:nvGrpSpPr>
          <p:cNvPr id="13320" name="Group 51"/>
          <p:cNvGrpSpPr>
            <a:grpSpLocks/>
          </p:cNvGrpSpPr>
          <p:nvPr/>
        </p:nvGrpSpPr>
        <p:grpSpPr bwMode="auto">
          <a:xfrm>
            <a:off x="2971800" y="3048000"/>
            <a:ext cx="2184400" cy="508000"/>
            <a:chOff x="2304" y="3471"/>
            <a:chExt cx="1520" cy="320"/>
          </a:xfrm>
        </p:grpSpPr>
        <p:sp>
          <p:nvSpPr>
            <p:cNvPr id="13327" name="Freeform 52"/>
            <p:cNvSpPr>
              <a:spLocks/>
            </p:cNvSpPr>
            <p:nvPr/>
          </p:nvSpPr>
          <p:spPr bwMode="auto">
            <a:xfrm>
              <a:off x="2367" y="3471"/>
              <a:ext cx="1394" cy="67"/>
            </a:xfrm>
            <a:custGeom>
              <a:avLst/>
              <a:gdLst>
                <a:gd name="T0" fmla="*/ 0 w 2017"/>
                <a:gd name="T1" fmla="*/ 0 h 97"/>
                <a:gd name="T2" fmla="*/ 1 w 2017"/>
                <a:gd name="T3" fmla="*/ 0 h 97"/>
                <a:gd name="T4" fmla="*/ 1 w 2017"/>
                <a:gd name="T5" fmla="*/ 1 h 97"/>
                <a:gd name="T6" fmla="*/ 1 w 2017"/>
                <a:gd name="T7" fmla="*/ 1 h 97"/>
                <a:gd name="T8" fmla="*/ 0 60000 65536"/>
                <a:gd name="T9" fmla="*/ 0 60000 65536"/>
                <a:gd name="T10" fmla="*/ 0 60000 65536"/>
                <a:gd name="T11" fmla="*/ 0 60000 65536"/>
                <a:gd name="T12" fmla="*/ 0 w 2017"/>
                <a:gd name="T13" fmla="*/ 0 h 97"/>
                <a:gd name="T14" fmla="*/ 2017 w 2017"/>
                <a:gd name="T15" fmla="*/ 97 h 97"/>
              </a:gdLst>
              <a:ahLst/>
              <a:cxnLst>
                <a:cxn ang="T8">
                  <a:pos x="T0" y="T1"/>
                </a:cxn>
                <a:cxn ang="T9">
                  <a:pos x="T2" y="T3"/>
                </a:cxn>
                <a:cxn ang="T10">
                  <a:pos x="T4" y="T5"/>
                </a:cxn>
                <a:cxn ang="T11">
                  <a:pos x="T6" y="T7"/>
                </a:cxn>
              </a:cxnLst>
              <a:rect l="T12" t="T13" r="T14" b="T15"/>
              <a:pathLst>
                <a:path w="2017" h="97">
                  <a:moveTo>
                    <a:pt x="0" y="0"/>
                  </a:moveTo>
                  <a:lnTo>
                    <a:pt x="1008" y="0"/>
                  </a:lnTo>
                  <a:lnTo>
                    <a:pt x="912" y="96"/>
                  </a:lnTo>
                  <a:lnTo>
                    <a:pt x="2016" y="96"/>
                  </a:lnTo>
                </a:path>
              </a:pathLst>
            </a:custGeom>
            <a:noFill/>
            <a:ln w="508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28" name="Rectangle 53"/>
            <p:cNvSpPr>
              <a:spLocks noChangeArrowheads="1"/>
            </p:cNvSpPr>
            <p:nvPr/>
          </p:nvSpPr>
          <p:spPr bwMode="auto">
            <a:xfrm>
              <a:off x="2304" y="3600"/>
              <a:ext cx="15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eaLnBrk="0" hangingPunct="0">
                <a:defRPr b="1">
                  <a:solidFill>
                    <a:schemeClr val="tx1"/>
                  </a:solidFill>
                  <a:latin typeface="Arial" panose="020B0604020202020204" pitchFamily="34" charset="0"/>
                </a:defRPr>
              </a:lvl1pPr>
              <a:lvl2pPr marL="742950" indent="-285750" defTabSz="1028700" eaLnBrk="0" hangingPunct="0">
                <a:defRPr b="1">
                  <a:solidFill>
                    <a:schemeClr val="tx1"/>
                  </a:solidFill>
                  <a:latin typeface="Arial" panose="020B0604020202020204" pitchFamily="34" charset="0"/>
                </a:defRPr>
              </a:lvl2pPr>
              <a:lvl3pPr marL="1143000" indent="-228600" defTabSz="1028700" eaLnBrk="0" hangingPunct="0">
                <a:defRPr b="1">
                  <a:solidFill>
                    <a:schemeClr val="tx1"/>
                  </a:solidFill>
                  <a:latin typeface="Arial" panose="020B0604020202020204" pitchFamily="34" charset="0"/>
                </a:defRPr>
              </a:lvl3pPr>
              <a:lvl4pPr marL="1600200" indent="-228600" defTabSz="1028700" eaLnBrk="0" hangingPunct="0">
                <a:defRPr b="1">
                  <a:solidFill>
                    <a:schemeClr val="tx1"/>
                  </a:solidFill>
                  <a:latin typeface="Arial" panose="020B0604020202020204" pitchFamily="34" charset="0"/>
                </a:defRPr>
              </a:lvl4pPr>
              <a:lvl5pPr marL="2057400" indent="-228600" defTabSz="1028700" eaLnBrk="0" hangingPunct="0">
                <a:defRPr b="1">
                  <a:solidFill>
                    <a:schemeClr val="tx1"/>
                  </a:solidFill>
                  <a:latin typeface="Arial" panose="020B0604020202020204" pitchFamily="34" charset="0"/>
                </a:defRPr>
              </a:lvl5pPr>
              <a:lvl6pPr marL="2514600" indent="-228600" defTabSz="1028700" eaLnBrk="0" fontAlgn="base" hangingPunct="0">
                <a:spcBef>
                  <a:spcPct val="0"/>
                </a:spcBef>
                <a:spcAft>
                  <a:spcPct val="0"/>
                </a:spcAft>
                <a:defRPr b="1">
                  <a:solidFill>
                    <a:schemeClr val="tx1"/>
                  </a:solidFill>
                  <a:latin typeface="Arial" panose="020B0604020202020204" pitchFamily="34" charset="0"/>
                </a:defRPr>
              </a:lvl6pPr>
              <a:lvl7pPr marL="2971800" indent="-228600" defTabSz="1028700" eaLnBrk="0" fontAlgn="base" hangingPunct="0">
                <a:spcBef>
                  <a:spcPct val="0"/>
                </a:spcBef>
                <a:spcAft>
                  <a:spcPct val="0"/>
                </a:spcAft>
                <a:defRPr b="1">
                  <a:solidFill>
                    <a:schemeClr val="tx1"/>
                  </a:solidFill>
                  <a:latin typeface="Arial" panose="020B0604020202020204" pitchFamily="34" charset="0"/>
                </a:defRPr>
              </a:lvl7pPr>
              <a:lvl8pPr marL="3429000" indent="-228600" defTabSz="1028700" eaLnBrk="0" fontAlgn="base" hangingPunct="0">
                <a:spcBef>
                  <a:spcPct val="0"/>
                </a:spcBef>
                <a:spcAft>
                  <a:spcPct val="0"/>
                </a:spcAft>
                <a:defRPr b="1">
                  <a:solidFill>
                    <a:schemeClr val="tx1"/>
                  </a:solidFill>
                  <a:latin typeface="Arial" panose="020B0604020202020204" pitchFamily="34" charset="0"/>
                </a:defRPr>
              </a:lvl8pPr>
              <a:lvl9pPr marL="3886200" indent="-228600" defTabSz="10287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sz="1300" b="0">
                  <a:solidFill>
                    <a:srgbClr val="FF0000"/>
                  </a:solidFill>
                </a:rPr>
                <a:t>Line: Serial</a:t>
              </a:r>
            </a:p>
          </p:txBody>
        </p:sp>
      </p:grpSp>
      <p:sp>
        <p:nvSpPr>
          <p:cNvPr id="13321" name="Rounded Rectangle 18"/>
          <p:cNvSpPr>
            <a:spLocks noChangeArrowheads="1"/>
          </p:cNvSpPr>
          <p:nvPr/>
        </p:nvSpPr>
        <p:spPr bwMode="auto">
          <a:xfrm>
            <a:off x="5992813" y="2770188"/>
            <a:ext cx="1384300" cy="304800"/>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sz="1200"/>
              <a:t>192.168.1.1/24</a:t>
            </a:r>
          </a:p>
        </p:txBody>
      </p:sp>
      <p:sp>
        <p:nvSpPr>
          <p:cNvPr id="13322" name="Rectangle 19"/>
          <p:cNvSpPr>
            <a:spLocks noChangeArrowheads="1"/>
          </p:cNvSpPr>
          <p:nvPr/>
        </p:nvSpPr>
        <p:spPr bwMode="auto">
          <a:xfrm>
            <a:off x="5978525" y="3197225"/>
            <a:ext cx="609600" cy="228600"/>
          </a:xfrm>
          <a:prstGeom prst="rect">
            <a:avLst/>
          </a:prstGeom>
          <a:solidFill>
            <a:schemeClr val="accent1"/>
          </a:solidFill>
          <a:ln w="9525" algn="ctr">
            <a:solidFill>
              <a:schemeClr val="tx1"/>
            </a:solidFill>
            <a:round/>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sz="1200"/>
              <a:t>Fa0/0</a:t>
            </a:r>
          </a:p>
        </p:txBody>
      </p:sp>
      <p:sp>
        <p:nvSpPr>
          <p:cNvPr id="13323" name="Rectangle 20"/>
          <p:cNvSpPr>
            <a:spLocks noChangeArrowheads="1"/>
          </p:cNvSpPr>
          <p:nvPr/>
        </p:nvSpPr>
        <p:spPr bwMode="auto">
          <a:xfrm>
            <a:off x="4522788" y="3186113"/>
            <a:ext cx="533400" cy="228600"/>
          </a:xfrm>
          <a:prstGeom prst="rect">
            <a:avLst/>
          </a:prstGeom>
          <a:solidFill>
            <a:schemeClr val="accent1"/>
          </a:solidFill>
          <a:ln w="9525" algn="ctr">
            <a:solidFill>
              <a:schemeClr val="tx1"/>
            </a:solidFill>
            <a:round/>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sz="1200"/>
              <a:t>S0/1</a:t>
            </a:r>
          </a:p>
        </p:txBody>
      </p:sp>
      <p:pic>
        <p:nvPicPr>
          <p:cNvPr id="13324" name="Picture 15" descr="0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36013" y="2528888"/>
            <a:ext cx="123031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5" name="Picture 15" descr="0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1" y="2514600"/>
            <a:ext cx="123031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6" name="Rounded Rectangle 24"/>
          <p:cNvSpPr>
            <a:spLocks noChangeArrowheads="1"/>
          </p:cNvSpPr>
          <p:nvPr/>
        </p:nvSpPr>
        <p:spPr bwMode="auto">
          <a:xfrm>
            <a:off x="3657600" y="2667000"/>
            <a:ext cx="1385888" cy="304800"/>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sz="1200"/>
              <a:t>172.16.1.1/16</a:t>
            </a:r>
          </a:p>
        </p:txBody>
      </p:sp>
    </p:spTree>
    <p:extLst>
      <p:ext uri="{BB962C8B-B14F-4D97-AF65-F5344CB8AC3E}">
        <p14:creationId xmlns:p14="http://schemas.microsoft.com/office/powerpoint/2010/main" val="1066115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http://www.routerswholesale.com/images/72-3382-01-larg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8833" y="1765328"/>
            <a:ext cx="3127569" cy="2464146"/>
          </a:xfrm>
          <a:prstGeom prst="rect">
            <a:avLst/>
          </a:prstGeom>
          <a:noFill/>
          <a:extLst>
            <a:ext uri="{909E8E84-426E-40DD-AFC4-6F175D3DCCD1}">
              <a14:hiddenFill xmlns:a14="http://schemas.microsoft.com/office/drawing/2010/main">
                <a:solidFill>
                  <a:srgbClr val="FFFFFF"/>
                </a:solidFill>
              </a14:hiddenFill>
            </a:ext>
          </a:extLst>
        </p:spPr>
      </p:pic>
      <p:sp>
        <p:nvSpPr>
          <p:cNvPr id="4099" name="Rectangle 2"/>
          <p:cNvSpPr>
            <a:spLocks noGrp="1" noChangeArrowheads="1"/>
          </p:cNvSpPr>
          <p:nvPr>
            <p:ph type="title"/>
          </p:nvPr>
        </p:nvSpPr>
        <p:spPr>
          <a:xfrm>
            <a:off x="1534585" y="214315"/>
            <a:ext cx="10390716" cy="654526"/>
          </a:xfrm>
          <a:noFill/>
          <a:ln>
            <a:noFill/>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rtlCol="0" anchor="t" anchorCtr="0" compatLnSpc="1">
            <a:prstTxWarp prst="textNoShape">
              <a:avLst/>
            </a:prstTxWarp>
            <a:normAutofit/>
          </a:bodyPr>
          <a:lstStyle/>
          <a:p>
            <a:r>
              <a:rPr lang="en-US" dirty="0" err="1"/>
              <a:t>Các</a:t>
            </a:r>
            <a:r>
              <a:rPr lang="en-US" dirty="0"/>
              <a:t> b</a:t>
            </a:r>
            <a:r>
              <a:rPr lang="vi-VN" dirty="0"/>
              <a:t>ư</a:t>
            </a:r>
            <a:r>
              <a:rPr lang="en-US" dirty="0" err="1"/>
              <a:t>ớc</a:t>
            </a:r>
            <a:r>
              <a:rPr lang="en-US" dirty="0"/>
              <a:t> </a:t>
            </a:r>
            <a:r>
              <a:rPr lang="en-US" dirty="0" err="1"/>
              <a:t>cấu</a:t>
            </a:r>
            <a:r>
              <a:rPr lang="en-US" dirty="0"/>
              <a:t> </a:t>
            </a:r>
            <a:r>
              <a:rPr lang="en-US" dirty="0" err="1"/>
              <a:t>hình</a:t>
            </a:r>
            <a:endParaRPr lang="en-US" dirty="0"/>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1232" y="2258380"/>
            <a:ext cx="936475" cy="654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0632" y="2446484"/>
            <a:ext cx="609600" cy="506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6996833" y="2499010"/>
            <a:ext cx="936475" cy="523220"/>
          </a:xfrm>
          <a:prstGeom prst="rect">
            <a:avLst/>
          </a:prstGeom>
          <a:noFill/>
        </p:spPr>
        <p:txBody>
          <a:bodyPr wrap="none" rtlCol="0">
            <a:spAutoFit/>
          </a:bodyPr>
          <a:lstStyle/>
          <a:p>
            <a:pPr algn="ctr"/>
            <a:r>
              <a:rPr lang="en-US" sz="1400" dirty="0">
                <a:solidFill>
                  <a:srgbClr val="C00000"/>
                </a:solidFill>
                <a:latin typeface="Courier New" pitchFamily="49" charset="0"/>
                <a:cs typeface="Courier New" pitchFamily="49" charset="0"/>
              </a:rPr>
              <a:t>RJ-45</a:t>
            </a:r>
          </a:p>
          <a:p>
            <a:r>
              <a:rPr lang="en-US" sz="1400" dirty="0">
                <a:solidFill>
                  <a:srgbClr val="C00000"/>
                </a:solidFill>
                <a:latin typeface="Courier New" pitchFamily="49" charset="0"/>
                <a:cs typeface="Courier New" pitchFamily="49" charset="0"/>
              </a:rPr>
              <a:t>CONSOLE</a:t>
            </a:r>
          </a:p>
        </p:txBody>
      </p:sp>
      <p:sp>
        <p:nvSpPr>
          <p:cNvPr id="12" name="TextBox 11"/>
          <p:cNvSpPr txBox="1"/>
          <p:nvPr/>
        </p:nvSpPr>
        <p:spPr>
          <a:xfrm>
            <a:off x="1535502" y="6371276"/>
            <a:ext cx="9144000" cy="338554"/>
          </a:xfrm>
          <a:prstGeom prst="rect">
            <a:avLst/>
          </a:prstGeom>
          <a:noFill/>
        </p:spPr>
        <p:txBody>
          <a:bodyPr wrap="square" rtlCol="0">
            <a:spAutoFit/>
          </a:bodyPr>
          <a:lstStyle/>
          <a:p>
            <a:pPr lvl="0" algn="ctr"/>
            <a:r>
              <a:rPr lang="en-US" sz="1600" spc="-150" dirty="0">
                <a:solidFill>
                  <a:srgbClr val="0070C0"/>
                </a:solidFill>
                <a:latin typeface="Courier New" pitchFamily="49" charset="0"/>
                <a:cs typeface="Courier New" pitchFamily="49" charset="0"/>
              </a:rPr>
              <a:t>Start </a:t>
            </a:r>
            <a:r>
              <a:rPr lang="en-US" sz="1600" spc="-150" dirty="0">
                <a:solidFill>
                  <a:srgbClr val="0070C0"/>
                </a:solidFill>
                <a:latin typeface="Courier New" pitchFamily="49" charset="0"/>
                <a:cs typeface="Courier New" pitchFamily="49" charset="0"/>
                <a:sym typeface="Wingdings" pitchFamily="2" charset="2"/>
              </a:rPr>
              <a:t> </a:t>
            </a:r>
            <a:r>
              <a:rPr lang="en-US" sz="1600" spc="-150" dirty="0">
                <a:solidFill>
                  <a:srgbClr val="0070C0"/>
                </a:solidFill>
                <a:latin typeface="Courier New" pitchFamily="49" charset="0"/>
                <a:cs typeface="Courier New" pitchFamily="49" charset="0"/>
              </a:rPr>
              <a:t>Program </a:t>
            </a:r>
            <a:r>
              <a:rPr lang="en-US" sz="1600" spc="-150" dirty="0">
                <a:solidFill>
                  <a:srgbClr val="0070C0"/>
                </a:solidFill>
                <a:latin typeface="Courier New" pitchFamily="49" charset="0"/>
                <a:cs typeface="Courier New" pitchFamily="49" charset="0"/>
                <a:sym typeface="Wingdings" pitchFamily="2" charset="2"/>
              </a:rPr>
              <a:t> </a:t>
            </a:r>
            <a:r>
              <a:rPr lang="en-US" sz="1600" spc="-150" dirty="0">
                <a:solidFill>
                  <a:srgbClr val="0070C0"/>
                </a:solidFill>
                <a:latin typeface="Courier New" pitchFamily="49" charset="0"/>
                <a:cs typeface="Courier New" pitchFamily="49" charset="0"/>
              </a:rPr>
              <a:t>Accessories </a:t>
            </a:r>
            <a:r>
              <a:rPr lang="en-US" sz="1600" spc="-150" dirty="0">
                <a:solidFill>
                  <a:srgbClr val="0070C0"/>
                </a:solidFill>
                <a:latin typeface="Courier New" pitchFamily="49" charset="0"/>
                <a:cs typeface="Courier New" pitchFamily="49" charset="0"/>
                <a:sym typeface="Wingdings" pitchFamily="2" charset="2"/>
              </a:rPr>
              <a:t></a:t>
            </a:r>
            <a:r>
              <a:rPr lang="en-US" sz="1600" spc="-150" dirty="0">
                <a:solidFill>
                  <a:srgbClr val="0070C0"/>
                </a:solidFill>
                <a:latin typeface="Courier New" pitchFamily="49" charset="0"/>
                <a:cs typeface="Courier New" pitchFamily="49" charset="0"/>
              </a:rPr>
              <a:t> Communication </a:t>
            </a:r>
            <a:r>
              <a:rPr lang="en-US" sz="1600" spc="-150" dirty="0">
                <a:solidFill>
                  <a:srgbClr val="0070C0"/>
                </a:solidFill>
                <a:latin typeface="Courier New" pitchFamily="49" charset="0"/>
                <a:cs typeface="Courier New" pitchFamily="49" charset="0"/>
                <a:sym typeface="Wingdings" pitchFamily="2" charset="2"/>
              </a:rPr>
              <a:t></a:t>
            </a:r>
            <a:r>
              <a:rPr lang="en-US" sz="1600" spc="-150" dirty="0">
                <a:solidFill>
                  <a:srgbClr val="0070C0"/>
                </a:solidFill>
                <a:latin typeface="Courier New" pitchFamily="49" charset="0"/>
                <a:cs typeface="Courier New" pitchFamily="49" charset="0"/>
              </a:rPr>
              <a:t> HyperTerminal</a:t>
            </a:r>
          </a:p>
        </p:txBody>
      </p:sp>
      <p:sp>
        <p:nvSpPr>
          <p:cNvPr id="10" name="TextBox 9"/>
          <p:cNvSpPr txBox="1"/>
          <p:nvPr/>
        </p:nvSpPr>
        <p:spPr>
          <a:xfrm>
            <a:off x="3567832" y="2424743"/>
            <a:ext cx="506870" cy="307777"/>
          </a:xfrm>
          <a:prstGeom prst="rect">
            <a:avLst/>
          </a:prstGeom>
          <a:noFill/>
        </p:spPr>
        <p:txBody>
          <a:bodyPr wrap="none" rtlCol="0">
            <a:spAutoFit/>
          </a:bodyPr>
          <a:lstStyle/>
          <a:p>
            <a:r>
              <a:rPr lang="en-US" sz="1400">
                <a:solidFill>
                  <a:srgbClr val="C00000"/>
                </a:solidFill>
                <a:latin typeface="Courier New" pitchFamily="49" charset="0"/>
                <a:cs typeface="Courier New" pitchFamily="49" charset="0"/>
              </a:rPr>
              <a:t>COM</a:t>
            </a:r>
          </a:p>
        </p:txBody>
      </p:sp>
      <p:sp>
        <p:nvSpPr>
          <p:cNvPr id="13" name="TextBox 12"/>
          <p:cNvSpPr txBox="1"/>
          <p:nvPr/>
        </p:nvSpPr>
        <p:spPr>
          <a:xfrm>
            <a:off x="5015632" y="1008199"/>
            <a:ext cx="1600200" cy="830997"/>
          </a:xfrm>
          <a:prstGeom prst="rect">
            <a:avLst/>
          </a:prstGeom>
          <a:noFill/>
        </p:spPr>
        <p:txBody>
          <a:bodyPr wrap="square" rtlCol="0">
            <a:spAutoFit/>
          </a:bodyPr>
          <a:lstStyle/>
          <a:p>
            <a:r>
              <a:rPr lang="en-US" sz="1600">
                <a:solidFill>
                  <a:srgbClr val="C00000"/>
                </a:solidFill>
                <a:latin typeface="Courier New" pitchFamily="49" charset="0"/>
                <a:cs typeface="Courier New" pitchFamily="49" charset="0"/>
              </a:rPr>
              <a:t>Console</a:t>
            </a:r>
          </a:p>
          <a:p>
            <a:r>
              <a:rPr lang="en-US" sz="1600">
                <a:solidFill>
                  <a:srgbClr val="C00000"/>
                </a:solidFill>
                <a:latin typeface="Courier New" pitchFamily="49" charset="0"/>
                <a:cs typeface="Courier New" pitchFamily="49" charset="0"/>
              </a:rPr>
              <a:t>Rollover </a:t>
            </a:r>
          </a:p>
          <a:p>
            <a:r>
              <a:rPr lang="en-US" sz="1600">
                <a:solidFill>
                  <a:srgbClr val="C00000"/>
                </a:solidFill>
                <a:latin typeface="Courier New" pitchFamily="49" charset="0"/>
                <a:cs typeface="Courier New" pitchFamily="49" charset="0"/>
              </a:rPr>
              <a:t>Null-modem</a:t>
            </a:r>
          </a:p>
        </p:txBody>
      </p:sp>
      <p:sp>
        <p:nvSpPr>
          <p:cNvPr id="15" name="TextBox 14"/>
          <p:cNvSpPr txBox="1"/>
          <p:nvPr/>
        </p:nvSpPr>
        <p:spPr>
          <a:xfrm>
            <a:off x="1529752" y="2379344"/>
            <a:ext cx="1580881" cy="738664"/>
          </a:xfrm>
          <a:prstGeom prst="rect">
            <a:avLst/>
          </a:prstGeom>
          <a:noFill/>
        </p:spPr>
        <p:txBody>
          <a:bodyPr wrap="none" rtlCol="0">
            <a:spAutoFit/>
          </a:bodyPr>
          <a:lstStyle>
            <a:defPPr>
              <a:defRPr lang="en-US"/>
            </a:defPPr>
            <a:lvl1pPr algn="ctr">
              <a:defRPr sz="1400">
                <a:solidFill>
                  <a:srgbClr val="C00000"/>
                </a:solidFill>
                <a:effectLst/>
                <a:latin typeface="Courier New" pitchFamily="49" charset="0"/>
                <a:cs typeface="Courier New" pitchFamily="49" charset="0"/>
              </a:defRPr>
            </a:lvl1pPr>
          </a:lstStyle>
          <a:p>
            <a:pPr algn="r"/>
            <a:r>
              <a:rPr lang="en-US"/>
              <a:t>HyperTerminal</a:t>
            </a:r>
          </a:p>
          <a:p>
            <a:pPr algn="r"/>
            <a:r>
              <a:rPr lang="en-US"/>
              <a:t>CRT</a:t>
            </a:r>
          </a:p>
          <a:p>
            <a:pPr algn="r"/>
            <a:r>
              <a:rPr lang="en-US"/>
              <a:t>Putty</a:t>
            </a:r>
          </a:p>
        </p:txBody>
      </p:sp>
      <p:pic>
        <p:nvPicPr>
          <p:cNvPr id="3" name="Picture 2">
            <a:extLst>
              <a:ext uri="{FF2B5EF4-FFF2-40B4-BE49-F238E27FC236}">
                <a16:creationId xmlns:a16="http://schemas.microsoft.com/office/drawing/2014/main" id="{34063C39-31FF-4D74-9725-679AD56B2A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70954" y="3135117"/>
            <a:ext cx="3624755" cy="2362200"/>
          </a:xfrm>
          <a:prstGeom prst="rect">
            <a:avLst/>
          </a:prstGeom>
        </p:spPr>
      </p:pic>
      <p:pic>
        <p:nvPicPr>
          <p:cNvPr id="7" name="Picture 6">
            <a:extLst>
              <a:ext uri="{FF2B5EF4-FFF2-40B4-BE49-F238E27FC236}">
                <a16:creationId xmlns:a16="http://schemas.microsoft.com/office/drawing/2014/main" id="{A6ABDAD1-0B71-4D00-BFA7-C106F2CBF3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97935" y="3904741"/>
            <a:ext cx="2466535" cy="2466535"/>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752" y="76201"/>
            <a:ext cx="8673649" cy="3686301"/>
          </a:xfrm>
          <a:prstGeom prst="rect">
            <a:avLst/>
          </a:prstGeom>
          <a:noFill/>
          <a:ln>
            <a:noFill/>
          </a:ln>
          <a:effectLst>
            <a:glow rad="101600">
              <a:schemeClr val="accent2">
                <a:satMod val="175000"/>
                <a:alpha val="40000"/>
              </a:schemeClr>
            </a:glow>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descr="http://www.unm.edu/~tbeach/terms/images/oldportsBI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1" y="3893025"/>
            <a:ext cx="3949249" cy="2964976"/>
          </a:xfrm>
          <a:prstGeom prst="rect">
            <a:avLst/>
          </a:prstGeom>
          <a:noFill/>
          <a:effectLst>
            <a:glow rad="1016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2" descr="http://www.routerswholesale.com/images/72-3382-01-lar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3893025"/>
            <a:ext cx="3763238" cy="29649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467601" y="1295400"/>
            <a:ext cx="678391" cy="338554"/>
          </a:xfrm>
          <a:prstGeom prst="rect">
            <a:avLst/>
          </a:prstGeom>
          <a:noFill/>
        </p:spPr>
        <p:txBody>
          <a:bodyPr wrap="none" rtlCol="0">
            <a:spAutoFit/>
          </a:bodyPr>
          <a:lstStyle/>
          <a:p>
            <a:r>
              <a:rPr lang="en-US" sz="1600">
                <a:solidFill>
                  <a:srgbClr val="FFFF00"/>
                </a:solidFill>
                <a:latin typeface="Courier New" pitchFamily="49" charset="0"/>
                <a:cs typeface="Courier New" pitchFamily="49" charset="0"/>
              </a:rPr>
              <a:t>RJ45</a:t>
            </a:r>
          </a:p>
        </p:txBody>
      </p:sp>
      <p:sp>
        <p:nvSpPr>
          <p:cNvPr id="7" name="TextBox 6"/>
          <p:cNvSpPr txBox="1"/>
          <p:nvPr/>
        </p:nvSpPr>
        <p:spPr>
          <a:xfrm>
            <a:off x="2286000" y="5943600"/>
            <a:ext cx="554960" cy="338554"/>
          </a:xfrm>
          <a:prstGeom prst="rect">
            <a:avLst/>
          </a:prstGeom>
          <a:noFill/>
        </p:spPr>
        <p:txBody>
          <a:bodyPr wrap="none" rtlCol="0">
            <a:spAutoFit/>
          </a:bodyPr>
          <a:lstStyle/>
          <a:p>
            <a:r>
              <a:rPr lang="en-US" sz="1600">
                <a:solidFill>
                  <a:srgbClr val="FFFF00"/>
                </a:solidFill>
                <a:latin typeface="Courier New" pitchFamily="49" charset="0"/>
                <a:cs typeface="Courier New" pitchFamily="49" charset="0"/>
              </a:rPr>
              <a:t>COM</a:t>
            </a:r>
          </a:p>
        </p:txBody>
      </p:sp>
    </p:spTree>
    <p:extLst>
      <p:ext uri="{BB962C8B-B14F-4D97-AF65-F5344CB8AC3E}">
        <p14:creationId xmlns:p14="http://schemas.microsoft.com/office/powerpoint/2010/main" val="648574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3734816"/>
            <a:ext cx="4038600" cy="3123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752" y="76201"/>
            <a:ext cx="8673649" cy="3686301"/>
          </a:xfrm>
          <a:prstGeom prst="rect">
            <a:avLst/>
          </a:prstGeom>
          <a:noFill/>
          <a:ln>
            <a:noFill/>
          </a:ln>
          <a:effectLst>
            <a:glow rad="101600">
              <a:schemeClr val="accent2">
                <a:satMod val="175000"/>
                <a:alpha val="40000"/>
              </a:schemeClr>
            </a:glow>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descr="http://howzzdat.com/wp-content/uploads/2012/08/Connect_PC_Ethernet_Por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7486" y="3893024"/>
            <a:ext cx="3965655" cy="2964976"/>
          </a:xfrm>
          <a:prstGeom prst="rect">
            <a:avLst/>
          </a:prstGeom>
          <a:noFill/>
          <a:effectLst>
            <a:glow rad="1016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369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752" y="76201"/>
            <a:ext cx="8673649" cy="3686301"/>
          </a:xfrm>
          <a:prstGeom prst="rect">
            <a:avLst/>
          </a:prstGeom>
          <a:noFill/>
          <a:ln>
            <a:noFill/>
          </a:ln>
          <a:effectLst>
            <a:glow rad="101600">
              <a:schemeClr val="accent2">
                <a:satMod val="175000"/>
                <a:alpha val="40000"/>
              </a:schemeClr>
            </a:glow>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9188" y="4267201"/>
            <a:ext cx="8486775"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6450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rtlCol="0" anchor="t" anchorCtr="0" compatLnSpc="1">
            <a:prstTxWarp prst="textNoShape">
              <a:avLst/>
            </a:prstTxWarp>
            <a:normAutofit/>
          </a:bodyPr>
          <a:lstStyle/>
          <a:p>
            <a:r>
              <a:rPr lang="en-US" sz="3200">
                <a:solidFill>
                  <a:srgbClr val="0070C0"/>
                </a:solidFill>
                <a:latin typeface="Courier New" pitchFamily="49" charset="0"/>
                <a:cs typeface="Courier New" pitchFamily="49" charset="0"/>
              </a:rPr>
              <a:t>FastEthernet Port</a:t>
            </a:r>
          </a:p>
        </p:txBody>
      </p:sp>
      <p:pic>
        <p:nvPicPr>
          <p:cNvPr id="1030" name="Picture 6" descr="http://www.cupertinonetworks.com/media/catalog/product/cache/1/image/1200x1200/9df78eab33525d08d6e5fb8d27136e95/u/s/used-cisco-2811-router-ipbase-a0yg-00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033072"/>
            <a:ext cx="5791200" cy="579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12985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rtlCol="0" anchor="t" anchorCtr="0" compatLnSpc="1">
            <a:prstTxWarp prst="textNoShape">
              <a:avLst/>
            </a:prstTxWarp>
            <a:normAutofit/>
          </a:bodyPr>
          <a:lstStyle/>
          <a:p>
            <a:r>
              <a:rPr lang="en-US" sz="3200">
                <a:solidFill>
                  <a:srgbClr val="0070C0"/>
                </a:solidFill>
                <a:latin typeface="Courier New" pitchFamily="49" charset="0"/>
                <a:cs typeface="Courier New" pitchFamily="49" charset="0"/>
              </a:rPr>
              <a:t>RJ11</a:t>
            </a:r>
          </a:p>
        </p:txBody>
      </p:sp>
      <p:pic>
        <p:nvPicPr>
          <p:cNvPr id="1026" name="Picture 2" descr="http://www.tplink.ca/common/Subject/adsl/TD-W8980/images/p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150" y="1487774"/>
            <a:ext cx="7562850"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855347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rtlCol="0" anchor="t" anchorCtr="0" compatLnSpc="1">
            <a:prstTxWarp prst="textNoShape">
              <a:avLst/>
            </a:prstTxWarp>
            <a:normAutofit/>
          </a:bodyPr>
          <a:lstStyle/>
          <a:p>
            <a:r>
              <a:rPr lang="en-US" kern="1200">
                <a:solidFill>
                  <a:srgbClr val="0070C0"/>
                </a:solidFill>
                <a:latin typeface="Courier New" pitchFamily="49" charset="0"/>
                <a:cs typeface="Courier New" pitchFamily="49" charset="0"/>
              </a:rPr>
              <a:t>Console Connection</a:t>
            </a:r>
          </a:p>
        </p:txBody>
      </p:sp>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l="4688" t="27504" r="41255" b="25003"/>
          <a:stretch>
            <a:fillRect/>
          </a:stretch>
        </p:blipFill>
        <p:spPr bwMode="auto">
          <a:xfrm>
            <a:off x="2590800" y="1854200"/>
            <a:ext cx="7010400" cy="462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3847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marL="857250" indent="-857250">
              <a:buFont typeface="+mj-lt"/>
              <a:buAutoNum type="romanUcPeriod" startAt="2"/>
            </a:pPr>
            <a:r>
              <a:rPr lang="en-US" dirty="0"/>
              <a:t>MỘT SỐ THAO TÁC CƠ BẢN</a:t>
            </a:r>
          </a:p>
        </p:txBody>
      </p:sp>
      <p:sp>
        <p:nvSpPr>
          <p:cNvPr id="10243" name="Content Placeholder 2"/>
          <p:cNvSpPr>
            <a:spLocks noGrp="1"/>
          </p:cNvSpPr>
          <p:nvPr>
            <p:ph idx="1"/>
          </p:nvPr>
        </p:nvSpPr>
        <p:spPr>
          <a:xfrm>
            <a:off x="1676400" y="898525"/>
            <a:ext cx="8839200" cy="5410200"/>
          </a:xfrm>
        </p:spPr>
        <p:txBody>
          <a:bodyPr/>
          <a:lstStyle/>
          <a:p>
            <a:pPr>
              <a:defRPr/>
            </a:pPr>
            <a:r>
              <a:rPr lang="en-US" dirty="0" err="1"/>
              <a:t>Các</a:t>
            </a:r>
            <a:r>
              <a:rPr lang="en-US" dirty="0"/>
              <a:t> </a:t>
            </a:r>
            <a:r>
              <a:rPr lang="en-US" dirty="0" err="1"/>
              <a:t>bước</a:t>
            </a:r>
            <a:r>
              <a:rPr lang="en-US" dirty="0"/>
              <a:t> </a:t>
            </a:r>
            <a:r>
              <a:rPr lang="en-US" dirty="0" err="1"/>
              <a:t>thực</a:t>
            </a:r>
            <a:r>
              <a:rPr lang="en-US" dirty="0"/>
              <a:t> </a:t>
            </a:r>
            <a:r>
              <a:rPr lang="en-US" dirty="0" err="1"/>
              <a:t>hiện</a:t>
            </a:r>
            <a:r>
              <a:rPr lang="en-US" dirty="0"/>
              <a:t>:</a:t>
            </a:r>
          </a:p>
          <a:p>
            <a:pPr marL="438150" lvl="1">
              <a:defRPr/>
            </a:pPr>
            <a:r>
              <a:rPr lang="en-US" sz="2400" dirty="0" err="1"/>
              <a:t>Gắn</a:t>
            </a:r>
            <a:r>
              <a:rPr lang="en-US" sz="2400" dirty="0"/>
              <a:t> </a:t>
            </a:r>
            <a:r>
              <a:rPr lang="en-US" sz="2400" dirty="0" err="1"/>
              <a:t>cáp</a:t>
            </a:r>
            <a:r>
              <a:rPr lang="en-US" sz="2400" dirty="0"/>
              <a:t> console </a:t>
            </a:r>
            <a:r>
              <a:rPr lang="en-US" sz="2400" dirty="0" err="1"/>
              <a:t>giữa</a:t>
            </a:r>
            <a:r>
              <a:rPr lang="en-US" sz="2400" dirty="0"/>
              <a:t> PC </a:t>
            </a:r>
            <a:r>
              <a:rPr lang="en-US" sz="2400" dirty="0" err="1"/>
              <a:t>và</a:t>
            </a:r>
            <a:r>
              <a:rPr lang="en-US" sz="2400" dirty="0"/>
              <a:t> Router</a:t>
            </a:r>
          </a:p>
          <a:p>
            <a:pPr marL="438150" lvl="1">
              <a:defRPr/>
            </a:pPr>
            <a:r>
              <a:rPr lang="en-US" sz="2400" dirty="0" err="1"/>
              <a:t>Trên</a:t>
            </a:r>
            <a:r>
              <a:rPr lang="en-US" sz="2400" dirty="0"/>
              <a:t> PC (HĐH Windows) </a:t>
            </a:r>
            <a:r>
              <a:rPr lang="en-US" sz="2400" dirty="0" err="1"/>
              <a:t>dùng</a:t>
            </a:r>
            <a:r>
              <a:rPr lang="en-US" sz="2400" dirty="0"/>
              <a:t> </a:t>
            </a:r>
            <a:r>
              <a:rPr lang="en-US" sz="2400" dirty="0" err="1"/>
              <a:t>chương</a:t>
            </a:r>
            <a:r>
              <a:rPr lang="en-US" sz="2400" dirty="0"/>
              <a:t> </a:t>
            </a:r>
            <a:r>
              <a:rPr lang="en-US" sz="2400" dirty="0" err="1"/>
              <a:t>trình</a:t>
            </a:r>
            <a:r>
              <a:rPr lang="en-US" sz="2400" dirty="0"/>
              <a:t> Hyper Terminal</a:t>
            </a:r>
          </a:p>
          <a:p>
            <a:pPr lvl="1">
              <a:defRPr/>
            </a:pPr>
            <a:endParaRPr lang="en-US" sz="2400" dirty="0"/>
          </a:p>
          <a:p>
            <a:pPr lvl="2">
              <a:defRPr/>
            </a:pPr>
            <a:endParaRPr lang="en-US" dirty="0"/>
          </a:p>
          <a:p>
            <a:pPr>
              <a:defRPr/>
            </a:pPr>
            <a:endParaRPr lang="en-US" dirty="0"/>
          </a:p>
        </p:txBody>
      </p:sp>
      <p:pic>
        <p:nvPicPr>
          <p:cNvPr id="10246" name="Picture 6"/>
          <p:cNvPicPr>
            <a:picLocks noChangeAspect="1" noChangeArrowheads="1"/>
          </p:cNvPicPr>
          <p:nvPr/>
        </p:nvPicPr>
        <p:blipFill>
          <a:blip r:embed="rId2"/>
          <a:srcRect/>
          <a:stretch>
            <a:fillRect/>
          </a:stretch>
        </p:blipFill>
        <p:spPr bwMode="auto">
          <a:xfrm>
            <a:off x="3733800" y="2590800"/>
            <a:ext cx="5410200" cy="3886200"/>
          </a:xfrm>
          <a:prstGeom prst="rect">
            <a:avLst/>
          </a:prstGeom>
          <a:noFill/>
          <a:ln w="9525">
            <a:noFill/>
            <a:miter lim="800000"/>
            <a:headEnd/>
            <a:tailEnd/>
          </a:ln>
          <a:effectLst>
            <a:prstShdw prst="shdw17" dist="17961" dir="2700000">
              <a:schemeClr val="accent1">
                <a:gamma/>
                <a:shade val="60000"/>
                <a:invGamma/>
              </a:schemeClr>
            </a:prstShdw>
          </a:effectLst>
        </p:spPr>
      </p:pic>
    </p:spTree>
    <p:extLst>
      <p:ext uri="{BB962C8B-B14F-4D97-AF65-F5344CB8AC3E}">
        <p14:creationId xmlns:p14="http://schemas.microsoft.com/office/powerpoint/2010/main" val="192334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1" y="1219201"/>
            <a:ext cx="5181599" cy="4593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12395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639" y="776289"/>
            <a:ext cx="8848725" cy="530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13291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C572-2D6D-4B98-8D8D-0D1B9DAAD60B}"/>
              </a:ext>
            </a:extLst>
          </p:cNvPr>
          <p:cNvSpPr>
            <a:spLocks noGrp="1"/>
          </p:cNvSpPr>
          <p:nvPr>
            <p:ph type="title"/>
          </p:nvPr>
        </p:nvSpPr>
        <p:spPr/>
        <p:txBody>
          <a:bodyPr/>
          <a:lstStyle/>
          <a:p>
            <a:r>
              <a:rPr lang="en-US" dirty="0" err="1"/>
              <a:t>PuTTy</a:t>
            </a:r>
            <a:endParaRPr lang="en-US" dirty="0"/>
          </a:p>
        </p:txBody>
      </p:sp>
      <p:sp>
        <p:nvSpPr>
          <p:cNvPr id="3" name="Content Placeholder 2">
            <a:extLst>
              <a:ext uri="{FF2B5EF4-FFF2-40B4-BE49-F238E27FC236}">
                <a16:creationId xmlns:a16="http://schemas.microsoft.com/office/drawing/2014/main" id="{FB08CB9D-DD10-4901-897C-BEE0042524A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F108E14-9B78-4582-859F-B968233C99DA}"/>
              </a:ext>
            </a:extLst>
          </p:cNvPr>
          <p:cNvPicPr>
            <a:picLocks noChangeAspect="1"/>
          </p:cNvPicPr>
          <p:nvPr/>
        </p:nvPicPr>
        <p:blipFill rotWithShape="1">
          <a:blip r:embed="rId2"/>
          <a:srcRect l="33333" t="21838" r="33333" b="21838"/>
          <a:stretch/>
        </p:blipFill>
        <p:spPr>
          <a:xfrm>
            <a:off x="3978777" y="1417638"/>
            <a:ext cx="5774823" cy="5486082"/>
          </a:xfrm>
          <a:prstGeom prst="rect">
            <a:avLst/>
          </a:prstGeom>
        </p:spPr>
      </p:pic>
    </p:spTree>
    <p:extLst>
      <p:ext uri="{BB962C8B-B14F-4D97-AF65-F5344CB8AC3E}">
        <p14:creationId xmlns:p14="http://schemas.microsoft.com/office/powerpoint/2010/main" val="2644362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II. MỘT SỐ THAO TÁC CƠ BẢN</a:t>
            </a:r>
          </a:p>
        </p:txBody>
      </p:sp>
      <p:sp>
        <p:nvSpPr>
          <p:cNvPr id="3" name="Content Placeholder 2"/>
          <p:cNvSpPr>
            <a:spLocks noGrp="1"/>
          </p:cNvSpPr>
          <p:nvPr>
            <p:ph idx="1"/>
          </p:nvPr>
        </p:nvSpPr>
        <p:spPr>
          <a:xfrm>
            <a:off x="476251" y="898525"/>
            <a:ext cx="11477624" cy="5181600"/>
          </a:xfrm>
        </p:spPr>
        <p:txBody>
          <a:bodyPr/>
          <a:lstStyle/>
          <a:p>
            <a:pPr>
              <a:defRPr/>
            </a:pPr>
            <a:r>
              <a:rPr lang="en-US" u="sng" dirty="0" err="1"/>
              <a:t>Các</a:t>
            </a:r>
            <a:r>
              <a:rPr lang="en-US" u="sng" dirty="0"/>
              <a:t> mode </a:t>
            </a:r>
            <a:r>
              <a:rPr lang="en-US" u="sng" dirty="0" err="1"/>
              <a:t>của</a:t>
            </a:r>
            <a:r>
              <a:rPr lang="en-US" u="sng" dirty="0"/>
              <a:t> Router</a:t>
            </a:r>
          </a:p>
          <a:p>
            <a:pPr lvl="1">
              <a:defRPr/>
            </a:pPr>
            <a:r>
              <a:rPr lang="en-US" sz="2400" dirty="0" err="1"/>
              <a:t>Dấu</a:t>
            </a:r>
            <a:r>
              <a:rPr lang="en-US" sz="2400" dirty="0"/>
              <a:t> </a:t>
            </a:r>
            <a:r>
              <a:rPr lang="en-US" sz="2400" dirty="0" err="1"/>
              <a:t>nhắc</a:t>
            </a:r>
            <a:r>
              <a:rPr lang="en-US" sz="2400" dirty="0"/>
              <a:t> </a:t>
            </a:r>
            <a:r>
              <a:rPr lang="en-US" sz="2400" dirty="0" err="1"/>
              <a:t>đợi</a:t>
            </a:r>
            <a:r>
              <a:rPr lang="en-US" sz="2400" dirty="0"/>
              <a:t> </a:t>
            </a:r>
            <a:r>
              <a:rPr lang="en-US" sz="2400" dirty="0" err="1"/>
              <a:t>lệnh</a:t>
            </a:r>
            <a:r>
              <a:rPr lang="en-US" sz="2400" dirty="0"/>
              <a:t> </a:t>
            </a:r>
            <a:r>
              <a:rPr lang="en-US" sz="2400" dirty="0" err="1"/>
              <a:t>đầu</a:t>
            </a:r>
            <a:r>
              <a:rPr lang="en-US" sz="2400" dirty="0"/>
              <a:t> </a:t>
            </a:r>
            <a:r>
              <a:rPr lang="en-US" sz="2400" dirty="0" err="1"/>
              <a:t>tiên</a:t>
            </a:r>
            <a:r>
              <a:rPr lang="en-US" sz="2400" dirty="0"/>
              <a:t> </a:t>
            </a:r>
            <a:r>
              <a:rPr lang="en-US" sz="2400" dirty="0" err="1"/>
              <a:t>xuất</a:t>
            </a:r>
            <a:r>
              <a:rPr lang="en-US" sz="2400" dirty="0"/>
              <a:t> </a:t>
            </a:r>
            <a:r>
              <a:rPr lang="en-US" sz="2400" dirty="0" err="1"/>
              <a:t>hiện</a:t>
            </a:r>
            <a:r>
              <a:rPr lang="en-US" sz="2400" dirty="0"/>
              <a:t> </a:t>
            </a:r>
            <a:r>
              <a:rPr lang="en-US" sz="2400" dirty="0" err="1"/>
              <a:t>có</a:t>
            </a:r>
            <a:r>
              <a:rPr lang="en-US" sz="2400" dirty="0"/>
              <a:t> </a:t>
            </a:r>
            <a:r>
              <a:rPr lang="en-US" sz="2400" dirty="0" err="1"/>
              <a:t>dạng</a:t>
            </a:r>
            <a:r>
              <a:rPr lang="en-US" sz="2400" dirty="0"/>
              <a:t>:</a:t>
            </a:r>
          </a:p>
          <a:p>
            <a:pPr>
              <a:buFont typeface="Wingdings" panose="05000000000000000000" pitchFamily="2" charset="2"/>
              <a:buNone/>
              <a:defRPr/>
            </a:pPr>
            <a:r>
              <a:rPr lang="en-US" dirty="0"/>
              <a:t>Router&gt; 		</a:t>
            </a:r>
            <a:r>
              <a:rPr lang="en-US" dirty="0" err="1"/>
              <a:t>đang</a:t>
            </a:r>
            <a:r>
              <a:rPr lang="en-US" dirty="0"/>
              <a:t> ở </a:t>
            </a:r>
            <a:r>
              <a:rPr lang="en-US" dirty="0" err="1"/>
              <a:t>dạng</a:t>
            </a:r>
            <a:r>
              <a:rPr lang="en-US" dirty="0"/>
              <a:t> user mode</a:t>
            </a:r>
          </a:p>
          <a:p>
            <a:pPr lvl="1">
              <a:defRPr/>
            </a:pPr>
            <a:r>
              <a:rPr lang="en-US" sz="2400" dirty="0" err="1"/>
              <a:t>Để</a:t>
            </a:r>
            <a:r>
              <a:rPr lang="en-US" sz="2400" dirty="0"/>
              <a:t> </a:t>
            </a:r>
            <a:r>
              <a:rPr lang="en-US" sz="2400" dirty="0" err="1"/>
              <a:t>quan</a:t>
            </a:r>
            <a:r>
              <a:rPr lang="en-US" sz="2400" dirty="0"/>
              <a:t> </a:t>
            </a:r>
            <a:r>
              <a:rPr lang="en-US" sz="2400" dirty="0" err="1"/>
              <a:t>sát</a:t>
            </a:r>
            <a:r>
              <a:rPr lang="en-US" sz="2400" dirty="0"/>
              <a:t> </a:t>
            </a:r>
            <a:r>
              <a:rPr lang="en-US" sz="2400" dirty="0" err="1"/>
              <a:t>các</a:t>
            </a:r>
            <a:r>
              <a:rPr lang="en-US" sz="2400" dirty="0"/>
              <a:t> </a:t>
            </a:r>
            <a:r>
              <a:rPr lang="en-US" sz="2400" dirty="0" err="1"/>
              <a:t>lệnh</a:t>
            </a:r>
            <a:r>
              <a:rPr lang="en-US" sz="2400" dirty="0"/>
              <a:t> </a:t>
            </a:r>
            <a:r>
              <a:rPr lang="en-US" sz="2400" dirty="0" err="1"/>
              <a:t>được</a:t>
            </a:r>
            <a:r>
              <a:rPr lang="en-US" sz="2400" dirty="0"/>
              <a:t> </a:t>
            </a:r>
            <a:r>
              <a:rPr lang="en-US" sz="2400" dirty="0" err="1"/>
              <a:t>phép</a:t>
            </a:r>
            <a:r>
              <a:rPr lang="en-US" sz="2400" dirty="0"/>
              <a:t> </a:t>
            </a:r>
            <a:r>
              <a:rPr lang="en-US" sz="2400" dirty="0" err="1"/>
              <a:t>sử</a:t>
            </a:r>
            <a:r>
              <a:rPr lang="en-US" sz="2400" dirty="0"/>
              <a:t> </a:t>
            </a:r>
            <a:r>
              <a:rPr lang="en-US" sz="2400" dirty="0" err="1"/>
              <a:t>dụng</a:t>
            </a:r>
            <a:r>
              <a:rPr lang="en-US" sz="2400" dirty="0"/>
              <a:t> ở user mode, ta </a:t>
            </a:r>
            <a:r>
              <a:rPr lang="en-US" sz="2400" dirty="0" err="1"/>
              <a:t>gõ</a:t>
            </a:r>
            <a:r>
              <a:rPr lang="en-US" sz="2400" dirty="0"/>
              <a:t> </a:t>
            </a:r>
            <a:r>
              <a:rPr lang="en-US" sz="2400" dirty="0" err="1"/>
              <a:t>dấu</a:t>
            </a:r>
            <a:r>
              <a:rPr lang="en-US" sz="2400" dirty="0"/>
              <a:t> </a:t>
            </a:r>
            <a:r>
              <a:rPr lang="en-US" sz="2400" dirty="0" err="1"/>
              <a:t>chấm</a:t>
            </a:r>
            <a:r>
              <a:rPr lang="en-US" sz="2400" dirty="0"/>
              <a:t> </a:t>
            </a:r>
            <a:r>
              <a:rPr lang="en-US" sz="2400" dirty="0" err="1"/>
              <a:t>hỏi</a:t>
            </a:r>
            <a:r>
              <a:rPr lang="en-US" sz="2400" dirty="0"/>
              <a:t> (?) </a:t>
            </a:r>
            <a:r>
              <a:rPr lang="en-US" sz="2400" dirty="0" err="1"/>
              <a:t>và</a:t>
            </a:r>
            <a:r>
              <a:rPr lang="en-US" sz="2400" dirty="0"/>
              <a:t> Enter</a:t>
            </a:r>
          </a:p>
          <a:p>
            <a:pPr marL="347663" lvl="1">
              <a:buNone/>
              <a:defRPr/>
            </a:pPr>
            <a:r>
              <a:rPr lang="en-US" sz="2400" dirty="0"/>
              <a:t>Router&gt; </a:t>
            </a:r>
            <a:r>
              <a:rPr lang="en-US" sz="2400" b="1" dirty="0"/>
              <a:t>?</a:t>
            </a:r>
          </a:p>
          <a:p>
            <a:pPr lvl="1">
              <a:defRPr/>
            </a:pPr>
            <a:r>
              <a:rPr lang="en-US" sz="2400" dirty="0" err="1"/>
              <a:t>Để</a:t>
            </a:r>
            <a:r>
              <a:rPr lang="en-US" sz="2400" dirty="0"/>
              <a:t> </a:t>
            </a:r>
            <a:r>
              <a:rPr lang="en-US" sz="2400" dirty="0" err="1"/>
              <a:t>vào</a:t>
            </a:r>
            <a:r>
              <a:rPr lang="en-US" sz="2400" dirty="0"/>
              <a:t> Privileged mode, ta </a:t>
            </a:r>
            <a:r>
              <a:rPr lang="en-US" sz="2400" dirty="0" err="1"/>
              <a:t>dùng</a:t>
            </a:r>
            <a:r>
              <a:rPr lang="en-US" sz="2400" dirty="0"/>
              <a:t> </a:t>
            </a:r>
            <a:r>
              <a:rPr lang="en-US" sz="2400" dirty="0" err="1"/>
              <a:t>lệnh</a:t>
            </a:r>
            <a:r>
              <a:rPr lang="en-US" sz="2400" dirty="0"/>
              <a:t>:</a:t>
            </a:r>
          </a:p>
          <a:p>
            <a:pPr marL="347663" lvl="1">
              <a:buNone/>
              <a:defRPr/>
            </a:pPr>
            <a:r>
              <a:rPr lang="en-US" sz="2400" dirty="0"/>
              <a:t>Router&gt; </a:t>
            </a:r>
            <a:r>
              <a:rPr lang="en-US" sz="2400" b="1" i="1" dirty="0"/>
              <a:t>enable</a:t>
            </a:r>
          </a:p>
          <a:p>
            <a:pPr marL="347663" lvl="1">
              <a:buNone/>
              <a:defRPr/>
            </a:pPr>
            <a:r>
              <a:rPr lang="en-US" sz="2400" dirty="0"/>
              <a:t>Router# 		</a:t>
            </a:r>
            <a:r>
              <a:rPr lang="en-US" sz="2400" dirty="0" err="1"/>
              <a:t>đang</a:t>
            </a:r>
            <a:r>
              <a:rPr lang="en-US" sz="2400" dirty="0"/>
              <a:t> ở privileged mode</a:t>
            </a:r>
          </a:p>
          <a:p>
            <a:pPr lvl="1">
              <a:defRPr/>
            </a:pPr>
            <a:r>
              <a:rPr lang="en-US" sz="2400" dirty="0" err="1"/>
              <a:t>Để</a:t>
            </a:r>
            <a:r>
              <a:rPr lang="en-US" sz="2400" dirty="0"/>
              <a:t> </a:t>
            </a:r>
            <a:r>
              <a:rPr lang="en-US" sz="2400" dirty="0" err="1"/>
              <a:t>quan</a:t>
            </a:r>
            <a:r>
              <a:rPr lang="en-US" sz="2400" dirty="0"/>
              <a:t> </a:t>
            </a:r>
            <a:r>
              <a:rPr lang="en-US" sz="2400" dirty="0" err="1"/>
              <a:t>sát</a:t>
            </a:r>
            <a:r>
              <a:rPr lang="en-US" sz="2400" dirty="0"/>
              <a:t> </a:t>
            </a:r>
            <a:r>
              <a:rPr lang="en-US" sz="2400" dirty="0" err="1"/>
              <a:t>các</a:t>
            </a:r>
            <a:r>
              <a:rPr lang="en-US" sz="2400" dirty="0"/>
              <a:t> </a:t>
            </a:r>
            <a:r>
              <a:rPr lang="en-US" sz="2400" dirty="0" err="1"/>
              <a:t>lệnh</a:t>
            </a:r>
            <a:r>
              <a:rPr lang="en-US" sz="2400" dirty="0"/>
              <a:t> </a:t>
            </a:r>
            <a:r>
              <a:rPr lang="en-US" sz="2400" dirty="0" err="1"/>
              <a:t>được</a:t>
            </a:r>
            <a:r>
              <a:rPr lang="en-US" sz="2400" dirty="0"/>
              <a:t> </a:t>
            </a:r>
            <a:r>
              <a:rPr lang="en-US" sz="2400" dirty="0" err="1"/>
              <a:t>phép</a:t>
            </a:r>
            <a:r>
              <a:rPr lang="en-US" sz="2400" dirty="0"/>
              <a:t> </a:t>
            </a:r>
            <a:r>
              <a:rPr lang="en-US" sz="2400" dirty="0" err="1"/>
              <a:t>sử</a:t>
            </a:r>
            <a:r>
              <a:rPr lang="en-US" sz="2400" dirty="0"/>
              <a:t> </a:t>
            </a:r>
            <a:r>
              <a:rPr lang="en-US" sz="2400" dirty="0" err="1"/>
              <a:t>dụng</a:t>
            </a:r>
            <a:r>
              <a:rPr lang="en-US" sz="2400" dirty="0"/>
              <a:t> ở user mode, ta </a:t>
            </a:r>
            <a:r>
              <a:rPr lang="en-US" sz="2400" dirty="0" err="1"/>
              <a:t>gõ</a:t>
            </a:r>
            <a:r>
              <a:rPr lang="en-US" sz="2400" dirty="0"/>
              <a:t> </a:t>
            </a:r>
            <a:r>
              <a:rPr lang="en-US" sz="2400" dirty="0" err="1"/>
              <a:t>dấu</a:t>
            </a:r>
            <a:r>
              <a:rPr lang="en-US" sz="2400" dirty="0"/>
              <a:t> </a:t>
            </a:r>
            <a:r>
              <a:rPr lang="en-US" sz="2400" dirty="0" err="1"/>
              <a:t>chấm</a:t>
            </a:r>
            <a:r>
              <a:rPr lang="en-US" sz="2400" dirty="0"/>
              <a:t> </a:t>
            </a:r>
            <a:r>
              <a:rPr lang="en-US" sz="2400" dirty="0" err="1"/>
              <a:t>hỏi</a:t>
            </a:r>
            <a:r>
              <a:rPr lang="en-US" sz="2400" dirty="0"/>
              <a:t> (?) </a:t>
            </a:r>
            <a:r>
              <a:rPr lang="en-US" sz="2400" dirty="0" err="1"/>
              <a:t>và</a:t>
            </a:r>
            <a:r>
              <a:rPr lang="en-US" sz="2400" dirty="0"/>
              <a:t> Enter</a:t>
            </a:r>
          </a:p>
          <a:p>
            <a:pPr marL="339725" lvl="1">
              <a:buNone/>
              <a:defRPr/>
            </a:pPr>
            <a:r>
              <a:rPr lang="en-US" sz="2400" dirty="0"/>
              <a:t>Router# </a:t>
            </a:r>
            <a:r>
              <a:rPr lang="en-US" sz="2400" b="1" dirty="0"/>
              <a:t>?</a:t>
            </a:r>
          </a:p>
          <a:p>
            <a:pPr lvl="1">
              <a:buFont typeface="Wingdings" panose="05000000000000000000" pitchFamily="2" charset="2"/>
              <a:buNone/>
              <a:defRPr/>
            </a:pPr>
            <a:endParaRPr lang="en-US" dirty="0"/>
          </a:p>
          <a:p>
            <a:pPr lvl="1">
              <a:defRPr/>
            </a:pPr>
            <a:endParaRPr lang="en-US" dirty="0"/>
          </a:p>
          <a:p>
            <a:pPr marL="339725" lvl="1">
              <a:buNone/>
              <a:defRPr/>
            </a:pPr>
            <a:r>
              <a:rPr lang="en-US" dirty="0"/>
              <a:t>	</a:t>
            </a:r>
          </a:p>
          <a:p>
            <a:pPr>
              <a:buFont typeface="Wingdings" panose="05000000000000000000" pitchFamily="2" charset="2"/>
              <a:buNone/>
              <a:defRPr/>
            </a:pPr>
            <a:endParaRPr lang="en-US" dirty="0"/>
          </a:p>
          <a:p>
            <a:pPr lvl="1">
              <a:defRPr/>
            </a:pPr>
            <a:endParaRPr lang="en-US" dirty="0"/>
          </a:p>
        </p:txBody>
      </p:sp>
      <p:sp>
        <p:nvSpPr>
          <p:cNvPr id="16390" name="Right Arrow 7"/>
          <p:cNvSpPr>
            <a:spLocks noChangeArrowheads="1"/>
          </p:cNvSpPr>
          <p:nvPr/>
        </p:nvSpPr>
        <p:spPr bwMode="auto">
          <a:xfrm>
            <a:off x="1806575" y="2254251"/>
            <a:ext cx="1447800" cy="174625"/>
          </a:xfrm>
          <a:prstGeom prst="rightArrow">
            <a:avLst>
              <a:gd name="adj1" fmla="val 50000"/>
              <a:gd name="adj2" fmla="val 49822"/>
            </a:avLst>
          </a:prstGeom>
          <a:solidFill>
            <a:schemeClr val="accent1"/>
          </a:solidFill>
          <a:ln w="9525" algn="ctr">
            <a:solidFill>
              <a:schemeClr val="tx1"/>
            </a:solidFill>
            <a:round/>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vi-VN"/>
          </a:p>
        </p:txBody>
      </p:sp>
      <p:sp>
        <p:nvSpPr>
          <p:cNvPr id="16391" name="Right Arrow 12"/>
          <p:cNvSpPr>
            <a:spLocks noChangeArrowheads="1"/>
          </p:cNvSpPr>
          <p:nvPr/>
        </p:nvSpPr>
        <p:spPr bwMode="auto">
          <a:xfrm>
            <a:off x="1806575" y="4938716"/>
            <a:ext cx="1447800" cy="173037"/>
          </a:xfrm>
          <a:prstGeom prst="rightArrow">
            <a:avLst>
              <a:gd name="adj1" fmla="val 50000"/>
              <a:gd name="adj2" fmla="val 50279"/>
            </a:avLst>
          </a:prstGeom>
          <a:solidFill>
            <a:schemeClr val="accent1"/>
          </a:solidFill>
          <a:ln w="9525" algn="ctr">
            <a:solidFill>
              <a:schemeClr val="tx1"/>
            </a:solidFill>
            <a:round/>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vi-VN"/>
          </a:p>
        </p:txBody>
      </p:sp>
    </p:spTree>
    <p:extLst>
      <p:ext uri="{BB962C8B-B14F-4D97-AF65-F5344CB8AC3E}">
        <p14:creationId xmlns:p14="http://schemas.microsoft.com/office/powerpoint/2010/main" val="2739031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II. MỘT SỐ THAO TÁC CƠ BẢN</a:t>
            </a:r>
          </a:p>
        </p:txBody>
      </p:sp>
      <p:sp>
        <p:nvSpPr>
          <p:cNvPr id="17411" name="Content Placeholder 2"/>
          <p:cNvSpPr>
            <a:spLocks noGrp="1"/>
          </p:cNvSpPr>
          <p:nvPr>
            <p:ph idx="1"/>
          </p:nvPr>
        </p:nvSpPr>
        <p:spPr/>
        <p:txBody>
          <a:bodyPr/>
          <a:lstStyle/>
          <a:p>
            <a:endParaRPr lang="vi-VN"/>
          </a:p>
        </p:txBody>
      </p:sp>
      <p:pic>
        <p:nvPicPr>
          <p:cNvPr id="17414" name="Picture 6" descr="301P_4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295400"/>
            <a:ext cx="83820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3836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II. MỘT SỐ THAO TÁC CƠ BẢN</a:t>
            </a:r>
          </a:p>
        </p:txBody>
      </p:sp>
      <p:sp>
        <p:nvSpPr>
          <p:cNvPr id="18435" name="Content Placeholder 2"/>
          <p:cNvSpPr>
            <a:spLocks noGrp="1"/>
          </p:cNvSpPr>
          <p:nvPr>
            <p:ph idx="1"/>
          </p:nvPr>
        </p:nvSpPr>
        <p:spPr/>
        <p:txBody>
          <a:bodyPr/>
          <a:lstStyle/>
          <a:p>
            <a:endParaRPr lang="vi-VN"/>
          </a:p>
        </p:txBody>
      </p:sp>
      <p:pic>
        <p:nvPicPr>
          <p:cNvPr id="18438" name="Picture 6" descr="301P_407"/>
          <p:cNvPicPr>
            <a:picLocks noChangeAspect="1" noChangeArrowheads="1"/>
          </p:cNvPicPr>
          <p:nvPr/>
        </p:nvPicPr>
        <p:blipFill>
          <a:blip r:embed="rId2">
            <a:extLst>
              <a:ext uri="{28A0092B-C50C-407E-A947-70E740481C1C}">
                <a14:useLocalDpi xmlns:a14="http://schemas.microsoft.com/office/drawing/2010/main" val="0"/>
              </a:ext>
            </a:extLst>
          </a:blip>
          <a:srcRect b="5577"/>
          <a:stretch>
            <a:fillRect/>
          </a:stretch>
        </p:blipFill>
        <p:spPr bwMode="auto">
          <a:xfrm>
            <a:off x="2209800" y="1219200"/>
            <a:ext cx="77724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2717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5" descr="301P_2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4783" y="1418992"/>
            <a:ext cx="9123217" cy="504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rtlCol="0" anchor="t" anchorCtr="0" compatLnSpc="1">
            <a:prstTxWarp prst="textNoShape">
              <a:avLst/>
            </a:prstTxWarp>
            <a:normAutofit/>
          </a:bodyPr>
          <a:lstStyle/>
          <a:p>
            <a:r>
              <a:rPr lang="en-US" dirty="0"/>
              <a:t>Router Modes</a:t>
            </a:r>
          </a:p>
        </p:txBody>
      </p:sp>
    </p:spTree>
    <p:extLst>
      <p:ext uri="{BB962C8B-B14F-4D97-AF65-F5344CB8AC3E}">
        <p14:creationId xmlns:p14="http://schemas.microsoft.com/office/powerpoint/2010/main" val="204910161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II. MỘT SỐ THAO TÁC CƠ BẢN</a:t>
            </a:r>
          </a:p>
        </p:txBody>
      </p:sp>
      <p:sp>
        <p:nvSpPr>
          <p:cNvPr id="19459" name="Content Placeholder 2"/>
          <p:cNvSpPr>
            <a:spLocks noGrp="1"/>
          </p:cNvSpPr>
          <p:nvPr>
            <p:ph idx="1"/>
          </p:nvPr>
        </p:nvSpPr>
        <p:spPr/>
        <p:txBody>
          <a:bodyPr/>
          <a:lstStyle/>
          <a:p>
            <a:endParaRPr lang="vi-VN"/>
          </a:p>
        </p:txBody>
      </p:sp>
      <p:sp>
        <p:nvSpPr>
          <p:cNvPr id="19462" name="Text Box 5"/>
          <p:cNvSpPr txBox="1">
            <a:spLocks noChangeArrowheads="1"/>
          </p:cNvSpPr>
          <p:nvPr/>
        </p:nvSpPr>
        <p:spPr bwMode="auto">
          <a:xfrm>
            <a:off x="2133600" y="1676401"/>
            <a:ext cx="8001000" cy="4022725"/>
          </a:xfrm>
          <a:prstGeom prst="rect">
            <a:avLst/>
          </a:prstGeom>
          <a:solidFill>
            <a:schemeClr val="bg1"/>
          </a:solidFill>
          <a:ln w="28575" algn="ctr">
            <a:solidFill>
              <a:schemeClr val="tx1"/>
            </a:solidFill>
            <a:miter lim="800000"/>
            <a:headEnd/>
            <a:tailEnd/>
          </a:ln>
        </p:spPr>
        <p:txBody>
          <a:bodyPr lIns="82124" tIns="41061" rIns="82124" bIns="41061">
            <a:spAutoFit/>
          </a:bodyPr>
          <a:lstStyle>
            <a:lvl1pPr defTabSz="814388" eaLnBrk="0" hangingPunct="0">
              <a:defRPr b="1">
                <a:solidFill>
                  <a:schemeClr val="tx1"/>
                </a:solidFill>
                <a:latin typeface="Arial" panose="020B0604020202020204" pitchFamily="34" charset="0"/>
              </a:defRPr>
            </a:lvl1pPr>
            <a:lvl2pPr marL="742950" indent="-285750" defTabSz="814388" eaLnBrk="0" hangingPunct="0">
              <a:defRPr b="1">
                <a:solidFill>
                  <a:schemeClr val="tx1"/>
                </a:solidFill>
                <a:latin typeface="Arial" panose="020B0604020202020204" pitchFamily="34" charset="0"/>
              </a:defRPr>
            </a:lvl2pPr>
            <a:lvl3pPr marL="1143000" indent="-228600" defTabSz="814388" eaLnBrk="0" hangingPunct="0">
              <a:defRPr b="1">
                <a:solidFill>
                  <a:schemeClr val="tx1"/>
                </a:solidFill>
                <a:latin typeface="Arial" panose="020B0604020202020204" pitchFamily="34" charset="0"/>
              </a:defRPr>
            </a:lvl3pPr>
            <a:lvl4pPr marL="1600200" indent="-228600" defTabSz="814388" eaLnBrk="0" hangingPunct="0">
              <a:defRPr b="1">
                <a:solidFill>
                  <a:schemeClr val="tx1"/>
                </a:solidFill>
                <a:latin typeface="Arial" panose="020B0604020202020204" pitchFamily="34" charset="0"/>
              </a:defRPr>
            </a:lvl4pPr>
            <a:lvl5pPr marL="2057400" indent="-228600" defTabSz="814388" eaLnBrk="0" hangingPunct="0">
              <a:defRPr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sz="1600">
                <a:latin typeface="Courier New" panose="02070309020205020404" pitchFamily="49" charset="0"/>
              </a:rPr>
              <a:t>RouterX&gt;</a:t>
            </a:r>
            <a:r>
              <a:rPr lang="en-US" sz="1600">
                <a:solidFill>
                  <a:schemeClr val="accent2"/>
                </a:solidFill>
                <a:latin typeface="Courier New" panose="02070309020205020404" pitchFamily="49" charset="0"/>
              </a:rPr>
              <a:t>?</a:t>
            </a:r>
          </a:p>
          <a:p>
            <a:pPr eaLnBrk="1" hangingPunct="1"/>
            <a:r>
              <a:rPr lang="en-US" sz="1600">
                <a:latin typeface="Courier New" panose="02070309020205020404" pitchFamily="49" charset="0"/>
              </a:rPr>
              <a:t>Exec commands:</a:t>
            </a:r>
          </a:p>
          <a:p>
            <a:pPr eaLnBrk="1" hangingPunct="1"/>
            <a:r>
              <a:rPr lang="en-US" sz="1600">
                <a:latin typeface="Courier New" panose="02070309020205020404" pitchFamily="49" charset="0"/>
              </a:rPr>
              <a:t>  access-enable    Create a temporary Access-List entry</a:t>
            </a:r>
          </a:p>
          <a:p>
            <a:pPr eaLnBrk="1" hangingPunct="1"/>
            <a:r>
              <a:rPr lang="en-US" sz="1600">
                <a:latin typeface="Courier New" panose="02070309020205020404" pitchFamily="49" charset="0"/>
              </a:rPr>
              <a:t>  access-profile   Apply user-profile to interface</a:t>
            </a:r>
          </a:p>
          <a:p>
            <a:pPr eaLnBrk="1" hangingPunct="1"/>
            <a:r>
              <a:rPr lang="en-US" sz="1600">
                <a:latin typeface="Courier New" panose="02070309020205020404" pitchFamily="49" charset="0"/>
              </a:rPr>
              <a:t>  clear            Reset functions</a:t>
            </a:r>
          </a:p>
          <a:p>
            <a:pPr eaLnBrk="1" hangingPunct="1"/>
            <a:r>
              <a:rPr lang="en-US" sz="1600">
                <a:latin typeface="Courier New" panose="02070309020205020404" pitchFamily="49" charset="0"/>
              </a:rPr>
              <a:t>  connect          Open a terminal connection</a:t>
            </a:r>
          </a:p>
          <a:p>
            <a:pPr eaLnBrk="1" hangingPunct="1"/>
            <a:r>
              <a:rPr lang="en-US" sz="1600">
                <a:latin typeface="Courier New" panose="02070309020205020404" pitchFamily="49" charset="0"/>
              </a:rPr>
              <a:t>  disable          Turn off privileged commands</a:t>
            </a:r>
          </a:p>
          <a:p>
            <a:pPr eaLnBrk="1" hangingPunct="1"/>
            <a:r>
              <a:rPr lang="en-US" sz="1600">
                <a:latin typeface="Courier New" panose="02070309020205020404" pitchFamily="49" charset="0"/>
              </a:rPr>
              <a:t>  disconnect       Disconnect an existing network connection</a:t>
            </a:r>
          </a:p>
          <a:p>
            <a:pPr eaLnBrk="1" hangingPunct="1"/>
            <a:r>
              <a:rPr lang="en-US" sz="1600">
                <a:latin typeface="Courier New" panose="02070309020205020404" pitchFamily="49" charset="0"/>
              </a:rPr>
              <a:t>  enable           Turn on privileged commands</a:t>
            </a:r>
          </a:p>
          <a:p>
            <a:pPr eaLnBrk="1" hangingPunct="1"/>
            <a:r>
              <a:rPr lang="en-US" sz="1600">
                <a:latin typeface="Courier New" panose="02070309020205020404" pitchFamily="49" charset="0"/>
              </a:rPr>
              <a:t>  exit             Exit from the EXEC</a:t>
            </a:r>
          </a:p>
          <a:p>
            <a:pPr eaLnBrk="1" hangingPunct="1"/>
            <a:r>
              <a:rPr lang="en-US" sz="1600">
                <a:latin typeface="Courier New" panose="02070309020205020404" pitchFamily="49" charset="0"/>
              </a:rPr>
              <a:t>  help             Description of the interactive help system</a:t>
            </a:r>
          </a:p>
          <a:p>
            <a:pPr eaLnBrk="1" hangingPunct="1"/>
            <a:r>
              <a:rPr lang="en-US" sz="1600">
                <a:latin typeface="Courier New" panose="02070309020205020404" pitchFamily="49" charset="0"/>
              </a:rPr>
              <a:t>  lat              Open a lat connection</a:t>
            </a:r>
          </a:p>
          <a:p>
            <a:pPr eaLnBrk="1" hangingPunct="1"/>
            <a:r>
              <a:rPr lang="en-US" sz="1600">
                <a:latin typeface="Courier New" panose="02070309020205020404" pitchFamily="49" charset="0"/>
              </a:rPr>
              <a:t>  lock             Lock the terminal</a:t>
            </a:r>
          </a:p>
          <a:p>
            <a:pPr eaLnBrk="1" hangingPunct="1"/>
            <a:r>
              <a:rPr lang="en-US" sz="1600">
                <a:latin typeface="Courier New" panose="02070309020205020404" pitchFamily="49" charset="0"/>
              </a:rPr>
              <a:t>  login            Log in as a particular user</a:t>
            </a:r>
          </a:p>
          <a:p>
            <a:pPr eaLnBrk="1" hangingPunct="1"/>
            <a:r>
              <a:rPr lang="en-US" sz="1600">
                <a:latin typeface="Courier New" panose="02070309020205020404" pitchFamily="49" charset="0"/>
              </a:rPr>
              <a:t>  logout           Exit from the EXEC</a:t>
            </a:r>
            <a:br>
              <a:rPr lang="en-US" sz="1600">
                <a:latin typeface="Courier New" panose="02070309020205020404" pitchFamily="49" charset="0"/>
              </a:rPr>
            </a:br>
            <a:r>
              <a:rPr lang="en-US" sz="1600">
                <a:latin typeface="Courier New" panose="02070309020205020404" pitchFamily="49" charset="0"/>
              </a:rPr>
              <a:t>-- More --</a:t>
            </a:r>
          </a:p>
        </p:txBody>
      </p:sp>
    </p:spTree>
    <p:extLst>
      <p:ext uri="{BB962C8B-B14F-4D97-AF65-F5344CB8AC3E}">
        <p14:creationId xmlns:p14="http://schemas.microsoft.com/office/powerpoint/2010/main" val="2914899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II. MỘT SỐ THAO TÁC CƠ BẢN</a:t>
            </a:r>
          </a:p>
        </p:txBody>
      </p:sp>
      <p:sp>
        <p:nvSpPr>
          <p:cNvPr id="20483" name="Content Placeholder 2"/>
          <p:cNvSpPr>
            <a:spLocks noGrp="1"/>
          </p:cNvSpPr>
          <p:nvPr>
            <p:ph idx="1"/>
          </p:nvPr>
        </p:nvSpPr>
        <p:spPr/>
        <p:txBody>
          <a:bodyPr/>
          <a:lstStyle/>
          <a:p>
            <a:endParaRPr lang="vi-VN"/>
          </a:p>
        </p:txBody>
      </p:sp>
      <p:sp>
        <p:nvSpPr>
          <p:cNvPr id="20486" name="Text Box 5"/>
          <p:cNvSpPr txBox="1">
            <a:spLocks noChangeArrowheads="1"/>
          </p:cNvSpPr>
          <p:nvPr/>
        </p:nvSpPr>
        <p:spPr bwMode="auto">
          <a:xfrm>
            <a:off x="2339975" y="1455739"/>
            <a:ext cx="7620000" cy="4822825"/>
          </a:xfrm>
          <a:prstGeom prst="rect">
            <a:avLst/>
          </a:prstGeom>
          <a:solidFill>
            <a:schemeClr val="bg1"/>
          </a:solidFill>
          <a:ln w="28575" algn="ctr">
            <a:solidFill>
              <a:schemeClr val="tx1"/>
            </a:solidFill>
            <a:miter lim="800000"/>
            <a:headEnd/>
            <a:tailEnd/>
          </a:ln>
        </p:spPr>
        <p:txBody>
          <a:bodyPr lIns="82124" tIns="41061" rIns="82124" bIns="41061">
            <a:spAutoFit/>
          </a:bodyPr>
          <a:lstStyle>
            <a:lvl1pPr defTabSz="814388" eaLnBrk="0" hangingPunct="0">
              <a:defRPr b="1">
                <a:solidFill>
                  <a:schemeClr val="tx1"/>
                </a:solidFill>
                <a:latin typeface="Arial" panose="020B0604020202020204" pitchFamily="34" charset="0"/>
              </a:defRPr>
            </a:lvl1pPr>
            <a:lvl2pPr marL="742950" indent="-285750" defTabSz="814388" eaLnBrk="0" hangingPunct="0">
              <a:defRPr b="1">
                <a:solidFill>
                  <a:schemeClr val="tx1"/>
                </a:solidFill>
                <a:latin typeface="Arial" panose="020B0604020202020204" pitchFamily="34" charset="0"/>
              </a:defRPr>
            </a:lvl2pPr>
            <a:lvl3pPr marL="1143000" indent="-228600" defTabSz="814388" eaLnBrk="0" hangingPunct="0">
              <a:defRPr b="1">
                <a:solidFill>
                  <a:schemeClr val="tx1"/>
                </a:solidFill>
                <a:latin typeface="Arial" panose="020B0604020202020204" pitchFamily="34" charset="0"/>
              </a:defRPr>
            </a:lvl3pPr>
            <a:lvl4pPr marL="1600200" indent="-228600" defTabSz="814388" eaLnBrk="0" hangingPunct="0">
              <a:defRPr b="1">
                <a:solidFill>
                  <a:schemeClr val="tx1"/>
                </a:solidFill>
                <a:latin typeface="Arial" panose="020B0604020202020204" pitchFamily="34" charset="0"/>
              </a:defRPr>
            </a:lvl4pPr>
            <a:lvl5pPr marL="2057400" indent="-228600" defTabSz="814388" eaLnBrk="0" hangingPunct="0">
              <a:defRPr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sz="1400">
                <a:latin typeface="Courier New" panose="02070309020205020404" pitchFamily="49" charset="0"/>
              </a:rPr>
              <a:t>RouterX#</a:t>
            </a:r>
            <a:r>
              <a:rPr lang="en-US" sz="1400">
                <a:solidFill>
                  <a:schemeClr val="accent2"/>
                </a:solidFill>
                <a:latin typeface="Courier New" panose="02070309020205020404" pitchFamily="49" charset="0"/>
              </a:rPr>
              <a:t>?</a:t>
            </a:r>
          </a:p>
          <a:p>
            <a:pPr eaLnBrk="1" hangingPunct="1"/>
            <a:r>
              <a:rPr lang="en-US" sz="1400">
                <a:latin typeface="Courier New" panose="02070309020205020404" pitchFamily="49" charset="0"/>
              </a:rPr>
              <a:t>Exec commands:</a:t>
            </a:r>
          </a:p>
          <a:p>
            <a:pPr eaLnBrk="1" hangingPunct="1"/>
            <a:r>
              <a:rPr lang="en-US" sz="1400">
                <a:latin typeface="Courier New" panose="02070309020205020404" pitchFamily="49" charset="0"/>
              </a:rPr>
              <a:t>  access-enable    Create a temporary Access-List entry</a:t>
            </a:r>
          </a:p>
          <a:p>
            <a:pPr eaLnBrk="1" hangingPunct="1"/>
            <a:r>
              <a:rPr lang="en-US" sz="1400">
                <a:latin typeface="Courier New" panose="02070309020205020404" pitchFamily="49" charset="0"/>
              </a:rPr>
              <a:t>  access-profile   Apply user-profile to interface</a:t>
            </a:r>
          </a:p>
          <a:p>
            <a:pPr eaLnBrk="1" hangingPunct="1"/>
            <a:r>
              <a:rPr lang="en-US" sz="1400">
                <a:latin typeface="Courier New" panose="02070309020205020404" pitchFamily="49" charset="0"/>
              </a:rPr>
              <a:t>  access-template  Create a temporary Access-List entry</a:t>
            </a:r>
          </a:p>
          <a:p>
            <a:pPr eaLnBrk="1" hangingPunct="1"/>
            <a:r>
              <a:rPr lang="en-US" sz="1400">
                <a:latin typeface="Courier New" panose="02070309020205020404" pitchFamily="49" charset="0"/>
              </a:rPr>
              <a:t>  bfe              For manual emergency modes setting</a:t>
            </a:r>
          </a:p>
          <a:p>
            <a:pPr eaLnBrk="1" hangingPunct="1"/>
            <a:r>
              <a:rPr lang="en-US" sz="1400">
                <a:latin typeface="Courier New" panose="02070309020205020404" pitchFamily="49" charset="0"/>
              </a:rPr>
              <a:t>  cd               Change current directory</a:t>
            </a:r>
          </a:p>
          <a:p>
            <a:pPr eaLnBrk="1" hangingPunct="1"/>
            <a:r>
              <a:rPr lang="en-US" sz="1400">
                <a:latin typeface="Courier New" panose="02070309020205020404" pitchFamily="49" charset="0"/>
              </a:rPr>
              <a:t>  clear            Reset functions</a:t>
            </a:r>
          </a:p>
          <a:p>
            <a:pPr eaLnBrk="1" hangingPunct="1"/>
            <a:r>
              <a:rPr lang="en-US" sz="1400">
                <a:latin typeface="Courier New" panose="02070309020205020404" pitchFamily="49" charset="0"/>
              </a:rPr>
              <a:t>  clock            Manage the system clock</a:t>
            </a:r>
          </a:p>
          <a:p>
            <a:pPr eaLnBrk="1" hangingPunct="1"/>
            <a:r>
              <a:rPr lang="en-US" sz="1400">
                <a:latin typeface="Courier New" panose="02070309020205020404" pitchFamily="49" charset="0"/>
              </a:rPr>
              <a:t>  configure        Enter configuration mode</a:t>
            </a:r>
          </a:p>
          <a:p>
            <a:pPr eaLnBrk="1" hangingPunct="1"/>
            <a:r>
              <a:rPr lang="en-US" sz="1400">
                <a:latin typeface="Courier New" panose="02070309020205020404" pitchFamily="49" charset="0"/>
              </a:rPr>
              <a:t>  connect          Open a terminal connection</a:t>
            </a:r>
          </a:p>
          <a:p>
            <a:pPr eaLnBrk="1" hangingPunct="1"/>
            <a:r>
              <a:rPr lang="en-US" sz="1400">
                <a:latin typeface="Courier New" panose="02070309020205020404" pitchFamily="49" charset="0"/>
              </a:rPr>
              <a:t>  copy             Copy from one file to another</a:t>
            </a:r>
          </a:p>
          <a:p>
            <a:pPr eaLnBrk="1" hangingPunct="1"/>
            <a:r>
              <a:rPr lang="en-US" sz="1400">
                <a:latin typeface="Courier New" panose="02070309020205020404" pitchFamily="49" charset="0"/>
              </a:rPr>
              <a:t>  debug            Debugging functions (see also 'undebug')</a:t>
            </a:r>
          </a:p>
          <a:p>
            <a:pPr eaLnBrk="1" hangingPunct="1"/>
            <a:r>
              <a:rPr lang="en-US" sz="1400">
                <a:latin typeface="Courier New" panose="02070309020205020404" pitchFamily="49" charset="0"/>
              </a:rPr>
              <a:t>  delete           Delete a file</a:t>
            </a:r>
          </a:p>
          <a:p>
            <a:pPr eaLnBrk="1" hangingPunct="1"/>
            <a:r>
              <a:rPr lang="en-US" sz="1400">
                <a:latin typeface="Courier New" panose="02070309020205020404" pitchFamily="49" charset="0"/>
              </a:rPr>
              <a:t>  dir              List files on a filesystem</a:t>
            </a:r>
          </a:p>
          <a:p>
            <a:pPr eaLnBrk="1" hangingPunct="1"/>
            <a:r>
              <a:rPr lang="en-US" sz="1400">
                <a:latin typeface="Courier New" panose="02070309020205020404" pitchFamily="49" charset="0"/>
              </a:rPr>
              <a:t>  disable          Turn off privileged commands</a:t>
            </a:r>
          </a:p>
          <a:p>
            <a:pPr eaLnBrk="1" hangingPunct="1"/>
            <a:r>
              <a:rPr lang="en-US" sz="1400">
                <a:latin typeface="Courier New" panose="02070309020205020404" pitchFamily="49" charset="0"/>
              </a:rPr>
              <a:t>  disconnect       Disconnect an existing network connection</a:t>
            </a:r>
          </a:p>
          <a:p>
            <a:pPr eaLnBrk="1" hangingPunct="1"/>
            <a:r>
              <a:rPr lang="en-US" sz="1400">
                <a:latin typeface="Courier New" panose="02070309020205020404" pitchFamily="49" charset="0"/>
              </a:rPr>
              <a:t>  enable           Turn on privileged commands</a:t>
            </a:r>
          </a:p>
          <a:p>
            <a:pPr eaLnBrk="1" hangingPunct="1"/>
            <a:r>
              <a:rPr lang="en-US" sz="1400">
                <a:latin typeface="Courier New" panose="02070309020205020404" pitchFamily="49" charset="0"/>
              </a:rPr>
              <a:t>  erase            Erase a filesystem</a:t>
            </a:r>
          </a:p>
          <a:p>
            <a:pPr eaLnBrk="1" hangingPunct="1"/>
            <a:r>
              <a:rPr lang="en-US" sz="1400">
                <a:latin typeface="Courier New" panose="02070309020205020404" pitchFamily="49" charset="0"/>
              </a:rPr>
              <a:t>  exit             Exit from the EXEC</a:t>
            </a:r>
          </a:p>
          <a:p>
            <a:pPr eaLnBrk="1" hangingPunct="1"/>
            <a:r>
              <a:rPr lang="en-US" sz="1400">
                <a:latin typeface="Courier New" panose="02070309020205020404" pitchFamily="49" charset="0"/>
              </a:rPr>
              <a:t>  help             Description of the interactive help system</a:t>
            </a:r>
          </a:p>
          <a:p>
            <a:pPr eaLnBrk="1" hangingPunct="1"/>
            <a:r>
              <a:rPr lang="en-US" sz="1400">
                <a:latin typeface="Courier New" panose="02070309020205020404" pitchFamily="49" charset="0"/>
              </a:rPr>
              <a:t>-- More --</a:t>
            </a:r>
          </a:p>
        </p:txBody>
      </p:sp>
    </p:spTree>
    <p:extLst>
      <p:ext uri="{BB962C8B-B14F-4D97-AF65-F5344CB8AC3E}">
        <p14:creationId xmlns:p14="http://schemas.microsoft.com/office/powerpoint/2010/main" val="36554540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II. MỘT SỐ THAO TÁC CƠ BẢN</a:t>
            </a:r>
          </a:p>
        </p:txBody>
      </p:sp>
      <p:sp>
        <p:nvSpPr>
          <p:cNvPr id="21507" name="Content Placeholder 2"/>
          <p:cNvSpPr>
            <a:spLocks noGrp="1"/>
          </p:cNvSpPr>
          <p:nvPr>
            <p:ph idx="1"/>
          </p:nvPr>
        </p:nvSpPr>
        <p:spPr/>
        <p:txBody>
          <a:bodyPr/>
          <a:lstStyle/>
          <a:p>
            <a:r>
              <a:rPr lang="en-US"/>
              <a:t>Các mode của Router</a:t>
            </a:r>
          </a:p>
          <a:p>
            <a:pPr lvl="1"/>
            <a:r>
              <a:rPr lang="en-US" sz="2400"/>
              <a:t>Để vào </a:t>
            </a:r>
            <a:r>
              <a:rPr lang="en-US" sz="2400" b="1" i="1"/>
              <a:t>configuration mode</a:t>
            </a:r>
            <a:r>
              <a:rPr lang="en-US" sz="2400"/>
              <a:t>, ta dùng lệnh </a:t>
            </a:r>
            <a:r>
              <a:rPr lang="en-US" sz="2400" b="1" i="1"/>
              <a:t>configure terminal</a:t>
            </a:r>
            <a:r>
              <a:rPr lang="en-US" sz="2400"/>
              <a:t> (có thể gõ tắt là: </a:t>
            </a:r>
            <a:r>
              <a:rPr lang="en-US" sz="2400" b="1" i="1"/>
              <a:t>config t</a:t>
            </a:r>
            <a:r>
              <a:rPr lang="en-US" sz="2400"/>
              <a:t>)</a:t>
            </a:r>
          </a:p>
          <a:p>
            <a:pPr>
              <a:buFont typeface="Wingdings" panose="05000000000000000000" pitchFamily="2" charset="2"/>
              <a:buNone/>
            </a:pPr>
            <a:r>
              <a:rPr lang="en-US" b="1" i="1"/>
              <a:t>Router# configure terminal</a:t>
            </a:r>
          </a:p>
          <a:p>
            <a:pPr>
              <a:buFont typeface="Wingdings" panose="05000000000000000000" pitchFamily="2" charset="2"/>
              <a:buNone/>
            </a:pPr>
            <a:r>
              <a:rPr lang="en-US" b="1" i="1"/>
              <a:t>Router(config)#</a:t>
            </a:r>
          </a:p>
          <a:p>
            <a:pPr lvl="1"/>
            <a:r>
              <a:rPr lang="en-US" sz="2400"/>
              <a:t>Để trở lại mode trước đó, ta dùng lệnh </a:t>
            </a:r>
            <a:r>
              <a:rPr lang="en-US" sz="2400" b="1" i="1"/>
              <a:t>exit</a:t>
            </a:r>
          </a:p>
          <a:p>
            <a:pPr>
              <a:buFont typeface="Wingdings" panose="05000000000000000000" pitchFamily="2" charset="2"/>
              <a:buNone/>
            </a:pPr>
            <a:r>
              <a:rPr lang="en-US" b="1" i="1"/>
              <a:t>Router# exit</a:t>
            </a:r>
          </a:p>
          <a:p>
            <a:pPr>
              <a:buFont typeface="Wingdings" panose="05000000000000000000" pitchFamily="2" charset="2"/>
              <a:buNone/>
            </a:pPr>
            <a:r>
              <a:rPr lang="en-US" b="1" i="1"/>
              <a:t>Router&gt;</a:t>
            </a:r>
          </a:p>
        </p:txBody>
      </p:sp>
    </p:spTree>
    <p:extLst>
      <p:ext uri="{BB962C8B-B14F-4D97-AF65-F5344CB8AC3E}">
        <p14:creationId xmlns:p14="http://schemas.microsoft.com/office/powerpoint/2010/main" val="1425263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II. MỘT SỐ THAO TÁC CƠ BẢN</a:t>
            </a:r>
          </a:p>
        </p:txBody>
      </p:sp>
      <p:sp>
        <p:nvSpPr>
          <p:cNvPr id="22531" name="Content Placeholder 2"/>
          <p:cNvSpPr>
            <a:spLocks noGrp="1"/>
          </p:cNvSpPr>
          <p:nvPr>
            <p:ph idx="1"/>
          </p:nvPr>
        </p:nvSpPr>
        <p:spPr>
          <a:xfrm>
            <a:off x="334851" y="1035672"/>
            <a:ext cx="11513712" cy="4648200"/>
          </a:xfrm>
        </p:spPr>
        <p:txBody>
          <a:bodyPr/>
          <a:lstStyle/>
          <a:p>
            <a:r>
              <a:rPr lang="en-US" u="sng" dirty="0" err="1"/>
              <a:t>Đặt</a:t>
            </a:r>
            <a:r>
              <a:rPr lang="en-US" u="sng" dirty="0"/>
              <a:t> password </a:t>
            </a:r>
            <a:r>
              <a:rPr lang="en-US" u="sng" dirty="0" err="1"/>
              <a:t>cho</a:t>
            </a:r>
            <a:r>
              <a:rPr lang="en-US" u="sng" dirty="0"/>
              <a:t> Router</a:t>
            </a:r>
          </a:p>
          <a:p>
            <a:pPr algn="just">
              <a:buFont typeface="Wingdings" panose="05000000000000000000" pitchFamily="2" charset="2"/>
              <a:buNone/>
            </a:pPr>
            <a:r>
              <a:rPr lang="en-US" dirty="0" err="1"/>
              <a:t>Vì</a:t>
            </a:r>
            <a:r>
              <a:rPr lang="en-US" dirty="0"/>
              <a:t> </a:t>
            </a:r>
            <a:r>
              <a:rPr lang="en-US" dirty="0" err="1"/>
              <a:t>lý</a:t>
            </a:r>
            <a:r>
              <a:rPr lang="en-US" dirty="0"/>
              <a:t> do </a:t>
            </a:r>
            <a:r>
              <a:rPr lang="en-US" dirty="0" err="1"/>
              <a:t>bảo</a:t>
            </a:r>
            <a:r>
              <a:rPr lang="en-US" dirty="0"/>
              <a:t> </a:t>
            </a:r>
            <a:r>
              <a:rPr lang="en-US" dirty="0" err="1"/>
              <a:t>mật</a:t>
            </a:r>
            <a:r>
              <a:rPr lang="en-US" dirty="0"/>
              <a:t>, ta </a:t>
            </a:r>
            <a:r>
              <a:rPr lang="en-US" dirty="0" err="1"/>
              <a:t>sẽ</a:t>
            </a:r>
            <a:r>
              <a:rPr lang="en-US" dirty="0"/>
              <a:t> </a:t>
            </a:r>
            <a:r>
              <a:rPr lang="en-US" dirty="0" err="1"/>
              <a:t>đặt</a:t>
            </a:r>
            <a:r>
              <a:rPr lang="en-US" dirty="0"/>
              <a:t> </a:t>
            </a:r>
            <a:r>
              <a:rPr lang="en-US" dirty="0" err="1"/>
              <a:t>mật</a:t>
            </a:r>
            <a:r>
              <a:rPr lang="en-US" dirty="0"/>
              <a:t> </a:t>
            </a:r>
            <a:r>
              <a:rPr lang="en-US" dirty="0" err="1"/>
              <a:t>khẩu</a:t>
            </a:r>
            <a:r>
              <a:rPr lang="en-US" dirty="0"/>
              <a:t> </a:t>
            </a:r>
            <a:r>
              <a:rPr lang="en-US" dirty="0" err="1"/>
              <a:t>cho</a:t>
            </a:r>
            <a:r>
              <a:rPr lang="en-US" dirty="0"/>
              <a:t> </a:t>
            </a:r>
            <a:r>
              <a:rPr lang="en-US" dirty="0" err="1"/>
              <a:t>các</a:t>
            </a:r>
            <a:r>
              <a:rPr lang="en-US" dirty="0"/>
              <a:t> mode </a:t>
            </a:r>
            <a:r>
              <a:rPr lang="en-US" dirty="0" err="1"/>
              <a:t>cấu</a:t>
            </a:r>
            <a:r>
              <a:rPr lang="en-US" dirty="0"/>
              <a:t> </a:t>
            </a:r>
            <a:r>
              <a:rPr lang="en-US" dirty="0" err="1"/>
              <a:t>hình</a:t>
            </a:r>
            <a:r>
              <a:rPr lang="en-US" dirty="0"/>
              <a:t>. </a:t>
            </a:r>
            <a:r>
              <a:rPr lang="en-US" dirty="0" err="1"/>
              <a:t>Điều</a:t>
            </a:r>
            <a:r>
              <a:rPr lang="en-US" dirty="0"/>
              <a:t> </a:t>
            </a:r>
            <a:r>
              <a:rPr lang="en-US" dirty="0" err="1"/>
              <a:t>này</a:t>
            </a:r>
            <a:r>
              <a:rPr lang="en-US" dirty="0"/>
              <a:t> </a:t>
            </a:r>
            <a:r>
              <a:rPr lang="en-US" dirty="0" err="1"/>
              <a:t>có</a:t>
            </a:r>
            <a:r>
              <a:rPr lang="en-US" dirty="0"/>
              <a:t> </a:t>
            </a:r>
            <a:r>
              <a:rPr lang="en-US" dirty="0" err="1"/>
              <a:t>nghĩa</a:t>
            </a:r>
            <a:r>
              <a:rPr lang="en-US" dirty="0"/>
              <a:t> </a:t>
            </a:r>
            <a:r>
              <a:rPr lang="en-US" dirty="0" err="1"/>
              <a:t>là</a:t>
            </a:r>
            <a:r>
              <a:rPr lang="en-US" dirty="0"/>
              <a:t> </a:t>
            </a:r>
            <a:r>
              <a:rPr lang="en-US" dirty="0" err="1"/>
              <a:t>mỗi</a:t>
            </a:r>
            <a:r>
              <a:rPr lang="en-US" dirty="0"/>
              <a:t> </a:t>
            </a:r>
            <a:r>
              <a:rPr lang="en-US" dirty="0" err="1"/>
              <a:t>khi</a:t>
            </a:r>
            <a:r>
              <a:rPr lang="en-US" dirty="0"/>
              <a:t> </a:t>
            </a:r>
            <a:r>
              <a:rPr lang="en-US" dirty="0" err="1"/>
              <a:t>đăng</a:t>
            </a:r>
            <a:r>
              <a:rPr lang="en-US" dirty="0"/>
              <a:t> </a:t>
            </a:r>
            <a:r>
              <a:rPr lang="en-US" dirty="0" err="1"/>
              <a:t>nhập</a:t>
            </a:r>
            <a:r>
              <a:rPr lang="en-US" dirty="0"/>
              <a:t> </a:t>
            </a:r>
            <a:r>
              <a:rPr lang="en-US" dirty="0" err="1"/>
              <a:t>vào</a:t>
            </a:r>
            <a:r>
              <a:rPr lang="en-US" dirty="0"/>
              <a:t> </a:t>
            </a:r>
            <a:r>
              <a:rPr lang="en-US" dirty="0" err="1"/>
              <a:t>một</a:t>
            </a:r>
            <a:r>
              <a:rPr lang="en-US" dirty="0"/>
              <a:t> mode </a:t>
            </a:r>
            <a:r>
              <a:rPr lang="en-US" dirty="0" err="1"/>
              <a:t>thì</a:t>
            </a:r>
            <a:r>
              <a:rPr lang="en-US" dirty="0"/>
              <a:t> IOS </a:t>
            </a:r>
            <a:r>
              <a:rPr lang="en-US" dirty="0" err="1"/>
              <a:t>sẽ</a:t>
            </a:r>
            <a:r>
              <a:rPr lang="en-US" dirty="0"/>
              <a:t> </a:t>
            </a:r>
            <a:r>
              <a:rPr lang="en-US" dirty="0" err="1"/>
              <a:t>yêu</a:t>
            </a:r>
            <a:r>
              <a:rPr lang="en-US" dirty="0"/>
              <a:t> </a:t>
            </a:r>
            <a:r>
              <a:rPr lang="en-US" dirty="0" err="1"/>
              <a:t>cầu</a:t>
            </a:r>
            <a:r>
              <a:rPr lang="en-US" dirty="0"/>
              <a:t> </a:t>
            </a:r>
            <a:r>
              <a:rPr lang="en-US" dirty="0" err="1"/>
              <a:t>chúng</a:t>
            </a:r>
            <a:r>
              <a:rPr lang="en-US" dirty="0"/>
              <a:t> ta </a:t>
            </a:r>
            <a:r>
              <a:rPr lang="en-US" dirty="0" err="1"/>
              <a:t>nhập</a:t>
            </a:r>
            <a:r>
              <a:rPr lang="en-US" dirty="0"/>
              <a:t> </a:t>
            </a:r>
            <a:r>
              <a:rPr lang="en-US" dirty="0" err="1"/>
              <a:t>vào</a:t>
            </a:r>
            <a:r>
              <a:rPr lang="en-US" dirty="0"/>
              <a:t> password.</a:t>
            </a:r>
          </a:p>
          <a:p>
            <a:pPr>
              <a:buFont typeface="Wingdings" panose="05000000000000000000" pitchFamily="2" charset="2"/>
              <a:buNone/>
            </a:pPr>
            <a:r>
              <a:rPr lang="en-US" dirty="0" err="1"/>
              <a:t>Nếu</a:t>
            </a:r>
            <a:r>
              <a:rPr lang="en-US" dirty="0"/>
              <a:t> password </a:t>
            </a:r>
            <a:r>
              <a:rPr lang="en-US" dirty="0" err="1"/>
              <a:t>đúng</a:t>
            </a:r>
            <a:r>
              <a:rPr lang="en-US" dirty="0"/>
              <a:t> </a:t>
            </a:r>
            <a:r>
              <a:rPr lang="en-US" dirty="0" err="1"/>
              <a:t>thì</a:t>
            </a:r>
            <a:r>
              <a:rPr lang="en-US" dirty="0"/>
              <a:t> </a:t>
            </a:r>
            <a:r>
              <a:rPr lang="en-US" dirty="0" err="1"/>
              <a:t>mới</a:t>
            </a:r>
            <a:r>
              <a:rPr lang="en-US" dirty="0"/>
              <a:t> </a:t>
            </a:r>
            <a:r>
              <a:rPr lang="en-US" dirty="0" err="1"/>
              <a:t>có</a:t>
            </a:r>
            <a:r>
              <a:rPr lang="en-US" dirty="0"/>
              <a:t> </a:t>
            </a:r>
            <a:r>
              <a:rPr lang="en-US" dirty="0" err="1"/>
              <a:t>thể</a:t>
            </a:r>
            <a:r>
              <a:rPr lang="en-US" dirty="0"/>
              <a:t> </a:t>
            </a:r>
            <a:r>
              <a:rPr lang="en-US" dirty="0" err="1"/>
              <a:t>vào</a:t>
            </a:r>
            <a:r>
              <a:rPr lang="en-US" dirty="0"/>
              <a:t> mode </a:t>
            </a:r>
            <a:r>
              <a:rPr lang="en-US" dirty="0" err="1"/>
              <a:t>này</a:t>
            </a:r>
            <a:r>
              <a:rPr lang="en-US" dirty="0"/>
              <a:t>.</a:t>
            </a:r>
          </a:p>
          <a:p>
            <a:pPr>
              <a:buFont typeface="Wingdings" panose="05000000000000000000" pitchFamily="2" charset="2"/>
              <a:buNone/>
            </a:pPr>
            <a:r>
              <a:rPr lang="en-US" dirty="0" err="1"/>
              <a:t>Chúng</a:t>
            </a:r>
            <a:r>
              <a:rPr lang="en-US" dirty="0"/>
              <a:t> ta </a:t>
            </a:r>
            <a:r>
              <a:rPr lang="en-US" dirty="0" err="1"/>
              <a:t>sẽ</a:t>
            </a:r>
            <a:r>
              <a:rPr lang="en-US" dirty="0"/>
              <a:t> </a:t>
            </a:r>
            <a:r>
              <a:rPr lang="en-US" dirty="0" err="1"/>
              <a:t>thực</a:t>
            </a:r>
            <a:r>
              <a:rPr lang="en-US" dirty="0"/>
              <a:t> </a:t>
            </a:r>
            <a:r>
              <a:rPr lang="en-US" dirty="0" err="1"/>
              <a:t>thi</a:t>
            </a:r>
            <a:r>
              <a:rPr lang="en-US" dirty="0"/>
              <a:t> </a:t>
            </a:r>
            <a:r>
              <a:rPr lang="en-US" dirty="0" err="1"/>
              <a:t>việc</a:t>
            </a:r>
            <a:r>
              <a:rPr lang="en-US" dirty="0"/>
              <a:t> </a:t>
            </a:r>
            <a:r>
              <a:rPr lang="en-US" dirty="0" err="1"/>
              <a:t>đặt</a:t>
            </a:r>
            <a:r>
              <a:rPr lang="en-US" dirty="0"/>
              <a:t> password </a:t>
            </a:r>
            <a:r>
              <a:rPr lang="en-US" dirty="0" err="1"/>
              <a:t>cho</a:t>
            </a:r>
            <a:r>
              <a:rPr lang="en-US" dirty="0"/>
              <a:t>:</a:t>
            </a:r>
          </a:p>
          <a:p>
            <a:pPr lvl="1">
              <a:lnSpc>
                <a:spcPct val="150000"/>
              </a:lnSpc>
            </a:pPr>
            <a:r>
              <a:rPr lang="en-US" sz="2400" dirty="0"/>
              <a:t>Console</a:t>
            </a:r>
          </a:p>
          <a:p>
            <a:pPr lvl="1">
              <a:lnSpc>
                <a:spcPct val="150000"/>
              </a:lnSpc>
            </a:pPr>
            <a:r>
              <a:rPr lang="en-US" sz="2400" dirty="0"/>
              <a:t>Enable mode</a:t>
            </a:r>
          </a:p>
          <a:p>
            <a:pPr lvl="1">
              <a:lnSpc>
                <a:spcPct val="150000"/>
              </a:lnSpc>
            </a:pPr>
            <a:r>
              <a:rPr lang="en-US" sz="2400" dirty="0" err="1"/>
              <a:t>Vty</a:t>
            </a:r>
            <a:r>
              <a:rPr lang="en-US" sz="2400" dirty="0"/>
              <a:t> (virtual terminal password)</a:t>
            </a:r>
          </a:p>
        </p:txBody>
      </p:sp>
    </p:spTree>
    <p:extLst>
      <p:ext uri="{BB962C8B-B14F-4D97-AF65-F5344CB8AC3E}">
        <p14:creationId xmlns:p14="http://schemas.microsoft.com/office/powerpoint/2010/main" val="2866181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II. MỘT SỐ THAO TÁC CƠ BẢN</a:t>
            </a:r>
          </a:p>
        </p:txBody>
      </p:sp>
      <p:sp>
        <p:nvSpPr>
          <p:cNvPr id="23555" name="Content Placeholder 2"/>
          <p:cNvSpPr>
            <a:spLocks noGrp="1"/>
          </p:cNvSpPr>
          <p:nvPr>
            <p:ph idx="1"/>
          </p:nvPr>
        </p:nvSpPr>
        <p:spPr>
          <a:xfrm>
            <a:off x="669702" y="1254617"/>
            <a:ext cx="10663707" cy="4953000"/>
          </a:xfrm>
        </p:spPr>
        <p:txBody>
          <a:bodyPr/>
          <a:lstStyle/>
          <a:p>
            <a:pPr marL="293688" lvl="1"/>
            <a:r>
              <a:rPr lang="en-US" sz="2400" b="1" i="1" dirty="0" err="1"/>
              <a:t>Đặt</a:t>
            </a:r>
            <a:r>
              <a:rPr lang="en-US" sz="2400" b="1" i="1" dirty="0"/>
              <a:t> password </a:t>
            </a:r>
            <a:r>
              <a:rPr lang="en-US" sz="2400" b="1" i="1" dirty="0" err="1"/>
              <a:t>cho</a:t>
            </a:r>
            <a:r>
              <a:rPr lang="en-US" sz="2400" b="1" i="1" dirty="0"/>
              <a:t> </a:t>
            </a:r>
            <a:r>
              <a:rPr lang="en-US" sz="2400" b="1" i="1" dirty="0" err="1"/>
              <a:t>cổng</a:t>
            </a:r>
            <a:r>
              <a:rPr lang="en-US" sz="2400" b="1" i="1" dirty="0"/>
              <a:t> console (console password)</a:t>
            </a:r>
          </a:p>
          <a:p>
            <a:pPr marL="293688" lvl="1">
              <a:lnSpc>
                <a:spcPct val="150000"/>
              </a:lnSpc>
              <a:buNone/>
            </a:pPr>
            <a:r>
              <a:rPr lang="en-US" sz="2400" u="sng" dirty="0"/>
              <a:t>Ý </a:t>
            </a:r>
            <a:r>
              <a:rPr lang="en-US" sz="2400" u="sng" dirty="0" err="1"/>
              <a:t>nghĩa</a:t>
            </a:r>
            <a:r>
              <a:rPr lang="en-US" sz="2400" u="sng" dirty="0"/>
              <a:t>: </a:t>
            </a:r>
            <a:r>
              <a:rPr lang="en-US" sz="2400" dirty="0" err="1"/>
              <a:t>Trước</a:t>
            </a:r>
            <a:r>
              <a:rPr lang="en-US" sz="2400" dirty="0"/>
              <a:t> </a:t>
            </a:r>
            <a:r>
              <a:rPr lang="en-US" sz="2400" dirty="0" err="1"/>
              <a:t>khi</a:t>
            </a:r>
            <a:r>
              <a:rPr lang="en-US" sz="2400" dirty="0"/>
              <a:t> </a:t>
            </a:r>
            <a:r>
              <a:rPr lang="en-US" sz="2400" dirty="0" err="1"/>
              <a:t>vào</a:t>
            </a:r>
            <a:r>
              <a:rPr lang="en-US" sz="2400" dirty="0"/>
              <a:t> user mode, IOS </a:t>
            </a:r>
            <a:r>
              <a:rPr lang="en-US" sz="2400" dirty="0" err="1"/>
              <a:t>sẽ</a:t>
            </a:r>
            <a:r>
              <a:rPr lang="en-US" sz="2400" dirty="0"/>
              <a:t> </a:t>
            </a:r>
            <a:r>
              <a:rPr lang="en-US" sz="2400" dirty="0" err="1"/>
              <a:t>yêu</a:t>
            </a:r>
            <a:r>
              <a:rPr lang="en-US" sz="2400" dirty="0"/>
              <a:t> </a:t>
            </a:r>
            <a:r>
              <a:rPr lang="en-US" sz="2400" dirty="0" err="1"/>
              <a:t>cầu</a:t>
            </a:r>
            <a:r>
              <a:rPr lang="en-US" sz="2400" dirty="0"/>
              <a:t> </a:t>
            </a:r>
            <a:r>
              <a:rPr lang="en-US" sz="2400" dirty="0" err="1"/>
              <a:t>nhập</a:t>
            </a:r>
            <a:r>
              <a:rPr lang="en-US" sz="2400" dirty="0"/>
              <a:t> password </a:t>
            </a:r>
            <a:r>
              <a:rPr lang="en-US" sz="2400" dirty="0" err="1"/>
              <a:t>để</a:t>
            </a:r>
            <a:r>
              <a:rPr lang="en-US" sz="2400" dirty="0"/>
              <a:t> </a:t>
            </a:r>
            <a:r>
              <a:rPr lang="en-US" sz="2400" dirty="0" err="1"/>
              <a:t>kiễm</a:t>
            </a:r>
            <a:r>
              <a:rPr lang="en-US" sz="2400" dirty="0"/>
              <a:t> </a:t>
            </a:r>
            <a:r>
              <a:rPr lang="en-US" sz="2400" dirty="0" err="1"/>
              <a:t>tra</a:t>
            </a:r>
            <a:r>
              <a:rPr lang="en-US" sz="2400" dirty="0"/>
              <a:t>.</a:t>
            </a:r>
          </a:p>
          <a:p>
            <a:pPr marL="293688" lvl="1">
              <a:lnSpc>
                <a:spcPct val="150000"/>
              </a:lnSpc>
              <a:buNone/>
            </a:pPr>
            <a:r>
              <a:rPr lang="en-US" sz="2400" u="sng" dirty="0" err="1"/>
              <a:t>Thực</a:t>
            </a:r>
            <a:r>
              <a:rPr lang="en-US" sz="2400" u="sng" dirty="0"/>
              <a:t> </a:t>
            </a:r>
            <a:r>
              <a:rPr lang="en-US" sz="2400" u="sng" dirty="0" err="1"/>
              <a:t>hiện</a:t>
            </a:r>
            <a:r>
              <a:rPr lang="en-US" sz="2400" u="sng" dirty="0"/>
              <a:t>:</a:t>
            </a:r>
          </a:p>
          <a:p>
            <a:pPr marL="293688" lvl="1">
              <a:buNone/>
            </a:pPr>
            <a:r>
              <a:rPr lang="en-US" sz="2400" b="1" i="1" dirty="0"/>
              <a:t>Router&gt; enable</a:t>
            </a:r>
          </a:p>
          <a:p>
            <a:pPr marL="293688" lvl="1">
              <a:buNone/>
            </a:pPr>
            <a:r>
              <a:rPr lang="en-US" sz="2400" b="1" i="1" dirty="0"/>
              <a:t>Router# configure terminal</a:t>
            </a:r>
          </a:p>
          <a:p>
            <a:pPr marL="293688" lvl="1">
              <a:buNone/>
            </a:pPr>
            <a:r>
              <a:rPr lang="en-US" sz="2400" b="1" i="1" dirty="0"/>
              <a:t>Router(</a:t>
            </a:r>
            <a:r>
              <a:rPr lang="en-US" sz="2400" b="1" i="1" dirty="0" err="1"/>
              <a:t>config</a:t>
            </a:r>
            <a:r>
              <a:rPr lang="en-US" sz="2400" b="1" i="1" dirty="0"/>
              <a:t>)# line console 0</a:t>
            </a:r>
          </a:p>
          <a:p>
            <a:pPr marL="293688" lvl="1">
              <a:buNone/>
            </a:pPr>
            <a:r>
              <a:rPr lang="en-US" sz="2400" b="1" i="1" dirty="0"/>
              <a:t>Router(</a:t>
            </a:r>
            <a:r>
              <a:rPr lang="en-US" sz="2400" b="1" i="1" dirty="0" err="1"/>
              <a:t>config</a:t>
            </a:r>
            <a:r>
              <a:rPr lang="en-US" sz="2400" b="1" i="1" dirty="0"/>
              <a:t>-line)# password cisco  </a:t>
            </a:r>
            <a:r>
              <a:rPr lang="en-US" sz="2400" dirty="0"/>
              <a:t>-&gt; Pass: cisco</a:t>
            </a:r>
          </a:p>
          <a:p>
            <a:pPr marL="293688" lvl="1">
              <a:buNone/>
            </a:pPr>
            <a:r>
              <a:rPr lang="en-US" sz="2400" b="1" i="1" dirty="0"/>
              <a:t>Router(</a:t>
            </a:r>
            <a:r>
              <a:rPr lang="en-US" sz="2400" b="1" i="1" dirty="0" err="1"/>
              <a:t>config</a:t>
            </a:r>
            <a:r>
              <a:rPr lang="en-US" sz="2400" b="1" i="1" dirty="0"/>
              <a:t>-line)# login</a:t>
            </a:r>
          </a:p>
          <a:p>
            <a:pPr marL="293688" lvl="1">
              <a:buNone/>
            </a:pPr>
            <a:r>
              <a:rPr lang="en-US" sz="2400" b="1" i="1" dirty="0"/>
              <a:t>Router(</a:t>
            </a:r>
            <a:r>
              <a:rPr lang="en-US" sz="2400" b="1" i="1" dirty="0" err="1"/>
              <a:t>config</a:t>
            </a:r>
            <a:r>
              <a:rPr lang="en-US" sz="2400" b="1" i="1" dirty="0"/>
              <a:t>-line)# exit</a:t>
            </a:r>
            <a:endParaRPr lang="en-US" sz="2400" dirty="0"/>
          </a:p>
        </p:txBody>
      </p:sp>
    </p:spTree>
    <p:extLst>
      <p:ext uri="{BB962C8B-B14F-4D97-AF65-F5344CB8AC3E}">
        <p14:creationId xmlns:p14="http://schemas.microsoft.com/office/powerpoint/2010/main" val="31234822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II. MỘT SỐ THAO TÁC CƠ BẢN</a:t>
            </a:r>
          </a:p>
        </p:txBody>
      </p:sp>
      <p:sp>
        <p:nvSpPr>
          <p:cNvPr id="20483" name="Content Placeholder 2"/>
          <p:cNvSpPr>
            <a:spLocks noGrp="1"/>
          </p:cNvSpPr>
          <p:nvPr>
            <p:ph idx="1"/>
          </p:nvPr>
        </p:nvSpPr>
        <p:spPr/>
        <p:txBody>
          <a:bodyPr/>
          <a:lstStyle/>
          <a:p>
            <a:pPr lvl="1">
              <a:defRPr/>
            </a:pPr>
            <a:r>
              <a:rPr lang="en-US" sz="2400" b="1" i="1"/>
              <a:t>Đặt password cho enable mode</a:t>
            </a:r>
          </a:p>
          <a:p>
            <a:pPr marL="285750" lvl="1">
              <a:lnSpc>
                <a:spcPct val="150000"/>
              </a:lnSpc>
              <a:buNone/>
              <a:defRPr/>
            </a:pPr>
            <a:r>
              <a:rPr lang="en-US" sz="2400" b="1" i="1"/>
              <a:t>Router(config)# enable password cisco</a:t>
            </a:r>
          </a:p>
          <a:p>
            <a:pPr marL="285750" lvl="1">
              <a:buNone/>
              <a:defRPr/>
            </a:pPr>
            <a:r>
              <a:rPr lang="en-US" sz="2400">
                <a:solidFill>
                  <a:srgbClr val="FF0000"/>
                </a:solidFill>
              </a:rPr>
              <a:t>Hoặc</a:t>
            </a:r>
          </a:p>
          <a:p>
            <a:pPr marL="285750" lvl="1">
              <a:lnSpc>
                <a:spcPct val="150000"/>
              </a:lnSpc>
              <a:buNone/>
              <a:defRPr/>
            </a:pPr>
            <a:r>
              <a:rPr lang="en-US" sz="2400" b="1" i="1"/>
              <a:t>Router(config)# enable secret cisco</a:t>
            </a:r>
          </a:p>
          <a:p>
            <a:pPr marL="285750" lvl="1">
              <a:buNone/>
              <a:defRPr/>
            </a:pPr>
            <a:r>
              <a:rPr lang="en-US" sz="2400" u="sng"/>
              <a:t>Chú ý:</a:t>
            </a:r>
          </a:p>
          <a:p>
            <a:pPr marL="285750" lvl="1" algn="just">
              <a:buNone/>
              <a:defRPr/>
            </a:pPr>
            <a:r>
              <a:rPr lang="en-US" sz="2400"/>
              <a:t>Nếu sử dụng cả hai câu lệnh này, thì password của câu lệnh thứ 2 (enable secret) mạnh hơn, có nghĩa là nó sẽ được sử dụng.</a:t>
            </a:r>
          </a:p>
          <a:p>
            <a:pPr marL="285750" lvl="1">
              <a:buNone/>
              <a:defRPr/>
            </a:pPr>
            <a:endParaRPr lang="en-US" sz="2400"/>
          </a:p>
          <a:p>
            <a:pPr marL="285750" lvl="1">
              <a:buNone/>
              <a:defRPr/>
            </a:pPr>
            <a:endParaRPr lang="en-US" sz="2400" b="1" i="1"/>
          </a:p>
          <a:p>
            <a:pPr lvl="1">
              <a:buFont typeface="Wingdings" panose="05000000000000000000" pitchFamily="2" charset="2"/>
              <a:buNone/>
              <a:defRPr/>
            </a:pPr>
            <a:endParaRPr lang="en-US" sz="2400" b="1" i="1"/>
          </a:p>
          <a:p>
            <a:pPr lvl="1">
              <a:defRPr/>
            </a:pPr>
            <a:endParaRPr lang="en-US" sz="2400"/>
          </a:p>
        </p:txBody>
      </p:sp>
    </p:spTree>
    <p:extLst>
      <p:ext uri="{BB962C8B-B14F-4D97-AF65-F5344CB8AC3E}">
        <p14:creationId xmlns:p14="http://schemas.microsoft.com/office/powerpoint/2010/main" val="1893231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II. MỘT SỐ THAO TÁC CƠ BẢN</a:t>
            </a:r>
          </a:p>
        </p:txBody>
      </p:sp>
      <p:sp>
        <p:nvSpPr>
          <p:cNvPr id="21507" name="Content Placeholder 2"/>
          <p:cNvSpPr>
            <a:spLocks noGrp="1"/>
          </p:cNvSpPr>
          <p:nvPr>
            <p:ph idx="1"/>
          </p:nvPr>
        </p:nvSpPr>
        <p:spPr>
          <a:xfrm>
            <a:off x="1905000" y="1447800"/>
            <a:ext cx="8382000" cy="4648200"/>
          </a:xfrm>
        </p:spPr>
        <p:txBody>
          <a:bodyPr/>
          <a:lstStyle/>
          <a:p>
            <a:pPr lvl="1">
              <a:defRPr/>
            </a:pPr>
            <a:r>
              <a:rPr lang="en-US" sz="2400" b="1"/>
              <a:t>Đặt password cho truy cập Router từ xa:</a:t>
            </a:r>
          </a:p>
          <a:p>
            <a:pPr lvl="1">
              <a:buFont typeface="Wingdings" panose="05000000000000000000" pitchFamily="2" charset="2"/>
              <a:buNone/>
              <a:defRPr/>
            </a:pPr>
            <a:r>
              <a:rPr lang="en-US" sz="2400" b="1"/>
              <a:t>	(virtual terminal password)</a:t>
            </a:r>
          </a:p>
          <a:p>
            <a:pPr marL="347663" lvl="1">
              <a:buNone/>
              <a:defRPr/>
            </a:pPr>
            <a:r>
              <a:rPr lang="en-US" sz="2400" b="1" i="1"/>
              <a:t>Router(config)# line vty 0 – 4 </a:t>
            </a:r>
          </a:p>
          <a:p>
            <a:pPr marL="347663" lvl="1">
              <a:buNone/>
              <a:defRPr/>
            </a:pPr>
            <a:r>
              <a:rPr lang="en-US" sz="2400" b="1" i="1"/>
              <a:t>Router(config-line)# password cisco</a:t>
            </a:r>
          </a:p>
          <a:p>
            <a:pPr marL="347663" lvl="1">
              <a:buNone/>
              <a:defRPr/>
            </a:pPr>
            <a:r>
              <a:rPr lang="en-US" sz="2400" b="1" i="1"/>
              <a:t>Router(config-line)# login</a:t>
            </a:r>
          </a:p>
          <a:p>
            <a:pPr marL="347663" lvl="1">
              <a:buNone/>
              <a:defRPr/>
            </a:pPr>
            <a:r>
              <a:rPr lang="en-US" sz="2400" b="1" i="1"/>
              <a:t>Router(config-line)# exit</a:t>
            </a:r>
            <a:endParaRPr lang="en-US" sz="2400" b="1"/>
          </a:p>
        </p:txBody>
      </p:sp>
    </p:spTree>
    <p:extLst>
      <p:ext uri="{BB962C8B-B14F-4D97-AF65-F5344CB8AC3E}">
        <p14:creationId xmlns:p14="http://schemas.microsoft.com/office/powerpoint/2010/main" val="3148440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II. MỘT SỐ THAO TÁC CƠ BẢN</a:t>
            </a:r>
          </a:p>
        </p:txBody>
      </p:sp>
      <p:sp>
        <p:nvSpPr>
          <p:cNvPr id="26627" name="Content Placeholder 2"/>
          <p:cNvSpPr>
            <a:spLocks noGrp="1"/>
          </p:cNvSpPr>
          <p:nvPr>
            <p:ph idx="1"/>
          </p:nvPr>
        </p:nvSpPr>
        <p:spPr>
          <a:xfrm>
            <a:off x="1981200" y="990600"/>
            <a:ext cx="8458200" cy="5334000"/>
          </a:xfrm>
        </p:spPr>
        <p:txBody>
          <a:bodyPr/>
          <a:lstStyle/>
          <a:p>
            <a:pPr>
              <a:buFont typeface="Wingdings" panose="05000000000000000000" pitchFamily="2" charset="2"/>
              <a:buNone/>
            </a:pPr>
            <a:r>
              <a:rPr lang="en-US"/>
              <a:t>Ví dụ minh họa:(Configuring a Router Password)</a:t>
            </a:r>
          </a:p>
          <a:p>
            <a:pPr>
              <a:buFont typeface="Wingdings" panose="05000000000000000000" pitchFamily="2" charset="2"/>
              <a:buNone/>
            </a:pPr>
            <a:r>
              <a:rPr lang="en-US"/>
              <a:t> </a:t>
            </a:r>
          </a:p>
        </p:txBody>
      </p:sp>
      <p:pic>
        <p:nvPicPr>
          <p:cNvPr id="26630" name="Picture 26" descr="301P_9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430338"/>
            <a:ext cx="7310438" cy="497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94262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II. MỘT SỐ THAO TÁC CƠ BẢN</a:t>
            </a:r>
          </a:p>
        </p:txBody>
      </p:sp>
      <p:sp>
        <p:nvSpPr>
          <p:cNvPr id="27651" name="Content Placeholder 2"/>
          <p:cNvSpPr>
            <a:spLocks noGrp="1"/>
          </p:cNvSpPr>
          <p:nvPr>
            <p:ph idx="1"/>
          </p:nvPr>
        </p:nvSpPr>
        <p:spPr>
          <a:xfrm>
            <a:off x="553791" y="1004552"/>
            <a:ext cx="11230377" cy="5512158"/>
          </a:xfrm>
        </p:spPr>
        <p:txBody>
          <a:bodyPr/>
          <a:lstStyle/>
          <a:p>
            <a:r>
              <a:rPr lang="en-US" sz="2000" u="sng" dirty="0" err="1"/>
              <a:t>Phím</a:t>
            </a:r>
            <a:r>
              <a:rPr lang="en-US" sz="2000" u="sng" dirty="0"/>
              <a:t> </a:t>
            </a:r>
            <a:r>
              <a:rPr lang="en-US" sz="2000" u="sng" dirty="0" err="1"/>
              <a:t>tắt</a:t>
            </a:r>
            <a:r>
              <a:rPr lang="en-US" sz="2000" u="sng" dirty="0"/>
              <a:t>:</a:t>
            </a:r>
          </a:p>
          <a:p>
            <a:pPr lvl="1"/>
            <a:r>
              <a:rPr lang="en-US" sz="2000" dirty="0"/>
              <a:t>Ctrl-A: Di </a:t>
            </a:r>
            <a:r>
              <a:rPr lang="en-US" sz="2000" dirty="0" err="1"/>
              <a:t>chuyển</a:t>
            </a:r>
            <a:r>
              <a:rPr lang="en-US" sz="2000" dirty="0"/>
              <a:t> con </a:t>
            </a:r>
            <a:r>
              <a:rPr lang="en-US" sz="2000" dirty="0" err="1"/>
              <a:t>trỏ</a:t>
            </a:r>
            <a:r>
              <a:rPr lang="en-US" sz="2000" dirty="0"/>
              <a:t> </a:t>
            </a:r>
            <a:r>
              <a:rPr lang="en-US" sz="2000" dirty="0" err="1"/>
              <a:t>về</a:t>
            </a:r>
            <a:r>
              <a:rPr lang="en-US" sz="2000" dirty="0"/>
              <a:t> </a:t>
            </a:r>
            <a:r>
              <a:rPr lang="en-US" sz="2000" dirty="0" err="1"/>
              <a:t>đầu</a:t>
            </a:r>
            <a:r>
              <a:rPr lang="en-US" sz="2000" dirty="0"/>
              <a:t> </a:t>
            </a:r>
            <a:r>
              <a:rPr lang="en-US" sz="2000" dirty="0" err="1"/>
              <a:t>dòng</a:t>
            </a:r>
            <a:endParaRPr lang="en-US" sz="2000" dirty="0"/>
          </a:p>
          <a:p>
            <a:pPr lvl="1"/>
            <a:r>
              <a:rPr lang="en-US" sz="2000" dirty="0"/>
              <a:t>Ctrl-B: Di </a:t>
            </a:r>
            <a:r>
              <a:rPr lang="en-US" sz="2000" dirty="0" err="1"/>
              <a:t>chuyển</a:t>
            </a:r>
            <a:r>
              <a:rPr lang="en-US" sz="2000" dirty="0"/>
              <a:t> con </a:t>
            </a:r>
            <a:r>
              <a:rPr lang="en-US" sz="2000" dirty="0" err="1"/>
              <a:t>trỏ</a:t>
            </a:r>
            <a:r>
              <a:rPr lang="en-US" sz="2000" dirty="0"/>
              <a:t> </a:t>
            </a:r>
            <a:r>
              <a:rPr lang="en-US" sz="2000" dirty="0" err="1"/>
              <a:t>về</a:t>
            </a:r>
            <a:r>
              <a:rPr lang="en-US" sz="2000" dirty="0"/>
              <a:t> </a:t>
            </a:r>
            <a:r>
              <a:rPr lang="en-US" sz="2000" dirty="0" err="1"/>
              <a:t>sau</a:t>
            </a:r>
            <a:r>
              <a:rPr lang="en-US" sz="2000" dirty="0"/>
              <a:t> </a:t>
            </a:r>
            <a:r>
              <a:rPr lang="en-US" sz="2000" dirty="0" err="1"/>
              <a:t>một</a:t>
            </a:r>
            <a:r>
              <a:rPr lang="en-US" sz="2000" dirty="0"/>
              <a:t> </a:t>
            </a:r>
            <a:r>
              <a:rPr lang="en-US" sz="2000" dirty="0" err="1"/>
              <a:t>từ</a:t>
            </a:r>
            <a:r>
              <a:rPr lang="en-US" sz="2000" dirty="0"/>
              <a:t> (</a:t>
            </a:r>
            <a:r>
              <a:rPr lang="en-US" sz="2000" dirty="0" err="1"/>
              <a:t>hoặc</a:t>
            </a:r>
            <a:r>
              <a:rPr lang="en-US" sz="2000" dirty="0"/>
              <a:t> &lt;-)</a:t>
            </a:r>
          </a:p>
          <a:p>
            <a:pPr lvl="1"/>
            <a:r>
              <a:rPr lang="en-US" sz="2000" dirty="0"/>
              <a:t>Ctrl-E: Di </a:t>
            </a:r>
            <a:r>
              <a:rPr lang="en-US" sz="2000" dirty="0" err="1"/>
              <a:t>chuyển</a:t>
            </a:r>
            <a:r>
              <a:rPr lang="en-US" sz="2000" dirty="0"/>
              <a:t> con </a:t>
            </a:r>
            <a:r>
              <a:rPr lang="en-US" sz="2000" dirty="0" err="1"/>
              <a:t>trỏ</a:t>
            </a:r>
            <a:r>
              <a:rPr lang="en-US" sz="2000" dirty="0"/>
              <a:t> </a:t>
            </a:r>
            <a:r>
              <a:rPr lang="en-US" sz="2000" dirty="0" err="1"/>
              <a:t>về</a:t>
            </a:r>
            <a:r>
              <a:rPr lang="en-US" sz="2000" dirty="0"/>
              <a:t> </a:t>
            </a:r>
            <a:r>
              <a:rPr lang="en-US" sz="2000" dirty="0" err="1"/>
              <a:t>cuối</a:t>
            </a:r>
            <a:r>
              <a:rPr lang="en-US" sz="2000" dirty="0"/>
              <a:t> </a:t>
            </a:r>
            <a:r>
              <a:rPr lang="en-US" sz="2000" dirty="0" err="1"/>
              <a:t>dòng</a:t>
            </a:r>
            <a:endParaRPr lang="en-US" sz="2000" dirty="0"/>
          </a:p>
          <a:p>
            <a:pPr lvl="1"/>
            <a:r>
              <a:rPr lang="en-US" sz="2000" dirty="0"/>
              <a:t>Ctrl-Z: Di </a:t>
            </a:r>
            <a:r>
              <a:rPr lang="en-US" sz="2000" dirty="0" err="1"/>
              <a:t>chuyển</a:t>
            </a:r>
            <a:r>
              <a:rPr lang="en-US" sz="2000" dirty="0"/>
              <a:t> </a:t>
            </a:r>
            <a:r>
              <a:rPr lang="en-US" sz="2000" dirty="0" err="1"/>
              <a:t>từ</a:t>
            </a:r>
            <a:r>
              <a:rPr lang="en-US" sz="2000" dirty="0"/>
              <a:t> configure </a:t>
            </a:r>
            <a:r>
              <a:rPr lang="en-US" sz="2000" dirty="0" err="1"/>
              <a:t>về</a:t>
            </a:r>
            <a:r>
              <a:rPr lang="en-US" sz="2000" dirty="0"/>
              <a:t> </a:t>
            </a:r>
            <a:r>
              <a:rPr lang="en-US" sz="2000" dirty="0" err="1"/>
              <a:t>priviledge</a:t>
            </a:r>
            <a:r>
              <a:rPr lang="en-US" sz="2000" dirty="0"/>
              <a:t> mode</a:t>
            </a:r>
          </a:p>
          <a:p>
            <a:pPr lvl="1"/>
            <a:r>
              <a:rPr lang="en-US" sz="2000" dirty="0"/>
              <a:t>Ctrl-C: </a:t>
            </a:r>
            <a:r>
              <a:rPr lang="en-US" sz="2000" dirty="0" err="1"/>
              <a:t>Thoát</a:t>
            </a:r>
            <a:r>
              <a:rPr lang="en-US" sz="2000" dirty="0"/>
              <a:t> </a:t>
            </a:r>
            <a:r>
              <a:rPr lang="en-US" sz="2000" dirty="0" err="1"/>
              <a:t>ra</a:t>
            </a:r>
            <a:r>
              <a:rPr lang="en-US" sz="2000" dirty="0"/>
              <a:t> </a:t>
            </a:r>
            <a:r>
              <a:rPr lang="en-US" sz="2000" dirty="0" err="1"/>
              <a:t>ngoài</a:t>
            </a:r>
            <a:endParaRPr lang="en-US" sz="2000" dirty="0"/>
          </a:p>
          <a:p>
            <a:pPr>
              <a:lnSpc>
                <a:spcPct val="150000"/>
              </a:lnSpc>
            </a:pPr>
            <a:r>
              <a:rPr lang="en-US" sz="2000" u="sng" dirty="0"/>
              <a:t>Password Encryption(</a:t>
            </a:r>
            <a:r>
              <a:rPr lang="en-US" sz="2000" u="sng" dirty="0" err="1"/>
              <a:t>mã</a:t>
            </a:r>
            <a:r>
              <a:rPr lang="en-US" sz="2000" u="sng" dirty="0"/>
              <a:t> </a:t>
            </a:r>
            <a:r>
              <a:rPr lang="en-US" sz="2000" u="sng" dirty="0" err="1"/>
              <a:t>hóa</a:t>
            </a:r>
            <a:r>
              <a:rPr lang="en-US" sz="2000" u="sng" dirty="0"/>
              <a:t> password)</a:t>
            </a:r>
          </a:p>
          <a:p>
            <a:pPr>
              <a:lnSpc>
                <a:spcPct val="150000"/>
              </a:lnSpc>
              <a:buFont typeface="Wingdings" panose="05000000000000000000" pitchFamily="2" charset="2"/>
              <a:buNone/>
            </a:pPr>
            <a:r>
              <a:rPr lang="en-US" sz="2000" b="1" i="1" dirty="0"/>
              <a:t>Router(</a:t>
            </a:r>
            <a:r>
              <a:rPr lang="en-US" sz="2000" b="1" i="1" dirty="0" err="1"/>
              <a:t>config</a:t>
            </a:r>
            <a:r>
              <a:rPr lang="en-US" sz="2000" b="1" i="1" dirty="0"/>
              <a:t>)# service password-encryption </a:t>
            </a:r>
          </a:p>
          <a:p>
            <a:pPr>
              <a:lnSpc>
                <a:spcPct val="150000"/>
              </a:lnSpc>
              <a:buFont typeface="Wingdings" panose="05000000000000000000" pitchFamily="2" charset="2"/>
              <a:buNone/>
            </a:pPr>
            <a:r>
              <a:rPr lang="en-US" sz="2000" b="1" i="1" dirty="0"/>
              <a:t>Router(</a:t>
            </a:r>
            <a:r>
              <a:rPr lang="en-US" sz="2000" b="1" i="1" dirty="0" err="1"/>
              <a:t>config</a:t>
            </a:r>
            <a:r>
              <a:rPr lang="en-US" sz="2000" b="1" i="1" dirty="0"/>
              <a:t>)# no service password-encryption</a:t>
            </a:r>
          </a:p>
          <a:p>
            <a:pPr>
              <a:lnSpc>
                <a:spcPct val="150000"/>
              </a:lnSpc>
              <a:buFont typeface="Wingdings" panose="05000000000000000000" pitchFamily="2" charset="2"/>
              <a:buNone/>
            </a:pPr>
            <a:r>
              <a:rPr lang="en-US" sz="2000" i="1" dirty="0">
                <a:solidFill>
                  <a:srgbClr val="FF0000"/>
                </a:solidFill>
              </a:rPr>
              <a:t>(</a:t>
            </a:r>
            <a:r>
              <a:rPr lang="en-US" sz="2000" i="1" dirty="0" err="1">
                <a:solidFill>
                  <a:srgbClr val="FF0000"/>
                </a:solidFill>
              </a:rPr>
              <a:t>dùng</a:t>
            </a:r>
            <a:r>
              <a:rPr lang="en-US" sz="2000" i="1" dirty="0">
                <a:solidFill>
                  <a:srgbClr val="FF0000"/>
                </a:solidFill>
              </a:rPr>
              <a:t> </a:t>
            </a:r>
            <a:r>
              <a:rPr lang="en-US" sz="2000" i="1" dirty="0" err="1">
                <a:solidFill>
                  <a:srgbClr val="FF0000"/>
                </a:solidFill>
              </a:rPr>
              <a:t>để</a:t>
            </a:r>
            <a:r>
              <a:rPr lang="en-US" sz="2000" i="1" dirty="0">
                <a:solidFill>
                  <a:srgbClr val="FF0000"/>
                </a:solidFill>
              </a:rPr>
              <a:t> </a:t>
            </a:r>
            <a:r>
              <a:rPr lang="en-US" sz="2000" i="1" dirty="0" err="1">
                <a:solidFill>
                  <a:srgbClr val="FF0000"/>
                </a:solidFill>
              </a:rPr>
              <a:t>tắt</a:t>
            </a:r>
            <a:r>
              <a:rPr lang="en-US" sz="2000" i="1" dirty="0">
                <a:solidFill>
                  <a:srgbClr val="FF0000"/>
                </a:solidFill>
              </a:rPr>
              <a:t> password </a:t>
            </a:r>
            <a:r>
              <a:rPr lang="en-US" sz="2000" i="1" dirty="0" err="1">
                <a:solidFill>
                  <a:srgbClr val="FF0000"/>
                </a:solidFill>
              </a:rPr>
              <a:t>đã</a:t>
            </a:r>
            <a:r>
              <a:rPr lang="en-US" sz="2000" i="1" dirty="0">
                <a:solidFill>
                  <a:srgbClr val="FF0000"/>
                </a:solidFill>
              </a:rPr>
              <a:t> </a:t>
            </a:r>
            <a:r>
              <a:rPr lang="en-US" sz="2000" i="1" dirty="0" err="1">
                <a:solidFill>
                  <a:srgbClr val="FF0000"/>
                </a:solidFill>
              </a:rPr>
              <a:t>bị</a:t>
            </a:r>
            <a:r>
              <a:rPr lang="en-US" sz="2000" i="1" dirty="0">
                <a:solidFill>
                  <a:srgbClr val="FF0000"/>
                </a:solidFill>
              </a:rPr>
              <a:t> </a:t>
            </a:r>
            <a:r>
              <a:rPr lang="en-US" sz="2000" i="1" dirty="0" err="1">
                <a:solidFill>
                  <a:srgbClr val="FF0000"/>
                </a:solidFill>
              </a:rPr>
              <a:t>mã</a:t>
            </a:r>
            <a:r>
              <a:rPr lang="en-US" sz="2000" i="1" dirty="0">
                <a:solidFill>
                  <a:srgbClr val="FF0000"/>
                </a:solidFill>
              </a:rPr>
              <a:t> </a:t>
            </a:r>
            <a:r>
              <a:rPr lang="en-US" sz="2000" i="1" dirty="0" err="1">
                <a:solidFill>
                  <a:srgbClr val="FF0000"/>
                </a:solidFill>
              </a:rPr>
              <a:t>hóa</a:t>
            </a:r>
            <a:r>
              <a:rPr lang="en-US" sz="2000" i="1" dirty="0">
                <a:solidFill>
                  <a:srgbClr val="FF0000"/>
                </a:solidFill>
              </a:rPr>
              <a:t>)</a:t>
            </a:r>
          </a:p>
          <a:p>
            <a:pPr>
              <a:buFont typeface="Wingdings" panose="05000000000000000000" pitchFamily="2" charset="2"/>
              <a:buNone/>
            </a:pPr>
            <a:endParaRPr lang="en-US" sz="2000" dirty="0"/>
          </a:p>
          <a:p>
            <a:pPr>
              <a:buFont typeface="Wingdings" panose="05000000000000000000" pitchFamily="2" charset="2"/>
              <a:buNone/>
            </a:pPr>
            <a:endParaRPr lang="en-US" sz="2000" dirty="0"/>
          </a:p>
          <a:p>
            <a:pPr lvl="1">
              <a:buFont typeface="Wingdings" panose="05000000000000000000" pitchFamily="2" charset="2"/>
              <a:buNone/>
            </a:pPr>
            <a:endParaRPr lang="en-US" sz="2000" dirty="0"/>
          </a:p>
        </p:txBody>
      </p:sp>
    </p:spTree>
    <p:extLst>
      <p:ext uri="{BB962C8B-B14F-4D97-AF65-F5344CB8AC3E}">
        <p14:creationId xmlns:p14="http://schemas.microsoft.com/office/powerpoint/2010/main" val="12451041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14" tIns="41056" rIns="82114" bIns="41056" numCol="1" rtlCol="0" anchor="t" anchorCtr="0" compatLnSpc="1">
            <a:prstTxWarp prst="textNoShape">
              <a:avLst/>
            </a:prstTxWarp>
            <a:normAutofit/>
          </a:bodyPr>
          <a:lstStyle/>
          <a:p>
            <a:r>
              <a:rPr lang="en-US" sz="3200">
                <a:solidFill>
                  <a:srgbClr val="0070C0"/>
                </a:solidFill>
                <a:latin typeface="Courier New" pitchFamily="49" charset="0"/>
                <a:cs typeface="Courier New" pitchFamily="49" charset="0"/>
              </a:rPr>
              <a:t>Encrypt Password</a:t>
            </a:r>
          </a:p>
        </p:txBody>
      </p:sp>
      <p:sp>
        <p:nvSpPr>
          <p:cNvPr id="5" name="TextBox 4"/>
          <p:cNvSpPr txBox="1"/>
          <p:nvPr/>
        </p:nvSpPr>
        <p:spPr>
          <a:xfrm>
            <a:off x="1752600" y="1230717"/>
            <a:ext cx="9144000" cy="461653"/>
          </a:xfrm>
          <a:prstGeom prst="rect">
            <a:avLst/>
          </a:prstGeom>
          <a:noFill/>
        </p:spPr>
        <p:txBody>
          <a:bodyPr wrap="square" lIns="91428" tIns="45714" rIns="91428" bIns="45714" rtlCol="0">
            <a:spAutoFit/>
          </a:bodyPr>
          <a:lstStyle/>
          <a:p>
            <a:pPr algn="just" defTabSz="914285"/>
            <a:r>
              <a:rPr lang="en-US" sz="2400" dirty="0">
                <a:solidFill>
                  <a:srgbClr val="FF0000"/>
                </a:solidFill>
                <a:latin typeface="Courier New" pitchFamily="49" charset="0"/>
                <a:cs typeface="Courier New" pitchFamily="49" charset="0"/>
                <a:sym typeface="Wingdings" pitchFamily="2" charset="2"/>
              </a:rPr>
              <a:t>CT</a:t>
            </a:r>
            <a:r>
              <a:rPr lang="en-US" sz="2400" dirty="0">
                <a:solidFill>
                  <a:srgbClr val="0070C0"/>
                </a:solidFill>
                <a:latin typeface="Courier New" pitchFamily="49" charset="0"/>
                <a:cs typeface="Courier New" pitchFamily="49" charset="0"/>
              </a:rPr>
              <a:t>(config)#</a:t>
            </a:r>
            <a:r>
              <a:rPr lang="en-US" sz="2400" dirty="0">
                <a:solidFill>
                  <a:srgbClr val="000000"/>
                </a:solidFill>
                <a:latin typeface="Courier New" pitchFamily="49" charset="0"/>
                <a:cs typeface="Courier New" pitchFamily="49" charset="0"/>
              </a:rPr>
              <a:t> </a:t>
            </a:r>
            <a:r>
              <a:rPr lang="en-US" sz="2400" dirty="0">
                <a:solidFill>
                  <a:srgbClr val="C00000"/>
                </a:solidFill>
                <a:latin typeface="Courier New" pitchFamily="49" charset="0"/>
                <a:cs typeface="Courier New" pitchFamily="49" charset="0"/>
              </a:rPr>
              <a:t>service password-encryption</a:t>
            </a:r>
          </a:p>
        </p:txBody>
      </p:sp>
      <p:sp>
        <p:nvSpPr>
          <p:cNvPr id="10" name="TextBox 9"/>
          <p:cNvSpPr txBox="1"/>
          <p:nvPr/>
        </p:nvSpPr>
        <p:spPr>
          <a:xfrm>
            <a:off x="1847850" y="1852907"/>
            <a:ext cx="2133600" cy="461653"/>
          </a:xfrm>
          <a:prstGeom prst="rect">
            <a:avLst/>
          </a:prstGeom>
          <a:noFill/>
        </p:spPr>
        <p:txBody>
          <a:bodyPr wrap="square" lIns="91428" tIns="45714" rIns="91428" bIns="45714" rtlCol="0">
            <a:spAutoFit/>
          </a:bodyPr>
          <a:lstStyle/>
          <a:p>
            <a:pPr algn="just" defTabSz="914285"/>
            <a:r>
              <a:rPr lang="en-US" sz="2400" dirty="0">
                <a:solidFill>
                  <a:srgbClr val="FF0000"/>
                </a:solidFill>
                <a:latin typeface="Courier New" pitchFamily="49" charset="0"/>
                <a:cs typeface="Courier New" pitchFamily="49" charset="0"/>
                <a:sym typeface="Wingdings" pitchFamily="2" charset="2"/>
              </a:rPr>
              <a:t>CT</a:t>
            </a:r>
            <a:r>
              <a:rPr lang="en-US" sz="2400" dirty="0">
                <a:solidFill>
                  <a:srgbClr val="C00000"/>
                </a:solidFill>
                <a:latin typeface="Courier New" pitchFamily="49" charset="0"/>
                <a:cs typeface="Courier New" pitchFamily="49" charset="0"/>
              </a:rPr>
              <a:t> </a:t>
            </a:r>
            <a:r>
              <a:rPr lang="en-US" sz="2400" dirty="0">
                <a:solidFill>
                  <a:srgbClr val="000000"/>
                </a:solidFill>
                <a:latin typeface="Courier New" pitchFamily="49" charset="0"/>
                <a:cs typeface="Courier New" pitchFamily="49" charset="0"/>
              </a:rPr>
              <a:t># </a:t>
            </a:r>
            <a:endParaRPr lang="en-US" sz="2400" dirty="0">
              <a:solidFill>
                <a:srgbClr val="000000"/>
              </a:solidFill>
              <a:latin typeface="Courier New" pitchFamily="49" charset="0"/>
              <a:cs typeface="Courier New" pitchFamily="49" charset="0"/>
              <a:sym typeface="Wingdings" pitchFamily="2" charset="2"/>
            </a:endParaRPr>
          </a:p>
        </p:txBody>
      </p:sp>
      <p:sp>
        <p:nvSpPr>
          <p:cNvPr id="11" name="TextBox 10"/>
          <p:cNvSpPr txBox="1"/>
          <p:nvPr/>
        </p:nvSpPr>
        <p:spPr>
          <a:xfrm>
            <a:off x="3724275" y="1853008"/>
            <a:ext cx="3657600" cy="461653"/>
          </a:xfrm>
          <a:prstGeom prst="rect">
            <a:avLst/>
          </a:prstGeom>
          <a:noFill/>
        </p:spPr>
        <p:txBody>
          <a:bodyPr wrap="square" lIns="91428" tIns="45714" rIns="91428" bIns="45714" rtlCol="0">
            <a:spAutoFit/>
          </a:bodyPr>
          <a:lstStyle/>
          <a:p>
            <a:pPr algn="just" defTabSz="914285"/>
            <a:r>
              <a:rPr lang="en-US" sz="2400" dirty="0">
                <a:solidFill>
                  <a:srgbClr val="00B050"/>
                </a:solidFill>
                <a:latin typeface="Courier New" pitchFamily="49" charset="0"/>
                <a:cs typeface="Courier New" pitchFamily="49" charset="0"/>
              </a:rPr>
              <a:t>show running-config</a:t>
            </a:r>
            <a:endParaRPr lang="en-US" sz="2400" dirty="0">
              <a:solidFill>
                <a:srgbClr val="00B050"/>
              </a:solidFill>
              <a:latin typeface="Courier New" pitchFamily="49" charset="0"/>
              <a:cs typeface="Courier New" pitchFamily="49" charset="0"/>
              <a:sym typeface="Wingdings" pitchFamily="2" charset="2"/>
            </a:endParaRPr>
          </a:p>
        </p:txBody>
      </p:sp>
      <p:sp>
        <p:nvSpPr>
          <p:cNvPr id="12" name="TextBox 11"/>
          <p:cNvSpPr txBox="1"/>
          <p:nvPr/>
        </p:nvSpPr>
        <p:spPr>
          <a:xfrm>
            <a:off x="1798149" y="2329206"/>
            <a:ext cx="8915400" cy="4154971"/>
          </a:xfrm>
          <a:prstGeom prst="rect">
            <a:avLst/>
          </a:prstGeom>
          <a:noFill/>
        </p:spPr>
        <p:txBody>
          <a:bodyPr wrap="square" lIns="91428" tIns="45714" rIns="91428" bIns="45714" rtlCol="0">
            <a:spAutoFit/>
          </a:bodyPr>
          <a:lstStyle/>
          <a:p>
            <a:pPr algn="just" defTabSz="914285"/>
            <a:r>
              <a:rPr lang="en-US" sz="2400" dirty="0">
                <a:solidFill>
                  <a:srgbClr val="0070C0"/>
                </a:solidFill>
                <a:latin typeface="Courier New" pitchFamily="49" charset="0"/>
                <a:cs typeface="Courier New" pitchFamily="49" charset="0"/>
              </a:rPr>
              <a:t>Current configuration : 497 bytes</a:t>
            </a:r>
          </a:p>
          <a:p>
            <a:pPr algn="just" defTabSz="914285"/>
            <a:r>
              <a:rPr lang="en-US" sz="2400" dirty="0">
                <a:solidFill>
                  <a:srgbClr val="0070C0"/>
                </a:solidFill>
                <a:latin typeface="Courier New" pitchFamily="49" charset="0"/>
                <a:cs typeface="Courier New" pitchFamily="49" charset="0"/>
              </a:rPr>
              <a:t>!</a:t>
            </a:r>
          </a:p>
          <a:p>
            <a:pPr algn="just" defTabSz="914285"/>
            <a:r>
              <a:rPr lang="en-US" sz="2400" dirty="0">
                <a:solidFill>
                  <a:srgbClr val="0070C0"/>
                </a:solidFill>
                <a:latin typeface="Courier New" pitchFamily="49" charset="0"/>
                <a:cs typeface="Courier New" pitchFamily="49" charset="0"/>
              </a:rPr>
              <a:t>version 12.4</a:t>
            </a:r>
          </a:p>
          <a:p>
            <a:pPr algn="just" defTabSz="914285"/>
            <a:r>
              <a:rPr lang="en-US" sz="2400" dirty="0">
                <a:solidFill>
                  <a:srgbClr val="0070C0"/>
                </a:solidFill>
                <a:latin typeface="Courier New" pitchFamily="49" charset="0"/>
                <a:cs typeface="Courier New" pitchFamily="49" charset="0"/>
              </a:rPr>
              <a:t>!</a:t>
            </a:r>
          </a:p>
          <a:p>
            <a:pPr algn="just" defTabSz="914285"/>
            <a:r>
              <a:rPr lang="en-US" sz="2400" dirty="0">
                <a:solidFill>
                  <a:srgbClr val="0070C0"/>
                </a:solidFill>
                <a:latin typeface="Courier New" pitchFamily="49" charset="0"/>
                <a:cs typeface="Courier New" pitchFamily="49" charset="0"/>
              </a:rPr>
              <a:t>hostname </a:t>
            </a:r>
            <a:r>
              <a:rPr lang="en-US" sz="2400" dirty="0">
                <a:solidFill>
                  <a:srgbClr val="FF0000"/>
                </a:solidFill>
                <a:latin typeface="Courier New" pitchFamily="49" charset="0"/>
                <a:cs typeface="Courier New" pitchFamily="49" charset="0"/>
                <a:sym typeface="Wingdings" pitchFamily="2" charset="2"/>
              </a:rPr>
              <a:t>CT</a:t>
            </a:r>
            <a:endParaRPr lang="en-US" sz="2400" dirty="0">
              <a:solidFill>
                <a:srgbClr val="0070C0"/>
              </a:solidFill>
              <a:latin typeface="Courier New" pitchFamily="49" charset="0"/>
              <a:cs typeface="Courier New" pitchFamily="49" charset="0"/>
            </a:endParaRPr>
          </a:p>
          <a:p>
            <a:pPr algn="just" defTabSz="914285"/>
            <a:r>
              <a:rPr lang="en-US" sz="2400" dirty="0">
                <a:solidFill>
                  <a:srgbClr val="0070C0"/>
                </a:solidFill>
                <a:latin typeface="Courier New" pitchFamily="49" charset="0"/>
                <a:cs typeface="Courier New" pitchFamily="49" charset="0"/>
              </a:rPr>
              <a:t>!</a:t>
            </a:r>
          </a:p>
          <a:p>
            <a:pPr algn="just" defTabSz="914285"/>
            <a:r>
              <a:rPr lang="en-US" sz="2400" dirty="0">
                <a:solidFill>
                  <a:srgbClr val="0070C0"/>
                </a:solidFill>
                <a:latin typeface="Courier New" pitchFamily="49" charset="0"/>
                <a:cs typeface="Courier New" pitchFamily="49" charset="0"/>
              </a:rPr>
              <a:t>line con 0</a:t>
            </a:r>
          </a:p>
          <a:p>
            <a:pPr algn="just" defTabSz="914285"/>
            <a:endParaRPr lang="en-US" sz="2400" dirty="0">
              <a:solidFill>
                <a:srgbClr val="FF0000"/>
              </a:solidFill>
              <a:latin typeface="Courier New" pitchFamily="49" charset="0"/>
              <a:cs typeface="Courier New" pitchFamily="49" charset="0"/>
            </a:endParaRPr>
          </a:p>
          <a:p>
            <a:pPr algn="just" defTabSz="914285"/>
            <a:r>
              <a:rPr lang="en-US" sz="2400" dirty="0">
                <a:solidFill>
                  <a:srgbClr val="0070C0"/>
                </a:solidFill>
                <a:latin typeface="Courier New" pitchFamily="49" charset="0"/>
                <a:cs typeface="Courier New" pitchFamily="49" charset="0"/>
              </a:rPr>
              <a:t> login</a:t>
            </a:r>
          </a:p>
          <a:p>
            <a:pPr algn="just" defTabSz="914285"/>
            <a:endParaRPr lang="en-US" sz="2400" dirty="0">
              <a:solidFill>
                <a:srgbClr val="0070C0"/>
              </a:solidFill>
              <a:latin typeface="Courier New" pitchFamily="49" charset="0"/>
              <a:cs typeface="Courier New" pitchFamily="49" charset="0"/>
            </a:endParaRPr>
          </a:p>
          <a:p>
            <a:pPr algn="just" defTabSz="914285"/>
            <a:r>
              <a:rPr lang="en-US" sz="2400" dirty="0">
                <a:solidFill>
                  <a:srgbClr val="0070C0"/>
                </a:solidFill>
                <a:latin typeface="Courier New" pitchFamily="49" charset="0"/>
                <a:cs typeface="Courier New" pitchFamily="49" charset="0"/>
              </a:rPr>
              <a:t> --More-- </a:t>
            </a:r>
          </a:p>
        </p:txBody>
      </p:sp>
      <p:sp>
        <p:nvSpPr>
          <p:cNvPr id="8" name="TextBox 7"/>
          <p:cNvSpPr txBox="1"/>
          <p:nvPr/>
        </p:nvSpPr>
        <p:spPr>
          <a:xfrm>
            <a:off x="4930425" y="4260282"/>
            <a:ext cx="1152128" cy="461653"/>
          </a:xfrm>
          <a:prstGeom prst="rect">
            <a:avLst/>
          </a:prstGeom>
          <a:noFill/>
        </p:spPr>
        <p:txBody>
          <a:bodyPr wrap="square" lIns="91428" tIns="45714" rIns="91428" bIns="45714" rtlCol="0">
            <a:spAutoFit/>
          </a:bodyPr>
          <a:lstStyle/>
          <a:p>
            <a:pPr algn="ctr" defTabSz="914285"/>
            <a:r>
              <a:rPr lang="en-US" sz="2400" dirty="0">
                <a:solidFill>
                  <a:srgbClr val="FF0000"/>
                </a:solidFill>
                <a:latin typeface="Courier New" pitchFamily="49" charset="0"/>
                <a:cs typeface="Courier New" pitchFamily="49" charset="0"/>
              </a:rPr>
              <a:t>cisco</a:t>
            </a:r>
            <a:r>
              <a:rPr lang="en-US" sz="2400" dirty="0">
                <a:solidFill>
                  <a:srgbClr val="000000"/>
                </a:solidFill>
                <a:latin typeface="Courier New" pitchFamily="49" charset="0"/>
                <a:cs typeface="Courier New" pitchFamily="49" charset="0"/>
              </a:rPr>
              <a:t> </a:t>
            </a:r>
            <a:endParaRPr lang="en-US" sz="2400" dirty="0">
              <a:solidFill>
                <a:srgbClr val="000000"/>
              </a:solidFill>
              <a:latin typeface="Courier New" pitchFamily="49" charset="0"/>
              <a:cs typeface="Courier New" pitchFamily="49" charset="0"/>
              <a:sym typeface="Wingdings" pitchFamily="2" charset="2"/>
            </a:endParaRPr>
          </a:p>
        </p:txBody>
      </p:sp>
      <p:cxnSp>
        <p:nvCxnSpPr>
          <p:cNvPr id="3" name="Straight Arrow Connector 2"/>
          <p:cNvCxnSpPr/>
          <p:nvPr/>
        </p:nvCxnSpPr>
        <p:spPr>
          <a:xfrm>
            <a:off x="5735960" y="4686039"/>
            <a:ext cx="0" cy="882223"/>
          </a:xfrm>
          <a:prstGeom prst="straightConnector1">
            <a:avLst/>
          </a:prstGeom>
          <a:ln w="28575">
            <a:solidFill>
              <a:srgbClr val="0070C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070844" y="4757831"/>
            <a:ext cx="665116" cy="369320"/>
          </a:xfrm>
          <a:prstGeom prst="rect">
            <a:avLst/>
          </a:prstGeom>
          <a:noFill/>
        </p:spPr>
        <p:txBody>
          <a:bodyPr wrap="square" lIns="91428" tIns="45714" rIns="91428" bIns="45714" rtlCol="0">
            <a:spAutoFit/>
          </a:bodyPr>
          <a:lstStyle/>
          <a:p>
            <a:pPr algn="ctr" defTabSz="914285"/>
            <a:r>
              <a:rPr lang="en-US">
                <a:solidFill>
                  <a:srgbClr val="0070C0"/>
                </a:solidFill>
                <a:latin typeface="Courier New" pitchFamily="49" charset="0"/>
                <a:cs typeface="Courier New" pitchFamily="49" charset="0"/>
              </a:rPr>
              <a:t>MD7</a:t>
            </a:r>
            <a:endParaRPr lang="en-US">
              <a:solidFill>
                <a:srgbClr val="0070C0"/>
              </a:solidFill>
              <a:latin typeface="Courier New" pitchFamily="49" charset="0"/>
              <a:cs typeface="Courier New" pitchFamily="49" charset="0"/>
              <a:sym typeface="Wingdings" pitchFamily="2" charset="2"/>
            </a:endParaRPr>
          </a:p>
        </p:txBody>
      </p:sp>
      <p:sp>
        <p:nvSpPr>
          <p:cNvPr id="2" name="Rectangle 1"/>
          <p:cNvSpPr/>
          <p:nvPr/>
        </p:nvSpPr>
        <p:spPr>
          <a:xfrm>
            <a:off x="3369774" y="5188799"/>
            <a:ext cx="4572000" cy="461665"/>
          </a:xfrm>
          <a:prstGeom prst="rect">
            <a:avLst/>
          </a:prstGeom>
        </p:spPr>
        <p:txBody>
          <a:bodyPr>
            <a:spAutoFit/>
          </a:bodyPr>
          <a:lstStyle/>
          <a:p>
            <a:r>
              <a:rPr lang="en-US" sz="2400" dirty="0">
                <a:solidFill>
                  <a:srgbClr val="0070C0"/>
                </a:solidFill>
                <a:latin typeface="Courier New" pitchFamily="49" charset="0"/>
                <a:cs typeface="Courier New" pitchFamily="49" charset="0"/>
              </a:rPr>
              <a:t>password </a:t>
            </a:r>
            <a:r>
              <a:rPr lang="en-US" sz="2400" dirty="0">
                <a:solidFill>
                  <a:srgbClr val="FF0000"/>
                </a:solidFill>
                <a:latin typeface="Courier New" pitchFamily="49" charset="0"/>
                <a:cs typeface="Courier New" pitchFamily="49" charset="0"/>
              </a:rPr>
              <a:t>7 0822455D0A16</a:t>
            </a:r>
            <a:endParaRPr lang="en-US" sz="2400" dirty="0"/>
          </a:p>
        </p:txBody>
      </p:sp>
      <p:sp>
        <p:nvSpPr>
          <p:cNvPr id="18" name="Rectangle 17"/>
          <p:cNvSpPr/>
          <p:nvPr/>
        </p:nvSpPr>
        <p:spPr>
          <a:xfrm>
            <a:off x="3369774" y="5191260"/>
            <a:ext cx="4572000" cy="461665"/>
          </a:xfrm>
          <a:prstGeom prst="rect">
            <a:avLst/>
          </a:prstGeom>
        </p:spPr>
        <p:txBody>
          <a:bodyPr>
            <a:spAutoFit/>
          </a:bodyPr>
          <a:lstStyle/>
          <a:p>
            <a:r>
              <a:rPr lang="en-US" sz="2400" dirty="0">
                <a:solidFill>
                  <a:srgbClr val="0070C0"/>
                </a:solidFill>
                <a:latin typeface="Courier New" pitchFamily="49" charset="0"/>
                <a:cs typeface="Courier New" pitchFamily="49" charset="0"/>
              </a:rPr>
              <a:t>password </a:t>
            </a:r>
            <a:r>
              <a:rPr lang="en-US" sz="2400" dirty="0">
                <a:solidFill>
                  <a:srgbClr val="FF0000"/>
                </a:solidFill>
                <a:latin typeface="Courier New" pitchFamily="49" charset="0"/>
                <a:cs typeface="Courier New" pitchFamily="49" charset="0"/>
              </a:rPr>
              <a:t>cisco</a:t>
            </a:r>
            <a:endParaRPr lang="en-US" sz="2400" dirty="0"/>
          </a:p>
        </p:txBody>
      </p:sp>
      <p:sp>
        <p:nvSpPr>
          <p:cNvPr id="4" name="Rectangle 3"/>
          <p:cNvSpPr/>
          <p:nvPr/>
        </p:nvSpPr>
        <p:spPr>
          <a:xfrm>
            <a:off x="6082553" y="6588961"/>
            <a:ext cx="4572000" cy="276999"/>
          </a:xfrm>
          <a:prstGeom prst="rect">
            <a:avLst/>
          </a:prstGeom>
        </p:spPr>
        <p:txBody>
          <a:bodyPr>
            <a:spAutoFit/>
          </a:bodyPr>
          <a:lstStyle/>
          <a:p>
            <a:r>
              <a:rPr lang="en-US" sz="1200"/>
              <a:t>http://www.ifm.net.nz/cookbooks/passwordcracker.html</a:t>
            </a:r>
          </a:p>
        </p:txBody>
      </p:sp>
    </p:spTree>
    <p:extLst>
      <p:ext uri="{BB962C8B-B14F-4D97-AF65-F5344CB8AC3E}">
        <p14:creationId xmlns:p14="http://schemas.microsoft.com/office/powerpoint/2010/main" val="31277215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xit" presetSubtype="2" fill="hold" grpId="0" nodeType="afterEffect">
                                  <p:stCondLst>
                                    <p:cond delay="0"/>
                                  </p:stCondLst>
                                  <p:childTnLst>
                                    <p:animEffect transition="out" filter="wipe(right)">
                                      <p:cBhvr>
                                        <p:cTn id="10" dur="500"/>
                                        <p:tgtEl>
                                          <p:spTgt spid="18"/>
                                        </p:tgtEl>
                                      </p:cBhvr>
                                    </p:animEffect>
                                    <p:set>
                                      <p:cBhvr>
                                        <p:cTn id="11" dur="1" fill="hold">
                                          <p:stCondLst>
                                            <p:cond delay="499"/>
                                          </p:stCondLst>
                                        </p:cTn>
                                        <p:tgtEl>
                                          <p:spTgt spid="18"/>
                                        </p:tgtEl>
                                        <p:attrNameLst>
                                          <p:attrName>style.visibility</p:attrName>
                                        </p:attrNameLst>
                                      </p:cBhvr>
                                      <p:to>
                                        <p:strVal val="hidden"/>
                                      </p:to>
                                    </p:se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3" grpId="0"/>
      <p:bldP spid="2" grpId="0"/>
      <p:bldP spid="1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II. MỘT SỐ THAO TÁC CƠ BẢN</a:t>
            </a:r>
          </a:p>
        </p:txBody>
      </p:sp>
      <p:sp>
        <p:nvSpPr>
          <p:cNvPr id="3" name="Content Placeholder 2"/>
          <p:cNvSpPr>
            <a:spLocks noGrp="1"/>
          </p:cNvSpPr>
          <p:nvPr>
            <p:ph idx="1"/>
          </p:nvPr>
        </p:nvSpPr>
        <p:spPr>
          <a:xfrm>
            <a:off x="450761" y="897226"/>
            <a:ext cx="10921284" cy="5105400"/>
          </a:xfrm>
        </p:spPr>
        <p:txBody>
          <a:bodyPr/>
          <a:lstStyle/>
          <a:p>
            <a:pPr>
              <a:defRPr/>
            </a:pPr>
            <a:r>
              <a:rPr lang="en-US" sz="2000" u="sng" dirty="0" err="1"/>
              <a:t>Đặt</a:t>
            </a:r>
            <a:r>
              <a:rPr lang="en-US" sz="2000" u="sng" dirty="0"/>
              <a:t> </a:t>
            </a:r>
            <a:r>
              <a:rPr lang="en-US" sz="2000" u="sng" dirty="0" err="1"/>
              <a:t>tên</a:t>
            </a:r>
            <a:r>
              <a:rPr lang="en-US" sz="2000" u="sng" dirty="0"/>
              <a:t> </a:t>
            </a:r>
            <a:r>
              <a:rPr lang="en-US" sz="2000" u="sng" dirty="0" err="1"/>
              <a:t>và</a:t>
            </a:r>
            <a:r>
              <a:rPr lang="en-US" sz="2000" u="sng" dirty="0"/>
              <a:t> banner </a:t>
            </a:r>
            <a:r>
              <a:rPr lang="en-US" sz="2000" u="sng" dirty="0" err="1"/>
              <a:t>cho</a:t>
            </a:r>
            <a:r>
              <a:rPr lang="en-US" sz="2000" u="sng" dirty="0"/>
              <a:t> router</a:t>
            </a:r>
          </a:p>
          <a:p>
            <a:pPr lvl="1">
              <a:defRPr/>
            </a:pPr>
            <a:r>
              <a:rPr lang="en-US" sz="2000" dirty="0" err="1"/>
              <a:t>Đặt</a:t>
            </a:r>
            <a:r>
              <a:rPr lang="en-US" sz="2000" dirty="0"/>
              <a:t> </a:t>
            </a:r>
            <a:r>
              <a:rPr lang="en-US" sz="2000" dirty="0" err="1"/>
              <a:t>tên</a:t>
            </a:r>
            <a:r>
              <a:rPr lang="en-US" sz="2000" dirty="0"/>
              <a:t> </a:t>
            </a:r>
            <a:r>
              <a:rPr lang="en-US" sz="2000" dirty="0" err="1"/>
              <a:t>cho</a:t>
            </a:r>
            <a:r>
              <a:rPr lang="en-US" sz="2000" dirty="0"/>
              <a:t> router:</a:t>
            </a:r>
          </a:p>
          <a:p>
            <a:pPr marL="347663" lvl="1">
              <a:buNone/>
              <a:defRPr/>
            </a:pPr>
            <a:r>
              <a:rPr lang="en-US" sz="2000" dirty="0" err="1"/>
              <a:t>Mỗi</a:t>
            </a:r>
            <a:r>
              <a:rPr lang="en-US" sz="2000" dirty="0"/>
              <a:t> Router </a:t>
            </a:r>
            <a:r>
              <a:rPr lang="en-US" sz="2000" dirty="0" err="1"/>
              <a:t>có</a:t>
            </a:r>
            <a:r>
              <a:rPr lang="en-US" sz="2000" dirty="0"/>
              <a:t> </a:t>
            </a:r>
            <a:r>
              <a:rPr lang="en-US" sz="2000" dirty="0" err="1"/>
              <a:t>thể</a:t>
            </a:r>
            <a:r>
              <a:rPr lang="en-US" sz="2000" dirty="0"/>
              <a:t> </a:t>
            </a:r>
            <a:r>
              <a:rPr lang="en-US" sz="2000" dirty="0" err="1"/>
              <a:t>gán</a:t>
            </a:r>
            <a:r>
              <a:rPr lang="en-US" sz="2000" dirty="0"/>
              <a:t> </a:t>
            </a:r>
            <a:r>
              <a:rPr lang="en-US" sz="2000" dirty="0" err="1"/>
              <a:t>một</a:t>
            </a:r>
            <a:r>
              <a:rPr lang="en-US" sz="2000" dirty="0"/>
              <a:t> </a:t>
            </a:r>
            <a:r>
              <a:rPr lang="en-US" sz="2000" dirty="0" err="1"/>
              <a:t>cái</a:t>
            </a:r>
            <a:r>
              <a:rPr lang="en-US" sz="2000" dirty="0"/>
              <a:t> </a:t>
            </a:r>
            <a:r>
              <a:rPr lang="en-US" sz="2000" dirty="0" err="1"/>
              <a:t>tên</a:t>
            </a:r>
            <a:r>
              <a:rPr lang="en-US" sz="2000" dirty="0"/>
              <a:t>, </a:t>
            </a:r>
            <a:r>
              <a:rPr lang="en-US" sz="2000" dirty="0" err="1"/>
              <a:t>cấu</a:t>
            </a:r>
            <a:r>
              <a:rPr lang="en-US" sz="2000" dirty="0"/>
              <a:t> </a:t>
            </a:r>
            <a:r>
              <a:rPr lang="en-US" sz="2000" dirty="0" err="1"/>
              <a:t>hình</a:t>
            </a:r>
            <a:r>
              <a:rPr lang="en-US" sz="2000" dirty="0"/>
              <a:t> </a:t>
            </a:r>
            <a:r>
              <a:rPr lang="en-US" sz="2000" dirty="0" err="1"/>
              <a:t>để</a:t>
            </a:r>
            <a:r>
              <a:rPr lang="en-US" sz="2000" dirty="0"/>
              <a:t> </a:t>
            </a:r>
            <a:r>
              <a:rPr lang="en-US" sz="2000" dirty="0" err="1"/>
              <a:t>gán</a:t>
            </a:r>
            <a:r>
              <a:rPr lang="en-US" sz="2000" dirty="0"/>
              <a:t> </a:t>
            </a:r>
            <a:r>
              <a:rPr lang="en-US" sz="2000" dirty="0" err="1"/>
              <a:t>tên</a:t>
            </a:r>
            <a:r>
              <a:rPr lang="en-US" sz="2000" dirty="0"/>
              <a:t> </a:t>
            </a:r>
            <a:r>
              <a:rPr lang="en-US" sz="2000" dirty="0" err="1"/>
              <a:t>cho</a:t>
            </a:r>
            <a:r>
              <a:rPr lang="en-US" sz="2000" dirty="0"/>
              <a:t> router </a:t>
            </a:r>
            <a:r>
              <a:rPr lang="en-US" sz="2000" dirty="0" err="1"/>
              <a:t>như</a:t>
            </a:r>
            <a:r>
              <a:rPr lang="en-US" sz="2000" dirty="0"/>
              <a:t> </a:t>
            </a:r>
            <a:r>
              <a:rPr lang="en-US" sz="2000" dirty="0" err="1"/>
              <a:t>sau</a:t>
            </a:r>
            <a:r>
              <a:rPr lang="en-US" sz="2000" dirty="0"/>
              <a:t>:</a:t>
            </a:r>
          </a:p>
          <a:p>
            <a:pPr marL="347663" lvl="1">
              <a:buNone/>
              <a:defRPr/>
            </a:pPr>
            <a:r>
              <a:rPr lang="en-US" sz="2000" b="1" i="1" dirty="0"/>
              <a:t>Router(</a:t>
            </a:r>
            <a:r>
              <a:rPr lang="en-US" sz="2000" b="1" i="1" dirty="0" err="1"/>
              <a:t>config</a:t>
            </a:r>
            <a:r>
              <a:rPr lang="en-US" sz="2000" b="1" i="1" dirty="0"/>
              <a:t>)# hostname </a:t>
            </a:r>
            <a:r>
              <a:rPr lang="en-US" sz="2000" dirty="0" err="1"/>
              <a:t>hostname</a:t>
            </a:r>
            <a:endParaRPr lang="en-US" sz="2000" dirty="0"/>
          </a:p>
          <a:p>
            <a:pPr marL="347663" lvl="1">
              <a:buNone/>
              <a:defRPr/>
            </a:pPr>
            <a:r>
              <a:rPr lang="en-US" sz="2000" b="1" i="1" u="sng" dirty="0" err="1">
                <a:solidFill>
                  <a:srgbClr val="FF0000"/>
                </a:solidFill>
              </a:rPr>
              <a:t>Ví</a:t>
            </a:r>
            <a:r>
              <a:rPr lang="en-US" sz="2000" b="1" i="1" u="sng" dirty="0">
                <a:solidFill>
                  <a:srgbClr val="FF0000"/>
                </a:solidFill>
              </a:rPr>
              <a:t> </a:t>
            </a:r>
            <a:r>
              <a:rPr lang="en-US" sz="2000" b="1" i="1" u="sng" dirty="0" err="1">
                <a:solidFill>
                  <a:srgbClr val="FF0000"/>
                </a:solidFill>
              </a:rPr>
              <a:t>dụ</a:t>
            </a:r>
            <a:r>
              <a:rPr lang="en-US" sz="2000" b="1" i="1" u="sng" dirty="0">
                <a:solidFill>
                  <a:srgbClr val="FF0000"/>
                </a:solidFill>
              </a:rPr>
              <a:t>:</a:t>
            </a:r>
          </a:p>
          <a:p>
            <a:pPr marL="347663" lvl="1">
              <a:buNone/>
              <a:defRPr/>
            </a:pPr>
            <a:r>
              <a:rPr lang="en-US" sz="2000" b="1" i="1" dirty="0"/>
              <a:t>Router(</a:t>
            </a:r>
            <a:r>
              <a:rPr lang="en-US" sz="2000" b="1" i="1" dirty="0" err="1"/>
              <a:t>config</a:t>
            </a:r>
            <a:r>
              <a:rPr lang="en-US" sz="2000" b="1" i="1" dirty="0"/>
              <a:t>)# hostname SAIGON</a:t>
            </a:r>
          </a:p>
          <a:p>
            <a:pPr marL="347663" lvl="1">
              <a:buNone/>
              <a:defRPr/>
            </a:pPr>
            <a:r>
              <a:rPr lang="en-US" sz="2000" b="1" i="1" dirty="0"/>
              <a:t>SAIGON(</a:t>
            </a:r>
            <a:r>
              <a:rPr lang="en-US" sz="2000" b="1" i="1" dirty="0" err="1"/>
              <a:t>config</a:t>
            </a:r>
            <a:r>
              <a:rPr lang="en-US" sz="2000" b="1" i="1" dirty="0"/>
              <a:t>)# </a:t>
            </a:r>
          </a:p>
          <a:p>
            <a:pPr lvl="1">
              <a:defRPr/>
            </a:pPr>
            <a:r>
              <a:rPr lang="en-US" sz="2000" dirty="0" err="1"/>
              <a:t>Đặt</a:t>
            </a:r>
            <a:r>
              <a:rPr lang="en-US" sz="2000" dirty="0"/>
              <a:t> banner </a:t>
            </a:r>
            <a:r>
              <a:rPr lang="en-US" sz="2000" dirty="0" err="1"/>
              <a:t>cho</a:t>
            </a:r>
            <a:r>
              <a:rPr lang="en-US" sz="2000" dirty="0"/>
              <a:t> router:</a:t>
            </a:r>
          </a:p>
          <a:p>
            <a:pPr marL="293688" lvl="1">
              <a:buNone/>
              <a:defRPr/>
            </a:pPr>
            <a:r>
              <a:rPr lang="en-US" sz="2000" b="1" i="1" dirty="0"/>
              <a:t>Router(</a:t>
            </a:r>
            <a:r>
              <a:rPr lang="en-US" sz="2000" b="1" i="1" dirty="0" err="1"/>
              <a:t>config</a:t>
            </a:r>
            <a:r>
              <a:rPr lang="en-US" sz="2000" b="1" i="1" dirty="0"/>
              <a:t>)# banner </a:t>
            </a:r>
            <a:r>
              <a:rPr lang="en-US" sz="2000" b="1" i="1" dirty="0" err="1"/>
              <a:t>motd</a:t>
            </a:r>
            <a:r>
              <a:rPr lang="en-US" sz="2000" b="1" i="1" dirty="0"/>
              <a:t> </a:t>
            </a:r>
            <a:r>
              <a:rPr lang="en-US" sz="2000" dirty="0"/>
              <a:t># text message #</a:t>
            </a:r>
          </a:p>
          <a:p>
            <a:pPr marL="293688" lvl="1">
              <a:buNone/>
              <a:defRPr/>
            </a:pPr>
            <a:r>
              <a:rPr lang="en-US" sz="2000" b="1" i="1" u="sng" dirty="0" err="1">
                <a:solidFill>
                  <a:srgbClr val="FF0000"/>
                </a:solidFill>
              </a:rPr>
              <a:t>Ví</a:t>
            </a:r>
            <a:r>
              <a:rPr lang="en-US" sz="2000" b="1" i="1" u="sng" dirty="0">
                <a:solidFill>
                  <a:srgbClr val="FF0000"/>
                </a:solidFill>
              </a:rPr>
              <a:t> </a:t>
            </a:r>
            <a:r>
              <a:rPr lang="en-US" sz="2000" b="1" i="1" u="sng" dirty="0" err="1">
                <a:solidFill>
                  <a:srgbClr val="FF0000"/>
                </a:solidFill>
              </a:rPr>
              <a:t>dụ</a:t>
            </a:r>
            <a:r>
              <a:rPr lang="en-US" sz="2000" b="1" i="1" u="sng" dirty="0">
                <a:solidFill>
                  <a:srgbClr val="FF0000"/>
                </a:solidFill>
              </a:rPr>
              <a:t>:</a:t>
            </a:r>
          </a:p>
          <a:p>
            <a:pPr marL="293688" lvl="1">
              <a:buNone/>
              <a:defRPr/>
            </a:pPr>
            <a:r>
              <a:rPr lang="en-US" sz="2000" b="1" i="1" dirty="0"/>
              <a:t>Router(</a:t>
            </a:r>
            <a:r>
              <a:rPr lang="en-US" sz="2000" b="1" i="1" dirty="0" err="1"/>
              <a:t>config</a:t>
            </a:r>
            <a:r>
              <a:rPr lang="en-US" sz="2000" b="1" i="1" dirty="0"/>
              <a:t>)#banner </a:t>
            </a:r>
            <a:r>
              <a:rPr lang="en-US" sz="2000" b="1" i="1" dirty="0" err="1"/>
              <a:t>motd</a:t>
            </a:r>
            <a:r>
              <a:rPr lang="en-US" sz="2000" b="1" i="1" dirty="0"/>
              <a:t> # </a:t>
            </a:r>
            <a:r>
              <a:rPr lang="en-US" sz="2000" b="1" i="1" dirty="0" err="1"/>
              <a:t>Hãy</a:t>
            </a:r>
            <a:r>
              <a:rPr lang="en-US" sz="2000" b="1" i="1" dirty="0"/>
              <a:t> </a:t>
            </a:r>
            <a:r>
              <a:rPr lang="en-US" sz="2000" b="1" i="1" dirty="0" err="1"/>
              <a:t>nhập</a:t>
            </a:r>
            <a:r>
              <a:rPr lang="en-US" sz="2000" b="1" i="1" dirty="0"/>
              <a:t> Password #</a:t>
            </a:r>
          </a:p>
          <a:p>
            <a:pPr marL="293688" lvl="1">
              <a:buNone/>
              <a:defRPr/>
            </a:pPr>
            <a:endParaRPr lang="en-US" sz="2000" dirty="0"/>
          </a:p>
          <a:p>
            <a:pPr marL="293688" lvl="1">
              <a:buNone/>
              <a:defRPr/>
            </a:pPr>
            <a:endParaRPr lang="en-US" sz="2000" dirty="0"/>
          </a:p>
          <a:p>
            <a:pPr lvl="1">
              <a:buFont typeface="Wingdings" panose="05000000000000000000" pitchFamily="2" charset="2"/>
              <a:buNone/>
              <a:defRPr/>
            </a:pPr>
            <a:endParaRPr lang="en-US" sz="2000" dirty="0"/>
          </a:p>
        </p:txBody>
      </p:sp>
    </p:spTree>
    <p:extLst>
      <p:ext uri="{BB962C8B-B14F-4D97-AF65-F5344CB8AC3E}">
        <p14:creationId xmlns:p14="http://schemas.microsoft.com/office/powerpoint/2010/main" val="372068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II. MỘT SỐ THAO TÁC CƠ BẢN</a:t>
            </a:r>
          </a:p>
        </p:txBody>
      </p:sp>
      <p:sp>
        <p:nvSpPr>
          <p:cNvPr id="3" name="Content Placeholder 2"/>
          <p:cNvSpPr>
            <a:spLocks noGrp="1"/>
          </p:cNvSpPr>
          <p:nvPr>
            <p:ph idx="1"/>
          </p:nvPr>
        </p:nvSpPr>
        <p:spPr>
          <a:xfrm>
            <a:off x="553791" y="1219200"/>
            <a:ext cx="11204619" cy="5029200"/>
          </a:xfrm>
        </p:spPr>
        <p:txBody>
          <a:bodyPr/>
          <a:lstStyle/>
          <a:p>
            <a:pPr>
              <a:defRPr/>
            </a:pPr>
            <a:r>
              <a:rPr lang="en-US" sz="2000" u="sng" dirty="0" err="1"/>
              <a:t>Đặt</a:t>
            </a:r>
            <a:r>
              <a:rPr lang="en-US" sz="2000" u="sng" dirty="0"/>
              <a:t> </a:t>
            </a:r>
            <a:r>
              <a:rPr lang="en-US" sz="2000" u="sng" dirty="0" err="1"/>
              <a:t>địa</a:t>
            </a:r>
            <a:r>
              <a:rPr lang="en-US" sz="2000" u="sng" dirty="0"/>
              <a:t> </a:t>
            </a:r>
            <a:r>
              <a:rPr lang="en-US" sz="2000" u="sng" dirty="0" err="1"/>
              <a:t>chỉ</a:t>
            </a:r>
            <a:r>
              <a:rPr lang="en-US" sz="2000" u="sng" dirty="0"/>
              <a:t> IP </a:t>
            </a:r>
            <a:r>
              <a:rPr lang="en-US" sz="2000" u="sng" dirty="0" err="1"/>
              <a:t>cho</a:t>
            </a:r>
            <a:r>
              <a:rPr lang="en-US" sz="2000" u="sng" dirty="0"/>
              <a:t> interface</a:t>
            </a:r>
          </a:p>
          <a:p>
            <a:pPr lvl="1">
              <a:defRPr/>
            </a:pPr>
            <a:r>
              <a:rPr lang="en-US" sz="2000" dirty="0" err="1"/>
              <a:t>Đặt</a:t>
            </a:r>
            <a:r>
              <a:rPr lang="en-US" sz="2000" dirty="0"/>
              <a:t> </a:t>
            </a:r>
            <a:r>
              <a:rPr lang="en-US" sz="2000" dirty="0" err="1"/>
              <a:t>địa</a:t>
            </a:r>
            <a:r>
              <a:rPr lang="en-US" sz="2000" dirty="0"/>
              <a:t> </a:t>
            </a:r>
            <a:r>
              <a:rPr lang="en-US" sz="2000" dirty="0" err="1"/>
              <a:t>chỉ</a:t>
            </a:r>
            <a:r>
              <a:rPr lang="en-US" sz="2000" dirty="0"/>
              <a:t> IP </a:t>
            </a:r>
            <a:r>
              <a:rPr lang="en-US" sz="2000" dirty="0" err="1"/>
              <a:t>cho</a:t>
            </a:r>
            <a:r>
              <a:rPr lang="en-US" sz="2000" dirty="0"/>
              <a:t> </a:t>
            </a:r>
            <a:r>
              <a:rPr lang="en-US" sz="2000" dirty="0" err="1"/>
              <a:t>cổng</a:t>
            </a:r>
            <a:r>
              <a:rPr lang="en-US" sz="2000" dirty="0"/>
              <a:t> </a:t>
            </a:r>
            <a:r>
              <a:rPr lang="en-US" sz="2000" dirty="0">
                <a:solidFill>
                  <a:srgbClr val="FF0000"/>
                </a:solidFill>
              </a:rPr>
              <a:t>FastEthernet0/0</a:t>
            </a:r>
          </a:p>
          <a:p>
            <a:pPr marL="347663" lvl="1">
              <a:spcBef>
                <a:spcPts val="1200"/>
              </a:spcBef>
              <a:buNone/>
              <a:defRPr/>
            </a:pPr>
            <a:r>
              <a:rPr lang="en-US" sz="2000" b="1" i="1" dirty="0"/>
              <a:t>Router(</a:t>
            </a:r>
            <a:r>
              <a:rPr lang="en-US" sz="2000" b="1" i="1" dirty="0" err="1"/>
              <a:t>config</a:t>
            </a:r>
            <a:r>
              <a:rPr lang="en-US" sz="2000" b="1" i="1" dirty="0"/>
              <a:t>)# interface </a:t>
            </a:r>
            <a:r>
              <a:rPr lang="en-US" sz="2000" b="1" i="1" dirty="0" err="1"/>
              <a:t>fastethernet</a:t>
            </a:r>
            <a:r>
              <a:rPr lang="en-US" sz="2000" b="1" i="1" dirty="0"/>
              <a:t> 0/0</a:t>
            </a:r>
          </a:p>
          <a:p>
            <a:pPr marL="347663" lvl="1">
              <a:spcBef>
                <a:spcPts val="1200"/>
              </a:spcBef>
              <a:buNone/>
              <a:defRPr/>
            </a:pPr>
            <a:r>
              <a:rPr lang="en-US" sz="2000" b="1" i="1" dirty="0"/>
              <a:t>Router(</a:t>
            </a:r>
            <a:r>
              <a:rPr lang="en-US" sz="2000" b="1" i="1" dirty="0" err="1"/>
              <a:t>config</a:t>
            </a:r>
            <a:r>
              <a:rPr lang="en-US" sz="2000" b="1" i="1" dirty="0"/>
              <a:t>-if)#</a:t>
            </a:r>
            <a:r>
              <a:rPr lang="en-US" sz="2000" b="1" i="1" dirty="0" err="1"/>
              <a:t>ip</a:t>
            </a:r>
            <a:r>
              <a:rPr lang="en-US" sz="2000" b="1" i="1" dirty="0"/>
              <a:t> address 192.168.1.1 255.255.255.0</a:t>
            </a:r>
          </a:p>
          <a:p>
            <a:pPr marL="347663" lvl="1">
              <a:spcBef>
                <a:spcPts val="1200"/>
              </a:spcBef>
              <a:buNone/>
              <a:defRPr/>
            </a:pPr>
            <a:r>
              <a:rPr lang="en-US" sz="2000" b="1" i="1" dirty="0"/>
              <a:t>Router(</a:t>
            </a:r>
            <a:r>
              <a:rPr lang="en-US" sz="2000" b="1" i="1" dirty="0" err="1"/>
              <a:t>config</a:t>
            </a:r>
            <a:r>
              <a:rPr lang="en-US" sz="2000" b="1" i="1" dirty="0"/>
              <a:t>-if)#no shutdown</a:t>
            </a:r>
            <a:endParaRPr lang="en-US" sz="2000" dirty="0"/>
          </a:p>
          <a:p>
            <a:pPr lvl="1">
              <a:spcBef>
                <a:spcPts val="1200"/>
              </a:spcBef>
              <a:defRPr/>
            </a:pPr>
            <a:r>
              <a:rPr lang="en-US" sz="2000" dirty="0" err="1"/>
              <a:t>Đặt</a:t>
            </a:r>
            <a:r>
              <a:rPr lang="en-US" sz="2000" dirty="0"/>
              <a:t> </a:t>
            </a:r>
            <a:r>
              <a:rPr lang="en-US" sz="2000" dirty="0" err="1"/>
              <a:t>địa</a:t>
            </a:r>
            <a:r>
              <a:rPr lang="en-US" sz="2000" dirty="0"/>
              <a:t> </a:t>
            </a:r>
            <a:r>
              <a:rPr lang="en-US" sz="2000" dirty="0" err="1"/>
              <a:t>chỉ</a:t>
            </a:r>
            <a:r>
              <a:rPr lang="en-US" sz="2000" dirty="0"/>
              <a:t> IP </a:t>
            </a:r>
            <a:r>
              <a:rPr lang="en-US" sz="2000" dirty="0" err="1"/>
              <a:t>cho</a:t>
            </a:r>
            <a:r>
              <a:rPr lang="en-US" sz="2000" dirty="0"/>
              <a:t> </a:t>
            </a:r>
            <a:r>
              <a:rPr lang="en-US" sz="2000" dirty="0" err="1"/>
              <a:t>cổng</a:t>
            </a:r>
            <a:r>
              <a:rPr lang="en-US" sz="2000" dirty="0"/>
              <a:t> </a:t>
            </a:r>
            <a:r>
              <a:rPr lang="en-US" sz="2000" dirty="0">
                <a:solidFill>
                  <a:srgbClr val="FF0000"/>
                </a:solidFill>
              </a:rPr>
              <a:t>serial 0</a:t>
            </a:r>
          </a:p>
          <a:p>
            <a:pPr marL="347663" lvl="1">
              <a:spcBef>
                <a:spcPts val="1200"/>
              </a:spcBef>
              <a:buNone/>
              <a:defRPr/>
            </a:pPr>
            <a:r>
              <a:rPr lang="en-US" sz="2000" b="1" i="1" dirty="0"/>
              <a:t>Router(</a:t>
            </a:r>
            <a:r>
              <a:rPr lang="en-US" sz="2000" b="1" i="1" dirty="0" err="1"/>
              <a:t>config</a:t>
            </a:r>
            <a:r>
              <a:rPr lang="en-US" sz="2000" b="1" i="1" dirty="0"/>
              <a:t>)# interface  serial 0/0/0</a:t>
            </a:r>
          </a:p>
          <a:p>
            <a:pPr marL="347663" lvl="1">
              <a:spcBef>
                <a:spcPts val="1200"/>
              </a:spcBef>
              <a:buNone/>
              <a:defRPr/>
            </a:pPr>
            <a:r>
              <a:rPr lang="en-US" sz="2000" b="1" i="1" dirty="0"/>
              <a:t>Router(</a:t>
            </a:r>
            <a:r>
              <a:rPr lang="en-US" sz="2000" b="1" i="1" dirty="0" err="1"/>
              <a:t>config</a:t>
            </a:r>
            <a:r>
              <a:rPr lang="en-US" sz="2000" b="1" i="1" dirty="0"/>
              <a:t>-if)#</a:t>
            </a:r>
            <a:r>
              <a:rPr lang="en-US" sz="2000" b="1" i="1" dirty="0" err="1"/>
              <a:t>ip</a:t>
            </a:r>
            <a:r>
              <a:rPr lang="en-US" sz="2000" b="1" i="1" dirty="0"/>
              <a:t> address 192.168.1.1 255.255.255.0</a:t>
            </a:r>
          </a:p>
          <a:p>
            <a:pPr marL="347663" lvl="1">
              <a:spcBef>
                <a:spcPts val="1200"/>
              </a:spcBef>
              <a:buNone/>
              <a:defRPr/>
            </a:pPr>
            <a:r>
              <a:rPr lang="en-US" sz="2000" b="1" i="1" dirty="0"/>
              <a:t>Router(</a:t>
            </a:r>
            <a:r>
              <a:rPr lang="en-US" sz="2000" b="1" i="1" dirty="0" err="1"/>
              <a:t>config</a:t>
            </a:r>
            <a:r>
              <a:rPr lang="en-US" sz="2000" b="1" i="1" dirty="0"/>
              <a:t>-if)#clock rate 64000</a:t>
            </a:r>
          </a:p>
          <a:p>
            <a:pPr marL="347663" lvl="1">
              <a:spcBef>
                <a:spcPts val="1200"/>
              </a:spcBef>
              <a:buNone/>
              <a:defRPr/>
            </a:pPr>
            <a:r>
              <a:rPr lang="en-US" sz="2000" b="1" i="1" dirty="0"/>
              <a:t>Router(</a:t>
            </a:r>
            <a:r>
              <a:rPr lang="en-US" sz="2000" b="1" i="1" dirty="0" err="1"/>
              <a:t>config</a:t>
            </a:r>
            <a:r>
              <a:rPr lang="en-US" sz="2000" b="1" i="1" dirty="0"/>
              <a:t>-if)#no shutdown</a:t>
            </a:r>
            <a:endParaRPr lang="en-US" sz="2000" dirty="0"/>
          </a:p>
        </p:txBody>
      </p:sp>
    </p:spTree>
    <p:extLst>
      <p:ext uri="{BB962C8B-B14F-4D97-AF65-F5344CB8AC3E}">
        <p14:creationId xmlns:p14="http://schemas.microsoft.com/office/powerpoint/2010/main" val="11510848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II. MỘT SỐ THAO TÁC CƠ BẢN</a:t>
            </a:r>
          </a:p>
        </p:txBody>
      </p:sp>
      <p:sp>
        <p:nvSpPr>
          <p:cNvPr id="30723" name="Content Placeholder 2"/>
          <p:cNvSpPr>
            <a:spLocks noGrp="1"/>
          </p:cNvSpPr>
          <p:nvPr>
            <p:ph idx="1"/>
          </p:nvPr>
        </p:nvSpPr>
        <p:spPr/>
        <p:txBody>
          <a:bodyPr/>
          <a:lstStyle/>
          <a:p>
            <a:r>
              <a:rPr lang="en-US" sz="2000" u="sng" dirty="0" err="1"/>
              <a:t>Đặt</a:t>
            </a:r>
            <a:r>
              <a:rPr lang="en-US" sz="2000" u="sng" dirty="0"/>
              <a:t> </a:t>
            </a:r>
            <a:r>
              <a:rPr lang="en-US" sz="2000" u="sng" dirty="0" err="1"/>
              <a:t>lời</a:t>
            </a:r>
            <a:r>
              <a:rPr lang="en-US" sz="2000" u="sng" dirty="0"/>
              <a:t> </a:t>
            </a:r>
            <a:r>
              <a:rPr lang="en-US" sz="2000" u="sng" dirty="0" err="1"/>
              <a:t>mô</a:t>
            </a:r>
            <a:r>
              <a:rPr lang="en-US" sz="2000" u="sng" dirty="0"/>
              <a:t> </a:t>
            </a:r>
            <a:r>
              <a:rPr lang="en-US" sz="2000" u="sng" dirty="0" err="1"/>
              <a:t>tả</a:t>
            </a:r>
            <a:r>
              <a:rPr lang="en-US" sz="2000" u="sng" dirty="0"/>
              <a:t> </a:t>
            </a:r>
            <a:r>
              <a:rPr lang="en-US" sz="2000" u="sng" dirty="0" err="1"/>
              <a:t>cho</a:t>
            </a:r>
            <a:r>
              <a:rPr lang="en-US" sz="2000" u="sng" dirty="0"/>
              <a:t> interface (Interface Description</a:t>
            </a:r>
            <a:r>
              <a:rPr lang="en-US" sz="2000" b="1" u="sng" dirty="0"/>
              <a:t>)</a:t>
            </a:r>
          </a:p>
          <a:p>
            <a:pPr>
              <a:lnSpc>
                <a:spcPct val="150000"/>
              </a:lnSpc>
              <a:buFont typeface="Wingdings" panose="05000000000000000000" pitchFamily="2" charset="2"/>
              <a:buNone/>
            </a:pPr>
            <a:r>
              <a:rPr lang="en-US" sz="2000" dirty="0" err="1"/>
              <a:t>Đặt</a:t>
            </a:r>
            <a:r>
              <a:rPr lang="en-US" sz="2000" dirty="0"/>
              <a:t> </a:t>
            </a:r>
            <a:r>
              <a:rPr lang="en-US" sz="2000" dirty="0" err="1"/>
              <a:t>lời</a:t>
            </a:r>
            <a:r>
              <a:rPr lang="en-US" sz="2000" dirty="0"/>
              <a:t> </a:t>
            </a:r>
            <a:r>
              <a:rPr lang="en-US" sz="2000" dirty="0" err="1"/>
              <a:t>mô</a:t>
            </a:r>
            <a:r>
              <a:rPr lang="en-US" sz="2000" dirty="0"/>
              <a:t> </a:t>
            </a:r>
            <a:r>
              <a:rPr lang="en-US" sz="2000" dirty="0" err="1"/>
              <a:t>tả</a:t>
            </a:r>
            <a:r>
              <a:rPr lang="en-US" sz="2000" dirty="0"/>
              <a:t> </a:t>
            </a:r>
            <a:r>
              <a:rPr lang="en-US" sz="2000" dirty="0" err="1"/>
              <a:t>cho</a:t>
            </a:r>
            <a:r>
              <a:rPr lang="en-US" sz="2000" dirty="0"/>
              <a:t> interface, </a:t>
            </a:r>
            <a:r>
              <a:rPr lang="en-US" sz="2000" dirty="0" err="1"/>
              <a:t>cấu</a:t>
            </a:r>
            <a:r>
              <a:rPr lang="en-US" sz="2000" dirty="0"/>
              <a:t> </a:t>
            </a:r>
            <a:r>
              <a:rPr lang="en-US" sz="2000" dirty="0" err="1"/>
              <a:t>trúc</a:t>
            </a:r>
            <a:r>
              <a:rPr lang="en-US" sz="2000" dirty="0"/>
              <a:t> </a:t>
            </a:r>
            <a:r>
              <a:rPr lang="en-US" sz="2000" dirty="0" err="1"/>
              <a:t>như</a:t>
            </a:r>
            <a:r>
              <a:rPr lang="en-US" sz="2000" dirty="0"/>
              <a:t> </a:t>
            </a:r>
            <a:r>
              <a:rPr lang="en-US" sz="2000" dirty="0" err="1"/>
              <a:t>sau</a:t>
            </a:r>
            <a:r>
              <a:rPr lang="en-US" sz="2000" dirty="0"/>
              <a:t>:</a:t>
            </a:r>
          </a:p>
          <a:p>
            <a:pPr>
              <a:lnSpc>
                <a:spcPct val="150000"/>
              </a:lnSpc>
              <a:buFont typeface="Wingdings" panose="05000000000000000000" pitchFamily="2" charset="2"/>
              <a:buNone/>
            </a:pPr>
            <a:r>
              <a:rPr lang="en-US" sz="2000" b="1" i="1" dirty="0"/>
              <a:t>Router(</a:t>
            </a:r>
            <a:r>
              <a:rPr lang="en-US" sz="2000" b="1" i="1" dirty="0" err="1"/>
              <a:t>config</a:t>
            </a:r>
            <a:r>
              <a:rPr lang="en-US" sz="2000" b="1" i="1" dirty="0"/>
              <a:t>)#interface </a:t>
            </a:r>
            <a:r>
              <a:rPr lang="en-US" sz="2000" i="1" dirty="0" err="1"/>
              <a:t>interface</a:t>
            </a:r>
            <a:endParaRPr lang="en-US" sz="2000" i="1" dirty="0"/>
          </a:p>
          <a:p>
            <a:pPr>
              <a:lnSpc>
                <a:spcPct val="150000"/>
              </a:lnSpc>
              <a:buFont typeface="Wingdings" panose="05000000000000000000" pitchFamily="2" charset="2"/>
              <a:buNone/>
            </a:pPr>
            <a:r>
              <a:rPr lang="en-US" sz="2000" b="1" i="1" dirty="0"/>
              <a:t>Router(</a:t>
            </a:r>
            <a:r>
              <a:rPr lang="en-US" sz="2000" b="1" i="1" dirty="0" err="1"/>
              <a:t>config</a:t>
            </a:r>
            <a:r>
              <a:rPr lang="en-US" sz="2000" b="1" i="1" dirty="0"/>
              <a:t>-if)#description </a:t>
            </a:r>
            <a:r>
              <a:rPr lang="en-US" sz="2000" i="1" dirty="0" err="1"/>
              <a:t>lời</a:t>
            </a:r>
            <a:r>
              <a:rPr lang="en-US" sz="2000" i="1" dirty="0"/>
              <a:t> </a:t>
            </a:r>
            <a:r>
              <a:rPr lang="en-US" sz="2000" i="1" dirty="0" err="1"/>
              <a:t>mô</a:t>
            </a:r>
            <a:r>
              <a:rPr lang="en-US" sz="2000" i="1" dirty="0"/>
              <a:t> </a:t>
            </a:r>
            <a:r>
              <a:rPr lang="en-US" sz="2000" i="1" dirty="0" err="1"/>
              <a:t>tả</a:t>
            </a:r>
            <a:r>
              <a:rPr lang="en-US" sz="2000" i="1" dirty="0"/>
              <a:t> </a:t>
            </a:r>
            <a:r>
              <a:rPr lang="en-US" sz="2000" i="1" dirty="0" err="1"/>
              <a:t>cho</a:t>
            </a:r>
            <a:r>
              <a:rPr lang="en-US" sz="2000" i="1" dirty="0"/>
              <a:t> interface</a:t>
            </a:r>
          </a:p>
          <a:p>
            <a:pPr>
              <a:lnSpc>
                <a:spcPct val="150000"/>
              </a:lnSpc>
              <a:buFont typeface="Wingdings" panose="05000000000000000000" pitchFamily="2" charset="2"/>
              <a:buNone/>
            </a:pPr>
            <a:r>
              <a:rPr lang="en-US" sz="2000" i="1" u="sng" dirty="0" err="1">
                <a:solidFill>
                  <a:srgbClr val="FF0000"/>
                </a:solidFill>
              </a:rPr>
              <a:t>Ví</a:t>
            </a:r>
            <a:r>
              <a:rPr lang="en-US" sz="2000" i="1" u="sng" dirty="0">
                <a:solidFill>
                  <a:srgbClr val="FF0000"/>
                </a:solidFill>
              </a:rPr>
              <a:t> </a:t>
            </a:r>
            <a:r>
              <a:rPr lang="en-US" sz="2000" i="1" u="sng" dirty="0" err="1">
                <a:solidFill>
                  <a:srgbClr val="FF0000"/>
                </a:solidFill>
              </a:rPr>
              <a:t>dụ</a:t>
            </a:r>
            <a:r>
              <a:rPr lang="en-US" sz="2000" i="1" u="sng" dirty="0">
                <a:solidFill>
                  <a:srgbClr val="FF0000"/>
                </a:solidFill>
              </a:rPr>
              <a:t>:</a:t>
            </a:r>
          </a:p>
          <a:p>
            <a:pPr>
              <a:lnSpc>
                <a:spcPct val="150000"/>
              </a:lnSpc>
              <a:buFont typeface="Wingdings" panose="05000000000000000000" pitchFamily="2" charset="2"/>
              <a:buNone/>
            </a:pPr>
            <a:r>
              <a:rPr lang="en-US" sz="2000" b="1" i="1" dirty="0"/>
              <a:t>Router(</a:t>
            </a:r>
            <a:r>
              <a:rPr lang="en-US" sz="2000" b="1" i="1" dirty="0" err="1"/>
              <a:t>config</a:t>
            </a:r>
            <a:r>
              <a:rPr lang="en-US" sz="2000" b="1" i="1" dirty="0"/>
              <a:t>)#interface </a:t>
            </a:r>
            <a:r>
              <a:rPr lang="en-US" sz="2000" i="1" dirty="0"/>
              <a:t>fa0/0</a:t>
            </a:r>
          </a:p>
          <a:p>
            <a:pPr>
              <a:lnSpc>
                <a:spcPct val="150000"/>
              </a:lnSpc>
              <a:buFont typeface="Wingdings" panose="05000000000000000000" pitchFamily="2" charset="2"/>
              <a:buNone/>
            </a:pPr>
            <a:r>
              <a:rPr lang="en-US" sz="2000" b="1" i="1" dirty="0"/>
              <a:t>Router(</a:t>
            </a:r>
            <a:r>
              <a:rPr lang="en-US" sz="2000" b="1" i="1" dirty="0" err="1"/>
              <a:t>config</a:t>
            </a:r>
            <a:r>
              <a:rPr lang="en-US" sz="2000" b="1" i="1" dirty="0"/>
              <a:t>-if)#description </a:t>
            </a:r>
            <a:r>
              <a:rPr lang="en-US" sz="2000" i="1" dirty="0" err="1"/>
              <a:t>Kết</a:t>
            </a:r>
            <a:r>
              <a:rPr lang="en-US" sz="2000" i="1" dirty="0"/>
              <a:t> </a:t>
            </a:r>
            <a:r>
              <a:rPr lang="en-US" sz="2000" i="1" dirty="0" err="1"/>
              <a:t>nối</a:t>
            </a:r>
            <a:r>
              <a:rPr lang="en-US" sz="2000" i="1" dirty="0"/>
              <a:t> </a:t>
            </a:r>
            <a:r>
              <a:rPr lang="en-US" sz="2000" i="1" dirty="0" err="1"/>
              <a:t>với</a:t>
            </a:r>
            <a:r>
              <a:rPr lang="en-US" sz="2000" i="1" dirty="0"/>
              <a:t> LAN Sales</a:t>
            </a:r>
          </a:p>
          <a:p>
            <a:pPr>
              <a:buFont typeface="Wingdings" panose="05000000000000000000" pitchFamily="2" charset="2"/>
              <a:buNone/>
            </a:pPr>
            <a:endParaRPr lang="en-US" sz="2000" i="1" dirty="0"/>
          </a:p>
          <a:p>
            <a:pPr>
              <a:buFont typeface="Wingdings" panose="05000000000000000000" pitchFamily="2" charset="2"/>
              <a:buNone/>
            </a:pPr>
            <a:endParaRPr lang="en-US" sz="2000" dirty="0"/>
          </a:p>
        </p:txBody>
      </p:sp>
    </p:spTree>
    <p:extLst>
      <p:ext uri="{BB962C8B-B14F-4D97-AF65-F5344CB8AC3E}">
        <p14:creationId xmlns:p14="http://schemas.microsoft.com/office/powerpoint/2010/main" val="17996546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rtlCol="0" anchor="t" anchorCtr="0" compatLnSpc="1">
            <a:prstTxWarp prst="textNoShape">
              <a:avLst/>
            </a:prstTxWarp>
            <a:normAutofit/>
          </a:bodyPr>
          <a:lstStyle/>
          <a:p>
            <a:r>
              <a:rPr lang="en-US" dirty="0"/>
              <a:t>show </a:t>
            </a:r>
            <a:r>
              <a:rPr lang="en-US" dirty="0" err="1"/>
              <a:t>ip</a:t>
            </a:r>
            <a:r>
              <a:rPr lang="en-US" dirty="0"/>
              <a:t> interface brief</a:t>
            </a:r>
          </a:p>
        </p:txBody>
      </p:sp>
      <p:sp>
        <p:nvSpPr>
          <p:cNvPr id="12291" name="Text Box 4"/>
          <p:cNvSpPr txBox="1">
            <a:spLocks noChangeArrowheads="1"/>
          </p:cNvSpPr>
          <p:nvPr/>
        </p:nvSpPr>
        <p:spPr bwMode="auto">
          <a:xfrm>
            <a:off x="1528550" y="2133600"/>
            <a:ext cx="9139451" cy="4022464"/>
          </a:xfrm>
          <a:prstGeom prst="rect">
            <a:avLst/>
          </a:prstGeom>
          <a:solidFill>
            <a:schemeClr val="bg1"/>
          </a:solidFill>
          <a:ln w="28575" algn="ctr">
            <a:solidFill>
              <a:srgbClr val="0070C0"/>
            </a:solid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square" lIns="82124" tIns="41061" rIns="82124" bIns="41061">
            <a:spAutoFit/>
          </a:bodyPr>
          <a:lstStyle>
            <a:lvl1pPr defTabSz="814388">
              <a:defRPr sz="3000" b="1">
                <a:solidFill>
                  <a:schemeClr val="tx1"/>
                </a:solidFill>
                <a:latin typeface="Arial" charset="0"/>
              </a:defRPr>
            </a:lvl1pPr>
            <a:lvl2pPr marL="742950" indent="-285750" defTabSz="814388">
              <a:defRPr sz="3000" b="1">
                <a:solidFill>
                  <a:schemeClr val="tx1"/>
                </a:solidFill>
                <a:latin typeface="Arial" charset="0"/>
              </a:defRPr>
            </a:lvl2pPr>
            <a:lvl3pPr marL="1143000" indent="-228600" defTabSz="814388">
              <a:defRPr sz="3000" b="1">
                <a:solidFill>
                  <a:schemeClr val="tx1"/>
                </a:solidFill>
                <a:latin typeface="Arial" charset="0"/>
              </a:defRPr>
            </a:lvl3pPr>
            <a:lvl4pPr marL="1600200" indent="-228600" defTabSz="814388">
              <a:defRPr sz="3000" b="1">
                <a:solidFill>
                  <a:schemeClr val="tx1"/>
                </a:solidFill>
                <a:latin typeface="Arial" charset="0"/>
              </a:defRPr>
            </a:lvl4pPr>
            <a:lvl5pPr marL="2057400" indent="-228600" defTabSz="814388">
              <a:defRPr sz="3000" b="1">
                <a:solidFill>
                  <a:schemeClr val="tx1"/>
                </a:solidFill>
                <a:latin typeface="Arial" charset="0"/>
              </a:defRPr>
            </a:lvl5pPr>
            <a:lvl6pPr marL="2514600" indent="-228600" defTabSz="814388" eaLnBrk="0" fontAlgn="base" hangingPunct="0">
              <a:lnSpc>
                <a:spcPct val="90000"/>
              </a:lnSpc>
              <a:spcBef>
                <a:spcPct val="0"/>
              </a:spcBef>
              <a:spcAft>
                <a:spcPct val="0"/>
              </a:spcAft>
              <a:defRPr sz="3000" b="1">
                <a:solidFill>
                  <a:schemeClr val="tx1"/>
                </a:solidFill>
                <a:latin typeface="Arial" charset="0"/>
              </a:defRPr>
            </a:lvl6pPr>
            <a:lvl7pPr marL="2971800" indent="-228600" defTabSz="814388" eaLnBrk="0" fontAlgn="base" hangingPunct="0">
              <a:lnSpc>
                <a:spcPct val="90000"/>
              </a:lnSpc>
              <a:spcBef>
                <a:spcPct val="0"/>
              </a:spcBef>
              <a:spcAft>
                <a:spcPct val="0"/>
              </a:spcAft>
              <a:defRPr sz="3000" b="1">
                <a:solidFill>
                  <a:schemeClr val="tx1"/>
                </a:solidFill>
                <a:latin typeface="Arial" charset="0"/>
              </a:defRPr>
            </a:lvl7pPr>
            <a:lvl8pPr marL="3429000" indent="-228600" defTabSz="814388" eaLnBrk="0" fontAlgn="base" hangingPunct="0">
              <a:lnSpc>
                <a:spcPct val="90000"/>
              </a:lnSpc>
              <a:spcBef>
                <a:spcPct val="0"/>
              </a:spcBef>
              <a:spcAft>
                <a:spcPct val="0"/>
              </a:spcAft>
              <a:defRPr sz="3000" b="1">
                <a:solidFill>
                  <a:schemeClr val="tx1"/>
                </a:solidFill>
                <a:latin typeface="Arial" charset="0"/>
              </a:defRPr>
            </a:lvl8pPr>
            <a:lvl9pPr marL="3886200" indent="-228600" defTabSz="814388" eaLnBrk="0" fontAlgn="base" hangingPunct="0">
              <a:lnSpc>
                <a:spcPct val="90000"/>
              </a:lnSpc>
              <a:spcBef>
                <a:spcPct val="0"/>
              </a:spcBef>
              <a:spcAft>
                <a:spcPct val="0"/>
              </a:spcAft>
              <a:defRPr sz="3000" b="1">
                <a:solidFill>
                  <a:schemeClr val="tx1"/>
                </a:solidFill>
                <a:latin typeface="Arial" charset="0"/>
              </a:defRPr>
            </a:lvl9pPr>
          </a:lstStyle>
          <a:p>
            <a:r>
              <a:rPr lang="en-US" sz="1600">
                <a:solidFill>
                  <a:srgbClr val="0070C0"/>
                </a:solidFill>
                <a:latin typeface="Courier New" pitchFamily="49" charset="0"/>
              </a:rPr>
              <a:t>Router# </a:t>
            </a:r>
            <a:r>
              <a:rPr lang="en-US" sz="1600">
                <a:solidFill>
                  <a:srgbClr val="C00000"/>
                </a:solidFill>
                <a:latin typeface="Courier New" pitchFamily="49" charset="0"/>
              </a:rPr>
              <a:t>show ip interface brief</a:t>
            </a:r>
          </a:p>
          <a:p>
            <a:r>
              <a:rPr lang="en-US" sz="1600">
                <a:solidFill>
                  <a:srgbClr val="0070C0"/>
                </a:solidFill>
                <a:latin typeface="Courier New" pitchFamily="49" charset="0"/>
              </a:rPr>
              <a:t>Interface          IP-Address      OK? Method Status            Protocol</a:t>
            </a:r>
          </a:p>
          <a:p>
            <a:r>
              <a:rPr lang="en-US" sz="1600">
                <a:solidFill>
                  <a:srgbClr val="0070C0"/>
                </a:solidFill>
                <a:latin typeface="Courier New" pitchFamily="49" charset="0"/>
              </a:rPr>
              <a:t> </a:t>
            </a:r>
          </a:p>
          <a:p>
            <a:r>
              <a:rPr lang="en-US" sz="1600">
                <a:solidFill>
                  <a:srgbClr val="0070C0"/>
                </a:solidFill>
                <a:latin typeface="Courier New" pitchFamily="49" charset="0"/>
              </a:rPr>
              <a:t>FastEthernet0/0    </a:t>
            </a:r>
            <a:r>
              <a:rPr lang="en-US" sz="1600">
                <a:solidFill>
                  <a:srgbClr val="C00000"/>
                </a:solidFill>
                <a:latin typeface="Courier New" pitchFamily="49" charset="0"/>
              </a:rPr>
              <a:t>10.0.0.1</a:t>
            </a:r>
            <a:r>
              <a:rPr lang="en-US" sz="1600">
                <a:solidFill>
                  <a:srgbClr val="0070C0"/>
                </a:solidFill>
                <a:latin typeface="Courier New" pitchFamily="49" charset="0"/>
              </a:rPr>
              <a:t>        YES mannual  </a:t>
            </a:r>
            <a:r>
              <a:rPr lang="en-US" sz="1600">
                <a:solidFill>
                  <a:srgbClr val="C00000"/>
                </a:solidFill>
                <a:latin typeface="Courier New" pitchFamily="49" charset="0"/>
              </a:rPr>
              <a:t>up</a:t>
            </a:r>
            <a:r>
              <a:rPr lang="en-US" sz="1600">
                <a:solidFill>
                  <a:srgbClr val="0070C0"/>
                </a:solidFill>
                <a:latin typeface="Courier New" pitchFamily="49" charset="0"/>
              </a:rPr>
              <a:t>                 </a:t>
            </a:r>
            <a:r>
              <a:rPr lang="en-US" sz="1600">
                <a:solidFill>
                  <a:srgbClr val="C00000"/>
                </a:solidFill>
                <a:latin typeface="Courier New" pitchFamily="49" charset="0"/>
              </a:rPr>
              <a:t>up</a:t>
            </a:r>
          </a:p>
          <a:p>
            <a:r>
              <a:rPr lang="en-US" sz="1600">
                <a:solidFill>
                  <a:srgbClr val="0070C0"/>
                </a:solidFill>
                <a:latin typeface="Courier New" pitchFamily="49" charset="0"/>
              </a:rPr>
              <a:t> </a:t>
            </a:r>
          </a:p>
          <a:p>
            <a:r>
              <a:rPr lang="en-US" sz="1600">
                <a:solidFill>
                  <a:srgbClr val="0070C0"/>
                </a:solidFill>
                <a:latin typeface="Courier New" pitchFamily="49" charset="0"/>
              </a:rPr>
              <a:t>FastEthernet0/1    unassigned      YES unset  administratively down down</a:t>
            </a:r>
          </a:p>
          <a:p>
            <a:r>
              <a:rPr lang="en-US" sz="1600">
                <a:solidFill>
                  <a:srgbClr val="0070C0"/>
                </a:solidFill>
                <a:latin typeface="Courier New" pitchFamily="49" charset="0"/>
              </a:rPr>
              <a:t> </a:t>
            </a:r>
          </a:p>
          <a:p>
            <a:r>
              <a:rPr lang="en-US" sz="1600">
                <a:solidFill>
                  <a:srgbClr val="0070C0"/>
                </a:solidFill>
                <a:latin typeface="Courier New" pitchFamily="49" charset="0"/>
              </a:rPr>
              <a:t>Serial0/0/0        unassigned      YES unset  administratively down down</a:t>
            </a:r>
          </a:p>
          <a:p>
            <a:r>
              <a:rPr lang="en-US" sz="1600">
                <a:solidFill>
                  <a:srgbClr val="0070C0"/>
                </a:solidFill>
                <a:latin typeface="Courier New" pitchFamily="49" charset="0"/>
              </a:rPr>
              <a:t> </a:t>
            </a:r>
          </a:p>
          <a:p>
            <a:r>
              <a:rPr lang="en-US" sz="1600">
                <a:solidFill>
                  <a:srgbClr val="0070C0"/>
                </a:solidFill>
                <a:latin typeface="Courier New" pitchFamily="49" charset="0"/>
              </a:rPr>
              <a:t>Serial0/1/0        unassigned      YES unset  administratively down down</a:t>
            </a:r>
          </a:p>
          <a:p>
            <a:r>
              <a:rPr lang="en-US" sz="1600">
                <a:solidFill>
                  <a:srgbClr val="0070C0"/>
                </a:solidFill>
                <a:latin typeface="Courier New" pitchFamily="49" charset="0"/>
              </a:rPr>
              <a:t> </a:t>
            </a:r>
          </a:p>
          <a:p>
            <a:r>
              <a:rPr lang="en-US" sz="1600">
                <a:solidFill>
                  <a:srgbClr val="0070C0"/>
                </a:solidFill>
                <a:latin typeface="Courier New" pitchFamily="49" charset="0"/>
              </a:rPr>
              <a:t>Serial0/2/0        unassigned      YES unset  administratively down down</a:t>
            </a:r>
          </a:p>
          <a:p>
            <a:r>
              <a:rPr lang="en-US" sz="1600">
                <a:solidFill>
                  <a:srgbClr val="0070C0"/>
                </a:solidFill>
                <a:latin typeface="Courier New" pitchFamily="49" charset="0"/>
              </a:rPr>
              <a:t> </a:t>
            </a:r>
          </a:p>
          <a:p>
            <a:r>
              <a:rPr lang="en-US" sz="1600">
                <a:solidFill>
                  <a:srgbClr val="0070C0"/>
                </a:solidFill>
                <a:latin typeface="Courier New" pitchFamily="49" charset="0"/>
              </a:rPr>
              <a:t>Serial0/3/0        unassigned      YES unset  administratively down down</a:t>
            </a:r>
          </a:p>
          <a:p>
            <a:r>
              <a:rPr lang="en-US" sz="1600">
                <a:solidFill>
                  <a:srgbClr val="0070C0"/>
                </a:solidFill>
                <a:latin typeface="Courier New" pitchFamily="49" charset="0"/>
              </a:rPr>
              <a:t> </a:t>
            </a:r>
          </a:p>
          <a:p>
            <a:r>
              <a:rPr lang="en-US" sz="1600">
                <a:solidFill>
                  <a:srgbClr val="0070C0"/>
                </a:solidFill>
                <a:latin typeface="Courier New" pitchFamily="49" charset="0"/>
              </a:rPr>
              <a:t>Router# </a:t>
            </a:r>
            <a:r>
              <a:rPr lang="en-US" sz="1600">
                <a:solidFill>
                  <a:srgbClr val="FF0000"/>
                </a:solidFill>
                <a:latin typeface="Courier New" pitchFamily="49" charset="0"/>
              </a:rPr>
              <a:t>ping 10.0.0.2</a:t>
            </a:r>
          </a:p>
        </p:txBody>
      </p:sp>
    </p:spTree>
    <p:extLst>
      <p:ext uri="{BB962C8B-B14F-4D97-AF65-F5344CB8AC3E}">
        <p14:creationId xmlns:p14="http://schemas.microsoft.com/office/powerpoint/2010/main" val="223190305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II. MỘT SỐ THAO TÁC CƠ BẢN</a:t>
            </a:r>
          </a:p>
        </p:txBody>
      </p:sp>
      <p:sp>
        <p:nvSpPr>
          <p:cNvPr id="3" name="Content Placeholder 2"/>
          <p:cNvSpPr>
            <a:spLocks noGrp="1"/>
          </p:cNvSpPr>
          <p:nvPr>
            <p:ph idx="1"/>
          </p:nvPr>
        </p:nvSpPr>
        <p:spPr>
          <a:xfrm>
            <a:off x="515155" y="1143000"/>
            <a:ext cx="11024315" cy="5029200"/>
          </a:xfrm>
        </p:spPr>
        <p:txBody>
          <a:bodyPr/>
          <a:lstStyle/>
          <a:p>
            <a:pPr>
              <a:defRPr/>
            </a:pPr>
            <a:r>
              <a:rPr lang="en-US" sz="2000" u="sng" dirty="0" err="1"/>
              <a:t>Xem</a:t>
            </a:r>
            <a:r>
              <a:rPr lang="en-US" sz="2000" u="sng" dirty="0"/>
              <a:t> </a:t>
            </a:r>
            <a:r>
              <a:rPr lang="en-US" sz="2000" u="sng" dirty="0" err="1"/>
              <a:t>thông</a:t>
            </a:r>
            <a:r>
              <a:rPr lang="en-US" sz="2000" u="sng" dirty="0"/>
              <a:t> tin </a:t>
            </a:r>
            <a:r>
              <a:rPr lang="en-US" sz="2000" u="sng" dirty="0" err="1"/>
              <a:t>cấu</a:t>
            </a:r>
            <a:r>
              <a:rPr lang="en-US" sz="2000" u="sng" dirty="0"/>
              <a:t> </a:t>
            </a:r>
            <a:r>
              <a:rPr lang="en-US" sz="2000" u="sng" dirty="0" err="1"/>
              <a:t>hình</a:t>
            </a:r>
            <a:endParaRPr lang="en-US" sz="2000" u="sng" dirty="0"/>
          </a:p>
          <a:p>
            <a:pPr marL="439738" lvl="1">
              <a:defRPr/>
            </a:pPr>
            <a:r>
              <a:rPr lang="en-US" sz="2000" b="1" dirty="0" err="1"/>
              <a:t>Router#show</a:t>
            </a:r>
            <a:r>
              <a:rPr lang="en-US" sz="2000" b="1" dirty="0"/>
              <a:t> </a:t>
            </a:r>
            <a:r>
              <a:rPr lang="en-US" sz="2000" b="1" dirty="0" err="1"/>
              <a:t>ip</a:t>
            </a:r>
            <a:r>
              <a:rPr lang="en-US" sz="2000" b="1" dirty="0"/>
              <a:t> route</a:t>
            </a:r>
            <a:r>
              <a:rPr lang="en-US" sz="2000" dirty="0"/>
              <a:t>: </a:t>
            </a:r>
            <a:r>
              <a:rPr lang="en-US" sz="2000" dirty="0" err="1"/>
              <a:t>Xem</a:t>
            </a:r>
            <a:r>
              <a:rPr lang="en-US" sz="2000" dirty="0"/>
              <a:t> </a:t>
            </a:r>
            <a:r>
              <a:rPr lang="en-US" sz="2000" dirty="0" err="1"/>
              <a:t>bảng</a:t>
            </a:r>
            <a:r>
              <a:rPr lang="en-US" sz="2000" dirty="0"/>
              <a:t> </a:t>
            </a:r>
            <a:r>
              <a:rPr lang="en-US" sz="2000" dirty="0" err="1"/>
              <a:t>định</a:t>
            </a:r>
            <a:r>
              <a:rPr lang="en-US" sz="2000" dirty="0"/>
              <a:t> </a:t>
            </a:r>
            <a:r>
              <a:rPr lang="en-US" sz="2000" dirty="0" err="1"/>
              <a:t>tuyến</a:t>
            </a:r>
            <a:endParaRPr lang="en-US" sz="2000" dirty="0"/>
          </a:p>
          <a:p>
            <a:pPr marL="439738" lvl="1">
              <a:defRPr/>
            </a:pPr>
            <a:r>
              <a:rPr lang="en-US" sz="2000" b="1" dirty="0" err="1"/>
              <a:t>Router#Show</a:t>
            </a:r>
            <a:r>
              <a:rPr lang="en-US" sz="2000" b="1" dirty="0"/>
              <a:t> version: </a:t>
            </a:r>
            <a:r>
              <a:rPr lang="en-US" sz="2000" dirty="0" err="1"/>
              <a:t>Xem</a:t>
            </a:r>
            <a:r>
              <a:rPr lang="en-US" sz="2000" dirty="0"/>
              <a:t> </a:t>
            </a:r>
            <a:r>
              <a:rPr lang="en-US" sz="2000" dirty="0" err="1"/>
              <a:t>cấu</a:t>
            </a:r>
            <a:r>
              <a:rPr lang="en-US" sz="2000" dirty="0"/>
              <a:t> </a:t>
            </a:r>
            <a:r>
              <a:rPr lang="en-US" sz="2000" dirty="0" err="1"/>
              <a:t>hình</a:t>
            </a:r>
            <a:r>
              <a:rPr lang="en-US" sz="2000" dirty="0"/>
              <a:t> </a:t>
            </a:r>
            <a:r>
              <a:rPr lang="en-US" sz="2000" dirty="0" err="1"/>
              <a:t>thanh</a:t>
            </a:r>
            <a:r>
              <a:rPr lang="en-US" sz="2000" dirty="0"/>
              <a:t> </a:t>
            </a:r>
            <a:r>
              <a:rPr lang="en-US" sz="2000" dirty="0" err="1"/>
              <a:t>ghi</a:t>
            </a:r>
            <a:endParaRPr lang="en-US" sz="2000" dirty="0"/>
          </a:p>
          <a:p>
            <a:pPr marL="439738" lvl="1">
              <a:defRPr/>
            </a:pPr>
            <a:r>
              <a:rPr lang="en-US" sz="2000" b="1" dirty="0" err="1"/>
              <a:t>Router#Show</a:t>
            </a:r>
            <a:r>
              <a:rPr lang="en-US" sz="2000" b="1" dirty="0"/>
              <a:t> flash: </a:t>
            </a:r>
            <a:r>
              <a:rPr lang="en-US" sz="2000" dirty="0" err="1"/>
              <a:t>Xem</a:t>
            </a:r>
            <a:r>
              <a:rPr lang="en-US" sz="2000" dirty="0"/>
              <a:t> </a:t>
            </a:r>
            <a:r>
              <a:rPr lang="en-US" sz="2000" dirty="0" err="1"/>
              <a:t>thông</a:t>
            </a:r>
            <a:r>
              <a:rPr lang="en-US" sz="2000" dirty="0"/>
              <a:t> tin </a:t>
            </a:r>
            <a:r>
              <a:rPr lang="en-US" sz="2000" dirty="0" err="1"/>
              <a:t>hệ</a:t>
            </a:r>
            <a:r>
              <a:rPr lang="en-US" sz="2000" dirty="0"/>
              <a:t> </a:t>
            </a:r>
            <a:r>
              <a:rPr lang="en-US" sz="2000" dirty="0" err="1"/>
              <a:t>điều</a:t>
            </a:r>
            <a:r>
              <a:rPr lang="en-US" sz="2000" dirty="0"/>
              <a:t> </a:t>
            </a:r>
            <a:r>
              <a:rPr lang="en-US" sz="2000" dirty="0" err="1"/>
              <a:t>hành</a:t>
            </a:r>
            <a:r>
              <a:rPr lang="en-US" sz="2000" dirty="0"/>
              <a:t> (.bin)</a:t>
            </a:r>
          </a:p>
          <a:p>
            <a:pPr marL="439738" lvl="1">
              <a:defRPr/>
            </a:pPr>
            <a:r>
              <a:rPr lang="en-US" sz="2000" b="1" dirty="0" err="1"/>
              <a:t>Router#Show</a:t>
            </a:r>
            <a:r>
              <a:rPr lang="en-US" sz="2000" b="1" dirty="0"/>
              <a:t> history: </a:t>
            </a:r>
            <a:r>
              <a:rPr lang="en-US" sz="2000" dirty="0" err="1"/>
              <a:t>Xem</a:t>
            </a:r>
            <a:r>
              <a:rPr lang="en-US" sz="2000" dirty="0"/>
              <a:t> </a:t>
            </a:r>
            <a:r>
              <a:rPr lang="en-US" sz="2000" dirty="0" err="1"/>
              <a:t>tất</a:t>
            </a:r>
            <a:r>
              <a:rPr lang="en-US" sz="2000" dirty="0"/>
              <a:t> </a:t>
            </a:r>
            <a:r>
              <a:rPr lang="en-US" sz="2000" dirty="0" err="1"/>
              <a:t>cả</a:t>
            </a:r>
            <a:r>
              <a:rPr lang="en-US" sz="2000" dirty="0"/>
              <a:t> </a:t>
            </a:r>
            <a:r>
              <a:rPr lang="en-US" sz="2000" dirty="0" err="1"/>
              <a:t>lệnh</a:t>
            </a:r>
            <a:r>
              <a:rPr lang="en-US" sz="2000" dirty="0"/>
              <a:t> </a:t>
            </a:r>
            <a:r>
              <a:rPr lang="en-US" sz="2000" dirty="0" err="1"/>
              <a:t>trong</a:t>
            </a:r>
            <a:r>
              <a:rPr lang="en-US" sz="2000" dirty="0"/>
              <a:t> </a:t>
            </a:r>
            <a:r>
              <a:rPr lang="en-US" sz="2000" dirty="0" err="1"/>
              <a:t>bộ</a:t>
            </a:r>
            <a:r>
              <a:rPr lang="en-US" sz="2000" dirty="0"/>
              <a:t> </a:t>
            </a:r>
            <a:r>
              <a:rPr lang="en-US" sz="2000" dirty="0" err="1"/>
              <a:t>nhớ</a:t>
            </a:r>
            <a:r>
              <a:rPr lang="en-US" sz="2000" dirty="0"/>
              <a:t>(buffer)</a:t>
            </a:r>
          </a:p>
          <a:p>
            <a:pPr marL="439738" lvl="1">
              <a:defRPr/>
            </a:pPr>
            <a:r>
              <a:rPr lang="en-US" sz="2000" b="1" dirty="0" err="1"/>
              <a:t>Router#Show</a:t>
            </a:r>
            <a:r>
              <a:rPr lang="en-US" sz="2000" b="1" dirty="0"/>
              <a:t> </a:t>
            </a:r>
            <a:r>
              <a:rPr lang="en-US" sz="2000" b="1" dirty="0" err="1"/>
              <a:t>ip</a:t>
            </a:r>
            <a:r>
              <a:rPr lang="en-US" sz="2000" b="1" dirty="0"/>
              <a:t> interface brief</a:t>
            </a:r>
          </a:p>
          <a:p>
            <a:pPr marL="439738" lvl="1">
              <a:defRPr/>
            </a:pPr>
            <a:r>
              <a:rPr lang="en-US" sz="2000" b="1" dirty="0" err="1"/>
              <a:t>Router#Show</a:t>
            </a:r>
            <a:r>
              <a:rPr lang="en-US" sz="2000" b="1" dirty="0"/>
              <a:t> </a:t>
            </a:r>
            <a:r>
              <a:rPr lang="en-US" sz="2000" b="1" dirty="0" err="1"/>
              <a:t>cdp</a:t>
            </a:r>
            <a:r>
              <a:rPr lang="en-US" sz="2000" b="1" dirty="0"/>
              <a:t>: </a:t>
            </a:r>
            <a:r>
              <a:rPr lang="en-US" sz="2000" dirty="0" err="1"/>
              <a:t>Xem</a:t>
            </a:r>
            <a:r>
              <a:rPr lang="en-US" sz="2000" dirty="0"/>
              <a:t> </a:t>
            </a:r>
            <a:r>
              <a:rPr lang="en-US" sz="2000" dirty="0" err="1"/>
              <a:t>thông</a:t>
            </a:r>
            <a:r>
              <a:rPr lang="en-US" sz="2000" dirty="0"/>
              <a:t> tin CDP</a:t>
            </a:r>
          </a:p>
          <a:p>
            <a:pPr marL="439738" lvl="1">
              <a:defRPr/>
            </a:pPr>
            <a:r>
              <a:rPr lang="en-US" sz="2000" b="1" dirty="0" err="1"/>
              <a:t>Router#ping</a:t>
            </a:r>
            <a:r>
              <a:rPr lang="en-US" sz="2000" dirty="0"/>
              <a:t> : </a:t>
            </a:r>
            <a:r>
              <a:rPr lang="en-US" sz="2000" dirty="0" err="1"/>
              <a:t>Kiễm</a:t>
            </a:r>
            <a:r>
              <a:rPr lang="en-US" sz="2000" dirty="0"/>
              <a:t> </a:t>
            </a:r>
            <a:r>
              <a:rPr lang="en-US" sz="2000" dirty="0" err="1"/>
              <a:t>tra</a:t>
            </a:r>
            <a:r>
              <a:rPr lang="en-US" sz="2000" dirty="0"/>
              <a:t> </a:t>
            </a:r>
            <a:r>
              <a:rPr lang="en-US" sz="2000" dirty="0" err="1"/>
              <a:t>kết</a:t>
            </a:r>
            <a:r>
              <a:rPr lang="en-US" sz="2000" dirty="0"/>
              <a:t> </a:t>
            </a:r>
            <a:r>
              <a:rPr lang="en-US" sz="2000" dirty="0" err="1"/>
              <a:t>nối</a:t>
            </a:r>
            <a:endParaRPr lang="en-US" sz="2000" dirty="0"/>
          </a:p>
          <a:p>
            <a:pPr marL="439738" lvl="1">
              <a:defRPr/>
            </a:pPr>
            <a:r>
              <a:rPr lang="en-US" sz="2000" b="1" dirty="0" err="1"/>
              <a:t>Router#Show</a:t>
            </a:r>
            <a:r>
              <a:rPr lang="en-US" sz="2000" b="1" dirty="0"/>
              <a:t> running-</a:t>
            </a:r>
            <a:r>
              <a:rPr lang="en-US" sz="2000" b="1" dirty="0" err="1"/>
              <a:t>config</a:t>
            </a:r>
            <a:r>
              <a:rPr lang="en-US" sz="2000" b="1" dirty="0"/>
              <a:t> </a:t>
            </a:r>
            <a:r>
              <a:rPr lang="en-US" sz="2000" dirty="0">
                <a:solidFill>
                  <a:srgbClr val="FF0000"/>
                </a:solidFill>
              </a:rPr>
              <a:t>// </a:t>
            </a:r>
            <a:r>
              <a:rPr lang="en-US" sz="2000" i="1" dirty="0" err="1">
                <a:solidFill>
                  <a:srgbClr val="FF0000"/>
                </a:solidFill>
              </a:rPr>
              <a:t>hiển</a:t>
            </a:r>
            <a:r>
              <a:rPr lang="en-US" sz="2000" i="1" dirty="0">
                <a:solidFill>
                  <a:srgbClr val="FF0000"/>
                </a:solidFill>
              </a:rPr>
              <a:t> </a:t>
            </a:r>
            <a:r>
              <a:rPr lang="en-US" sz="2000" i="1" dirty="0" err="1">
                <a:solidFill>
                  <a:srgbClr val="FF0000"/>
                </a:solidFill>
              </a:rPr>
              <a:t>thị</a:t>
            </a:r>
            <a:r>
              <a:rPr lang="en-US" sz="2000" i="1" dirty="0">
                <a:solidFill>
                  <a:srgbClr val="FF0000"/>
                </a:solidFill>
              </a:rPr>
              <a:t> </a:t>
            </a:r>
            <a:r>
              <a:rPr lang="en-US" sz="2000" i="1" dirty="0" err="1">
                <a:solidFill>
                  <a:srgbClr val="FF0000"/>
                </a:solidFill>
              </a:rPr>
              <a:t>cấu</a:t>
            </a:r>
            <a:r>
              <a:rPr lang="en-US" sz="2000" i="1" dirty="0">
                <a:solidFill>
                  <a:srgbClr val="FF0000"/>
                </a:solidFill>
              </a:rPr>
              <a:t> </a:t>
            </a:r>
            <a:r>
              <a:rPr lang="en-US" sz="2000" i="1" dirty="0" err="1">
                <a:solidFill>
                  <a:srgbClr val="FF0000"/>
                </a:solidFill>
              </a:rPr>
              <a:t>hình</a:t>
            </a:r>
            <a:r>
              <a:rPr lang="en-US" sz="2000" i="1" dirty="0">
                <a:solidFill>
                  <a:srgbClr val="FF0000"/>
                </a:solidFill>
              </a:rPr>
              <a:t> in RAM</a:t>
            </a:r>
          </a:p>
          <a:p>
            <a:pPr marL="439738" lvl="1">
              <a:defRPr/>
            </a:pPr>
            <a:r>
              <a:rPr lang="en-US" sz="2000" b="1" dirty="0" err="1"/>
              <a:t>Router#Show</a:t>
            </a:r>
            <a:r>
              <a:rPr lang="en-US" sz="2000" b="1" dirty="0"/>
              <a:t> start-</a:t>
            </a:r>
            <a:r>
              <a:rPr lang="en-US" sz="2000" b="1" dirty="0" err="1"/>
              <a:t>config</a:t>
            </a:r>
            <a:r>
              <a:rPr lang="en-US" sz="2000" b="1" dirty="0"/>
              <a:t> </a:t>
            </a:r>
            <a:r>
              <a:rPr lang="en-US" sz="2000" b="1" dirty="0">
                <a:solidFill>
                  <a:srgbClr val="FF0000"/>
                </a:solidFill>
              </a:rPr>
              <a:t>//</a:t>
            </a:r>
            <a:r>
              <a:rPr lang="en-US" sz="2000" i="1" dirty="0" err="1">
                <a:solidFill>
                  <a:srgbClr val="FF0000"/>
                </a:solidFill>
              </a:rPr>
              <a:t>hiển</a:t>
            </a:r>
            <a:r>
              <a:rPr lang="en-US" sz="2000" i="1" dirty="0">
                <a:solidFill>
                  <a:srgbClr val="FF0000"/>
                </a:solidFill>
              </a:rPr>
              <a:t> </a:t>
            </a:r>
            <a:r>
              <a:rPr lang="en-US" sz="2000" i="1" dirty="0" err="1">
                <a:solidFill>
                  <a:srgbClr val="FF0000"/>
                </a:solidFill>
              </a:rPr>
              <a:t>thị</a:t>
            </a:r>
            <a:r>
              <a:rPr lang="en-US" sz="2000" i="1" dirty="0">
                <a:solidFill>
                  <a:srgbClr val="FF0000"/>
                </a:solidFill>
              </a:rPr>
              <a:t> </a:t>
            </a:r>
            <a:r>
              <a:rPr lang="en-US" sz="2000" i="1" dirty="0" err="1">
                <a:solidFill>
                  <a:srgbClr val="FF0000"/>
                </a:solidFill>
              </a:rPr>
              <a:t>cấu</a:t>
            </a:r>
            <a:r>
              <a:rPr lang="en-US" sz="2000" i="1" dirty="0">
                <a:solidFill>
                  <a:srgbClr val="FF0000"/>
                </a:solidFill>
              </a:rPr>
              <a:t> </a:t>
            </a:r>
            <a:r>
              <a:rPr lang="en-US" sz="2000" i="1" dirty="0" err="1">
                <a:solidFill>
                  <a:srgbClr val="FF0000"/>
                </a:solidFill>
              </a:rPr>
              <a:t>hình</a:t>
            </a:r>
            <a:r>
              <a:rPr lang="en-US" sz="2000" i="1" dirty="0">
                <a:solidFill>
                  <a:srgbClr val="FF0000"/>
                </a:solidFill>
              </a:rPr>
              <a:t> in NVRAM</a:t>
            </a:r>
          </a:p>
          <a:p>
            <a:pPr marL="439738" lvl="1">
              <a:buNone/>
              <a:defRPr/>
            </a:pPr>
            <a:r>
              <a:rPr lang="en-US" sz="2000" dirty="0"/>
              <a:t>	Displays the current and saved configuration</a:t>
            </a:r>
          </a:p>
          <a:p>
            <a:pPr lvl="1">
              <a:buFont typeface="Wingdings" panose="05000000000000000000" pitchFamily="2" charset="2"/>
              <a:buNone/>
              <a:defRPr/>
            </a:pPr>
            <a:endParaRPr lang="en-US" sz="2000" dirty="0"/>
          </a:p>
          <a:p>
            <a:pPr lvl="1">
              <a:defRPr/>
            </a:pPr>
            <a:endParaRPr lang="en-US" sz="2000" dirty="0"/>
          </a:p>
          <a:p>
            <a:pPr lvl="1">
              <a:defRPr/>
            </a:pPr>
            <a:endParaRPr lang="en-US" sz="2000" dirty="0"/>
          </a:p>
          <a:p>
            <a:pPr lvl="1">
              <a:defRPr/>
            </a:pPr>
            <a:endParaRPr lang="en-US" sz="2000" dirty="0"/>
          </a:p>
          <a:p>
            <a:pPr lvl="1">
              <a:defRPr/>
            </a:pPr>
            <a:endParaRPr lang="en-US" sz="2000" dirty="0"/>
          </a:p>
          <a:p>
            <a:pPr lvl="1">
              <a:defRPr/>
            </a:pPr>
            <a:endParaRPr lang="en-US" sz="2000" dirty="0"/>
          </a:p>
        </p:txBody>
      </p:sp>
    </p:spTree>
    <p:extLst>
      <p:ext uri="{BB962C8B-B14F-4D97-AF65-F5344CB8AC3E}">
        <p14:creationId xmlns:p14="http://schemas.microsoft.com/office/powerpoint/2010/main" val="15019342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1676400" y="266701"/>
            <a:ext cx="8839200" cy="487363"/>
          </a:xfrm>
        </p:spPr>
        <p:txBody>
          <a:bodyPr/>
          <a:lstStyle/>
          <a:p>
            <a:r>
              <a:rPr lang="en-US" sz="2800" dirty="0"/>
              <a:t>III. SAO LƯU VÀ NẠP IOS CHO ROUTER</a:t>
            </a:r>
            <a:endParaRPr lang="vi-VN" dirty="0"/>
          </a:p>
        </p:txBody>
      </p:sp>
      <p:sp>
        <p:nvSpPr>
          <p:cNvPr id="41987" name="Content Placeholder 2"/>
          <p:cNvSpPr>
            <a:spLocks noGrp="1"/>
          </p:cNvSpPr>
          <p:nvPr>
            <p:ph idx="1"/>
          </p:nvPr>
        </p:nvSpPr>
        <p:spPr>
          <a:xfrm>
            <a:off x="1905000" y="1066800"/>
            <a:ext cx="8343900" cy="5410200"/>
          </a:xfrm>
        </p:spPr>
        <p:txBody>
          <a:bodyPr/>
          <a:lstStyle/>
          <a:p>
            <a:r>
              <a:rPr lang="en-US" sz="2000" dirty="0"/>
              <a:t>Backup IOS Router </a:t>
            </a:r>
            <a:r>
              <a:rPr lang="en-US" sz="2000" dirty="0" err="1"/>
              <a:t>vào</a:t>
            </a:r>
            <a:r>
              <a:rPr lang="en-US" sz="2000" dirty="0"/>
              <a:t> TFTP Server (ghost Router)</a:t>
            </a:r>
          </a:p>
          <a:p>
            <a:endParaRPr lang="en-US" sz="2000" dirty="0"/>
          </a:p>
          <a:p>
            <a:endParaRPr lang="en-US" sz="2000" dirty="0"/>
          </a:p>
          <a:p>
            <a:endParaRPr lang="en-US" sz="2000" dirty="0"/>
          </a:p>
          <a:p>
            <a:pPr>
              <a:buFont typeface="Wingdings" panose="05000000000000000000" pitchFamily="2" charset="2"/>
              <a:buNone/>
            </a:pPr>
            <a:endParaRPr lang="en-US" sz="2000" dirty="0"/>
          </a:p>
          <a:p>
            <a:pPr>
              <a:buFont typeface="Wingdings" panose="05000000000000000000" pitchFamily="2" charset="2"/>
              <a:buNone/>
            </a:pPr>
            <a:endParaRPr lang="en-US" sz="2000" dirty="0"/>
          </a:p>
          <a:p>
            <a:pPr>
              <a:buFont typeface="Wingdings" panose="05000000000000000000" pitchFamily="2" charset="2"/>
              <a:buNone/>
            </a:pPr>
            <a:r>
              <a:rPr lang="en-US" sz="2000" b="1" dirty="0" err="1"/>
              <a:t>Router#show</a:t>
            </a:r>
            <a:r>
              <a:rPr lang="en-US" sz="2000" b="1" dirty="0"/>
              <a:t> version</a:t>
            </a:r>
          </a:p>
          <a:p>
            <a:pPr>
              <a:buFont typeface="Wingdings" panose="05000000000000000000" pitchFamily="2" charset="2"/>
              <a:buNone/>
            </a:pPr>
            <a:r>
              <a:rPr lang="en-US" sz="2000" b="1" dirty="0" err="1"/>
              <a:t>Router#show</a:t>
            </a:r>
            <a:r>
              <a:rPr lang="en-US" sz="2000" b="1" dirty="0"/>
              <a:t> flash</a:t>
            </a:r>
          </a:p>
          <a:p>
            <a:pPr>
              <a:buFont typeface="Wingdings" panose="05000000000000000000" pitchFamily="2" charset="2"/>
              <a:buNone/>
            </a:pPr>
            <a:r>
              <a:rPr lang="en-US" sz="2000" b="1" dirty="0" err="1"/>
              <a:t>Router#copy</a:t>
            </a:r>
            <a:r>
              <a:rPr lang="en-US" sz="2000" b="1" dirty="0"/>
              <a:t> flash </a:t>
            </a:r>
            <a:r>
              <a:rPr lang="en-US" sz="2000" b="1" dirty="0" err="1"/>
              <a:t>tftp</a:t>
            </a:r>
            <a:endParaRPr lang="en-US" sz="2000" b="1" dirty="0"/>
          </a:p>
          <a:p>
            <a:pPr>
              <a:buFont typeface="Wingdings" panose="05000000000000000000" pitchFamily="2" charset="2"/>
              <a:buNone/>
            </a:pPr>
            <a:r>
              <a:rPr lang="en-US" sz="2000" dirty="0">
                <a:solidFill>
                  <a:srgbClr val="FF0000"/>
                </a:solidFill>
              </a:rPr>
              <a:t>//source filename: *.bin(IOS) 192.168.14.2</a:t>
            </a:r>
          </a:p>
          <a:p>
            <a:pPr>
              <a:buFont typeface="Wingdings" panose="05000000000000000000" pitchFamily="2" charset="2"/>
              <a:buNone/>
            </a:pPr>
            <a:r>
              <a:rPr lang="en-US" sz="2000" dirty="0">
                <a:solidFill>
                  <a:srgbClr val="FF0000"/>
                </a:solidFill>
              </a:rPr>
              <a:t>//Address or name of remote host[]?  Address </a:t>
            </a:r>
            <a:r>
              <a:rPr lang="en-US" sz="2000" dirty="0" err="1">
                <a:solidFill>
                  <a:srgbClr val="FF0000"/>
                </a:solidFill>
              </a:rPr>
              <a:t>tftp</a:t>
            </a:r>
            <a:r>
              <a:rPr lang="en-US" sz="2000" dirty="0">
                <a:solidFill>
                  <a:srgbClr val="FF0000"/>
                </a:solidFill>
              </a:rPr>
              <a:t> server</a:t>
            </a:r>
          </a:p>
          <a:p>
            <a:pPr>
              <a:buFont typeface="Wingdings" panose="05000000000000000000" pitchFamily="2" charset="2"/>
              <a:buNone/>
            </a:pPr>
            <a:r>
              <a:rPr lang="en-US" sz="2000" dirty="0">
                <a:solidFill>
                  <a:srgbClr val="FF0000"/>
                </a:solidFill>
              </a:rPr>
              <a:t>//Destination filename *.bin ; //</a:t>
            </a:r>
            <a:r>
              <a:rPr lang="en-US" sz="2000" dirty="0" err="1">
                <a:solidFill>
                  <a:srgbClr val="FF0000"/>
                </a:solidFill>
              </a:rPr>
              <a:t>Mở</a:t>
            </a:r>
            <a:r>
              <a:rPr lang="en-US" sz="2000" dirty="0">
                <a:solidFill>
                  <a:srgbClr val="FF0000"/>
                </a:solidFill>
              </a:rPr>
              <a:t> </a:t>
            </a:r>
            <a:r>
              <a:rPr lang="en-US" sz="2000" dirty="0" err="1">
                <a:solidFill>
                  <a:srgbClr val="FF0000"/>
                </a:solidFill>
              </a:rPr>
              <a:t>tftp</a:t>
            </a:r>
            <a:r>
              <a:rPr lang="en-US" sz="2000" dirty="0">
                <a:solidFill>
                  <a:srgbClr val="FF0000"/>
                </a:solidFill>
              </a:rPr>
              <a:t> server </a:t>
            </a:r>
            <a:r>
              <a:rPr lang="en-US" sz="2000" dirty="0" err="1">
                <a:solidFill>
                  <a:srgbClr val="FF0000"/>
                </a:solidFill>
              </a:rPr>
              <a:t>lên</a:t>
            </a:r>
            <a:r>
              <a:rPr lang="en-US" sz="2000" dirty="0">
                <a:solidFill>
                  <a:srgbClr val="FF0000"/>
                </a:solidFill>
              </a:rPr>
              <a:t> </a:t>
            </a:r>
          </a:p>
          <a:p>
            <a:pPr>
              <a:buFont typeface="Wingdings" panose="05000000000000000000" pitchFamily="2" charset="2"/>
              <a:buNone/>
            </a:pPr>
            <a:endParaRPr lang="en-US" sz="2000" dirty="0">
              <a:solidFill>
                <a:srgbClr val="FF0000"/>
              </a:solidFill>
            </a:endParaRPr>
          </a:p>
          <a:p>
            <a:pPr>
              <a:buFont typeface="Wingdings" panose="05000000000000000000" pitchFamily="2" charset="2"/>
              <a:buNone/>
            </a:pPr>
            <a:endParaRPr lang="vi-VN" sz="2000" dirty="0"/>
          </a:p>
        </p:txBody>
      </p:sp>
      <p:pic>
        <p:nvPicPr>
          <p:cNvPr id="38919" name="Picture 7"/>
          <p:cNvPicPr>
            <a:picLocks noChangeAspect="1" noChangeArrowheads="1"/>
          </p:cNvPicPr>
          <p:nvPr/>
        </p:nvPicPr>
        <p:blipFill>
          <a:blip r:embed="rId2" cstate="print"/>
          <a:srcRect/>
          <a:stretch>
            <a:fillRect/>
          </a:stretch>
        </p:blipFill>
        <p:spPr bwMode="auto">
          <a:xfrm>
            <a:off x="2743200" y="1475510"/>
            <a:ext cx="5867400" cy="2209800"/>
          </a:xfrm>
          <a:prstGeom prst="rect">
            <a:avLst/>
          </a:prstGeom>
          <a:ln>
            <a:noFill/>
          </a:ln>
          <a:effectLst>
            <a:softEdge rad="112500"/>
          </a:effectLst>
        </p:spPr>
      </p:pic>
    </p:spTree>
    <p:extLst>
      <p:ext uri="{BB962C8B-B14F-4D97-AF65-F5344CB8AC3E}">
        <p14:creationId xmlns:p14="http://schemas.microsoft.com/office/powerpoint/2010/main" val="2153332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179638" y="225425"/>
            <a:ext cx="8145462" cy="8382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sz="2800" b="1" dirty="0">
                <a:solidFill>
                  <a:srgbClr val="FFFF00"/>
                </a:solidFill>
              </a:rPr>
              <a:t>III. SAO LƯU VÀ NẠP IOS CHO ROUTER</a:t>
            </a:r>
            <a:endParaRPr lang="en-US" altLang="zh-CN" sz="2800" b="1" dirty="0">
              <a:solidFill>
                <a:srgbClr val="FFFF00"/>
              </a:solidFill>
            </a:endParaRPr>
          </a:p>
        </p:txBody>
      </p:sp>
      <p:sp>
        <p:nvSpPr>
          <p:cNvPr id="4" name="Chevron 3"/>
          <p:cNvSpPr/>
          <p:nvPr/>
        </p:nvSpPr>
        <p:spPr>
          <a:xfrm>
            <a:off x="1559859" y="1005767"/>
            <a:ext cx="8153400" cy="45719"/>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black"/>
              </a:solidFill>
              <a:latin typeface="Calibri"/>
            </a:endParaRPr>
          </a:p>
        </p:txBody>
      </p:sp>
      <p:graphicFrame>
        <p:nvGraphicFramePr>
          <p:cNvPr id="5" name="Diagram 4"/>
          <p:cNvGraphicFramePr/>
          <p:nvPr/>
        </p:nvGraphicFramePr>
        <p:xfrm>
          <a:off x="2133600" y="1905000"/>
          <a:ext cx="79248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364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nvSpPr>
        <p:spPr>
          <a:xfrm>
            <a:off x="1559859" y="1005767"/>
            <a:ext cx="8153400" cy="45719"/>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black"/>
              </a:solidFill>
              <a:latin typeface="Calibri"/>
            </a:endParaRPr>
          </a:p>
        </p:txBody>
      </p:sp>
      <p:pic>
        <p:nvPicPr>
          <p:cNvPr id="3" name="Picture 2"/>
          <p:cNvPicPr>
            <a:picLocks noChangeAspect="1"/>
          </p:cNvPicPr>
          <p:nvPr/>
        </p:nvPicPr>
        <p:blipFill>
          <a:blip r:embed="rId2"/>
          <a:stretch>
            <a:fillRect/>
          </a:stretch>
        </p:blipFill>
        <p:spPr>
          <a:xfrm>
            <a:off x="1524001" y="1447800"/>
            <a:ext cx="9144000" cy="5046300"/>
          </a:xfrm>
          <a:prstGeom prst="rect">
            <a:avLst/>
          </a:prstGeom>
        </p:spPr>
      </p:pic>
      <p:sp>
        <p:nvSpPr>
          <p:cNvPr id="5" name="Rectangle 4"/>
          <p:cNvSpPr/>
          <p:nvPr/>
        </p:nvSpPr>
        <p:spPr>
          <a:xfrm>
            <a:off x="2590800" y="1435660"/>
            <a:ext cx="914400" cy="3688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752601" y="3060140"/>
            <a:ext cx="975519" cy="3688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524002" y="4724400"/>
            <a:ext cx="1030941" cy="3688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915401" y="1917140"/>
            <a:ext cx="1030941" cy="3688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5EFDE48-72A9-4CA6-A028-BD2BB0AD48F1}"/>
              </a:ext>
            </a:extLst>
          </p:cNvPr>
          <p:cNvSpPr/>
          <p:nvPr/>
        </p:nvSpPr>
        <p:spPr>
          <a:xfrm>
            <a:off x="4937670" y="3175085"/>
            <a:ext cx="1467068" cy="369332"/>
          </a:xfrm>
          <a:prstGeom prst="rect">
            <a:avLst/>
          </a:prstGeom>
        </p:spPr>
        <p:txBody>
          <a:bodyPr wrap="none">
            <a:spAutoFit/>
          </a:bodyPr>
          <a:lstStyle/>
          <a:p>
            <a:r>
              <a:rPr lang="en-US"/>
              <a:t>0227161069</a:t>
            </a:r>
          </a:p>
        </p:txBody>
      </p:sp>
      <p:sp>
        <p:nvSpPr>
          <p:cNvPr id="11" name="Rectangle 2">
            <a:extLst>
              <a:ext uri="{FF2B5EF4-FFF2-40B4-BE49-F238E27FC236}">
                <a16:creationId xmlns:a16="http://schemas.microsoft.com/office/drawing/2014/main" id="{08CCEE2E-C313-4E4E-B052-4A77457EFA9C}"/>
              </a:ext>
            </a:extLst>
          </p:cNvPr>
          <p:cNvSpPr txBox="1">
            <a:spLocks noChangeArrowheads="1"/>
          </p:cNvSpPr>
          <p:nvPr/>
        </p:nvSpPr>
        <p:spPr>
          <a:xfrm>
            <a:off x="2179638" y="225425"/>
            <a:ext cx="8145462" cy="8382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sz="2800" b="1" dirty="0">
                <a:solidFill>
                  <a:srgbClr val="FFFF00"/>
                </a:solidFill>
              </a:rPr>
              <a:t>III. SAO LƯU VÀ NẠP IOS CHO ROUTER</a:t>
            </a:r>
            <a:endParaRPr lang="en-US" altLang="zh-CN" sz="2800" b="1" dirty="0">
              <a:solidFill>
                <a:srgbClr val="FFFF00"/>
              </a:solidFill>
            </a:endParaRPr>
          </a:p>
        </p:txBody>
      </p:sp>
    </p:spTree>
    <p:extLst>
      <p:ext uri="{BB962C8B-B14F-4D97-AF65-F5344CB8AC3E}">
        <p14:creationId xmlns:p14="http://schemas.microsoft.com/office/powerpoint/2010/main" val="12152691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nvSpPr>
        <p:spPr>
          <a:xfrm>
            <a:off x="1559859" y="1005767"/>
            <a:ext cx="8153400" cy="45719"/>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black"/>
              </a:solidFill>
              <a:latin typeface="Calibri"/>
            </a:endParaRPr>
          </a:p>
        </p:txBody>
      </p:sp>
      <p:pic>
        <p:nvPicPr>
          <p:cNvPr id="9" name="Picture 2" descr="http://cuongit.files.wordpress.com/2010/12/router-cisco.jpg?w=3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981200"/>
            <a:ext cx="6778256" cy="38862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bwMode="auto">
          <a:xfrm>
            <a:off x="2971800" y="4038600"/>
            <a:ext cx="1600200" cy="609600"/>
          </a:xfrm>
          <a:prstGeom prst="rect">
            <a:avLst/>
          </a:prstGeom>
          <a:solidFill>
            <a:schemeClr val="accent2">
              <a:lumMod val="60000"/>
              <a:lumOff val="40000"/>
            </a:schemeClr>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a:solidFill>
                  <a:srgbClr val="FFFF00"/>
                </a:solidFill>
                <a:latin typeface="Courier New" pitchFamily="49" charset="0"/>
                <a:cs typeface="Courier New" pitchFamily="49" charset="0"/>
              </a:rPr>
              <a:t>ROM</a:t>
            </a:r>
          </a:p>
        </p:txBody>
      </p:sp>
      <p:sp>
        <p:nvSpPr>
          <p:cNvPr id="12" name="Rectangle 11"/>
          <p:cNvSpPr/>
          <p:nvPr/>
        </p:nvSpPr>
        <p:spPr bwMode="auto">
          <a:xfrm>
            <a:off x="4572000" y="4038600"/>
            <a:ext cx="1574042" cy="609600"/>
          </a:xfrm>
          <a:prstGeom prst="rect">
            <a:avLst/>
          </a:prstGeom>
          <a:solidFill>
            <a:schemeClr val="accent2">
              <a:lumMod val="60000"/>
              <a:lumOff val="40000"/>
            </a:schemeClr>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a:solidFill>
                  <a:srgbClr val="FFFF00"/>
                </a:solidFill>
                <a:latin typeface="Courier New" pitchFamily="49" charset="0"/>
                <a:cs typeface="Courier New" pitchFamily="49" charset="0"/>
              </a:rPr>
              <a:t>RAM</a:t>
            </a:r>
          </a:p>
        </p:txBody>
      </p:sp>
      <p:sp>
        <p:nvSpPr>
          <p:cNvPr id="13" name="Rectangle 12"/>
          <p:cNvSpPr/>
          <p:nvPr/>
        </p:nvSpPr>
        <p:spPr bwMode="auto">
          <a:xfrm>
            <a:off x="6146042" y="4038600"/>
            <a:ext cx="1600200" cy="609600"/>
          </a:xfrm>
          <a:prstGeom prst="rect">
            <a:avLst/>
          </a:prstGeom>
          <a:solidFill>
            <a:schemeClr val="accent2">
              <a:lumMod val="60000"/>
              <a:lumOff val="40000"/>
            </a:schemeClr>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a:solidFill>
                  <a:srgbClr val="FFFF00"/>
                </a:solidFill>
                <a:latin typeface="Courier New" pitchFamily="49" charset="0"/>
                <a:cs typeface="Courier New" pitchFamily="49" charset="0"/>
              </a:rPr>
              <a:t>FLASH</a:t>
            </a:r>
          </a:p>
        </p:txBody>
      </p:sp>
      <p:sp>
        <p:nvSpPr>
          <p:cNvPr id="14" name="Rectangle 13"/>
          <p:cNvSpPr/>
          <p:nvPr/>
        </p:nvSpPr>
        <p:spPr bwMode="auto">
          <a:xfrm>
            <a:off x="7738871" y="4038600"/>
            <a:ext cx="1498979" cy="609600"/>
          </a:xfrm>
          <a:prstGeom prst="rect">
            <a:avLst/>
          </a:prstGeom>
          <a:solidFill>
            <a:schemeClr val="accent2">
              <a:lumMod val="60000"/>
              <a:lumOff val="40000"/>
            </a:schemeClr>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a:solidFill>
                  <a:srgbClr val="FFFF00"/>
                </a:solidFill>
                <a:latin typeface="Courier New" pitchFamily="49" charset="0"/>
                <a:cs typeface="Courier New" pitchFamily="49" charset="0"/>
              </a:rPr>
              <a:t>NVRAM</a:t>
            </a:r>
          </a:p>
        </p:txBody>
      </p:sp>
      <p:sp>
        <p:nvSpPr>
          <p:cNvPr id="15" name="Rectangle 14"/>
          <p:cNvSpPr/>
          <p:nvPr/>
        </p:nvSpPr>
        <p:spPr bwMode="auto">
          <a:xfrm>
            <a:off x="4572000" y="3429000"/>
            <a:ext cx="3166870" cy="609600"/>
          </a:xfrm>
          <a:prstGeom prst="rect">
            <a:avLst/>
          </a:prstGeom>
          <a:solidFill>
            <a:srgbClr val="92D050"/>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a:solidFill>
                  <a:srgbClr val="B21A1A"/>
                </a:solidFill>
                <a:latin typeface="Courier New" pitchFamily="49" charset="0"/>
                <a:cs typeface="Courier New" pitchFamily="49" charset="0"/>
              </a:rPr>
              <a:t>CPU</a:t>
            </a:r>
          </a:p>
        </p:txBody>
      </p:sp>
      <p:sp>
        <p:nvSpPr>
          <p:cNvPr id="16" name="Rectangle 15"/>
          <p:cNvSpPr/>
          <p:nvPr/>
        </p:nvSpPr>
        <p:spPr bwMode="auto">
          <a:xfrm>
            <a:off x="6146042" y="4648200"/>
            <a:ext cx="1592828" cy="762000"/>
          </a:xfrm>
          <a:prstGeom prst="rect">
            <a:avLst/>
          </a:prstGeom>
          <a:solidFill>
            <a:srgbClr val="92D050"/>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sz="2000">
                <a:solidFill>
                  <a:srgbClr val="B21A1A"/>
                </a:solidFill>
                <a:latin typeface="Courier New" pitchFamily="49" charset="0"/>
                <a:cs typeface="Courier New" pitchFamily="49" charset="0"/>
              </a:rPr>
              <a:t>Interface</a:t>
            </a:r>
          </a:p>
        </p:txBody>
      </p:sp>
      <p:sp>
        <p:nvSpPr>
          <p:cNvPr id="17" name="Rectangle 16"/>
          <p:cNvSpPr/>
          <p:nvPr/>
        </p:nvSpPr>
        <p:spPr bwMode="auto">
          <a:xfrm>
            <a:off x="4572000" y="4648200"/>
            <a:ext cx="1574042" cy="381000"/>
          </a:xfrm>
          <a:prstGeom prst="rect">
            <a:avLst/>
          </a:prstGeom>
          <a:solidFill>
            <a:srgbClr val="92D050"/>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sz="2000">
                <a:solidFill>
                  <a:srgbClr val="B21A1A"/>
                </a:solidFill>
                <a:latin typeface="Courier New" pitchFamily="49" charset="0"/>
                <a:cs typeface="Courier New" pitchFamily="49" charset="0"/>
              </a:rPr>
              <a:t>Console</a:t>
            </a:r>
          </a:p>
        </p:txBody>
      </p:sp>
      <p:sp>
        <p:nvSpPr>
          <p:cNvPr id="18" name="Rectangle 17"/>
          <p:cNvSpPr/>
          <p:nvPr/>
        </p:nvSpPr>
        <p:spPr bwMode="auto">
          <a:xfrm>
            <a:off x="4572000" y="5029200"/>
            <a:ext cx="1574042" cy="381000"/>
          </a:xfrm>
          <a:prstGeom prst="rect">
            <a:avLst/>
          </a:prstGeom>
          <a:solidFill>
            <a:srgbClr val="92D050"/>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sz="2000">
                <a:solidFill>
                  <a:srgbClr val="B21A1A"/>
                </a:solidFill>
                <a:latin typeface="Courier New" pitchFamily="49" charset="0"/>
                <a:cs typeface="Courier New" pitchFamily="49" charset="0"/>
              </a:rPr>
              <a:t>Auxilary</a:t>
            </a:r>
          </a:p>
        </p:txBody>
      </p:sp>
      <p:sp>
        <p:nvSpPr>
          <p:cNvPr id="19" name="TextBox 18"/>
          <p:cNvSpPr txBox="1"/>
          <p:nvPr/>
        </p:nvSpPr>
        <p:spPr>
          <a:xfrm>
            <a:off x="1447800" y="3505200"/>
            <a:ext cx="1600200" cy="1631216"/>
          </a:xfrm>
          <a:prstGeom prst="rect">
            <a:avLst/>
          </a:prstGeom>
          <a:noFill/>
        </p:spPr>
        <p:txBody>
          <a:bodyPr wrap="square" rtlCol="0">
            <a:spAutoFit/>
          </a:bodyPr>
          <a:lstStyle/>
          <a:p>
            <a:r>
              <a:rPr lang="en-US" sz="2000" dirty="0">
                <a:solidFill>
                  <a:srgbClr val="000000"/>
                </a:solidFill>
                <a:latin typeface="Courier New" pitchFamily="49" charset="0"/>
                <a:cs typeface="Courier New" pitchFamily="49" charset="0"/>
              </a:rPr>
              <a:t>POST		</a:t>
            </a:r>
          </a:p>
          <a:p>
            <a:r>
              <a:rPr lang="en-US" sz="2000" dirty="0">
                <a:solidFill>
                  <a:srgbClr val="000000"/>
                </a:solidFill>
                <a:latin typeface="Courier New" pitchFamily="49" charset="0"/>
                <a:cs typeface="Courier New" pitchFamily="49" charset="0"/>
              </a:rPr>
              <a:t>Bootstrap	</a:t>
            </a:r>
          </a:p>
          <a:p>
            <a:r>
              <a:rPr lang="en-US" sz="2000" dirty="0">
                <a:solidFill>
                  <a:srgbClr val="000000"/>
                </a:solidFill>
                <a:latin typeface="Courier New" pitchFamily="49" charset="0"/>
                <a:cs typeface="Courier New" pitchFamily="49" charset="0"/>
              </a:rPr>
              <a:t>Mini IOS</a:t>
            </a:r>
          </a:p>
        </p:txBody>
      </p:sp>
      <p:sp>
        <p:nvSpPr>
          <p:cNvPr id="20" name="Rectangle 19"/>
          <p:cNvSpPr/>
          <p:nvPr/>
        </p:nvSpPr>
        <p:spPr bwMode="auto">
          <a:xfrm>
            <a:off x="6146042" y="4038600"/>
            <a:ext cx="1600200" cy="6096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a:solidFill>
                  <a:srgbClr val="FFFF00"/>
                </a:solidFill>
                <a:effectLst>
                  <a:glow rad="101600">
                    <a:srgbClr val="B21A1A">
                      <a:satMod val="175000"/>
                      <a:alpha val="40000"/>
                    </a:srgbClr>
                  </a:glow>
                </a:effectLst>
                <a:latin typeface="Courier New" pitchFamily="49" charset="0"/>
                <a:cs typeface="Courier New" pitchFamily="49" charset="0"/>
              </a:rPr>
              <a:t>IOS</a:t>
            </a:r>
          </a:p>
        </p:txBody>
      </p:sp>
      <p:sp>
        <p:nvSpPr>
          <p:cNvPr id="21" name="Rectangle 20"/>
          <p:cNvSpPr/>
          <p:nvPr/>
        </p:nvSpPr>
        <p:spPr bwMode="auto">
          <a:xfrm>
            <a:off x="7738871" y="4051548"/>
            <a:ext cx="1498979" cy="6096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82124" tIns="41061" rIns="82124" bIns="41061" numCol="1" rtlCol="0" anchor="ctr" anchorCtr="0" compatLnSpc="1">
            <a:prstTxWarp prst="textNoShape">
              <a:avLst/>
            </a:prstTxWarp>
          </a:bodyPr>
          <a:lstStyle/>
          <a:p>
            <a:pPr algn="ctr" defTabSz="814388"/>
            <a:r>
              <a:rPr lang="en-US">
                <a:solidFill>
                  <a:srgbClr val="7030A0"/>
                </a:solidFill>
                <a:effectLst>
                  <a:glow rad="63500">
                    <a:srgbClr val="0183B7">
                      <a:satMod val="175000"/>
                      <a:alpha val="40000"/>
                    </a:srgbClr>
                  </a:glow>
                </a:effectLst>
                <a:latin typeface="Courier New" pitchFamily="49" charset="0"/>
                <a:cs typeface="Courier New" pitchFamily="49" charset="0"/>
              </a:rPr>
              <a:t>startup-config</a:t>
            </a:r>
          </a:p>
        </p:txBody>
      </p:sp>
      <p:sp>
        <p:nvSpPr>
          <p:cNvPr id="22" name="Right Arrow 21"/>
          <p:cNvSpPr/>
          <p:nvPr/>
        </p:nvSpPr>
        <p:spPr bwMode="auto">
          <a:xfrm rot="10800000">
            <a:off x="5568374" y="4419600"/>
            <a:ext cx="1377768" cy="145926"/>
          </a:xfrm>
          <a:prstGeom prst="rightArrow">
            <a:avLst/>
          </a:prstGeom>
          <a:ln>
            <a:headEnd type="none" w="med" len="med"/>
            <a:tailEnd type="triangle" w="med" len="med"/>
          </a:ln>
          <a:effectLst>
            <a:glow rad="63500">
              <a:schemeClr val="accent2">
                <a:satMod val="175000"/>
                <a:alpha val="40000"/>
              </a:schemeClr>
            </a:glow>
            <a:outerShdw blurRad="40000" dist="20000" dir="5400000" rotWithShape="0">
              <a:srgbClr val="000000">
                <a:alpha val="38000"/>
              </a:srgbClr>
            </a:outerShdw>
          </a:effectLst>
        </p:spPr>
        <p:style>
          <a:lnRef idx="1">
            <a:schemeClr val="accent3"/>
          </a:lnRef>
          <a:fillRef idx="2">
            <a:schemeClr val="accent3"/>
          </a:fillRef>
          <a:effectRef idx="1">
            <a:schemeClr val="accent3"/>
          </a:effectRef>
          <a:fontRef idx="minor">
            <a:schemeClr val="dk1"/>
          </a:fontRef>
        </p:style>
        <p:txBody>
          <a:bodyPr vert="horz" wrap="square" lIns="82124" tIns="41061" rIns="82124" bIns="41061" numCol="1" rtlCol="0" anchor="t" anchorCtr="0" compatLnSpc="1">
            <a:prstTxWarp prst="textNoShape">
              <a:avLst/>
            </a:prstTxWarp>
          </a:bodyPr>
          <a:lstStyle/>
          <a:p>
            <a:pPr defTabSz="814388" eaLnBrk="0" fontAlgn="base" hangingPunct="0">
              <a:lnSpc>
                <a:spcPct val="90000"/>
              </a:lnSpc>
              <a:spcBef>
                <a:spcPct val="0"/>
              </a:spcBef>
              <a:spcAft>
                <a:spcPct val="0"/>
              </a:spcAft>
            </a:pPr>
            <a:endParaRPr lang="en-US" sz="3000" b="1">
              <a:solidFill>
                <a:schemeClr val="tx1"/>
              </a:solidFill>
              <a:latin typeface="Arial" charset="0"/>
            </a:endParaRPr>
          </a:p>
        </p:txBody>
      </p:sp>
      <p:sp>
        <p:nvSpPr>
          <p:cNvPr id="23" name="Right Arrow 22"/>
          <p:cNvSpPr/>
          <p:nvPr/>
        </p:nvSpPr>
        <p:spPr bwMode="auto">
          <a:xfrm rot="10800000">
            <a:off x="5568373" y="4121274"/>
            <a:ext cx="2888410" cy="145926"/>
          </a:xfrm>
          <a:prstGeom prst="rightArrow">
            <a:avLst/>
          </a:prstGeom>
          <a:ln>
            <a:headEnd type="none" w="med" len="med"/>
            <a:tailEnd type="triangle" w="med" len="med"/>
          </a:ln>
          <a:effectLst>
            <a:glow rad="63500">
              <a:schemeClr val="accent2">
                <a:satMod val="175000"/>
                <a:alpha val="40000"/>
              </a:schemeClr>
            </a:glow>
            <a:outerShdw blurRad="40000" dist="20000" dir="5400000" rotWithShape="0">
              <a:srgbClr val="000000">
                <a:alpha val="38000"/>
              </a:srgbClr>
            </a:outerShdw>
          </a:effectLst>
        </p:spPr>
        <p:style>
          <a:lnRef idx="1">
            <a:schemeClr val="accent3"/>
          </a:lnRef>
          <a:fillRef idx="2">
            <a:schemeClr val="accent3"/>
          </a:fillRef>
          <a:effectRef idx="1">
            <a:schemeClr val="accent3"/>
          </a:effectRef>
          <a:fontRef idx="minor">
            <a:schemeClr val="dk1"/>
          </a:fontRef>
        </p:style>
        <p:txBody>
          <a:bodyPr vert="horz" wrap="square" lIns="82124" tIns="41061" rIns="82124" bIns="41061" numCol="1" rtlCol="0" anchor="t" anchorCtr="0" compatLnSpc="1">
            <a:prstTxWarp prst="textNoShape">
              <a:avLst/>
            </a:prstTxWarp>
          </a:bodyPr>
          <a:lstStyle/>
          <a:p>
            <a:pPr defTabSz="814388" eaLnBrk="0" fontAlgn="base" hangingPunct="0">
              <a:lnSpc>
                <a:spcPct val="90000"/>
              </a:lnSpc>
              <a:spcBef>
                <a:spcPct val="0"/>
              </a:spcBef>
              <a:spcAft>
                <a:spcPct val="0"/>
              </a:spcAft>
            </a:pPr>
            <a:endParaRPr lang="en-US" sz="3000" b="1">
              <a:solidFill>
                <a:schemeClr val="tx1"/>
              </a:solidFill>
              <a:latin typeface="Arial" charset="0"/>
            </a:endParaRPr>
          </a:p>
        </p:txBody>
      </p:sp>
      <p:sp>
        <p:nvSpPr>
          <p:cNvPr id="24" name="Rectangle 2">
            <a:extLst>
              <a:ext uri="{FF2B5EF4-FFF2-40B4-BE49-F238E27FC236}">
                <a16:creationId xmlns:a16="http://schemas.microsoft.com/office/drawing/2014/main" id="{64DA75D1-C629-41A1-A47C-5A28D257C879}"/>
              </a:ext>
            </a:extLst>
          </p:cNvPr>
          <p:cNvSpPr txBox="1">
            <a:spLocks noChangeArrowheads="1"/>
          </p:cNvSpPr>
          <p:nvPr/>
        </p:nvSpPr>
        <p:spPr>
          <a:xfrm>
            <a:off x="2179638" y="225425"/>
            <a:ext cx="8145462" cy="8382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sz="2800" b="1" dirty="0">
                <a:solidFill>
                  <a:srgbClr val="FFFF00"/>
                </a:solidFill>
              </a:rPr>
              <a:t>III. SAO LƯU VÀ NẠP IOS CHO ROUTER</a:t>
            </a:r>
            <a:endParaRPr lang="en-US" altLang="zh-CN" sz="2800" b="1" dirty="0">
              <a:solidFill>
                <a:srgbClr val="FFFF00"/>
              </a:solidFill>
            </a:endParaRPr>
          </a:p>
        </p:txBody>
      </p:sp>
    </p:spTree>
    <p:extLst>
      <p:ext uri="{BB962C8B-B14F-4D97-AF65-F5344CB8AC3E}">
        <p14:creationId xmlns:p14="http://schemas.microsoft.com/office/powerpoint/2010/main" val="363643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repeatCount="5000" fill="remove" nodeType="clickEffect">
                                  <p:stCondLst>
                                    <p:cond delay="0"/>
                                  </p:stCondLst>
                                  <p:childTnLst>
                                    <p:animClr clrSpc="rgb" dir="cw">
                                      <p:cBhvr override="childStyle">
                                        <p:cTn id="6" dur="250" autoRev="1" fill="remove"/>
                                        <p:tgtEl>
                                          <p:spTgt spid="19">
                                            <p:txEl>
                                              <p:pRg st="0" end="0"/>
                                            </p:txEl>
                                          </p:spTgt>
                                        </p:tgtEl>
                                        <p:attrNameLst>
                                          <p:attrName>style.color</p:attrName>
                                        </p:attrNameLst>
                                      </p:cBhvr>
                                      <p:to>
                                        <a:schemeClr val="bg1"/>
                                      </p:to>
                                    </p:animClr>
                                    <p:animClr clrSpc="rgb" dir="cw">
                                      <p:cBhvr>
                                        <p:cTn id="7" dur="250" autoRev="1" fill="remove"/>
                                        <p:tgtEl>
                                          <p:spTgt spid="19">
                                            <p:txEl>
                                              <p:pRg st="0" end="0"/>
                                            </p:txEl>
                                          </p:spTgt>
                                        </p:tgtEl>
                                        <p:attrNameLst>
                                          <p:attrName>fillcolor</p:attrName>
                                        </p:attrNameLst>
                                      </p:cBhvr>
                                      <p:to>
                                        <a:schemeClr val="bg1"/>
                                      </p:to>
                                    </p:animClr>
                                    <p:set>
                                      <p:cBhvr>
                                        <p:cTn id="8" dur="250" autoRev="1" fill="remove"/>
                                        <p:tgtEl>
                                          <p:spTgt spid="19">
                                            <p:txEl>
                                              <p:pRg st="0" end="0"/>
                                            </p:txEl>
                                          </p:spTgt>
                                        </p:tgtEl>
                                        <p:attrNameLst>
                                          <p:attrName>fill.type</p:attrName>
                                        </p:attrNameLst>
                                      </p:cBhvr>
                                      <p:to>
                                        <p:strVal val="solid"/>
                                      </p:to>
                                    </p:set>
                                    <p:set>
                                      <p:cBhvr>
                                        <p:cTn id="9" dur="250" autoRev="1" fill="remove"/>
                                        <p:tgtEl>
                                          <p:spTgt spid="19">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7" presetClass="emph" presetSubtype="0" repeatCount="5000" fill="remove" nodeType="clickEffect">
                                  <p:stCondLst>
                                    <p:cond delay="0"/>
                                  </p:stCondLst>
                                  <p:childTnLst>
                                    <p:animClr clrSpc="rgb" dir="cw">
                                      <p:cBhvr override="childStyle">
                                        <p:cTn id="13" dur="250" autoRev="1" fill="remove"/>
                                        <p:tgtEl>
                                          <p:spTgt spid="19">
                                            <p:txEl>
                                              <p:pRg st="1" end="1"/>
                                            </p:txEl>
                                          </p:spTgt>
                                        </p:tgtEl>
                                        <p:attrNameLst>
                                          <p:attrName>style.color</p:attrName>
                                        </p:attrNameLst>
                                      </p:cBhvr>
                                      <p:to>
                                        <a:schemeClr val="bg1"/>
                                      </p:to>
                                    </p:animClr>
                                    <p:animClr clrSpc="rgb" dir="cw">
                                      <p:cBhvr>
                                        <p:cTn id="14" dur="250" autoRev="1" fill="remove"/>
                                        <p:tgtEl>
                                          <p:spTgt spid="19">
                                            <p:txEl>
                                              <p:pRg st="1" end="1"/>
                                            </p:txEl>
                                          </p:spTgt>
                                        </p:tgtEl>
                                        <p:attrNameLst>
                                          <p:attrName>fillcolor</p:attrName>
                                        </p:attrNameLst>
                                      </p:cBhvr>
                                      <p:to>
                                        <a:schemeClr val="bg1"/>
                                      </p:to>
                                    </p:animClr>
                                    <p:set>
                                      <p:cBhvr>
                                        <p:cTn id="15" dur="250" autoRev="1" fill="remove"/>
                                        <p:tgtEl>
                                          <p:spTgt spid="19">
                                            <p:txEl>
                                              <p:pRg st="1" end="1"/>
                                            </p:txEl>
                                          </p:spTgt>
                                        </p:tgtEl>
                                        <p:attrNameLst>
                                          <p:attrName>fill.type</p:attrName>
                                        </p:attrNameLst>
                                      </p:cBhvr>
                                      <p:to>
                                        <p:strVal val="solid"/>
                                      </p:to>
                                    </p:set>
                                    <p:set>
                                      <p:cBhvr>
                                        <p:cTn id="16" dur="250" autoRev="1" fill="remove"/>
                                        <p:tgtEl>
                                          <p:spTgt spid="19">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heel(1)">
                                      <p:cBhvr>
                                        <p:cTn id="21" dur="500"/>
                                        <p:tgtEl>
                                          <p:spTgt spid="20"/>
                                        </p:tgtEl>
                                      </p:cBhvr>
                                    </p:animEffect>
                                  </p:childTnLst>
                                </p:cTn>
                              </p:par>
                            </p:childTnLst>
                          </p:cTn>
                        </p:par>
                        <p:par>
                          <p:cTn id="22" fill="hold">
                            <p:stCondLst>
                              <p:cond delay="500"/>
                            </p:stCondLst>
                            <p:childTnLst>
                              <p:par>
                                <p:cTn id="23" presetID="22" presetClass="entr" presetSubtype="2"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right)">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xit" presetSubtype="32" fill="hold" grpId="1" nodeType="clickEffect">
                                  <p:stCondLst>
                                    <p:cond delay="0"/>
                                  </p:stCondLst>
                                  <p:childTnLst>
                                    <p:animEffect transition="out" filter="circle(out)">
                                      <p:cBhvr>
                                        <p:cTn id="29" dur="500"/>
                                        <p:tgtEl>
                                          <p:spTgt spid="20"/>
                                        </p:tgtEl>
                                      </p:cBhvr>
                                    </p:animEffect>
                                    <p:set>
                                      <p:cBhvr>
                                        <p:cTn id="30" dur="1" fill="hold">
                                          <p:stCondLst>
                                            <p:cond delay="499"/>
                                          </p:stCondLst>
                                        </p:cTn>
                                        <p:tgtEl>
                                          <p:spTgt spid="20"/>
                                        </p:tgtEl>
                                        <p:attrNameLst>
                                          <p:attrName>style.visibility</p:attrName>
                                        </p:attrNameLst>
                                      </p:cBhvr>
                                      <p:to>
                                        <p:strVal val="hidden"/>
                                      </p:to>
                                    </p:set>
                                  </p:childTnLst>
                                </p:cTn>
                              </p:par>
                              <p:par>
                                <p:cTn id="31" presetID="22" presetClass="entr" presetSubtype="1"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up)">
                                      <p:cBhvr>
                                        <p:cTn id="33" dur="500"/>
                                        <p:tgtEl>
                                          <p:spTgt spid="21"/>
                                        </p:tgtEl>
                                      </p:cBhvr>
                                    </p:animEffect>
                                  </p:childTnLst>
                                </p:cTn>
                              </p:par>
                            </p:childTnLst>
                          </p:cTn>
                        </p:par>
                        <p:par>
                          <p:cTn id="34" fill="hold">
                            <p:stCondLst>
                              <p:cond delay="500"/>
                            </p:stCondLst>
                            <p:childTnLst>
                              <p:par>
                                <p:cTn id="35" presetID="22" presetClass="entr" presetSubtype="2" fill="hold" grpId="0"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right)">
                                      <p:cBhvr>
                                        <p:cTn id="37" dur="500"/>
                                        <p:tgtEl>
                                          <p:spTgt spid="23"/>
                                        </p:tgtEl>
                                      </p:cBhvr>
                                    </p:animEffect>
                                  </p:childTnLst>
                                </p:cTn>
                              </p:par>
                              <p:par>
                                <p:cTn id="38" presetID="22" presetClass="exit" presetSubtype="2" fill="hold" grpId="1" nodeType="withEffect">
                                  <p:stCondLst>
                                    <p:cond delay="0"/>
                                  </p:stCondLst>
                                  <p:childTnLst>
                                    <p:animEffect transition="out" filter="wipe(right)">
                                      <p:cBhvr>
                                        <p:cTn id="39" dur="500"/>
                                        <p:tgtEl>
                                          <p:spTgt spid="22"/>
                                        </p:tgtEl>
                                      </p:cBhvr>
                                    </p:animEffect>
                                    <p:set>
                                      <p:cBhvr>
                                        <p:cTn id="40"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2" grpId="0" animBg="1"/>
      <p:bldP spid="22" grpId="1" animBg="1"/>
      <p:bldP spid="2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1676400" y="266701"/>
            <a:ext cx="8839200" cy="487363"/>
          </a:xfrm>
        </p:spPr>
        <p:txBody>
          <a:bodyPr/>
          <a:lstStyle/>
          <a:p>
            <a:r>
              <a:rPr lang="en-US" sz="2800" dirty="0"/>
              <a:t>III. SAO LƯU VÀ NẠP IOS CHO ROUTER</a:t>
            </a:r>
            <a:endParaRPr lang="vi-VN" dirty="0"/>
          </a:p>
        </p:txBody>
      </p:sp>
      <p:sp>
        <p:nvSpPr>
          <p:cNvPr id="43011" name="Content Placeholder 2"/>
          <p:cNvSpPr>
            <a:spLocks noGrp="1"/>
          </p:cNvSpPr>
          <p:nvPr>
            <p:ph idx="1"/>
          </p:nvPr>
        </p:nvSpPr>
        <p:spPr>
          <a:xfrm>
            <a:off x="1228725" y="1066800"/>
            <a:ext cx="9877425" cy="5410200"/>
          </a:xfrm>
        </p:spPr>
        <p:txBody>
          <a:bodyPr/>
          <a:lstStyle/>
          <a:p>
            <a:r>
              <a:rPr lang="en-US" dirty="0" err="1"/>
              <a:t>Nạp</a:t>
            </a:r>
            <a:r>
              <a:rPr lang="en-US" dirty="0"/>
              <a:t> IOS </a:t>
            </a:r>
            <a:r>
              <a:rPr lang="en-US" dirty="0" err="1"/>
              <a:t>từ</a:t>
            </a:r>
            <a:r>
              <a:rPr lang="en-US" dirty="0"/>
              <a:t> TFTP Server </a:t>
            </a:r>
            <a:r>
              <a:rPr lang="en-US" dirty="0" err="1"/>
              <a:t>vào</a:t>
            </a:r>
            <a:r>
              <a:rPr lang="en-US" dirty="0"/>
              <a:t> Flash Router</a:t>
            </a:r>
          </a:p>
          <a:p>
            <a:endParaRPr lang="en-US" dirty="0"/>
          </a:p>
          <a:p>
            <a:endParaRPr lang="en-US" dirty="0"/>
          </a:p>
          <a:p>
            <a:endParaRPr lang="en-US" dirty="0"/>
          </a:p>
          <a:p>
            <a:pPr lvl="1"/>
            <a:r>
              <a:rPr lang="en-US" sz="2400" dirty="0" err="1"/>
              <a:t>Yêu</a:t>
            </a:r>
            <a:r>
              <a:rPr lang="en-US" sz="2400" dirty="0"/>
              <a:t> </a:t>
            </a:r>
            <a:r>
              <a:rPr lang="en-US" sz="2400" dirty="0" err="1"/>
              <a:t>cầu</a:t>
            </a:r>
            <a:r>
              <a:rPr lang="en-US" sz="2400" dirty="0"/>
              <a:t>:</a:t>
            </a:r>
          </a:p>
          <a:p>
            <a:pPr algn="just">
              <a:spcBef>
                <a:spcPts val="1200"/>
              </a:spcBef>
              <a:buNone/>
            </a:pPr>
            <a:r>
              <a:rPr lang="en-US" dirty="0"/>
              <a:t>PC </a:t>
            </a:r>
            <a:r>
              <a:rPr lang="en-US" dirty="0" err="1"/>
              <a:t>chạy</a:t>
            </a:r>
            <a:r>
              <a:rPr lang="en-US" dirty="0"/>
              <a:t> TFTP server </a:t>
            </a:r>
            <a:r>
              <a:rPr lang="en-US" dirty="0" err="1"/>
              <a:t>nối</a:t>
            </a:r>
            <a:r>
              <a:rPr lang="en-US" dirty="0"/>
              <a:t> </a:t>
            </a:r>
            <a:r>
              <a:rPr lang="en-US" dirty="0" err="1"/>
              <a:t>với</a:t>
            </a:r>
            <a:r>
              <a:rPr lang="en-US" dirty="0"/>
              <a:t> Router </a:t>
            </a:r>
            <a:r>
              <a:rPr lang="en-US" dirty="0" err="1"/>
              <a:t>trong</a:t>
            </a:r>
            <a:r>
              <a:rPr lang="en-US" dirty="0"/>
              <a:t> </a:t>
            </a:r>
            <a:r>
              <a:rPr lang="en-US" dirty="0" err="1"/>
              <a:t>cùng</a:t>
            </a:r>
            <a:r>
              <a:rPr lang="en-US" dirty="0"/>
              <a:t> </a:t>
            </a:r>
            <a:r>
              <a:rPr lang="en-US" dirty="0" err="1"/>
              <a:t>mạng</a:t>
            </a:r>
            <a:r>
              <a:rPr lang="en-US" dirty="0"/>
              <a:t> LAN. IOS image </a:t>
            </a:r>
            <a:r>
              <a:rPr lang="en-US" dirty="0" err="1"/>
              <a:t>mới</a:t>
            </a:r>
            <a:r>
              <a:rPr lang="en-US" dirty="0"/>
              <a:t> </a:t>
            </a:r>
            <a:r>
              <a:rPr lang="en-US" dirty="0" err="1"/>
              <a:t>sẽ</a:t>
            </a:r>
            <a:r>
              <a:rPr lang="en-US" dirty="0"/>
              <a:t> </a:t>
            </a:r>
            <a:r>
              <a:rPr lang="en-US" dirty="0" err="1"/>
              <a:t>chứa</a:t>
            </a:r>
            <a:r>
              <a:rPr lang="en-US" dirty="0"/>
              <a:t> </a:t>
            </a:r>
            <a:r>
              <a:rPr lang="en-US" dirty="0" err="1"/>
              <a:t>trong</a:t>
            </a:r>
            <a:r>
              <a:rPr lang="en-US" dirty="0"/>
              <a:t> PC </a:t>
            </a:r>
            <a:r>
              <a:rPr lang="en-US" dirty="0" err="1"/>
              <a:t>và</a:t>
            </a:r>
            <a:r>
              <a:rPr lang="en-US" dirty="0"/>
              <a:t> </a:t>
            </a:r>
            <a:r>
              <a:rPr lang="en-US" dirty="0" err="1"/>
              <a:t>sẽ</a:t>
            </a:r>
            <a:r>
              <a:rPr lang="en-US" dirty="0"/>
              <a:t> </a:t>
            </a:r>
            <a:r>
              <a:rPr lang="en-US" dirty="0" err="1"/>
              <a:t>truyền</a:t>
            </a:r>
            <a:r>
              <a:rPr lang="en-US" dirty="0"/>
              <a:t> qua Cisco Router </a:t>
            </a:r>
            <a:r>
              <a:rPr lang="en-US" dirty="0" err="1"/>
              <a:t>bằng</a:t>
            </a:r>
            <a:r>
              <a:rPr lang="en-US" dirty="0"/>
              <a:t> </a:t>
            </a:r>
            <a:r>
              <a:rPr lang="en-US" dirty="0" err="1"/>
              <a:t>giao</a:t>
            </a:r>
            <a:r>
              <a:rPr lang="en-US" dirty="0"/>
              <a:t> </a:t>
            </a:r>
            <a:r>
              <a:rPr lang="en-US" dirty="0" err="1"/>
              <a:t>thức</a:t>
            </a:r>
            <a:r>
              <a:rPr lang="en-US" dirty="0"/>
              <a:t> TFTP. PC </a:t>
            </a:r>
            <a:r>
              <a:rPr lang="en-US" dirty="0" err="1"/>
              <a:t>hoạt</a:t>
            </a:r>
            <a:r>
              <a:rPr lang="en-US" dirty="0"/>
              <a:t> </a:t>
            </a:r>
            <a:r>
              <a:rPr lang="en-US" dirty="0" err="1"/>
              <a:t>động</a:t>
            </a:r>
            <a:r>
              <a:rPr lang="en-US" dirty="0"/>
              <a:t> </a:t>
            </a:r>
            <a:r>
              <a:rPr lang="en-US" dirty="0" err="1"/>
              <a:t>như</a:t>
            </a:r>
            <a:r>
              <a:rPr lang="en-US" dirty="0"/>
              <a:t> TFTP server, router </a:t>
            </a:r>
            <a:r>
              <a:rPr lang="en-US" dirty="0" err="1"/>
              <a:t>sẽ</a:t>
            </a:r>
            <a:r>
              <a:rPr lang="en-US" dirty="0"/>
              <a:t> </a:t>
            </a:r>
            <a:r>
              <a:rPr lang="en-US" dirty="0" err="1"/>
              <a:t>là</a:t>
            </a:r>
            <a:r>
              <a:rPr lang="en-US" dirty="0"/>
              <a:t> TFTP client.</a:t>
            </a:r>
          </a:p>
          <a:p>
            <a:pPr>
              <a:buFont typeface="Wingdings" panose="05000000000000000000" pitchFamily="2" charset="2"/>
              <a:buNone/>
            </a:pPr>
            <a:endParaRPr lang="en-US" dirty="0"/>
          </a:p>
          <a:p>
            <a:pPr>
              <a:buFont typeface="Wingdings" panose="05000000000000000000" pitchFamily="2" charset="2"/>
              <a:buNone/>
            </a:pPr>
            <a:endParaRPr lang="vi-VN" dirty="0"/>
          </a:p>
        </p:txBody>
      </p:sp>
      <p:pic>
        <p:nvPicPr>
          <p:cNvPr id="55298" name="Picture 2"/>
          <p:cNvPicPr>
            <a:picLocks noChangeAspect="1" noChangeArrowheads="1"/>
          </p:cNvPicPr>
          <p:nvPr/>
        </p:nvPicPr>
        <p:blipFill>
          <a:blip r:embed="rId2" cstate="print"/>
          <a:srcRect/>
          <a:stretch>
            <a:fillRect/>
          </a:stretch>
        </p:blipFill>
        <p:spPr bwMode="auto">
          <a:xfrm>
            <a:off x="2438400" y="1524000"/>
            <a:ext cx="5943600" cy="2057400"/>
          </a:xfrm>
          <a:prstGeom prst="rect">
            <a:avLst/>
          </a:prstGeom>
          <a:ln>
            <a:noFill/>
          </a:ln>
          <a:effectLst>
            <a:softEdge rad="112500"/>
          </a:effectLst>
        </p:spPr>
      </p:pic>
    </p:spTree>
    <p:extLst>
      <p:ext uri="{BB962C8B-B14F-4D97-AF65-F5344CB8AC3E}">
        <p14:creationId xmlns:p14="http://schemas.microsoft.com/office/powerpoint/2010/main" val="844073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179638" y="225425"/>
            <a:ext cx="8145462" cy="8382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altLang="zh-CN" sz="2800" b="1" dirty="0">
                <a:solidFill>
                  <a:srgbClr val="FFFF00"/>
                </a:solidFill>
              </a:rPr>
              <a:t>IOS Recovery: Mini IOS</a:t>
            </a:r>
          </a:p>
        </p:txBody>
      </p:sp>
      <p:sp>
        <p:nvSpPr>
          <p:cNvPr id="4" name="Chevron 3"/>
          <p:cNvSpPr/>
          <p:nvPr/>
        </p:nvSpPr>
        <p:spPr>
          <a:xfrm>
            <a:off x="1559859" y="1005767"/>
            <a:ext cx="8153400" cy="45719"/>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black"/>
              </a:solidFill>
              <a:latin typeface="Calibri"/>
            </a:endParaRPr>
          </a:p>
        </p:txBody>
      </p:sp>
      <p:cxnSp>
        <p:nvCxnSpPr>
          <p:cNvPr id="5" name="Straight Connector 4"/>
          <p:cNvCxnSpPr>
            <a:stCxn id="7" idx="1"/>
            <a:endCxn id="6" idx="3"/>
          </p:cNvCxnSpPr>
          <p:nvPr/>
        </p:nvCxnSpPr>
        <p:spPr>
          <a:xfrm flipH="1">
            <a:off x="4331494" y="2286000"/>
            <a:ext cx="4523649" cy="0"/>
          </a:xfrm>
          <a:prstGeom prst="line">
            <a:avLst/>
          </a:prstGeom>
          <a:noFill/>
          <a:ln w="28575" cap="flat" cmpd="sng" algn="ctr">
            <a:solidFill>
              <a:srgbClr val="4F81BD">
                <a:shade val="95000"/>
                <a:satMod val="105000"/>
              </a:srgbClr>
            </a:solidFill>
            <a:prstDash val="solid"/>
          </a:ln>
          <a:effectLst/>
        </p:spPr>
      </p:cxn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1893" y="2072968"/>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29" descr="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5143" y="1811338"/>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576502" y="1987072"/>
            <a:ext cx="1158943" cy="584775"/>
          </a:xfrm>
          <a:prstGeom prst="rect">
            <a:avLst/>
          </a:prstGeom>
          <a:noFill/>
        </p:spPr>
        <p:txBody>
          <a:bodyPr wrap="square" rtlCol="0">
            <a:spAutoFit/>
          </a:bodyPr>
          <a:lstStyle/>
          <a:p>
            <a:pPr algn="ctr"/>
            <a:r>
              <a:rPr lang="en-US" sz="1600" dirty="0" err="1">
                <a:solidFill>
                  <a:srgbClr val="FFFF00"/>
                </a:solidFill>
                <a:effectLst>
                  <a:glow rad="228600">
                    <a:srgbClr val="C0504D">
                      <a:satMod val="175000"/>
                      <a:alpha val="40000"/>
                    </a:srgbClr>
                  </a:glow>
                </a:effectLst>
                <a:latin typeface="Courier New" pitchFamily="49" charset="0"/>
                <a:cs typeface="Courier New" pitchFamily="49" charset="0"/>
              </a:rPr>
              <a:t>tftp</a:t>
            </a:r>
            <a:r>
              <a:rPr lang="en-US" sz="1600" dirty="0">
                <a:solidFill>
                  <a:srgbClr val="FFFF00"/>
                </a:solidFill>
                <a:effectLst>
                  <a:glow rad="228600">
                    <a:srgbClr val="C0504D">
                      <a:satMod val="175000"/>
                      <a:alpha val="40000"/>
                    </a:srgbClr>
                  </a:glow>
                </a:effectLst>
                <a:latin typeface="Courier New" pitchFamily="49" charset="0"/>
                <a:cs typeface="Courier New" pitchFamily="49" charset="0"/>
              </a:rPr>
              <a:t> server</a:t>
            </a:r>
          </a:p>
        </p:txBody>
      </p:sp>
      <p:sp>
        <p:nvSpPr>
          <p:cNvPr id="9" name="TextBox 8"/>
          <p:cNvSpPr txBox="1"/>
          <p:nvPr/>
        </p:nvSpPr>
        <p:spPr>
          <a:xfrm>
            <a:off x="2695007" y="1893686"/>
            <a:ext cx="990600" cy="369332"/>
          </a:xfrm>
          <a:prstGeom prst="rect">
            <a:avLst/>
          </a:prstGeom>
          <a:noFill/>
        </p:spPr>
        <p:txBody>
          <a:bodyPr wrap="square" rtlCol="0">
            <a:spAutoFit/>
          </a:bodyPr>
          <a:lstStyle/>
          <a:p>
            <a:pPr algn="ctr"/>
            <a:r>
              <a:rPr lang="en-US">
                <a:solidFill>
                  <a:srgbClr val="C00000"/>
                </a:solidFill>
                <a:latin typeface="Courier New" pitchFamily="49" charset="0"/>
                <a:cs typeface="Courier New" pitchFamily="49" charset="0"/>
              </a:rPr>
              <a:t>f0/0</a:t>
            </a:r>
          </a:p>
        </p:txBody>
      </p:sp>
      <p:sp>
        <p:nvSpPr>
          <p:cNvPr id="10" name="TextBox 9"/>
          <p:cNvSpPr txBox="1"/>
          <p:nvPr/>
        </p:nvSpPr>
        <p:spPr>
          <a:xfrm>
            <a:off x="2695007" y="2242243"/>
            <a:ext cx="990600" cy="369332"/>
          </a:xfrm>
          <a:prstGeom prst="rect">
            <a:avLst/>
          </a:prstGeom>
          <a:noFill/>
        </p:spPr>
        <p:txBody>
          <a:bodyPr wrap="square" rtlCol="0">
            <a:spAutoFit/>
          </a:bodyPr>
          <a:lstStyle/>
          <a:p>
            <a:pPr algn="ctr"/>
            <a:r>
              <a:rPr lang="en-US">
                <a:solidFill>
                  <a:srgbClr val="C00000"/>
                </a:solidFill>
                <a:latin typeface="Courier New" pitchFamily="49" charset="0"/>
                <a:cs typeface="Courier New" pitchFamily="49" charset="0"/>
              </a:rPr>
              <a:t>f0/1</a:t>
            </a:r>
          </a:p>
        </p:txBody>
      </p:sp>
      <p:sp>
        <p:nvSpPr>
          <p:cNvPr id="11" name="TextBox 10"/>
          <p:cNvSpPr txBox="1"/>
          <p:nvPr/>
        </p:nvSpPr>
        <p:spPr>
          <a:xfrm>
            <a:off x="7391401" y="1993900"/>
            <a:ext cx="1604201" cy="369332"/>
          </a:xfrm>
          <a:prstGeom prst="rect">
            <a:avLst/>
          </a:prstGeom>
          <a:noFill/>
        </p:spPr>
        <p:txBody>
          <a:bodyPr wrap="square" rtlCol="0">
            <a:spAutoFit/>
          </a:bodyPr>
          <a:lstStyle/>
          <a:p>
            <a:pPr algn="ctr"/>
            <a:r>
              <a:rPr lang="en-US" dirty="0">
                <a:solidFill>
                  <a:srgbClr val="0070C0"/>
                </a:solidFill>
                <a:latin typeface="Courier New" pitchFamily="49" charset="0"/>
                <a:cs typeface="Courier New" pitchFamily="49" charset="0"/>
              </a:rPr>
              <a:t>10.0.0.2</a:t>
            </a:r>
          </a:p>
        </p:txBody>
      </p:sp>
      <p:sp>
        <p:nvSpPr>
          <p:cNvPr id="12" name="Rectangle 11"/>
          <p:cNvSpPr/>
          <p:nvPr/>
        </p:nvSpPr>
        <p:spPr>
          <a:xfrm>
            <a:off x="3072586" y="3136613"/>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13" name="Rectangle 12"/>
          <p:cNvSpPr/>
          <p:nvPr/>
        </p:nvSpPr>
        <p:spPr>
          <a:xfrm>
            <a:off x="4334471" y="3136613"/>
            <a:ext cx="3108543" cy="400110"/>
          </a:xfrm>
          <a:prstGeom prst="rect">
            <a:avLst/>
          </a:prstGeom>
        </p:spPr>
        <p:txBody>
          <a:bodyPr wrap="none">
            <a:spAutoFit/>
          </a:bodyPr>
          <a:lstStyle/>
          <a:p>
            <a:pPr eaLnBrk="1" hangingPunct="1">
              <a:lnSpc>
                <a:spcPct val="100000"/>
              </a:lnSpc>
              <a:defRPr/>
            </a:pPr>
            <a:r>
              <a:rPr lang="en-US" sz="2000" dirty="0">
                <a:solidFill>
                  <a:srgbClr val="C00000"/>
                </a:solidFill>
                <a:latin typeface="Courier New" pitchFamily="49" charset="0"/>
                <a:cs typeface="Courier New" pitchFamily="49" charset="0"/>
              </a:rPr>
              <a:t>IP_ADDRESS=</a:t>
            </a:r>
            <a:r>
              <a:rPr lang="en-US" sz="2000" dirty="0">
                <a:solidFill>
                  <a:srgbClr val="0070C0"/>
                </a:solidFill>
                <a:latin typeface="Courier New" pitchFamily="49" charset="0"/>
                <a:cs typeface="Courier New" pitchFamily="49" charset="0"/>
              </a:rPr>
              <a:t>10.0.0.1</a:t>
            </a:r>
          </a:p>
        </p:txBody>
      </p:sp>
      <p:sp>
        <p:nvSpPr>
          <p:cNvPr id="14" name="TextBox 13"/>
          <p:cNvSpPr txBox="1"/>
          <p:nvPr/>
        </p:nvSpPr>
        <p:spPr>
          <a:xfrm>
            <a:off x="4110800" y="1993900"/>
            <a:ext cx="1604201" cy="369332"/>
          </a:xfrm>
          <a:prstGeom prst="rect">
            <a:avLst/>
          </a:prstGeom>
          <a:noFill/>
        </p:spPr>
        <p:txBody>
          <a:bodyPr wrap="square" rtlCol="0">
            <a:spAutoFit/>
          </a:bodyPr>
          <a:lstStyle/>
          <a:p>
            <a:pPr algn="ctr"/>
            <a:r>
              <a:rPr lang="en-US" dirty="0">
                <a:solidFill>
                  <a:srgbClr val="0070C0"/>
                </a:solidFill>
                <a:latin typeface="Courier New" pitchFamily="49" charset="0"/>
                <a:cs typeface="Courier New" pitchFamily="49" charset="0"/>
              </a:rPr>
              <a:t>10.0.0.1</a:t>
            </a:r>
          </a:p>
        </p:txBody>
      </p:sp>
      <p:sp>
        <p:nvSpPr>
          <p:cNvPr id="15" name="Rectangle 14"/>
          <p:cNvSpPr/>
          <p:nvPr/>
        </p:nvSpPr>
        <p:spPr>
          <a:xfrm>
            <a:off x="3072586" y="3560989"/>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16" name="Rectangle 15"/>
          <p:cNvSpPr/>
          <p:nvPr/>
        </p:nvSpPr>
        <p:spPr>
          <a:xfrm>
            <a:off x="4334471" y="3560989"/>
            <a:ext cx="3877985" cy="400110"/>
          </a:xfrm>
          <a:prstGeom prst="rect">
            <a:avLst/>
          </a:prstGeom>
        </p:spPr>
        <p:txBody>
          <a:bodyPr wrap="none">
            <a:spAutoFit/>
          </a:bodyPr>
          <a:lstStyle/>
          <a:p>
            <a:pPr eaLnBrk="1" hangingPunct="1">
              <a:lnSpc>
                <a:spcPct val="100000"/>
              </a:lnSpc>
              <a:defRPr/>
            </a:pPr>
            <a:r>
              <a:rPr lang="en-US" sz="2000" dirty="0">
                <a:solidFill>
                  <a:srgbClr val="C00000"/>
                </a:solidFill>
                <a:latin typeface="Courier New" pitchFamily="49" charset="0"/>
                <a:cs typeface="Courier New" pitchFamily="49" charset="0"/>
              </a:rPr>
              <a:t>IP_SUBNET_MASK=</a:t>
            </a:r>
            <a:r>
              <a:rPr lang="en-US" sz="2000" dirty="0">
                <a:solidFill>
                  <a:srgbClr val="0070C0"/>
                </a:solidFill>
                <a:latin typeface="Courier New" pitchFamily="49" charset="0"/>
                <a:cs typeface="Courier New" pitchFamily="49" charset="0"/>
              </a:rPr>
              <a:t>255.0.0.0</a:t>
            </a:r>
          </a:p>
        </p:txBody>
      </p:sp>
      <p:sp>
        <p:nvSpPr>
          <p:cNvPr id="17" name="TextBox 16"/>
          <p:cNvSpPr txBox="1"/>
          <p:nvPr/>
        </p:nvSpPr>
        <p:spPr>
          <a:xfrm>
            <a:off x="5486400" y="1993900"/>
            <a:ext cx="457200" cy="369332"/>
          </a:xfrm>
          <a:prstGeom prst="rect">
            <a:avLst/>
          </a:prstGeom>
          <a:noFill/>
        </p:spPr>
        <p:txBody>
          <a:bodyPr wrap="square" rtlCol="0">
            <a:spAutoFit/>
          </a:bodyPr>
          <a:lstStyle/>
          <a:p>
            <a:pPr algn="ctr"/>
            <a:r>
              <a:rPr lang="en-US" dirty="0">
                <a:solidFill>
                  <a:srgbClr val="0070C0"/>
                </a:solidFill>
                <a:latin typeface="Courier New" pitchFamily="49" charset="0"/>
                <a:cs typeface="Courier New" pitchFamily="49" charset="0"/>
              </a:rPr>
              <a:t>/8</a:t>
            </a:r>
          </a:p>
        </p:txBody>
      </p:sp>
      <p:sp>
        <p:nvSpPr>
          <p:cNvPr id="18" name="Rectangle 17"/>
          <p:cNvSpPr/>
          <p:nvPr/>
        </p:nvSpPr>
        <p:spPr>
          <a:xfrm>
            <a:off x="3072586" y="3959798"/>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19" name="Rectangle 18"/>
          <p:cNvSpPr/>
          <p:nvPr/>
        </p:nvSpPr>
        <p:spPr>
          <a:xfrm>
            <a:off x="4334471" y="3959798"/>
            <a:ext cx="3877985" cy="400110"/>
          </a:xfrm>
          <a:prstGeom prst="rect">
            <a:avLst/>
          </a:prstGeom>
        </p:spPr>
        <p:txBody>
          <a:bodyPr wrap="none">
            <a:spAutoFit/>
          </a:bodyPr>
          <a:lstStyle/>
          <a:p>
            <a:pPr eaLnBrk="1" hangingPunct="1">
              <a:lnSpc>
                <a:spcPct val="100000"/>
              </a:lnSpc>
              <a:defRPr/>
            </a:pPr>
            <a:r>
              <a:rPr lang="en-US" sz="2000" dirty="0">
                <a:solidFill>
                  <a:srgbClr val="C00000"/>
                </a:solidFill>
                <a:latin typeface="Courier New" pitchFamily="49" charset="0"/>
                <a:cs typeface="Courier New" pitchFamily="49" charset="0"/>
              </a:rPr>
              <a:t>DEFAULT_GATEWAY=</a:t>
            </a:r>
            <a:r>
              <a:rPr lang="en-US" sz="2000" dirty="0">
                <a:solidFill>
                  <a:srgbClr val="0070C0"/>
                </a:solidFill>
                <a:latin typeface="Courier New" pitchFamily="49" charset="0"/>
                <a:cs typeface="Courier New" pitchFamily="49" charset="0"/>
              </a:rPr>
              <a:t>10.0.0.2</a:t>
            </a:r>
          </a:p>
        </p:txBody>
      </p:sp>
      <p:sp>
        <p:nvSpPr>
          <p:cNvPr id="20" name="Rectangle 19"/>
          <p:cNvSpPr/>
          <p:nvPr/>
        </p:nvSpPr>
        <p:spPr>
          <a:xfrm>
            <a:off x="3072586" y="4359908"/>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21" name="Rectangle 20"/>
          <p:cNvSpPr/>
          <p:nvPr/>
        </p:nvSpPr>
        <p:spPr>
          <a:xfrm>
            <a:off x="4334470" y="4359908"/>
            <a:ext cx="3262432" cy="400110"/>
          </a:xfrm>
          <a:prstGeom prst="rect">
            <a:avLst/>
          </a:prstGeom>
        </p:spPr>
        <p:txBody>
          <a:bodyPr wrap="none">
            <a:spAutoFit/>
          </a:bodyPr>
          <a:lstStyle/>
          <a:p>
            <a:pPr eaLnBrk="1" hangingPunct="1">
              <a:lnSpc>
                <a:spcPct val="100000"/>
              </a:lnSpc>
              <a:defRPr/>
            </a:pPr>
            <a:r>
              <a:rPr lang="en-US" sz="2000" dirty="0">
                <a:solidFill>
                  <a:srgbClr val="C00000"/>
                </a:solidFill>
                <a:latin typeface="Courier New" pitchFamily="49" charset="0"/>
                <a:cs typeface="Courier New" pitchFamily="49" charset="0"/>
              </a:rPr>
              <a:t>TFTP_SERVER=</a:t>
            </a:r>
            <a:r>
              <a:rPr lang="en-US" sz="2000" dirty="0">
                <a:solidFill>
                  <a:srgbClr val="0070C0"/>
                </a:solidFill>
                <a:latin typeface="Courier New" pitchFamily="49" charset="0"/>
                <a:cs typeface="Courier New" pitchFamily="49" charset="0"/>
              </a:rPr>
              <a:t>10.0.0.2</a:t>
            </a:r>
          </a:p>
        </p:txBody>
      </p:sp>
      <p:sp>
        <p:nvSpPr>
          <p:cNvPr id="22" name="Rectangle 21"/>
          <p:cNvSpPr/>
          <p:nvPr/>
        </p:nvSpPr>
        <p:spPr>
          <a:xfrm>
            <a:off x="3072586" y="4760018"/>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23" name="Rectangle 22"/>
          <p:cNvSpPr/>
          <p:nvPr/>
        </p:nvSpPr>
        <p:spPr>
          <a:xfrm>
            <a:off x="4334470" y="4760018"/>
            <a:ext cx="5878532" cy="400110"/>
          </a:xfrm>
          <a:prstGeom prst="rect">
            <a:avLst/>
          </a:prstGeom>
        </p:spPr>
        <p:txBody>
          <a:bodyPr wrap="none">
            <a:spAutoFit/>
          </a:bodyPr>
          <a:lstStyle/>
          <a:p>
            <a:pPr eaLnBrk="1" hangingPunct="1">
              <a:lnSpc>
                <a:spcPct val="100000"/>
              </a:lnSpc>
              <a:defRPr/>
            </a:pPr>
            <a:r>
              <a:rPr lang="en-US" sz="2000">
                <a:solidFill>
                  <a:srgbClr val="C00000"/>
                </a:solidFill>
                <a:latin typeface="Courier New" pitchFamily="49" charset="0"/>
                <a:cs typeface="Courier New" pitchFamily="49" charset="0"/>
              </a:rPr>
              <a:t>TFTP_FILE=</a:t>
            </a:r>
            <a:r>
              <a:rPr lang="en-US" sz="2000">
                <a:solidFill>
                  <a:srgbClr val="0070C0"/>
                </a:solidFill>
                <a:latin typeface="Courier New" pitchFamily="49" charset="0"/>
                <a:cs typeface="Courier New" pitchFamily="49" charset="0"/>
              </a:rPr>
              <a:t>c2600-is-mz.113-3.0.3.0.bin</a:t>
            </a:r>
            <a:endParaRPr lang="en-US" sz="2000" dirty="0">
              <a:solidFill>
                <a:srgbClr val="0070C0"/>
              </a:solidFill>
              <a:latin typeface="Courier New" pitchFamily="49" charset="0"/>
              <a:cs typeface="Courier New" pitchFamily="49" charset="0"/>
            </a:endParaRPr>
          </a:p>
        </p:txBody>
      </p:sp>
      <p:sp>
        <p:nvSpPr>
          <p:cNvPr id="24" name="Rectangle 23"/>
          <p:cNvSpPr/>
          <p:nvPr/>
        </p:nvSpPr>
        <p:spPr>
          <a:xfrm>
            <a:off x="3072586" y="5160128"/>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25" name="Rectangle 24"/>
          <p:cNvSpPr/>
          <p:nvPr/>
        </p:nvSpPr>
        <p:spPr>
          <a:xfrm>
            <a:off x="4334471" y="5160128"/>
            <a:ext cx="800219" cy="400110"/>
          </a:xfrm>
          <a:prstGeom prst="rect">
            <a:avLst/>
          </a:prstGeom>
        </p:spPr>
        <p:txBody>
          <a:bodyPr wrap="none">
            <a:spAutoFit/>
          </a:bodyPr>
          <a:lstStyle/>
          <a:p>
            <a:pPr eaLnBrk="1" hangingPunct="1">
              <a:lnSpc>
                <a:spcPct val="100000"/>
              </a:lnSpc>
              <a:defRPr/>
            </a:pPr>
            <a:r>
              <a:rPr lang="en-US" sz="2000" dirty="0">
                <a:solidFill>
                  <a:srgbClr val="C00000"/>
                </a:solidFill>
                <a:latin typeface="Courier New" pitchFamily="49" charset="0"/>
                <a:cs typeface="Courier New" pitchFamily="49" charset="0"/>
              </a:rPr>
              <a:t>sync</a:t>
            </a:r>
            <a:endParaRPr lang="en-US" sz="2000" dirty="0">
              <a:solidFill>
                <a:srgbClr val="0070C0"/>
              </a:solidFill>
              <a:latin typeface="Courier New" pitchFamily="49" charset="0"/>
              <a:cs typeface="Courier New" pitchFamily="49" charset="0"/>
            </a:endParaRPr>
          </a:p>
        </p:txBody>
      </p:sp>
      <p:sp>
        <p:nvSpPr>
          <p:cNvPr id="26" name="TextBox 25"/>
          <p:cNvSpPr txBox="1"/>
          <p:nvPr/>
        </p:nvSpPr>
        <p:spPr>
          <a:xfrm>
            <a:off x="3447222" y="2125956"/>
            <a:ext cx="1158943" cy="338554"/>
          </a:xfrm>
          <a:prstGeom prst="rect">
            <a:avLst/>
          </a:prstGeom>
          <a:noFill/>
        </p:spPr>
        <p:txBody>
          <a:bodyPr wrap="square" rtlCol="0">
            <a:spAutoFit/>
          </a:bodyPr>
          <a:lstStyle/>
          <a:p>
            <a:pPr algn="ctr"/>
            <a:r>
              <a:rPr lang="en-US" sz="1600" dirty="0">
                <a:solidFill>
                  <a:srgbClr val="FFFF00"/>
                </a:solidFill>
                <a:effectLst>
                  <a:glow rad="228600">
                    <a:srgbClr val="C0504D">
                      <a:satMod val="175000"/>
                      <a:alpha val="40000"/>
                    </a:srgbClr>
                  </a:glow>
                </a:effectLst>
                <a:latin typeface="Courier New" pitchFamily="49" charset="0"/>
                <a:cs typeface="Courier New" pitchFamily="49" charset="0"/>
              </a:rPr>
              <a:t>NVRAM</a:t>
            </a:r>
          </a:p>
        </p:txBody>
      </p:sp>
      <p:sp>
        <p:nvSpPr>
          <p:cNvPr id="27" name="Rectangle 26"/>
          <p:cNvSpPr/>
          <p:nvPr/>
        </p:nvSpPr>
        <p:spPr>
          <a:xfrm>
            <a:off x="3072586" y="5560238"/>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28" name="Rectangle 27"/>
          <p:cNvSpPr/>
          <p:nvPr/>
        </p:nvSpPr>
        <p:spPr>
          <a:xfrm>
            <a:off x="4334470" y="5560238"/>
            <a:ext cx="1415772" cy="400110"/>
          </a:xfrm>
          <a:prstGeom prst="rect">
            <a:avLst/>
          </a:prstGeom>
        </p:spPr>
        <p:txBody>
          <a:bodyPr wrap="none">
            <a:spAutoFit/>
          </a:bodyPr>
          <a:lstStyle/>
          <a:p>
            <a:pPr eaLnBrk="1" hangingPunct="1">
              <a:lnSpc>
                <a:spcPct val="100000"/>
              </a:lnSpc>
              <a:defRPr/>
            </a:pPr>
            <a:r>
              <a:rPr lang="en-US" sz="2000" dirty="0" err="1">
                <a:solidFill>
                  <a:srgbClr val="C00000"/>
                </a:solidFill>
                <a:latin typeface="Courier New" pitchFamily="49" charset="0"/>
                <a:cs typeface="Courier New" pitchFamily="49" charset="0"/>
              </a:rPr>
              <a:t>tftpdnld</a:t>
            </a:r>
            <a:endParaRPr lang="en-US" sz="2000" dirty="0">
              <a:solidFill>
                <a:srgbClr val="0070C0"/>
              </a:solidFill>
              <a:latin typeface="Courier New" pitchFamily="49" charset="0"/>
              <a:cs typeface="Courier New" pitchFamily="49" charset="0"/>
            </a:endParaRPr>
          </a:p>
        </p:txBody>
      </p:sp>
      <p:sp>
        <p:nvSpPr>
          <p:cNvPr id="29" name="Freeform 28"/>
          <p:cNvSpPr/>
          <p:nvPr/>
        </p:nvSpPr>
        <p:spPr bwMode="auto">
          <a:xfrm>
            <a:off x="4237491" y="1238544"/>
            <a:ext cx="4499428" cy="755357"/>
          </a:xfrm>
          <a:custGeom>
            <a:avLst/>
            <a:gdLst>
              <a:gd name="connsiteX0" fmla="*/ 4499428 w 4499428"/>
              <a:gd name="connsiteY0" fmla="*/ 755357 h 755357"/>
              <a:gd name="connsiteX1" fmla="*/ 2249714 w 4499428"/>
              <a:gd name="connsiteY1" fmla="*/ 615 h 755357"/>
              <a:gd name="connsiteX2" fmla="*/ 0 w 4499428"/>
              <a:gd name="connsiteY2" fmla="*/ 653757 h 755357"/>
            </a:gdLst>
            <a:ahLst/>
            <a:cxnLst>
              <a:cxn ang="0">
                <a:pos x="connsiteX0" y="connsiteY0"/>
              </a:cxn>
              <a:cxn ang="0">
                <a:pos x="connsiteX1" y="connsiteY1"/>
              </a:cxn>
              <a:cxn ang="0">
                <a:pos x="connsiteX2" y="connsiteY2"/>
              </a:cxn>
            </a:cxnLst>
            <a:rect l="l" t="t" r="r" b="b"/>
            <a:pathLst>
              <a:path w="4499428" h="755357">
                <a:moveTo>
                  <a:pt x="4499428" y="755357"/>
                </a:moveTo>
                <a:cubicBezTo>
                  <a:pt x="3749523" y="386452"/>
                  <a:pt x="2999619" y="17548"/>
                  <a:pt x="2249714" y="615"/>
                </a:cubicBezTo>
                <a:cubicBezTo>
                  <a:pt x="1499809" y="-16318"/>
                  <a:pt x="749904" y="318719"/>
                  <a:pt x="0" y="653757"/>
                </a:cubicBezTo>
              </a:path>
            </a:pathLst>
          </a:custGeom>
          <a:noFill/>
          <a:ln w="28575" cap="flat" cmpd="sng" algn="ctr">
            <a:solidFill>
              <a:srgbClr val="FF0000"/>
            </a:solidFill>
            <a:prstDash val="sysDot"/>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rtlCol="0" anchor="t" anchorCtr="0" compatLnSpc="1">
            <a:prstTxWarp prst="textNoShape">
              <a:avLst/>
            </a:prstTxWarp>
          </a:bodyPr>
          <a:lstStyle/>
          <a:p>
            <a:pPr defTabSz="814388"/>
            <a:endParaRPr lang="en-US">
              <a:solidFill>
                <a:prstClr val="black"/>
              </a:solidFill>
            </a:endParaRPr>
          </a:p>
        </p:txBody>
      </p:sp>
      <p:sp>
        <p:nvSpPr>
          <p:cNvPr id="30" name="Rectangle 29"/>
          <p:cNvSpPr/>
          <p:nvPr/>
        </p:nvSpPr>
        <p:spPr>
          <a:xfrm>
            <a:off x="3072586" y="5960348"/>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31" name="Rectangle 30"/>
          <p:cNvSpPr/>
          <p:nvPr/>
        </p:nvSpPr>
        <p:spPr>
          <a:xfrm>
            <a:off x="4334471" y="5960348"/>
            <a:ext cx="1723549" cy="400110"/>
          </a:xfrm>
          <a:prstGeom prst="rect">
            <a:avLst/>
          </a:prstGeom>
        </p:spPr>
        <p:txBody>
          <a:bodyPr wrap="none">
            <a:spAutoFit/>
          </a:bodyPr>
          <a:lstStyle/>
          <a:p>
            <a:pPr eaLnBrk="1" hangingPunct="1">
              <a:lnSpc>
                <a:spcPct val="100000"/>
              </a:lnSpc>
              <a:defRPr/>
            </a:pPr>
            <a:r>
              <a:rPr lang="en-US" sz="2000">
                <a:solidFill>
                  <a:srgbClr val="C00000"/>
                </a:solidFill>
                <a:latin typeface="Courier New" pitchFamily="49" charset="0"/>
                <a:cs typeface="Courier New" pitchFamily="49" charset="0"/>
              </a:rPr>
              <a:t>dir flash:</a:t>
            </a:r>
            <a:endParaRPr lang="en-US" sz="2000" dirty="0">
              <a:solidFill>
                <a:srgbClr val="0070C0"/>
              </a:solidFill>
              <a:latin typeface="Courier New" pitchFamily="49" charset="0"/>
              <a:cs typeface="Courier New" pitchFamily="49" charset="0"/>
            </a:endParaRPr>
          </a:p>
        </p:txBody>
      </p:sp>
      <p:sp>
        <p:nvSpPr>
          <p:cNvPr id="32" name="TextBox 31"/>
          <p:cNvSpPr txBox="1"/>
          <p:nvPr/>
        </p:nvSpPr>
        <p:spPr>
          <a:xfrm>
            <a:off x="4334470" y="2446044"/>
            <a:ext cx="1753280" cy="369332"/>
          </a:xfrm>
          <a:prstGeom prst="rect">
            <a:avLst/>
          </a:prstGeom>
          <a:noFill/>
        </p:spPr>
        <p:txBody>
          <a:bodyPr wrap="square" rtlCol="0">
            <a:spAutoFit/>
          </a:bodyPr>
          <a:lstStyle/>
          <a:p>
            <a:pPr algn="ctr"/>
            <a:r>
              <a:rPr lang="en-US">
                <a:solidFill>
                  <a:srgbClr val="0070C0"/>
                </a:solidFill>
                <a:latin typeface="Courier New" pitchFamily="49" charset="0"/>
                <a:cs typeface="Courier New" pitchFamily="49" charset="0"/>
              </a:rPr>
              <a:t>Out of room</a:t>
            </a:r>
            <a:endParaRPr lang="en-US" dirty="0">
              <a:solidFill>
                <a:srgbClr val="0070C0"/>
              </a:solidFill>
              <a:latin typeface="Courier New" pitchFamily="49" charset="0"/>
              <a:cs typeface="Courier New" pitchFamily="49" charset="0"/>
            </a:endParaRPr>
          </a:p>
        </p:txBody>
      </p:sp>
      <p:sp>
        <p:nvSpPr>
          <p:cNvPr id="33" name="Rectangle 32"/>
          <p:cNvSpPr/>
          <p:nvPr/>
        </p:nvSpPr>
        <p:spPr>
          <a:xfrm>
            <a:off x="3072586" y="2736503"/>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34" name="Rectangle 33"/>
          <p:cNvSpPr/>
          <p:nvPr/>
        </p:nvSpPr>
        <p:spPr>
          <a:xfrm>
            <a:off x="4334470" y="2736503"/>
            <a:ext cx="1569660" cy="400110"/>
          </a:xfrm>
          <a:prstGeom prst="rect">
            <a:avLst/>
          </a:prstGeom>
        </p:spPr>
        <p:txBody>
          <a:bodyPr wrap="none">
            <a:spAutoFit/>
          </a:bodyPr>
          <a:lstStyle/>
          <a:p>
            <a:pPr eaLnBrk="1" hangingPunct="1">
              <a:lnSpc>
                <a:spcPct val="100000"/>
              </a:lnSpc>
              <a:defRPr/>
            </a:pPr>
            <a:r>
              <a:rPr lang="en-US" sz="2000">
                <a:solidFill>
                  <a:srgbClr val="C00000"/>
                </a:solidFill>
                <a:latin typeface="Courier New" pitchFamily="49" charset="0"/>
                <a:cs typeface="Courier New" pitchFamily="49" charset="0"/>
              </a:rPr>
              <a:t>FE_PORT=</a:t>
            </a:r>
            <a:r>
              <a:rPr lang="en-US" sz="2000">
                <a:solidFill>
                  <a:srgbClr val="0070C0"/>
                </a:solidFill>
                <a:latin typeface="Courier New" pitchFamily="49" charset="0"/>
                <a:cs typeface="Courier New" pitchFamily="49" charset="0"/>
              </a:rPr>
              <a:t>0</a:t>
            </a:r>
            <a:endParaRPr lang="en-US" sz="2000" dirty="0">
              <a:solidFill>
                <a:srgbClr val="0070C0"/>
              </a:solidFill>
              <a:latin typeface="Courier New" pitchFamily="49" charset="0"/>
              <a:cs typeface="Courier New" pitchFamily="49" charset="0"/>
            </a:endParaRPr>
          </a:p>
        </p:txBody>
      </p:sp>
      <p:sp>
        <p:nvSpPr>
          <p:cNvPr id="35" name="Rectangle 34"/>
          <p:cNvSpPr/>
          <p:nvPr/>
        </p:nvSpPr>
        <p:spPr>
          <a:xfrm>
            <a:off x="3072586" y="6360458"/>
            <a:ext cx="1261884" cy="400110"/>
          </a:xfrm>
          <a:prstGeom prst="rect">
            <a:avLst/>
          </a:prstGeom>
        </p:spPr>
        <p:txBody>
          <a:bodyPr wrap="none">
            <a:spAutoFit/>
          </a:bodyPr>
          <a:lstStyle/>
          <a:p>
            <a:pPr eaLnBrk="1" hangingPunct="1">
              <a:lnSpc>
                <a:spcPct val="100000"/>
              </a:lnSpc>
              <a:defRPr/>
            </a:pPr>
            <a:r>
              <a:rPr lang="en-US" sz="2000" dirty="0" err="1">
                <a:solidFill>
                  <a:srgbClr val="000000"/>
                </a:solidFill>
                <a:latin typeface="Courier New" pitchFamily="49" charset="0"/>
                <a:cs typeface="Courier New" pitchFamily="49" charset="0"/>
              </a:rPr>
              <a:t>Rommon</a:t>
            </a:r>
            <a:r>
              <a:rPr lang="en-US" sz="2000" dirty="0">
                <a:solidFill>
                  <a:srgbClr val="000000"/>
                </a:solidFill>
                <a:latin typeface="Courier New" pitchFamily="49" charset="0"/>
                <a:cs typeface="Courier New" pitchFamily="49" charset="0"/>
              </a:rPr>
              <a:t>&gt;</a:t>
            </a:r>
            <a:endParaRPr lang="en-US" sz="2000" dirty="0">
              <a:solidFill>
                <a:srgbClr val="A11616"/>
              </a:solidFill>
              <a:latin typeface="Courier New" pitchFamily="49" charset="0"/>
              <a:cs typeface="Courier New" pitchFamily="49" charset="0"/>
            </a:endParaRPr>
          </a:p>
        </p:txBody>
      </p:sp>
      <p:sp>
        <p:nvSpPr>
          <p:cNvPr id="36" name="Rectangle 35"/>
          <p:cNvSpPr/>
          <p:nvPr/>
        </p:nvSpPr>
        <p:spPr>
          <a:xfrm>
            <a:off x="4334471" y="6360458"/>
            <a:ext cx="954107" cy="400110"/>
          </a:xfrm>
          <a:prstGeom prst="rect">
            <a:avLst/>
          </a:prstGeom>
        </p:spPr>
        <p:txBody>
          <a:bodyPr wrap="none">
            <a:spAutoFit/>
          </a:bodyPr>
          <a:lstStyle/>
          <a:p>
            <a:pPr eaLnBrk="1" hangingPunct="1">
              <a:lnSpc>
                <a:spcPct val="100000"/>
              </a:lnSpc>
              <a:defRPr/>
            </a:pPr>
            <a:r>
              <a:rPr lang="en-US" sz="2000" dirty="0">
                <a:solidFill>
                  <a:srgbClr val="C00000"/>
                </a:solidFill>
                <a:latin typeface="Courier New" pitchFamily="49" charset="0"/>
                <a:cs typeface="Courier New" pitchFamily="49" charset="0"/>
              </a:rPr>
              <a:t>reset</a:t>
            </a:r>
            <a:endParaRPr lang="en-US" sz="2000" dirty="0">
              <a:solidFill>
                <a:srgbClr val="0070C0"/>
              </a:solidFill>
              <a:latin typeface="Courier New" pitchFamily="49" charset="0"/>
              <a:cs typeface="Courier New" pitchFamily="49" charset="0"/>
            </a:endParaRPr>
          </a:p>
        </p:txBody>
      </p:sp>
    </p:spTree>
    <p:extLst>
      <p:ext uri="{BB962C8B-B14F-4D97-AF65-F5344CB8AC3E}">
        <p14:creationId xmlns:p14="http://schemas.microsoft.com/office/powerpoint/2010/main" val="351562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500"/>
                                        <p:tgtEl>
                                          <p:spTgt spid="18"/>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wipe(left)">
                                      <p:cBhvr>
                                        <p:cTn id="52" dur="500"/>
                                        <p:tgtEl>
                                          <p:spTgt spid="22"/>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left)">
                                      <p:cBhvr>
                                        <p:cTn id="61" dur="500"/>
                                        <p:tgtEl>
                                          <p:spTgt spid="24"/>
                                        </p:tgtEl>
                                      </p:cBhvr>
                                    </p:animEffect>
                                  </p:childTnLst>
                                </p:cTn>
                              </p:par>
                            </p:childTnLst>
                          </p:cTn>
                        </p:par>
                        <p:par>
                          <p:cTn id="62" fill="hold">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left)">
                                      <p:cBhvr>
                                        <p:cTn id="65" dur="500"/>
                                        <p:tgtEl>
                                          <p:spTgt spid="25"/>
                                        </p:tgtEl>
                                      </p:cBhvr>
                                    </p:animEffect>
                                  </p:childTnLst>
                                </p:cTn>
                              </p:par>
                            </p:childTnLst>
                          </p:cTn>
                        </p:par>
                        <p:par>
                          <p:cTn id="66" fill="hold">
                            <p:stCondLst>
                              <p:cond delay="1000"/>
                            </p:stCondLst>
                            <p:childTnLst>
                              <p:par>
                                <p:cTn id="67" presetID="42" presetClass="entr" presetSubtype="0" fill="hold" grpId="0" nodeType="after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1000"/>
                                        <p:tgtEl>
                                          <p:spTgt spid="26"/>
                                        </p:tgtEl>
                                      </p:cBhvr>
                                    </p:animEffect>
                                    <p:anim calcmode="lin" valueType="num">
                                      <p:cBhvr>
                                        <p:cTn id="70" dur="1000" fill="hold"/>
                                        <p:tgtEl>
                                          <p:spTgt spid="26"/>
                                        </p:tgtEl>
                                        <p:attrNameLst>
                                          <p:attrName>ppt_x</p:attrName>
                                        </p:attrNameLst>
                                      </p:cBhvr>
                                      <p:tavLst>
                                        <p:tav tm="0">
                                          <p:val>
                                            <p:strVal val="#ppt_x"/>
                                          </p:val>
                                        </p:tav>
                                        <p:tav tm="100000">
                                          <p:val>
                                            <p:strVal val="#ppt_x"/>
                                          </p:val>
                                        </p:tav>
                                      </p:tavLst>
                                    </p:anim>
                                    <p:anim calcmode="lin" valueType="num">
                                      <p:cBhvr>
                                        <p:cTn id="71"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wipe(left)">
                                      <p:cBhvr>
                                        <p:cTn id="80" dur="500"/>
                                        <p:tgtEl>
                                          <p:spTgt spid="28"/>
                                        </p:tgtEl>
                                      </p:cBhvr>
                                    </p:animEffect>
                                  </p:childTnLst>
                                </p:cTn>
                              </p:par>
                            </p:childTnLst>
                          </p:cTn>
                        </p:par>
                        <p:par>
                          <p:cTn id="81" fill="hold">
                            <p:stCondLst>
                              <p:cond delay="1000"/>
                            </p:stCondLst>
                            <p:childTnLst>
                              <p:par>
                                <p:cTn id="82" presetID="22" presetClass="entr" presetSubtype="2" fill="hold" grpId="0" nodeType="after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right)">
                                      <p:cBhvr>
                                        <p:cTn id="84" dur="1000"/>
                                        <p:tgtEl>
                                          <p:spTgt spid="2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wipe(left)">
                                      <p:cBhvr>
                                        <p:cTn id="89" dur="500"/>
                                        <p:tgtEl>
                                          <p:spTgt spid="30"/>
                                        </p:tgtEl>
                                      </p:cBhvr>
                                    </p:animEffect>
                                  </p:childTnLst>
                                </p:cTn>
                              </p:par>
                            </p:childTnLst>
                          </p:cTn>
                        </p:par>
                        <p:par>
                          <p:cTn id="90" fill="hold">
                            <p:stCondLst>
                              <p:cond delay="500"/>
                            </p:stCondLst>
                            <p:childTnLst>
                              <p:par>
                                <p:cTn id="91" presetID="22" presetClass="entr" presetSubtype="8" fill="hold" grpId="0" nodeType="after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wipe(left)">
                                      <p:cBhvr>
                                        <p:cTn id="93" dur="500"/>
                                        <p:tgtEl>
                                          <p:spTgt spid="3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wipe(left)">
                                      <p:cBhvr>
                                        <p:cTn id="98" dur="500"/>
                                        <p:tgtEl>
                                          <p:spTgt spid="32"/>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wipe(left)">
                                      <p:cBhvr>
                                        <p:cTn id="103" dur="500"/>
                                        <p:tgtEl>
                                          <p:spTgt spid="35"/>
                                        </p:tgtEl>
                                      </p:cBhvr>
                                    </p:animEffect>
                                  </p:childTnLst>
                                </p:cTn>
                              </p:par>
                            </p:childTnLst>
                          </p:cTn>
                        </p:par>
                        <p:par>
                          <p:cTn id="104" fill="hold">
                            <p:stCondLst>
                              <p:cond delay="500"/>
                            </p:stCondLst>
                            <p:childTnLst>
                              <p:par>
                                <p:cTn id="105" presetID="22" presetClass="entr" presetSubtype="8" fill="hold" grpId="0" nodeType="after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wipe(left)">
                                      <p:cBhvr>
                                        <p:cTn id="10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animBg="1"/>
      <p:bldP spid="30" grpId="0"/>
      <p:bldP spid="31" grpId="0"/>
      <p:bldP spid="32" grpId="0"/>
      <p:bldP spid="34" grpId="0"/>
      <p:bldP spid="35" grpId="0"/>
      <p:bldP spid="36" grpId="0"/>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 name="Straight Connector 3"/>
          <p:cNvCxnSpPr>
            <a:stCxn id="6" idx="1"/>
            <a:endCxn id="5" idx="3"/>
          </p:cNvCxnSpPr>
          <p:nvPr/>
        </p:nvCxnSpPr>
        <p:spPr>
          <a:xfrm flipH="1">
            <a:off x="4331494" y="2286000"/>
            <a:ext cx="4523649" cy="0"/>
          </a:xfrm>
          <a:prstGeom prst="line">
            <a:avLst/>
          </a:prstGeom>
          <a:noFill/>
          <a:ln w="28575" cap="flat" cmpd="sng" algn="ctr">
            <a:solidFill>
              <a:srgbClr val="4F81BD">
                <a:shade val="95000"/>
                <a:satMod val="105000"/>
              </a:srgbClr>
            </a:solidFill>
            <a:prstDash val="solid"/>
          </a:ln>
          <a:effectLst/>
        </p:spPr>
      </p:cxn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1893" y="2072968"/>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29" descr="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5143" y="1811338"/>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76502" y="1987072"/>
            <a:ext cx="1158943" cy="584775"/>
          </a:xfrm>
          <a:prstGeom prst="rect">
            <a:avLst/>
          </a:prstGeom>
          <a:noFill/>
        </p:spPr>
        <p:txBody>
          <a:bodyPr wrap="square" rtlCol="0">
            <a:spAutoFit/>
          </a:bodyPr>
          <a:lstStyle/>
          <a:p>
            <a:pPr algn="ctr"/>
            <a:r>
              <a:rPr lang="en-US" sz="1600" dirty="0" err="1">
                <a:solidFill>
                  <a:srgbClr val="FFFF00"/>
                </a:solidFill>
                <a:effectLst>
                  <a:glow rad="228600">
                    <a:srgbClr val="C0504D">
                      <a:satMod val="175000"/>
                      <a:alpha val="40000"/>
                    </a:srgbClr>
                  </a:glow>
                </a:effectLst>
                <a:latin typeface="Courier New" pitchFamily="49" charset="0"/>
                <a:cs typeface="Courier New" pitchFamily="49" charset="0"/>
              </a:rPr>
              <a:t>tftp</a:t>
            </a:r>
            <a:r>
              <a:rPr lang="en-US" sz="1600" dirty="0">
                <a:solidFill>
                  <a:srgbClr val="FFFF00"/>
                </a:solidFill>
                <a:effectLst>
                  <a:glow rad="228600">
                    <a:srgbClr val="C0504D">
                      <a:satMod val="175000"/>
                      <a:alpha val="40000"/>
                    </a:srgbClr>
                  </a:glow>
                </a:effectLst>
                <a:latin typeface="Courier New" pitchFamily="49" charset="0"/>
                <a:cs typeface="Courier New" pitchFamily="49" charset="0"/>
              </a:rPr>
              <a:t> server</a:t>
            </a:r>
          </a:p>
        </p:txBody>
      </p:sp>
      <p:sp>
        <p:nvSpPr>
          <p:cNvPr id="11" name="TextBox 10"/>
          <p:cNvSpPr txBox="1"/>
          <p:nvPr/>
        </p:nvSpPr>
        <p:spPr>
          <a:xfrm>
            <a:off x="4038600" y="2255371"/>
            <a:ext cx="990600" cy="369332"/>
          </a:xfrm>
          <a:prstGeom prst="rect">
            <a:avLst/>
          </a:prstGeom>
          <a:noFill/>
        </p:spPr>
        <p:txBody>
          <a:bodyPr wrap="square" rtlCol="0">
            <a:spAutoFit/>
          </a:bodyPr>
          <a:lstStyle/>
          <a:p>
            <a:pPr algn="ctr"/>
            <a:r>
              <a:rPr lang="en-US" dirty="0">
                <a:solidFill>
                  <a:srgbClr val="C00000"/>
                </a:solidFill>
                <a:latin typeface="Courier New" pitchFamily="49" charset="0"/>
                <a:cs typeface="Courier New" pitchFamily="49" charset="0"/>
              </a:rPr>
              <a:t>e0</a:t>
            </a:r>
          </a:p>
        </p:txBody>
      </p:sp>
      <p:sp>
        <p:nvSpPr>
          <p:cNvPr id="12" name="TextBox 11"/>
          <p:cNvSpPr txBox="1"/>
          <p:nvPr/>
        </p:nvSpPr>
        <p:spPr>
          <a:xfrm>
            <a:off x="7391401" y="1993900"/>
            <a:ext cx="1604201" cy="369332"/>
          </a:xfrm>
          <a:prstGeom prst="rect">
            <a:avLst/>
          </a:prstGeom>
          <a:noFill/>
        </p:spPr>
        <p:txBody>
          <a:bodyPr wrap="square" rtlCol="0">
            <a:spAutoFit/>
          </a:bodyPr>
          <a:lstStyle/>
          <a:p>
            <a:pPr algn="ctr"/>
            <a:r>
              <a:rPr lang="en-US" dirty="0">
                <a:solidFill>
                  <a:srgbClr val="0070C0"/>
                </a:solidFill>
                <a:latin typeface="Courier New" pitchFamily="49" charset="0"/>
                <a:cs typeface="Courier New" pitchFamily="49" charset="0"/>
              </a:rPr>
              <a:t>10.0.0.1</a:t>
            </a:r>
          </a:p>
        </p:txBody>
      </p:sp>
      <p:sp>
        <p:nvSpPr>
          <p:cNvPr id="15" name="Rectangle 14"/>
          <p:cNvSpPr/>
          <p:nvPr/>
        </p:nvSpPr>
        <p:spPr>
          <a:xfrm>
            <a:off x="4334471" y="2825977"/>
            <a:ext cx="5245347" cy="3293209"/>
          </a:xfrm>
          <a:prstGeom prst="rect">
            <a:avLst/>
          </a:prstGeom>
        </p:spPr>
        <p:txBody>
          <a:bodyPr wrap="none">
            <a:spAutoFit/>
          </a:bodyPr>
          <a:lstStyle/>
          <a:p>
            <a:pPr eaLnBrk="1" hangingPunct="1">
              <a:lnSpc>
                <a:spcPct val="100000"/>
              </a:lnSpc>
              <a:defRPr/>
            </a:pPr>
            <a:r>
              <a:rPr lang="en-US" sz="1600">
                <a:solidFill>
                  <a:srgbClr val="C00000"/>
                </a:solidFill>
                <a:latin typeface="Courier New" pitchFamily="49" charset="0"/>
                <a:cs typeface="Courier New" pitchFamily="49" charset="0"/>
              </a:rPr>
              <a:t>IP_ADDRESS=</a:t>
            </a:r>
            <a:r>
              <a:rPr lang="en-US" sz="1600">
                <a:solidFill>
                  <a:srgbClr val="0070C0"/>
                </a:solidFill>
                <a:latin typeface="Courier New" pitchFamily="49" charset="0"/>
                <a:cs typeface="Courier New" pitchFamily="49" charset="0"/>
              </a:rPr>
              <a:t>10.0.0.1</a:t>
            </a:r>
            <a:endParaRPr lang="en-US" sz="1600" dirty="0">
              <a:solidFill>
                <a:srgbClr val="0070C0"/>
              </a:solidFill>
              <a:latin typeface="Courier New" pitchFamily="49" charset="0"/>
              <a:cs typeface="Courier New" pitchFamily="49" charset="0"/>
            </a:endParaRPr>
          </a:p>
          <a:p>
            <a:pPr eaLnBrk="1" hangingPunct="1">
              <a:lnSpc>
                <a:spcPct val="100000"/>
              </a:lnSpc>
              <a:defRPr/>
            </a:pPr>
            <a:r>
              <a:rPr lang="en-US" sz="1600" dirty="0">
                <a:solidFill>
                  <a:srgbClr val="C00000"/>
                </a:solidFill>
                <a:latin typeface="Courier New" pitchFamily="49" charset="0"/>
                <a:cs typeface="Courier New" pitchFamily="49" charset="0"/>
              </a:rPr>
              <a:t>IP_SUBNET_MASK=</a:t>
            </a:r>
            <a:r>
              <a:rPr lang="en-US" sz="1600" dirty="0">
                <a:solidFill>
                  <a:srgbClr val="0070C0"/>
                </a:solidFill>
                <a:latin typeface="Courier New" pitchFamily="49" charset="0"/>
                <a:cs typeface="Courier New" pitchFamily="49" charset="0"/>
              </a:rPr>
              <a:t>255.0.0.0</a:t>
            </a:r>
          </a:p>
          <a:p>
            <a:pPr eaLnBrk="1" hangingPunct="1">
              <a:lnSpc>
                <a:spcPct val="100000"/>
              </a:lnSpc>
              <a:defRPr/>
            </a:pPr>
            <a:r>
              <a:rPr lang="en-US" sz="1600">
                <a:solidFill>
                  <a:srgbClr val="C00000"/>
                </a:solidFill>
                <a:latin typeface="Courier New" pitchFamily="49" charset="0"/>
                <a:cs typeface="Courier New" pitchFamily="49" charset="0"/>
              </a:rPr>
              <a:t>DEFAULT_GATEWAY=</a:t>
            </a:r>
            <a:r>
              <a:rPr lang="en-US" sz="1600">
                <a:solidFill>
                  <a:srgbClr val="0070C0"/>
                </a:solidFill>
                <a:latin typeface="Courier New" pitchFamily="49" charset="0"/>
                <a:cs typeface="Courier New" pitchFamily="49" charset="0"/>
              </a:rPr>
              <a:t>10.0.0.2</a:t>
            </a:r>
            <a:endParaRPr lang="en-US" sz="1600" dirty="0">
              <a:solidFill>
                <a:srgbClr val="0070C0"/>
              </a:solidFill>
              <a:latin typeface="Courier New" pitchFamily="49" charset="0"/>
              <a:cs typeface="Courier New" pitchFamily="49" charset="0"/>
            </a:endParaRPr>
          </a:p>
          <a:p>
            <a:pPr eaLnBrk="1" hangingPunct="1">
              <a:lnSpc>
                <a:spcPct val="100000"/>
              </a:lnSpc>
              <a:defRPr/>
            </a:pPr>
            <a:r>
              <a:rPr lang="en-US" sz="1600">
                <a:solidFill>
                  <a:srgbClr val="C00000"/>
                </a:solidFill>
                <a:latin typeface="Courier New" pitchFamily="49" charset="0"/>
                <a:cs typeface="Courier New" pitchFamily="49" charset="0"/>
              </a:rPr>
              <a:t>TFTP_SERVER=</a:t>
            </a:r>
            <a:r>
              <a:rPr lang="en-US" sz="1600">
                <a:solidFill>
                  <a:srgbClr val="0070C0"/>
                </a:solidFill>
                <a:latin typeface="Courier New" pitchFamily="49" charset="0"/>
                <a:cs typeface="Courier New" pitchFamily="49" charset="0"/>
              </a:rPr>
              <a:t>10.0.0.2</a:t>
            </a:r>
            <a:endParaRPr lang="en-US" sz="1600" dirty="0">
              <a:solidFill>
                <a:srgbClr val="0070C0"/>
              </a:solidFill>
              <a:latin typeface="Courier New" pitchFamily="49" charset="0"/>
              <a:cs typeface="Courier New" pitchFamily="49" charset="0"/>
            </a:endParaRPr>
          </a:p>
          <a:p>
            <a:pPr eaLnBrk="1" hangingPunct="1">
              <a:lnSpc>
                <a:spcPct val="100000"/>
              </a:lnSpc>
              <a:defRPr/>
            </a:pPr>
            <a:r>
              <a:rPr lang="en-US" sz="1600" dirty="0">
                <a:solidFill>
                  <a:srgbClr val="C00000"/>
                </a:solidFill>
                <a:latin typeface="Courier New" pitchFamily="49" charset="0"/>
                <a:cs typeface="Courier New" pitchFamily="49" charset="0"/>
              </a:rPr>
              <a:t>TFTP_FILE=</a:t>
            </a:r>
            <a:r>
              <a:rPr lang="en-US" sz="1600" dirty="0">
                <a:solidFill>
                  <a:srgbClr val="0070C0"/>
                </a:solidFill>
                <a:latin typeface="Courier New" pitchFamily="49" charset="0"/>
                <a:cs typeface="Courier New" pitchFamily="49" charset="0"/>
              </a:rPr>
              <a:t>c2600-is-mz.113-3.0.3.0.bin</a:t>
            </a:r>
          </a:p>
          <a:p>
            <a:pPr eaLnBrk="1" hangingPunct="1">
              <a:lnSpc>
                <a:spcPct val="100000"/>
              </a:lnSpc>
              <a:defRPr/>
            </a:pPr>
            <a:r>
              <a:rPr lang="en-US" sz="1600" dirty="0">
                <a:solidFill>
                  <a:srgbClr val="C00000"/>
                </a:solidFill>
                <a:latin typeface="Courier New" pitchFamily="49" charset="0"/>
                <a:cs typeface="Courier New" pitchFamily="49" charset="0"/>
              </a:rPr>
              <a:t>TFTP_FILE=</a:t>
            </a:r>
            <a:r>
              <a:rPr lang="en-US" sz="1600" dirty="0">
                <a:solidFill>
                  <a:srgbClr val="0070C0"/>
                </a:solidFill>
                <a:latin typeface="Courier New" pitchFamily="49" charset="0"/>
                <a:cs typeface="Courier New" pitchFamily="49" charset="0"/>
              </a:rPr>
              <a:t>c2600-is-mz.122-2.T.bin</a:t>
            </a:r>
          </a:p>
          <a:p>
            <a:pPr eaLnBrk="1" hangingPunct="1">
              <a:lnSpc>
                <a:spcPct val="100000"/>
              </a:lnSpc>
              <a:defRPr/>
            </a:pPr>
            <a:r>
              <a:rPr lang="en-US" sz="1600" dirty="0">
                <a:solidFill>
                  <a:srgbClr val="C00000"/>
                </a:solidFill>
                <a:latin typeface="Courier New" pitchFamily="49" charset="0"/>
                <a:cs typeface="Courier New" pitchFamily="49" charset="0"/>
              </a:rPr>
              <a:t>TFTP_FILE=</a:t>
            </a:r>
            <a:r>
              <a:rPr lang="en-US" sz="1600" dirty="0">
                <a:solidFill>
                  <a:srgbClr val="0070C0"/>
                </a:solidFill>
                <a:latin typeface="Courier New" pitchFamily="49" charset="0"/>
                <a:cs typeface="Courier New" pitchFamily="49" charset="0"/>
              </a:rPr>
              <a:t>c2600-ik9o3s3-mz.123-9d.bin</a:t>
            </a:r>
          </a:p>
          <a:p>
            <a:pPr eaLnBrk="1" hangingPunct="1">
              <a:lnSpc>
                <a:spcPct val="100000"/>
              </a:lnSpc>
              <a:defRPr/>
            </a:pPr>
            <a:r>
              <a:rPr lang="en-US" sz="1600" dirty="0">
                <a:solidFill>
                  <a:srgbClr val="C00000"/>
                </a:solidFill>
                <a:latin typeface="Courier New" pitchFamily="49" charset="0"/>
                <a:cs typeface="Courier New" pitchFamily="49" charset="0"/>
              </a:rPr>
              <a:t>TFTP_FILE=</a:t>
            </a:r>
            <a:r>
              <a:rPr lang="en-US" sz="1600" dirty="0">
                <a:solidFill>
                  <a:srgbClr val="0070C0"/>
                </a:solidFill>
                <a:latin typeface="Courier New" pitchFamily="49" charset="0"/>
                <a:cs typeface="Courier New" pitchFamily="49" charset="0"/>
              </a:rPr>
              <a:t>c2800nm-ipbase-mz.123-14.T7.bin</a:t>
            </a:r>
          </a:p>
          <a:p>
            <a:pPr eaLnBrk="1" hangingPunct="1">
              <a:lnSpc>
                <a:spcPct val="100000"/>
              </a:lnSpc>
              <a:defRPr/>
            </a:pPr>
            <a:r>
              <a:rPr lang="en-US" sz="1600" dirty="0">
                <a:solidFill>
                  <a:srgbClr val="C00000"/>
                </a:solidFill>
                <a:latin typeface="Courier New" pitchFamily="49" charset="0"/>
                <a:cs typeface="Courier New" pitchFamily="49" charset="0"/>
              </a:rPr>
              <a:t>unset DEFAULT_GATEWAY IP_ADDRESS</a:t>
            </a:r>
          </a:p>
          <a:p>
            <a:pPr eaLnBrk="1" hangingPunct="1">
              <a:lnSpc>
                <a:spcPct val="100000"/>
              </a:lnSpc>
              <a:defRPr/>
            </a:pPr>
            <a:r>
              <a:rPr lang="en-US" sz="1600" dirty="0">
                <a:solidFill>
                  <a:srgbClr val="C00000"/>
                </a:solidFill>
                <a:latin typeface="Courier New" pitchFamily="49" charset="0"/>
                <a:cs typeface="Courier New" pitchFamily="49" charset="0"/>
              </a:rPr>
              <a:t>set</a:t>
            </a:r>
            <a:endParaRPr lang="en-US" sz="1600" dirty="0">
              <a:solidFill>
                <a:srgbClr val="0070C0"/>
              </a:solidFill>
              <a:latin typeface="Courier New" pitchFamily="49" charset="0"/>
              <a:cs typeface="Courier New" pitchFamily="49" charset="0"/>
            </a:endParaRPr>
          </a:p>
          <a:p>
            <a:pPr eaLnBrk="1" hangingPunct="1">
              <a:lnSpc>
                <a:spcPct val="100000"/>
              </a:lnSpc>
              <a:defRPr/>
            </a:pPr>
            <a:r>
              <a:rPr lang="en-US" sz="1600" dirty="0">
                <a:solidFill>
                  <a:srgbClr val="C00000"/>
                </a:solidFill>
                <a:latin typeface="Courier New" pitchFamily="49" charset="0"/>
                <a:cs typeface="Courier New" pitchFamily="49" charset="0"/>
              </a:rPr>
              <a:t>sync</a:t>
            </a:r>
            <a:endParaRPr lang="en-US" sz="1600" dirty="0">
              <a:solidFill>
                <a:srgbClr val="0070C0"/>
              </a:solidFill>
              <a:latin typeface="Courier New" pitchFamily="49" charset="0"/>
              <a:cs typeface="Courier New" pitchFamily="49" charset="0"/>
            </a:endParaRPr>
          </a:p>
          <a:p>
            <a:pPr eaLnBrk="1" hangingPunct="1">
              <a:lnSpc>
                <a:spcPct val="100000"/>
              </a:lnSpc>
              <a:defRPr/>
            </a:pPr>
            <a:r>
              <a:rPr lang="en-US" sz="1600" dirty="0" err="1">
                <a:solidFill>
                  <a:srgbClr val="C00000"/>
                </a:solidFill>
                <a:latin typeface="Courier New" pitchFamily="49" charset="0"/>
                <a:cs typeface="Courier New" pitchFamily="49" charset="0"/>
              </a:rPr>
              <a:t>tftpdnld</a:t>
            </a:r>
            <a:endParaRPr lang="en-US" sz="1600" dirty="0">
              <a:solidFill>
                <a:srgbClr val="C00000"/>
              </a:solidFill>
              <a:latin typeface="Courier New" pitchFamily="49" charset="0"/>
              <a:cs typeface="Courier New" pitchFamily="49" charset="0"/>
            </a:endParaRPr>
          </a:p>
          <a:p>
            <a:pPr eaLnBrk="1" hangingPunct="1">
              <a:lnSpc>
                <a:spcPct val="100000"/>
              </a:lnSpc>
              <a:defRPr/>
            </a:pPr>
            <a:r>
              <a:rPr lang="en-US" sz="1600" dirty="0">
                <a:solidFill>
                  <a:srgbClr val="C00000"/>
                </a:solidFill>
                <a:latin typeface="Courier New" pitchFamily="49" charset="0"/>
                <a:cs typeface="Courier New" pitchFamily="49" charset="0"/>
              </a:rPr>
              <a:t>reset</a:t>
            </a:r>
            <a:endParaRPr lang="en-US" sz="1600" dirty="0">
              <a:solidFill>
                <a:srgbClr val="0070C0"/>
              </a:solidFill>
              <a:latin typeface="Courier New" pitchFamily="49" charset="0"/>
              <a:cs typeface="Courier New" pitchFamily="49" charset="0"/>
            </a:endParaRPr>
          </a:p>
        </p:txBody>
      </p:sp>
      <p:sp>
        <p:nvSpPr>
          <p:cNvPr id="16" name="TextBox 15"/>
          <p:cNvSpPr txBox="1"/>
          <p:nvPr/>
        </p:nvSpPr>
        <p:spPr>
          <a:xfrm>
            <a:off x="4110800" y="1993900"/>
            <a:ext cx="1604201" cy="369332"/>
          </a:xfrm>
          <a:prstGeom prst="rect">
            <a:avLst/>
          </a:prstGeom>
          <a:noFill/>
        </p:spPr>
        <p:txBody>
          <a:bodyPr wrap="square" rtlCol="0">
            <a:spAutoFit/>
          </a:bodyPr>
          <a:lstStyle/>
          <a:p>
            <a:pPr algn="ctr"/>
            <a:r>
              <a:rPr lang="en-US">
                <a:solidFill>
                  <a:srgbClr val="0070C0"/>
                </a:solidFill>
                <a:latin typeface="Courier New" pitchFamily="49" charset="0"/>
                <a:cs typeface="Courier New" pitchFamily="49" charset="0"/>
              </a:rPr>
              <a:t>10.0.0.2</a:t>
            </a:r>
            <a:endParaRPr lang="en-US" dirty="0">
              <a:solidFill>
                <a:srgbClr val="0070C0"/>
              </a:solidFill>
              <a:latin typeface="Courier New" pitchFamily="49" charset="0"/>
              <a:cs typeface="Courier New" pitchFamily="49" charset="0"/>
            </a:endParaRPr>
          </a:p>
        </p:txBody>
      </p:sp>
      <p:sp>
        <p:nvSpPr>
          <p:cNvPr id="19" name="TextBox 18"/>
          <p:cNvSpPr txBox="1"/>
          <p:nvPr/>
        </p:nvSpPr>
        <p:spPr>
          <a:xfrm>
            <a:off x="5486400" y="1993900"/>
            <a:ext cx="457200" cy="369332"/>
          </a:xfrm>
          <a:prstGeom prst="rect">
            <a:avLst/>
          </a:prstGeom>
          <a:noFill/>
        </p:spPr>
        <p:txBody>
          <a:bodyPr wrap="square" rtlCol="0">
            <a:spAutoFit/>
          </a:bodyPr>
          <a:lstStyle/>
          <a:p>
            <a:pPr algn="ctr"/>
            <a:r>
              <a:rPr lang="en-US" dirty="0">
                <a:solidFill>
                  <a:srgbClr val="0070C0"/>
                </a:solidFill>
                <a:latin typeface="Courier New" pitchFamily="49" charset="0"/>
                <a:cs typeface="Courier New" pitchFamily="49" charset="0"/>
              </a:rPr>
              <a:t>/8</a:t>
            </a:r>
          </a:p>
        </p:txBody>
      </p:sp>
      <p:sp>
        <p:nvSpPr>
          <p:cNvPr id="31" name="TextBox 30"/>
          <p:cNvSpPr txBox="1"/>
          <p:nvPr/>
        </p:nvSpPr>
        <p:spPr>
          <a:xfrm>
            <a:off x="3447222" y="2125956"/>
            <a:ext cx="1158943" cy="338554"/>
          </a:xfrm>
          <a:prstGeom prst="rect">
            <a:avLst/>
          </a:prstGeom>
          <a:noFill/>
        </p:spPr>
        <p:txBody>
          <a:bodyPr wrap="square" rtlCol="0">
            <a:spAutoFit/>
          </a:bodyPr>
          <a:lstStyle/>
          <a:p>
            <a:pPr algn="ctr"/>
            <a:r>
              <a:rPr lang="en-US" sz="1600" dirty="0">
                <a:solidFill>
                  <a:srgbClr val="FFFF00"/>
                </a:solidFill>
                <a:effectLst>
                  <a:glow rad="228600">
                    <a:srgbClr val="C0504D">
                      <a:satMod val="175000"/>
                      <a:alpha val="40000"/>
                    </a:srgbClr>
                  </a:glow>
                </a:effectLst>
                <a:latin typeface="Courier New" pitchFamily="49" charset="0"/>
                <a:cs typeface="Courier New" pitchFamily="49" charset="0"/>
              </a:rPr>
              <a:t>NVRAM</a:t>
            </a:r>
          </a:p>
        </p:txBody>
      </p:sp>
    </p:spTree>
    <p:extLst>
      <p:ext uri="{BB962C8B-B14F-4D97-AF65-F5344CB8AC3E}">
        <p14:creationId xmlns:p14="http://schemas.microsoft.com/office/powerpoint/2010/main" val="2575014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1676400" y="266701"/>
            <a:ext cx="8839200" cy="487363"/>
          </a:xfrm>
        </p:spPr>
        <p:txBody>
          <a:bodyPr/>
          <a:lstStyle/>
          <a:p>
            <a:r>
              <a:rPr lang="en-US" sz="2800" dirty="0"/>
              <a:t>III. SAO LƯU VÀ NẠP IOS CHO ROUTER</a:t>
            </a:r>
            <a:endParaRPr lang="vi-VN" dirty="0"/>
          </a:p>
        </p:txBody>
      </p:sp>
      <p:sp>
        <p:nvSpPr>
          <p:cNvPr id="40963" name="Content Placeholder 2"/>
          <p:cNvSpPr>
            <a:spLocks noGrp="1"/>
          </p:cNvSpPr>
          <p:nvPr>
            <p:ph idx="1"/>
          </p:nvPr>
        </p:nvSpPr>
        <p:spPr>
          <a:xfrm>
            <a:off x="1676400" y="1143000"/>
            <a:ext cx="8839200" cy="5334000"/>
          </a:xfrm>
        </p:spPr>
        <p:txBody>
          <a:bodyPr/>
          <a:lstStyle/>
          <a:p>
            <a:pPr lvl="1">
              <a:defRPr/>
            </a:pPr>
            <a:r>
              <a:rPr lang="en-US" sz="2400"/>
              <a:t>Cấu hình</a:t>
            </a:r>
          </a:p>
          <a:p>
            <a:pPr marL="355600" lvl="1" algn="just">
              <a:buFont typeface="Wingdings" panose="05000000000000000000" pitchFamily="2" charset="2"/>
              <a:buChar char="Ø"/>
              <a:defRPr/>
            </a:pPr>
            <a:r>
              <a:rPr lang="en-US" sz="2400"/>
              <a:t>Cấu hình IP cho TFTP server và router</a:t>
            </a:r>
          </a:p>
          <a:p>
            <a:pPr marL="355600" lvl="1" algn="just">
              <a:buFont typeface="Wingdings" panose="05000000000000000000" pitchFamily="2" charset="2"/>
              <a:buChar char="Ø"/>
              <a:defRPr/>
            </a:pPr>
            <a:r>
              <a:rPr lang="en-US" sz="2400"/>
              <a:t>Dùng lệnh </a:t>
            </a:r>
            <a:r>
              <a:rPr lang="en-US" sz="2400" b="1"/>
              <a:t>Show version </a:t>
            </a:r>
            <a:r>
              <a:rPr lang="en-US" sz="2400"/>
              <a:t>để tìm phiên bản của IOS hiện có. </a:t>
            </a:r>
          </a:p>
          <a:p>
            <a:pPr marL="355600" lvl="1" algn="just">
              <a:buFont typeface="Wingdings" panose="05000000000000000000" pitchFamily="2" charset="2"/>
              <a:buChar char="Ø"/>
              <a:defRPr/>
            </a:pPr>
            <a:r>
              <a:rPr lang="en-US" sz="2400" i="1">
                <a:solidFill>
                  <a:srgbClr val="FF0000"/>
                </a:solidFill>
              </a:rPr>
              <a:t>//Lệnh này cung cấp thông tin như: dung lượng bộ nhớ và  image của router</a:t>
            </a:r>
          </a:p>
          <a:p>
            <a:pPr marL="355600" lvl="1" algn="just">
              <a:buFont typeface="Wingdings" panose="05000000000000000000" pitchFamily="2" charset="2"/>
              <a:buChar char="Ø"/>
              <a:defRPr/>
            </a:pPr>
            <a:r>
              <a:rPr lang="en-US" sz="2400"/>
              <a:t>Xem nội dung bộ nhớ  flash dùng lệnh: </a:t>
            </a:r>
            <a:r>
              <a:rPr lang="en-US" sz="2400" b="1"/>
              <a:t>Show flash</a:t>
            </a:r>
          </a:p>
          <a:p>
            <a:pPr marL="355600" lvl="1" algn="just">
              <a:buFont typeface="Wingdings" panose="05000000000000000000" pitchFamily="2" charset="2"/>
              <a:buChar char="Ø"/>
              <a:defRPr/>
            </a:pPr>
            <a:r>
              <a:rPr lang="en-US" sz="2400"/>
              <a:t>Để chắn chắn có thể truy cập được TFTP server ở địa chỉ 192.168.1.2, dùng lệnh </a:t>
            </a:r>
            <a:r>
              <a:rPr lang="en-US" sz="2400" b="1"/>
              <a:t>ping </a:t>
            </a:r>
            <a:r>
              <a:rPr lang="en-US" sz="2400"/>
              <a:t>để kiễm tra.</a:t>
            </a:r>
          </a:p>
          <a:p>
            <a:pPr marL="355600" lvl="1" algn="just">
              <a:buFont typeface="Wingdings" panose="05000000000000000000" pitchFamily="2" charset="2"/>
              <a:buChar char="Ø"/>
              <a:defRPr/>
            </a:pPr>
            <a:r>
              <a:rPr lang="en-US" sz="2400"/>
              <a:t>Bắt đầu nạp IOS mới vào router bằng lệnh </a:t>
            </a:r>
            <a:r>
              <a:rPr lang="en-US" sz="2400" b="1"/>
              <a:t>copy tftp flash</a:t>
            </a:r>
          </a:p>
          <a:p>
            <a:pPr marL="355600" lvl="1" algn="just">
              <a:buFont typeface="Wingdings" panose="05000000000000000000" pitchFamily="2" charset="2"/>
              <a:buChar char="Ø"/>
              <a:defRPr/>
            </a:pPr>
            <a:r>
              <a:rPr lang="en-US" sz="2400"/>
              <a:t>Sau khi quá trình nạp hoàn tất, ta kiểm tra nội dung của bộ nhớ flash bằng lệnh </a:t>
            </a:r>
            <a:r>
              <a:rPr lang="en-US" sz="2400" b="1"/>
              <a:t>Show flash </a:t>
            </a:r>
            <a:r>
              <a:rPr lang="en-US" sz="2400"/>
              <a:t>và </a:t>
            </a:r>
            <a:r>
              <a:rPr lang="en-US" sz="2400" b="1"/>
              <a:t>dir flash</a:t>
            </a:r>
            <a:endParaRPr lang="en-US" b="1"/>
          </a:p>
          <a:p>
            <a:pPr>
              <a:defRPr/>
            </a:pPr>
            <a:endParaRPr lang="en-US"/>
          </a:p>
          <a:p>
            <a:pPr>
              <a:buFont typeface="Wingdings" panose="05000000000000000000" pitchFamily="2" charset="2"/>
              <a:buNone/>
              <a:defRPr/>
            </a:pPr>
            <a:endParaRPr lang="en-US"/>
          </a:p>
          <a:p>
            <a:pPr>
              <a:buFont typeface="Wingdings" panose="05000000000000000000" pitchFamily="2" charset="2"/>
              <a:buNone/>
              <a:defRPr/>
            </a:pPr>
            <a:endParaRPr lang="vi-VN"/>
          </a:p>
        </p:txBody>
      </p:sp>
    </p:spTree>
    <p:extLst>
      <p:ext uri="{BB962C8B-B14F-4D97-AF65-F5344CB8AC3E}">
        <p14:creationId xmlns:p14="http://schemas.microsoft.com/office/powerpoint/2010/main" val="20138164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676399" y="266701"/>
            <a:ext cx="9167611" cy="487363"/>
          </a:xfrm>
        </p:spPr>
        <p:txBody>
          <a:bodyPr/>
          <a:lstStyle/>
          <a:p>
            <a:r>
              <a:rPr lang="en-US" dirty="0"/>
              <a:t>III. SAO LƯU VÀ NẠP IOS CHO ROUTER</a:t>
            </a:r>
            <a:endParaRPr lang="vi-VN" dirty="0"/>
          </a:p>
        </p:txBody>
      </p:sp>
      <p:sp>
        <p:nvSpPr>
          <p:cNvPr id="40963" name="Content Placeholder 2"/>
          <p:cNvSpPr>
            <a:spLocks noGrp="1"/>
          </p:cNvSpPr>
          <p:nvPr>
            <p:ph idx="1"/>
          </p:nvPr>
        </p:nvSpPr>
        <p:spPr>
          <a:xfrm>
            <a:off x="1676400" y="1143000"/>
            <a:ext cx="8839200" cy="5334000"/>
          </a:xfrm>
        </p:spPr>
        <p:txBody>
          <a:bodyPr/>
          <a:lstStyle/>
          <a:p>
            <a:pPr lvl="1">
              <a:defRPr/>
            </a:pPr>
            <a:r>
              <a:rPr lang="en-US" sz="2400"/>
              <a:t>Cấu hình</a:t>
            </a:r>
          </a:p>
          <a:p>
            <a:pPr lvl="1">
              <a:buFont typeface="Wingdings" panose="05000000000000000000" pitchFamily="2" charset="2"/>
              <a:buNone/>
              <a:defRPr/>
            </a:pPr>
            <a:r>
              <a:rPr lang="en-US" sz="2400" b="1"/>
              <a:t>Router#show flash</a:t>
            </a:r>
          </a:p>
          <a:p>
            <a:pPr lvl="1">
              <a:buFont typeface="Wingdings" panose="05000000000000000000" pitchFamily="2" charset="2"/>
              <a:buNone/>
              <a:defRPr/>
            </a:pPr>
            <a:r>
              <a:rPr lang="en-US" sz="2400" b="1"/>
              <a:t>Router#copy tftp flash</a:t>
            </a:r>
          </a:p>
          <a:p>
            <a:pPr lvl="1">
              <a:buFont typeface="Wingdings" panose="05000000000000000000" pitchFamily="2" charset="2"/>
              <a:buNone/>
              <a:defRPr/>
            </a:pPr>
            <a:r>
              <a:rPr lang="en-US" sz="2400">
                <a:solidFill>
                  <a:srgbClr val="FF0000"/>
                </a:solidFill>
              </a:rPr>
              <a:t>//hiện thông báo xác nhận việc copy</a:t>
            </a:r>
          </a:p>
          <a:p>
            <a:pPr lvl="1">
              <a:buFont typeface="Wingdings" panose="05000000000000000000" pitchFamily="2" charset="2"/>
              <a:buNone/>
              <a:defRPr/>
            </a:pPr>
            <a:r>
              <a:rPr lang="en-US" sz="2400">
                <a:solidFill>
                  <a:srgbClr val="FF0000"/>
                </a:solidFill>
              </a:rPr>
              <a:t>//Address or name of remote host[]? (tên or đ/c nơi lưu file)</a:t>
            </a:r>
          </a:p>
          <a:p>
            <a:pPr lvl="1">
              <a:buFont typeface="Wingdings" panose="05000000000000000000" pitchFamily="2" charset="2"/>
              <a:buNone/>
              <a:defRPr/>
            </a:pPr>
            <a:r>
              <a:rPr lang="en-US" sz="2400">
                <a:solidFill>
                  <a:srgbClr val="FF0000"/>
                </a:solidFill>
              </a:rPr>
              <a:t>//Source filename[] *.bin</a:t>
            </a:r>
          </a:p>
          <a:p>
            <a:pPr marL="355600" lvl="1">
              <a:buNone/>
              <a:defRPr/>
            </a:pPr>
            <a:r>
              <a:rPr lang="en-US" sz="2400" u="sng">
                <a:solidFill>
                  <a:srgbClr val="FF0000"/>
                </a:solidFill>
              </a:rPr>
              <a:t>Chú ý: Chạy TFTP server trên PC</a:t>
            </a:r>
            <a:endParaRPr lang="en-US" sz="2400" u="sng"/>
          </a:p>
          <a:p>
            <a:pPr>
              <a:defRPr/>
            </a:pPr>
            <a:endParaRPr lang="en-US"/>
          </a:p>
          <a:p>
            <a:pPr>
              <a:buFont typeface="Wingdings" panose="05000000000000000000" pitchFamily="2" charset="2"/>
              <a:buNone/>
              <a:defRPr/>
            </a:pPr>
            <a:endParaRPr lang="en-US"/>
          </a:p>
          <a:p>
            <a:pPr>
              <a:buFont typeface="Wingdings" panose="05000000000000000000" pitchFamily="2" charset="2"/>
              <a:buNone/>
              <a:defRPr/>
            </a:pPr>
            <a:endParaRPr lang="vi-VN"/>
          </a:p>
        </p:txBody>
      </p:sp>
    </p:spTree>
    <p:extLst>
      <p:ext uri="{BB962C8B-B14F-4D97-AF65-F5344CB8AC3E}">
        <p14:creationId xmlns:p14="http://schemas.microsoft.com/office/powerpoint/2010/main" val="10835230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1676400" y="266701"/>
            <a:ext cx="8839200" cy="487363"/>
          </a:xfrm>
        </p:spPr>
        <p:txBody>
          <a:bodyPr/>
          <a:lstStyle/>
          <a:p>
            <a:r>
              <a:rPr lang="en-US" sz="2800" dirty="0"/>
              <a:t>III. SAO LƯU VÀ NẠP IOS CHO ROUTER</a:t>
            </a:r>
            <a:endParaRPr lang="vi-VN" dirty="0"/>
          </a:p>
        </p:txBody>
      </p:sp>
      <p:sp>
        <p:nvSpPr>
          <p:cNvPr id="40963" name="Content Placeholder 2"/>
          <p:cNvSpPr>
            <a:spLocks noGrp="1"/>
          </p:cNvSpPr>
          <p:nvPr>
            <p:ph idx="1"/>
          </p:nvPr>
        </p:nvSpPr>
        <p:spPr>
          <a:xfrm>
            <a:off x="1676400" y="1143000"/>
            <a:ext cx="8839200" cy="5334000"/>
          </a:xfrm>
        </p:spPr>
        <p:txBody>
          <a:bodyPr/>
          <a:lstStyle/>
          <a:p>
            <a:pPr>
              <a:defRPr/>
            </a:pPr>
            <a:r>
              <a:rPr lang="en-US"/>
              <a:t>Nạp IOS cho Router khi mất IOS (mất mode Router)</a:t>
            </a:r>
          </a:p>
          <a:p>
            <a:pPr lvl="1">
              <a:defRPr/>
            </a:pPr>
            <a:r>
              <a:rPr lang="en-US"/>
              <a:t>Kiểm tra kết nối đến TFTP server.</a:t>
            </a:r>
          </a:p>
          <a:p>
            <a:pPr lvl="1">
              <a:defRPr/>
            </a:pPr>
            <a:r>
              <a:rPr lang="en-US"/>
              <a:t>Thực hiện các lệnh sau trên router</a:t>
            </a:r>
          </a:p>
          <a:p>
            <a:pPr marL="355600" lvl="1">
              <a:lnSpc>
                <a:spcPct val="150000"/>
              </a:lnSpc>
              <a:buNone/>
              <a:defRPr/>
            </a:pPr>
            <a:r>
              <a:rPr lang="en-US" b="1"/>
              <a:t>Rommon&gt;IP_ADDRESS=192.168.1.1 (Router)</a:t>
            </a:r>
          </a:p>
          <a:p>
            <a:pPr marL="355600" lvl="1">
              <a:lnSpc>
                <a:spcPct val="150000"/>
              </a:lnSpc>
              <a:buNone/>
              <a:defRPr/>
            </a:pPr>
            <a:r>
              <a:rPr lang="en-US" b="1"/>
              <a:t>Rommon&gt;IP_SUBNET_MASK=255.255.255.0</a:t>
            </a:r>
          </a:p>
          <a:p>
            <a:pPr marL="355600" lvl="1">
              <a:lnSpc>
                <a:spcPct val="150000"/>
              </a:lnSpc>
              <a:buNone/>
              <a:defRPr/>
            </a:pPr>
            <a:r>
              <a:rPr lang="en-US" b="1"/>
              <a:t>Rommon&gt;DEFAULT_GATEWAY=192.168.1.1</a:t>
            </a:r>
          </a:p>
          <a:p>
            <a:pPr marL="355600" lvl="1">
              <a:lnSpc>
                <a:spcPct val="150000"/>
              </a:lnSpc>
              <a:buNone/>
              <a:defRPr/>
            </a:pPr>
            <a:r>
              <a:rPr lang="en-US" b="1"/>
              <a:t>Rommon&gt;TFTP_SERVER=192.168.1.2</a:t>
            </a:r>
          </a:p>
          <a:p>
            <a:pPr marL="355600" lvl="1">
              <a:lnSpc>
                <a:spcPct val="150000"/>
              </a:lnSpc>
              <a:buNone/>
              <a:defRPr/>
            </a:pPr>
            <a:r>
              <a:rPr lang="en-US" b="1"/>
              <a:t>Rommon&gt;TFTP_FILE=</a:t>
            </a:r>
          </a:p>
          <a:p>
            <a:pPr marL="355600" lvl="1">
              <a:lnSpc>
                <a:spcPct val="150000"/>
              </a:lnSpc>
              <a:buNone/>
              <a:defRPr/>
            </a:pPr>
            <a:r>
              <a:rPr lang="en-US" b="1"/>
              <a:t>Rommon&gt;sync</a:t>
            </a:r>
          </a:p>
          <a:p>
            <a:pPr marL="355600" lvl="1">
              <a:lnSpc>
                <a:spcPct val="150000"/>
              </a:lnSpc>
              <a:buNone/>
              <a:defRPr/>
            </a:pPr>
            <a:r>
              <a:rPr lang="en-US" b="1"/>
              <a:t>Rommon&gt;tftpdnld</a:t>
            </a:r>
          </a:p>
          <a:p>
            <a:pPr marL="355600" lvl="1">
              <a:buNone/>
              <a:defRPr/>
            </a:pPr>
            <a:endParaRPr lang="en-US"/>
          </a:p>
          <a:p>
            <a:pPr marL="355600" lvl="1">
              <a:buNone/>
              <a:defRPr/>
            </a:pPr>
            <a:endParaRPr lang="en-US"/>
          </a:p>
          <a:p>
            <a:pPr marL="355600" lvl="1">
              <a:buNone/>
              <a:defRPr/>
            </a:pPr>
            <a:endParaRPr lang="en-US"/>
          </a:p>
          <a:p>
            <a:pPr marL="355600" lvl="1">
              <a:buNone/>
              <a:defRPr/>
            </a:pPr>
            <a:endParaRPr lang="en-US"/>
          </a:p>
          <a:p>
            <a:pPr marL="355600" lvl="1">
              <a:buNone/>
              <a:defRPr/>
            </a:pPr>
            <a:endParaRPr lang="en-US"/>
          </a:p>
          <a:p>
            <a:pPr marL="355600" lvl="1">
              <a:buNone/>
              <a:defRPr/>
            </a:pPr>
            <a:endParaRPr lang="en-US"/>
          </a:p>
          <a:p>
            <a:pPr marL="355600" lvl="1">
              <a:buNone/>
              <a:defRPr/>
            </a:pPr>
            <a:endParaRPr lang="en-US"/>
          </a:p>
          <a:p>
            <a:pPr>
              <a:buFont typeface="Wingdings" panose="05000000000000000000" pitchFamily="2" charset="2"/>
              <a:buNone/>
              <a:defRPr/>
            </a:pPr>
            <a:endParaRPr lang="en-US"/>
          </a:p>
          <a:p>
            <a:pPr>
              <a:buFont typeface="Wingdings" panose="05000000000000000000" pitchFamily="2" charset="2"/>
              <a:buNone/>
              <a:defRPr/>
            </a:pPr>
            <a:endParaRPr lang="vi-VN"/>
          </a:p>
        </p:txBody>
      </p:sp>
    </p:spTree>
    <p:extLst>
      <p:ext uri="{BB962C8B-B14F-4D97-AF65-F5344CB8AC3E}">
        <p14:creationId xmlns:p14="http://schemas.microsoft.com/office/powerpoint/2010/main" val="40346492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676400" y="266701"/>
            <a:ext cx="8839200" cy="487363"/>
          </a:xfrm>
        </p:spPr>
        <p:txBody>
          <a:bodyPr/>
          <a:lstStyle/>
          <a:p>
            <a:r>
              <a:rPr lang="en-US" sz="2800" dirty="0"/>
              <a:t>III. SAO LƯU VÀ NẠP IOS CHO ROUTER</a:t>
            </a:r>
            <a:endParaRPr lang="vi-VN" dirty="0"/>
          </a:p>
        </p:txBody>
      </p:sp>
      <p:sp>
        <p:nvSpPr>
          <p:cNvPr id="40963" name="Content Placeholder 2"/>
          <p:cNvSpPr>
            <a:spLocks noGrp="1"/>
          </p:cNvSpPr>
          <p:nvPr>
            <p:ph idx="1"/>
          </p:nvPr>
        </p:nvSpPr>
        <p:spPr>
          <a:xfrm>
            <a:off x="824248" y="1143000"/>
            <a:ext cx="10496282" cy="5334000"/>
          </a:xfrm>
        </p:spPr>
        <p:txBody>
          <a:bodyPr/>
          <a:lstStyle/>
          <a:p>
            <a:pPr>
              <a:spcBef>
                <a:spcPts val="1200"/>
              </a:spcBef>
              <a:defRPr/>
            </a:pPr>
            <a:r>
              <a:rPr lang="en-US" sz="2000" dirty="0" err="1"/>
              <a:t>Nạp</a:t>
            </a:r>
            <a:r>
              <a:rPr lang="en-US" sz="2000" dirty="0"/>
              <a:t> IOS </a:t>
            </a:r>
            <a:r>
              <a:rPr lang="en-US" sz="2000" dirty="0" err="1"/>
              <a:t>cho</a:t>
            </a:r>
            <a:r>
              <a:rPr lang="en-US" sz="2000" dirty="0"/>
              <a:t> Switch </a:t>
            </a:r>
            <a:r>
              <a:rPr lang="en-US" sz="2000" dirty="0" err="1"/>
              <a:t>khi</a:t>
            </a:r>
            <a:r>
              <a:rPr lang="en-US" sz="2000" dirty="0"/>
              <a:t> </a:t>
            </a:r>
            <a:r>
              <a:rPr lang="en-US" sz="2000" dirty="0" err="1"/>
              <a:t>mất</a:t>
            </a:r>
            <a:r>
              <a:rPr lang="en-US" sz="2000" dirty="0"/>
              <a:t> IOS (</a:t>
            </a:r>
            <a:r>
              <a:rPr lang="en-US" sz="2000" dirty="0" err="1"/>
              <a:t>mất</a:t>
            </a:r>
            <a:r>
              <a:rPr lang="en-US" sz="2000" dirty="0"/>
              <a:t> mode Switch)</a:t>
            </a:r>
          </a:p>
          <a:p>
            <a:pPr lvl="1">
              <a:spcBef>
                <a:spcPts val="1200"/>
              </a:spcBef>
              <a:defRPr/>
            </a:pPr>
            <a:r>
              <a:rPr lang="en-US" sz="2000" dirty="0" err="1"/>
              <a:t>Kết</a:t>
            </a:r>
            <a:r>
              <a:rPr lang="en-US" sz="2000" dirty="0"/>
              <a:t> </a:t>
            </a:r>
            <a:r>
              <a:rPr lang="en-US" sz="2000" dirty="0" err="1"/>
              <a:t>nối</a:t>
            </a:r>
            <a:r>
              <a:rPr lang="en-US" sz="2000" dirty="0"/>
              <a:t> Switch  qua </a:t>
            </a:r>
            <a:r>
              <a:rPr lang="en-US" sz="2000" dirty="0" err="1"/>
              <a:t>cổng</a:t>
            </a:r>
            <a:r>
              <a:rPr lang="en-US" sz="2000" dirty="0"/>
              <a:t> console</a:t>
            </a:r>
          </a:p>
          <a:p>
            <a:pPr lvl="1">
              <a:spcBef>
                <a:spcPts val="1200"/>
              </a:spcBef>
              <a:defRPr/>
            </a:pPr>
            <a:r>
              <a:rPr lang="en-US" sz="2000" dirty="0" err="1"/>
              <a:t>Sử</a:t>
            </a:r>
            <a:r>
              <a:rPr lang="en-US" sz="2000" dirty="0"/>
              <a:t> </a:t>
            </a:r>
            <a:r>
              <a:rPr lang="en-US" sz="2000" dirty="0" err="1"/>
              <a:t>dụng</a:t>
            </a:r>
            <a:r>
              <a:rPr lang="en-US" sz="2000" dirty="0"/>
              <a:t> </a:t>
            </a:r>
            <a:r>
              <a:rPr lang="en-US" sz="2000" dirty="0" err="1"/>
              <a:t>chương</a:t>
            </a:r>
            <a:r>
              <a:rPr lang="en-US" sz="2000" dirty="0"/>
              <a:t> </a:t>
            </a:r>
            <a:r>
              <a:rPr lang="en-US" sz="2000" dirty="0" err="1"/>
              <a:t>trình</a:t>
            </a:r>
            <a:r>
              <a:rPr lang="en-US" sz="2000" dirty="0"/>
              <a:t> Hyper Terminal</a:t>
            </a:r>
          </a:p>
          <a:p>
            <a:pPr lvl="1">
              <a:spcBef>
                <a:spcPts val="1200"/>
              </a:spcBef>
              <a:buNone/>
              <a:defRPr/>
            </a:pPr>
            <a:r>
              <a:rPr lang="en-US" sz="2000" b="1" dirty="0"/>
              <a:t>Switch: copy </a:t>
            </a:r>
            <a:r>
              <a:rPr lang="en-US" sz="2000" b="1" dirty="0" err="1"/>
              <a:t>xmodem</a:t>
            </a:r>
            <a:r>
              <a:rPr lang="en-US" sz="2000" b="1" dirty="0"/>
              <a:t>: </a:t>
            </a:r>
            <a:r>
              <a:rPr lang="en-US" sz="2000" b="1" dirty="0" err="1"/>
              <a:t>flash:tenfile</a:t>
            </a:r>
            <a:endParaRPr lang="en-US" sz="2000" b="1" dirty="0"/>
          </a:p>
          <a:p>
            <a:pPr lvl="1">
              <a:spcBef>
                <a:spcPts val="1200"/>
              </a:spcBef>
              <a:defRPr/>
            </a:pPr>
            <a:r>
              <a:rPr lang="en-US" sz="2000" dirty="0"/>
              <a:t>Ở </a:t>
            </a:r>
            <a:r>
              <a:rPr lang="en-US" sz="2000" dirty="0" err="1"/>
              <a:t>cửa</a:t>
            </a:r>
            <a:r>
              <a:rPr lang="en-US" sz="2000" dirty="0"/>
              <a:t> </a:t>
            </a:r>
            <a:r>
              <a:rPr lang="en-US" sz="2000" dirty="0" err="1"/>
              <a:t>sổ</a:t>
            </a:r>
            <a:r>
              <a:rPr lang="en-US" sz="2000" dirty="0"/>
              <a:t> Hyper Terminal </a:t>
            </a:r>
            <a:r>
              <a:rPr lang="en-US" sz="2000" dirty="0" err="1"/>
              <a:t>chọn</a:t>
            </a:r>
            <a:r>
              <a:rPr lang="en-US" sz="2000" dirty="0"/>
              <a:t>:</a:t>
            </a:r>
          </a:p>
          <a:p>
            <a:pPr lvl="2">
              <a:spcBef>
                <a:spcPts val="1200"/>
              </a:spcBef>
              <a:defRPr/>
            </a:pPr>
            <a:r>
              <a:rPr lang="en-US" sz="2000" dirty="0"/>
              <a:t>Transfer/Send file…</a:t>
            </a:r>
          </a:p>
          <a:p>
            <a:pPr lvl="2">
              <a:spcBef>
                <a:spcPts val="1200"/>
              </a:spcBef>
              <a:defRPr/>
            </a:pPr>
            <a:r>
              <a:rPr lang="en-US" sz="2000" dirty="0" err="1"/>
              <a:t>Chọn</a:t>
            </a:r>
            <a:r>
              <a:rPr lang="en-US" sz="2000" dirty="0"/>
              <a:t> IOS </a:t>
            </a:r>
            <a:r>
              <a:rPr lang="en-US" sz="2000" dirty="0" err="1"/>
              <a:t>và</a:t>
            </a:r>
            <a:r>
              <a:rPr lang="en-US" sz="2000" dirty="0"/>
              <a:t> </a:t>
            </a:r>
            <a:r>
              <a:rPr lang="en-US" sz="2000" dirty="0" err="1"/>
              <a:t>giao</a:t>
            </a:r>
            <a:r>
              <a:rPr lang="en-US" sz="2000" dirty="0"/>
              <a:t> </a:t>
            </a:r>
            <a:r>
              <a:rPr lang="en-US" sz="2000" dirty="0" err="1"/>
              <a:t>thức</a:t>
            </a:r>
            <a:r>
              <a:rPr lang="en-US" sz="2000" dirty="0"/>
              <a:t> </a:t>
            </a:r>
            <a:r>
              <a:rPr lang="en-US" sz="2000" dirty="0" err="1"/>
              <a:t>xmodem</a:t>
            </a:r>
            <a:endParaRPr lang="en-US" sz="2000" dirty="0"/>
          </a:p>
          <a:p>
            <a:pPr lvl="2">
              <a:spcBef>
                <a:spcPts val="1200"/>
              </a:spcBef>
              <a:defRPr/>
            </a:pPr>
            <a:r>
              <a:rPr lang="en-US" sz="2000" dirty="0" err="1"/>
              <a:t>Khi</a:t>
            </a:r>
            <a:r>
              <a:rPr lang="en-US" sz="2000" dirty="0"/>
              <a:t> </a:t>
            </a:r>
            <a:r>
              <a:rPr lang="en-US" sz="2000" dirty="0" err="1"/>
              <a:t>quá</a:t>
            </a:r>
            <a:r>
              <a:rPr lang="en-US" sz="2000" dirty="0"/>
              <a:t> </a:t>
            </a:r>
            <a:r>
              <a:rPr lang="en-US" sz="2000" dirty="0" err="1"/>
              <a:t>trình</a:t>
            </a:r>
            <a:r>
              <a:rPr lang="en-US" sz="2000" dirty="0"/>
              <a:t> copy </a:t>
            </a:r>
            <a:r>
              <a:rPr lang="en-US" sz="2000" dirty="0" err="1"/>
              <a:t>đã</a:t>
            </a:r>
            <a:r>
              <a:rPr lang="en-US" sz="2000" dirty="0"/>
              <a:t> </a:t>
            </a:r>
            <a:r>
              <a:rPr lang="en-US" sz="2000" dirty="0" err="1"/>
              <a:t>hoàn</a:t>
            </a:r>
            <a:r>
              <a:rPr lang="en-US" sz="2000" dirty="0"/>
              <a:t> </a:t>
            </a:r>
            <a:r>
              <a:rPr lang="en-US" sz="2000" dirty="0" err="1"/>
              <a:t>thành</a:t>
            </a:r>
            <a:endParaRPr lang="en-US" sz="2000" dirty="0"/>
          </a:p>
          <a:p>
            <a:pPr lvl="2">
              <a:spcBef>
                <a:spcPts val="1200"/>
              </a:spcBef>
              <a:defRPr/>
            </a:pPr>
            <a:r>
              <a:rPr lang="en-US" sz="2000" dirty="0" err="1"/>
              <a:t>Sử</a:t>
            </a:r>
            <a:r>
              <a:rPr lang="en-US" sz="2000" dirty="0"/>
              <a:t> </a:t>
            </a:r>
            <a:r>
              <a:rPr lang="en-US" sz="2000" dirty="0" err="1"/>
              <a:t>dụng</a:t>
            </a:r>
            <a:r>
              <a:rPr lang="en-US" sz="2000" dirty="0"/>
              <a:t> </a:t>
            </a:r>
            <a:r>
              <a:rPr lang="en-US" sz="2000" dirty="0" err="1"/>
              <a:t>lệnh</a:t>
            </a:r>
            <a:r>
              <a:rPr lang="en-US" sz="2000" dirty="0"/>
              <a:t>: </a:t>
            </a:r>
            <a:r>
              <a:rPr lang="en-US" sz="2000" b="1" dirty="0" err="1"/>
              <a:t>Switch:boot</a:t>
            </a:r>
            <a:r>
              <a:rPr lang="en-US" sz="2000" b="1" dirty="0"/>
              <a:t> </a:t>
            </a:r>
            <a:r>
              <a:rPr lang="en-US" sz="2000" b="1" dirty="0" err="1"/>
              <a:t>flash:tenfile</a:t>
            </a:r>
            <a:r>
              <a:rPr lang="en-US" sz="2000" b="1" dirty="0"/>
              <a:t> </a:t>
            </a:r>
            <a:r>
              <a:rPr lang="en-US" sz="2000" dirty="0" err="1"/>
              <a:t>để</a:t>
            </a:r>
            <a:r>
              <a:rPr lang="en-US" sz="2000" dirty="0"/>
              <a:t> Switch </a:t>
            </a:r>
            <a:r>
              <a:rPr lang="en-US" sz="2000" dirty="0" err="1"/>
              <a:t>khởi</a:t>
            </a:r>
            <a:r>
              <a:rPr lang="en-US" sz="2000" dirty="0"/>
              <a:t> </a:t>
            </a:r>
            <a:r>
              <a:rPr lang="en-US" sz="2000" dirty="0" err="1"/>
              <a:t>động</a:t>
            </a:r>
            <a:r>
              <a:rPr lang="en-US" sz="2000" dirty="0"/>
              <a:t> </a:t>
            </a:r>
            <a:r>
              <a:rPr lang="en-US" sz="2000" dirty="0" err="1"/>
              <a:t>lại</a:t>
            </a:r>
            <a:r>
              <a:rPr lang="en-US" sz="2000" dirty="0"/>
              <a:t> </a:t>
            </a:r>
            <a:r>
              <a:rPr lang="en-US" sz="2000" dirty="0" err="1"/>
              <a:t>với</a:t>
            </a:r>
            <a:r>
              <a:rPr lang="en-US" sz="2000" dirty="0"/>
              <a:t> </a:t>
            </a:r>
            <a:r>
              <a:rPr lang="en-US" sz="2000" dirty="0" err="1"/>
              <a:t>hệ</a:t>
            </a:r>
            <a:r>
              <a:rPr lang="en-US" sz="2000" dirty="0"/>
              <a:t> </a:t>
            </a:r>
            <a:r>
              <a:rPr lang="en-US" sz="2000" dirty="0" err="1"/>
              <a:t>điều</a:t>
            </a:r>
            <a:r>
              <a:rPr lang="en-US" sz="2000" dirty="0"/>
              <a:t> </a:t>
            </a:r>
            <a:r>
              <a:rPr lang="en-US" sz="2000" dirty="0" err="1"/>
              <a:t>hành</a:t>
            </a:r>
            <a:r>
              <a:rPr lang="en-US" sz="2000" dirty="0"/>
              <a:t> </a:t>
            </a:r>
            <a:r>
              <a:rPr lang="en-US" sz="2000" dirty="0" err="1"/>
              <a:t>vừa</a:t>
            </a:r>
            <a:r>
              <a:rPr lang="en-US" sz="2000" dirty="0"/>
              <a:t> </a:t>
            </a:r>
            <a:r>
              <a:rPr lang="en-US" sz="2000" dirty="0" err="1"/>
              <a:t>được</a:t>
            </a:r>
            <a:r>
              <a:rPr lang="en-US" sz="2000" dirty="0"/>
              <a:t> copy </a:t>
            </a:r>
            <a:r>
              <a:rPr lang="en-US" sz="2000" dirty="0" err="1"/>
              <a:t>vào</a:t>
            </a:r>
            <a:r>
              <a:rPr lang="en-US" sz="2000" dirty="0"/>
              <a:t> Switch</a:t>
            </a:r>
          </a:p>
          <a:p>
            <a:pPr lvl="1">
              <a:defRPr/>
            </a:pPr>
            <a:endParaRPr lang="en-US" sz="2000" b="1" dirty="0"/>
          </a:p>
          <a:p>
            <a:pPr lvl="1">
              <a:buFont typeface="Wingdings" panose="05000000000000000000" pitchFamily="2" charset="2"/>
              <a:buNone/>
              <a:defRPr/>
            </a:pPr>
            <a:endParaRPr lang="en-US" sz="2000" b="1" dirty="0"/>
          </a:p>
          <a:p>
            <a:pPr marL="355600" lvl="1">
              <a:buNone/>
              <a:defRPr/>
            </a:pPr>
            <a:endParaRPr lang="en-US" sz="2000" dirty="0"/>
          </a:p>
          <a:p>
            <a:pPr marL="355600" lvl="1">
              <a:buNone/>
              <a:defRPr/>
            </a:pPr>
            <a:endParaRPr lang="en-US" sz="2000" dirty="0"/>
          </a:p>
          <a:p>
            <a:pPr marL="355600" lvl="1">
              <a:buNone/>
              <a:defRPr/>
            </a:pPr>
            <a:endParaRPr lang="en-US" sz="2000" dirty="0"/>
          </a:p>
          <a:p>
            <a:pPr marL="355600" lvl="1">
              <a:buNone/>
              <a:defRPr/>
            </a:pPr>
            <a:endParaRPr lang="en-US" sz="2000" dirty="0"/>
          </a:p>
          <a:p>
            <a:pPr marL="355600" lvl="1">
              <a:buNone/>
              <a:defRPr/>
            </a:pPr>
            <a:endParaRPr lang="en-US" sz="2000" dirty="0"/>
          </a:p>
          <a:p>
            <a:pPr marL="355600" lvl="1">
              <a:buNone/>
              <a:defRPr/>
            </a:pPr>
            <a:endParaRPr lang="en-US" sz="2000" dirty="0"/>
          </a:p>
          <a:p>
            <a:pPr marL="355600" lvl="1">
              <a:buNone/>
              <a:defRPr/>
            </a:pPr>
            <a:endParaRPr lang="en-US" sz="2000" dirty="0"/>
          </a:p>
          <a:p>
            <a:pPr>
              <a:buFont typeface="Wingdings" panose="05000000000000000000" pitchFamily="2" charset="2"/>
              <a:buNone/>
              <a:defRPr/>
            </a:pPr>
            <a:endParaRPr lang="en-US" sz="2000" dirty="0"/>
          </a:p>
          <a:p>
            <a:pPr>
              <a:buFont typeface="Wingdings" panose="05000000000000000000" pitchFamily="2" charset="2"/>
              <a:buNone/>
              <a:defRPr/>
            </a:pPr>
            <a:endParaRPr lang="vi-VN" sz="2000" dirty="0"/>
          </a:p>
        </p:txBody>
      </p:sp>
    </p:spTree>
    <p:extLst>
      <p:ext uri="{BB962C8B-B14F-4D97-AF65-F5344CB8AC3E}">
        <p14:creationId xmlns:p14="http://schemas.microsoft.com/office/powerpoint/2010/main" val="5830144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524000" y="266701"/>
            <a:ext cx="9144000" cy="487363"/>
          </a:xfrm>
        </p:spPr>
        <p:txBody>
          <a:bodyPr/>
          <a:lstStyle/>
          <a:p>
            <a:r>
              <a:rPr lang="en-US" sz="2800" dirty="0"/>
              <a:t>IV. KHÔI PHỤC MẬT KHẨU CHO ROUTER</a:t>
            </a:r>
            <a:endParaRPr lang="en-US" dirty="0"/>
          </a:p>
        </p:txBody>
      </p:sp>
      <p:sp>
        <p:nvSpPr>
          <p:cNvPr id="32771" name="Content Placeholder 2"/>
          <p:cNvSpPr>
            <a:spLocks noGrp="1"/>
          </p:cNvSpPr>
          <p:nvPr>
            <p:ph idx="1"/>
          </p:nvPr>
        </p:nvSpPr>
        <p:spPr>
          <a:xfrm>
            <a:off x="685800" y="1066800"/>
            <a:ext cx="11106150" cy="5029200"/>
          </a:xfrm>
        </p:spPr>
        <p:txBody>
          <a:bodyPr/>
          <a:lstStyle/>
          <a:p>
            <a:r>
              <a:rPr lang="en-US" u="sng" dirty="0" err="1"/>
              <a:t>Khôi</a:t>
            </a:r>
            <a:r>
              <a:rPr lang="en-US" u="sng" dirty="0"/>
              <a:t> </a:t>
            </a:r>
            <a:r>
              <a:rPr lang="en-US" u="sng" dirty="0" err="1"/>
              <a:t>phục</a:t>
            </a:r>
            <a:r>
              <a:rPr lang="en-US" u="sng" dirty="0"/>
              <a:t> </a:t>
            </a:r>
            <a:r>
              <a:rPr lang="en-US" u="sng" dirty="0" err="1"/>
              <a:t>mật</a:t>
            </a:r>
            <a:r>
              <a:rPr lang="en-US" u="sng" dirty="0"/>
              <a:t> </a:t>
            </a:r>
            <a:r>
              <a:rPr lang="en-US" u="sng" dirty="0" err="1"/>
              <a:t>khẩu</a:t>
            </a:r>
            <a:r>
              <a:rPr lang="en-US" u="sng" dirty="0"/>
              <a:t> </a:t>
            </a:r>
            <a:r>
              <a:rPr lang="en-US" u="sng" dirty="0" err="1"/>
              <a:t>cho</a:t>
            </a:r>
            <a:r>
              <a:rPr lang="en-US" u="sng" dirty="0"/>
              <a:t> Router (Password Recovery)</a:t>
            </a:r>
          </a:p>
          <a:p>
            <a:pPr lvl="1" algn="just">
              <a:spcBef>
                <a:spcPts val="1200"/>
              </a:spcBef>
            </a:pPr>
            <a:r>
              <a:rPr lang="en-US" sz="2400" dirty="0"/>
              <a:t>Thao </a:t>
            </a:r>
            <a:r>
              <a:rPr lang="en-US" sz="2400" dirty="0" err="1"/>
              <a:t>tác</a:t>
            </a:r>
            <a:r>
              <a:rPr lang="en-US" sz="2400" dirty="0"/>
              <a:t> </a:t>
            </a:r>
            <a:r>
              <a:rPr lang="en-US" sz="2400" dirty="0" err="1"/>
              <a:t>trực</a:t>
            </a:r>
            <a:r>
              <a:rPr lang="en-US" sz="2400" dirty="0"/>
              <a:t> </a:t>
            </a:r>
            <a:r>
              <a:rPr lang="en-US" sz="2400" dirty="0" err="1"/>
              <a:t>tiếp</a:t>
            </a:r>
            <a:r>
              <a:rPr lang="en-US" sz="2400" dirty="0"/>
              <a:t> </a:t>
            </a:r>
            <a:r>
              <a:rPr lang="en-US" sz="2400" dirty="0" err="1"/>
              <a:t>trên</a:t>
            </a:r>
            <a:r>
              <a:rPr lang="en-US" sz="2400" dirty="0"/>
              <a:t> Router (Admin)</a:t>
            </a:r>
          </a:p>
          <a:p>
            <a:pPr lvl="1" algn="just">
              <a:spcBef>
                <a:spcPts val="1200"/>
              </a:spcBef>
            </a:pPr>
            <a:r>
              <a:rPr lang="en-US" sz="2400" dirty="0" err="1"/>
              <a:t>Quá</a:t>
            </a:r>
            <a:r>
              <a:rPr lang="en-US" sz="2400" dirty="0"/>
              <a:t> </a:t>
            </a:r>
            <a:r>
              <a:rPr lang="en-US" sz="2400" dirty="0" err="1"/>
              <a:t>trình</a:t>
            </a:r>
            <a:r>
              <a:rPr lang="en-US" sz="2400" dirty="0"/>
              <a:t> </a:t>
            </a:r>
            <a:r>
              <a:rPr lang="en-US" sz="2400" dirty="0" err="1"/>
              <a:t>khởi</a:t>
            </a:r>
            <a:r>
              <a:rPr lang="en-US" sz="2400" dirty="0"/>
              <a:t> </a:t>
            </a:r>
            <a:r>
              <a:rPr lang="en-US" sz="2400" dirty="0" err="1"/>
              <a:t>động</a:t>
            </a:r>
            <a:r>
              <a:rPr lang="en-US" sz="2400" dirty="0"/>
              <a:t> </a:t>
            </a:r>
            <a:r>
              <a:rPr lang="en-US" sz="2400" dirty="0" err="1"/>
              <a:t>của</a:t>
            </a:r>
            <a:r>
              <a:rPr lang="en-US" sz="2400" dirty="0"/>
              <a:t> Router </a:t>
            </a:r>
            <a:r>
              <a:rPr lang="en-US" sz="2400" dirty="0" err="1"/>
              <a:t>đã</a:t>
            </a:r>
            <a:r>
              <a:rPr lang="en-US" sz="2400" dirty="0"/>
              <a:t> </a:t>
            </a:r>
            <a:r>
              <a:rPr lang="en-US" sz="2400" dirty="0" err="1"/>
              <a:t>được</a:t>
            </a:r>
            <a:r>
              <a:rPr lang="en-US" sz="2400" dirty="0"/>
              <a:t> </a:t>
            </a:r>
            <a:r>
              <a:rPr lang="en-US" sz="2400" dirty="0" err="1"/>
              <a:t>định</a:t>
            </a:r>
            <a:r>
              <a:rPr lang="en-US" sz="2400" dirty="0"/>
              <a:t> </a:t>
            </a:r>
            <a:r>
              <a:rPr lang="en-US" sz="2400" dirty="0" err="1"/>
              <a:t>trước</a:t>
            </a:r>
            <a:r>
              <a:rPr lang="en-US" sz="2400" dirty="0"/>
              <a:t>. Sau </a:t>
            </a:r>
            <a:r>
              <a:rPr lang="en-US" sz="2400" dirty="0" err="1"/>
              <a:t>quá</a:t>
            </a:r>
            <a:r>
              <a:rPr lang="en-US" sz="2400" dirty="0"/>
              <a:t> </a:t>
            </a:r>
            <a:r>
              <a:rPr lang="en-US" sz="2400" dirty="0" err="1"/>
              <a:t>trình</a:t>
            </a:r>
            <a:r>
              <a:rPr lang="en-US" sz="2400" dirty="0"/>
              <a:t> POST </a:t>
            </a:r>
            <a:r>
              <a:rPr lang="en-US" sz="2400" dirty="0" err="1"/>
              <a:t>và</a:t>
            </a:r>
            <a:r>
              <a:rPr lang="en-US" sz="2400" dirty="0"/>
              <a:t> </a:t>
            </a:r>
            <a:r>
              <a:rPr lang="en-US" sz="2400" dirty="0" err="1"/>
              <a:t>nạp</a:t>
            </a:r>
            <a:r>
              <a:rPr lang="en-US" sz="2400" dirty="0"/>
              <a:t> </a:t>
            </a:r>
            <a:r>
              <a:rPr lang="en-US" sz="2400" dirty="0" err="1"/>
              <a:t>hệ</a:t>
            </a:r>
            <a:r>
              <a:rPr lang="en-US" sz="2400" dirty="0"/>
              <a:t> </a:t>
            </a:r>
            <a:r>
              <a:rPr lang="en-US" sz="2400" dirty="0" err="1"/>
              <a:t>điều</a:t>
            </a:r>
            <a:r>
              <a:rPr lang="en-US" sz="2400" dirty="0"/>
              <a:t> </a:t>
            </a:r>
            <a:r>
              <a:rPr lang="en-US" sz="2400" dirty="0" err="1"/>
              <a:t>hành</a:t>
            </a:r>
            <a:r>
              <a:rPr lang="en-US" sz="2400" dirty="0"/>
              <a:t> IOS, router </a:t>
            </a:r>
            <a:r>
              <a:rPr lang="en-US" sz="2400" dirty="0" err="1"/>
              <a:t>sẽ</a:t>
            </a:r>
            <a:r>
              <a:rPr lang="en-US" sz="2400" dirty="0"/>
              <a:t> </a:t>
            </a:r>
            <a:r>
              <a:rPr lang="en-US" sz="2400" dirty="0" err="1"/>
              <a:t>nạp</a:t>
            </a:r>
            <a:r>
              <a:rPr lang="en-US" sz="2400" dirty="0"/>
              <a:t> </a:t>
            </a:r>
            <a:r>
              <a:rPr lang="en-US" sz="2400" dirty="0" err="1"/>
              <a:t>cấu</a:t>
            </a:r>
            <a:r>
              <a:rPr lang="en-US" sz="2400" dirty="0"/>
              <a:t> </a:t>
            </a:r>
            <a:r>
              <a:rPr lang="en-US" sz="2400" dirty="0" err="1"/>
              <a:t>hình</a:t>
            </a:r>
            <a:r>
              <a:rPr lang="en-US" sz="2400" dirty="0"/>
              <a:t> </a:t>
            </a:r>
            <a:r>
              <a:rPr lang="en-US" sz="2400" dirty="0" err="1"/>
              <a:t>hoạt</a:t>
            </a:r>
            <a:r>
              <a:rPr lang="en-US" sz="2400" dirty="0"/>
              <a:t> </a:t>
            </a:r>
            <a:r>
              <a:rPr lang="en-US" sz="2400" dirty="0" err="1"/>
              <a:t>động</a:t>
            </a:r>
            <a:r>
              <a:rPr lang="en-US" sz="2400" dirty="0"/>
              <a:t> </a:t>
            </a:r>
            <a:r>
              <a:rPr lang="en-US" sz="2400" dirty="0" err="1"/>
              <a:t>trong</a:t>
            </a:r>
            <a:r>
              <a:rPr lang="en-US" sz="2400" dirty="0"/>
              <a:t> NVRAM. </a:t>
            </a:r>
            <a:r>
              <a:rPr lang="en-US" sz="2400" dirty="0" err="1"/>
              <a:t>Các</a:t>
            </a:r>
            <a:r>
              <a:rPr lang="en-US" sz="2400" dirty="0"/>
              <a:t> </a:t>
            </a:r>
            <a:r>
              <a:rPr lang="en-US" sz="2400" dirty="0" err="1"/>
              <a:t>cấu</a:t>
            </a:r>
            <a:r>
              <a:rPr lang="en-US" sz="2400" dirty="0"/>
              <a:t> </a:t>
            </a:r>
            <a:r>
              <a:rPr lang="en-US" sz="2400" dirty="0" err="1"/>
              <a:t>hình</a:t>
            </a:r>
            <a:r>
              <a:rPr lang="en-US" sz="2400" dirty="0"/>
              <a:t> </a:t>
            </a:r>
            <a:r>
              <a:rPr lang="en-US" sz="2400" dirty="0" err="1"/>
              <a:t>này</a:t>
            </a:r>
            <a:r>
              <a:rPr lang="en-US" sz="2400" dirty="0"/>
              <a:t> </a:t>
            </a:r>
            <a:r>
              <a:rPr lang="en-US" sz="2400" dirty="0" err="1"/>
              <a:t>không</a:t>
            </a:r>
            <a:r>
              <a:rPr lang="en-US" sz="2400" dirty="0"/>
              <a:t> </a:t>
            </a:r>
            <a:r>
              <a:rPr lang="en-US" sz="2400" dirty="0" err="1"/>
              <a:t>chỉ</a:t>
            </a:r>
            <a:r>
              <a:rPr lang="en-US" sz="2400" dirty="0"/>
              <a:t> </a:t>
            </a:r>
            <a:r>
              <a:rPr lang="en-US" sz="2400" dirty="0" err="1"/>
              <a:t>chứa</a:t>
            </a:r>
            <a:r>
              <a:rPr lang="en-US" sz="2400" dirty="0"/>
              <a:t> </a:t>
            </a:r>
            <a:r>
              <a:rPr lang="en-US" sz="2400" dirty="0" err="1"/>
              <a:t>thông</a:t>
            </a:r>
            <a:r>
              <a:rPr lang="en-US" sz="2400" dirty="0"/>
              <a:t> tin </a:t>
            </a:r>
            <a:r>
              <a:rPr lang="en-US" sz="2400" dirty="0" err="1"/>
              <a:t>giao</a:t>
            </a:r>
            <a:r>
              <a:rPr lang="en-US" sz="2400" dirty="0"/>
              <a:t> </a:t>
            </a:r>
            <a:r>
              <a:rPr lang="en-US" sz="2400" dirty="0" err="1"/>
              <a:t>thức</a:t>
            </a:r>
            <a:r>
              <a:rPr lang="en-US" sz="2400" dirty="0"/>
              <a:t> </a:t>
            </a:r>
            <a:r>
              <a:rPr lang="en-US" sz="2400" dirty="0" err="1"/>
              <a:t>định</a:t>
            </a:r>
            <a:r>
              <a:rPr lang="en-US" sz="2400" dirty="0"/>
              <a:t> </a:t>
            </a:r>
            <a:r>
              <a:rPr lang="en-US" sz="2400" dirty="0" err="1"/>
              <a:t>tuyến</a:t>
            </a:r>
            <a:r>
              <a:rPr lang="en-US" sz="2400" dirty="0"/>
              <a:t>, </a:t>
            </a:r>
            <a:r>
              <a:rPr lang="en-US" sz="2400" dirty="0" err="1"/>
              <a:t>địa</a:t>
            </a:r>
            <a:r>
              <a:rPr lang="en-US" sz="2400" dirty="0"/>
              <a:t> </a:t>
            </a:r>
            <a:r>
              <a:rPr lang="en-US" sz="2400" dirty="0" err="1"/>
              <a:t>chỉ</a:t>
            </a:r>
            <a:r>
              <a:rPr lang="en-US" sz="2400" dirty="0"/>
              <a:t> </a:t>
            </a:r>
            <a:r>
              <a:rPr lang="en-US" sz="2400" dirty="0" err="1"/>
              <a:t>mà</a:t>
            </a:r>
            <a:r>
              <a:rPr lang="en-US" sz="2400" dirty="0"/>
              <a:t> </a:t>
            </a:r>
            <a:r>
              <a:rPr lang="en-US" sz="2400" dirty="0" err="1"/>
              <a:t>còn</a:t>
            </a:r>
            <a:r>
              <a:rPr lang="en-US" sz="2400" dirty="0"/>
              <a:t> </a:t>
            </a:r>
            <a:r>
              <a:rPr lang="en-US" sz="2400" dirty="0" err="1"/>
              <a:t>chứa</a:t>
            </a:r>
            <a:r>
              <a:rPr lang="en-US" sz="2400" dirty="0"/>
              <a:t> </a:t>
            </a:r>
            <a:r>
              <a:rPr lang="en-US" sz="2400" dirty="0" err="1"/>
              <a:t>mật</a:t>
            </a:r>
            <a:r>
              <a:rPr lang="en-US" sz="2400" dirty="0"/>
              <a:t> </a:t>
            </a:r>
            <a:r>
              <a:rPr lang="en-US" sz="2400" dirty="0" err="1"/>
              <a:t>khẩu</a:t>
            </a:r>
            <a:r>
              <a:rPr lang="en-US" sz="2400" dirty="0"/>
              <a:t> </a:t>
            </a:r>
            <a:r>
              <a:rPr lang="en-US" sz="2400" dirty="0" err="1"/>
              <a:t>của</a:t>
            </a:r>
            <a:r>
              <a:rPr lang="en-US" sz="2400" dirty="0"/>
              <a:t> Router</a:t>
            </a:r>
          </a:p>
          <a:p>
            <a:pPr lvl="1" algn="just">
              <a:spcBef>
                <a:spcPts val="1200"/>
              </a:spcBef>
            </a:pPr>
            <a:r>
              <a:rPr lang="en-US" sz="2400" dirty="0" err="1"/>
              <a:t>Mật</a:t>
            </a:r>
            <a:r>
              <a:rPr lang="en-US" sz="2400" dirty="0"/>
              <a:t> </a:t>
            </a:r>
            <a:r>
              <a:rPr lang="en-US" sz="2400" dirty="0" err="1"/>
              <a:t>khẩu</a:t>
            </a:r>
            <a:r>
              <a:rPr lang="en-US" sz="2400" dirty="0"/>
              <a:t> </a:t>
            </a:r>
            <a:r>
              <a:rPr lang="en-US" sz="2400" dirty="0" err="1"/>
              <a:t>được</a:t>
            </a:r>
            <a:r>
              <a:rPr lang="en-US" sz="2400" dirty="0"/>
              <a:t> </a:t>
            </a:r>
            <a:r>
              <a:rPr lang="en-US" sz="2400" dirty="0" err="1"/>
              <a:t>phục</a:t>
            </a:r>
            <a:r>
              <a:rPr lang="en-US" sz="2400" dirty="0"/>
              <a:t> </a:t>
            </a:r>
            <a:r>
              <a:rPr lang="en-US" sz="2400" dirty="0" err="1"/>
              <a:t>hồi</a:t>
            </a:r>
            <a:r>
              <a:rPr lang="en-US" sz="2400" dirty="0"/>
              <a:t> </a:t>
            </a:r>
            <a:r>
              <a:rPr lang="en-US" sz="2400" dirty="0" err="1"/>
              <a:t>bằng</a:t>
            </a:r>
            <a:r>
              <a:rPr lang="en-US" sz="2400" dirty="0"/>
              <a:t> </a:t>
            </a:r>
            <a:r>
              <a:rPr lang="en-US" sz="2400" dirty="0" err="1"/>
              <a:t>cách</a:t>
            </a:r>
            <a:r>
              <a:rPr lang="en-US" sz="2400" dirty="0"/>
              <a:t> </a:t>
            </a:r>
            <a:r>
              <a:rPr lang="en-US" sz="2400" dirty="0" err="1"/>
              <a:t>bỏ</a:t>
            </a:r>
            <a:r>
              <a:rPr lang="en-US" sz="2400" dirty="0"/>
              <a:t> qua </a:t>
            </a:r>
            <a:r>
              <a:rPr lang="en-US" sz="2400" dirty="0" err="1"/>
              <a:t>nội</a:t>
            </a:r>
            <a:r>
              <a:rPr lang="en-US" sz="2400" dirty="0"/>
              <a:t> dung file </a:t>
            </a:r>
            <a:r>
              <a:rPr lang="en-US" sz="2400" dirty="0" err="1"/>
              <a:t>cấu</a:t>
            </a:r>
            <a:r>
              <a:rPr lang="en-US" sz="2400" dirty="0"/>
              <a:t> </a:t>
            </a:r>
            <a:r>
              <a:rPr lang="en-US" sz="2400" dirty="0" err="1"/>
              <a:t>hình</a:t>
            </a:r>
            <a:r>
              <a:rPr lang="en-US" sz="2400" dirty="0"/>
              <a:t> (Configuration file) </a:t>
            </a:r>
            <a:r>
              <a:rPr lang="en-US" sz="2400" dirty="0" err="1"/>
              <a:t>trong</a:t>
            </a:r>
            <a:r>
              <a:rPr lang="en-US" sz="2400" dirty="0"/>
              <a:t> NVRAM </a:t>
            </a:r>
            <a:r>
              <a:rPr lang="en-US" sz="2400" dirty="0" err="1"/>
              <a:t>trong</a:t>
            </a:r>
            <a:r>
              <a:rPr lang="en-US" sz="2400" dirty="0"/>
              <a:t> </a:t>
            </a:r>
            <a:r>
              <a:rPr lang="en-US" sz="2400" dirty="0" err="1"/>
              <a:t>quá</a:t>
            </a:r>
            <a:r>
              <a:rPr lang="en-US" sz="2400" dirty="0"/>
              <a:t> </a:t>
            </a:r>
            <a:r>
              <a:rPr lang="en-US" sz="2400" dirty="0" err="1"/>
              <a:t>trình</a:t>
            </a:r>
            <a:r>
              <a:rPr lang="en-US" sz="2400" dirty="0"/>
              <a:t> </a:t>
            </a:r>
            <a:r>
              <a:rPr lang="en-US" sz="2400" dirty="0" err="1"/>
              <a:t>khởi</a:t>
            </a:r>
            <a:r>
              <a:rPr lang="en-US" sz="2400" dirty="0"/>
              <a:t> </a:t>
            </a:r>
            <a:r>
              <a:rPr lang="en-US" sz="2400" dirty="0" err="1"/>
              <a:t>động</a:t>
            </a:r>
            <a:r>
              <a:rPr lang="en-US" sz="2400" dirty="0"/>
              <a:t>.</a:t>
            </a:r>
          </a:p>
        </p:txBody>
      </p:sp>
      <p:pic>
        <p:nvPicPr>
          <p:cNvPr id="41986" name="Picture 2"/>
          <p:cNvPicPr>
            <a:picLocks noChangeAspect="1" noChangeArrowheads="1"/>
          </p:cNvPicPr>
          <p:nvPr/>
        </p:nvPicPr>
        <p:blipFill>
          <a:blip r:embed="rId2" cstate="print"/>
          <a:srcRect/>
          <a:stretch>
            <a:fillRect/>
          </a:stretch>
        </p:blipFill>
        <p:spPr bwMode="auto">
          <a:xfrm>
            <a:off x="4143375" y="5143499"/>
            <a:ext cx="5314950" cy="1447800"/>
          </a:xfrm>
          <a:prstGeom prst="rect">
            <a:avLst/>
          </a:prstGeom>
          <a:ln>
            <a:noFill/>
          </a:ln>
          <a:effectLst>
            <a:softEdge rad="112500"/>
          </a:effectLst>
        </p:spPr>
      </p:pic>
    </p:spTree>
    <p:extLst>
      <p:ext uri="{BB962C8B-B14F-4D97-AF65-F5344CB8AC3E}">
        <p14:creationId xmlns:p14="http://schemas.microsoft.com/office/powerpoint/2010/main" val="15117202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nvSpPr>
        <p:spPr>
          <a:xfrm>
            <a:off x="1559859" y="1005767"/>
            <a:ext cx="8153400" cy="45719"/>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black"/>
              </a:solidFill>
              <a:latin typeface="Calibri"/>
            </a:endParaRPr>
          </a:p>
        </p:txBody>
      </p:sp>
      <p:pic>
        <p:nvPicPr>
          <p:cNvPr id="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1893" y="3608715"/>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bwMode="auto">
          <a:xfrm>
            <a:off x="2430462" y="1794545"/>
            <a:ext cx="1219200" cy="685800"/>
          </a:xfrm>
          <a:prstGeom prst="rect">
            <a:avLst/>
          </a:prstGeom>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sz="2400">
                <a:solidFill>
                  <a:srgbClr val="000000"/>
                </a:solidFill>
                <a:latin typeface="Courier New" pitchFamily="49" charset="0"/>
                <a:cs typeface="Courier New" pitchFamily="49" charset="0"/>
              </a:rPr>
              <a:t>FLASH</a:t>
            </a:r>
          </a:p>
        </p:txBody>
      </p:sp>
      <p:sp>
        <p:nvSpPr>
          <p:cNvPr id="15" name="Rectangle 14"/>
          <p:cNvSpPr/>
          <p:nvPr/>
        </p:nvSpPr>
        <p:spPr bwMode="auto">
          <a:xfrm>
            <a:off x="2430462" y="2907992"/>
            <a:ext cx="1219200" cy="685800"/>
          </a:xfrm>
          <a:prstGeom prst="rect">
            <a:avLst/>
          </a:prstGeom>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sz="2400">
                <a:solidFill>
                  <a:srgbClr val="000000"/>
                </a:solidFill>
                <a:latin typeface="Courier New" pitchFamily="49" charset="0"/>
                <a:cs typeface="Courier New" pitchFamily="49" charset="0"/>
              </a:rPr>
              <a:t>ROM</a:t>
            </a:r>
          </a:p>
        </p:txBody>
      </p:sp>
      <p:sp>
        <p:nvSpPr>
          <p:cNvPr id="16" name="Rectangle 15"/>
          <p:cNvSpPr/>
          <p:nvPr/>
        </p:nvSpPr>
        <p:spPr bwMode="auto">
          <a:xfrm>
            <a:off x="2430462" y="4014706"/>
            <a:ext cx="1219200" cy="685800"/>
          </a:xfrm>
          <a:prstGeom prst="rect">
            <a:avLst/>
          </a:prstGeom>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sz="2400">
                <a:solidFill>
                  <a:srgbClr val="000000"/>
                </a:solidFill>
                <a:latin typeface="Courier New" pitchFamily="49" charset="0"/>
                <a:cs typeface="Courier New" pitchFamily="49" charset="0"/>
              </a:rPr>
              <a:t>RAM</a:t>
            </a:r>
          </a:p>
        </p:txBody>
      </p:sp>
      <p:sp>
        <p:nvSpPr>
          <p:cNvPr id="17" name="Rectangle 16"/>
          <p:cNvSpPr/>
          <p:nvPr/>
        </p:nvSpPr>
        <p:spPr bwMode="auto">
          <a:xfrm>
            <a:off x="2430462" y="5092916"/>
            <a:ext cx="1219200" cy="685800"/>
          </a:xfrm>
          <a:prstGeom prst="rect">
            <a:avLst/>
          </a:prstGeom>
          <a:solidFill>
            <a:schemeClr val="accent2">
              <a:lumMod val="20000"/>
              <a:lumOff val="80000"/>
            </a:schemeClr>
          </a:solidFill>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sz="2400">
                <a:solidFill>
                  <a:srgbClr val="000000"/>
                </a:solidFill>
                <a:latin typeface="Courier New" pitchFamily="49" charset="0"/>
                <a:cs typeface="Courier New" pitchFamily="49" charset="0"/>
              </a:rPr>
              <a:t>NVRAM</a:t>
            </a:r>
          </a:p>
        </p:txBody>
      </p:sp>
      <p:sp>
        <p:nvSpPr>
          <p:cNvPr id="18" name="Rectangle 17"/>
          <p:cNvSpPr/>
          <p:nvPr/>
        </p:nvSpPr>
        <p:spPr bwMode="auto">
          <a:xfrm>
            <a:off x="3831430" y="5092916"/>
            <a:ext cx="3331370" cy="342900"/>
          </a:xfrm>
          <a:prstGeom prst="rect">
            <a:avLst/>
          </a:prstGeom>
          <a:solidFill>
            <a:schemeClr val="accent2">
              <a:lumMod val="20000"/>
              <a:lumOff val="80000"/>
            </a:schemeClr>
          </a:solidFill>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a:solidFill>
                  <a:srgbClr val="000000"/>
                </a:solidFill>
                <a:latin typeface="Courier New" pitchFamily="49" charset="0"/>
                <a:cs typeface="Courier New" pitchFamily="49" charset="0"/>
              </a:rPr>
              <a:t>startup-config</a:t>
            </a:r>
          </a:p>
        </p:txBody>
      </p:sp>
      <p:sp>
        <p:nvSpPr>
          <p:cNvPr id="19" name="Rectangle 18"/>
          <p:cNvSpPr/>
          <p:nvPr/>
        </p:nvSpPr>
        <p:spPr bwMode="auto">
          <a:xfrm>
            <a:off x="3831430" y="5435816"/>
            <a:ext cx="3331371" cy="342900"/>
          </a:xfrm>
          <a:prstGeom prst="rect">
            <a:avLst/>
          </a:prstGeom>
          <a:solidFill>
            <a:schemeClr val="accent2">
              <a:lumMod val="20000"/>
              <a:lumOff val="80000"/>
            </a:schemeClr>
          </a:solidFill>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a:solidFill>
                  <a:srgbClr val="000000"/>
                </a:solidFill>
                <a:effectLst>
                  <a:glow rad="63500">
                    <a:schemeClr val="accent1">
                      <a:satMod val="175000"/>
                      <a:alpha val="40000"/>
                    </a:schemeClr>
                  </a:glow>
                </a:effectLst>
                <a:latin typeface="Courier New" pitchFamily="49" charset="0"/>
                <a:cs typeface="Courier New" pitchFamily="49" charset="0"/>
              </a:rPr>
              <a:t>Configuration Register</a:t>
            </a:r>
          </a:p>
        </p:txBody>
      </p:sp>
      <p:sp>
        <p:nvSpPr>
          <p:cNvPr id="20" name="Rectangle 19"/>
          <p:cNvSpPr/>
          <p:nvPr/>
        </p:nvSpPr>
        <p:spPr bwMode="auto">
          <a:xfrm>
            <a:off x="3831431" y="2906394"/>
            <a:ext cx="1426371" cy="342900"/>
          </a:xfrm>
          <a:prstGeom prst="rect">
            <a:avLst/>
          </a:prstGeom>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a:solidFill>
                  <a:srgbClr val="000000"/>
                </a:solidFill>
                <a:latin typeface="Courier New" pitchFamily="49" charset="0"/>
                <a:cs typeface="Courier New" pitchFamily="49" charset="0"/>
              </a:rPr>
              <a:t>POST</a:t>
            </a:r>
          </a:p>
        </p:txBody>
      </p:sp>
      <p:sp>
        <p:nvSpPr>
          <p:cNvPr id="21" name="Rectangle 20"/>
          <p:cNvSpPr/>
          <p:nvPr/>
        </p:nvSpPr>
        <p:spPr bwMode="auto">
          <a:xfrm>
            <a:off x="3831430" y="3249294"/>
            <a:ext cx="1426371" cy="342900"/>
          </a:xfrm>
          <a:prstGeom prst="rect">
            <a:avLst/>
          </a:prstGeom>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a:solidFill>
                  <a:srgbClr val="000000"/>
                </a:solidFill>
                <a:latin typeface="Courier New" pitchFamily="49" charset="0"/>
                <a:cs typeface="Courier New" pitchFamily="49" charset="0"/>
              </a:rPr>
              <a:t>Bootrap</a:t>
            </a:r>
          </a:p>
        </p:txBody>
      </p:sp>
      <p:sp>
        <p:nvSpPr>
          <p:cNvPr id="22" name="Arc 21"/>
          <p:cNvSpPr/>
          <p:nvPr/>
        </p:nvSpPr>
        <p:spPr bwMode="auto">
          <a:xfrm rot="16200000">
            <a:off x="1423977" y="2428783"/>
            <a:ext cx="2181246" cy="1676400"/>
          </a:xfrm>
          <a:prstGeom prst="arc">
            <a:avLst>
              <a:gd name="adj1" fmla="val 11453038"/>
              <a:gd name="adj2" fmla="val 21126565"/>
            </a:avLst>
          </a:prstGeom>
          <a:noFill/>
          <a:ln w="28575" cap="flat" cmpd="sng" algn="ctr">
            <a:solidFill>
              <a:srgbClr val="FFFF00"/>
            </a:solidFill>
            <a:prstDash val="solid"/>
            <a:round/>
            <a:headEnd type="triangle" w="med" len="med"/>
            <a:tailEnd type="none" w="med" len="med"/>
          </a:ln>
          <a:effectLst>
            <a:glow rad="63500">
              <a:schemeClr val="accent2">
                <a:satMod val="175000"/>
                <a:alpha val="40000"/>
              </a:schemeClr>
            </a:glow>
            <a:outerShdw dist="1796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82124" tIns="41061" rIns="82124" bIns="41061" numCol="1" rtlCol="0" anchor="t" anchorCtr="0" compatLnSpc="1">
            <a:prstTxWarp prst="textNoShape">
              <a:avLst/>
            </a:prstTxWarp>
          </a:bodyPr>
          <a:lstStyle/>
          <a:p>
            <a:pPr defTabSz="814388" eaLnBrk="0" fontAlgn="base" hangingPunct="0">
              <a:lnSpc>
                <a:spcPct val="90000"/>
              </a:lnSpc>
              <a:spcBef>
                <a:spcPct val="0"/>
              </a:spcBef>
              <a:spcAft>
                <a:spcPct val="0"/>
              </a:spcAft>
            </a:pPr>
            <a:endParaRPr lang="en-US" sz="3000" b="1">
              <a:latin typeface="Arial" charset="0"/>
            </a:endParaRPr>
          </a:p>
        </p:txBody>
      </p:sp>
      <p:sp>
        <p:nvSpPr>
          <p:cNvPr id="23" name="Arc 22"/>
          <p:cNvSpPr/>
          <p:nvPr/>
        </p:nvSpPr>
        <p:spPr bwMode="auto">
          <a:xfrm rot="16200000">
            <a:off x="1944580" y="4179996"/>
            <a:ext cx="987641" cy="1524000"/>
          </a:xfrm>
          <a:prstGeom prst="arc">
            <a:avLst>
              <a:gd name="adj1" fmla="val 11865446"/>
              <a:gd name="adj2" fmla="val 20654016"/>
            </a:avLst>
          </a:prstGeom>
          <a:noFill/>
          <a:ln w="28575" cap="flat" cmpd="sng" algn="ctr">
            <a:solidFill>
              <a:srgbClr val="FFFF00"/>
            </a:solidFill>
            <a:prstDash val="solid"/>
            <a:round/>
            <a:headEnd type="none" w="med" len="med"/>
            <a:tailEnd type="triangle" w="med" len="med"/>
          </a:ln>
          <a:effectLst>
            <a:glow rad="63500">
              <a:schemeClr val="accent2">
                <a:satMod val="175000"/>
                <a:alpha val="40000"/>
              </a:schemeClr>
            </a:glow>
            <a:outerShdw dist="1796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82124" tIns="41061" rIns="82124" bIns="41061" numCol="1" rtlCol="0" anchor="t" anchorCtr="0" compatLnSpc="1">
            <a:prstTxWarp prst="textNoShape">
              <a:avLst/>
            </a:prstTxWarp>
          </a:bodyPr>
          <a:lstStyle/>
          <a:p>
            <a:pPr defTabSz="814388" eaLnBrk="0" fontAlgn="base" hangingPunct="0">
              <a:lnSpc>
                <a:spcPct val="90000"/>
              </a:lnSpc>
              <a:spcBef>
                <a:spcPct val="0"/>
              </a:spcBef>
              <a:spcAft>
                <a:spcPct val="0"/>
              </a:spcAft>
            </a:pPr>
            <a:endParaRPr lang="en-US" sz="3000" b="1">
              <a:latin typeface="Arial" charset="0"/>
            </a:endParaRPr>
          </a:p>
        </p:txBody>
      </p:sp>
      <p:sp>
        <p:nvSpPr>
          <p:cNvPr id="24" name="Rectangle 23"/>
          <p:cNvSpPr/>
          <p:nvPr/>
        </p:nvSpPr>
        <p:spPr bwMode="auto">
          <a:xfrm>
            <a:off x="3831430" y="5448300"/>
            <a:ext cx="3331371" cy="342900"/>
          </a:xfrm>
          <a:prstGeom prst="rect">
            <a:avLst/>
          </a:prstGeom>
          <a:solidFill>
            <a:schemeClr val="bg1"/>
          </a:solidFill>
          <a:ln>
            <a:headEnd type="none" w="med" len="med"/>
            <a:tailEnd type="triangle" w="med" len="me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vert="horz" wrap="square" lIns="82124" tIns="41061" rIns="82124" bIns="41061" numCol="1" rtlCol="0" anchor="ctr" anchorCtr="0" compatLnSpc="1">
            <a:prstTxWarp prst="textNoShape">
              <a:avLst/>
            </a:prstTxWarp>
          </a:bodyPr>
          <a:lstStyle/>
          <a:p>
            <a:pPr algn="ctr" defTabSz="814388"/>
            <a:r>
              <a:rPr lang="en-US">
                <a:solidFill>
                  <a:srgbClr val="000000"/>
                </a:solidFill>
                <a:effectLst>
                  <a:glow rad="63500">
                    <a:schemeClr val="accent1">
                      <a:satMod val="175000"/>
                      <a:alpha val="40000"/>
                    </a:schemeClr>
                  </a:glow>
                </a:effectLst>
                <a:latin typeface="Courier New" pitchFamily="49" charset="0"/>
                <a:cs typeface="Courier New" pitchFamily="49" charset="0"/>
              </a:rPr>
              <a:t>0x2102</a:t>
            </a:r>
          </a:p>
        </p:txBody>
      </p:sp>
      <p:sp>
        <p:nvSpPr>
          <p:cNvPr id="25" name="Title 1">
            <a:extLst>
              <a:ext uri="{FF2B5EF4-FFF2-40B4-BE49-F238E27FC236}">
                <a16:creationId xmlns:a16="http://schemas.microsoft.com/office/drawing/2014/main" id="{64D764F1-2FE3-40D1-8B4E-9C0FA81FA58A}"/>
              </a:ext>
            </a:extLst>
          </p:cNvPr>
          <p:cNvSpPr txBox="1">
            <a:spLocks/>
          </p:cNvSpPr>
          <p:nvPr/>
        </p:nvSpPr>
        <p:spPr>
          <a:xfrm>
            <a:off x="1524000" y="266701"/>
            <a:ext cx="9144000" cy="487363"/>
          </a:xfrm>
          <a:prstGeom prst="rect">
            <a:avLst/>
          </a:prstGeom>
        </p:spPr>
        <p:txBody>
          <a:bodyPr/>
          <a:lst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a:lstStyle>
          <a:p>
            <a:r>
              <a:rPr lang="en-US" sz="2800" kern="0"/>
              <a:t>IV. KHÔI PHỤC MẬT KHẨU CHO ROUTER</a:t>
            </a:r>
            <a:endParaRPr lang="en-US" kern="0" dirty="0"/>
          </a:p>
        </p:txBody>
      </p:sp>
    </p:spTree>
    <p:extLst>
      <p:ext uri="{BB962C8B-B14F-4D97-AF65-F5344CB8AC3E}">
        <p14:creationId xmlns:p14="http://schemas.microsoft.com/office/powerpoint/2010/main" val="3138808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22" dur="250" autoRev="1" fill="remove"/>
                                        <p:tgtEl>
                                          <p:spTgt spid="20"/>
                                        </p:tgtEl>
                                        <p:attrNameLst>
                                          <p:attrName>style.color</p:attrName>
                                        </p:attrNameLst>
                                      </p:cBhvr>
                                      <p:to>
                                        <a:schemeClr val="bg1"/>
                                      </p:to>
                                    </p:animClr>
                                    <p:animClr clrSpc="rgb" dir="cw">
                                      <p:cBhvr>
                                        <p:cTn id="23" dur="250" autoRev="1" fill="remove"/>
                                        <p:tgtEl>
                                          <p:spTgt spid="20"/>
                                        </p:tgtEl>
                                        <p:attrNameLst>
                                          <p:attrName>fillcolor</p:attrName>
                                        </p:attrNameLst>
                                      </p:cBhvr>
                                      <p:to>
                                        <a:schemeClr val="bg1"/>
                                      </p:to>
                                    </p:animClr>
                                    <p:set>
                                      <p:cBhvr>
                                        <p:cTn id="24" dur="250" autoRev="1" fill="remove"/>
                                        <p:tgtEl>
                                          <p:spTgt spid="20"/>
                                        </p:tgtEl>
                                        <p:attrNameLst>
                                          <p:attrName>fill.type</p:attrName>
                                        </p:attrNameLst>
                                      </p:cBhvr>
                                      <p:to>
                                        <p:strVal val="solid"/>
                                      </p:to>
                                    </p:set>
                                    <p:set>
                                      <p:cBhvr>
                                        <p:cTn id="25" dur="250" autoRev="1" fill="remove"/>
                                        <p:tgtEl>
                                          <p:spTgt spid="20"/>
                                        </p:tgtEl>
                                        <p:attrNameLst>
                                          <p:attrName>fill.on</p:attrName>
                                        </p:attrNameLst>
                                      </p:cBhvr>
                                      <p:to>
                                        <p:strVal val="true"/>
                                      </p:to>
                                    </p:set>
                                  </p:childTnLst>
                                </p:cTn>
                              </p:par>
                            </p:childTnLst>
                          </p:cTn>
                        </p:par>
                      </p:childTnLst>
                    </p:cTn>
                  </p:par>
                  <p:par>
                    <p:cTn id="26" fill="hold">
                      <p:stCondLst>
                        <p:cond delay="indefinite"/>
                      </p:stCondLst>
                      <p:childTnLst>
                        <p:par>
                          <p:cTn id="27" fill="hold">
                            <p:stCondLst>
                              <p:cond delay="0"/>
                            </p:stCondLst>
                            <p:childTnLst>
                              <p:par>
                                <p:cTn id="28"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29" dur="250" autoRev="1" fill="remove"/>
                                        <p:tgtEl>
                                          <p:spTgt spid="21"/>
                                        </p:tgtEl>
                                        <p:attrNameLst>
                                          <p:attrName>style.color</p:attrName>
                                        </p:attrNameLst>
                                      </p:cBhvr>
                                      <p:to>
                                        <a:schemeClr val="bg1"/>
                                      </p:to>
                                    </p:animClr>
                                    <p:animClr clrSpc="rgb" dir="cw">
                                      <p:cBhvr>
                                        <p:cTn id="30" dur="250" autoRev="1" fill="remove"/>
                                        <p:tgtEl>
                                          <p:spTgt spid="21"/>
                                        </p:tgtEl>
                                        <p:attrNameLst>
                                          <p:attrName>fillcolor</p:attrName>
                                        </p:attrNameLst>
                                      </p:cBhvr>
                                      <p:to>
                                        <a:schemeClr val="bg1"/>
                                      </p:to>
                                    </p:animClr>
                                    <p:set>
                                      <p:cBhvr>
                                        <p:cTn id="31" dur="250" autoRev="1" fill="remove"/>
                                        <p:tgtEl>
                                          <p:spTgt spid="21"/>
                                        </p:tgtEl>
                                        <p:attrNameLst>
                                          <p:attrName>fill.type</p:attrName>
                                        </p:attrNameLst>
                                      </p:cBhvr>
                                      <p:to>
                                        <p:strVal val="solid"/>
                                      </p:to>
                                    </p:set>
                                    <p:set>
                                      <p:cBhvr>
                                        <p:cTn id="32" dur="250" autoRev="1" fill="remove"/>
                                        <p:tgtEl>
                                          <p:spTgt spid="21"/>
                                        </p:tgtEl>
                                        <p:attrNameLst>
                                          <p:attrName>fill.on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up)">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41" dur="250" autoRev="1" fill="remove"/>
                                        <p:tgtEl>
                                          <p:spTgt spid="19"/>
                                        </p:tgtEl>
                                        <p:attrNameLst>
                                          <p:attrName>style.color</p:attrName>
                                        </p:attrNameLst>
                                      </p:cBhvr>
                                      <p:to>
                                        <a:schemeClr val="bg1"/>
                                      </p:to>
                                    </p:animClr>
                                    <p:animClr clrSpc="rgb" dir="cw">
                                      <p:cBhvr>
                                        <p:cTn id="42" dur="250" autoRev="1" fill="remove"/>
                                        <p:tgtEl>
                                          <p:spTgt spid="19"/>
                                        </p:tgtEl>
                                        <p:attrNameLst>
                                          <p:attrName>fillcolor</p:attrName>
                                        </p:attrNameLst>
                                      </p:cBhvr>
                                      <p:to>
                                        <a:schemeClr val="bg1"/>
                                      </p:to>
                                    </p:animClr>
                                    <p:set>
                                      <p:cBhvr>
                                        <p:cTn id="43" dur="250" autoRev="1" fill="remove"/>
                                        <p:tgtEl>
                                          <p:spTgt spid="19"/>
                                        </p:tgtEl>
                                        <p:attrNameLst>
                                          <p:attrName>fill.type</p:attrName>
                                        </p:attrNameLst>
                                      </p:cBhvr>
                                      <p:to>
                                        <p:strVal val="solid"/>
                                      </p:to>
                                    </p:set>
                                    <p:set>
                                      <p:cBhvr>
                                        <p:cTn id="44" dur="250" autoRev="1" fill="remove"/>
                                        <p:tgtEl>
                                          <p:spTgt spid="19"/>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48" dur="250" autoRev="1" fill="remove"/>
                                        <p:tgtEl>
                                          <p:spTgt spid="17"/>
                                        </p:tgtEl>
                                        <p:attrNameLst>
                                          <p:attrName>style.color</p:attrName>
                                        </p:attrNameLst>
                                      </p:cBhvr>
                                      <p:to>
                                        <a:schemeClr val="bg1"/>
                                      </p:to>
                                    </p:animClr>
                                    <p:animClr clrSpc="rgb" dir="cw">
                                      <p:cBhvr>
                                        <p:cTn id="49" dur="250" autoRev="1" fill="remove"/>
                                        <p:tgtEl>
                                          <p:spTgt spid="17"/>
                                        </p:tgtEl>
                                        <p:attrNameLst>
                                          <p:attrName>fillcolor</p:attrName>
                                        </p:attrNameLst>
                                      </p:cBhvr>
                                      <p:to>
                                        <a:schemeClr val="bg1"/>
                                      </p:to>
                                    </p:animClr>
                                    <p:set>
                                      <p:cBhvr>
                                        <p:cTn id="50" dur="250" autoRev="1" fill="remove"/>
                                        <p:tgtEl>
                                          <p:spTgt spid="17"/>
                                        </p:tgtEl>
                                        <p:attrNameLst>
                                          <p:attrName>fill.type</p:attrName>
                                        </p:attrNameLst>
                                      </p:cBhvr>
                                      <p:to>
                                        <p:strVal val="solid"/>
                                      </p:to>
                                    </p:set>
                                    <p:set>
                                      <p:cBhvr>
                                        <p:cTn id="51" dur="250" autoRev="1" fill="remove"/>
                                        <p:tgtEl>
                                          <p:spTgt spid="17"/>
                                        </p:tgtEl>
                                        <p:attrNameLst>
                                          <p:attrName>fill.on</p:attrName>
                                        </p:attrNameLst>
                                      </p:cBhvr>
                                      <p:to>
                                        <p:strVal val="true"/>
                                      </p:to>
                                    </p:se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down)">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1"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heel(1)">
                                      <p:cBhvr>
                                        <p:cTn id="60"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19" grpId="1" animBg="1"/>
      <p:bldP spid="20" grpId="0" animBg="1"/>
      <p:bldP spid="20" grpId="1" animBg="1"/>
      <p:bldP spid="21" grpId="0" animBg="1"/>
      <p:bldP spid="21" grpId="1" animBg="1"/>
      <p:bldP spid="22" grpId="0" animBg="1"/>
      <p:bldP spid="23" grpId="0" animBg="1"/>
      <p:bldP spid="2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523999" y="266701"/>
            <a:ext cx="9706377" cy="487363"/>
          </a:xfrm>
        </p:spPr>
        <p:txBody>
          <a:bodyPr/>
          <a:lstStyle/>
          <a:p>
            <a:r>
              <a:rPr lang="en-US" dirty="0"/>
              <a:t>IV. KHÔI PHỤC MẬT KHẨU CHO ROUTER</a:t>
            </a:r>
          </a:p>
        </p:txBody>
      </p:sp>
      <p:sp>
        <p:nvSpPr>
          <p:cNvPr id="33795" name="Content Placeholder 2"/>
          <p:cNvSpPr>
            <a:spLocks noGrp="1"/>
          </p:cNvSpPr>
          <p:nvPr>
            <p:ph idx="1"/>
          </p:nvPr>
        </p:nvSpPr>
        <p:spPr>
          <a:xfrm>
            <a:off x="1676400" y="1219200"/>
            <a:ext cx="8763000" cy="5105400"/>
          </a:xfrm>
        </p:spPr>
        <p:txBody>
          <a:bodyPr/>
          <a:lstStyle/>
          <a:p>
            <a:pPr lvl="1" algn="just">
              <a:spcBef>
                <a:spcPts val="1200"/>
              </a:spcBef>
            </a:pPr>
            <a:r>
              <a:rPr lang="en-US" sz="2400"/>
              <a:t>Việc bỏ qua cấu hình được thực hiện bằng cách sửa đổi nội dung thanh ghi cấu hình </a:t>
            </a:r>
            <a:r>
              <a:rPr lang="en-US" sz="2400" i="1">
                <a:solidFill>
                  <a:srgbClr val="FF0000"/>
                </a:solidFill>
              </a:rPr>
              <a:t>(configuration register)</a:t>
            </a:r>
            <a:r>
              <a:rPr lang="en-US" sz="2400" i="1"/>
              <a:t> </a:t>
            </a:r>
            <a:r>
              <a:rPr lang="en-US" sz="2400"/>
              <a:t>router</a:t>
            </a:r>
          </a:p>
          <a:p>
            <a:pPr lvl="1" algn="just">
              <a:spcBef>
                <a:spcPts val="1200"/>
              </a:spcBef>
            </a:pPr>
            <a:r>
              <a:rPr lang="en-US" sz="2400"/>
              <a:t>Lúc này: Router sẽ không cấu hình chứa mật khẩu cần phục hồi.</a:t>
            </a:r>
          </a:p>
          <a:p>
            <a:pPr lvl="1" algn="just">
              <a:spcBef>
                <a:spcPts val="1200"/>
              </a:spcBef>
            </a:pPr>
            <a:r>
              <a:rPr lang="en-US" sz="2400"/>
              <a:t>Khi đã vào được router, người dùng có thể xem mật khẩu trong NVRAM và có thể sử dụng, xóa hay thay đổi chúng.</a:t>
            </a:r>
          </a:p>
          <a:p>
            <a:pPr lvl="1" algn="just">
              <a:spcBef>
                <a:spcPts val="1200"/>
              </a:spcBef>
            </a:pPr>
            <a:r>
              <a:rPr lang="en-US" sz="2400"/>
              <a:t>Thực hiện sửa đổi nội dung thanh ghi cấu hình</a:t>
            </a:r>
          </a:p>
          <a:p>
            <a:pPr lvl="1" algn="ctr">
              <a:spcBef>
                <a:spcPts val="1200"/>
              </a:spcBef>
              <a:buNone/>
            </a:pPr>
            <a:r>
              <a:rPr lang="en-US" sz="2400" b="1"/>
              <a:t>0x2102 -&gt; 0x2142</a:t>
            </a:r>
          </a:p>
          <a:p>
            <a:pPr lvl="1" algn="just">
              <a:spcBef>
                <a:spcPts val="1200"/>
              </a:spcBef>
            </a:pPr>
            <a:r>
              <a:rPr lang="en-US" sz="2400"/>
              <a:t>Việc  phục hồi mật khẩu(Password Recovery) khác nhau đối với các dòng router</a:t>
            </a:r>
          </a:p>
          <a:p>
            <a:pPr lvl="1" algn="just">
              <a:lnSpc>
                <a:spcPct val="150000"/>
              </a:lnSpc>
              <a:buFont typeface="Wingdings" panose="05000000000000000000" pitchFamily="2" charset="2"/>
              <a:buNone/>
            </a:pPr>
            <a:r>
              <a:rPr lang="en-US" sz="2400"/>
              <a:t>				</a:t>
            </a:r>
          </a:p>
          <a:p>
            <a:pPr lvl="1" algn="just">
              <a:lnSpc>
                <a:spcPct val="150000"/>
              </a:lnSpc>
              <a:buFont typeface="Wingdings" panose="05000000000000000000" pitchFamily="2" charset="2"/>
              <a:buNone/>
            </a:pPr>
            <a:endParaRPr lang="en-US" sz="2400"/>
          </a:p>
          <a:p>
            <a:pPr lvl="1" algn="just"/>
            <a:endParaRPr lang="en-US" sz="2400" b="1"/>
          </a:p>
        </p:txBody>
      </p:sp>
    </p:spTree>
    <p:extLst>
      <p:ext uri="{BB962C8B-B14F-4D97-AF65-F5344CB8AC3E}">
        <p14:creationId xmlns:p14="http://schemas.microsoft.com/office/powerpoint/2010/main" val="24250382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523999" y="266701"/>
            <a:ext cx="9912439" cy="487363"/>
          </a:xfrm>
        </p:spPr>
        <p:txBody>
          <a:bodyPr/>
          <a:lstStyle/>
          <a:p>
            <a:r>
              <a:rPr lang="en-US" dirty="0"/>
              <a:t>IV. KHÔI PHỤC MẬT KHẨU CHO ROUTER</a:t>
            </a:r>
          </a:p>
        </p:txBody>
      </p:sp>
      <p:sp>
        <p:nvSpPr>
          <p:cNvPr id="29699" name="Content Placeholder 2"/>
          <p:cNvSpPr>
            <a:spLocks noGrp="1"/>
          </p:cNvSpPr>
          <p:nvPr>
            <p:ph idx="1"/>
          </p:nvPr>
        </p:nvSpPr>
        <p:spPr>
          <a:xfrm>
            <a:off x="695459" y="1066800"/>
            <a:ext cx="11088710" cy="5334000"/>
          </a:xfrm>
        </p:spPr>
        <p:txBody>
          <a:bodyPr/>
          <a:lstStyle/>
          <a:p>
            <a:pPr algn="just">
              <a:defRPr/>
            </a:pPr>
            <a:r>
              <a:rPr lang="en-US" u="sng" dirty="0" err="1"/>
              <a:t>Thực</a:t>
            </a:r>
            <a:r>
              <a:rPr lang="en-US" u="sng" dirty="0"/>
              <a:t> </a:t>
            </a:r>
            <a:r>
              <a:rPr lang="en-US" u="sng" dirty="0" err="1"/>
              <a:t>hiện</a:t>
            </a:r>
            <a:r>
              <a:rPr lang="en-US" dirty="0"/>
              <a:t>: (</a:t>
            </a:r>
            <a:r>
              <a:rPr lang="en-US" dirty="0" err="1"/>
              <a:t>Nối</a:t>
            </a:r>
            <a:r>
              <a:rPr lang="en-US" dirty="0"/>
              <a:t> console </a:t>
            </a:r>
            <a:r>
              <a:rPr lang="en-US" dirty="0" err="1"/>
              <a:t>vào</a:t>
            </a:r>
            <a:r>
              <a:rPr lang="en-US" dirty="0"/>
              <a:t> router)</a:t>
            </a:r>
          </a:p>
          <a:p>
            <a:pPr lvl="1" algn="just">
              <a:spcBef>
                <a:spcPts val="1200"/>
              </a:spcBef>
              <a:defRPr/>
            </a:pPr>
            <a:r>
              <a:rPr lang="en-US" sz="2400" dirty="0" err="1"/>
              <a:t>Tắt</a:t>
            </a:r>
            <a:r>
              <a:rPr lang="en-US" sz="2400" dirty="0"/>
              <a:t> router </a:t>
            </a:r>
            <a:r>
              <a:rPr lang="en-US" sz="2400" dirty="0" err="1"/>
              <a:t>và</a:t>
            </a:r>
            <a:r>
              <a:rPr lang="en-US" sz="2400" dirty="0"/>
              <a:t> </a:t>
            </a:r>
            <a:r>
              <a:rPr lang="en-US" sz="2400" dirty="0" err="1"/>
              <a:t>bật</a:t>
            </a:r>
            <a:r>
              <a:rPr lang="en-US" sz="2400" dirty="0"/>
              <a:t> </a:t>
            </a:r>
            <a:r>
              <a:rPr lang="en-US" sz="2400" dirty="0" err="1"/>
              <a:t>lại</a:t>
            </a:r>
            <a:endParaRPr lang="en-US" sz="2400" dirty="0"/>
          </a:p>
          <a:p>
            <a:pPr lvl="1" algn="just">
              <a:spcBef>
                <a:spcPts val="1200"/>
              </a:spcBef>
              <a:defRPr/>
            </a:pPr>
            <a:r>
              <a:rPr lang="en-US" sz="2400" dirty="0" err="1"/>
              <a:t>Khởi</a:t>
            </a:r>
            <a:r>
              <a:rPr lang="en-US" sz="2400" dirty="0"/>
              <a:t> </a:t>
            </a:r>
            <a:r>
              <a:rPr lang="en-US" sz="2400" dirty="0" err="1"/>
              <a:t>động</a:t>
            </a:r>
            <a:r>
              <a:rPr lang="en-US" sz="2400" dirty="0"/>
              <a:t> router, </a:t>
            </a:r>
            <a:r>
              <a:rPr lang="en-US" sz="2400" dirty="0" err="1"/>
              <a:t>ngăn</a:t>
            </a:r>
            <a:r>
              <a:rPr lang="en-US" sz="2400" dirty="0"/>
              <a:t> </a:t>
            </a:r>
            <a:r>
              <a:rPr lang="en-US" sz="2400" dirty="0" err="1"/>
              <a:t>không</a:t>
            </a:r>
            <a:r>
              <a:rPr lang="en-US" sz="2400" dirty="0"/>
              <a:t> </a:t>
            </a:r>
            <a:r>
              <a:rPr lang="en-US" sz="2400" dirty="0" err="1"/>
              <a:t>cho</a:t>
            </a:r>
            <a:r>
              <a:rPr lang="en-US" sz="2400" dirty="0"/>
              <a:t> router </a:t>
            </a:r>
            <a:r>
              <a:rPr lang="en-US" sz="2400" dirty="0" err="1"/>
              <a:t>nạp</a:t>
            </a:r>
            <a:r>
              <a:rPr lang="en-US" sz="2400" dirty="0"/>
              <a:t> </a:t>
            </a:r>
            <a:r>
              <a:rPr lang="en-US" sz="2400" dirty="0" err="1"/>
              <a:t>cấu</a:t>
            </a:r>
            <a:r>
              <a:rPr lang="en-US" sz="2400" dirty="0"/>
              <a:t> </a:t>
            </a:r>
            <a:r>
              <a:rPr lang="en-US" sz="2400" dirty="0" err="1"/>
              <a:t>hình</a:t>
            </a:r>
            <a:r>
              <a:rPr lang="en-US" sz="2400" dirty="0"/>
              <a:t> </a:t>
            </a:r>
            <a:r>
              <a:rPr lang="en-US" sz="2400" dirty="0" err="1"/>
              <a:t>trong</a:t>
            </a:r>
            <a:r>
              <a:rPr lang="en-US" sz="2400" dirty="0"/>
              <a:t> NVRAM (</a:t>
            </a:r>
            <a:r>
              <a:rPr lang="en-US" sz="2400" dirty="0" err="1"/>
              <a:t>bằng</a:t>
            </a:r>
            <a:r>
              <a:rPr lang="en-US" sz="2400" dirty="0"/>
              <a:t> </a:t>
            </a:r>
            <a:r>
              <a:rPr lang="en-US" sz="2400" dirty="0" err="1"/>
              <a:t>cách</a:t>
            </a:r>
            <a:r>
              <a:rPr lang="en-US" sz="2400" dirty="0"/>
              <a:t> </a:t>
            </a:r>
            <a:r>
              <a:rPr lang="en-US" sz="2400" dirty="0" err="1"/>
              <a:t>thay</a:t>
            </a:r>
            <a:r>
              <a:rPr lang="en-US" sz="2400" dirty="0"/>
              <a:t> </a:t>
            </a:r>
            <a:r>
              <a:rPr lang="en-US" sz="2400" dirty="0" err="1"/>
              <a:t>đổi</a:t>
            </a:r>
            <a:r>
              <a:rPr lang="en-US" sz="2400" dirty="0"/>
              <a:t> </a:t>
            </a:r>
            <a:r>
              <a:rPr lang="en-US" sz="2400" dirty="0" err="1"/>
              <a:t>thanh</a:t>
            </a:r>
            <a:r>
              <a:rPr lang="en-US" sz="2400" dirty="0"/>
              <a:t> </a:t>
            </a:r>
            <a:r>
              <a:rPr lang="en-US" sz="2400" dirty="0" err="1"/>
              <a:t>ghi</a:t>
            </a:r>
            <a:r>
              <a:rPr lang="en-US" sz="2400" dirty="0"/>
              <a:t> </a:t>
            </a:r>
            <a:r>
              <a:rPr lang="en-US" sz="2400" dirty="0" err="1"/>
              <a:t>từ</a:t>
            </a:r>
            <a:r>
              <a:rPr lang="en-US" sz="2400" dirty="0"/>
              <a:t> 0x2102 sang 0x2142.</a:t>
            </a:r>
          </a:p>
          <a:p>
            <a:pPr lvl="1" algn="just">
              <a:spcBef>
                <a:spcPts val="1200"/>
              </a:spcBef>
              <a:defRPr/>
            </a:pPr>
            <a:r>
              <a:rPr lang="en-US" sz="2400" dirty="0"/>
              <a:t>Reset </a:t>
            </a:r>
            <a:r>
              <a:rPr lang="en-US" sz="2400" dirty="0" err="1"/>
              <a:t>lại</a:t>
            </a:r>
            <a:r>
              <a:rPr lang="en-US" sz="2400" dirty="0"/>
              <a:t> router (</a:t>
            </a:r>
            <a:r>
              <a:rPr lang="en-US" sz="2400" dirty="0" err="1"/>
              <a:t>lúc</a:t>
            </a:r>
            <a:r>
              <a:rPr lang="en-US" sz="2400" dirty="0"/>
              <a:t> </a:t>
            </a:r>
            <a:r>
              <a:rPr lang="en-US" sz="2400" dirty="0" err="1"/>
              <a:t>này</a:t>
            </a:r>
            <a:r>
              <a:rPr lang="en-US" sz="2400" dirty="0"/>
              <a:t> router </a:t>
            </a:r>
            <a:r>
              <a:rPr lang="en-US" sz="2400" dirty="0" err="1"/>
              <a:t>sử</a:t>
            </a:r>
            <a:r>
              <a:rPr lang="en-US" sz="2400" dirty="0"/>
              <a:t> </a:t>
            </a:r>
            <a:r>
              <a:rPr lang="en-US" sz="2400" dirty="0" err="1"/>
              <a:t>dụng</a:t>
            </a:r>
            <a:r>
              <a:rPr lang="en-US" sz="2400" dirty="0"/>
              <a:t> </a:t>
            </a:r>
            <a:r>
              <a:rPr lang="en-US" sz="2400" dirty="0" err="1"/>
              <a:t>thanh</a:t>
            </a:r>
            <a:r>
              <a:rPr lang="en-US" sz="2400" dirty="0"/>
              <a:t> </a:t>
            </a:r>
            <a:r>
              <a:rPr lang="en-US" sz="2400" dirty="0" err="1"/>
              <a:t>ghi</a:t>
            </a:r>
            <a:r>
              <a:rPr lang="en-US" sz="2400" dirty="0"/>
              <a:t> 0x2142 </a:t>
            </a:r>
            <a:r>
              <a:rPr lang="en-US" sz="2400" dirty="0" err="1"/>
              <a:t>để</a:t>
            </a:r>
            <a:r>
              <a:rPr lang="en-US" sz="2400" dirty="0"/>
              <a:t> </a:t>
            </a:r>
            <a:r>
              <a:rPr lang="en-US" sz="2400" dirty="0" err="1"/>
              <a:t>khởi</a:t>
            </a:r>
            <a:r>
              <a:rPr lang="en-US" sz="2400" dirty="0"/>
              <a:t> </a:t>
            </a:r>
            <a:r>
              <a:rPr lang="en-US" sz="2400" dirty="0" err="1"/>
              <a:t>động</a:t>
            </a:r>
            <a:r>
              <a:rPr lang="en-US" sz="2400" dirty="0"/>
              <a:t>)</a:t>
            </a:r>
          </a:p>
          <a:p>
            <a:pPr lvl="1" algn="just">
              <a:spcBef>
                <a:spcPts val="1200"/>
              </a:spcBef>
              <a:defRPr/>
            </a:pPr>
            <a:r>
              <a:rPr lang="en-US" sz="2400" dirty="0" err="1"/>
              <a:t>Đăng</a:t>
            </a:r>
            <a:r>
              <a:rPr lang="en-US" sz="2400" dirty="0"/>
              <a:t> </a:t>
            </a:r>
            <a:r>
              <a:rPr lang="en-US" sz="2400" dirty="0" err="1"/>
              <a:t>nhập</a:t>
            </a:r>
            <a:r>
              <a:rPr lang="en-US" sz="2400" dirty="0"/>
              <a:t> </a:t>
            </a:r>
            <a:r>
              <a:rPr lang="en-US" sz="2400" dirty="0" err="1"/>
              <a:t>vào</a:t>
            </a:r>
            <a:r>
              <a:rPr lang="en-US" sz="2400" dirty="0"/>
              <a:t> router(</a:t>
            </a:r>
            <a:r>
              <a:rPr lang="en-US" sz="2400" dirty="0" err="1"/>
              <a:t>Xem</a:t>
            </a:r>
            <a:r>
              <a:rPr lang="en-US" sz="2400" dirty="0"/>
              <a:t> </a:t>
            </a:r>
            <a:r>
              <a:rPr lang="en-US" sz="2400" dirty="0" err="1"/>
              <a:t>và</a:t>
            </a:r>
            <a:r>
              <a:rPr lang="en-US" sz="2400" dirty="0"/>
              <a:t> </a:t>
            </a:r>
            <a:r>
              <a:rPr lang="en-US" sz="2400" dirty="0" err="1"/>
              <a:t>cài</a:t>
            </a:r>
            <a:r>
              <a:rPr lang="en-US" sz="2400" dirty="0"/>
              <a:t> </a:t>
            </a:r>
            <a:r>
              <a:rPr lang="en-US" sz="2400" dirty="0" err="1"/>
              <a:t>lại</a:t>
            </a:r>
            <a:r>
              <a:rPr lang="en-US" sz="2400" dirty="0"/>
              <a:t> </a:t>
            </a:r>
            <a:r>
              <a:rPr lang="en-US" sz="2400" dirty="0" err="1"/>
              <a:t>mật</a:t>
            </a:r>
            <a:r>
              <a:rPr lang="en-US" sz="2400" dirty="0"/>
              <a:t> </a:t>
            </a:r>
            <a:r>
              <a:rPr lang="en-US" sz="2400" dirty="0" err="1"/>
              <a:t>khẩu</a:t>
            </a:r>
            <a:r>
              <a:rPr lang="en-US" sz="2400" dirty="0"/>
              <a:t>)</a:t>
            </a:r>
          </a:p>
          <a:p>
            <a:pPr lvl="1" algn="just">
              <a:spcBef>
                <a:spcPts val="1200"/>
              </a:spcBef>
              <a:defRPr/>
            </a:pPr>
            <a:r>
              <a:rPr lang="en-US" sz="2400" dirty="0" err="1"/>
              <a:t>Thay</a:t>
            </a:r>
            <a:r>
              <a:rPr lang="en-US" sz="2400" dirty="0"/>
              <a:t> </a:t>
            </a:r>
            <a:r>
              <a:rPr lang="en-US" sz="2400" dirty="0" err="1"/>
              <a:t>đổi</a:t>
            </a:r>
            <a:r>
              <a:rPr lang="en-US" sz="2400" dirty="0"/>
              <a:t> </a:t>
            </a:r>
            <a:r>
              <a:rPr lang="en-US" sz="2400" dirty="0" err="1"/>
              <a:t>thanh</a:t>
            </a:r>
            <a:r>
              <a:rPr lang="en-US" sz="2400" dirty="0"/>
              <a:t> </a:t>
            </a:r>
            <a:r>
              <a:rPr lang="en-US" sz="2400" dirty="0" err="1"/>
              <a:t>ghi</a:t>
            </a:r>
            <a:r>
              <a:rPr lang="en-US" sz="2400" dirty="0"/>
              <a:t> (0x2142 sang 0x2102)</a:t>
            </a:r>
          </a:p>
          <a:p>
            <a:pPr lvl="1" algn="just">
              <a:spcBef>
                <a:spcPts val="1200"/>
              </a:spcBef>
              <a:defRPr/>
            </a:pPr>
            <a:r>
              <a:rPr lang="en-US" sz="2400" dirty="0" err="1"/>
              <a:t>Lưu</a:t>
            </a:r>
            <a:r>
              <a:rPr lang="en-US" sz="2400" dirty="0"/>
              <a:t> </a:t>
            </a:r>
            <a:r>
              <a:rPr lang="en-US" sz="2400" dirty="0" err="1"/>
              <a:t>lại</a:t>
            </a:r>
            <a:r>
              <a:rPr lang="en-US" sz="2400" dirty="0"/>
              <a:t> </a:t>
            </a:r>
            <a:r>
              <a:rPr lang="en-US" sz="2400" dirty="0" err="1"/>
              <a:t>cấu</a:t>
            </a:r>
            <a:r>
              <a:rPr lang="en-US" sz="2400" dirty="0"/>
              <a:t> </a:t>
            </a:r>
            <a:r>
              <a:rPr lang="en-US" sz="2400" dirty="0" err="1"/>
              <a:t>hình</a:t>
            </a:r>
            <a:r>
              <a:rPr lang="en-US" sz="2400" dirty="0"/>
              <a:t> </a:t>
            </a:r>
            <a:r>
              <a:rPr lang="en-US" sz="2400" dirty="0" err="1"/>
              <a:t>vừa</a:t>
            </a:r>
            <a:r>
              <a:rPr lang="en-US" sz="2400" dirty="0"/>
              <a:t> </a:t>
            </a:r>
            <a:r>
              <a:rPr lang="en-US" sz="2400" dirty="0" err="1"/>
              <a:t>cài</a:t>
            </a:r>
            <a:r>
              <a:rPr lang="en-US" sz="2400" dirty="0"/>
              <a:t> </a:t>
            </a:r>
            <a:r>
              <a:rPr lang="en-US" sz="2400" dirty="0" err="1"/>
              <a:t>đặt</a:t>
            </a:r>
            <a:r>
              <a:rPr lang="en-US" sz="2400" dirty="0"/>
              <a:t>.</a:t>
            </a:r>
          </a:p>
          <a:p>
            <a:pPr lvl="1" algn="just">
              <a:buNone/>
              <a:defRPr/>
            </a:pPr>
            <a:r>
              <a:rPr lang="en-US" sz="2000" b="1" i="1" dirty="0" err="1">
                <a:solidFill>
                  <a:srgbClr val="FF0000"/>
                </a:solidFill>
                <a:effectLst>
                  <a:outerShdw blurRad="38100" dist="38100" dir="2700000" algn="tl">
                    <a:srgbClr val="000000">
                      <a:alpha val="43137"/>
                    </a:srgbClr>
                  </a:outerShdw>
                </a:effectLst>
              </a:rPr>
              <a:t>Lưu</a:t>
            </a:r>
            <a:r>
              <a:rPr lang="en-US" sz="2000" b="1" i="1" dirty="0">
                <a:solidFill>
                  <a:srgbClr val="FF0000"/>
                </a:solidFill>
                <a:effectLst>
                  <a:outerShdw blurRad="38100" dist="38100" dir="2700000" algn="tl">
                    <a:srgbClr val="000000">
                      <a:alpha val="43137"/>
                    </a:srgbClr>
                  </a:outerShdw>
                </a:effectLst>
              </a:rPr>
              <a:t> ý: </a:t>
            </a:r>
            <a:r>
              <a:rPr lang="en-US" sz="2000" b="1" i="1" dirty="0" err="1">
                <a:solidFill>
                  <a:srgbClr val="FF0000"/>
                </a:solidFill>
                <a:effectLst>
                  <a:outerShdw blurRad="38100" dist="38100" dir="2700000" algn="tl">
                    <a:srgbClr val="000000">
                      <a:alpha val="43137"/>
                    </a:srgbClr>
                  </a:outerShdw>
                </a:effectLst>
              </a:rPr>
              <a:t>Khôi</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phục</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mật</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khẩu</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chỉ</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có</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thể</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thực</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hiện</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trên</a:t>
            </a:r>
            <a:r>
              <a:rPr lang="en-US" sz="2000" b="1" i="1" dirty="0">
                <a:solidFill>
                  <a:srgbClr val="FF0000"/>
                </a:solidFill>
                <a:effectLst>
                  <a:outerShdw blurRad="38100" dist="38100" dir="2700000" algn="tl">
                    <a:srgbClr val="000000">
                      <a:alpha val="43137"/>
                    </a:srgbClr>
                  </a:outerShdw>
                </a:effectLst>
              </a:rPr>
              <a:t> terminal(PC) </a:t>
            </a:r>
            <a:r>
              <a:rPr lang="en-US" sz="2000" b="1" i="1" dirty="0" err="1">
                <a:solidFill>
                  <a:srgbClr val="FF0000"/>
                </a:solidFill>
                <a:effectLst>
                  <a:outerShdw blurRad="38100" dist="38100" dir="2700000" algn="tl">
                    <a:srgbClr val="000000">
                      <a:alpha val="43137"/>
                    </a:srgbClr>
                  </a:outerShdw>
                </a:effectLst>
              </a:rPr>
              <a:t>gắn</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trực</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tiếp</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với</a:t>
            </a:r>
            <a:r>
              <a:rPr lang="en-US" sz="2000" b="1" i="1" dirty="0">
                <a:solidFill>
                  <a:srgbClr val="FF0000"/>
                </a:solidFill>
                <a:effectLst>
                  <a:outerShdw blurRad="38100" dist="38100" dir="2700000" algn="tl">
                    <a:srgbClr val="000000">
                      <a:alpha val="43137"/>
                    </a:srgbClr>
                  </a:outerShdw>
                </a:effectLst>
              </a:rPr>
              <a:t> </a:t>
            </a:r>
            <a:r>
              <a:rPr lang="en-US" sz="2000" b="1" i="1" dirty="0" err="1">
                <a:solidFill>
                  <a:srgbClr val="FF0000"/>
                </a:solidFill>
                <a:effectLst>
                  <a:outerShdw blurRad="38100" dist="38100" dir="2700000" algn="tl">
                    <a:srgbClr val="000000">
                      <a:alpha val="43137"/>
                    </a:srgbClr>
                  </a:outerShdw>
                </a:effectLst>
              </a:rPr>
              <a:t>cổng</a:t>
            </a:r>
            <a:r>
              <a:rPr lang="en-US" sz="2000" b="1" i="1" dirty="0">
                <a:solidFill>
                  <a:srgbClr val="FF0000"/>
                </a:solidFill>
                <a:effectLst>
                  <a:outerShdw blurRad="38100" dist="38100" dir="2700000" algn="tl">
                    <a:srgbClr val="000000">
                      <a:alpha val="43137"/>
                    </a:srgbClr>
                  </a:outerShdw>
                </a:effectLst>
              </a:rPr>
              <a:t> console </a:t>
            </a:r>
            <a:r>
              <a:rPr lang="en-US" sz="2000" b="1" i="1" dirty="0" err="1">
                <a:solidFill>
                  <a:srgbClr val="FF0000"/>
                </a:solidFill>
                <a:effectLst>
                  <a:outerShdw blurRad="38100" dist="38100" dir="2700000" algn="tl">
                    <a:srgbClr val="000000">
                      <a:alpha val="43137"/>
                    </a:srgbClr>
                  </a:outerShdw>
                </a:effectLst>
              </a:rPr>
              <a:t>của</a:t>
            </a:r>
            <a:r>
              <a:rPr lang="en-US" sz="2000" b="1" i="1" dirty="0">
                <a:solidFill>
                  <a:srgbClr val="FF0000"/>
                </a:solidFill>
                <a:effectLst>
                  <a:outerShdw blurRad="38100" dist="38100" dir="2700000" algn="tl">
                    <a:srgbClr val="000000">
                      <a:alpha val="43137"/>
                    </a:srgbClr>
                  </a:outerShdw>
                </a:effectLst>
              </a:rPr>
              <a:t> router</a:t>
            </a:r>
          </a:p>
          <a:p>
            <a:pPr lvl="1">
              <a:buFont typeface="Wingdings" panose="05000000000000000000" pitchFamily="2" charset="2"/>
              <a:buNone/>
              <a:defRPr/>
            </a:pPr>
            <a:endParaRPr lang="en-US" sz="2400" dirty="0"/>
          </a:p>
          <a:p>
            <a:pPr lvl="1" algn="just">
              <a:defRPr/>
            </a:pPr>
            <a:endParaRPr lang="en-US" u="sng" dirty="0"/>
          </a:p>
          <a:p>
            <a:pPr lvl="1" algn="just">
              <a:defRPr/>
            </a:pPr>
            <a:endParaRPr lang="en-US" dirty="0"/>
          </a:p>
          <a:p>
            <a:pPr lvl="1" algn="just">
              <a:defRPr/>
            </a:pPr>
            <a:endParaRPr lang="en-US" sz="2400" dirty="0"/>
          </a:p>
        </p:txBody>
      </p:sp>
    </p:spTree>
    <p:extLst>
      <p:ext uri="{BB962C8B-B14F-4D97-AF65-F5344CB8AC3E}">
        <p14:creationId xmlns:p14="http://schemas.microsoft.com/office/powerpoint/2010/main" val="23406971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524000" y="266701"/>
            <a:ext cx="9144000" cy="487363"/>
          </a:xfrm>
        </p:spPr>
        <p:txBody>
          <a:bodyPr/>
          <a:lstStyle/>
          <a:p>
            <a:r>
              <a:rPr lang="en-US" sz="2800" dirty="0"/>
              <a:t>IV. KHÔI PHỤC MẬT KHẨU CHO ROUTER</a:t>
            </a:r>
            <a:endParaRPr lang="en-US" dirty="0"/>
          </a:p>
        </p:txBody>
      </p:sp>
      <p:sp>
        <p:nvSpPr>
          <p:cNvPr id="35843" name="Content Placeholder 2"/>
          <p:cNvSpPr>
            <a:spLocks noGrp="1"/>
          </p:cNvSpPr>
          <p:nvPr>
            <p:ph idx="1"/>
          </p:nvPr>
        </p:nvSpPr>
        <p:spPr>
          <a:xfrm>
            <a:off x="373487" y="1066800"/>
            <a:ext cx="11629623" cy="5181600"/>
          </a:xfrm>
        </p:spPr>
        <p:txBody>
          <a:bodyPr/>
          <a:lstStyle/>
          <a:p>
            <a:pPr algn="just"/>
            <a:r>
              <a:rPr lang="en-US" sz="2000" u="sng" dirty="0" err="1"/>
              <a:t>Bước</a:t>
            </a:r>
            <a:r>
              <a:rPr lang="en-US" sz="2000" u="sng" dirty="0"/>
              <a:t> </a:t>
            </a:r>
            <a:r>
              <a:rPr lang="en-US" sz="2000" u="sng" dirty="0" err="1"/>
              <a:t>thực</a:t>
            </a:r>
            <a:r>
              <a:rPr lang="en-US" sz="2000" u="sng" dirty="0"/>
              <a:t> </a:t>
            </a:r>
            <a:r>
              <a:rPr lang="en-US" sz="2000" u="sng" dirty="0" err="1"/>
              <a:t>hiện</a:t>
            </a:r>
            <a:r>
              <a:rPr lang="en-US" sz="2000" u="sng" dirty="0"/>
              <a:t> </a:t>
            </a:r>
            <a:r>
              <a:rPr lang="en-US" sz="2000" u="sng" dirty="0" err="1"/>
              <a:t>khôi</a:t>
            </a:r>
            <a:r>
              <a:rPr lang="en-US" sz="2000" u="sng" dirty="0"/>
              <a:t> </a:t>
            </a:r>
            <a:r>
              <a:rPr lang="en-US" sz="2000" u="sng" dirty="0" err="1"/>
              <a:t>phục</a:t>
            </a:r>
            <a:r>
              <a:rPr lang="en-US" sz="2000" u="sng" dirty="0"/>
              <a:t> </a:t>
            </a:r>
            <a:r>
              <a:rPr lang="en-US" sz="2000" u="sng" dirty="0" err="1"/>
              <a:t>mật</a:t>
            </a:r>
            <a:r>
              <a:rPr lang="en-US" sz="2000" u="sng" dirty="0"/>
              <a:t> </a:t>
            </a:r>
            <a:r>
              <a:rPr lang="en-US" sz="2000" u="sng" dirty="0" err="1"/>
              <a:t>khẩu</a:t>
            </a:r>
            <a:r>
              <a:rPr lang="en-US" sz="2000" u="sng" dirty="0"/>
              <a:t> </a:t>
            </a:r>
            <a:r>
              <a:rPr lang="en-US" sz="2000" u="sng" dirty="0" err="1"/>
              <a:t>cho</a:t>
            </a:r>
            <a:r>
              <a:rPr lang="en-US" sz="2000" u="sng" dirty="0"/>
              <a:t> Router Cisco 2800</a:t>
            </a:r>
          </a:p>
          <a:p>
            <a:pPr lvl="1" algn="just">
              <a:spcBef>
                <a:spcPts val="1200"/>
              </a:spcBef>
            </a:pPr>
            <a:r>
              <a:rPr lang="en-US" sz="2000" dirty="0" err="1"/>
              <a:t>Tắt</a:t>
            </a:r>
            <a:r>
              <a:rPr lang="en-US" sz="2000" dirty="0"/>
              <a:t> router </a:t>
            </a:r>
            <a:r>
              <a:rPr lang="en-US" sz="2000" dirty="0" err="1"/>
              <a:t>và</a:t>
            </a:r>
            <a:r>
              <a:rPr lang="en-US" sz="2000" dirty="0"/>
              <a:t> </a:t>
            </a:r>
            <a:r>
              <a:rPr lang="en-US" sz="2000" dirty="0" err="1"/>
              <a:t>bật</a:t>
            </a:r>
            <a:r>
              <a:rPr lang="en-US" sz="2000" dirty="0"/>
              <a:t> </a:t>
            </a:r>
            <a:r>
              <a:rPr lang="en-US" sz="2000" dirty="0" err="1"/>
              <a:t>lại</a:t>
            </a:r>
            <a:r>
              <a:rPr lang="en-US" sz="2000" dirty="0"/>
              <a:t>( Turn off / Turn on)</a:t>
            </a:r>
          </a:p>
          <a:p>
            <a:pPr lvl="1" algn="just">
              <a:spcBef>
                <a:spcPts val="1200"/>
              </a:spcBef>
            </a:pPr>
            <a:r>
              <a:rPr lang="en-US" sz="2000" dirty="0" err="1"/>
              <a:t>Bấm</a:t>
            </a:r>
            <a:r>
              <a:rPr lang="en-US" sz="2000" dirty="0"/>
              <a:t> </a:t>
            </a:r>
            <a:r>
              <a:rPr lang="en-US" sz="2000" dirty="0" err="1"/>
              <a:t>tổ</a:t>
            </a:r>
            <a:r>
              <a:rPr lang="en-US" sz="2000" dirty="0"/>
              <a:t> </a:t>
            </a:r>
            <a:r>
              <a:rPr lang="en-US" sz="2000" dirty="0" err="1"/>
              <a:t>hợp</a:t>
            </a:r>
            <a:r>
              <a:rPr lang="en-US" sz="2000" dirty="0"/>
              <a:t> (Ctrl + Break) </a:t>
            </a:r>
          </a:p>
          <a:p>
            <a:pPr lvl="1" algn="just">
              <a:spcBef>
                <a:spcPts val="1200"/>
              </a:spcBef>
              <a:buNone/>
            </a:pPr>
            <a:r>
              <a:rPr lang="en-US" sz="2000" i="1" dirty="0">
                <a:solidFill>
                  <a:srgbClr val="FF0000"/>
                </a:solidFill>
              </a:rPr>
              <a:t>//</a:t>
            </a:r>
            <a:r>
              <a:rPr lang="en-US" sz="2000" i="1" dirty="0" err="1">
                <a:solidFill>
                  <a:srgbClr val="FF0000"/>
                </a:solidFill>
              </a:rPr>
              <a:t>Màn</a:t>
            </a:r>
            <a:r>
              <a:rPr lang="en-US" sz="2000" i="1" dirty="0">
                <a:solidFill>
                  <a:srgbClr val="FF0000"/>
                </a:solidFill>
              </a:rPr>
              <a:t> </a:t>
            </a:r>
            <a:r>
              <a:rPr lang="en-US" sz="2000" i="1" dirty="0" err="1">
                <a:solidFill>
                  <a:srgbClr val="FF0000"/>
                </a:solidFill>
              </a:rPr>
              <a:t>hình</a:t>
            </a:r>
            <a:r>
              <a:rPr lang="en-US" sz="2000" i="1" dirty="0">
                <a:solidFill>
                  <a:srgbClr val="FF0000"/>
                </a:solidFill>
              </a:rPr>
              <a:t> </a:t>
            </a:r>
            <a:r>
              <a:rPr lang="en-US" sz="2000" i="1" dirty="0" err="1">
                <a:solidFill>
                  <a:srgbClr val="FF0000"/>
                </a:solidFill>
              </a:rPr>
              <a:t>thông</a:t>
            </a:r>
            <a:r>
              <a:rPr lang="en-US" sz="2000" i="1" dirty="0">
                <a:solidFill>
                  <a:srgbClr val="FF0000"/>
                </a:solidFill>
              </a:rPr>
              <a:t> </a:t>
            </a:r>
            <a:r>
              <a:rPr lang="en-US" sz="2000" i="1" dirty="0" err="1">
                <a:solidFill>
                  <a:srgbClr val="FF0000"/>
                </a:solidFill>
              </a:rPr>
              <a:t>báo</a:t>
            </a:r>
            <a:r>
              <a:rPr lang="en-US" sz="2000" i="1" dirty="0">
                <a:solidFill>
                  <a:srgbClr val="FF0000"/>
                </a:solidFill>
              </a:rPr>
              <a:t> dung </a:t>
            </a:r>
            <a:r>
              <a:rPr lang="en-US" sz="2000" i="1" dirty="0" err="1">
                <a:solidFill>
                  <a:srgbClr val="FF0000"/>
                </a:solidFill>
              </a:rPr>
              <a:t>lượng</a:t>
            </a:r>
            <a:r>
              <a:rPr lang="en-US" sz="2000" i="1" dirty="0">
                <a:solidFill>
                  <a:srgbClr val="FF0000"/>
                </a:solidFill>
              </a:rPr>
              <a:t> </a:t>
            </a:r>
            <a:r>
              <a:rPr lang="en-US" sz="2000" i="1" dirty="0" err="1">
                <a:solidFill>
                  <a:srgbClr val="FF0000"/>
                </a:solidFill>
              </a:rPr>
              <a:t>bộ</a:t>
            </a:r>
            <a:r>
              <a:rPr lang="en-US" sz="2000" i="1" dirty="0">
                <a:solidFill>
                  <a:srgbClr val="FF0000"/>
                </a:solidFill>
              </a:rPr>
              <a:t> </a:t>
            </a:r>
            <a:r>
              <a:rPr lang="en-US" sz="2000" i="1" dirty="0" err="1">
                <a:solidFill>
                  <a:srgbClr val="FF0000"/>
                </a:solidFill>
              </a:rPr>
              <a:t>nhớ</a:t>
            </a:r>
            <a:r>
              <a:rPr lang="en-US" sz="2000" i="1" dirty="0">
                <a:solidFill>
                  <a:srgbClr val="FF0000"/>
                </a:solidFill>
              </a:rPr>
              <a:t> Ram </a:t>
            </a:r>
            <a:r>
              <a:rPr lang="en-US" sz="2000" i="1" dirty="0" err="1">
                <a:solidFill>
                  <a:srgbClr val="FF0000"/>
                </a:solidFill>
              </a:rPr>
              <a:t>của</a:t>
            </a:r>
            <a:r>
              <a:rPr lang="en-US" sz="2000" i="1" dirty="0">
                <a:solidFill>
                  <a:srgbClr val="FF0000"/>
                </a:solidFill>
              </a:rPr>
              <a:t> router</a:t>
            </a:r>
          </a:p>
          <a:p>
            <a:pPr lvl="1" algn="just">
              <a:spcBef>
                <a:spcPts val="1200"/>
              </a:spcBef>
              <a:buNone/>
            </a:pPr>
            <a:r>
              <a:rPr lang="en-US" sz="2000" i="1" dirty="0" err="1">
                <a:solidFill>
                  <a:srgbClr val="FF0000"/>
                </a:solidFill>
              </a:rPr>
              <a:t>Hoặc</a:t>
            </a:r>
            <a:r>
              <a:rPr lang="en-US" sz="2000" i="1" dirty="0">
                <a:solidFill>
                  <a:srgbClr val="FF0000"/>
                </a:solidFill>
              </a:rPr>
              <a:t> 15 </a:t>
            </a:r>
            <a:r>
              <a:rPr lang="en-US" sz="2000" i="1" dirty="0" err="1">
                <a:solidFill>
                  <a:srgbClr val="FF0000"/>
                </a:solidFill>
              </a:rPr>
              <a:t>giây</a:t>
            </a:r>
            <a:r>
              <a:rPr lang="en-US" sz="2000" i="1" dirty="0">
                <a:solidFill>
                  <a:srgbClr val="FF0000"/>
                </a:solidFill>
              </a:rPr>
              <a:t> </a:t>
            </a:r>
            <a:r>
              <a:rPr lang="en-US" sz="2000" i="1" dirty="0" err="1">
                <a:solidFill>
                  <a:srgbClr val="FF0000"/>
                </a:solidFill>
              </a:rPr>
              <a:t>sau</a:t>
            </a:r>
            <a:r>
              <a:rPr lang="en-US" sz="2000" i="1" dirty="0">
                <a:solidFill>
                  <a:srgbClr val="FF0000"/>
                </a:solidFill>
              </a:rPr>
              <a:t> </a:t>
            </a:r>
            <a:r>
              <a:rPr lang="en-US" sz="2000" i="1" dirty="0" err="1">
                <a:solidFill>
                  <a:srgbClr val="FF0000"/>
                </a:solidFill>
              </a:rPr>
              <a:t>khi</a:t>
            </a:r>
            <a:r>
              <a:rPr lang="en-US" sz="2000" i="1" dirty="0">
                <a:solidFill>
                  <a:srgbClr val="FF0000"/>
                </a:solidFill>
              </a:rPr>
              <a:t> Turn on</a:t>
            </a:r>
          </a:p>
          <a:p>
            <a:pPr lvl="1" algn="just">
              <a:spcBef>
                <a:spcPts val="1200"/>
              </a:spcBef>
            </a:pPr>
            <a:r>
              <a:rPr lang="en-US" sz="2000" dirty="0"/>
              <a:t>Router </a:t>
            </a:r>
            <a:r>
              <a:rPr lang="en-US" sz="2000" dirty="0" err="1"/>
              <a:t>vào</a:t>
            </a:r>
            <a:r>
              <a:rPr lang="en-US" sz="2000" dirty="0"/>
              <a:t> monitor mode, </a:t>
            </a:r>
            <a:r>
              <a:rPr lang="en-US" sz="2000" dirty="0" err="1"/>
              <a:t>thực</a:t>
            </a:r>
            <a:r>
              <a:rPr lang="en-US" sz="2000" dirty="0"/>
              <a:t> </a:t>
            </a:r>
            <a:r>
              <a:rPr lang="en-US" sz="2000" dirty="0" err="1"/>
              <a:t>hiện</a:t>
            </a:r>
            <a:r>
              <a:rPr lang="en-US" sz="2000" dirty="0"/>
              <a:t> </a:t>
            </a:r>
            <a:r>
              <a:rPr lang="en-US" sz="2000" dirty="0" err="1"/>
              <a:t>lệnh</a:t>
            </a:r>
            <a:r>
              <a:rPr lang="en-US" sz="2000" dirty="0"/>
              <a:t>:</a:t>
            </a:r>
          </a:p>
          <a:p>
            <a:pPr lvl="1" algn="just">
              <a:spcBef>
                <a:spcPts val="1200"/>
              </a:spcBef>
              <a:buNone/>
            </a:pPr>
            <a:r>
              <a:rPr lang="en-US" sz="2000" dirty="0"/>
              <a:t>	</a:t>
            </a:r>
            <a:r>
              <a:rPr lang="en-US" sz="2000" b="1" dirty="0" err="1"/>
              <a:t>Rommon</a:t>
            </a:r>
            <a:r>
              <a:rPr lang="en-US" sz="2000" b="1" dirty="0"/>
              <a:t> 1&gt;</a:t>
            </a:r>
            <a:r>
              <a:rPr lang="en-US" sz="2000" b="1" dirty="0" err="1"/>
              <a:t>confreg</a:t>
            </a:r>
            <a:r>
              <a:rPr lang="en-US" sz="2000" b="1" dirty="0"/>
              <a:t> 0x2142</a:t>
            </a:r>
          </a:p>
          <a:p>
            <a:pPr lvl="1" algn="just">
              <a:spcBef>
                <a:spcPts val="1200"/>
              </a:spcBef>
              <a:buNone/>
            </a:pPr>
            <a:r>
              <a:rPr lang="en-US" sz="2000" b="1" dirty="0"/>
              <a:t>	</a:t>
            </a:r>
            <a:r>
              <a:rPr lang="en-US" sz="2000" b="1" dirty="0" err="1"/>
              <a:t>Rommon</a:t>
            </a:r>
            <a:r>
              <a:rPr lang="en-US" sz="2000" b="1" dirty="0"/>
              <a:t> 2&gt;reset</a:t>
            </a:r>
          </a:p>
          <a:p>
            <a:pPr lvl="1" algn="just">
              <a:spcBef>
                <a:spcPts val="1200"/>
              </a:spcBef>
              <a:buNone/>
            </a:pPr>
            <a:r>
              <a:rPr lang="en-US" sz="2000" i="1" dirty="0">
                <a:solidFill>
                  <a:srgbClr val="FF0000"/>
                </a:solidFill>
              </a:rPr>
              <a:t>// router </a:t>
            </a:r>
            <a:r>
              <a:rPr lang="en-US" sz="2000" i="1" dirty="0" err="1">
                <a:solidFill>
                  <a:srgbClr val="FF0000"/>
                </a:solidFill>
              </a:rPr>
              <a:t>sẽ</a:t>
            </a:r>
            <a:r>
              <a:rPr lang="en-US" sz="2000" i="1" dirty="0">
                <a:solidFill>
                  <a:srgbClr val="FF0000"/>
                </a:solidFill>
              </a:rPr>
              <a:t> </a:t>
            </a:r>
            <a:r>
              <a:rPr lang="en-US" sz="2000" i="1" dirty="0" err="1">
                <a:solidFill>
                  <a:srgbClr val="FF0000"/>
                </a:solidFill>
              </a:rPr>
              <a:t>nhắc</a:t>
            </a:r>
            <a:r>
              <a:rPr lang="en-US" sz="2000" i="1" dirty="0">
                <a:solidFill>
                  <a:srgbClr val="FF0000"/>
                </a:solidFill>
              </a:rPr>
              <a:t> </a:t>
            </a:r>
            <a:r>
              <a:rPr lang="en-US" sz="2000" i="1" dirty="0" err="1">
                <a:solidFill>
                  <a:srgbClr val="FF0000"/>
                </a:solidFill>
              </a:rPr>
              <a:t>phải</a:t>
            </a:r>
            <a:r>
              <a:rPr lang="en-US" sz="2000" i="1" dirty="0">
                <a:solidFill>
                  <a:srgbClr val="FF0000"/>
                </a:solidFill>
              </a:rPr>
              <a:t> reset </a:t>
            </a:r>
            <a:r>
              <a:rPr lang="en-US" sz="2000" i="1" dirty="0" err="1">
                <a:solidFill>
                  <a:srgbClr val="FF0000"/>
                </a:solidFill>
              </a:rPr>
              <a:t>lại</a:t>
            </a:r>
            <a:r>
              <a:rPr lang="en-US" sz="2000" i="1" dirty="0">
                <a:solidFill>
                  <a:srgbClr val="FF0000"/>
                </a:solidFill>
              </a:rPr>
              <a:t> </a:t>
            </a:r>
            <a:r>
              <a:rPr lang="en-US" sz="2000" i="1" dirty="0" err="1">
                <a:solidFill>
                  <a:srgbClr val="FF0000"/>
                </a:solidFill>
              </a:rPr>
              <a:t>để</a:t>
            </a:r>
            <a:r>
              <a:rPr lang="en-US" sz="2000" i="1" dirty="0">
                <a:solidFill>
                  <a:srgbClr val="FF0000"/>
                </a:solidFill>
              </a:rPr>
              <a:t> </a:t>
            </a:r>
            <a:r>
              <a:rPr lang="en-US" sz="2000" i="1" dirty="0" err="1">
                <a:solidFill>
                  <a:srgbClr val="FF0000"/>
                </a:solidFill>
              </a:rPr>
              <a:t>thay</a:t>
            </a:r>
            <a:r>
              <a:rPr lang="en-US" sz="2000" i="1" dirty="0">
                <a:solidFill>
                  <a:srgbClr val="FF0000"/>
                </a:solidFill>
              </a:rPr>
              <a:t> </a:t>
            </a:r>
            <a:r>
              <a:rPr lang="en-US" sz="2000" i="1" dirty="0" err="1">
                <a:solidFill>
                  <a:srgbClr val="FF0000"/>
                </a:solidFill>
              </a:rPr>
              <a:t>đổi</a:t>
            </a:r>
            <a:r>
              <a:rPr lang="en-US" sz="2000" i="1" dirty="0">
                <a:solidFill>
                  <a:srgbClr val="FF0000"/>
                </a:solidFill>
              </a:rPr>
              <a:t> </a:t>
            </a:r>
            <a:r>
              <a:rPr lang="en-US" sz="2000" i="1" dirty="0" err="1">
                <a:solidFill>
                  <a:srgbClr val="FF0000"/>
                </a:solidFill>
              </a:rPr>
              <a:t>có</a:t>
            </a:r>
            <a:r>
              <a:rPr lang="en-US" sz="2000" i="1" dirty="0">
                <a:solidFill>
                  <a:srgbClr val="FF0000"/>
                </a:solidFill>
              </a:rPr>
              <a:t> </a:t>
            </a:r>
            <a:r>
              <a:rPr lang="en-US" sz="2000" i="1" dirty="0" err="1">
                <a:solidFill>
                  <a:srgbClr val="FF0000"/>
                </a:solidFill>
              </a:rPr>
              <a:t>tác</a:t>
            </a:r>
            <a:r>
              <a:rPr lang="en-US" sz="2000" i="1" dirty="0">
                <a:solidFill>
                  <a:srgbClr val="FF0000"/>
                </a:solidFill>
              </a:rPr>
              <a:t> </a:t>
            </a:r>
            <a:r>
              <a:rPr lang="en-US" sz="2000" i="1" dirty="0" err="1">
                <a:solidFill>
                  <a:srgbClr val="FF0000"/>
                </a:solidFill>
              </a:rPr>
              <a:t>dụng</a:t>
            </a:r>
            <a:endParaRPr lang="en-US" sz="2000" i="1" dirty="0">
              <a:solidFill>
                <a:srgbClr val="FF0000"/>
              </a:solidFill>
            </a:endParaRPr>
          </a:p>
          <a:p>
            <a:pPr lvl="1" algn="just">
              <a:spcBef>
                <a:spcPts val="1200"/>
              </a:spcBef>
              <a:buNone/>
            </a:pPr>
            <a:r>
              <a:rPr lang="en-US" sz="2000" i="1" dirty="0">
                <a:solidFill>
                  <a:srgbClr val="FF0000"/>
                </a:solidFill>
              </a:rPr>
              <a:t>//</a:t>
            </a:r>
            <a:r>
              <a:rPr lang="en-US" sz="2000" i="1" dirty="0" err="1">
                <a:solidFill>
                  <a:srgbClr val="FF0000"/>
                </a:solidFill>
              </a:rPr>
              <a:t>không</a:t>
            </a:r>
            <a:r>
              <a:rPr lang="en-US" sz="2000" i="1" dirty="0">
                <a:solidFill>
                  <a:srgbClr val="FF0000"/>
                </a:solidFill>
              </a:rPr>
              <a:t> </a:t>
            </a:r>
            <a:r>
              <a:rPr lang="en-US" sz="2000" i="1" dirty="0" err="1">
                <a:solidFill>
                  <a:srgbClr val="FF0000"/>
                </a:solidFill>
              </a:rPr>
              <a:t>bị</a:t>
            </a:r>
            <a:r>
              <a:rPr lang="en-US" sz="2000" i="1" dirty="0">
                <a:solidFill>
                  <a:srgbClr val="FF0000"/>
                </a:solidFill>
              </a:rPr>
              <a:t> pass, do router </a:t>
            </a:r>
            <a:r>
              <a:rPr lang="en-US" sz="2000" i="1" dirty="0" err="1">
                <a:solidFill>
                  <a:srgbClr val="FF0000"/>
                </a:solidFill>
              </a:rPr>
              <a:t>không</a:t>
            </a:r>
            <a:r>
              <a:rPr lang="en-US" sz="2000" i="1" dirty="0">
                <a:solidFill>
                  <a:srgbClr val="FF0000"/>
                </a:solidFill>
              </a:rPr>
              <a:t> load </a:t>
            </a:r>
            <a:r>
              <a:rPr lang="en-US" sz="2000" i="1" dirty="0" err="1">
                <a:solidFill>
                  <a:srgbClr val="FF0000"/>
                </a:solidFill>
              </a:rPr>
              <a:t>từ</a:t>
            </a:r>
            <a:r>
              <a:rPr lang="en-US" sz="2000" i="1" dirty="0">
                <a:solidFill>
                  <a:srgbClr val="FF0000"/>
                </a:solidFill>
              </a:rPr>
              <a:t> NVRAM </a:t>
            </a:r>
            <a:r>
              <a:rPr lang="en-US" sz="2000" i="1" dirty="0" err="1">
                <a:solidFill>
                  <a:srgbClr val="FF0000"/>
                </a:solidFill>
              </a:rPr>
              <a:t>vào</a:t>
            </a:r>
            <a:r>
              <a:rPr lang="en-US" sz="2000" i="1" dirty="0">
                <a:solidFill>
                  <a:srgbClr val="FF0000"/>
                </a:solidFill>
              </a:rPr>
              <a:t> RAM</a:t>
            </a:r>
          </a:p>
          <a:p>
            <a:pPr lvl="1" algn="just">
              <a:buFont typeface="Wingdings" panose="05000000000000000000" pitchFamily="2" charset="2"/>
              <a:buNone/>
            </a:pPr>
            <a:endParaRPr lang="en-US" sz="2000" dirty="0"/>
          </a:p>
          <a:p>
            <a:pPr lvl="1" algn="just"/>
            <a:endParaRPr lang="en-US" sz="2000" dirty="0"/>
          </a:p>
          <a:p>
            <a:pPr lvl="1" algn="just"/>
            <a:endParaRPr lang="en-US" sz="2000" dirty="0"/>
          </a:p>
          <a:p>
            <a:pPr lvl="1" algn="just"/>
            <a:endParaRPr lang="en-US" sz="2000" u="sng" dirty="0"/>
          </a:p>
          <a:p>
            <a:pPr lvl="1" algn="just"/>
            <a:endParaRPr lang="en-US" sz="2000" dirty="0"/>
          </a:p>
          <a:p>
            <a:pPr lvl="1" algn="just"/>
            <a:endParaRPr lang="en-US" sz="2000" dirty="0"/>
          </a:p>
        </p:txBody>
      </p:sp>
    </p:spTree>
    <p:extLst>
      <p:ext uri="{BB962C8B-B14F-4D97-AF65-F5344CB8AC3E}">
        <p14:creationId xmlns:p14="http://schemas.microsoft.com/office/powerpoint/2010/main" val="12341711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524000" y="266701"/>
            <a:ext cx="9144000" cy="487363"/>
          </a:xfrm>
        </p:spPr>
        <p:txBody>
          <a:bodyPr/>
          <a:lstStyle/>
          <a:p>
            <a:r>
              <a:rPr lang="en-US" sz="2800" dirty="0"/>
              <a:t>IV. KHÔI PHỤC MẬT KHẨU CHO ROUTER</a:t>
            </a:r>
            <a:endParaRPr lang="en-US" dirty="0"/>
          </a:p>
        </p:txBody>
      </p:sp>
      <p:sp>
        <p:nvSpPr>
          <p:cNvPr id="36867" name="Content Placeholder 2"/>
          <p:cNvSpPr>
            <a:spLocks noGrp="1"/>
          </p:cNvSpPr>
          <p:nvPr>
            <p:ph idx="1"/>
          </p:nvPr>
        </p:nvSpPr>
        <p:spPr>
          <a:xfrm>
            <a:off x="425003" y="1066800"/>
            <a:ext cx="11410682" cy="5410200"/>
          </a:xfrm>
        </p:spPr>
        <p:txBody>
          <a:bodyPr/>
          <a:lstStyle/>
          <a:p>
            <a:pPr lvl="1" algn="just">
              <a:defRPr/>
            </a:pPr>
            <a:r>
              <a:rPr lang="en-US" sz="2000" dirty="0" err="1"/>
              <a:t>Chép</a:t>
            </a:r>
            <a:r>
              <a:rPr lang="en-US" sz="2000" dirty="0"/>
              <a:t> </a:t>
            </a:r>
            <a:r>
              <a:rPr lang="en-US" sz="2000" dirty="0" err="1"/>
              <a:t>cấu</a:t>
            </a:r>
            <a:r>
              <a:rPr lang="en-US" sz="2000" dirty="0"/>
              <a:t> </a:t>
            </a:r>
            <a:r>
              <a:rPr lang="en-US" sz="2000" dirty="0" err="1"/>
              <a:t>hình</a:t>
            </a:r>
            <a:r>
              <a:rPr lang="en-US" sz="2000" dirty="0"/>
              <a:t> NVRAM </a:t>
            </a:r>
            <a:r>
              <a:rPr lang="en-US" sz="2000" dirty="0" err="1"/>
              <a:t>vào</a:t>
            </a:r>
            <a:r>
              <a:rPr lang="en-US" sz="2000" dirty="0"/>
              <a:t> RAM:</a:t>
            </a:r>
          </a:p>
          <a:p>
            <a:pPr lvl="1" algn="just">
              <a:buNone/>
              <a:defRPr/>
            </a:pPr>
            <a:r>
              <a:rPr lang="en-US" sz="2000" b="1" dirty="0"/>
              <a:t>	</a:t>
            </a:r>
            <a:r>
              <a:rPr lang="en-US" sz="2000" b="1" dirty="0" err="1"/>
              <a:t>Router#copy</a:t>
            </a:r>
            <a:r>
              <a:rPr lang="en-US" sz="2000" b="1" dirty="0"/>
              <a:t> start run</a:t>
            </a:r>
          </a:p>
          <a:p>
            <a:pPr lvl="1" algn="just">
              <a:buNone/>
              <a:defRPr/>
            </a:pPr>
            <a:r>
              <a:rPr lang="en-US" sz="2000" b="1" dirty="0"/>
              <a:t>	</a:t>
            </a:r>
            <a:r>
              <a:rPr lang="en-US" sz="2000" b="1" dirty="0" err="1"/>
              <a:t>Router#show</a:t>
            </a:r>
            <a:r>
              <a:rPr lang="en-US" sz="2000" b="1" dirty="0"/>
              <a:t> run </a:t>
            </a:r>
            <a:r>
              <a:rPr lang="en-US" sz="2000" dirty="0"/>
              <a:t>(</a:t>
            </a:r>
            <a:r>
              <a:rPr lang="en-US" sz="2000" dirty="0" err="1"/>
              <a:t>xem</a:t>
            </a:r>
            <a:r>
              <a:rPr lang="en-US" sz="2000" dirty="0"/>
              <a:t> password </a:t>
            </a:r>
            <a:r>
              <a:rPr lang="en-US" sz="2000" dirty="0" err="1"/>
              <a:t>hoặc</a:t>
            </a:r>
            <a:r>
              <a:rPr lang="en-US" sz="2000" dirty="0"/>
              <a:t> </a:t>
            </a:r>
            <a:r>
              <a:rPr lang="en-US" sz="2000" dirty="0" err="1"/>
              <a:t>đặt</a:t>
            </a:r>
            <a:r>
              <a:rPr lang="en-US" sz="2000" dirty="0"/>
              <a:t> pass </a:t>
            </a:r>
            <a:r>
              <a:rPr lang="en-US" sz="2000" dirty="0" err="1"/>
              <a:t>mới</a:t>
            </a:r>
            <a:r>
              <a:rPr lang="en-US" sz="2000" dirty="0"/>
              <a:t>)</a:t>
            </a:r>
          </a:p>
          <a:p>
            <a:pPr lvl="1" algn="just">
              <a:buNone/>
              <a:defRPr/>
            </a:pPr>
            <a:r>
              <a:rPr lang="en-US" sz="2000" b="1" dirty="0"/>
              <a:t>	</a:t>
            </a:r>
            <a:r>
              <a:rPr lang="en-US" sz="2000" b="1" dirty="0" err="1"/>
              <a:t>Router#copy</a:t>
            </a:r>
            <a:r>
              <a:rPr lang="en-US" sz="2000" b="1" dirty="0"/>
              <a:t> run start </a:t>
            </a:r>
            <a:r>
              <a:rPr lang="en-US" sz="2000" dirty="0"/>
              <a:t>(</a:t>
            </a:r>
            <a:r>
              <a:rPr lang="en-US" sz="2000" dirty="0" err="1"/>
              <a:t>lưu</a:t>
            </a:r>
            <a:r>
              <a:rPr lang="en-US" sz="2000" dirty="0"/>
              <a:t> </a:t>
            </a:r>
            <a:r>
              <a:rPr lang="en-US" sz="2000" dirty="0" err="1"/>
              <a:t>lại</a:t>
            </a:r>
            <a:r>
              <a:rPr lang="en-US" sz="2000" dirty="0"/>
              <a:t> </a:t>
            </a:r>
            <a:r>
              <a:rPr lang="en-US" sz="2000" dirty="0" err="1"/>
              <a:t>cấu</a:t>
            </a:r>
            <a:r>
              <a:rPr lang="en-US" sz="2000" dirty="0"/>
              <a:t> </a:t>
            </a:r>
            <a:r>
              <a:rPr lang="en-US" sz="2000" dirty="0" err="1"/>
              <a:t>hình</a:t>
            </a:r>
            <a:r>
              <a:rPr lang="en-US" sz="2000" dirty="0"/>
              <a:t>)</a:t>
            </a:r>
          </a:p>
          <a:p>
            <a:pPr lvl="1" algn="just">
              <a:defRPr/>
            </a:pPr>
            <a:r>
              <a:rPr lang="en-US" sz="2000" dirty="0" err="1"/>
              <a:t>Thay</a:t>
            </a:r>
            <a:r>
              <a:rPr lang="en-US" sz="2000" dirty="0"/>
              <a:t> </a:t>
            </a:r>
            <a:r>
              <a:rPr lang="en-US" sz="2000" dirty="0" err="1"/>
              <a:t>đổi</a:t>
            </a:r>
            <a:r>
              <a:rPr lang="en-US" sz="2000" dirty="0"/>
              <a:t> </a:t>
            </a:r>
            <a:r>
              <a:rPr lang="en-US" sz="2000" dirty="0" err="1"/>
              <a:t>thanh</a:t>
            </a:r>
            <a:r>
              <a:rPr lang="en-US" sz="2000" dirty="0"/>
              <a:t> </a:t>
            </a:r>
            <a:r>
              <a:rPr lang="en-US" sz="2000" dirty="0" err="1"/>
              <a:t>ghi</a:t>
            </a:r>
            <a:r>
              <a:rPr lang="en-US" sz="2000" dirty="0"/>
              <a:t>:</a:t>
            </a:r>
          </a:p>
          <a:p>
            <a:pPr lvl="2" algn="just">
              <a:buFont typeface="Wingdings" pitchFamily="2" charset="2"/>
              <a:buChar char="Ø"/>
              <a:defRPr/>
            </a:pPr>
            <a:r>
              <a:rPr lang="en-US" sz="2000" dirty="0" err="1"/>
              <a:t>Xem</a:t>
            </a:r>
            <a:r>
              <a:rPr lang="en-US" sz="2000" dirty="0"/>
              <a:t> </a:t>
            </a:r>
            <a:r>
              <a:rPr lang="en-US" sz="2000" dirty="0" err="1"/>
              <a:t>cấu</a:t>
            </a:r>
            <a:r>
              <a:rPr lang="en-US" sz="2000" dirty="0"/>
              <a:t> </a:t>
            </a:r>
            <a:r>
              <a:rPr lang="en-US" sz="2000" dirty="0" err="1"/>
              <a:t>hình</a:t>
            </a:r>
            <a:r>
              <a:rPr lang="en-US" sz="2000" dirty="0"/>
              <a:t> </a:t>
            </a:r>
            <a:r>
              <a:rPr lang="en-US" sz="2000" dirty="0" err="1"/>
              <a:t>thanh</a:t>
            </a:r>
            <a:r>
              <a:rPr lang="en-US" sz="2000" dirty="0"/>
              <a:t> </a:t>
            </a:r>
            <a:r>
              <a:rPr lang="en-US" sz="2000" dirty="0" err="1"/>
              <a:t>ghi</a:t>
            </a:r>
            <a:r>
              <a:rPr lang="en-US" sz="2000" dirty="0"/>
              <a:t> </a:t>
            </a:r>
            <a:r>
              <a:rPr lang="en-US" sz="2000" dirty="0" err="1"/>
              <a:t>hiện</a:t>
            </a:r>
            <a:r>
              <a:rPr lang="en-US" sz="2000" dirty="0"/>
              <a:t> </a:t>
            </a:r>
            <a:r>
              <a:rPr lang="en-US" sz="2000" dirty="0" err="1"/>
              <a:t>tại</a:t>
            </a:r>
            <a:r>
              <a:rPr lang="en-US" sz="2000" dirty="0"/>
              <a:t>:</a:t>
            </a:r>
          </a:p>
          <a:p>
            <a:pPr marL="979488" lvl="2" algn="just">
              <a:buNone/>
              <a:defRPr/>
            </a:pPr>
            <a:r>
              <a:rPr lang="en-US" sz="2000" b="1" dirty="0" err="1"/>
              <a:t>Router#show</a:t>
            </a:r>
            <a:r>
              <a:rPr lang="en-US" sz="2000" b="1" dirty="0"/>
              <a:t> version </a:t>
            </a:r>
            <a:r>
              <a:rPr lang="en-US" sz="2000" dirty="0"/>
              <a:t>(configuration register is 0x2142)</a:t>
            </a:r>
          </a:p>
          <a:p>
            <a:pPr lvl="2" algn="just">
              <a:buFont typeface="Wingdings" pitchFamily="2" charset="2"/>
              <a:buChar char="Ø"/>
              <a:defRPr/>
            </a:pPr>
            <a:r>
              <a:rPr lang="en-US" sz="2000" dirty="0"/>
              <a:t> </a:t>
            </a:r>
            <a:r>
              <a:rPr lang="en-US" sz="2000" dirty="0" err="1"/>
              <a:t>Thay</a:t>
            </a:r>
            <a:r>
              <a:rPr lang="en-US" sz="2000" dirty="0"/>
              <a:t> </a:t>
            </a:r>
            <a:r>
              <a:rPr lang="en-US" sz="2000" dirty="0" err="1"/>
              <a:t>đổi</a:t>
            </a:r>
            <a:r>
              <a:rPr lang="en-US" sz="2000" dirty="0"/>
              <a:t> </a:t>
            </a:r>
            <a:r>
              <a:rPr lang="en-US" sz="2000" dirty="0" err="1"/>
              <a:t>thanh</a:t>
            </a:r>
            <a:r>
              <a:rPr lang="en-US" sz="2000" dirty="0"/>
              <a:t> </a:t>
            </a:r>
            <a:r>
              <a:rPr lang="en-US" sz="2000" dirty="0" err="1"/>
              <a:t>ghi</a:t>
            </a:r>
            <a:r>
              <a:rPr lang="en-US" sz="2000" dirty="0"/>
              <a:t>:</a:t>
            </a:r>
          </a:p>
          <a:p>
            <a:pPr marL="979488" lvl="2" algn="just">
              <a:buNone/>
              <a:defRPr/>
            </a:pPr>
            <a:r>
              <a:rPr lang="en-US" sz="2000" b="1" dirty="0" err="1"/>
              <a:t>Router#confg</a:t>
            </a:r>
            <a:r>
              <a:rPr lang="en-US" sz="2000" b="1" dirty="0"/>
              <a:t>  terminal</a:t>
            </a:r>
          </a:p>
          <a:p>
            <a:pPr marL="979488" lvl="2" algn="just">
              <a:buNone/>
              <a:defRPr/>
            </a:pPr>
            <a:r>
              <a:rPr lang="en-US" sz="2000" b="1" dirty="0"/>
              <a:t>Router(</a:t>
            </a:r>
            <a:r>
              <a:rPr lang="en-US" sz="2000" b="1" dirty="0" err="1"/>
              <a:t>config</a:t>
            </a:r>
            <a:r>
              <a:rPr lang="en-US" sz="2000" b="1" dirty="0"/>
              <a:t>)#</a:t>
            </a:r>
            <a:r>
              <a:rPr lang="en-US" sz="2000" b="1" dirty="0" err="1"/>
              <a:t>config</a:t>
            </a:r>
            <a:r>
              <a:rPr lang="en-US" sz="2000" b="1" dirty="0"/>
              <a:t>-register 0x2102</a:t>
            </a:r>
          </a:p>
          <a:p>
            <a:pPr marL="979488" lvl="2" algn="just">
              <a:buNone/>
              <a:defRPr/>
            </a:pPr>
            <a:r>
              <a:rPr lang="en-US" sz="2000" b="1" dirty="0"/>
              <a:t>Router(</a:t>
            </a:r>
            <a:r>
              <a:rPr lang="en-US" sz="2000" b="1" dirty="0" err="1"/>
              <a:t>config</a:t>
            </a:r>
            <a:r>
              <a:rPr lang="en-US" sz="2000" b="1" dirty="0"/>
              <a:t>)#exit</a:t>
            </a:r>
          </a:p>
          <a:p>
            <a:pPr lvl="1" algn="just">
              <a:defRPr/>
            </a:pPr>
            <a:endParaRPr lang="en-US" sz="2000" dirty="0"/>
          </a:p>
          <a:p>
            <a:pPr lvl="1" algn="just">
              <a:defRPr/>
            </a:pPr>
            <a:endParaRPr lang="en-US" sz="2000" u="sng" dirty="0"/>
          </a:p>
          <a:p>
            <a:pPr lvl="1" algn="just">
              <a:defRPr/>
            </a:pPr>
            <a:endParaRPr lang="en-US" sz="2000" dirty="0"/>
          </a:p>
          <a:p>
            <a:pPr lvl="1" algn="just">
              <a:defRPr/>
            </a:pPr>
            <a:endParaRPr lang="en-US" sz="2000" dirty="0"/>
          </a:p>
        </p:txBody>
      </p:sp>
    </p:spTree>
    <p:extLst>
      <p:ext uri="{BB962C8B-B14F-4D97-AF65-F5344CB8AC3E}">
        <p14:creationId xmlns:p14="http://schemas.microsoft.com/office/powerpoint/2010/main" val="14157445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524000" y="266701"/>
            <a:ext cx="9144000" cy="487363"/>
          </a:xfrm>
        </p:spPr>
        <p:txBody>
          <a:bodyPr/>
          <a:lstStyle/>
          <a:p>
            <a:r>
              <a:rPr lang="en-US" sz="2800" dirty="0"/>
              <a:t>IV. KHÔI PHỤC MẬT KHẨU CHO ROUTER</a:t>
            </a:r>
            <a:endParaRPr lang="en-US" dirty="0"/>
          </a:p>
        </p:txBody>
      </p:sp>
      <p:sp>
        <p:nvSpPr>
          <p:cNvPr id="29699" name="Content Placeholder 2"/>
          <p:cNvSpPr>
            <a:spLocks noGrp="1"/>
          </p:cNvSpPr>
          <p:nvPr>
            <p:ph idx="1"/>
          </p:nvPr>
        </p:nvSpPr>
        <p:spPr>
          <a:xfrm>
            <a:off x="901521" y="1066800"/>
            <a:ext cx="10766738" cy="5410200"/>
          </a:xfrm>
        </p:spPr>
        <p:txBody>
          <a:bodyPr/>
          <a:lstStyle/>
          <a:p>
            <a:pPr algn="just">
              <a:defRPr/>
            </a:pPr>
            <a:r>
              <a:rPr lang="en-US" u="sng" dirty="0" err="1"/>
              <a:t>Bước</a:t>
            </a:r>
            <a:r>
              <a:rPr lang="en-US" u="sng" dirty="0"/>
              <a:t> </a:t>
            </a:r>
            <a:r>
              <a:rPr lang="en-US" u="sng" dirty="0" err="1"/>
              <a:t>thực</a:t>
            </a:r>
            <a:r>
              <a:rPr lang="en-US" u="sng" dirty="0"/>
              <a:t> </a:t>
            </a:r>
            <a:r>
              <a:rPr lang="en-US" u="sng" dirty="0" err="1"/>
              <a:t>hiện</a:t>
            </a:r>
            <a:r>
              <a:rPr lang="en-US" u="sng" dirty="0"/>
              <a:t> </a:t>
            </a:r>
            <a:r>
              <a:rPr lang="en-US" u="sng" dirty="0" err="1"/>
              <a:t>khôi</a:t>
            </a:r>
            <a:r>
              <a:rPr lang="en-US" u="sng" dirty="0"/>
              <a:t> </a:t>
            </a:r>
            <a:r>
              <a:rPr lang="en-US" u="sng" dirty="0" err="1"/>
              <a:t>phục</a:t>
            </a:r>
            <a:r>
              <a:rPr lang="en-US" u="sng" dirty="0"/>
              <a:t> </a:t>
            </a:r>
            <a:r>
              <a:rPr lang="en-US" u="sng" dirty="0" err="1"/>
              <a:t>mật</a:t>
            </a:r>
            <a:r>
              <a:rPr lang="en-US" u="sng" dirty="0"/>
              <a:t> </a:t>
            </a:r>
            <a:r>
              <a:rPr lang="en-US" u="sng" dirty="0" err="1"/>
              <a:t>khẩu</a:t>
            </a:r>
            <a:r>
              <a:rPr lang="en-US" u="sng" dirty="0"/>
              <a:t> </a:t>
            </a:r>
            <a:r>
              <a:rPr lang="en-US" u="sng" dirty="0" err="1"/>
              <a:t>cho</a:t>
            </a:r>
            <a:r>
              <a:rPr lang="en-US" u="sng" dirty="0"/>
              <a:t> Router Cisco 2800</a:t>
            </a:r>
          </a:p>
          <a:p>
            <a:pPr lvl="2" algn="just">
              <a:buNone/>
              <a:defRPr/>
            </a:pPr>
            <a:r>
              <a:rPr lang="en-US" b="1" dirty="0" err="1"/>
              <a:t>Router#show</a:t>
            </a:r>
            <a:r>
              <a:rPr lang="en-US" b="1" dirty="0"/>
              <a:t> version</a:t>
            </a:r>
          </a:p>
          <a:p>
            <a:pPr marL="228600" lvl="2" algn="just">
              <a:buNone/>
              <a:defRPr/>
            </a:pPr>
            <a:r>
              <a:rPr lang="en-US" i="1" dirty="0"/>
              <a:t>(configuration register is 0x2142(will be 0x2102 at next reload)</a:t>
            </a:r>
          </a:p>
          <a:p>
            <a:pPr lvl="2" algn="just">
              <a:buNone/>
              <a:defRPr/>
            </a:pPr>
            <a:r>
              <a:rPr lang="en-US" b="1" dirty="0" err="1"/>
              <a:t>Router#reload</a:t>
            </a:r>
            <a:endParaRPr lang="en-US" b="1" dirty="0"/>
          </a:p>
          <a:p>
            <a:pPr marL="257175" lvl="2" algn="just">
              <a:buNone/>
              <a:defRPr/>
            </a:pPr>
            <a:r>
              <a:rPr lang="en-US" u="sng" dirty="0" err="1"/>
              <a:t>Chú</a:t>
            </a:r>
            <a:r>
              <a:rPr lang="en-US" u="sng" dirty="0"/>
              <a:t> ý: </a:t>
            </a:r>
            <a:r>
              <a:rPr lang="en-US" b="1" i="1" dirty="0">
                <a:solidFill>
                  <a:srgbClr val="FF0000"/>
                </a:solidFill>
                <a:effectLst>
                  <a:outerShdw blurRad="38100" dist="38100" dir="2700000" algn="tl">
                    <a:srgbClr val="000000">
                      <a:alpha val="43137"/>
                    </a:srgbClr>
                  </a:outerShdw>
                </a:effectLst>
              </a:rPr>
              <a:t>Router </a:t>
            </a:r>
            <a:r>
              <a:rPr lang="en-US" b="1" i="1" dirty="0" err="1">
                <a:solidFill>
                  <a:srgbClr val="FF0000"/>
                </a:solidFill>
                <a:effectLst>
                  <a:outerShdw blurRad="38100" dist="38100" dir="2700000" algn="tl">
                    <a:srgbClr val="000000">
                      <a:alpha val="43137"/>
                    </a:srgbClr>
                  </a:outerShdw>
                </a:effectLst>
              </a:rPr>
              <a:t>sẽ</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khởi</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động</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lại</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Nó</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sẽ</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lấy</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cấu</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hình</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từ</a:t>
            </a:r>
            <a:r>
              <a:rPr lang="en-US" b="1" i="1" dirty="0">
                <a:solidFill>
                  <a:srgbClr val="FF0000"/>
                </a:solidFill>
                <a:effectLst>
                  <a:outerShdw blurRad="38100" dist="38100" dir="2700000" algn="tl">
                    <a:srgbClr val="000000">
                      <a:alpha val="43137"/>
                    </a:srgbClr>
                  </a:outerShdw>
                </a:effectLst>
              </a:rPr>
              <a:t> NVRAM, </a:t>
            </a:r>
            <a:r>
              <a:rPr lang="en-US" b="1" i="1" dirty="0" err="1">
                <a:solidFill>
                  <a:srgbClr val="FF0000"/>
                </a:solidFill>
                <a:effectLst>
                  <a:outerShdw blurRad="38100" dist="38100" dir="2700000" algn="tl">
                    <a:srgbClr val="000000">
                      <a:alpha val="43137"/>
                    </a:srgbClr>
                  </a:outerShdw>
                </a:effectLst>
              </a:rPr>
              <a:t>mật</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khẩu</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của</a:t>
            </a:r>
            <a:r>
              <a:rPr lang="en-US" b="1" i="1" dirty="0">
                <a:solidFill>
                  <a:srgbClr val="FF0000"/>
                </a:solidFill>
                <a:effectLst>
                  <a:outerShdw blurRad="38100" dist="38100" dir="2700000" algn="tl">
                    <a:srgbClr val="000000">
                      <a:alpha val="43137"/>
                    </a:srgbClr>
                  </a:outerShdw>
                </a:effectLst>
              </a:rPr>
              <a:t> router </a:t>
            </a:r>
            <a:r>
              <a:rPr lang="en-US" b="1" i="1" dirty="0" err="1">
                <a:solidFill>
                  <a:srgbClr val="FF0000"/>
                </a:solidFill>
                <a:effectLst>
                  <a:outerShdw blurRad="38100" dist="38100" dir="2700000" algn="tl">
                    <a:srgbClr val="000000">
                      <a:alpha val="43137"/>
                    </a:srgbClr>
                  </a:outerShdw>
                </a:effectLst>
              </a:rPr>
              <a:t>bây</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giờ</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đã</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biết</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và</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bạn</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có</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thể</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truy</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cập</a:t>
            </a:r>
            <a:r>
              <a:rPr lang="en-US" b="1" i="1" dirty="0">
                <a:solidFill>
                  <a:srgbClr val="FF0000"/>
                </a:solidFill>
                <a:effectLst>
                  <a:outerShdw blurRad="38100" dist="38100" dir="2700000" algn="tl">
                    <a:srgbClr val="000000">
                      <a:alpha val="43137"/>
                    </a:srgbClr>
                  </a:outerShdw>
                </a:effectLst>
              </a:rPr>
              <a:t> </a:t>
            </a:r>
            <a:r>
              <a:rPr lang="en-US" b="1" i="1" dirty="0" err="1">
                <a:solidFill>
                  <a:srgbClr val="FF0000"/>
                </a:solidFill>
                <a:effectLst>
                  <a:outerShdw blurRad="38100" dist="38100" dir="2700000" algn="tl">
                    <a:srgbClr val="000000">
                      <a:alpha val="43137"/>
                    </a:srgbClr>
                  </a:outerShdw>
                </a:effectLst>
              </a:rPr>
              <a:t>vào</a:t>
            </a:r>
            <a:r>
              <a:rPr lang="en-US" b="1" i="1" dirty="0">
                <a:solidFill>
                  <a:srgbClr val="FF0000"/>
                </a:solidFill>
                <a:effectLst>
                  <a:outerShdw blurRad="38100" dist="38100" dir="2700000" algn="tl">
                    <a:srgbClr val="000000">
                      <a:alpha val="43137"/>
                    </a:srgbClr>
                  </a:outerShdw>
                </a:effectLst>
              </a:rPr>
              <a:t> privileged mode </a:t>
            </a:r>
            <a:r>
              <a:rPr lang="en-US" b="1" i="1" dirty="0" err="1">
                <a:solidFill>
                  <a:srgbClr val="FF0000"/>
                </a:solidFill>
                <a:effectLst>
                  <a:outerShdw blurRad="38100" dist="38100" dir="2700000" algn="tl">
                    <a:srgbClr val="000000">
                      <a:alpha val="43137"/>
                    </a:srgbClr>
                  </a:outerShdw>
                </a:effectLst>
              </a:rPr>
              <a:t>của</a:t>
            </a:r>
            <a:r>
              <a:rPr lang="en-US" b="1" i="1" dirty="0">
                <a:solidFill>
                  <a:srgbClr val="FF0000"/>
                </a:solidFill>
                <a:effectLst>
                  <a:outerShdw blurRad="38100" dist="38100" dir="2700000" algn="tl">
                    <a:srgbClr val="000000">
                      <a:alpha val="43137"/>
                    </a:srgbClr>
                  </a:outerShdw>
                </a:effectLst>
              </a:rPr>
              <a:t> router</a:t>
            </a:r>
          </a:p>
          <a:p>
            <a:pPr lvl="1" algn="just">
              <a:defRPr/>
            </a:pPr>
            <a:endParaRPr lang="en-US" sz="2400" dirty="0"/>
          </a:p>
          <a:p>
            <a:pPr lvl="1" algn="just">
              <a:defRPr/>
            </a:pPr>
            <a:endParaRPr lang="en-US" u="sng" dirty="0"/>
          </a:p>
          <a:p>
            <a:pPr lvl="1" algn="just">
              <a:defRPr/>
            </a:pPr>
            <a:endParaRPr lang="en-US" dirty="0"/>
          </a:p>
          <a:p>
            <a:pPr lvl="1" algn="just">
              <a:defRPr/>
            </a:pPr>
            <a:endParaRPr lang="en-US" sz="2400" dirty="0"/>
          </a:p>
        </p:txBody>
      </p:sp>
    </p:spTree>
    <p:extLst>
      <p:ext uri="{BB962C8B-B14F-4D97-AF65-F5344CB8AC3E}">
        <p14:creationId xmlns:p14="http://schemas.microsoft.com/office/powerpoint/2010/main" val="2473657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524000" y="266701"/>
            <a:ext cx="9144000" cy="487363"/>
          </a:xfrm>
        </p:spPr>
        <p:txBody>
          <a:bodyPr/>
          <a:lstStyle/>
          <a:p>
            <a:r>
              <a:rPr lang="en-US" sz="2800" dirty="0"/>
              <a:t>IV. KHÔI PHỤC MẬT KHẨU CHO ROUTER</a:t>
            </a:r>
            <a:endParaRPr lang="en-US" dirty="0"/>
          </a:p>
        </p:txBody>
      </p:sp>
      <p:sp>
        <p:nvSpPr>
          <p:cNvPr id="35843" name="Content Placeholder 2"/>
          <p:cNvSpPr>
            <a:spLocks noGrp="1"/>
          </p:cNvSpPr>
          <p:nvPr>
            <p:ph idx="1"/>
          </p:nvPr>
        </p:nvSpPr>
        <p:spPr>
          <a:xfrm>
            <a:off x="502276" y="990600"/>
            <a:ext cx="9937124" cy="5334000"/>
          </a:xfrm>
        </p:spPr>
        <p:txBody>
          <a:bodyPr/>
          <a:lstStyle/>
          <a:p>
            <a:pPr>
              <a:defRPr/>
            </a:pPr>
            <a:r>
              <a:rPr lang="en-US" sz="2000" u="sng" dirty="0" err="1"/>
              <a:t>Khôi</a:t>
            </a:r>
            <a:r>
              <a:rPr lang="en-US" sz="2000" u="sng" dirty="0"/>
              <a:t> </a:t>
            </a:r>
            <a:r>
              <a:rPr lang="en-US" sz="2000" u="sng" dirty="0" err="1"/>
              <a:t>phục</a:t>
            </a:r>
            <a:r>
              <a:rPr lang="en-US" sz="2000" u="sng" dirty="0"/>
              <a:t> </a:t>
            </a:r>
            <a:r>
              <a:rPr lang="en-US" sz="2000" u="sng" dirty="0" err="1"/>
              <a:t>mật</a:t>
            </a:r>
            <a:r>
              <a:rPr lang="en-US" sz="2000" u="sng" dirty="0"/>
              <a:t> </a:t>
            </a:r>
            <a:r>
              <a:rPr lang="en-US" sz="2000" u="sng" dirty="0" err="1"/>
              <a:t>khẩu</a:t>
            </a:r>
            <a:r>
              <a:rPr lang="en-US" sz="2000" u="sng" dirty="0"/>
              <a:t> </a:t>
            </a:r>
            <a:r>
              <a:rPr lang="en-US" sz="2000" u="sng" dirty="0" err="1"/>
              <a:t>cho</a:t>
            </a:r>
            <a:r>
              <a:rPr lang="en-US" sz="2000" u="sng" dirty="0"/>
              <a:t> Switch (Password Recovery)</a:t>
            </a:r>
          </a:p>
          <a:p>
            <a:pPr lvl="1">
              <a:defRPr/>
            </a:pPr>
            <a:r>
              <a:rPr lang="en-US" sz="2000" dirty="0"/>
              <a:t>Turn off / Turn on</a:t>
            </a:r>
          </a:p>
          <a:p>
            <a:pPr lvl="1">
              <a:defRPr/>
            </a:pPr>
            <a:r>
              <a:rPr lang="en-US" sz="2000" dirty="0"/>
              <a:t>Press mode button (</a:t>
            </a:r>
            <a:r>
              <a:rPr lang="en-US" sz="2000" dirty="0" err="1"/>
              <a:t>Ấn</a:t>
            </a:r>
            <a:r>
              <a:rPr lang="en-US" sz="2000" dirty="0"/>
              <a:t> </a:t>
            </a:r>
            <a:r>
              <a:rPr lang="en-US" sz="2000" dirty="0" err="1"/>
              <a:t>giữ</a:t>
            </a:r>
            <a:r>
              <a:rPr lang="en-US" sz="2000" dirty="0"/>
              <a:t> </a:t>
            </a:r>
            <a:r>
              <a:rPr lang="en-US" sz="2000" dirty="0" err="1"/>
              <a:t>nút</a:t>
            </a:r>
            <a:r>
              <a:rPr lang="en-US" sz="2000" dirty="0"/>
              <a:t> mode 3s)</a:t>
            </a:r>
          </a:p>
          <a:p>
            <a:pPr lvl="1">
              <a:buFont typeface="Wingdings" panose="05000000000000000000" pitchFamily="2" charset="2"/>
              <a:buNone/>
              <a:defRPr/>
            </a:pPr>
            <a:r>
              <a:rPr lang="en-US" sz="2000" dirty="0"/>
              <a:t>// </a:t>
            </a:r>
            <a:r>
              <a:rPr lang="en-US" sz="2000" dirty="0" err="1"/>
              <a:t>Khi</a:t>
            </a:r>
            <a:r>
              <a:rPr lang="en-US" sz="2000" dirty="0"/>
              <a:t> monitor </a:t>
            </a:r>
            <a:r>
              <a:rPr lang="en-US" sz="2000" dirty="0" err="1"/>
              <a:t>hiện</a:t>
            </a:r>
            <a:r>
              <a:rPr lang="en-US" sz="2000" dirty="0"/>
              <a:t> </a:t>
            </a:r>
            <a:r>
              <a:rPr lang="en-US" sz="2000" dirty="0" err="1"/>
              <a:t>thông</a:t>
            </a:r>
            <a:r>
              <a:rPr lang="en-US" sz="2000" dirty="0"/>
              <a:t> </a:t>
            </a:r>
            <a:r>
              <a:rPr lang="en-US" sz="2000" dirty="0" err="1"/>
              <a:t>báo</a:t>
            </a:r>
            <a:r>
              <a:rPr lang="en-US" sz="2000" dirty="0"/>
              <a:t>, </a:t>
            </a:r>
            <a:r>
              <a:rPr lang="en-US" sz="2000" dirty="0" err="1"/>
              <a:t>rồi</a:t>
            </a:r>
            <a:r>
              <a:rPr lang="en-US" sz="2000" dirty="0"/>
              <a:t> </a:t>
            </a:r>
            <a:r>
              <a:rPr lang="en-US" sz="2000" dirty="0" err="1"/>
              <a:t>thả</a:t>
            </a:r>
            <a:r>
              <a:rPr lang="en-US" sz="2000" dirty="0"/>
              <a:t> </a:t>
            </a:r>
            <a:r>
              <a:rPr lang="en-US" sz="2000" dirty="0" err="1"/>
              <a:t>nút</a:t>
            </a:r>
            <a:r>
              <a:rPr lang="en-US" sz="2000" dirty="0"/>
              <a:t> mode </a:t>
            </a:r>
            <a:r>
              <a:rPr lang="en-US" sz="2000" dirty="0" err="1"/>
              <a:t>ra</a:t>
            </a:r>
            <a:endParaRPr lang="en-US" sz="2000" dirty="0"/>
          </a:p>
          <a:p>
            <a:pPr marL="438150" lvl="1">
              <a:buNone/>
              <a:defRPr/>
            </a:pPr>
            <a:r>
              <a:rPr lang="en-US" sz="2000" b="1" dirty="0"/>
              <a:t>Switch: </a:t>
            </a:r>
            <a:r>
              <a:rPr lang="en-US" sz="2000" b="1" dirty="0" err="1"/>
              <a:t>flash_init</a:t>
            </a:r>
            <a:endParaRPr lang="en-US" sz="2000" b="1" dirty="0"/>
          </a:p>
          <a:p>
            <a:pPr marL="438150" lvl="1">
              <a:buNone/>
              <a:defRPr/>
            </a:pPr>
            <a:r>
              <a:rPr lang="en-US" sz="2000" b="1" dirty="0"/>
              <a:t>Switch: </a:t>
            </a:r>
            <a:r>
              <a:rPr lang="en-US" sz="2000" b="1" dirty="0" err="1"/>
              <a:t>load_helper</a:t>
            </a:r>
            <a:endParaRPr lang="en-US" sz="2000" b="1" dirty="0"/>
          </a:p>
          <a:p>
            <a:pPr marL="438150" lvl="1">
              <a:buNone/>
              <a:defRPr/>
            </a:pPr>
            <a:r>
              <a:rPr lang="en-US" sz="2000" b="1" dirty="0"/>
              <a:t>Switch: </a:t>
            </a:r>
            <a:r>
              <a:rPr lang="en-US" sz="2000" b="1" dirty="0" err="1"/>
              <a:t>dir</a:t>
            </a:r>
            <a:r>
              <a:rPr lang="en-US" sz="2000" b="1" dirty="0"/>
              <a:t> flash:  </a:t>
            </a:r>
            <a:r>
              <a:rPr lang="en-US" sz="2000" i="1" dirty="0">
                <a:solidFill>
                  <a:srgbClr val="FF0000"/>
                </a:solidFill>
              </a:rPr>
              <a:t>//</a:t>
            </a:r>
            <a:r>
              <a:rPr lang="en-US" sz="2000" i="1" dirty="0" err="1">
                <a:solidFill>
                  <a:srgbClr val="FF0000"/>
                </a:solidFill>
              </a:rPr>
              <a:t>xem</a:t>
            </a:r>
            <a:r>
              <a:rPr lang="en-US" sz="2000" i="1" dirty="0">
                <a:solidFill>
                  <a:srgbClr val="FF0000"/>
                </a:solidFill>
              </a:rPr>
              <a:t> </a:t>
            </a:r>
            <a:r>
              <a:rPr lang="en-US" sz="2000" i="1" dirty="0" err="1">
                <a:solidFill>
                  <a:srgbClr val="FF0000"/>
                </a:solidFill>
              </a:rPr>
              <a:t>các</a:t>
            </a:r>
            <a:r>
              <a:rPr lang="en-US" sz="2000" i="1" dirty="0">
                <a:solidFill>
                  <a:srgbClr val="FF0000"/>
                </a:solidFill>
              </a:rPr>
              <a:t> file </a:t>
            </a:r>
            <a:r>
              <a:rPr lang="en-US" sz="2000" i="1" dirty="0" err="1">
                <a:solidFill>
                  <a:srgbClr val="FF0000"/>
                </a:solidFill>
              </a:rPr>
              <a:t>chứa</a:t>
            </a:r>
            <a:r>
              <a:rPr lang="en-US" sz="2000" i="1" dirty="0">
                <a:solidFill>
                  <a:srgbClr val="FF0000"/>
                </a:solidFill>
              </a:rPr>
              <a:t> </a:t>
            </a:r>
            <a:r>
              <a:rPr lang="en-US" sz="2000" i="1" dirty="0" err="1">
                <a:solidFill>
                  <a:srgbClr val="FF0000"/>
                </a:solidFill>
              </a:rPr>
              <a:t>trong</a:t>
            </a:r>
            <a:r>
              <a:rPr lang="en-US" sz="2000" i="1" dirty="0">
                <a:solidFill>
                  <a:srgbClr val="FF0000"/>
                </a:solidFill>
              </a:rPr>
              <a:t> flash</a:t>
            </a:r>
          </a:p>
          <a:p>
            <a:pPr marL="438150" lvl="1">
              <a:buNone/>
              <a:defRPr/>
            </a:pPr>
            <a:r>
              <a:rPr lang="en-US" sz="2000" b="1" dirty="0"/>
              <a:t>Switch: rename </a:t>
            </a:r>
            <a:r>
              <a:rPr lang="en-US" sz="2000" b="1" dirty="0" err="1"/>
              <a:t>flash:config.text</a:t>
            </a:r>
            <a:r>
              <a:rPr lang="en-US" sz="2000" b="1" dirty="0"/>
              <a:t>  </a:t>
            </a:r>
            <a:r>
              <a:rPr lang="en-US" sz="2000" b="1" dirty="0" err="1"/>
              <a:t>flash:config.old</a:t>
            </a:r>
            <a:endParaRPr lang="en-US" sz="2000" b="1" dirty="0"/>
          </a:p>
          <a:p>
            <a:pPr marL="438150" lvl="1">
              <a:buNone/>
              <a:defRPr/>
            </a:pPr>
            <a:r>
              <a:rPr lang="en-US" sz="2000" i="1" dirty="0">
                <a:solidFill>
                  <a:srgbClr val="FF0000"/>
                </a:solidFill>
              </a:rPr>
              <a:t>//</a:t>
            </a:r>
            <a:r>
              <a:rPr lang="en-US" sz="2000" i="1" dirty="0" err="1">
                <a:solidFill>
                  <a:srgbClr val="FF0000"/>
                </a:solidFill>
              </a:rPr>
              <a:t>đổi</a:t>
            </a:r>
            <a:r>
              <a:rPr lang="en-US" sz="2000" i="1" dirty="0">
                <a:solidFill>
                  <a:srgbClr val="FF0000"/>
                </a:solidFill>
              </a:rPr>
              <a:t> </a:t>
            </a:r>
            <a:r>
              <a:rPr lang="en-US" sz="2000" i="1" dirty="0" err="1">
                <a:solidFill>
                  <a:srgbClr val="FF0000"/>
                </a:solidFill>
              </a:rPr>
              <a:t>tên</a:t>
            </a:r>
            <a:r>
              <a:rPr lang="en-US" sz="2000" i="1" dirty="0">
                <a:solidFill>
                  <a:srgbClr val="FF0000"/>
                </a:solidFill>
              </a:rPr>
              <a:t> file </a:t>
            </a:r>
            <a:r>
              <a:rPr lang="en-US" sz="2000" i="1" dirty="0" err="1">
                <a:solidFill>
                  <a:srgbClr val="FF0000"/>
                </a:solidFill>
              </a:rPr>
              <a:t>config.text</a:t>
            </a:r>
            <a:r>
              <a:rPr lang="en-US" sz="2000" i="1" dirty="0">
                <a:solidFill>
                  <a:srgbClr val="FF0000"/>
                </a:solidFill>
              </a:rPr>
              <a:t> </a:t>
            </a:r>
            <a:r>
              <a:rPr lang="en-US" sz="2000" i="1" dirty="0" err="1">
                <a:solidFill>
                  <a:srgbClr val="FF0000"/>
                </a:solidFill>
              </a:rPr>
              <a:t>thành</a:t>
            </a:r>
            <a:r>
              <a:rPr lang="en-US" sz="2000" i="1" dirty="0">
                <a:solidFill>
                  <a:srgbClr val="FF0000"/>
                </a:solidFill>
              </a:rPr>
              <a:t> </a:t>
            </a:r>
            <a:r>
              <a:rPr lang="en-US" sz="2000" i="1" dirty="0" err="1">
                <a:solidFill>
                  <a:srgbClr val="FF0000"/>
                </a:solidFill>
              </a:rPr>
              <a:t>config.old</a:t>
            </a:r>
            <a:endParaRPr lang="en-US" sz="2000" i="1" dirty="0">
              <a:solidFill>
                <a:srgbClr val="FF0000"/>
              </a:solidFill>
            </a:endParaRPr>
          </a:p>
          <a:p>
            <a:pPr marL="438150" lvl="1">
              <a:buNone/>
              <a:defRPr/>
            </a:pPr>
            <a:r>
              <a:rPr lang="en-US" sz="2000" b="1" dirty="0"/>
              <a:t>Switch: boot</a:t>
            </a:r>
          </a:p>
          <a:p>
            <a:pPr marL="438150" lvl="1">
              <a:buNone/>
              <a:defRPr/>
            </a:pPr>
            <a:r>
              <a:rPr lang="en-US" sz="2000" i="1" dirty="0">
                <a:solidFill>
                  <a:srgbClr val="FF0000"/>
                </a:solidFill>
              </a:rPr>
              <a:t>//continue with the configuration dialog?[yes/no]</a:t>
            </a:r>
          </a:p>
          <a:p>
            <a:pPr marL="438150" lvl="1">
              <a:buNone/>
              <a:defRPr/>
            </a:pPr>
            <a:r>
              <a:rPr lang="en-US" sz="2000" i="1" dirty="0">
                <a:solidFill>
                  <a:srgbClr val="FF0000"/>
                </a:solidFill>
              </a:rPr>
              <a:t>//no </a:t>
            </a:r>
            <a:r>
              <a:rPr lang="en-US" sz="2000" i="1" dirty="0" err="1">
                <a:solidFill>
                  <a:srgbClr val="FF0000"/>
                </a:solidFill>
              </a:rPr>
              <a:t>để</a:t>
            </a:r>
            <a:r>
              <a:rPr lang="en-US" sz="2000" i="1" dirty="0">
                <a:solidFill>
                  <a:srgbClr val="FF0000"/>
                </a:solidFill>
              </a:rPr>
              <a:t> </a:t>
            </a:r>
            <a:r>
              <a:rPr lang="en-US" sz="2000" i="1" dirty="0" err="1">
                <a:solidFill>
                  <a:srgbClr val="FF0000"/>
                </a:solidFill>
              </a:rPr>
              <a:t>bỏ</a:t>
            </a:r>
            <a:r>
              <a:rPr lang="en-US" sz="2000" i="1" dirty="0">
                <a:solidFill>
                  <a:srgbClr val="FF0000"/>
                </a:solidFill>
              </a:rPr>
              <a:t> qua </a:t>
            </a:r>
            <a:r>
              <a:rPr lang="en-US" sz="2000" i="1" dirty="0" err="1">
                <a:solidFill>
                  <a:srgbClr val="FF0000"/>
                </a:solidFill>
              </a:rPr>
              <a:t>cấu</a:t>
            </a:r>
            <a:r>
              <a:rPr lang="en-US" sz="2000" i="1" dirty="0">
                <a:solidFill>
                  <a:srgbClr val="FF0000"/>
                </a:solidFill>
              </a:rPr>
              <a:t> </a:t>
            </a:r>
            <a:r>
              <a:rPr lang="en-US" sz="2000" i="1" dirty="0" err="1">
                <a:solidFill>
                  <a:srgbClr val="FF0000"/>
                </a:solidFill>
              </a:rPr>
              <a:t>hình</a:t>
            </a:r>
            <a:endParaRPr lang="en-US" sz="2000" i="1" dirty="0">
              <a:solidFill>
                <a:srgbClr val="FF0000"/>
              </a:solidFill>
            </a:endParaRPr>
          </a:p>
          <a:p>
            <a:pPr lvl="1">
              <a:buFont typeface="Wingdings" panose="05000000000000000000" pitchFamily="2" charset="2"/>
              <a:buNone/>
              <a:defRPr/>
            </a:pPr>
            <a:endParaRPr lang="en-US" sz="2000" b="1" dirty="0"/>
          </a:p>
          <a:p>
            <a:pPr lvl="1">
              <a:defRPr/>
            </a:pPr>
            <a:endParaRPr lang="en-US" sz="2000" dirty="0"/>
          </a:p>
        </p:txBody>
      </p:sp>
      <p:pic>
        <p:nvPicPr>
          <p:cNvPr id="35846" name="Picture 6"/>
          <p:cNvPicPr>
            <a:picLocks noChangeAspect="1" noChangeArrowheads="1"/>
          </p:cNvPicPr>
          <p:nvPr/>
        </p:nvPicPr>
        <p:blipFill>
          <a:blip r:embed="rId2" cstate="print"/>
          <a:srcRect/>
          <a:stretch>
            <a:fillRect/>
          </a:stretch>
        </p:blipFill>
        <p:spPr bwMode="auto">
          <a:xfrm>
            <a:off x="9005455" y="949036"/>
            <a:ext cx="1676400" cy="3165765"/>
          </a:xfrm>
          <a:prstGeom prst="rect">
            <a:avLst/>
          </a:prstGeom>
          <a:ln>
            <a:noFill/>
          </a:ln>
          <a:effectLst>
            <a:softEdge rad="112500"/>
          </a:effectLst>
        </p:spPr>
      </p:pic>
    </p:spTree>
    <p:extLst>
      <p:ext uri="{BB962C8B-B14F-4D97-AF65-F5344CB8AC3E}">
        <p14:creationId xmlns:p14="http://schemas.microsoft.com/office/powerpoint/2010/main" val="37313240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524000" y="266701"/>
            <a:ext cx="9144000" cy="487363"/>
          </a:xfrm>
        </p:spPr>
        <p:txBody>
          <a:bodyPr/>
          <a:lstStyle/>
          <a:p>
            <a:r>
              <a:rPr lang="en-US" sz="2800" dirty="0"/>
              <a:t>IV. KHÔI PHỤC MẬT KHẨU CHO ROUTER</a:t>
            </a:r>
            <a:endParaRPr lang="en-US" dirty="0"/>
          </a:p>
        </p:txBody>
      </p:sp>
      <p:sp>
        <p:nvSpPr>
          <p:cNvPr id="35843" name="Content Placeholder 2"/>
          <p:cNvSpPr>
            <a:spLocks noGrp="1"/>
          </p:cNvSpPr>
          <p:nvPr>
            <p:ph idx="1"/>
          </p:nvPr>
        </p:nvSpPr>
        <p:spPr>
          <a:xfrm>
            <a:off x="618185" y="1066800"/>
            <a:ext cx="10689465" cy="5029200"/>
          </a:xfrm>
        </p:spPr>
        <p:txBody>
          <a:bodyPr/>
          <a:lstStyle/>
          <a:p>
            <a:pPr>
              <a:defRPr/>
            </a:pPr>
            <a:r>
              <a:rPr lang="en-US" sz="2000" u="sng" dirty="0" err="1"/>
              <a:t>Khôi</a:t>
            </a:r>
            <a:r>
              <a:rPr lang="en-US" sz="2000" u="sng" dirty="0"/>
              <a:t> </a:t>
            </a:r>
            <a:r>
              <a:rPr lang="en-US" sz="2000" u="sng" dirty="0" err="1"/>
              <a:t>phục</a:t>
            </a:r>
            <a:r>
              <a:rPr lang="en-US" sz="2000" u="sng" dirty="0"/>
              <a:t> </a:t>
            </a:r>
            <a:r>
              <a:rPr lang="en-US" sz="2000" u="sng" dirty="0" err="1"/>
              <a:t>mật</a:t>
            </a:r>
            <a:r>
              <a:rPr lang="en-US" sz="2000" u="sng" dirty="0"/>
              <a:t> </a:t>
            </a:r>
            <a:r>
              <a:rPr lang="en-US" sz="2000" u="sng" dirty="0" err="1"/>
              <a:t>khẩu</a:t>
            </a:r>
            <a:r>
              <a:rPr lang="en-US" sz="2000" u="sng" dirty="0"/>
              <a:t> </a:t>
            </a:r>
            <a:r>
              <a:rPr lang="en-US" sz="2000" u="sng" dirty="0" err="1"/>
              <a:t>cho</a:t>
            </a:r>
            <a:r>
              <a:rPr lang="en-US" sz="2000" u="sng" dirty="0"/>
              <a:t> Switch (Password Recovery)</a:t>
            </a:r>
          </a:p>
          <a:p>
            <a:pPr lvl="1">
              <a:defRPr/>
            </a:pPr>
            <a:r>
              <a:rPr lang="en-US" sz="2000" dirty="0" err="1"/>
              <a:t>Vào</a:t>
            </a:r>
            <a:r>
              <a:rPr lang="en-US" sz="2000" dirty="0"/>
              <a:t> privileged mode</a:t>
            </a:r>
          </a:p>
          <a:p>
            <a:pPr lvl="1">
              <a:buFont typeface="Wingdings" panose="05000000000000000000" pitchFamily="2" charset="2"/>
              <a:buNone/>
              <a:defRPr/>
            </a:pPr>
            <a:r>
              <a:rPr lang="en-US" sz="2000" b="1" dirty="0"/>
              <a:t>Switch</a:t>
            </a:r>
            <a:r>
              <a:rPr lang="en-US" sz="2000" dirty="0"/>
              <a:t># </a:t>
            </a:r>
            <a:r>
              <a:rPr lang="en-US" sz="2000" b="1" dirty="0"/>
              <a:t>rename </a:t>
            </a:r>
            <a:r>
              <a:rPr lang="en-US" sz="2000" b="1" dirty="0" err="1"/>
              <a:t>flash:config.old</a:t>
            </a:r>
            <a:r>
              <a:rPr lang="en-US" sz="2000" b="1" dirty="0"/>
              <a:t>  </a:t>
            </a:r>
            <a:r>
              <a:rPr lang="en-US" sz="2000" b="1" dirty="0" err="1"/>
              <a:t>flash:config.text</a:t>
            </a:r>
            <a:endParaRPr lang="en-US" sz="2000" b="1" dirty="0"/>
          </a:p>
          <a:p>
            <a:pPr lvl="1">
              <a:buFont typeface="Wingdings" panose="05000000000000000000" pitchFamily="2" charset="2"/>
              <a:buNone/>
              <a:defRPr/>
            </a:pPr>
            <a:r>
              <a:rPr lang="en-US" sz="2000" b="1" dirty="0"/>
              <a:t>Switch# copy </a:t>
            </a:r>
            <a:r>
              <a:rPr lang="en-US" sz="2000" b="1" dirty="0" err="1"/>
              <a:t>flash:config.text</a:t>
            </a:r>
            <a:r>
              <a:rPr lang="en-US" sz="2000" b="1" dirty="0"/>
              <a:t> </a:t>
            </a:r>
            <a:r>
              <a:rPr lang="en-US" sz="2000" b="1" dirty="0" err="1"/>
              <a:t>system:running-config</a:t>
            </a:r>
            <a:endParaRPr lang="en-US" sz="2000" b="1" dirty="0"/>
          </a:p>
          <a:p>
            <a:pPr lvl="1">
              <a:buFont typeface="Wingdings" panose="05000000000000000000" pitchFamily="2" charset="2"/>
              <a:buNone/>
              <a:defRPr/>
            </a:pPr>
            <a:r>
              <a:rPr lang="en-US" sz="2000" i="1" dirty="0">
                <a:solidFill>
                  <a:srgbClr val="FF0000"/>
                </a:solidFill>
              </a:rPr>
              <a:t>//</a:t>
            </a:r>
            <a:r>
              <a:rPr lang="en-US" sz="2000" i="1" dirty="0" err="1">
                <a:solidFill>
                  <a:srgbClr val="FF0000"/>
                </a:solidFill>
              </a:rPr>
              <a:t>dùng</a:t>
            </a:r>
            <a:r>
              <a:rPr lang="en-US" sz="2000" i="1" dirty="0">
                <a:solidFill>
                  <a:srgbClr val="FF0000"/>
                </a:solidFill>
              </a:rPr>
              <a:t> </a:t>
            </a:r>
            <a:r>
              <a:rPr lang="en-US" sz="2000" i="1" dirty="0" err="1">
                <a:solidFill>
                  <a:srgbClr val="FF0000"/>
                </a:solidFill>
              </a:rPr>
              <a:t>lệnh</a:t>
            </a:r>
            <a:r>
              <a:rPr lang="en-US" sz="2000" i="1" dirty="0">
                <a:solidFill>
                  <a:srgbClr val="FF0000"/>
                </a:solidFill>
              </a:rPr>
              <a:t> show run </a:t>
            </a:r>
            <a:r>
              <a:rPr lang="en-US" sz="2000" i="1" dirty="0" err="1">
                <a:solidFill>
                  <a:srgbClr val="FF0000"/>
                </a:solidFill>
              </a:rPr>
              <a:t>để</a:t>
            </a:r>
            <a:r>
              <a:rPr lang="en-US" sz="2000" i="1" dirty="0">
                <a:solidFill>
                  <a:srgbClr val="FF0000"/>
                </a:solidFill>
              </a:rPr>
              <a:t> </a:t>
            </a:r>
            <a:r>
              <a:rPr lang="en-US" sz="2000" i="1" dirty="0" err="1">
                <a:solidFill>
                  <a:srgbClr val="FF0000"/>
                </a:solidFill>
              </a:rPr>
              <a:t>xem</a:t>
            </a:r>
            <a:r>
              <a:rPr lang="en-US" sz="2000" i="1" dirty="0">
                <a:solidFill>
                  <a:srgbClr val="FF0000"/>
                </a:solidFill>
              </a:rPr>
              <a:t> password </a:t>
            </a:r>
            <a:r>
              <a:rPr lang="en-US" sz="2000" i="1" dirty="0" err="1">
                <a:solidFill>
                  <a:srgbClr val="FF0000"/>
                </a:solidFill>
              </a:rPr>
              <a:t>hoặc</a:t>
            </a:r>
            <a:r>
              <a:rPr lang="en-US" sz="2000" i="1" dirty="0">
                <a:solidFill>
                  <a:srgbClr val="FF0000"/>
                </a:solidFill>
              </a:rPr>
              <a:t> </a:t>
            </a:r>
            <a:r>
              <a:rPr lang="en-US" sz="2000" i="1" dirty="0" err="1">
                <a:solidFill>
                  <a:srgbClr val="FF0000"/>
                </a:solidFill>
              </a:rPr>
              <a:t>thay</a:t>
            </a:r>
            <a:r>
              <a:rPr lang="en-US" sz="2000" i="1" dirty="0">
                <a:solidFill>
                  <a:srgbClr val="FF0000"/>
                </a:solidFill>
              </a:rPr>
              <a:t> </a:t>
            </a:r>
            <a:r>
              <a:rPr lang="en-US" sz="2000" i="1" dirty="0" err="1">
                <a:solidFill>
                  <a:srgbClr val="FF0000"/>
                </a:solidFill>
              </a:rPr>
              <a:t>đổi</a:t>
            </a:r>
            <a:r>
              <a:rPr lang="en-US" sz="2000" i="1" dirty="0">
                <a:solidFill>
                  <a:srgbClr val="FF0000"/>
                </a:solidFill>
              </a:rPr>
              <a:t>.</a:t>
            </a:r>
          </a:p>
          <a:p>
            <a:pPr lvl="1">
              <a:buFont typeface="Wingdings" panose="05000000000000000000" pitchFamily="2" charset="2"/>
              <a:buNone/>
              <a:defRPr/>
            </a:pPr>
            <a:r>
              <a:rPr lang="en-US" sz="2000" b="1" dirty="0"/>
              <a:t>Switch# copy run start</a:t>
            </a:r>
          </a:p>
          <a:p>
            <a:pPr>
              <a:defRPr/>
            </a:pPr>
            <a:r>
              <a:rPr lang="en-US" sz="2000" u="sng" dirty="0" err="1"/>
              <a:t>Xóa</a:t>
            </a:r>
            <a:r>
              <a:rPr lang="en-US" sz="2000" u="sng" dirty="0"/>
              <a:t> </a:t>
            </a:r>
            <a:r>
              <a:rPr lang="en-US" sz="2000" u="sng" dirty="0" err="1"/>
              <a:t>cấu</a:t>
            </a:r>
            <a:r>
              <a:rPr lang="en-US" sz="2000" u="sng" dirty="0"/>
              <a:t> </a:t>
            </a:r>
            <a:r>
              <a:rPr lang="en-US" sz="2000" u="sng" dirty="0" err="1"/>
              <a:t>hình</a:t>
            </a:r>
            <a:r>
              <a:rPr lang="en-US" sz="2000" u="sng" dirty="0"/>
              <a:t> Switch</a:t>
            </a:r>
          </a:p>
          <a:p>
            <a:pPr lvl="1">
              <a:buFont typeface="Wingdings" panose="05000000000000000000" pitchFamily="2" charset="2"/>
              <a:buNone/>
              <a:defRPr/>
            </a:pPr>
            <a:r>
              <a:rPr lang="en-US" sz="2000" b="1" dirty="0"/>
              <a:t>Switch# delete vlan.dat</a:t>
            </a:r>
          </a:p>
          <a:p>
            <a:pPr lvl="1">
              <a:buFont typeface="Wingdings" panose="05000000000000000000" pitchFamily="2" charset="2"/>
              <a:buNone/>
              <a:defRPr/>
            </a:pPr>
            <a:r>
              <a:rPr lang="en-US" sz="2000" b="1" dirty="0"/>
              <a:t>Switch# erase startup-</a:t>
            </a:r>
            <a:r>
              <a:rPr lang="en-US" sz="2000" b="1" dirty="0" err="1"/>
              <a:t>config</a:t>
            </a:r>
            <a:endParaRPr lang="en-US" sz="2000" b="1" dirty="0"/>
          </a:p>
          <a:p>
            <a:pPr lvl="1">
              <a:buFont typeface="Wingdings" panose="05000000000000000000" pitchFamily="2" charset="2"/>
              <a:buNone/>
              <a:defRPr/>
            </a:pPr>
            <a:r>
              <a:rPr lang="en-US" sz="2000" b="1" dirty="0"/>
              <a:t>Switch# reload</a:t>
            </a:r>
          </a:p>
          <a:p>
            <a:pPr marL="355600" lvl="1">
              <a:buNone/>
              <a:defRPr/>
            </a:pPr>
            <a:r>
              <a:rPr lang="en-US" sz="2000" i="1" dirty="0"/>
              <a:t>Note: Switch </a:t>
            </a:r>
            <a:r>
              <a:rPr lang="en-US" sz="2000" i="1" dirty="0" err="1"/>
              <a:t>thuộc</a:t>
            </a:r>
            <a:r>
              <a:rPr lang="en-US" sz="2000" i="1" dirty="0"/>
              <a:t> layer 2, </a:t>
            </a:r>
            <a:r>
              <a:rPr lang="en-US" sz="2000" i="1" dirty="0" err="1"/>
              <a:t>nên</a:t>
            </a:r>
            <a:r>
              <a:rPr lang="en-US" sz="2000" i="1" dirty="0"/>
              <a:t> </a:t>
            </a:r>
            <a:r>
              <a:rPr lang="en-US" sz="2000" i="1" dirty="0" err="1"/>
              <a:t>không</a:t>
            </a:r>
            <a:r>
              <a:rPr lang="en-US" sz="2000" i="1" dirty="0"/>
              <a:t> </a:t>
            </a:r>
            <a:r>
              <a:rPr lang="en-US" sz="2000" i="1" dirty="0" err="1"/>
              <a:t>đặt</a:t>
            </a:r>
            <a:r>
              <a:rPr lang="en-US" sz="2000" i="1" dirty="0"/>
              <a:t> IP </a:t>
            </a:r>
            <a:r>
              <a:rPr lang="en-US" sz="2000" i="1" dirty="0" err="1"/>
              <a:t>cho</a:t>
            </a:r>
            <a:r>
              <a:rPr lang="en-US" sz="2000" i="1" dirty="0"/>
              <a:t> </a:t>
            </a:r>
            <a:r>
              <a:rPr lang="en-US" sz="2000" i="1" dirty="0" err="1"/>
              <a:t>cổng</a:t>
            </a:r>
            <a:r>
              <a:rPr lang="en-US" sz="2000" i="1" dirty="0"/>
              <a:t> # router</a:t>
            </a:r>
          </a:p>
          <a:p>
            <a:pPr marL="355600" lvl="1">
              <a:buNone/>
              <a:defRPr/>
            </a:pPr>
            <a:endParaRPr lang="en-US" sz="2000" i="1" dirty="0"/>
          </a:p>
          <a:p>
            <a:pPr lvl="1">
              <a:buFont typeface="Wingdings" panose="05000000000000000000" pitchFamily="2" charset="2"/>
              <a:buNone/>
              <a:defRPr/>
            </a:pPr>
            <a:endParaRPr lang="en-US" sz="2000" b="1" dirty="0"/>
          </a:p>
          <a:p>
            <a:pPr lvl="1">
              <a:buFont typeface="Wingdings" panose="05000000000000000000" pitchFamily="2" charset="2"/>
              <a:buNone/>
              <a:defRPr/>
            </a:pPr>
            <a:endParaRPr lang="en-US" sz="2000" dirty="0"/>
          </a:p>
          <a:p>
            <a:pPr lvl="1">
              <a:buFont typeface="Wingdings" panose="05000000000000000000" pitchFamily="2" charset="2"/>
              <a:buNone/>
              <a:defRPr/>
            </a:pPr>
            <a:endParaRPr lang="en-US" sz="2000" b="1" dirty="0"/>
          </a:p>
          <a:p>
            <a:pPr lvl="1">
              <a:defRPr/>
            </a:pPr>
            <a:endParaRPr lang="en-US" sz="2000" dirty="0"/>
          </a:p>
        </p:txBody>
      </p:sp>
    </p:spTree>
    <p:extLst>
      <p:ext uri="{BB962C8B-B14F-4D97-AF65-F5344CB8AC3E}">
        <p14:creationId xmlns:p14="http://schemas.microsoft.com/office/powerpoint/2010/main" val="21056216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sz="2800"/>
              <a:t>MỘT SỐ LỖI CẦN CHÚ Ý</a:t>
            </a:r>
            <a:endParaRPr lang="vi-VN" sz="2800"/>
          </a:p>
        </p:txBody>
      </p:sp>
      <p:sp>
        <p:nvSpPr>
          <p:cNvPr id="40963" name="Content Placeholder 2"/>
          <p:cNvSpPr>
            <a:spLocks noGrp="1"/>
          </p:cNvSpPr>
          <p:nvPr>
            <p:ph idx="1"/>
          </p:nvPr>
        </p:nvSpPr>
        <p:spPr/>
        <p:txBody>
          <a:bodyPr/>
          <a:lstStyle/>
          <a:p>
            <a:r>
              <a:rPr lang="en-US"/>
              <a:t>Lỗi chèn chữ vào giữa khi cấu hình:</a:t>
            </a:r>
          </a:p>
          <a:p>
            <a:pPr>
              <a:buFont typeface="Wingdings" panose="05000000000000000000" pitchFamily="2" charset="2"/>
              <a:buNone/>
            </a:pPr>
            <a:r>
              <a:rPr lang="en-US" b="1"/>
              <a:t>Router(config)# no ip domain-lookup</a:t>
            </a:r>
          </a:p>
          <a:p>
            <a:r>
              <a:rPr lang="en-US"/>
              <a:t>Lỗi đẩy chữ chạy ra phía sau:</a:t>
            </a:r>
          </a:p>
          <a:p>
            <a:pPr>
              <a:buFont typeface="Wingdings" panose="05000000000000000000" pitchFamily="2" charset="2"/>
              <a:buNone/>
            </a:pPr>
            <a:r>
              <a:rPr lang="en-US" b="1"/>
              <a:t>Router(config)# line console 0</a:t>
            </a:r>
          </a:p>
          <a:p>
            <a:pPr>
              <a:buFont typeface="Wingdings" panose="05000000000000000000" pitchFamily="2" charset="2"/>
              <a:buNone/>
            </a:pPr>
            <a:r>
              <a:rPr lang="en-US" b="1"/>
              <a:t>Router(config-line)# logging synchronous</a:t>
            </a:r>
            <a:endParaRPr lang="vi-VN"/>
          </a:p>
        </p:txBody>
      </p:sp>
    </p:spTree>
    <p:extLst>
      <p:ext uri="{BB962C8B-B14F-4D97-AF65-F5344CB8AC3E}">
        <p14:creationId xmlns:p14="http://schemas.microsoft.com/office/powerpoint/2010/main" val="7713595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2133600" y="266700"/>
            <a:ext cx="7467600" cy="571500"/>
          </a:xfrm>
        </p:spPr>
        <p:txBody>
          <a:bodyPr/>
          <a:lstStyle/>
          <a:p>
            <a:r>
              <a:rPr lang="en-US" sz="2800" dirty="0"/>
              <a:t>V. CISCO DISCOVERY PROTOCOL (CDP)</a:t>
            </a:r>
            <a:endParaRPr lang="vi-VN" sz="2800" dirty="0"/>
          </a:p>
        </p:txBody>
      </p:sp>
      <p:sp>
        <p:nvSpPr>
          <p:cNvPr id="48131" name="Content Placeholder 2"/>
          <p:cNvSpPr>
            <a:spLocks noGrp="1"/>
          </p:cNvSpPr>
          <p:nvPr>
            <p:ph idx="1"/>
          </p:nvPr>
        </p:nvSpPr>
        <p:spPr>
          <a:xfrm>
            <a:off x="352022" y="1104900"/>
            <a:ext cx="11487955" cy="5105400"/>
          </a:xfrm>
        </p:spPr>
        <p:txBody>
          <a:bodyPr/>
          <a:lstStyle/>
          <a:p>
            <a:pPr algn="just">
              <a:lnSpc>
                <a:spcPct val="150000"/>
              </a:lnSpc>
            </a:pPr>
            <a:r>
              <a:rPr lang="en-US" dirty="0"/>
              <a:t>Cisco Discovery Protocol (CDP) </a:t>
            </a:r>
            <a:r>
              <a:rPr lang="en-US" dirty="0" err="1"/>
              <a:t>là</a:t>
            </a:r>
            <a:r>
              <a:rPr lang="en-US" dirty="0"/>
              <a:t> </a:t>
            </a:r>
            <a:r>
              <a:rPr lang="en-US" dirty="0" err="1"/>
              <a:t>giao</a:t>
            </a:r>
            <a:r>
              <a:rPr lang="en-US" dirty="0"/>
              <a:t> </a:t>
            </a:r>
            <a:r>
              <a:rPr lang="en-US" dirty="0" err="1"/>
              <a:t>thức</a:t>
            </a:r>
            <a:r>
              <a:rPr lang="en-US" dirty="0"/>
              <a:t> </a:t>
            </a:r>
            <a:r>
              <a:rPr lang="en-US" dirty="0" err="1"/>
              <a:t>riêng</a:t>
            </a:r>
            <a:r>
              <a:rPr lang="en-US" dirty="0"/>
              <a:t> </a:t>
            </a:r>
            <a:r>
              <a:rPr lang="en-US" dirty="0" err="1"/>
              <a:t>của</a:t>
            </a:r>
            <a:r>
              <a:rPr lang="en-US" dirty="0"/>
              <a:t> Cisco. </a:t>
            </a:r>
            <a:r>
              <a:rPr lang="en-US" dirty="0" err="1"/>
              <a:t>Nó</a:t>
            </a:r>
            <a:r>
              <a:rPr lang="en-US" dirty="0"/>
              <a:t> </a:t>
            </a:r>
            <a:r>
              <a:rPr lang="en-US" dirty="0" err="1"/>
              <a:t>được</a:t>
            </a:r>
            <a:r>
              <a:rPr lang="en-US" dirty="0"/>
              <a:t> </a:t>
            </a:r>
            <a:r>
              <a:rPr lang="en-US" dirty="0" err="1"/>
              <a:t>dùng</a:t>
            </a:r>
            <a:r>
              <a:rPr lang="en-US" dirty="0"/>
              <a:t> </a:t>
            </a:r>
            <a:r>
              <a:rPr lang="en-US" dirty="0" err="1"/>
              <a:t>để</a:t>
            </a:r>
            <a:r>
              <a:rPr lang="en-US" dirty="0"/>
              <a:t> </a:t>
            </a:r>
            <a:r>
              <a:rPr lang="en-US" dirty="0" err="1"/>
              <a:t>thu</a:t>
            </a:r>
            <a:r>
              <a:rPr lang="en-US" dirty="0"/>
              <a:t> </a:t>
            </a:r>
            <a:r>
              <a:rPr lang="en-US" dirty="0" err="1"/>
              <a:t>thập</a:t>
            </a:r>
            <a:r>
              <a:rPr lang="en-US" dirty="0"/>
              <a:t> </a:t>
            </a:r>
            <a:r>
              <a:rPr lang="en-US" dirty="0" err="1"/>
              <a:t>thông</a:t>
            </a:r>
            <a:r>
              <a:rPr lang="en-US" dirty="0"/>
              <a:t> tin </a:t>
            </a:r>
            <a:r>
              <a:rPr lang="en-US" dirty="0" err="1"/>
              <a:t>về</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lân</a:t>
            </a:r>
            <a:r>
              <a:rPr lang="en-US" dirty="0"/>
              <a:t> </a:t>
            </a:r>
            <a:r>
              <a:rPr lang="en-US" dirty="0" err="1"/>
              <a:t>cận</a:t>
            </a:r>
            <a:r>
              <a:rPr lang="en-US" dirty="0"/>
              <a:t>.</a:t>
            </a:r>
          </a:p>
          <a:p>
            <a:pPr algn="just">
              <a:lnSpc>
                <a:spcPct val="150000"/>
              </a:lnSpc>
            </a:pPr>
            <a:r>
              <a:rPr lang="en-US" dirty="0" err="1"/>
              <a:t>Khi</a:t>
            </a:r>
            <a:r>
              <a:rPr lang="en-US" dirty="0"/>
              <a:t> </a:t>
            </a:r>
            <a:r>
              <a:rPr lang="en-US" dirty="0" err="1"/>
              <a:t>sử</a:t>
            </a:r>
            <a:r>
              <a:rPr lang="en-US" dirty="0"/>
              <a:t> </a:t>
            </a:r>
            <a:r>
              <a:rPr lang="en-US" dirty="0" err="1"/>
              <a:t>dụng</a:t>
            </a:r>
            <a:r>
              <a:rPr lang="en-US" dirty="0"/>
              <a:t> </a:t>
            </a:r>
            <a:r>
              <a:rPr lang="en-US" dirty="0" err="1"/>
              <a:t>giao</a:t>
            </a:r>
            <a:r>
              <a:rPr lang="en-US" dirty="0"/>
              <a:t> </a:t>
            </a:r>
            <a:r>
              <a:rPr lang="en-US" dirty="0" err="1"/>
              <a:t>thức</a:t>
            </a:r>
            <a:r>
              <a:rPr lang="en-US" dirty="0"/>
              <a:t> CDP, ta </a:t>
            </a:r>
            <a:r>
              <a:rPr lang="en-US" dirty="0" err="1"/>
              <a:t>có</a:t>
            </a:r>
            <a:r>
              <a:rPr lang="en-US" dirty="0"/>
              <a:t> </a:t>
            </a:r>
            <a:r>
              <a:rPr lang="en-US" dirty="0" err="1"/>
              <a:t>thể</a:t>
            </a:r>
            <a:r>
              <a:rPr lang="en-US" dirty="0"/>
              <a:t> </a:t>
            </a:r>
            <a:r>
              <a:rPr lang="en-US" dirty="0" err="1"/>
              <a:t>biết</a:t>
            </a:r>
            <a:r>
              <a:rPr lang="en-US" dirty="0"/>
              <a:t> </a:t>
            </a:r>
            <a:r>
              <a:rPr lang="en-US" dirty="0" err="1"/>
              <a:t>được</a:t>
            </a:r>
            <a:r>
              <a:rPr lang="en-US" dirty="0"/>
              <a:t> </a:t>
            </a:r>
            <a:r>
              <a:rPr lang="en-US" dirty="0" err="1"/>
              <a:t>thông</a:t>
            </a:r>
            <a:r>
              <a:rPr lang="en-US" dirty="0"/>
              <a:t> tin </a:t>
            </a:r>
            <a:r>
              <a:rPr lang="en-US" dirty="0" err="1"/>
              <a:t>phần</a:t>
            </a:r>
            <a:r>
              <a:rPr lang="en-US" dirty="0"/>
              <a:t> </a:t>
            </a:r>
            <a:r>
              <a:rPr lang="en-US" dirty="0" err="1"/>
              <a:t>cứng</a:t>
            </a:r>
            <a:r>
              <a:rPr lang="en-US" dirty="0"/>
              <a:t>, </a:t>
            </a:r>
            <a:r>
              <a:rPr lang="en-US" dirty="0" err="1"/>
              <a:t>phần</a:t>
            </a:r>
            <a:r>
              <a:rPr lang="en-US" dirty="0"/>
              <a:t> </a:t>
            </a:r>
            <a:r>
              <a:rPr lang="en-US" dirty="0" err="1"/>
              <a:t>mềm</a:t>
            </a:r>
            <a:r>
              <a:rPr lang="en-US" dirty="0"/>
              <a:t> </a:t>
            </a:r>
            <a:r>
              <a:rPr lang="en-US" dirty="0" err="1"/>
              <a:t>của</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láng</a:t>
            </a:r>
            <a:r>
              <a:rPr lang="en-US" dirty="0"/>
              <a:t> </a:t>
            </a:r>
            <a:r>
              <a:rPr lang="en-US" dirty="0" err="1"/>
              <a:t>giềng</a:t>
            </a:r>
            <a:r>
              <a:rPr lang="en-US" dirty="0"/>
              <a:t>.</a:t>
            </a:r>
          </a:p>
          <a:p>
            <a:pPr algn="just">
              <a:lnSpc>
                <a:spcPct val="150000"/>
              </a:lnSpc>
            </a:pPr>
            <a:r>
              <a:rPr lang="en-US" dirty="0" err="1"/>
              <a:t>Thông</a:t>
            </a:r>
            <a:r>
              <a:rPr lang="en-US" dirty="0"/>
              <a:t> tin </a:t>
            </a:r>
            <a:r>
              <a:rPr lang="en-US" dirty="0" err="1"/>
              <a:t>này</a:t>
            </a:r>
            <a:r>
              <a:rPr lang="en-US" dirty="0"/>
              <a:t> </a:t>
            </a:r>
            <a:r>
              <a:rPr lang="en-US" dirty="0" err="1"/>
              <a:t>rất</a:t>
            </a:r>
            <a:r>
              <a:rPr lang="en-US" dirty="0"/>
              <a:t> </a:t>
            </a:r>
            <a:r>
              <a:rPr lang="en-US" dirty="0" err="1"/>
              <a:t>hữu</a:t>
            </a:r>
            <a:r>
              <a:rPr lang="en-US" dirty="0"/>
              <a:t> </a:t>
            </a:r>
            <a:r>
              <a:rPr lang="en-US" dirty="0" err="1"/>
              <a:t>ích</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xử</a:t>
            </a:r>
            <a:r>
              <a:rPr lang="en-US" dirty="0"/>
              <a:t> </a:t>
            </a:r>
            <a:r>
              <a:rPr lang="en-US" dirty="0" err="1"/>
              <a:t>lý</a:t>
            </a:r>
            <a:r>
              <a:rPr lang="en-US" dirty="0"/>
              <a:t> </a:t>
            </a:r>
            <a:r>
              <a:rPr lang="en-US" dirty="0" err="1"/>
              <a:t>sự</a:t>
            </a:r>
            <a:r>
              <a:rPr lang="en-US" dirty="0"/>
              <a:t> </a:t>
            </a:r>
            <a:r>
              <a:rPr lang="en-US" dirty="0" err="1"/>
              <a:t>cố</a:t>
            </a:r>
            <a:r>
              <a:rPr lang="en-US" dirty="0"/>
              <a:t> hay </a:t>
            </a:r>
            <a:r>
              <a:rPr lang="en-US" dirty="0" err="1"/>
              <a:t>kiểm</a:t>
            </a:r>
            <a:r>
              <a:rPr lang="en-US" dirty="0"/>
              <a:t> </a:t>
            </a:r>
            <a:r>
              <a:rPr lang="en-US" dirty="0" err="1"/>
              <a:t>soát</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trong</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mạng</a:t>
            </a:r>
            <a:r>
              <a:rPr lang="en-US" dirty="0"/>
              <a:t>.</a:t>
            </a:r>
          </a:p>
          <a:p>
            <a:pPr algn="just">
              <a:lnSpc>
                <a:spcPct val="150000"/>
              </a:lnSpc>
            </a:pPr>
            <a:r>
              <a:rPr lang="en-US" dirty="0" err="1"/>
              <a:t>Giao</a:t>
            </a:r>
            <a:r>
              <a:rPr lang="en-US" dirty="0"/>
              <a:t> </a:t>
            </a:r>
            <a:r>
              <a:rPr lang="en-US" dirty="0" err="1"/>
              <a:t>thức</a:t>
            </a:r>
            <a:r>
              <a:rPr lang="en-US" dirty="0"/>
              <a:t> CDP </a:t>
            </a:r>
            <a:r>
              <a:rPr lang="en-US" dirty="0" err="1"/>
              <a:t>mặc</a:t>
            </a:r>
            <a:r>
              <a:rPr lang="en-US" dirty="0"/>
              <a:t> </a:t>
            </a:r>
            <a:r>
              <a:rPr lang="en-US" dirty="0" err="1"/>
              <a:t>định</a:t>
            </a:r>
            <a:r>
              <a:rPr lang="en-US" dirty="0"/>
              <a:t>(default) </a:t>
            </a:r>
            <a:r>
              <a:rPr lang="en-US" dirty="0" err="1"/>
              <a:t>được</a:t>
            </a:r>
            <a:r>
              <a:rPr lang="en-US" dirty="0"/>
              <a:t> </a:t>
            </a:r>
            <a:r>
              <a:rPr lang="en-US" dirty="0" err="1"/>
              <a:t>bật</a:t>
            </a:r>
            <a:r>
              <a:rPr lang="en-US" dirty="0"/>
              <a:t> </a:t>
            </a:r>
            <a:r>
              <a:rPr lang="en-US" dirty="0" err="1"/>
              <a:t>trên</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của</a:t>
            </a:r>
            <a:r>
              <a:rPr lang="en-US" dirty="0"/>
              <a:t> Cisco </a:t>
            </a:r>
            <a:endParaRPr lang="vi-VN" dirty="0"/>
          </a:p>
        </p:txBody>
      </p:sp>
    </p:spTree>
    <p:extLst>
      <p:ext uri="{BB962C8B-B14F-4D97-AF65-F5344CB8AC3E}">
        <p14:creationId xmlns:p14="http://schemas.microsoft.com/office/powerpoint/2010/main" val="33108988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2133600" y="266700"/>
            <a:ext cx="7467600" cy="571500"/>
          </a:xfrm>
        </p:spPr>
        <p:txBody>
          <a:bodyPr/>
          <a:lstStyle/>
          <a:p>
            <a:r>
              <a:rPr lang="en-US" sz="2800" dirty="0"/>
              <a:t>V. CISCO DISCOVERY PROTOCOL (CDP)</a:t>
            </a:r>
            <a:endParaRPr lang="vi-VN" sz="2800" dirty="0"/>
          </a:p>
        </p:txBody>
      </p:sp>
      <p:sp>
        <p:nvSpPr>
          <p:cNvPr id="49155" name="Content Placeholder 2"/>
          <p:cNvSpPr>
            <a:spLocks noGrp="1"/>
          </p:cNvSpPr>
          <p:nvPr>
            <p:ph idx="1"/>
          </p:nvPr>
        </p:nvSpPr>
        <p:spPr>
          <a:xfrm>
            <a:off x="1752600" y="1371600"/>
            <a:ext cx="8686800" cy="4724400"/>
          </a:xfrm>
        </p:spPr>
        <p:txBody>
          <a:bodyPr/>
          <a:lstStyle/>
          <a:p>
            <a:pPr lvl="1">
              <a:lnSpc>
                <a:spcPct val="150000"/>
              </a:lnSpc>
              <a:buFont typeface="Wingdings" panose="05000000000000000000" pitchFamily="2" charset="2"/>
              <a:buChar char="v"/>
            </a:pPr>
            <a:r>
              <a:rPr lang="en-US" sz="2400"/>
              <a:t>Cisco Discovery Protocol runs on Cisco IOS devices.</a:t>
            </a:r>
          </a:p>
          <a:p>
            <a:pPr lvl="1">
              <a:lnSpc>
                <a:spcPct val="150000"/>
              </a:lnSpc>
              <a:buFont typeface="Wingdings" panose="05000000000000000000" pitchFamily="2" charset="2"/>
              <a:buChar char="v"/>
            </a:pPr>
            <a:r>
              <a:rPr lang="en-US" sz="2400"/>
              <a:t>Summary information includes:</a:t>
            </a:r>
          </a:p>
          <a:p>
            <a:pPr lvl="2">
              <a:lnSpc>
                <a:spcPct val="150000"/>
              </a:lnSpc>
              <a:buFontTx/>
              <a:buChar char="–"/>
            </a:pPr>
            <a:r>
              <a:rPr lang="en-US"/>
              <a:t>Device identifiers</a:t>
            </a:r>
          </a:p>
          <a:p>
            <a:pPr lvl="2">
              <a:lnSpc>
                <a:spcPct val="150000"/>
              </a:lnSpc>
              <a:buFontTx/>
              <a:buChar char="–"/>
            </a:pPr>
            <a:r>
              <a:rPr lang="en-US"/>
              <a:t>Address list</a:t>
            </a:r>
          </a:p>
          <a:p>
            <a:pPr lvl="2">
              <a:lnSpc>
                <a:spcPct val="150000"/>
              </a:lnSpc>
              <a:buFontTx/>
              <a:buChar char="–"/>
            </a:pPr>
            <a:r>
              <a:rPr lang="en-US"/>
              <a:t>Port identifier</a:t>
            </a:r>
          </a:p>
          <a:p>
            <a:pPr lvl="2">
              <a:lnSpc>
                <a:spcPct val="150000"/>
              </a:lnSpc>
              <a:buFontTx/>
              <a:buChar char="–"/>
            </a:pPr>
            <a:r>
              <a:rPr lang="en-US"/>
              <a:t>Capabilities list</a:t>
            </a:r>
          </a:p>
          <a:p>
            <a:pPr lvl="2">
              <a:lnSpc>
                <a:spcPct val="150000"/>
              </a:lnSpc>
              <a:buFontTx/>
              <a:buChar char="–"/>
            </a:pPr>
            <a:r>
              <a:rPr lang="en-US"/>
              <a:t>Platform</a:t>
            </a:r>
          </a:p>
          <a:p>
            <a:endParaRPr lang="vi-VN"/>
          </a:p>
        </p:txBody>
      </p:sp>
      <p:pic>
        <p:nvPicPr>
          <p:cNvPr id="49158" name="Picture 5" descr="301P_2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0563" y="2555875"/>
            <a:ext cx="4686300"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4683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sz="2800" dirty="0"/>
              <a:t>V. CISCO DISCOVERY PROTOCOL (CDP)</a:t>
            </a:r>
            <a:endParaRPr lang="vi-VN" sz="2800" dirty="0"/>
          </a:p>
        </p:txBody>
      </p:sp>
      <p:sp>
        <p:nvSpPr>
          <p:cNvPr id="50179" name="Content Placeholder 2"/>
          <p:cNvSpPr>
            <a:spLocks noGrp="1"/>
          </p:cNvSpPr>
          <p:nvPr>
            <p:ph idx="1"/>
          </p:nvPr>
        </p:nvSpPr>
        <p:spPr>
          <a:xfrm>
            <a:off x="266700" y="1066800"/>
            <a:ext cx="8267700" cy="4229100"/>
          </a:xfrm>
        </p:spPr>
        <p:txBody>
          <a:bodyPr/>
          <a:lstStyle/>
          <a:p>
            <a:r>
              <a:rPr lang="en-US" dirty="0" err="1"/>
              <a:t>Các</a:t>
            </a:r>
            <a:r>
              <a:rPr lang="en-US" dirty="0"/>
              <a:t> </a:t>
            </a:r>
            <a:r>
              <a:rPr lang="en-US" dirty="0" err="1"/>
              <a:t>câu</a:t>
            </a:r>
            <a:r>
              <a:rPr lang="en-US" dirty="0"/>
              <a:t> </a:t>
            </a:r>
            <a:r>
              <a:rPr lang="en-US" dirty="0" err="1"/>
              <a:t>lệnh</a:t>
            </a:r>
            <a:r>
              <a:rPr lang="en-US" dirty="0"/>
              <a:t> </a:t>
            </a:r>
            <a:r>
              <a:rPr lang="en-US" dirty="0" err="1"/>
              <a:t>hiển</a:t>
            </a:r>
            <a:r>
              <a:rPr lang="en-US" dirty="0"/>
              <a:t> </a:t>
            </a:r>
            <a:r>
              <a:rPr lang="en-US" dirty="0" err="1"/>
              <a:t>thị</a:t>
            </a:r>
            <a:r>
              <a:rPr lang="en-US" dirty="0"/>
              <a:t> </a:t>
            </a:r>
            <a:r>
              <a:rPr lang="en-US" dirty="0" err="1"/>
              <a:t>thông</a:t>
            </a:r>
            <a:r>
              <a:rPr lang="en-US" dirty="0"/>
              <a:t> tin CDP:</a:t>
            </a:r>
          </a:p>
          <a:p>
            <a:pPr>
              <a:buFont typeface="Wingdings" panose="05000000000000000000" pitchFamily="2" charset="2"/>
              <a:buNone/>
            </a:pPr>
            <a:r>
              <a:rPr lang="en-US" b="1" dirty="0" err="1"/>
              <a:t>Router#show</a:t>
            </a:r>
            <a:r>
              <a:rPr lang="en-US" b="1" dirty="0"/>
              <a:t> </a:t>
            </a:r>
            <a:r>
              <a:rPr lang="en-US" b="1" dirty="0" err="1"/>
              <a:t>cdp</a:t>
            </a:r>
            <a:endParaRPr lang="en-US" b="1" dirty="0"/>
          </a:p>
          <a:p>
            <a:pPr>
              <a:buFont typeface="Wingdings" panose="05000000000000000000" pitchFamily="2" charset="2"/>
              <a:buNone/>
            </a:pPr>
            <a:r>
              <a:rPr lang="en-US" b="1" dirty="0" err="1"/>
              <a:t>Router#show</a:t>
            </a:r>
            <a:r>
              <a:rPr lang="en-US" b="1" dirty="0"/>
              <a:t> </a:t>
            </a:r>
            <a:r>
              <a:rPr lang="en-US" b="1" dirty="0" err="1"/>
              <a:t>cdp</a:t>
            </a:r>
            <a:r>
              <a:rPr lang="en-US" b="1" dirty="0"/>
              <a:t> interface</a:t>
            </a:r>
          </a:p>
          <a:p>
            <a:pPr>
              <a:buFont typeface="Wingdings" panose="05000000000000000000" pitchFamily="2" charset="2"/>
              <a:buNone/>
            </a:pPr>
            <a:r>
              <a:rPr lang="en-US" b="1" dirty="0" err="1"/>
              <a:t>Router#show</a:t>
            </a:r>
            <a:r>
              <a:rPr lang="en-US" b="1" dirty="0"/>
              <a:t> </a:t>
            </a:r>
            <a:r>
              <a:rPr lang="en-US" b="1" dirty="0" err="1"/>
              <a:t>cdp</a:t>
            </a:r>
            <a:r>
              <a:rPr lang="en-US" b="1" dirty="0"/>
              <a:t> traffic</a:t>
            </a:r>
          </a:p>
          <a:p>
            <a:pPr>
              <a:buFont typeface="Wingdings" panose="05000000000000000000" pitchFamily="2" charset="2"/>
              <a:buNone/>
            </a:pPr>
            <a:r>
              <a:rPr lang="en-US" b="1" dirty="0" err="1"/>
              <a:t>Router#show</a:t>
            </a:r>
            <a:r>
              <a:rPr lang="en-US" b="1" dirty="0"/>
              <a:t> </a:t>
            </a:r>
            <a:r>
              <a:rPr lang="en-US" b="1" dirty="0" err="1"/>
              <a:t>cdp</a:t>
            </a:r>
            <a:r>
              <a:rPr lang="en-US" b="1" dirty="0"/>
              <a:t> neighbor</a:t>
            </a:r>
          </a:p>
          <a:p>
            <a:pPr>
              <a:buFont typeface="Wingdings" panose="05000000000000000000" pitchFamily="2" charset="2"/>
              <a:buNone/>
            </a:pPr>
            <a:r>
              <a:rPr lang="en-US" b="1" dirty="0" err="1"/>
              <a:t>Router#show</a:t>
            </a:r>
            <a:r>
              <a:rPr lang="en-US" b="1" dirty="0"/>
              <a:t> </a:t>
            </a:r>
            <a:r>
              <a:rPr lang="en-US" b="1" dirty="0" err="1"/>
              <a:t>cdp</a:t>
            </a:r>
            <a:r>
              <a:rPr lang="en-US" b="1" dirty="0"/>
              <a:t> neighbor detail</a:t>
            </a:r>
          </a:p>
          <a:p>
            <a:pPr>
              <a:buFont typeface="Wingdings" panose="05000000000000000000" pitchFamily="2" charset="2"/>
              <a:buNone/>
            </a:pPr>
            <a:r>
              <a:rPr lang="en-US" b="1" dirty="0" err="1"/>
              <a:t>Router#show</a:t>
            </a:r>
            <a:r>
              <a:rPr lang="en-US" b="1" dirty="0"/>
              <a:t> </a:t>
            </a:r>
            <a:r>
              <a:rPr lang="en-US" b="1" dirty="0" err="1"/>
              <a:t>cdp</a:t>
            </a:r>
            <a:r>
              <a:rPr lang="en-US" b="1" dirty="0"/>
              <a:t> entry *  </a:t>
            </a:r>
            <a:r>
              <a:rPr lang="en-US" dirty="0">
                <a:solidFill>
                  <a:srgbClr val="FF0000"/>
                </a:solidFill>
              </a:rPr>
              <a:t>//</a:t>
            </a:r>
            <a:r>
              <a:rPr lang="en-US" dirty="0" err="1">
                <a:solidFill>
                  <a:srgbClr val="FF0000"/>
                </a:solidFill>
              </a:rPr>
              <a:t>khoảng</a:t>
            </a:r>
            <a:r>
              <a:rPr lang="en-US" dirty="0">
                <a:solidFill>
                  <a:srgbClr val="FF0000"/>
                </a:solidFill>
              </a:rPr>
              <a:t> </a:t>
            </a:r>
            <a:r>
              <a:rPr lang="en-US" dirty="0" err="1">
                <a:solidFill>
                  <a:srgbClr val="FF0000"/>
                </a:solidFill>
              </a:rPr>
              <a:t>cách</a:t>
            </a:r>
            <a:endParaRPr lang="en-US" dirty="0">
              <a:solidFill>
                <a:srgbClr val="FF0000"/>
              </a:solidFill>
            </a:endParaRPr>
          </a:p>
          <a:p>
            <a:pPr>
              <a:buFont typeface="Wingdings" panose="05000000000000000000" pitchFamily="2" charset="2"/>
              <a:buNone/>
            </a:pPr>
            <a:r>
              <a:rPr lang="en-US" b="1" dirty="0" err="1"/>
              <a:t>Router#show</a:t>
            </a:r>
            <a:r>
              <a:rPr lang="en-US" b="1" dirty="0"/>
              <a:t> sessions</a:t>
            </a:r>
            <a:endParaRPr lang="en-US" dirty="0"/>
          </a:p>
        </p:txBody>
      </p:sp>
      <p:pic>
        <p:nvPicPr>
          <p:cNvPr id="50182" name="Picture 7" descr="301P_9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2705179"/>
            <a:ext cx="6362700" cy="1285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41728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sz="2800" dirty="0"/>
              <a:t>V. CISCO DISCOVERY PROTOCOL (CDP)</a:t>
            </a:r>
            <a:endParaRPr lang="vi-VN" sz="2800" dirty="0"/>
          </a:p>
        </p:txBody>
      </p:sp>
      <p:sp>
        <p:nvSpPr>
          <p:cNvPr id="51203" name="Content Placeholder 2"/>
          <p:cNvSpPr>
            <a:spLocks noGrp="1"/>
          </p:cNvSpPr>
          <p:nvPr>
            <p:ph idx="1"/>
          </p:nvPr>
        </p:nvSpPr>
        <p:spPr>
          <a:xfrm>
            <a:off x="425003" y="1143000"/>
            <a:ext cx="11766997" cy="5257800"/>
          </a:xfrm>
        </p:spPr>
        <p:txBody>
          <a:bodyPr/>
          <a:lstStyle/>
          <a:p>
            <a:pPr algn="just"/>
            <a:r>
              <a:rPr lang="en-US" sz="2000" dirty="0" err="1"/>
              <a:t>Để</a:t>
            </a:r>
            <a:r>
              <a:rPr lang="en-US" sz="2000" dirty="0"/>
              <a:t> </a:t>
            </a:r>
            <a:r>
              <a:rPr lang="en-US" sz="2000" dirty="0" err="1">
                <a:solidFill>
                  <a:srgbClr val="FF0000"/>
                </a:solidFill>
              </a:rPr>
              <a:t>tắt</a:t>
            </a:r>
            <a:r>
              <a:rPr lang="en-US" sz="2000" dirty="0"/>
              <a:t> </a:t>
            </a:r>
            <a:r>
              <a:rPr lang="en-US" sz="2000" dirty="0" err="1"/>
              <a:t>chức</a:t>
            </a:r>
            <a:r>
              <a:rPr lang="en-US" sz="2000" dirty="0"/>
              <a:t> </a:t>
            </a:r>
            <a:r>
              <a:rPr lang="en-US" sz="2000" dirty="0" err="1"/>
              <a:t>năng</a:t>
            </a:r>
            <a:r>
              <a:rPr lang="en-US" sz="2000" dirty="0"/>
              <a:t> CDP </a:t>
            </a:r>
            <a:r>
              <a:rPr lang="en-US" sz="2000" dirty="0" err="1"/>
              <a:t>trên</a:t>
            </a:r>
            <a:r>
              <a:rPr lang="en-US" sz="2000" dirty="0"/>
              <a:t> </a:t>
            </a:r>
            <a:r>
              <a:rPr lang="en-US" sz="2000" dirty="0" err="1"/>
              <a:t>toàn</a:t>
            </a:r>
            <a:r>
              <a:rPr lang="en-US" sz="2000" dirty="0"/>
              <a:t> </a:t>
            </a:r>
            <a:r>
              <a:rPr lang="en-US" sz="2000" dirty="0" err="1"/>
              <a:t>bộ</a:t>
            </a:r>
            <a:r>
              <a:rPr lang="en-US" sz="2000" dirty="0"/>
              <a:t> </a:t>
            </a:r>
            <a:r>
              <a:rPr lang="en-US" sz="2000" dirty="0" err="1"/>
              <a:t>các</a:t>
            </a:r>
            <a:r>
              <a:rPr lang="en-US" sz="2000" dirty="0"/>
              <a:t> </a:t>
            </a:r>
            <a:r>
              <a:rPr lang="en-US" sz="2000" dirty="0" err="1"/>
              <a:t>cổng</a:t>
            </a:r>
            <a:r>
              <a:rPr lang="en-US" sz="2000" dirty="0"/>
              <a:t> </a:t>
            </a:r>
            <a:r>
              <a:rPr lang="en-US" sz="2000" dirty="0" err="1"/>
              <a:t>của</a:t>
            </a:r>
            <a:r>
              <a:rPr lang="en-US" sz="2000" dirty="0"/>
              <a:t> Router:</a:t>
            </a:r>
          </a:p>
          <a:p>
            <a:pPr algn="just">
              <a:buFont typeface="Wingdings" panose="05000000000000000000" pitchFamily="2" charset="2"/>
              <a:buNone/>
            </a:pPr>
            <a:r>
              <a:rPr lang="en-US" sz="2000" b="1" dirty="0"/>
              <a:t>Router(</a:t>
            </a:r>
            <a:r>
              <a:rPr lang="en-US" sz="2000" b="1" dirty="0" err="1"/>
              <a:t>config</a:t>
            </a:r>
            <a:r>
              <a:rPr lang="en-US" sz="2000" b="1" dirty="0"/>
              <a:t>)#no </a:t>
            </a:r>
            <a:r>
              <a:rPr lang="en-US" sz="2000" b="1" dirty="0" err="1"/>
              <a:t>cdp</a:t>
            </a:r>
            <a:r>
              <a:rPr lang="en-US" sz="2000" b="1" dirty="0"/>
              <a:t> run</a:t>
            </a:r>
          </a:p>
          <a:p>
            <a:pPr algn="just"/>
            <a:r>
              <a:rPr lang="en-US" sz="2000" dirty="0" err="1"/>
              <a:t>Để</a:t>
            </a:r>
            <a:r>
              <a:rPr lang="en-US" sz="2000" dirty="0"/>
              <a:t> </a:t>
            </a:r>
            <a:r>
              <a:rPr lang="en-US" sz="2000" dirty="0" err="1">
                <a:solidFill>
                  <a:srgbClr val="FF0000"/>
                </a:solidFill>
              </a:rPr>
              <a:t>bật</a:t>
            </a:r>
            <a:r>
              <a:rPr lang="en-US" sz="2000" dirty="0">
                <a:solidFill>
                  <a:srgbClr val="FF0000"/>
                </a:solidFill>
              </a:rPr>
              <a:t> </a:t>
            </a:r>
            <a:r>
              <a:rPr lang="en-US" sz="2000" dirty="0" err="1"/>
              <a:t>chức</a:t>
            </a:r>
            <a:r>
              <a:rPr lang="en-US" sz="2000" dirty="0"/>
              <a:t> </a:t>
            </a:r>
            <a:r>
              <a:rPr lang="en-US" sz="2000" dirty="0" err="1"/>
              <a:t>năng</a:t>
            </a:r>
            <a:r>
              <a:rPr lang="en-US" sz="2000" dirty="0"/>
              <a:t> CDP </a:t>
            </a:r>
            <a:r>
              <a:rPr lang="en-US" sz="2000" dirty="0" err="1"/>
              <a:t>trên</a:t>
            </a:r>
            <a:r>
              <a:rPr lang="en-US" sz="2000" dirty="0"/>
              <a:t> </a:t>
            </a:r>
            <a:r>
              <a:rPr lang="en-US" sz="2000" dirty="0" err="1"/>
              <a:t>toàn</a:t>
            </a:r>
            <a:r>
              <a:rPr lang="en-US" sz="2000" dirty="0"/>
              <a:t> </a:t>
            </a:r>
            <a:r>
              <a:rPr lang="en-US" sz="2000" dirty="0" err="1"/>
              <a:t>bộ</a:t>
            </a:r>
            <a:r>
              <a:rPr lang="en-US" sz="2000" dirty="0"/>
              <a:t> </a:t>
            </a:r>
            <a:r>
              <a:rPr lang="en-US" sz="2000" dirty="0" err="1"/>
              <a:t>các</a:t>
            </a:r>
            <a:r>
              <a:rPr lang="en-US" sz="2000" dirty="0"/>
              <a:t> </a:t>
            </a:r>
            <a:r>
              <a:rPr lang="en-US" sz="2000" dirty="0" err="1"/>
              <a:t>cổng</a:t>
            </a:r>
            <a:r>
              <a:rPr lang="en-US" sz="2000" dirty="0"/>
              <a:t> </a:t>
            </a:r>
            <a:r>
              <a:rPr lang="en-US" sz="2000" dirty="0" err="1"/>
              <a:t>của</a:t>
            </a:r>
            <a:r>
              <a:rPr lang="en-US" sz="2000" dirty="0"/>
              <a:t> Router:</a:t>
            </a:r>
          </a:p>
          <a:p>
            <a:pPr algn="just">
              <a:buFont typeface="Wingdings" panose="05000000000000000000" pitchFamily="2" charset="2"/>
              <a:buNone/>
            </a:pPr>
            <a:r>
              <a:rPr lang="en-US" sz="2000" b="1" dirty="0"/>
              <a:t>Router(</a:t>
            </a:r>
            <a:r>
              <a:rPr lang="en-US" sz="2000" b="1" dirty="0" err="1"/>
              <a:t>config</a:t>
            </a:r>
            <a:r>
              <a:rPr lang="en-US" sz="2000" b="1" dirty="0"/>
              <a:t>)#</a:t>
            </a:r>
            <a:r>
              <a:rPr lang="en-US" sz="2000" b="1" dirty="0" err="1"/>
              <a:t>cdp</a:t>
            </a:r>
            <a:r>
              <a:rPr lang="en-US" sz="2000" b="1" dirty="0"/>
              <a:t> run</a:t>
            </a:r>
          </a:p>
          <a:p>
            <a:pPr algn="just"/>
            <a:r>
              <a:rPr lang="en-US" sz="2000" dirty="0" err="1"/>
              <a:t>Để</a:t>
            </a:r>
            <a:r>
              <a:rPr lang="en-US" sz="2000" dirty="0"/>
              <a:t> </a:t>
            </a:r>
            <a:r>
              <a:rPr lang="en-US" sz="2000" dirty="0" err="1">
                <a:solidFill>
                  <a:srgbClr val="FF0000"/>
                </a:solidFill>
              </a:rPr>
              <a:t>tắt</a:t>
            </a:r>
            <a:r>
              <a:rPr lang="en-US" sz="2000" dirty="0"/>
              <a:t> </a:t>
            </a:r>
            <a:r>
              <a:rPr lang="en-US" sz="2000" dirty="0" err="1"/>
              <a:t>chức</a:t>
            </a:r>
            <a:r>
              <a:rPr lang="en-US" sz="2000" dirty="0"/>
              <a:t> </a:t>
            </a:r>
            <a:r>
              <a:rPr lang="en-US" sz="2000" dirty="0" err="1"/>
              <a:t>năng</a:t>
            </a:r>
            <a:r>
              <a:rPr lang="en-US" sz="2000" dirty="0"/>
              <a:t> CDP </a:t>
            </a:r>
            <a:r>
              <a:rPr lang="en-US" sz="2000" dirty="0" err="1"/>
              <a:t>trên</a:t>
            </a:r>
            <a:r>
              <a:rPr lang="en-US" sz="2000" dirty="0"/>
              <a:t> </a:t>
            </a:r>
            <a:r>
              <a:rPr lang="en-US" sz="2000" dirty="0" err="1"/>
              <a:t>một</a:t>
            </a:r>
            <a:r>
              <a:rPr lang="en-US" sz="2000" dirty="0"/>
              <a:t> interface </a:t>
            </a:r>
            <a:r>
              <a:rPr lang="en-US" sz="2000" dirty="0" err="1"/>
              <a:t>của</a:t>
            </a:r>
            <a:r>
              <a:rPr lang="en-US" sz="2000" dirty="0"/>
              <a:t> Router, ta </a:t>
            </a:r>
            <a:r>
              <a:rPr lang="en-US" sz="2000" dirty="0" err="1"/>
              <a:t>vào</a:t>
            </a:r>
            <a:r>
              <a:rPr lang="en-US" sz="2000" dirty="0"/>
              <a:t> interface </a:t>
            </a:r>
            <a:r>
              <a:rPr lang="en-US" sz="2000" dirty="0" err="1"/>
              <a:t>đó</a:t>
            </a:r>
            <a:r>
              <a:rPr lang="en-US" sz="2000" dirty="0"/>
              <a:t> </a:t>
            </a:r>
            <a:r>
              <a:rPr lang="en-US" sz="2000" dirty="0" err="1"/>
              <a:t>và</a:t>
            </a:r>
            <a:r>
              <a:rPr lang="en-US" sz="2000" dirty="0"/>
              <a:t> </a:t>
            </a:r>
            <a:r>
              <a:rPr lang="en-US" sz="2000" dirty="0" err="1"/>
              <a:t>sử</a:t>
            </a:r>
            <a:r>
              <a:rPr lang="en-US" sz="2000" dirty="0"/>
              <a:t> </a:t>
            </a:r>
            <a:r>
              <a:rPr lang="en-US" sz="2000" dirty="0" err="1"/>
              <a:t>dụng</a:t>
            </a:r>
            <a:r>
              <a:rPr lang="en-US" sz="2000" dirty="0"/>
              <a:t> </a:t>
            </a:r>
            <a:r>
              <a:rPr lang="en-US" sz="2000" dirty="0" err="1"/>
              <a:t>lệnh</a:t>
            </a:r>
            <a:r>
              <a:rPr lang="en-US" sz="2000" dirty="0"/>
              <a:t>: </a:t>
            </a:r>
            <a:r>
              <a:rPr lang="en-US" sz="2000" b="1" dirty="0"/>
              <a:t>no </a:t>
            </a:r>
            <a:r>
              <a:rPr lang="en-US" sz="2000" b="1" dirty="0" err="1"/>
              <a:t>cdp</a:t>
            </a:r>
            <a:r>
              <a:rPr lang="en-US" sz="2000" b="1" dirty="0"/>
              <a:t> enable</a:t>
            </a:r>
          </a:p>
          <a:p>
            <a:pPr algn="just">
              <a:buFont typeface="Wingdings" panose="05000000000000000000" pitchFamily="2" charset="2"/>
              <a:buNone/>
            </a:pPr>
            <a:r>
              <a:rPr lang="en-US" sz="2000" b="1" dirty="0"/>
              <a:t>Router(</a:t>
            </a:r>
            <a:r>
              <a:rPr lang="en-US" sz="2000" b="1" dirty="0" err="1"/>
              <a:t>config</a:t>
            </a:r>
            <a:r>
              <a:rPr lang="en-US" sz="2000" b="1" dirty="0"/>
              <a:t>)#interface fa0/0</a:t>
            </a:r>
          </a:p>
          <a:p>
            <a:pPr algn="just">
              <a:buFont typeface="Wingdings" panose="05000000000000000000" pitchFamily="2" charset="2"/>
              <a:buNone/>
            </a:pPr>
            <a:r>
              <a:rPr lang="en-US" sz="2000" b="1" dirty="0"/>
              <a:t>Router(</a:t>
            </a:r>
            <a:r>
              <a:rPr lang="en-US" sz="2000" b="1" dirty="0" err="1"/>
              <a:t>config</a:t>
            </a:r>
            <a:r>
              <a:rPr lang="en-US" sz="2000" b="1" dirty="0"/>
              <a:t>-if)#no </a:t>
            </a:r>
            <a:r>
              <a:rPr lang="en-US" sz="2000" b="1" dirty="0" err="1"/>
              <a:t>cdp</a:t>
            </a:r>
            <a:r>
              <a:rPr lang="en-US" sz="2000" b="1" dirty="0"/>
              <a:t> enable</a:t>
            </a:r>
          </a:p>
          <a:p>
            <a:pPr algn="just"/>
            <a:r>
              <a:rPr lang="en-US" sz="2000" dirty="0" err="1"/>
              <a:t>Để</a:t>
            </a:r>
            <a:r>
              <a:rPr lang="en-US" sz="2000" dirty="0"/>
              <a:t> </a:t>
            </a:r>
            <a:r>
              <a:rPr lang="en-US" sz="2000" dirty="0" err="1">
                <a:solidFill>
                  <a:srgbClr val="FF0000"/>
                </a:solidFill>
              </a:rPr>
              <a:t>bật</a:t>
            </a:r>
            <a:r>
              <a:rPr lang="en-US" sz="2000" dirty="0"/>
              <a:t> </a:t>
            </a:r>
            <a:r>
              <a:rPr lang="en-US" sz="2000" dirty="0" err="1"/>
              <a:t>chức</a:t>
            </a:r>
            <a:r>
              <a:rPr lang="en-US" sz="2000" dirty="0"/>
              <a:t> </a:t>
            </a:r>
            <a:r>
              <a:rPr lang="en-US" sz="2000" dirty="0" err="1"/>
              <a:t>năng</a:t>
            </a:r>
            <a:r>
              <a:rPr lang="en-US" sz="2000" dirty="0"/>
              <a:t> CDP </a:t>
            </a:r>
            <a:r>
              <a:rPr lang="en-US" sz="2000" dirty="0" err="1"/>
              <a:t>trên</a:t>
            </a:r>
            <a:r>
              <a:rPr lang="en-US" sz="2000" dirty="0"/>
              <a:t> </a:t>
            </a:r>
            <a:r>
              <a:rPr lang="en-US" sz="2000" dirty="0" err="1"/>
              <a:t>một</a:t>
            </a:r>
            <a:r>
              <a:rPr lang="en-US" sz="2000" dirty="0"/>
              <a:t> interface </a:t>
            </a:r>
            <a:r>
              <a:rPr lang="en-US" sz="2000" dirty="0" err="1"/>
              <a:t>của</a:t>
            </a:r>
            <a:r>
              <a:rPr lang="en-US" sz="2000" dirty="0"/>
              <a:t> Router, ta </a:t>
            </a:r>
            <a:r>
              <a:rPr lang="en-US" sz="2000" dirty="0" err="1"/>
              <a:t>vào</a:t>
            </a:r>
            <a:r>
              <a:rPr lang="en-US" sz="2000" dirty="0"/>
              <a:t> interface </a:t>
            </a:r>
            <a:r>
              <a:rPr lang="en-US" sz="2000" dirty="0" err="1"/>
              <a:t>đó</a:t>
            </a:r>
            <a:r>
              <a:rPr lang="en-US" sz="2000" dirty="0"/>
              <a:t> </a:t>
            </a:r>
            <a:r>
              <a:rPr lang="en-US" sz="2000" dirty="0" err="1"/>
              <a:t>và</a:t>
            </a:r>
            <a:r>
              <a:rPr lang="en-US" sz="2000" dirty="0"/>
              <a:t> </a:t>
            </a:r>
            <a:r>
              <a:rPr lang="en-US" sz="2000" dirty="0" err="1"/>
              <a:t>sử</a:t>
            </a:r>
            <a:r>
              <a:rPr lang="en-US" sz="2000" dirty="0"/>
              <a:t> </a:t>
            </a:r>
            <a:r>
              <a:rPr lang="en-US" sz="2000" dirty="0" err="1"/>
              <a:t>dụng</a:t>
            </a:r>
            <a:r>
              <a:rPr lang="en-US" sz="2000" dirty="0"/>
              <a:t> </a:t>
            </a:r>
            <a:r>
              <a:rPr lang="en-US" sz="2000" dirty="0" err="1"/>
              <a:t>lệnh</a:t>
            </a:r>
            <a:r>
              <a:rPr lang="en-US" sz="2000" dirty="0"/>
              <a:t>: </a:t>
            </a:r>
            <a:r>
              <a:rPr lang="en-US" sz="2000" b="1" dirty="0" err="1"/>
              <a:t>cdp</a:t>
            </a:r>
            <a:r>
              <a:rPr lang="en-US" sz="2000" b="1" dirty="0"/>
              <a:t> enable</a:t>
            </a:r>
          </a:p>
          <a:p>
            <a:pPr algn="just">
              <a:buFont typeface="Wingdings" panose="05000000000000000000" pitchFamily="2" charset="2"/>
              <a:buNone/>
            </a:pPr>
            <a:r>
              <a:rPr lang="en-US" sz="2000" b="1" dirty="0"/>
              <a:t>Router(</a:t>
            </a:r>
            <a:r>
              <a:rPr lang="en-US" sz="2000" b="1" dirty="0" err="1"/>
              <a:t>config</a:t>
            </a:r>
            <a:r>
              <a:rPr lang="en-US" sz="2000" b="1" dirty="0"/>
              <a:t>)#interface fa0/0</a:t>
            </a:r>
          </a:p>
          <a:p>
            <a:pPr algn="just">
              <a:buFont typeface="Wingdings" panose="05000000000000000000" pitchFamily="2" charset="2"/>
              <a:buNone/>
            </a:pPr>
            <a:r>
              <a:rPr lang="en-US" sz="2000" b="1" dirty="0"/>
              <a:t>Router(</a:t>
            </a:r>
            <a:r>
              <a:rPr lang="en-US" sz="2000" b="1" dirty="0" err="1"/>
              <a:t>config</a:t>
            </a:r>
            <a:r>
              <a:rPr lang="en-US" sz="2000" b="1" dirty="0"/>
              <a:t>-if)#</a:t>
            </a:r>
            <a:r>
              <a:rPr lang="en-US" sz="2000" b="1" dirty="0" err="1"/>
              <a:t>cdp</a:t>
            </a:r>
            <a:r>
              <a:rPr lang="en-US" sz="2000" b="1" dirty="0"/>
              <a:t> enable</a:t>
            </a:r>
          </a:p>
        </p:txBody>
      </p:sp>
    </p:spTree>
    <p:extLst>
      <p:ext uri="{BB962C8B-B14F-4D97-AF65-F5344CB8AC3E}">
        <p14:creationId xmlns:p14="http://schemas.microsoft.com/office/powerpoint/2010/main" val="36574174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sz="2800" dirty="0"/>
              <a:t>V. CISCO DISCOVERY PROTOCOL (CDP)</a:t>
            </a:r>
            <a:endParaRPr lang="vi-VN" sz="2800" dirty="0"/>
          </a:p>
        </p:txBody>
      </p:sp>
      <p:pic>
        <p:nvPicPr>
          <p:cNvPr id="52229" name="Picture 7" descr="301P_9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143001"/>
            <a:ext cx="86868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0" name="Text Box 3"/>
          <p:cNvSpPr txBox="1">
            <a:spLocks noChangeArrowheads="1"/>
          </p:cNvSpPr>
          <p:nvPr/>
        </p:nvSpPr>
        <p:spPr bwMode="auto">
          <a:xfrm>
            <a:off x="1828800" y="3048001"/>
            <a:ext cx="8610600" cy="2790825"/>
          </a:xfrm>
          <a:prstGeom prst="rect">
            <a:avLst/>
          </a:prstGeom>
          <a:solidFill>
            <a:schemeClr val="bg1"/>
          </a:solidFill>
          <a:ln w="28575" algn="ctr">
            <a:solidFill>
              <a:schemeClr val="tx1"/>
            </a:solidFill>
            <a:miter lim="800000"/>
            <a:headEnd/>
            <a:tailEnd/>
          </a:ln>
        </p:spPr>
        <p:txBody>
          <a:bodyPr lIns="82124" tIns="41061" rIns="82124" bIns="41061">
            <a:spAutoFit/>
          </a:bodyPr>
          <a:lstStyle>
            <a:lvl1pPr defTabSz="814388" eaLnBrk="0" hangingPunct="0">
              <a:defRPr b="1">
                <a:solidFill>
                  <a:schemeClr val="tx1"/>
                </a:solidFill>
                <a:latin typeface="Arial" panose="020B0604020202020204" pitchFamily="34" charset="0"/>
              </a:defRPr>
            </a:lvl1pPr>
            <a:lvl2pPr marL="742950" indent="-285750" defTabSz="814388" eaLnBrk="0" hangingPunct="0">
              <a:defRPr b="1">
                <a:solidFill>
                  <a:schemeClr val="tx1"/>
                </a:solidFill>
                <a:latin typeface="Arial" panose="020B0604020202020204" pitchFamily="34" charset="0"/>
              </a:defRPr>
            </a:lvl2pPr>
            <a:lvl3pPr marL="1143000" indent="-228600" defTabSz="814388" eaLnBrk="0" hangingPunct="0">
              <a:defRPr b="1">
                <a:solidFill>
                  <a:schemeClr val="tx1"/>
                </a:solidFill>
                <a:latin typeface="Arial" panose="020B0604020202020204" pitchFamily="34" charset="0"/>
              </a:defRPr>
            </a:lvl3pPr>
            <a:lvl4pPr marL="1600200" indent="-228600" defTabSz="814388" eaLnBrk="0" hangingPunct="0">
              <a:defRPr b="1">
                <a:solidFill>
                  <a:schemeClr val="tx1"/>
                </a:solidFill>
                <a:latin typeface="Arial" panose="020B0604020202020204" pitchFamily="34" charset="0"/>
              </a:defRPr>
            </a:lvl4pPr>
            <a:lvl5pPr marL="2057400" indent="-228600" defTabSz="814388" eaLnBrk="0" hangingPunct="0">
              <a:defRPr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sz="1600">
                <a:latin typeface="Courier New" panose="02070309020205020404" pitchFamily="49" charset="0"/>
              </a:rPr>
              <a:t>RouterA#show cdp ?</a:t>
            </a:r>
          </a:p>
          <a:p>
            <a:pPr eaLnBrk="1" hangingPunct="1"/>
            <a:r>
              <a:rPr lang="en-US" sz="1600">
                <a:latin typeface="Courier New" panose="02070309020205020404" pitchFamily="49" charset="0"/>
              </a:rPr>
              <a:t>  entry      Information for specific neighbor entry</a:t>
            </a:r>
          </a:p>
          <a:p>
            <a:pPr eaLnBrk="1" hangingPunct="1"/>
            <a:r>
              <a:rPr lang="en-US" sz="1600">
                <a:latin typeface="Courier New" panose="02070309020205020404" pitchFamily="49" charset="0"/>
              </a:rPr>
              <a:t>  interface  CDP interface status and configuration</a:t>
            </a:r>
          </a:p>
          <a:p>
            <a:pPr eaLnBrk="1" hangingPunct="1"/>
            <a:r>
              <a:rPr lang="en-US" sz="1600">
                <a:latin typeface="Courier New" panose="02070309020205020404" pitchFamily="49" charset="0"/>
              </a:rPr>
              <a:t>  neighbors  CDP neighbor entries</a:t>
            </a:r>
          </a:p>
          <a:p>
            <a:pPr eaLnBrk="1" hangingPunct="1"/>
            <a:r>
              <a:rPr lang="en-US" sz="1600">
                <a:latin typeface="Courier New" panose="02070309020205020404" pitchFamily="49" charset="0"/>
              </a:rPr>
              <a:t>  traffic    CDP statistics</a:t>
            </a:r>
          </a:p>
          <a:p>
            <a:pPr eaLnBrk="1" hangingPunct="1"/>
            <a:r>
              <a:rPr lang="en-US" sz="1600">
                <a:latin typeface="Courier New" panose="02070309020205020404" pitchFamily="49" charset="0"/>
              </a:rPr>
              <a:t>  …</a:t>
            </a:r>
          </a:p>
          <a:p>
            <a:pPr eaLnBrk="1" hangingPunct="1"/>
            <a:r>
              <a:rPr lang="en-US" sz="1600">
                <a:latin typeface="Courier New" panose="02070309020205020404" pitchFamily="49" charset="0"/>
              </a:rPr>
              <a:t>RouterA(config)#no cdp run</a:t>
            </a:r>
          </a:p>
          <a:p>
            <a:pPr eaLnBrk="1" hangingPunct="1"/>
            <a:r>
              <a:rPr lang="en-US" sz="1600">
                <a:latin typeface="Courier New" panose="02070309020205020404" pitchFamily="49" charset="0"/>
              </a:rPr>
              <a:t>! Disable CDP Globally</a:t>
            </a:r>
          </a:p>
          <a:p>
            <a:pPr eaLnBrk="1" hangingPunct="1"/>
            <a:r>
              <a:rPr lang="en-US" sz="1600">
                <a:latin typeface="Courier New" panose="02070309020205020404" pitchFamily="49" charset="0"/>
              </a:rPr>
              <a:t>RouterA(config)#interface serial0/0/0</a:t>
            </a:r>
          </a:p>
          <a:p>
            <a:pPr eaLnBrk="1" hangingPunct="1"/>
            <a:r>
              <a:rPr lang="en-US" sz="1600">
                <a:latin typeface="Courier New" panose="02070309020205020404" pitchFamily="49" charset="0"/>
              </a:rPr>
              <a:t>RouterA(config-if)#no cdp enable</a:t>
            </a:r>
          </a:p>
          <a:p>
            <a:pPr eaLnBrk="1" hangingPunct="1"/>
            <a:r>
              <a:rPr lang="en-US" sz="1600">
                <a:latin typeface="Courier New" panose="02070309020205020404" pitchFamily="49" charset="0"/>
              </a:rPr>
              <a:t>! Disable CDP on just this interface</a:t>
            </a:r>
          </a:p>
        </p:txBody>
      </p:sp>
    </p:spTree>
    <p:extLst>
      <p:ext uri="{BB962C8B-B14F-4D97-AF65-F5344CB8AC3E}">
        <p14:creationId xmlns:p14="http://schemas.microsoft.com/office/powerpoint/2010/main" val="36363157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sz="2800" dirty="0"/>
              <a:t>V. CISCO DISCOVERY PROTOCOL (CDP)</a:t>
            </a:r>
            <a:endParaRPr lang="vi-VN" sz="2800" dirty="0"/>
          </a:p>
        </p:txBody>
      </p:sp>
      <p:pic>
        <p:nvPicPr>
          <p:cNvPr id="53253" name="Picture 7" descr="301P_9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143000"/>
            <a:ext cx="8839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 Box 4"/>
          <p:cNvSpPr txBox="1">
            <a:spLocks noChangeArrowheads="1"/>
          </p:cNvSpPr>
          <p:nvPr/>
        </p:nvSpPr>
        <p:spPr bwMode="auto">
          <a:xfrm>
            <a:off x="1905000" y="3124201"/>
            <a:ext cx="8305800" cy="1806575"/>
          </a:xfrm>
          <a:prstGeom prst="rect">
            <a:avLst/>
          </a:prstGeom>
          <a:solidFill>
            <a:schemeClr val="bg1"/>
          </a:solidFill>
          <a:ln w="28575" algn="ctr">
            <a:solidFill>
              <a:schemeClr val="tx1"/>
            </a:solidFill>
            <a:miter lim="800000"/>
            <a:headEnd/>
            <a:tailEnd/>
          </a:ln>
        </p:spPr>
        <p:txBody>
          <a:bodyPr lIns="82124" tIns="41061" rIns="82124" bIns="41061">
            <a:spAutoFit/>
          </a:bodyPr>
          <a:lstStyle>
            <a:lvl1pPr defTabSz="814388" eaLnBrk="0" hangingPunct="0">
              <a:defRPr b="1">
                <a:solidFill>
                  <a:schemeClr val="tx1"/>
                </a:solidFill>
                <a:latin typeface="Arial" panose="020B0604020202020204" pitchFamily="34" charset="0"/>
              </a:defRPr>
            </a:lvl1pPr>
            <a:lvl2pPr marL="742950" indent="-285750" defTabSz="814388" eaLnBrk="0" hangingPunct="0">
              <a:defRPr b="1">
                <a:solidFill>
                  <a:schemeClr val="tx1"/>
                </a:solidFill>
                <a:latin typeface="Arial" panose="020B0604020202020204" pitchFamily="34" charset="0"/>
              </a:defRPr>
            </a:lvl2pPr>
            <a:lvl3pPr marL="1143000" indent="-228600" defTabSz="814388" eaLnBrk="0" hangingPunct="0">
              <a:defRPr b="1">
                <a:solidFill>
                  <a:schemeClr val="tx1"/>
                </a:solidFill>
                <a:latin typeface="Arial" panose="020B0604020202020204" pitchFamily="34" charset="0"/>
              </a:defRPr>
            </a:lvl3pPr>
            <a:lvl4pPr marL="1600200" indent="-228600" defTabSz="814388" eaLnBrk="0" hangingPunct="0">
              <a:defRPr b="1">
                <a:solidFill>
                  <a:schemeClr val="tx1"/>
                </a:solidFill>
                <a:latin typeface="Arial" panose="020B0604020202020204" pitchFamily="34" charset="0"/>
              </a:defRPr>
            </a:lvl4pPr>
            <a:lvl5pPr marL="2057400" indent="-228600" defTabSz="814388" eaLnBrk="0" hangingPunct="0">
              <a:defRPr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sz="1400">
                <a:latin typeface="Courier New" panose="02070309020205020404" pitchFamily="49" charset="0"/>
              </a:rPr>
              <a:t>RouterA#show cdp neighbors</a:t>
            </a:r>
          </a:p>
          <a:p>
            <a:pPr eaLnBrk="1" hangingPunct="1"/>
            <a:r>
              <a:rPr lang="en-US" sz="1400">
                <a:latin typeface="Courier New" panose="02070309020205020404" pitchFamily="49" charset="0"/>
              </a:rPr>
              <a:t>Capability Codes: R - Router, T - Trans Bridge, B - Source Route Bridge</a:t>
            </a:r>
          </a:p>
          <a:p>
            <a:pPr eaLnBrk="1" hangingPunct="1"/>
            <a:r>
              <a:rPr lang="en-US" sz="1400">
                <a:latin typeface="Courier New" panose="02070309020205020404" pitchFamily="49" charset="0"/>
              </a:rPr>
              <a:t>                  S - Switch, H - Host, I - IGMP, r - Repeater</a:t>
            </a:r>
          </a:p>
          <a:p>
            <a:pPr eaLnBrk="1" hangingPunct="1"/>
            <a:endParaRPr lang="en-US" sz="1400">
              <a:latin typeface="Courier New" panose="02070309020205020404" pitchFamily="49" charset="0"/>
            </a:endParaRPr>
          </a:p>
          <a:p>
            <a:pPr eaLnBrk="1" hangingPunct="1"/>
            <a:r>
              <a:rPr lang="en-US" sz="1400">
                <a:latin typeface="Courier New" panose="02070309020205020404" pitchFamily="49" charset="0"/>
              </a:rPr>
              <a:t>Device ID   Local Intrfce   Holdtme   Capability  Platform  Port ID</a:t>
            </a:r>
          </a:p>
          <a:p>
            <a:pPr eaLnBrk="1" hangingPunct="1"/>
            <a:r>
              <a:rPr lang="en-US" sz="1400">
                <a:latin typeface="Courier New" panose="02070309020205020404" pitchFamily="49" charset="0"/>
              </a:rPr>
              <a:t>SwitchA         fa0/0       122         S I       WS-C2960- fa0/2</a:t>
            </a:r>
          </a:p>
          <a:p>
            <a:pPr eaLnBrk="1" hangingPunct="1"/>
            <a:r>
              <a:rPr lang="en-US" sz="1400">
                <a:latin typeface="Courier New" panose="02070309020205020404" pitchFamily="49" charset="0"/>
              </a:rPr>
              <a:t>RouterB         s0/0/0       177        R S I      2811     s0/0/1</a:t>
            </a:r>
          </a:p>
          <a:p>
            <a:pPr eaLnBrk="1" hangingPunct="1"/>
            <a:endParaRPr lang="en-US" sz="1400">
              <a:latin typeface="Courier New" panose="02070309020205020404" pitchFamily="49" charset="0"/>
            </a:endParaRPr>
          </a:p>
        </p:txBody>
      </p:sp>
    </p:spTree>
    <p:extLst>
      <p:ext uri="{BB962C8B-B14F-4D97-AF65-F5344CB8AC3E}">
        <p14:creationId xmlns:p14="http://schemas.microsoft.com/office/powerpoint/2010/main" val="10358217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2133600" y="266700"/>
            <a:ext cx="7467600" cy="647700"/>
          </a:xfrm>
        </p:spPr>
        <p:txBody>
          <a:bodyPr/>
          <a:lstStyle/>
          <a:p>
            <a:r>
              <a:rPr lang="en-US" sz="2800" dirty="0"/>
              <a:t>V. CISCO DISCOVERY PROTOCOL (CDP)</a:t>
            </a:r>
            <a:endParaRPr lang="vi-VN" sz="2800" dirty="0"/>
          </a:p>
        </p:txBody>
      </p:sp>
      <p:sp>
        <p:nvSpPr>
          <p:cNvPr id="54275" name="Content Placeholder 2"/>
          <p:cNvSpPr>
            <a:spLocks noGrp="1"/>
          </p:cNvSpPr>
          <p:nvPr>
            <p:ph idx="1"/>
          </p:nvPr>
        </p:nvSpPr>
        <p:spPr>
          <a:xfrm>
            <a:off x="1828800" y="990600"/>
            <a:ext cx="8610600" cy="5105400"/>
          </a:xfrm>
        </p:spPr>
        <p:txBody>
          <a:bodyPr/>
          <a:lstStyle/>
          <a:p>
            <a:r>
              <a:rPr lang="en-US"/>
              <a:t>Using the </a:t>
            </a:r>
            <a:r>
              <a:rPr lang="en-US" b="1"/>
              <a:t>show cdp entry </a:t>
            </a:r>
            <a:r>
              <a:rPr lang="en-US"/>
              <a:t>Command</a:t>
            </a:r>
            <a:endParaRPr lang="vi-VN"/>
          </a:p>
        </p:txBody>
      </p:sp>
      <p:pic>
        <p:nvPicPr>
          <p:cNvPr id="54278" name="Picture 3" descr="301P_9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88" y="1489075"/>
            <a:ext cx="86868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9" name="Text Box 4"/>
          <p:cNvSpPr txBox="1">
            <a:spLocks noChangeArrowheads="1"/>
          </p:cNvSpPr>
          <p:nvPr/>
        </p:nvSpPr>
        <p:spPr bwMode="auto">
          <a:xfrm>
            <a:off x="1966913" y="3414713"/>
            <a:ext cx="8534400" cy="2971800"/>
          </a:xfrm>
          <a:prstGeom prst="rect">
            <a:avLst/>
          </a:prstGeom>
          <a:solidFill>
            <a:schemeClr val="bg1"/>
          </a:solidFill>
          <a:ln w="28575" algn="ctr">
            <a:solidFill>
              <a:schemeClr val="tx1"/>
            </a:solidFill>
            <a:miter lim="800000"/>
            <a:headEnd/>
            <a:tailEnd/>
          </a:ln>
        </p:spPr>
        <p:txBody>
          <a:bodyPr lIns="82124" tIns="41061" rIns="82124" bIns="41061">
            <a:spAutoFit/>
          </a:bodyPr>
          <a:lstStyle>
            <a:lvl1pPr defTabSz="814388" eaLnBrk="0" hangingPunct="0">
              <a:defRPr b="1">
                <a:solidFill>
                  <a:schemeClr val="tx1"/>
                </a:solidFill>
                <a:latin typeface="Arial" panose="020B0604020202020204" pitchFamily="34" charset="0"/>
              </a:defRPr>
            </a:lvl1pPr>
            <a:lvl2pPr marL="742950" indent="-285750" defTabSz="814388" eaLnBrk="0" hangingPunct="0">
              <a:defRPr b="1">
                <a:solidFill>
                  <a:schemeClr val="tx1"/>
                </a:solidFill>
                <a:latin typeface="Arial" panose="020B0604020202020204" pitchFamily="34" charset="0"/>
              </a:defRPr>
            </a:lvl2pPr>
            <a:lvl3pPr marL="1143000" indent="-228600" defTabSz="814388" eaLnBrk="0" hangingPunct="0">
              <a:defRPr b="1">
                <a:solidFill>
                  <a:schemeClr val="tx1"/>
                </a:solidFill>
                <a:latin typeface="Arial" panose="020B0604020202020204" pitchFamily="34" charset="0"/>
              </a:defRPr>
            </a:lvl3pPr>
            <a:lvl4pPr marL="1600200" indent="-228600" defTabSz="814388" eaLnBrk="0" hangingPunct="0">
              <a:defRPr b="1">
                <a:solidFill>
                  <a:schemeClr val="tx1"/>
                </a:solidFill>
                <a:latin typeface="Arial" panose="020B0604020202020204" pitchFamily="34" charset="0"/>
              </a:defRPr>
            </a:lvl4pPr>
            <a:lvl5pPr marL="2057400" indent="-228600" defTabSz="814388" eaLnBrk="0" hangingPunct="0">
              <a:defRPr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sz="1400">
                <a:latin typeface="Courier New" panose="02070309020205020404" pitchFamily="49" charset="0"/>
              </a:rPr>
              <a:t>Device ID: RouterB</a:t>
            </a:r>
          </a:p>
          <a:p>
            <a:pPr eaLnBrk="1" hangingPunct="1"/>
            <a:r>
              <a:rPr lang="en-US" sz="1400">
                <a:latin typeface="Courier New" panose="02070309020205020404" pitchFamily="49" charset="0"/>
              </a:rPr>
              <a:t>Entry address(es):</a:t>
            </a:r>
          </a:p>
          <a:p>
            <a:pPr eaLnBrk="1" hangingPunct="1"/>
            <a:r>
              <a:rPr lang="en-US" sz="1400">
                <a:latin typeface="Courier New" panose="02070309020205020404" pitchFamily="49" charset="0"/>
              </a:rPr>
              <a:t>  IP address: 10.1.1.2</a:t>
            </a:r>
          </a:p>
          <a:p>
            <a:pPr eaLnBrk="1" hangingPunct="1"/>
            <a:r>
              <a:rPr lang="en-US" sz="1400">
                <a:latin typeface="Courier New" panose="02070309020205020404" pitchFamily="49" charset="0"/>
              </a:rPr>
              <a:t>Platform: Cisco 2811,  Capabilities: Router Switch IGMP</a:t>
            </a:r>
          </a:p>
          <a:p>
            <a:pPr eaLnBrk="1" hangingPunct="1"/>
            <a:r>
              <a:rPr lang="en-US" sz="1400">
                <a:latin typeface="Courier New" panose="02070309020205020404" pitchFamily="49" charset="0"/>
              </a:rPr>
              <a:t>Interface: Serial0/0/0,  Port ID (outgoing port): Serial0/0/1</a:t>
            </a:r>
          </a:p>
          <a:p>
            <a:pPr eaLnBrk="1" hangingPunct="1"/>
            <a:r>
              <a:rPr lang="en-US" sz="1400">
                <a:latin typeface="Courier New" panose="02070309020205020404" pitchFamily="49" charset="0"/>
              </a:rPr>
              <a:t>Holdtime : 155 sec</a:t>
            </a:r>
          </a:p>
          <a:p>
            <a:pPr eaLnBrk="1" hangingPunct="1"/>
            <a:endParaRPr lang="en-US" sz="1400">
              <a:latin typeface="Courier New" panose="02070309020205020404" pitchFamily="49" charset="0"/>
            </a:endParaRPr>
          </a:p>
          <a:p>
            <a:pPr eaLnBrk="1" hangingPunct="1"/>
            <a:r>
              <a:rPr lang="en-US" sz="1400">
                <a:latin typeface="Courier New" panose="02070309020205020404" pitchFamily="49" charset="0"/>
              </a:rPr>
              <a:t>Version :</a:t>
            </a:r>
          </a:p>
          <a:p>
            <a:pPr eaLnBrk="1" hangingPunct="1"/>
            <a:r>
              <a:rPr lang="en-US" sz="1400">
                <a:latin typeface="Courier New" panose="02070309020205020404" pitchFamily="49" charset="0"/>
              </a:rPr>
              <a:t>Cisco IOS Software, 2800 Software (C2800NM-ADVIPSERVICESK9-M), Version 12.4(12), RELEASE SOFTWARE (fc1)</a:t>
            </a:r>
          </a:p>
          <a:p>
            <a:pPr eaLnBrk="1" hangingPunct="1"/>
            <a:r>
              <a:rPr lang="en-US" sz="1400">
                <a:latin typeface="Courier New" panose="02070309020205020404" pitchFamily="49" charset="0"/>
              </a:rPr>
              <a:t>Technical Support: http://www.cisco.com/techsupport</a:t>
            </a:r>
          </a:p>
          <a:p>
            <a:pPr eaLnBrk="1" hangingPunct="1"/>
            <a:r>
              <a:rPr lang="en-US" sz="1400">
                <a:latin typeface="Courier New" panose="02070309020205020404" pitchFamily="49" charset="0"/>
              </a:rPr>
              <a:t>Copyright (c) 1986-2006 by Cisco Systems, Inc.</a:t>
            </a:r>
          </a:p>
          <a:p>
            <a:pPr eaLnBrk="1" hangingPunct="1"/>
            <a:r>
              <a:rPr lang="en-US" sz="1400">
                <a:latin typeface="Courier New" panose="02070309020205020404" pitchFamily="49" charset="0"/>
              </a:rPr>
              <a:t>Compiled Fri 17-Nov-06 12:02 by prod_rel_team</a:t>
            </a:r>
          </a:p>
        </p:txBody>
      </p:sp>
    </p:spTree>
    <p:extLst>
      <p:ext uri="{BB962C8B-B14F-4D97-AF65-F5344CB8AC3E}">
        <p14:creationId xmlns:p14="http://schemas.microsoft.com/office/powerpoint/2010/main" val="42236517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2133600" y="266700"/>
            <a:ext cx="7467600" cy="647700"/>
          </a:xfrm>
        </p:spPr>
        <p:txBody>
          <a:bodyPr/>
          <a:lstStyle/>
          <a:p>
            <a:r>
              <a:rPr lang="en-US" sz="2800" dirty="0"/>
              <a:t>V. CISCO DISCOVERY PROTOCOL (CDP)</a:t>
            </a:r>
            <a:endParaRPr lang="vi-VN" sz="2800" dirty="0"/>
          </a:p>
        </p:txBody>
      </p:sp>
      <p:pic>
        <p:nvPicPr>
          <p:cNvPr id="55301" name="Picture 3" descr="301P_9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88" y="1489075"/>
            <a:ext cx="86868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 name="Text Box 4"/>
          <p:cNvSpPr txBox="1">
            <a:spLocks noChangeArrowheads="1"/>
          </p:cNvSpPr>
          <p:nvPr/>
        </p:nvSpPr>
        <p:spPr bwMode="auto">
          <a:xfrm>
            <a:off x="1884363" y="3414714"/>
            <a:ext cx="8534400" cy="2884487"/>
          </a:xfrm>
          <a:prstGeom prst="rect">
            <a:avLst/>
          </a:prstGeom>
          <a:solidFill>
            <a:schemeClr val="bg1"/>
          </a:solidFill>
          <a:ln w="28575" algn="ctr">
            <a:solidFill>
              <a:schemeClr val="tx1"/>
            </a:solidFill>
            <a:miter lim="800000"/>
            <a:headEnd/>
            <a:tailEnd/>
          </a:ln>
        </p:spPr>
        <p:txBody>
          <a:bodyPr lIns="82124" tIns="41061" rIns="82124" bIns="41061">
            <a:spAutoFit/>
          </a:bodyPr>
          <a:lstStyle>
            <a:lvl1pPr defTabSz="814388" eaLnBrk="0" hangingPunct="0">
              <a:defRPr b="1">
                <a:solidFill>
                  <a:schemeClr val="tx1"/>
                </a:solidFill>
                <a:latin typeface="Arial" panose="020B0604020202020204" pitchFamily="34" charset="0"/>
              </a:defRPr>
            </a:lvl1pPr>
            <a:lvl2pPr marL="742950" indent="-285750" defTabSz="814388" eaLnBrk="0" hangingPunct="0">
              <a:defRPr b="1">
                <a:solidFill>
                  <a:schemeClr val="tx1"/>
                </a:solidFill>
                <a:latin typeface="Arial" panose="020B0604020202020204" pitchFamily="34" charset="0"/>
              </a:defRPr>
            </a:lvl2pPr>
            <a:lvl3pPr marL="1143000" indent="-228600" defTabSz="814388" eaLnBrk="0" hangingPunct="0">
              <a:defRPr b="1">
                <a:solidFill>
                  <a:schemeClr val="tx1"/>
                </a:solidFill>
                <a:latin typeface="Arial" panose="020B0604020202020204" pitchFamily="34" charset="0"/>
              </a:defRPr>
            </a:lvl3pPr>
            <a:lvl4pPr marL="1600200" indent="-228600" defTabSz="814388" eaLnBrk="0" hangingPunct="0">
              <a:defRPr b="1">
                <a:solidFill>
                  <a:schemeClr val="tx1"/>
                </a:solidFill>
                <a:latin typeface="Arial" panose="020B0604020202020204" pitchFamily="34" charset="0"/>
              </a:defRPr>
            </a:lvl4pPr>
            <a:lvl5pPr marL="2057400" indent="-228600" defTabSz="814388" eaLnBrk="0" hangingPunct="0">
              <a:defRPr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sz="1400">
                <a:latin typeface="Courier New" panose="02070309020205020404" pitchFamily="49" charset="0"/>
              </a:rPr>
              <a:t>RouterA#show cdp traffic</a:t>
            </a:r>
          </a:p>
          <a:p>
            <a:pPr eaLnBrk="1" hangingPunct="1"/>
            <a:r>
              <a:rPr lang="en-US" sz="1400">
                <a:latin typeface="Courier New" panose="02070309020205020404" pitchFamily="49" charset="0"/>
              </a:rPr>
              <a:t>CDP counters :</a:t>
            </a:r>
          </a:p>
          <a:p>
            <a:pPr eaLnBrk="1" hangingPunct="1"/>
            <a:r>
              <a:rPr lang="en-US" sz="1400">
                <a:latin typeface="Courier New" panose="02070309020205020404" pitchFamily="49" charset="0"/>
              </a:rPr>
              <a:t>        Total packets output: 8680, Input: 8678</a:t>
            </a:r>
          </a:p>
          <a:p>
            <a:pPr eaLnBrk="1" hangingPunct="1"/>
            <a:r>
              <a:rPr lang="en-US" sz="1400">
                <a:latin typeface="Courier New" panose="02070309020205020404" pitchFamily="49" charset="0"/>
              </a:rPr>
              <a:t>        Hdr syntax: 0, Chksum error: 0, Encaps failed: 5</a:t>
            </a:r>
          </a:p>
          <a:p>
            <a:pPr eaLnBrk="1" hangingPunct="1"/>
            <a:r>
              <a:rPr lang="en-US" sz="1400">
                <a:latin typeface="Courier New" panose="02070309020205020404" pitchFamily="49" charset="0"/>
              </a:rPr>
              <a:t>        No memory: 0, Invalid packet: 0, Fragmented: 0</a:t>
            </a:r>
          </a:p>
          <a:p>
            <a:pPr eaLnBrk="1" hangingPunct="1"/>
            <a:r>
              <a:rPr lang="en-US" sz="1400">
                <a:latin typeface="Courier New" panose="02070309020205020404" pitchFamily="49" charset="0"/>
              </a:rPr>
              <a:t>        CDP version 1 advertisements output: 0, Input: 0</a:t>
            </a:r>
          </a:p>
          <a:p>
            <a:pPr eaLnBrk="1" hangingPunct="1"/>
            <a:r>
              <a:rPr lang="en-US" sz="1400">
                <a:latin typeface="Courier New" panose="02070309020205020404" pitchFamily="49" charset="0"/>
              </a:rPr>
              <a:t>        CDP version 2 advertisements output: 8680, Input: 8678</a:t>
            </a:r>
          </a:p>
          <a:p>
            <a:pPr eaLnBrk="1" hangingPunct="1"/>
            <a:endParaRPr lang="en-US" sz="1400">
              <a:latin typeface="Courier New" panose="02070309020205020404" pitchFamily="49" charset="0"/>
            </a:endParaRPr>
          </a:p>
          <a:p>
            <a:pPr eaLnBrk="1" hangingPunct="1"/>
            <a:r>
              <a:rPr lang="en-US" sz="1400">
                <a:latin typeface="Courier New" panose="02070309020205020404" pitchFamily="49" charset="0"/>
              </a:rPr>
              <a:t>RouterA#show cdp interface s0/0/0</a:t>
            </a:r>
          </a:p>
          <a:p>
            <a:pPr eaLnBrk="1" hangingPunct="1"/>
            <a:r>
              <a:rPr lang="en-US" sz="1400">
                <a:latin typeface="Courier New" panose="02070309020205020404" pitchFamily="49" charset="0"/>
              </a:rPr>
              <a:t>Serial0/0/0 is up, line protocol is up</a:t>
            </a:r>
          </a:p>
          <a:p>
            <a:pPr eaLnBrk="1" hangingPunct="1"/>
            <a:r>
              <a:rPr lang="en-US" sz="1400">
                <a:latin typeface="Courier New" panose="02070309020205020404" pitchFamily="49" charset="0"/>
              </a:rPr>
              <a:t>  Encapsulation PPP</a:t>
            </a:r>
          </a:p>
          <a:p>
            <a:pPr eaLnBrk="1" hangingPunct="1"/>
            <a:r>
              <a:rPr lang="en-US" sz="1400">
                <a:latin typeface="Courier New" panose="02070309020205020404" pitchFamily="49" charset="0"/>
              </a:rPr>
              <a:t>  Sending CDP packets every 60 seconds</a:t>
            </a:r>
          </a:p>
          <a:p>
            <a:pPr eaLnBrk="1" hangingPunct="1"/>
            <a:r>
              <a:rPr lang="en-US" sz="1400">
                <a:latin typeface="Courier New" panose="02070309020205020404" pitchFamily="49" charset="0"/>
              </a:rPr>
              <a:t>  Holdtime is 180 seconds</a:t>
            </a:r>
          </a:p>
        </p:txBody>
      </p:sp>
    </p:spTree>
    <p:extLst>
      <p:ext uri="{BB962C8B-B14F-4D97-AF65-F5344CB8AC3E}">
        <p14:creationId xmlns:p14="http://schemas.microsoft.com/office/powerpoint/2010/main" val="4266873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2133600" y="266700"/>
            <a:ext cx="7467600" cy="571500"/>
          </a:xfrm>
        </p:spPr>
        <p:txBody>
          <a:bodyPr/>
          <a:lstStyle/>
          <a:p>
            <a:r>
              <a:rPr lang="en-US" sz="2800" dirty="0"/>
              <a:t>V. CISCO DISCOVERY PROTOCOL (CDP)</a:t>
            </a:r>
            <a:endParaRPr lang="vi-VN" sz="2800" dirty="0"/>
          </a:p>
        </p:txBody>
      </p:sp>
      <p:sp>
        <p:nvSpPr>
          <p:cNvPr id="3" name="Content Placeholder 2"/>
          <p:cNvSpPr>
            <a:spLocks noGrp="1"/>
          </p:cNvSpPr>
          <p:nvPr>
            <p:ph idx="1"/>
          </p:nvPr>
        </p:nvSpPr>
        <p:spPr>
          <a:xfrm>
            <a:off x="1981200" y="1143000"/>
            <a:ext cx="8382000" cy="5257800"/>
          </a:xfrm>
        </p:spPr>
        <p:txBody>
          <a:bodyPr/>
          <a:lstStyle/>
          <a:p>
            <a:pPr>
              <a:defRPr/>
            </a:pPr>
            <a:r>
              <a:rPr lang="en-US"/>
              <a:t>Kiểm tra kết nối với các lệnh: </a:t>
            </a:r>
            <a:r>
              <a:rPr lang="en-US" b="1"/>
              <a:t>Telnet, Ping, Traceroute</a:t>
            </a:r>
          </a:p>
          <a:p>
            <a:pPr lvl="1">
              <a:defRPr/>
            </a:pPr>
            <a:r>
              <a:rPr lang="en-US" sz="2400"/>
              <a:t>Lệnh</a:t>
            </a:r>
            <a:r>
              <a:rPr lang="en-US" sz="2400" b="1"/>
              <a:t> telnet </a:t>
            </a:r>
            <a:r>
              <a:rPr lang="en-US" sz="2400"/>
              <a:t>: kiểm tra kết nối tầng Application</a:t>
            </a:r>
          </a:p>
          <a:p>
            <a:pPr lvl="1">
              <a:defRPr/>
            </a:pPr>
            <a:r>
              <a:rPr lang="en-US" sz="2400"/>
              <a:t>Lệnh </a:t>
            </a:r>
            <a:r>
              <a:rPr lang="en-US" sz="2400" b="1"/>
              <a:t>ping</a:t>
            </a:r>
            <a:r>
              <a:rPr lang="en-US" sz="2400"/>
              <a:t> : kiểm tra kết nối tầng Network</a:t>
            </a:r>
          </a:p>
          <a:p>
            <a:pPr lvl="1">
              <a:defRPr/>
            </a:pPr>
            <a:r>
              <a:rPr lang="en-US" sz="2400"/>
              <a:t>Lệnh </a:t>
            </a:r>
            <a:r>
              <a:rPr lang="en-US" sz="2400" b="1"/>
              <a:t>Traceroute</a:t>
            </a:r>
            <a:r>
              <a:rPr lang="en-US" sz="2400"/>
              <a:t>: kiểm tra sự hoạt động tầng Network</a:t>
            </a:r>
            <a:r>
              <a:rPr lang="en-US" sz="2400" b="1"/>
              <a:t> </a:t>
            </a:r>
            <a:endParaRPr lang="en-US" sz="2400"/>
          </a:p>
          <a:p>
            <a:pPr marL="342900" lvl="1" indent="-342900">
              <a:buClr>
                <a:schemeClr val="tx2"/>
              </a:buClr>
              <a:buFont typeface="Wingdings" panose="05000000000000000000" pitchFamily="2" charset="2"/>
              <a:buChar char="v"/>
              <a:defRPr/>
            </a:pPr>
            <a:r>
              <a:rPr lang="en-US" sz="2400"/>
              <a:t>Ý nghĩa của một số kết quả hiển thị của lệnh ping</a:t>
            </a:r>
          </a:p>
          <a:p>
            <a:pPr marL="342900" lvl="1" indent="-342900">
              <a:buClr>
                <a:schemeClr val="tx2"/>
              </a:buClr>
              <a:buNone/>
              <a:defRPr/>
            </a:pPr>
            <a:endParaRPr lang="vi-VN" sz="2400"/>
          </a:p>
        </p:txBody>
      </p:sp>
      <p:graphicFrame>
        <p:nvGraphicFramePr>
          <p:cNvPr id="6" name="Table 5"/>
          <p:cNvGraphicFramePr>
            <a:graphicFrameLocks noGrp="1"/>
          </p:cNvGraphicFramePr>
          <p:nvPr/>
        </p:nvGraphicFramePr>
        <p:xfrm>
          <a:off x="3109913" y="3455988"/>
          <a:ext cx="6324600" cy="2773610"/>
        </p:xfrm>
        <a:graphic>
          <a:graphicData uri="http://schemas.openxmlformats.org/drawingml/2006/table">
            <a:tbl>
              <a:tblPr firstRow="1" bandRow="1">
                <a:tableStyleId>{69CF1AB2-1976-4502-BF36-3FF5EA218861}</a:tableStyleId>
              </a:tblPr>
              <a:tblGrid>
                <a:gridCol w="1054100">
                  <a:extLst>
                    <a:ext uri="{9D8B030D-6E8A-4147-A177-3AD203B41FA5}">
                      <a16:colId xmlns:a16="http://schemas.microsoft.com/office/drawing/2014/main" val="20000"/>
                    </a:ext>
                  </a:extLst>
                </a:gridCol>
                <a:gridCol w="5270500">
                  <a:extLst>
                    <a:ext uri="{9D8B030D-6E8A-4147-A177-3AD203B41FA5}">
                      <a16:colId xmlns:a16="http://schemas.microsoft.com/office/drawing/2014/main" val="20001"/>
                    </a:ext>
                  </a:extLst>
                </a:gridCol>
              </a:tblGrid>
              <a:tr h="396195">
                <a:tc>
                  <a:txBody>
                    <a:bodyPr/>
                    <a:lstStyle/>
                    <a:p>
                      <a:pPr algn="ctr"/>
                      <a:r>
                        <a:rPr lang="en-US" sz="2000" b="1"/>
                        <a:t>!</a:t>
                      </a:r>
                      <a:endParaRPr lang="vi-VN" sz="2000" b="1"/>
                    </a:p>
                  </a:txBody>
                  <a:tcPr marT="45715" marB="45715" anchor="ctr"/>
                </a:tc>
                <a:tc>
                  <a:txBody>
                    <a:bodyPr/>
                    <a:lstStyle/>
                    <a:p>
                      <a:r>
                        <a:rPr lang="en-US" sz="2000" b="0"/>
                        <a:t> Successful</a:t>
                      </a:r>
                      <a:r>
                        <a:rPr lang="en-US" sz="2000" b="0" baseline="0"/>
                        <a:t> echo reply</a:t>
                      </a:r>
                      <a:endParaRPr lang="vi-VN" sz="2000" b="0"/>
                    </a:p>
                  </a:txBody>
                  <a:tcPr marT="45715" marB="45715"/>
                </a:tc>
                <a:extLst>
                  <a:ext uri="{0D108BD9-81ED-4DB2-BD59-A6C34878D82A}">
                    <a16:rowId xmlns:a16="http://schemas.microsoft.com/office/drawing/2014/main" val="10000"/>
                  </a:ext>
                </a:extLst>
              </a:tr>
              <a:tr h="396195">
                <a:tc>
                  <a:txBody>
                    <a:bodyPr/>
                    <a:lstStyle/>
                    <a:p>
                      <a:pPr algn="ctr"/>
                      <a:r>
                        <a:rPr lang="en-US" sz="2000" b="1"/>
                        <a:t>.</a:t>
                      </a:r>
                      <a:endParaRPr lang="vi-VN" sz="2000" b="1"/>
                    </a:p>
                  </a:txBody>
                  <a:tcPr marT="45715" marB="45715" anchor="ctr"/>
                </a:tc>
                <a:tc>
                  <a:txBody>
                    <a:bodyPr/>
                    <a:lstStyle/>
                    <a:p>
                      <a:r>
                        <a:rPr lang="en-US" sz="2000" b="0"/>
                        <a:t> Timed out waiting</a:t>
                      </a:r>
                      <a:r>
                        <a:rPr lang="en-US" sz="2000" b="0" baseline="0"/>
                        <a:t> for reply</a:t>
                      </a:r>
                      <a:endParaRPr lang="vi-VN" sz="2000" b="0"/>
                    </a:p>
                  </a:txBody>
                  <a:tcPr marT="45715" marB="45715"/>
                </a:tc>
                <a:extLst>
                  <a:ext uri="{0D108BD9-81ED-4DB2-BD59-A6C34878D82A}">
                    <a16:rowId xmlns:a16="http://schemas.microsoft.com/office/drawing/2014/main" val="10001"/>
                  </a:ext>
                </a:extLst>
              </a:tr>
              <a:tr h="396195">
                <a:tc>
                  <a:txBody>
                    <a:bodyPr/>
                    <a:lstStyle/>
                    <a:p>
                      <a:pPr algn="ctr"/>
                      <a:r>
                        <a:rPr lang="en-US" sz="2000" b="1"/>
                        <a:t>U </a:t>
                      </a:r>
                      <a:endParaRPr lang="vi-VN" sz="2000" b="1"/>
                    </a:p>
                  </a:txBody>
                  <a:tcPr marT="45715" marB="45715" anchor="ctr"/>
                </a:tc>
                <a:tc>
                  <a:txBody>
                    <a:bodyPr/>
                    <a:lstStyle/>
                    <a:p>
                      <a:r>
                        <a:rPr lang="en-US" sz="2000" b="0"/>
                        <a:t> Destination unreachable</a:t>
                      </a:r>
                      <a:endParaRPr lang="vi-VN" sz="2000" b="0"/>
                    </a:p>
                  </a:txBody>
                  <a:tcPr marT="45715" marB="45715"/>
                </a:tc>
                <a:extLst>
                  <a:ext uri="{0D108BD9-81ED-4DB2-BD59-A6C34878D82A}">
                    <a16:rowId xmlns:a16="http://schemas.microsoft.com/office/drawing/2014/main" val="10002"/>
                  </a:ext>
                </a:extLst>
              </a:tr>
              <a:tr h="396195">
                <a:tc>
                  <a:txBody>
                    <a:bodyPr/>
                    <a:lstStyle/>
                    <a:p>
                      <a:pPr algn="ctr"/>
                      <a:r>
                        <a:rPr lang="en-US" sz="2000" b="1"/>
                        <a:t>C</a:t>
                      </a:r>
                      <a:endParaRPr lang="vi-VN" sz="2000" b="1"/>
                    </a:p>
                  </a:txBody>
                  <a:tcPr marT="45715" marB="45715" anchor="ctr"/>
                </a:tc>
                <a:tc>
                  <a:txBody>
                    <a:bodyPr/>
                    <a:lstStyle/>
                    <a:p>
                      <a:r>
                        <a:rPr lang="en-US" sz="2000" b="0"/>
                        <a:t> Network</a:t>
                      </a:r>
                      <a:r>
                        <a:rPr lang="en-US" sz="2000" b="0" baseline="0"/>
                        <a:t> congestion</a:t>
                      </a:r>
                      <a:endParaRPr lang="vi-VN" sz="2000" b="0"/>
                    </a:p>
                  </a:txBody>
                  <a:tcPr marT="45715" marB="45715"/>
                </a:tc>
                <a:extLst>
                  <a:ext uri="{0D108BD9-81ED-4DB2-BD59-A6C34878D82A}">
                    <a16:rowId xmlns:a16="http://schemas.microsoft.com/office/drawing/2014/main" val="10003"/>
                  </a:ext>
                </a:extLst>
              </a:tr>
              <a:tr h="396195">
                <a:tc>
                  <a:txBody>
                    <a:bodyPr/>
                    <a:lstStyle/>
                    <a:p>
                      <a:pPr algn="ctr"/>
                      <a:r>
                        <a:rPr lang="en-US" sz="2000" b="1"/>
                        <a:t>I</a:t>
                      </a:r>
                      <a:endParaRPr lang="vi-VN" sz="2000" b="1"/>
                    </a:p>
                  </a:txBody>
                  <a:tcPr marT="45715" marB="45715" anchor="ctr"/>
                </a:tc>
                <a:tc>
                  <a:txBody>
                    <a:bodyPr/>
                    <a:lstStyle/>
                    <a:p>
                      <a:r>
                        <a:rPr lang="en-US" sz="2000" b="0"/>
                        <a:t> Interrupted</a:t>
                      </a:r>
                      <a:endParaRPr lang="vi-VN" sz="2000" b="0"/>
                    </a:p>
                  </a:txBody>
                  <a:tcPr marT="45715" marB="45715"/>
                </a:tc>
                <a:extLst>
                  <a:ext uri="{0D108BD9-81ED-4DB2-BD59-A6C34878D82A}">
                    <a16:rowId xmlns:a16="http://schemas.microsoft.com/office/drawing/2014/main" val="10004"/>
                  </a:ext>
                </a:extLst>
              </a:tr>
              <a:tr h="396195">
                <a:tc>
                  <a:txBody>
                    <a:bodyPr/>
                    <a:lstStyle/>
                    <a:p>
                      <a:pPr algn="ctr"/>
                      <a:r>
                        <a:rPr lang="en-US" sz="2000" b="1"/>
                        <a:t>?</a:t>
                      </a:r>
                      <a:endParaRPr lang="vi-VN" sz="2000" b="1"/>
                    </a:p>
                  </a:txBody>
                  <a:tcPr marT="45715" marB="45715" anchor="ctr"/>
                </a:tc>
                <a:tc>
                  <a:txBody>
                    <a:bodyPr/>
                    <a:lstStyle/>
                    <a:p>
                      <a:r>
                        <a:rPr lang="en-US" sz="2000" b="0"/>
                        <a:t> Unknown packect type</a:t>
                      </a:r>
                      <a:endParaRPr lang="vi-VN" sz="2000" b="0"/>
                    </a:p>
                  </a:txBody>
                  <a:tcPr marT="45715" marB="45715"/>
                </a:tc>
                <a:extLst>
                  <a:ext uri="{0D108BD9-81ED-4DB2-BD59-A6C34878D82A}">
                    <a16:rowId xmlns:a16="http://schemas.microsoft.com/office/drawing/2014/main" val="10005"/>
                  </a:ext>
                </a:extLst>
              </a:tr>
              <a:tr h="396195">
                <a:tc>
                  <a:txBody>
                    <a:bodyPr/>
                    <a:lstStyle/>
                    <a:p>
                      <a:pPr algn="ctr"/>
                      <a:r>
                        <a:rPr lang="en-US" sz="2000" b="1"/>
                        <a:t>&amp;</a:t>
                      </a:r>
                      <a:endParaRPr lang="vi-VN" sz="2000" b="1"/>
                    </a:p>
                  </a:txBody>
                  <a:tcPr marT="45715" marB="45715" anchor="ctr"/>
                </a:tc>
                <a:tc>
                  <a:txBody>
                    <a:bodyPr/>
                    <a:lstStyle/>
                    <a:p>
                      <a:r>
                        <a:rPr lang="en-US" sz="2000" b="0"/>
                        <a:t> Packet TTL exceeded</a:t>
                      </a:r>
                      <a:endParaRPr lang="vi-VN" sz="2000" b="0"/>
                    </a:p>
                  </a:txBody>
                  <a:tcPr marT="45715" marB="45715"/>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12042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2133600" y="266700"/>
            <a:ext cx="7467600" cy="571500"/>
          </a:xfrm>
        </p:spPr>
        <p:txBody>
          <a:bodyPr/>
          <a:lstStyle/>
          <a:p>
            <a:r>
              <a:rPr lang="en-US" sz="2800" dirty="0"/>
              <a:t>V. CISCO DISCOVERY PROTOCOL (CDP)</a:t>
            </a:r>
            <a:endParaRPr lang="vi-VN" sz="2800" dirty="0"/>
          </a:p>
        </p:txBody>
      </p:sp>
      <p:pic>
        <p:nvPicPr>
          <p:cNvPr id="57349" name="Picture 28" descr="301P_9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00200"/>
            <a:ext cx="83058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37482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911F-9FAA-40FE-8E8B-14177BBFF73B}"/>
              </a:ext>
            </a:extLst>
          </p:cNvPr>
          <p:cNvSpPr>
            <a:spLocks noGrp="1"/>
          </p:cNvSpPr>
          <p:nvPr>
            <p:ph type="title"/>
          </p:nvPr>
        </p:nvSpPr>
        <p:spPr/>
        <p:txBody>
          <a:bodyPr/>
          <a:lstStyle/>
          <a:p>
            <a:r>
              <a:rPr lang="en-US" dirty="0"/>
              <a:t>VI. TELNET – SSH </a:t>
            </a:r>
          </a:p>
        </p:txBody>
      </p:sp>
      <p:sp>
        <p:nvSpPr>
          <p:cNvPr id="3" name="Content Placeholder 2">
            <a:extLst>
              <a:ext uri="{FF2B5EF4-FFF2-40B4-BE49-F238E27FC236}">
                <a16:creationId xmlns:a16="http://schemas.microsoft.com/office/drawing/2014/main" id="{7A2344A0-A376-4A03-B5A7-E8B1444A5754}"/>
              </a:ext>
            </a:extLst>
          </p:cNvPr>
          <p:cNvSpPr>
            <a:spLocks noGrp="1"/>
          </p:cNvSpPr>
          <p:nvPr>
            <p:ph idx="1"/>
          </p:nvPr>
        </p:nvSpPr>
        <p:spPr/>
        <p:txBody>
          <a:bodyPr/>
          <a:lstStyle/>
          <a:p>
            <a:pPr algn="just"/>
            <a:r>
              <a:rPr lang="vi-VN" b="1" dirty="0"/>
              <a:t>TELNET</a:t>
            </a:r>
            <a:r>
              <a:rPr lang="vi-VN" dirty="0"/>
              <a:t> (viết tắt của TErminaL NETwork) là một giao thức mạng (</a:t>
            </a:r>
            <a:r>
              <a:rPr lang="vi-VN" i="1" dirty="0"/>
              <a:t>network protocol</a:t>
            </a:r>
            <a:r>
              <a:rPr lang="vi-VN" dirty="0"/>
              <a:t>) được dùng trên các kết nối với Internet hoặc các kết nối tại mạng máy tính cục bộ LAN</a:t>
            </a:r>
            <a:r>
              <a:rPr lang="en-US" dirty="0"/>
              <a:t>.</a:t>
            </a:r>
          </a:p>
          <a:p>
            <a:pPr algn="just"/>
            <a:r>
              <a:rPr lang="vi-VN" dirty="0"/>
              <a:t>TELNET thường được dùng để cung cấp những phiên giao dịch đăng nhập, giữa các máy trên mạng Internet, dùng dòng lệnh có tính định hướng người dùng</a:t>
            </a:r>
            <a:endParaRPr lang="en-US" dirty="0"/>
          </a:p>
        </p:txBody>
      </p:sp>
    </p:spTree>
    <p:extLst>
      <p:ext uri="{BB962C8B-B14F-4D97-AF65-F5344CB8AC3E}">
        <p14:creationId xmlns:p14="http://schemas.microsoft.com/office/powerpoint/2010/main" val="30569929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Telnet</a:t>
            </a:r>
          </a:p>
        </p:txBody>
      </p:sp>
      <p:pic>
        <p:nvPicPr>
          <p:cNvPr id="1026" name="Picture 2" descr="Image result for telnet cisc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133601"/>
            <a:ext cx="9144000" cy="3616747"/>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1487734" y="3941973"/>
            <a:ext cx="1684564" cy="338554"/>
          </a:xfrm>
          <a:prstGeom prst="rect">
            <a:avLst/>
          </a:prstGeom>
          <a:noFill/>
        </p:spPr>
        <p:txBody>
          <a:bodyPr wrap="none" rtlCol="0">
            <a:spAutoFit/>
          </a:bodyPr>
          <a:lstStyle/>
          <a:p>
            <a:pPr algn="ctr"/>
            <a:r>
              <a:rPr lang="en-US" sz="1600" dirty="0" err="1">
                <a:solidFill>
                  <a:srgbClr val="0070C0"/>
                </a:solidFill>
                <a:latin typeface="+mj-lt"/>
                <a:cs typeface="Courier New" pitchFamily="49" charset="0"/>
              </a:rPr>
              <a:t>PuTTY</a:t>
            </a:r>
            <a:r>
              <a:rPr lang="en-US" sz="1600" dirty="0">
                <a:solidFill>
                  <a:srgbClr val="0070C0"/>
                </a:solidFill>
                <a:latin typeface="+mj-lt"/>
                <a:cs typeface="Courier New" pitchFamily="49" charset="0"/>
              </a:rPr>
              <a:t> Software</a:t>
            </a:r>
          </a:p>
        </p:txBody>
      </p:sp>
    </p:spTree>
    <p:extLst>
      <p:ext uri="{BB962C8B-B14F-4D97-AF65-F5344CB8AC3E}">
        <p14:creationId xmlns:p14="http://schemas.microsoft.com/office/powerpoint/2010/main" val="7816116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randombar(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Telnet</a:t>
            </a:r>
          </a:p>
        </p:txBody>
      </p:sp>
      <p:pic>
        <p:nvPicPr>
          <p:cNvPr id="2" name="Picture 1"/>
          <p:cNvPicPr>
            <a:picLocks noChangeAspect="1"/>
          </p:cNvPicPr>
          <p:nvPr/>
        </p:nvPicPr>
        <p:blipFill>
          <a:blip r:embed="rId3"/>
          <a:stretch>
            <a:fillRect/>
          </a:stretch>
        </p:blipFill>
        <p:spPr>
          <a:xfrm>
            <a:off x="3505200" y="1323975"/>
            <a:ext cx="5372100" cy="5207167"/>
          </a:xfrm>
          <a:prstGeom prst="rect">
            <a:avLst/>
          </a:prstGeom>
        </p:spPr>
      </p:pic>
    </p:spTree>
    <p:extLst>
      <p:ext uri="{BB962C8B-B14F-4D97-AF65-F5344CB8AC3E}">
        <p14:creationId xmlns:p14="http://schemas.microsoft.com/office/powerpoint/2010/main" val="3958809601"/>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Telnet</a:t>
            </a:r>
          </a:p>
        </p:txBody>
      </p:sp>
      <p:cxnSp>
        <p:nvCxnSpPr>
          <p:cNvPr id="3" name="Straight Connector 2"/>
          <p:cNvCxnSpPr/>
          <p:nvPr/>
        </p:nvCxnSpPr>
        <p:spPr>
          <a:xfrm flipH="1">
            <a:off x="6387307" y="4467866"/>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4"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7391" y="4226858"/>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p:cNvCxnSpPr/>
          <p:nvPr/>
        </p:nvCxnSpPr>
        <p:spPr>
          <a:xfrm flipH="1">
            <a:off x="3276601" y="4467866"/>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6558" y="4277366"/>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 descr="Devices computer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5864" y="4144099"/>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7192530" y="4195509"/>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192.168.1.1/24</a:t>
            </a:r>
          </a:p>
        </p:txBody>
      </p:sp>
      <p:sp>
        <p:nvSpPr>
          <p:cNvPr id="13" name="TextBox 12"/>
          <p:cNvSpPr txBox="1"/>
          <p:nvPr/>
        </p:nvSpPr>
        <p:spPr>
          <a:xfrm>
            <a:off x="3212557" y="4195509"/>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192.168.1.2/24</a:t>
            </a:r>
          </a:p>
        </p:txBody>
      </p:sp>
      <p:sp>
        <p:nvSpPr>
          <p:cNvPr id="14" name="TextBox 13"/>
          <p:cNvSpPr txBox="1"/>
          <p:nvPr/>
        </p:nvSpPr>
        <p:spPr>
          <a:xfrm>
            <a:off x="5334001" y="2576900"/>
            <a:ext cx="5310368" cy="1200329"/>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line </a:t>
            </a:r>
            <a:r>
              <a:rPr lang="en-US" spc="-150" dirty="0" err="1">
                <a:solidFill>
                  <a:srgbClr val="C00000"/>
                </a:solidFill>
                <a:latin typeface="Courier New" pitchFamily="49" charset="0"/>
                <a:cs typeface="Courier New" pitchFamily="49" charset="0"/>
              </a:rPr>
              <a:t>vty</a:t>
            </a:r>
            <a:r>
              <a:rPr lang="en-US" spc="-150" dirty="0">
                <a:solidFill>
                  <a:srgbClr val="C00000"/>
                </a:solidFill>
                <a:latin typeface="Courier New" pitchFamily="49" charset="0"/>
                <a:cs typeface="Courier New" pitchFamily="49" charset="0"/>
              </a:rPr>
              <a:t> 0 4</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password </a:t>
            </a:r>
            <a:r>
              <a:rPr lang="en-US" spc="-150" dirty="0" err="1">
                <a:solidFill>
                  <a:srgbClr val="C00000"/>
                </a:solidFill>
                <a:latin typeface="Courier New" pitchFamily="49" charset="0"/>
                <a:cs typeface="Courier New" pitchFamily="49" charset="0"/>
              </a:rPr>
              <a:t>abc</a:t>
            </a:r>
            <a:endParaRPr lang="en-US" spc="-150" dirty="0">
              <a:solidFill>
                <a:srgbClr val="C00000"/>
              </a:solidFill>
              <a:latin typeface="Courier New" pitchFamily="49" charset="0"/>
              <a:cs typeface="Courier New" pitchFamily="49" charset="0"/>
            </a:endParaRP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login</a:t>
            </a:r>
            <a:r>
              <a:rPr lang="en-US" spc="-150" dirty="0">
                <a:solidFill>
                  <a:srgbClr val="0070C0"/>
                </a:solidFill>
                <a:latin typeface="Courier New" pitchFamily="49" charset="0"/>
                <a:cs typeface="Courier New" pitchFamily="49" charset="0"/>
              </a:rPr>
              <a:t> </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enable password 123</a:t>
            </a:r>
          </a:p>
        </p:txBody>
      </p:sp>
      <p:cxnSp>
        <p:nvCxnSpPr>
          <p:cNvPr id="15" name="Straight Connector 14"/>
          <p:cNvCxnSpPr/>
          <p:nvPr/>
        </p:nvCxnSpPr>
        <p:spPr>
          <a:xfrm flipH="1" flipV="1">
            <a:off x="9311085" y="3763124"/>
            <a:ext cx="1" cy="48653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524001" y="2438400"/>
            <a:ext cx="2961269" cy="1477328"/>
          </a:xfrm>
          <a:prstGeom prst="rect">
            <a:avLst/>
          </a:prstGeom>
          <a:solidFill>
            <a:schemeClr val="accent1">
              <a:lumMod val="20000"/>
              <a:lumOff val="80000"/>
            </a:schemeClr>
          </a:solidFill>
          <a:ln w="28575">
            <a:solidFill>
              <a:srgbClr val="0070C0"/>
            </a:solidFill>
          </a:ln>
        </p:spPr>
        <p:txBody>
          <a:bodyPr wrap="square" rtlCol="0">
            <a:spAutoFit/>
          </a:bodyPr>
          <a:lstStyle/>
          <a:p>
            <a:r>
              <a:rPr lang="en-US" spc="-150" dirty="0">
                <a:solidFill>
                  <a:srgbClr val="0070C0"/>
                </a:solidFill>
                <a:latin typeface="Courier New" pitchFamily="49" charset="0"/>
                <a:cs typeface="Courier New" pitchFamily="49" charset="0"/>
              </a:rPr>
              <a:t>PC\&gt; </a:t>
            </a:r>
            <a:r>
              <a:rPr lang="en-US" spc="-150" dirty="0">
                <a:solidFill>
                  <a:srgbClr val="C00000"/>
                </a:solidFill>
                <a:latin typeface="Courier New" pitchFamily="49" charset="0"/>
                <a:cs typeface="Courier New" pitchFamily="49" charset="0"/>
              </a:rPr>
              <a:t>telnet 192.168.1.1</a:t>
            </a:r>
          </a:p>
          <a:p>
            <a:r>
              <a:rPr lang="en-US" spc="-150" dirty="0">
                <a:solidFill>
                  <a:srgbClr val="0070C0"/>
                </a:solidFill>
                <a:latin typeface="Courier New" pitchFamily="49" charset="0"/>
                <a:cs typeface="Courier New" pitchFamily="49" charset="0"/>
              </a:rPr>
              <a:t>Password:</a:t>
            </a:r>
          </a:p>
          <a:p>
            <a:r>
              <a:rPr lang="en-US" spc="-150" dirty="0">
                <a:solidFill>
                  <a:srgbClr val="0070C0"/>
                </a:solidFill>
                <a:latin typeface="Courier New" pitchFamily="49" charset="0"/>
                <a:cs typeface="Courier New" pitchFamily="49" charset="0"/>
              </a:rPr>
              <a:t>Router&gt; </a:t>
            </a:r>
            <a:r>
              <a:rPr lang="en-US" spc="-150" dirty="0">
                <a:solidFill>
                  <a:srgbClr val="C00000"/>
                </a:solidFill>
                <a:latin typeface="Courier New" pitchFamily="49" charset="0"/>
                <a:cs typeface="Courier New" pitchFamily="49" charset="0"/>
              </a:rPr>
              <a:t>enable</a:t>
            </a:r>
          </a:p>
          <a:p>
            <a:r>
              <a:rPr lang="en-US" spc="-150" dirty="0">
                <a:solidFill>
                  <a:srgbClr val="0070C0"/>
                </a:solidFill>
                <a:latin typeface="Courier New" pitchFamily="49" charset="0"/>
                <a:cs typeface="Courier New" pitchFamily="49" charset="0"/>
              </a:rPr>
              <a:t>Password:</a:t>
            </a:r>
          </a:p>
          <a:p>
            <a:r>
              <a:rPr lang="en-US" spc="-150" dirty="0">
                <a:solidFill>
                  <a:srgbClr val="0070C0"/>
                </a:solidFill>
                <a:latin typeface="Courier New" pitchFamily="49" charset="0"/>
                <a:cs typeface="Courier New" pitchFamily="49" charset="0"/>
              </a:rPr>
              <a:t>Router#</a:t>
            </a:r>
          </a:p>
        </p:txBody>
      </p:sp>
      <p:cxnSp>
        <p:nvCxnSpPr>
          <p:cNvPr id="20" name="Straight Connector 19"/>
          <p:cNvCxnSpPr/>
          <p:nvPr/>
        </p:nvCxnSpPr>
        <p:spPr>
          <a:xfrm flipH="1" flipV="1">
            <a:off x="2934222" y="3763124"/>
            <a:ext cx="1" cy="48653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13186" y="5185338"/>
            <a:ext cx="7031182" cy="1200329"/>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 </a:t>
            </a:r>
            <a:r>
              <a:rPr lang="en-US" spc="-150" dirty="0">
                <a:solidFill>
                  <a:srgbClr val="C00000"/>
                </a:solidFill>
                <a:latin typeface="Courier New" pitchFamily="49" charset="0"/>
                <a:cs typeface="Courier New" pitchFamily="49" charset="0"/>
              </a:rPr>
              <a:t>show users	</a:t>
            </a:r>
          </a:p>
          <a:p>
            <a:pPr marL="6350" lvl="5"/>
            <a:r>
              <a:rPr lang="en-US" spc="-150" dirty="0">
                <a:solidFill>
                  <a:srgbClr val="0070C0"/>
                </a:solidFill>
                <a:latin typeface="Courier New" pitchFamily="49" charset="0"/>
                <a:cs typeface="Courier New" pitchFamily="49" charset="0"/>
              </a:rPr>
              <a:t>Line		User	Host(s)	Idle		Location</a:t>
            </a:r>
          </a:p>
          <a:p>
            <a:pPr marL="6350" lvl="5"/>
            <a:r>
              <a:rPr lang="en-US" spc="-150" dirty="0">
                <a:solidFill>
                  <a:srgbClr val="C00000"/>
                </a:solidFill>
                <a:latin typeface="Courier New" pitchFamily="49" charset="0"/>
                <a:cs typeface="Courier New" pitchFamily="49" charset="0"/>
              </a:rPr>
              <a:t>11</a:t>
            </a:r>
            <a:r>
              <a:rPr lang="en-US" spc="-150" dirty="0">
                <a:solidFill>
                  <a:srgbClr val="0070C0"/>
                </a:solidFill>
                <a:latin typeface="Courier New" pitchFamily="49" charset="0"/>
                <a:cs typeface="Courier New" pitchFamily="49" charset="0"/>
              </a:rPr>
              <a:t> </a:t>
            </a:r>
            <a:r>
              <a:rPr lang="en-US" spc="-150" dirty="0" err="1">
                <a:solidFill>
                  <a:srgbClr val="0070C0"/>
                </a:solidFill>
                <a:latin typeface="Courier New" pitchFamily="49" charset="0"/>
                <a:cs typeface="Courier New" pitchFamily="49" charset="0"/>
              </a:rPr>
              <a:t>vty</a:t>
            </a:r>
            <a:r>
              <a:rPr lang="en-US" spc="-150" dirty="0">
                <a:solidFill>
                  <a:srgbClr val="0070C0"/>
                </a:solidFill>
                <a:latin typeface="Courier New" pitchFamily="49" charset="0"/>
                <a:cs typeface="Courier New" pitchFamily="49" charset="0"/>
              </a:rPr>
              <a:t> 0	idle		00:00:09	192.168.1.2</a:t>
            </a:r>
          </a:p>
          <a:p>
            <a:pPr marL="6350" lvl="5"/>
            <a:r>
              <a:rPr lang="en-US" spc="-150" dirty="0">
                <a:solidFill>
                  <a:srgbClr val="0070C0"/>
                </a:solidFill>
                <a:latin typeface="Courier New" pitchFamily="49" charset="0"/>
                <a:cs typeface="Courier New" pitchFamily="49" charset="0"/>
              </a:rPr>
              <a:t>Router# </a:t>
            </a:r>
            <a:r>
              <a:rPr lang="en-US" spc="-150" dirty="0">
                <a:solidFill>
                  <a:srgbClr val="C00000"/>
                </a:solidFill>
                <a:latin typeface="Courier New" pitchFamily="49" charset="0"/>
                <a:cs typeface="Courier New" pitchFamily="49" charset="0"/>
              </a:rPr>
              <a:t>clear line 11</a:t>
            </a:r>
          </a:p>
        </p:txBody>
      </p:sp>
      <p:cxnSp>
        <p:nvCxnSpPr>
          <p:cNvPr id="22" name="Straight Connector 21"/>
          <p:cNvCxnSpPr/>
          <p:nvPr/>
        </p:nvCxnSpPr>
        <p:spPr>
          <a:xfrm flipH="1" flipV="1">
            <a:off x="9311085" y="4691403"/>
            <a:ext cx="1" cy="486535"/>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294463" y="4933991"/>
            <a:ext cx="1279516" cy="307777"/>
          </a:xfrm>
          <a:prstGeom prst="rect">
            <a:avLst/>
          </a:prstGeom>
          <a:noFill/>
        </p:spPr>
        <p:txBody>
          <a:bodyPr wrap="none" rtlCol="0">
            <a:spAutoFit/>
          </a:bodyPr>
          <a:lstStyle/>
          <a:p>
            <a:pPr algn="ctr"/>
            <a:r>
              <a:rPr lang="en-US" sz="1400" dirty="0" err="1">
                <a:solidFill>
                  <a:srgbClr val="0070C0"/>
                </a:solidFill>
                <a:latin typeface="+mj-lt"/>
                <a:cs typeface="Courier New" pitchFamily="49" charset="0"/>
              </a:rPr>
              <a:t>cmd</a:t>
            </a:r>
            <a:r>
              <a:rPr lang="en-US" sz="1400" dirty="0">
                <a:solidFill>
                  <a:srgbClr val="0070C0"/>
                </a:solidFill>
                <a:latin typeface="+mj-lt"/>
                <a:cs typeface="Courier New" pitchFamily="49" charset="0"/>
              </a:rPr>
              <a:t> Software</a:t>
            </a:r>
          </a:p>
        </p:txBody>
      </p:sp>
      <p:sp>
        <p:nvSpPr>
          <p:cNvPr id="24" name="TextBox 23"/>
          <p:cNvSpPr txBox="1"/>
          <p:nvPr/>
        </p:nvSpPr>
        <p:spPr>
          <a:xfrm>
            <a:off x="5334001" y="1314272"/>
            <a:ext cx="5310369" cy="1200329"/>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username user1 password </a:t>
            </a:r>
            <a:r>
              <a:rPr lang="en-US" spc="-150" dirty="0" err="1">
                <a:solidFill>
                  <a:srgbClr val="C00000"/>
                </a:solidFill>
                <a:latin typeface="Courier New" pitchFamily="49" charset="0"/>
                <a:cs typeface="Courier New" pitchFamily="49" charset="0"/>
              </a:rPr>
              <a:t>abc</a:t>
            </a:r>
            <a:endParaRPr lang="en-US" spc="-150" dirty="0">
              <a:solidFill>
                <a:srgbClr val="C00000"/>
              </a:solidFill>
              <a:latin typeface="Courier New" pitchFamily="49" charset="0"/>
              <a:cs typeface="Courier New" pitchFamily="49" charset="0"/>
            </a:endParaRP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line </a:t>
            </a:r>
            <a:r>
              <a:rPr lang="en-US" spc="-150" dirty="0" err="1">
                <a:solidFill>
                  <a:srgbClr val="C00000"/>
                </a:solidFill>
                <a:latin typeface="Courier New" pitchFamily="49" charset="0"/>
                <a:cs typeface="Courier New" pitchFamily="49" charset="0"/>
              </a:rPr>
              <a:t>vty</a:t>
            </a:r>
            <a:r>
              <a:rPr lang="en-US" spc="-150" dirty="0">
                <a:solidFill>
                  <a:srgbClr val="C00000"/>
                </a:solidFill>
                <a:latin typeface="Courier New" pitchFamily="49" charset="0"/>
                <a:cs typeface="Courier New" pitchFamily="49" charset="0"/>
              </a:rPr>
              <a:t> 0 4</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login local</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enable password 123</a:t>
            </a:r>
          </a:p>
        </p:txBody>
      </p:sp>
      <p:sp>
        <p:nvSpPr>
          <p:cNvPr id="18" name="TextBox 17"/>
          <p:cNvSpPr txBox="1"/>
          <p:nvPr/>
        </p:nvSpPr>
        <p:spPr>
          <a:xfrm>
            <a:off x="5334000" y="2576900"/>
            <a:ext cx="5310368" cy="1200329"/>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line </a:t>
            </a:r>
            <a:r>
              <a:rPr lang="en-US" spc="-150" dirty="0" err="1">
                <a:solidFill>
                  <a:srgbClr val="C00000"/>
                </a:solidFill>
                <a:latin typeface="Courier New" pitchFamily="49" charset="0"/>
                <a:cs typeface="Courier New" pitchFamily="49" charset="0"/>
              </a:rPr>
              <a:t>vty</a:t>
            </a:r>
            <a:r>
              <a:rPr lang="en-US" spc="-150" dirty="0">
                <a:solidFill>
                  <a:srgbClr val="C00000"/>
                </a:solidFill>
                <a:latin typeface="Courier New" pitchFamily="49" charset="0"/>
                <a:cs typeface="Courier New" pitchFamily="49" charset="0"/>
              </a:rPr>
              <a:t> 0 4</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no </a:t>
            </a:r>
            <a:r>
              <a:rPr lang="en-US" spc="-150" dirty="0">
                <a:solidFill>
                  <a:srgbClr val="C00000"/>
                </a:solidFill>
                <a:latin typeface="Courier New" pitchFamily="49" charset="0"/>
                <a:cs typeface="Courier New" pitchFamily="49" charset="0"/>
              </a:rPr>
              <a:t>password</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login</a:t>
            </a:r>
            <a:r>
              <a:rPr lang="en-US" spc="-150" dirty="0">
                <a:solidFill>
                  <a:srgbClr val="0070C0"/>
                </a:solidFill>
                <a:latin typeface="Courier New" pitchFamily="49" charset="0"/>
                <a:cs typeface="Courier New" pitchFamily="49" charset="0"/>
              </a:rPr>
              <a:t> </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enable password 123</a:t>
            </a:r>
          </a:p>
        </p:txBody>
      </p:sp>
    </p:spTree>
    <p:extLst>
      <p:ext uri="{BB962C8B-B14F-4D97-AF65-F5344CB8AC3E}">
        <p14:creationId xmlns:p14="http://schemas.microsoft.com/office/powerpoint/2010/main" val="29972165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9" grpId="0" animBg="1"/>
      <p:bldP spid="21" grpId="0" animBg="1"/>
      <p:bldP spid="23" grpId="0"/>
      <p:bldP spid="24" grpId="0" animBg="1"/>
      <p:bldP spid="1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Telnet</a:t>
            </a:r>
          </a:p>
        </p:txBody>
      </p:sp>
      <p:cxnSp>
        <p:nvCxnSpPr>
          <p:cNvPr id="3" name="Straight Connector 2"/>
          <p:cNvCxnSpPr/>
          <p:nvPr/>
        </p:nvCxnSpPr>
        <p:spPr>
          <a:xfrm flipH="1">
            <a:off x="6387307" y="4467866"/>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4"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7391" y="4226858"/>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p:cNvCxnSpPr/>
          <p:nvPr/>
        </p:nvCxnSpPr>
        <p:spPr>
          <a:xfrm flipH="1">
            <a:off x="3276601" y="4467866"/>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6558" y="4277366"/>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 descr="Devices computer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5864" y="4144099"/>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7192530" y="4195509"/>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192.168.1.1/24</a:t>
            </a:r>
          </a:p>
        </p:txBody>
      </p:sp>
      <p:sp>
        <p:nvSpPr>
          <p:cNvPr id="13" name="TextBox 12"/>
          <p:cNvSpPr txBox="1"/>
          <p:nvPr/>
        </p:nvSpPr>
        <p:spPr>
          <a:xfrm>
            <a:off x="3212557" y="4195509"/>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192.168.1.2/24</a:t>
            </a:r>
          </a:p>
        </p:txBody>
      </p:sp>
      <p:sp>
        <p:nvSpPr>
          <p:cNvPr id="14" name="TextBox 13"/>
          <p:cNvSpPr txBox="1"/>
          <p:nvPr/>
        </p:nvSpPr>
        <p:spPr>
          <a:xfrm>
            <a:off x="5334001" y="2576900"/>
            <a:ext cx="5310368" cy="1200329"/>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line </a:t>
            </a:r>
            <a:r>
              <a:rPr lang="en-US" spc="-150" dirty="0" err="1">
                <a:solidFill>
                  <a:srgbClr val="C00000"/>
                </a:solidFill>
                <a:latin typeface="Courier New" pitchFamily="49" charset="0"/>
                <a:cs typeface="Courier New" pitchFamily="49" charset="0"/>
              </a:rPr>
              <a:t>vty</a:t>
            </a:r>
            <a:r>
              <a:rPr lang="en-US" spc="-150" dirty="0">
                <a:solidFill>
                  <a:srgbClr val="C00000"/>
                </a:solidFill>
                <a:latin typeface="Courier New" pitchFamily="49" charset="0"/>
                <a:cs typeface="Courier New" pitchFamily="49" charset="0"/>
              </a:rPr>
              <a:t> 0 4</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no </a:t>
            </a:r>
            <a:r>
              <a:rPr lang="en-US" spc="-150" dirty="0">
                <a:solidFill>
                  <a:srgbClr val="C00000"/>
                </a:solidFill>
                <a:latin typeface="Courier New" pitchFamily="49" charset="0"/>
                <a:cs typeface="Courier New" pitchFamily="49" charset="0"/>
              </a:rPr>
              <a:t>password</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no </a:t>
            </a:r>
            <a:r>
              <a:rPr lang="en-US" spc="-150" dirty="0">
                <a:solidFill>
                  <a:srgbClr val="C00000"/>
                </a:solidFill>
                <a:latin typeface="Courier New" pitchFamily="49" charset="0"/>
                <a:cs typeface="Courier New" pitchFamily="49" charset="0"/>
              </a:rPr>
              <a:t>login</a:t>
            </a:r>
            <a:r>
              <a:rPr lang="en-US" spc="-150" dirty="0">
                <a:solidFill>
                  <a:srgbClr val="0070C0"/>
                </a:solidFill>
                <a:latin typeface="Courier New" pitchFamily="49" charset="0"/>
                <a:cs typeface="Courier New" pitchFamily="49" charset="0"/>
              </a:rPr>
              <a:t> </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enable password 123</a:t>
            </a:r>
          </a:p>
        </p:txBody>
      </p:sp>
      <p:cxnSp>
        <p:nvCxnSpPr>
          <p:cNvPr id="15" name="Straight Connector 14"/>
          <p:cNvCxnSpPr/>
          <p:nvPr/>
        </p:nvCxnSpPr>
        <p:spPr>
          <a:xfrm flipH="1" flipV="1">
            <a:off x="9311085" y="3763124"/>
            <a:ext cx="1" cy="48653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524001" y="2438400"/>
            <a:ext cx="2961269" cy="1477328"/>
          </a:xfrm>
          <a:prstGeom prst="rect">
            <a:avLst/>
          </a:prstGeom>
          <a:solidFill>
            <a:schemeClr val="accent1">
              <a:lumMod val="20000"/>
              <a:lumOff val="80000"/>
            </a:schemeClr>
          </a:solidFill>
          <a:ln w="28575">
            <a:solidFill>
              <a:srgbClr val="0070C0"/>
            </a:solidFill>
          </a:ln>
        </p:spPr>
        <p:txBody>
          <a:bodyPr wrap="square" rtlCol="0">
            <a:spAutoFit/>
          </a:bodyPr>
          <a:lstStyle/>
          <a:p>
            <a:r>
              <a:rPr lang="en-US" spc="-150" dirty="0">
                <a:solidFill>
                  <a:srgbClr val="0070C0"/>
                </a:solidFill>
                <a:latin typeface="Courier New" pitchFamily="49" charset="0"/>
                <a:cs typeface="Courier New" pitchFamily="49" charset="0"/>
              </a:rPr>
              <a:t>PC\&gt; </a:t>
            </a:r>
            <a:r>
              <a:rPr lang="en-US" spc="-150" dirty="0">
                <a:solidFill>
                  <a:srgbClr val="C00000"/>
                </a:solidFill>
                <a:latin typeface="Courier New" pitchFamily="49" charset="0"/>
                <a:cs typeface="Courier New" pitchFamily="49" charset="0"/>
              </a:rPr>
              <a:t>telnet 192.168.1.1</a:t>
            </a:r>
          </a:p>
          <a:p>
            <a:r>
              <a:rPr lang="en-US" spc="-150" dirty="0">
                <a:solidFill>
                  <a:schemeClr val="bg1">
                    <a:lumMod val="65000"/>
                  </a:schemeClr>
                </a:solidFill>
                <a:latin typeface="Courier New" pitchFamily="49" charset="0"/>
                <a:cs typeface="Courier New" pitchFamily="49" charset="0"/>
              </a:rPr>
              <a:t>Password:</a:t>
            </a:r>
          </a:p>
          <a:p>
            <a:r>
              <a:rPr lang="en-US" spc="-150" dirty="0">
                <a:solidFill>
                  <a:srgbClr val="0070C0"/>
                </a:solidFill>
                <a:latin typeface="Courier New" pitchFamily="49" charset="0"/>
                <a:cs typeface="Courier New" pitchFamily="49" charset="0"/>
              </a:rPr>
              <a:t>Router&gt; </a:t>
            </a:r>
            <a:r>
              <a:rPr lang="en-US" spc="-150" dirty="0">
                <a:solidFill>
                  <a:srgbClr val="C00000"/>
                </a:solidFill>
                <a:latin typeface="Courier New" pitchFamily="49" charset="0"/>
                <a:cs typeface="Courier New" pitchFamily="49" charset="0"/>
              </a:rPr>
              <a:t>enable</a:t>
            </a:r>
          </a:p>
          <a:p>
            <a:r>
              <a:rPr lang="en-US" spc="-150" dirty="0">
                <a:solidFill>
                  <a:srgbClr val="0070C0"/>
                </a:solidFill>
                <a:latin typeface="Courier New" pitchFamily="49" charset="0"/>
                <a:cs typeface="Courier New" pitchFamily="49" charset="0"/>
              </a:rPr>
              <a:t>Password:</a:t>
            </a:r>
          </a:p>
          <a:p>
            <a:r>
              <a:rPr lang="en-US" spc="-150" dirty="0">
                <a:solidFill>
                  <a:srgbClr val="0070C0"/>
                </a:solidFill>
                <a:latin typeface="Courier New" pitchFamily="49" charset="0"/>
                <a:cs typeface="Courier New" pitchFamily="49" charset="0"/>
              </a:rPr>
              <a:t>Router#</a:t>
            </a:r>
          </a:p>
        </p:txBody>
      </p:sp>
      <p:cxnSp>
        <p:nvCxnSpPr>
          <p:cNvPr id="20" name="Straight Connector 19"/>
          <p:cNvCxnSpPr/>
          <p:nvPr/>
        </p:nvCxnSpPr>
        <p:spPr>
          <a:xfrm flipH="1" flipV="1">
            <a:off x="2934222" y="3763124"/>
            <a:ext cx="1" cy="48653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294463" y="4933991"/>
            <a:ext cx="1279516" cy="307777"/>
          </a:xfrm>
          <a:prstGeom prst="rect">
            <a:avLst/>
          </a:prstGeom>
          <a:noFill/>
        </p:spPr>
        <p:txBody>
          <a:bodyPr wrap="none" rtlCol="0">
            <a:spAutoFit/>
          </a:bodyPr>
          <a:lstStyle/>
          <a:p>
            <a:pPr algn="ctr"/>
            <a:r>
              <a:rPr lang="en-US" sz="1400" dirty="0" err="1">
                <a:solidFill>
                  <a:srgbClr val="0070C0"/>
                </a:solidFill>
                <a:latin typeface="+mj-lt"/>
                <a:cs typeface="Courier New" pitchFamily="49" charset="0"/>
              </a:rPr>
              <a:t>cmd</a:t>
            </a:r>
            <a:r>
              <a:rPr lang="en-US" sz="1400" dirty="0">
                <a:solidFill>
                  <a:srgbClr val="0070C0"/>
                </a:solidFill>
                <a:latin typeface="+mj-lt"/>
                <a:cs typeface="Courier New" pitchFamily="49" charset="0"/>
              </a:rPr>
              <a:t> Software</a:t>
            </a:r>
          </a:p>
        </p:txBody>
      </p:sp>
    </p:spTree>
    <p:extLst>
      <p:ext uri="{BB962C8B-B14F-4D97-AF65-F5344CB8AC3E}">
        <p14:creationId xmlns:p14="http://schemas.microsoft.com/office/powerpoint/2010/main" val="13471262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9" grpId="0" animBg="1"/>
      <p:bldP spid="2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Telnet</a:t>
            </a:r>
          </a:p>
        </p:txBody>
      </p:sp>
      <p:cxnSp>
        <p:nvCxnSpPr>
          <p:cNvPr id="3" name="Straight Connector 2"/>
          <p:cNvCxnSpPr/>
          <p:nvPr/>
        </p:nvCxnSpPr>
        <p:spPr>
          <a:xfrm flipH="1">
            <a:off x="6387307" y="4467866"/>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4"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7391" y="4226858"/>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p:cNvCxnSpPr/>
          <p:nvPr/>
        </p:nvCxnSpPr>
        <p:spPr>
          <a:xfrm flipH="1">
            <a:off x="3276601" y="4467866"/>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6558" y="4277366"/>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 descr="Devices computer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5864" y="4144099"/>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7192530" y="4195509"/>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192.168.1.1/24</a:t>
            </a:r>
          </a:p>
        </p:txBody>
      </p:sp>
      <p:sp>
        <p:nvSpPr>
          <p:cNvPr id="13" name="TextBox 12"/>
          <p:cNvSpPr txBox="1"/>
          <p:nvPr/>
        </p:nvSpPr>
        <p:spPr>
          <a:xfrm>
            <a:off x="3212557" y="4195509"/>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192.168.1.2/24</a:t>
            </a:r>
          </a:p>
        </p:txBody>
      </p:sp>
      <p:sp>
        <p:nvSpPr>
          <p:cNvPr id="14" name="TextBox 13"/>
          <p:cNvSpPr txBox="1"/>
          <p:nvPr/>
        </p:nvSpPr>
        <p:spPr>
          <a:xfrm>
            <a:off x="5334001" y="2576900"/>
            <a:ext cx="5310368" cy="1200329"/>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line </a:t>
            </a:r>
            <a:r>
              <a:rPr lang="en-US" spc="-150" dirty="0" err="1">
                <a:solidFill>
                  <a:srgbClr val="C00000"/>
                </a:solidFill>
                <a:latin typeface="Courier New" pitchFamily="49" charset="0"/>
                <a:cs typeface="Courier New" pitchFamily="49" charset="0"/>
              </a:rPr>
              <a:t>vty</a:t>
            </a:r>
            <a:r>
              <a:rPr lang="en-US" spc="-150" dirty="0">
                <a:solidFill>
                  <a:srgbClr val="C00000"/>
                </a:solidFill>
                <a:latin typeface="Courier New" pitchFamily="49" charset="0"/>
                <a:cs typeface="Courier New" pitchFamily="49" charset="0"/>
              </a:rPr>
              <a:t> 0 4</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privilege level 15</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no </a:t>
            </a:r>
            <a:r>
              <a:rPr lang="en-US" spc="-150" dirty="0">
                <a:solidFill>
                  <a:srgbClr val="C00000"/>
                </a:solidFill>
                <a:latin typeface="Courier New" pitchFamily="49" charset="0"/>
                <a:cs typeface="Courier New" pitchFamily="49" charset="0"/>
              </a:rPr>
              <a:t>login</a:t>
            </a:r>
            <a:r>
              <a:rPr lang="en-US" spc="-150" dirty="0">
                <a:solidFill>
                  <a:srgbClr val="0070C0"/>
                </a:solidFill>
                <a:latin typeface="Courier New" pitchFamily="49" charset="0"/>
                <a:cs typeface="Courier New" pitchFamily="49" charset="0"/>
              </a:rPr>
              <a:t> </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enable password 123</a:t>
            </a:r>
          </a:p>
        </p:txBody>
      </p:sp>
      <p:cxnSp>
        <p:nvCxnSpPr>
          <p:cNvPr id="15" name="Straight Connector 14"/>
          <p:cNvCxnSpPr/>
          <p:nvPr/>
        </p:nvCxnSpPr>
        <p:spPr>
          <a:xfrm flipH="1" flipV="1">
            <a:off x="9311085" y="3763124"/>
            <a:ext cx="1" cy="48653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524001" y="2438400"/>
            <a:ext cx="2961269" cy="1477328"/>
          </a:xfrm>
          <a:prstGeom prst="rect">
            <a:avLst/>
          </a:prstGeom>
          <a:solidFill>
            <a:schemeClr val="accent1">
              <a:lumMod val="20000"/>
              <a:lumOff val="80000"/>
            </a:schemeClr>
          </a:solidFill>
          <a:ln w="28575">
            <a:solidFill>
              <a:srgbClr val="0070C0"/>
            </a:solidFill>
          </a:ln>
        </p:spPr>
        <p:txBody>
          <a:bodyPr wrap="square" rtlCol="0">
            <a:spAutoFit/>
          </a:bodyPr>
          <a:lstStyle/>
          <a:p>
            <a:r>
              <a:rPr lang="en-US" spc="-150" dirty="0">
                <a:solidFill>
                  <a:srgbClr val="0070C0"/>
                </a:solidFill>
                <a:latin typeface="Courier New" pitchFamily="49" charset="0"/>
                <a:cs typeface="Courier New" pitchFamily="49" charset="0"/>
              </a:rPr>
              <a:t>PC\&gt; </a:t>
            </a:r>
            <a:r>
              <a:rPr lang="en-US" spc="-150" dirty="0">
                <a:solidFill>
                  <a:srgbClr val="C00000"/>
                </a:solidFill>
                <a:latin typeface="Courier New" pitchFamily="49" charset="0"/>
                <a:cs typeface="Courier New" pitchFamily="49" charset="0"/>
              </a:rPr>
              <a:t>telnet 192.168.1.1</a:t>
            </a:r>
          </a:p>
          <a:p>
            <a:r>
              <a:rPr lang="en-US" spc="-150" dirty="0">
                <a:solidFill>
                  <a:schemeClr val="bg1">
                    <a:lumMod val="65000"/>
                  </a:schemeClr>
                </a:solidFill>
                <a:latin typeface="Courier New" pitchFamily="49" charset="0"/>
                <a:cs typeface="Courier New" pitchFamily="49" charset="0"/>
              </a:rPr>
              <a:t>Password:</a:t>
            </a:r>
          </a:p>
          <a:p>
            <a:r>
              <a:rPr lang="en-US" spc="-150" dirty="0">
                <a:solidFill>
                  <a:schemeClr val="bg1">
                    <a:lumMod val="65000"/>
                  </a:schemeClr>
                </a:solidFill>
                <a:latin typeface="Courier New" pitchFamily="49" charset="0"/>
                <a:cs typeface="Courier New" pitchFamily="49" charset="0"/>
              </a:rPr>
              <a:t>Router&gt; enable</a:t>
            </a:r>
          </a:p>
          <a:p>
            <a:r>
              <a:rPr lang="en-US" spc="-150" dirty="0">
                <a:solidFill>
                  <a:schemeClr val="bg1">
                    <a:lumMod val="65000"/>
                  </a:schemeClr>
                </a:solidFill>
                <a:latin typeface="Courier New" pitchFamily="49" charset="0"/>
                <a:cs typeface="Courier New" pitchFamily="49" charset="0"/>
              </a:rPr>
              <a:t>Password:</a:t>
            </a:r>
          </a:p>
          <a:p>
            <a:r>
              <a:rPr lang="en-US" spc="-150" dirty="0">
                <a:solidFill>
                  <a:srgbClr val="0070C0"/>
                </a:solidFill>
                <a:latin typeface="Courier New" pitchFamily="49" charset="0"/>
                <a:cs typeface="Courier New" pitchFamily="49" charset="0"/>
              </a:rPr>
              <a:t>Router#</a:t>
            </a:r>
          </a:p>
        </p:txBody>
      </p:sp>
      <p:cxnSp>
        <p:nvCxnSpPr>
          <p:cNvPr id="20" name="Straight Connector 19"/>
          <p:cNvCxnSpPr/>
          <p:nvPr/>
        </p:nvCxnSpPr>
        <p:spPr>
          <a:xfrm flipH="1" flipV="1">
            <a:off x="2934222" y="3763124"/>
            <a:ext cx="1" cy="48653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294463" y="4933991"/>
            <a:ext cx="1279516" cy="307777"/>
          </a:xfrm>
          <a:prstGeom prst="rect">
            <a:avLst/>
          </a:prstGeom>
          <a:noFill/>
        </p:spPr>
        <p:txBody>
          <a:bodyPr wrap="none" rtlCol="0">
            <a:spAutoFit/>
          </a:bodyPr>
          <a:lstStyle/>
          <a:p>
            <a:pPr algn="ctr"/>
            <a:r>
              <a:rPr lang="en-US" sz="1400" dirty="0" err="1">
                <a:solidFill>
                  <a:srgbClr val="0070C0"/>
                </a:solidFill>
                <a:latin typeface="+mj-lt"/>
                <a:cs typeface="Courier New" pitchFamily="49" charset="0"/>
              </a:rPr>
              <a:t>cmd</a:t>
            </a:r>
            <a:r>
              <a:rPr lang="en-US" sz="1400" dirty="0">
                <a:solidFill>
                  <a:srgbClr val="0070C0"/>
                </a:solidFill>
                <a:latin typeface="+mj-lt"/>
                <a:cs typeface="Courier New" pitchFamily="49" charset="0"/>
              </a:rPr>
              <a:t> Software</a:t>
            </a:r>
          </a:p>
        </p:txBody>
      </p:sp>
    </p:spTree>
    <p:extLst>
      <p:ext uri="{BB962C8B-B14F-4D97-AF65-F5344CB8AC3E}">
        <p14:creationId xmlns:p14="http://schemas.microsoft.com/office/powerpoint/2010/main" val="4066712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9" grpId="0" animBg="1"/>
      <p:bldP spid="2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EC37F4-C871-402C-BFED-5EA1C32292CF}"/>
              </a:ext>
            </a:extLst>
          </p:cNvPr>
          <p:cNvSpPr>
            <a:spLocks noGrp="1"/>
          </p:cNvSpPr>
          <p:nvPr>
            <p:ph type="title"/>
          </p:nvPr>
        </p:nvSpPr>
        <p:spPr/>
        <p:txBody>
          <a:bodyPr/>
          <a:lstStyle/>
          <a:p>
            <a:r>
              <a:rPr lang="en-US" dirty="0"/>
              <a:t>VI. TELNET – SSH </a:t>
            </a:r>
          </a:p>
        </p:txBody>
      </p:sp>
      <p:sp>
        <p:nvSpPr>
          <p:cNvPr id="4" name="Content Placeholder 3">
            <a:extLst>
              <a:ext uri="{FF2B5EF4-FFF2-40B4-BE49-F238E27FC236}">
                <a16:creationId xmlns:a16="http://schemas.microsoft.com/office/drawing/2014/main" id="{F3BC41A1-1EDF-4862-9443-673ED47261DB}"/>
              </a:ext>
            </a:extLst>
          </p:cNvPr>
          <p:cNvSpPr>
            <a:spLocks noGrp="1"/>
          </p:cNvSpPr>
          <p:nvPr>
            <p:ph idx="1"/>
          </p:nvPr>
        </p:nvSpPr>
        <p:spPr/>
        <p:txBody>
          <a:bodyPr/>
          <a:lstStyle/>
          <a:p>
            <a:pPr algn="just"/>
            <a:r>
              <a:rPr lang="vi-VN" dirty="0"/>
              <a:t>SSH, hoặc được gọi là Secure Shell, là một giao thức điều khiển từ xa cho phép người dùng kiểm soát và chỉnh sửa server từ xa qua Internet. </a:t>
            </a:r>
            <a:endParaRPr lang="en-US" dirty="0"/>
          </a:p>
          <a:p>
            <a:pPr algn="just"/>
            <a:r>
              <a:rPr lang="vi-VN" dirty="0"/>
              <a:t>Dịch vụ được tạo ra nhằm thay thế cho trình Telnet vốn không có mã hóa và sử dụng kỹ thuật cryptographic để đảm bảo tất cả giao tiếp gửi tới và gửi từ server từ xa diễn ra trong tình trạng mã hóa.</a:t>
            </a:r>
            <a:endParaRPr lang="en-US" dirty="0"/>
          </a:p>
        </p:txBody>
      </p:sp>
    </p:spTree>
    <p:extLst>
      <p:ext uri="{BB962C8B-B14F-4D97-AF65-F5344CB8AC3E}">
        <p14:creationId xmlns:p14="http://schemas.microsoft.com/office/powerpoint/2010/main" val="9236694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SSH: </a:t>
            </a:r>
            <a:r>
              <a:rPr lang="en-US" altLang="zh-CN" sz="2400" dirty="0">
                <a:ea typeface="宋体" panose="02010600030101010101" pitchFamily="2" charset="-122"/>
              </a:rPr>
              <a:t>Secure Shell</a:t>
            </a:r>
            <a:endParaRPr lang="en-US" altLang="zh-CN" dirty="0">
              <a:ea typeface="宋体" panose="02010600030101010101" pitchFamily="2" charset="-122"/>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1285461"/>
            <a:ext cx="8686800" cy="5267739"/>
          </a:xfrm>
          <a:prstGeom prst="rect">
            <a:avLst/>
          </a:prstGeom>
        </p:spPr>
      </p:pic>
    </p:spTree>
    <p:extLst>
      <p:ext uri="{BB962C8B-B14F-4D97-AF65-F5344CB8AC3E}">
        <p14:creationId xmlns:p14="http://schemas.microsoft.com/office/powerpoint/2010/main" val="2354533390"/>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SSH: </a:t>
            </a:r>
            <a:r>
              <a:rPr lang="en-US" altLang="zh-CN" sz="2400" dirty="0">
                <a:ea typeface="宋体" panose="02010600030101010101" pitchFamily="2" charset="-122"/>
              </a:rPr>
              <a:t>Secure Shell</a:t>
            </a:r>
            <a:endParaRPr lang="en-US" altLang="zh-CN" dirty="0">
              <a:ea typeface="宋体" panose="02010600030101010101" pitchFamily="2" charset="-122"/>
            </a:endParaRPr>
          </a:p>
        </p:txBody>
      </p:sp>
      <p:pic>
        <p:nvPicPr>
          <p:cNvPr id="2" name="Picture 1"/>
          <p:cNvPicPr>
            <a:picLocks noChangeAspect="1"/>
          </p:cNvPicPr>
          <p:nvPr/>
        </p:nvPicPr>
        <p:blipFill>
          <a:blip r:embed="rId3"/>
          <a:stretch>
            <a:fillRect/>
          </a:stretch>
        </p:blipFill>
        <p:spPr>
          <a:xfrm>
            <a:off x="3429001" y="1319213"/>
            <a:ext cx="5381625" cy="5205371"/>
          </a:xfrm>
          <a:prstGeom prst="rect">
            <a:avLst/>
          </a:prstGeom>
        </p:spPr>
      </p:pic>
    </p:spTree>
    <p:extLst>
      <p:ext uri="{BB962C8B-B14F-4D97-AF65-F5344CB8AC3E}">
        <p14:creationId xmlns:p14="http://schemas.microsoft.com/office/powerpoint/2010/main" val="3948425664"/>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SSH: </a:t>
            </a:r>
            <a:r>
              <a:rPr lang="en-US" altLang="zh-CN" sz="2400" dirty="0">
                <a:ea typeface="宋体" panose="02010600030101010101" pitchFamily="2" charset="-122"/>
              </a:rPr>
              <a:t>Secure Shell</a:t>
            </a:r>
            <a:endParaRPr lang="en-US" altLang="zh-CN" dirty="0">
              <a:ea typeface="宋体" panose="02010600030101010101" pitchFamily="2" charset="-122"/>
            </a:endParaRPr>
          </a:p>
        </p:txBody>
      </p:sp>
      <p:cxnSp>
        <p:nvCxnSpPr>
          <p:cNvPr id="48" name="Straight Connector 47"/>
          <p:cNvCxnSpPr/>
          <p:nvPr/>
        </p:nvCxnSpPr>
        <p:spPr>
          <a:xfrm flipH="1">
            <a:off x="6387307" y="3477544"/>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49"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7391" y="3236536"/>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0" name="Straight Connector 49"/>
          <p:cNvCxnSpPr/>
          <p:nvPr/>
        </p:nvCxnSpPr>
        <p:spPr>
          <a:xfrm flipH="1">
            <a:off x="3276601" y="3477544"/>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1"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6558" y="3287044"/>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8" descr="Devices computer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5864" y="3153777"/>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p:cNvSpPr txBox="1"/>
          <p:nvPr/>
        </p:nvSpPr>
        <p:spPr>
          <a:xfrm>
            <a:off x="7192530" y="3205187"/>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192.168.1.1/24</a:t>
            </a:r>
          </a:p>
        </p:txBody>
      </p:sp>
      <p:sp>
        <p:nvSpPr>
          <p:cNvPr id="54" name="TextBox 53"/>
          <p:cNvSpPr txBox="1"/>
          <p:nvPr/>
        </p:nvSpPr>
        <p:spPr>
          <a:xfrm>
            <a:off x="3212557" y="3205187"/>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192.168.1.2/24</a:t>
            </a:r>
          </a:p>
        </p:txBody>
      </p:sp>
      <p:cxnSp>
        <p:nvCxnSpPr>
          <p:cNvPr id="56" name="Straight Connector 55"/>
          <p:cNvCxnSpPr/>
          <p:nvPr/>
        </p:nvCxnSpPr>
        <p:spPr>
          <a:xfrm flipH="1" flipV="1">
            <a:off x="9311085" y="2772802"/>
            <a:ext cx="1" cy="48653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876801" y="1295400"/>
            <a:ext cx="5767569" cy="1477328"/>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username user1 password </a:t>
            </a:r>
            <a:r>
              <a:rPr lang="en-US" spc="-150" dirty="0" err="1">
                <a:solidFill>
                  <a:srgbClr val="C00000"/>
                </a:solidFill>
                <a:latin typeface="Courier New" pitchFamily="49" charset="0"/>
                <a:cs typeface="Courier New" pitchFamily="49" charset="0"/>
              </a:rPr>
              <a:t>abc</a:t>
            </a:r>
            <a:endParaRPr lang="en-US" spc="-150" dirty="0">
              <a:solidFill>
                <a:srgbClr val="C00000"/>
              </a:solidFill>
              <a:latin typeface="Courier New" pitchFamily="49" charset="0"/>
              <a:cs typeface="Courier New" pitchFamily="49" charset="0"/>
            </a:endParaRP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line </a:t>
            </a:r>
            <a:r>
              <a:rPr lang="en-US" spc="-150" dirty="0" err="1">
                <a:solidFill>
                  <a:srgbClr val="C00000"/>
                </a:solidFill>
                <a:latin typeface="Courier New" pitchFamily="49" charset="0"/>
                <a:cs typeface="Courier New" pitchFamily="49" charset="0"/>
              </a:rPr>
              <a:t>vty</a:t>
            </a:r>
            <a:r>
              <a:rPr lang="en-US" spc="-150" dirty="0">
                <a:solidFill>
                  <a:srgbClr val="C00000"/>
                </a:solidFill>
                <a:latin typeface="Courier New" pitchFamily="49" charset="0"/>
                <a:cs typeface="Courier New" pitchFamily="49" charset="0"/>
              </a:rPr>
              <a:t> 0 4</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transport input telnet </a:t>
            </a:r>
            <a:r>
              <a:rPr lang="en-US" spc="-150" dirty="0" err="1">
                <a:solidFill>
                  <a:srgbClr val="C00000"/>
                </a:solidFill>
                <a:latin typeface="Courier New" pitchFamily="49" charset="0"/>
                <a:cs typeface="Courier New" pitchFamily="49" charset="0"/>
              </a:rPr>
              <a:t>ssh</a:t>
            </a:r>
            <a:endParaRPr lang="en-US" spc="-150" dirty="0">
              <a:solidFill>
                <a:srgbClr val="C00000"/>
              </a:solidFill>
              <a:latin typeface="Courier New" pitchFamily="49" charset="0"/>
              <a:cs typeface="Courier New" pitchFamily="49" charset="0"/>
            </a:endParaRP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login local</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enable password 123</a:t>
            </a:r>
          </a:p>
        </p:txBody>
      </p:sp>
      <p:pic>
        <p:nvPicPr>
          <p:cNvPr id="63" name="Picture 62"/>
          <p:cNvPicPr>
            <a:picLocks noChangeAspect="1"/>
          </p:cNvPicPr>
          <p:nvPr/>
        </p:nvPicPr>
        <p:blipFill>
          <a:blip r:embed="rId6"/>
          <a:stretch>
            <a:fillRect/>
          </a:stretch>
        </p:blipFill>
        <p:spPr>
          <a:xfrm>
            <a:off x="5528433" y="4182362"/>
            <a:ext cx="1371600" cy="2009775"/>
          </a:xfrm>
          <a:prstGeom prst="rect">
            <a:avLst/>
          </a:prstGeom>
        </p:spPr>
      </p:pic>
      <p:sp>
        <p:nvSpPr>
          <p:cNvPr id="64" name="TextBox 63"/>
          <p:cNvSpPr txBox="1"/>
          <p:nvPr/>
        </p:nvSpPr>
        <p:spPr>
          <a:xfrm>
            <a:off x="1717866" y="4916405"/>
            <a:ext cx="1752599" cy="541687"/>
          </a:xfrm>
          <a:prstGeom prst="rect">
            <a:avLst/>
          </a:prstGeom>
          <a:solidFill>
            <a:schemeClr val="accent6">
              <a:lumMod val="20000"/>
              <a:lumOff val="80000"/>
            </a:schemeClr>
          </a:solidFill>
          <a:ln w="28575">
            <a:solidFill>
              <a:schemeClr val="accent1"/>
            </a:solidFill>
          </a:ln>
        </p:spPr>
        <p:txBody>
          <a:bodyPr wrap="square" rtlCol="0" anchor="ctr">
            <a:spAutoFit/>
          </a:bodyPr>
          <a:lstStyle/>
          <a:p>
            <a:pPr eaLnBrk="0" fontAlgn="base" hangingPunct="0">
              <a:lnSpc>
                <a:spcPct val="90000"/>
              </a:lnSpc>
              <a:spcBef>
                <a:spcPct val="0"/>
              </a:spcBef>
              <a:spcAft>
                <a:spcPct val="0"/>
              </a:spcAft>
              <a:defRPr/>
            </a:pPr>
            <a:r>
              <a:rPr lang="en-US" sz="1600" spc="-150" dirty="0">
                <a:solidFill>
                  <a:srgbClr val="0070C0"/>
                </a:solidFill>
                <a:latin typeface="Courier New" pitchFamily="49" charset="0"/>
                <a:cs typeface="Courier New" pitchFamily="49" charset="0"/>
              </a:rPr>
              <a:t>Username: </a:t>
            </a:r>
            <a:r>
              <a:rPr lang="en-US" sz="1600" spc="-150" dirty="0">
                <a:solidFill>
                  <a:srgbClr val="C00000"/>
                </a:solidFill>
                <a:latin typeface="Courier New" pitchFamily="49" charset="0"/>
                <a:cs typeface="Courier New" pitchFamily="49" charset="0"/>
              </a:rPr>
              <a:t>user1</a:t>
            </a:r>
            <a:endParaRPr lang="en-US" sz="1600" b="1" spc="-150" dirty="0">
              <a:solidFill>
                <a:srgbClr val="C00000"/>
              </a:solidFill>
              <a:latin typeface="Courier New" pitchFamily="49" charset="0"/>
              <a:cs typeface="Courier New" pitchFamily="49" charset="0"/>
            </a:endParaRPr>
          </a:p>
          <a:p>
            <a:pPr eaLnBrk="0" fontAlgn="base" hangingPunct="0">
              <a:lnSpc>
                <a:spcPct val="90000"/>
              </a:lnSpc>
              <a:spcBef>
                <a:spcPct val="0"/>
              </a:spcBef>
              <a:spcAft>
                <a:spcPct val="0"/>
              </a:spcAft>
              <a:defRPr/>
            </a:pPr>
            <a:r>
              <a:rPr lang="en-US" sz="1600" b="1" spc="-150" dirty="0">
                <a:solidFill>
                  <a:srgbClr val="0070C0"/>
                </a:solidFill>
                <a:latin typeface="Courier New" pitchFamily="49" charset="0"/>
                <a:cs typeface="Courier New" pitchFamily="49" charset="0"/>
              </a:rPr>
              <a:t>Password: </a:t>
            </a:r>
            <a:r>
              <a:rPr lang="en-US" sz="1600" b="1" spc="-150" dirty="0" err="1">
                <a:solidFill>
                  <a:srgbClr val="C00000"/>
                </a:solidFill>
                <a:latin typeface="Courier New" pitchFamily="49" charset="0"/>
                <a:cs typeface="Courier New" pitchFamily="49" charset="0"/>
              </a:rPr>
              <a:t>abc</a:t>
            </a:r>
            <a:endParaRPr lang="en-US" sz="1600" b="1" spc="-150" dirty="0">
              <a:solidFill>
                <a:srgbClr val="C00000"/>
              </a:solidFill>
              <a:latin typeface="Courier New" pitchFamily="49" charset="0"/>
              <a:cs typeface="Courier New" pitchFamily="49" charset="0"/>
            </a:endParaRPr>
          </a:p>
        </p:txBody>
      </p:sp>
      <p:cxnSp>
        <p:nvCxnSpPr>
          <p:cNvPr id="65" name="Straight Connector 64"/>
          <p:cNvCxnSpPr/>
          <p:nvPr/>
        </p:nvCxnSpPr>
        <p:spPr>
          <a:xfrm flipH="1">
            <a:off x="3594636" y="5187247"/>
            <a:ext cx="1891765" cy="0"/>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7"/>
          <a:stretch>
            <a:fillRect/>
          </a:stretch>
        </p:blipFill>
        <p:spPr>
          <a:xfrm>
            <a:off x="3664329" y="3879374"/>
            <a:ext cx="1714500" cy="1276350"/>
          </a:xfrm>
          <a:prstGeom prst="rect">
            <a:avLst/>
          </a:prstGeom>
        </p:spPr>
      </p:pic>
      <p:cxnSp>
        <p:nvCxnSpPr>
          <p:cNvPr id="66" name="Straight Connector 65"/>
          <p:cNvCxnSpPr/>
          <p:nvPr/>
        </p:nvCxnSpPr>
        <p:spPr>
          <a:xfrm flipH="1">
            <a:off x="6900034" y="5187247"/>
            <a:ext cx="1891765" cy="0"/>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pic>
        <p:nvPicPr>
          <p:cNvPr id="67" name="Picture 66"/>
          <p:cNvPicPr>
            <a:picLocks noChangeAspect="1"/>
          </p:cNvPicPr>
          <p:nvPr/>
        </p:nvPicPr>
        <p:blipFill>
          <a:blip r:embed="rId7"/>
          <a:stretch>
            <a:fillRect/>
          </a:stretch>
        </p:blipFill>
        <p:spPr>
          <a:xfrm>
            <a:off x="6988665" y="3879374"/>
            <a:ext cx="1714500" cy="1276350"/>
          </a:xfrm>
          <a:prstGeom prst="rect">
            <a:avLst/>
          </a:prstGeom>
        </p:spPr>
      </p:pic>
      <p:sp>
        <p:nvSpPr>
          <p:cNvPr id="68" name="TextBox 67"/>
          <p:cNvSpPr txBox="1"/>
          <p:nvPr/>
        </p:nvSpPr>
        <p:spPr>
          <a:xfrm>
            <a:off x="8891771" y="4916405"/>
            <a:ext cx="1752599" cy="541687"/>
          </a:xfrm>
          <a:prstGeom prst="rect">
            <a:avLst/>
          </a:prstGeom>
          <a:solidFill>
            <a:schemeClr val="accent6">
              <a:lumMod val="20000"/>
              <a:lumOff val="80000"/>
            </a:schemeClr>
          </a:solidFill>
          <a:ln w="28575">
            <a:solidFill>
              <a:schemeClr val="accent1"/>
            </a:solidFill>
          </a:ln>
        </p:spPr>
        <p:txBody>
          <a:bodyPr wrap="square" rtlCol="0" anchor="ctr">
            <a:spAutoFit/>
          </a:bodyPr>
          <a:lstStyle/>
          <a:p>
            <a:pPr eaLnBrk="0" fontAlgn="base" hangingPunct="0">
              <a:lnSpc>
                <a:spcPct val="90000"/>
              </a:lnSpc>
              <a:spcBef>
                <a:spcPct val="0"/>
              </a:spcBef>
              <a:spcAft>
                <a:spcPct val="0"/>
              </a:spcAft>
              <a:defRPr/>
            </a:pPr>
            <a:r>
              <a:rPr lang="en-US" sz="1600" spc="-150" dirty="0">
                <a:solidFill>
                  <a:srgbClr val="0070C0"/>
                </a:solidFill>
                <a:latin typeface="Courier New" pitchFamily="49" charset="0"/>
                <a:cs typeface="Courier New" pitchFamily="49" charset="0"/>
              </a:rPr>
              <a:t>Username: </a:t>
            </a:r>
            <a:r>
              <a:rPr lang="en-US" sz="1600" spc="-150" dirty="0">
                <a:solidFill>
                  <a:srgbClr val="C00000"/>
                </a:solidFill>
                <a:latin typeface="Courier New" pitchFamily="49" charset="0"/>
                <a:cs typeface="Courier New" pitchFamily="49" charset="0"/>
              </a:rPr>
              <a:t>user1</a:t>
            </a:r>
            <a:endParaRPr lang="en-US" sz="1600" b="1" spc="-150" dirty="0">
              <a:solidFill>
                <a:srgbClr val="C00000"/>
              </a:solidFill>
              <a:latin typeface="Courier New" pitchFamily="49" charset="0"/>
              <a:cs typeface="Courier New" pitchFamily="49" charset="0"/>
            </a:endParaRPr>
          </a:p>
          <a:p>
            <a:pPr eaLnBrk="0" fontAlgn="base" hangingPunct="0">
              <a:lnSpc>
                <a:spcPct val="90000"/>
              </a:lnSpc>
              <a:spcBef>
                <a:spcPct val="0"/>
              </a:spcBef>
              <a:spcAft>
                <a:spcPct val="0"/>
              </a:spcAft>
              <a:defRPr/>
            </a:pPr>
            <a:r>
              <a:rPr lang="en-US" sz="1600" b="1" spc="-150" dirty="0">
                <a:solidFill>
                  <a:srgbClr val="0070C0"/>
                </a:solidFill>
                <a:latin typeface="Courier New" pitchFamily="49" charset="0"/>
                <a:cs typeface="Courier New" pitchFamily="49" charset="0"/>
              </a:rPr>
              <a:t>Password: </a:t>
            </a:r>
            <a:r>
              <a:rPr lang="en-US" sz="1600" b="1" spc="-150" dirty="0" err="1">
                <a:solidFill>
                  <a:srgbClr val="C00000"/>
                </a:solidFill>
                <a:latin typeface="Courier New" pitchFamily="49" charset="0"/>
                <a:cs typeface="Courier New" pitchFamily="49" charset="0"/>
              </a:rPr>
              <a:t>abc</a:t>
            </a:r>
            <a:endParaRPr lang="en-US" sz="1600" b="1" spc="-150" dirty="0">
              <a:solidFill>
                <a:srgbClr val="C00000"/>
              </a:solidFill>
              <a:latin typeface="Courier New" pitchFamily="49" charset="0"/>
              <a:cs typeface="Courier New" pitchFamily="49" charset="0"/>
            </a:endParaRPr>
          </a:p>
        </p:txBody>
      </p:sp>
      <p:cxnSp>
        <p:nvCxnSpPr>
          <p:cNvPr id="69" name="Straight Connector 68"/>
          <p:cNvCxnSpPr/>
          <p:nvPr/>
        </p:nvCxnSpPr>
        <p:spPr>
          <a:xfrm flipH="1">
            <a:off x="5528434" y="4004515"/>
            <a:ext cx="1253366" cy="0"/>
          </a:xfrm>
          <a:prstGeom prst="line">
            <a:avLst/>
          </a:prstGeom>
          <a:ln w="28575">
            <a:solidFill>
              <a:srgbClr val="C00000"/>
            </a:solidFill>
            <a:prstDash val="sys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5826065" y="3718554"/>
            <a:ext cx="719967" cy="369332"/>
          </a:xfrm>
          <a:prstGeom prst="rect">
            <a:avLst/>
          </a:prstGeom>
          <a:noFill/>
        </p:spPr>
        <p:txBody>
          <a:bodyPr wrap="square" rtlCol="0">
            <a:spAutoFit/>
          </a:bodyPr>
          <a:lstStyle/>
          <a:p>
            <a:pPr algn="ctr"/>
            <a:r>
              <a:rPr lang="en-US" b="1" dirty="0">
                <a:solidFill>
                  <a:srgbClr val="C00000"/>
                </a:solidFill>
                <a:latin typeface="Courier New" pitchFamily="49" charset="0"/>
                <a:cs typeface="Courier New" pitchFamily="49" charset="0"/>
              </a:rPr>
              <a:t>RSA</a:t>
            </a:r>
          </a:p>
        </p:txBody>
      </p:sp>
      <p:sp>
        <p:nvSpPr>
          <p:cNvPr id="71" name="TextBox 70"/>
          <p:cNvSpPr txBox="1"/>
          <p:nvPr/>
        </p:nvSpPr>
        <p:spPr>
          <a:xfrm>
            <a:off x="8994741" y="3264227"/>
            <a:ext cx="632687" cy="461665"/>
          </a:xfrm>
          <a:prstGeom prst="rect">
            <a:avLst/>
          </a:prstGeom>
          <a:noFill/>
        </p:spPr>
        <p:txBody>
          <a:bodyPr wrap="square" rtlCol="0">
            <a:spAutoFit/>
          </a:bodyPr>
          <a:lstStyle/>
          <a:p>
            <a:pPr algn="ctr">
              <a:defRPr/>
            </a:pPr>
            <a:r>
              <a:rPr lang="en-US" sz="1200" b="1" spc="-150" dirty="0">
                <a:solidFill>
                  <a:srgbClr val="FFFF00"/>
                </a:solidFill>
                <a:effectLst>
                  <a:glow rad="228600">
                    <a:srgbClr val="C0504D">
                      <a:satMod val="175000"/>
                      <a:alpha val="40000"/>
                    </a:srgbClr>
                  </a:glow>
                </a:effectLst>
                <a:latin typeface="Courier New" pitchFamily="49" charset="0"/>
                <a:cs typeface="Courier New" pitchFamily="49" charset="0"/>
              </a:rPr>
              <a:t>SSH Server</a:t>
            </a:r>
          </a:p>
        </p:txBody>
      </p:sp>
      <p:sp>
        <p:nvSpPr>
          <p:cNvPr id="73" name="TextBox 72"/>
          <p:cNvSpPr txBox="1"/>
          <p:nvPr/>
        </p:nvSpPr>
        <p:spPr>
          <a:xfrm>
            <a:off x="2638067" y="3264227"/>
            <a:ext cx="632687" cy="461665"/>
          </a:xfrm>
          <a:prstGeom prst="rect">
            <a:avLst/>
          </a:prstGeom>
          <a:noFill/>
        </p:spPr>
        <p:txBody>
          <a:bodyPr wrap="square" rtlCol="0">
            <a:spAutoFit/>
          </a:bodyPr>
          <a:lstStyle/>
          <a:p>
            <a:pPr algn="ctr">
              <a:defRPr/>
            </a:pPr>
            <a:r>
              <a:rPr lang="en-US" sz="1200" b="1" spc="-150" dirty="0">
                <a:solidFill>
                  <a:srgbClr val="FFFF00"/>
                </a:solidFill>
                <a:effectLst>
                  <a:glow rad="228600">
                    <a:srgbClr val="C0504D">
                      <a:satMod val="175000"/>
                      <a:alpha val="40000"/>
                    </a:srgbClr>
                  </a:glow>
                </a:effectLst>
                <a:latin typeface="Courier New" pitchFamily="49" charset="0"/>
                <a:cs typeface="Courier New" pitchFamily="49" charset="0"/>
              </a:rPr>
              <a:t>SSH Client</a:t>
            </a:r>
          </a:p>
        </p:txBody>
      </p:sp>
      <p:sp>
        <p:nvSpPr>
          <p:cNvPr id="74" name="TextBox 73"/>
          <p:cNvSpPr txBox="1"/>
          <p:nvPr/>
        </p:nvSpPr>
        <p:spPr>
          <a:xfrm>
            <a:off x="4178167" y="5155724"/>
            <a:ext cx="724701" cy="369332"/>
          </a:xfrm>
          <a:prstGeom prst="rect">
            <a:avLst/>
          </a:prstGeom>
          <a:noFill/>
        </p:spPr>
        <p:txBody>
          <a:bodyPr wrap="square" rtlCol="0">
            <a:spAutoFit/>
          </a:bodyPr>
          <a:lstStyle/>
          <a:p>
            <a:pPr algn="ctr"/>
            <a:r>
              <a:rPr lang="en-US" dirty="0">
                <a:solidFill>
                  <a:srgbClr val="002060"/>
                </a:solidFill>
                <a:latin typeface="Courier New" pitchFamily="49" charset="0"/>
                <a:cs typeface="Courier New" pitchFamily="49" charset="0"/>
              </a:rPr>
              <a:t>AES</a:t>
            </a:r>
            <a:endParaRPr lang="en-US" b="1" dirty="0">
              <a:solidFill>
                <a:srgbClr val="002060"/>
              </a:solidFill>
              <a:latin typeface="Courier New" pitchFamily="49" charset="0"/>
              <a:cs typeface="Courier New" pitchFamily="49" charset="0"/>
            </a:endParaRPr>
          </a:p>
        </p:txBody>
      </p:sp>
      <p:sp>
        <p:nvSpPr>
          <p:cNvPr id="76" name="TextBox 75"/>
          <p:cNvSpPr txBox="1"/>
          <p:nvPr/>
        </p:nvSpPr>
        <p:spPr>
          <a:xfrm>
            <a:off x="7467601" y="5155724"/>
            <a:ext cx="724701" cy="369332"/>
          </a:xfrm>
          <a:prstGeom prst="rect">
            <a:avLst/>
          </a:prstGeom>
          <a:noFill/>
        </p:spPr>
        <p:txBody>
          <a:bodyPr wrap="square" rtlCol="0">
            <a:spAutoFit/>
          </a:bodyPr>
          <a:lstStyle/>
          <a:p>
            <a:pPr algn="ctr"/>
            <a:r>
              <a:rPr lang="en-US" dirty="0">
                <a:solidFill>
                  <a:srgbClr val="002060"/>
                </a:solidFill>
                <a:latin typeface="Courier New" pitchFamily="49" charset="0"/>
                <a:cs typeface="Courier New" pitchFamily="49" charset="0"/>
              </a:rPr>
              <a:t>AES</a:t>
            </a:r>
            <a:endParaRPr lang="en-US" b="1" dirty="0">
              <a:solidFill>
                <a:srgbClr val="002060"/>
              </a:solidFill>
              <a:latin typeface="Courier New" pitchFamily="49" charset="0"/>
              <a:cs typeface="Courier New" pitchFamily="49" charset="0"/>
            </a:endParaRPr>
          </a:p>
        </p:txBody>
      </p:sp>
    </p:spTree>
    <p:extLst>
      <p:ext uri="{BB962C8B-B14F-4D97-AF65-F5344CB8AC3E}">
        <p14:creationId xmlns:p14="http://schemas.microsoft.com/office/powerpoint/2010/main" val="2433616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barn(outVertical)">
                                      <p:cBhvr>
                                        <p:cTn id="12" dur="500"/>
                                        <p:tgtEl>
                                          <p:spTgt spid="69"/>
                                        </p:tgtEl>
                                      </p:cBhvr>
                                    </p:animEffect>
                                  </p:childTnLst>
                                </p:cTn>
                              </p:par>
                            </p:childTnLst>
                          </p:cTn>
                        </p:par>
                        <p:par>
                          <p:cTn id="13" fill="hold">
                            <p:stCondLst>
                              <p:cond delay="500"/>
                            </p:stCondLst>
                            <p:childTnLst>
                              <p:par>
                                <p:cTn id="14" presetID="14" presetClass="entr" presetSubtype="10" fill="hold" grpId="0" nodeType="after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randombar(horizontal)">
                                      <p:cBhvr>
                                        <p:cTn id="16"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713511" y="3282366"/>
            <a:ext cx="1649991" cy="1236750"/>
          </a:xfrm>
          <a:prstGeom prst="rect">
            <a:avLst/>
          </a:prstGeom>
        </p:spPr>
      </p:pic>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SSH: </a:t>
            </a:r>
            <a:r>
              <a:rPr lang="en-US" altLang="zh-CN" sz="2400" dirty="0">
                <a:ea typeface="宋体" panose="02010600030101010101" pitchFamily="2" charset="-122"/>
              </a:rPr>
              <a:t>Asymmetric Key </a:t>
            </a:r>
            <a:r>
              <a:rPr lang="en-US" altLang="zh-CN" sz="2400" dirty="0" err="1">
                <a:ea typeface="宋体" panose="02010600030101010101" pitchFamily="2" charset="-122"/>
              </a:rPr>
              <a:t>Crytography</a:t>
            </a:r>
            <a:endParaRPr lang="en-US" altLang="zh-CN" dirty="0">
              <a:ea typeface="宋体" panose="02010600030101010101" pitchFamily="2" charset="-122"/>
            </a:endParaRPr>
          </a:p>
        </p:txBody>
      </p:sp>
      <p:pic>
        <p:nvPicPr>
          <p:cNvPr id="11" name="Picture 10"/>
          <p:cNvPicPr>
            <a:picLocks noChangeAspect="1"/>
          </p:cNvPicPr>
          <p:nvPr/>
        </p:nvPicPr>
        <p:blipFill>
          <a:blip r:embed="rId4"/>
          <a:stretch>
            <a:fillRect/>
          </a:stretch>
        </p:blipFill>
        <p:spPr>
          <a:xfrm>
            <a:off x="1993981" y="5008637"/>
            <a:ext cx="1714500" cy="1276350"/>
          </a:xfrm>
          <a:prstGeom prst="rect">
            <a:avLst/>
          </a:prstGeom>
        </p:spPr>
      </p:pic>
      <p:pic>
        <p:nvPicPr>
          <p:cNvPr id="4" name="Picture 3"/>
          <p:cNvPicPr>
            <a:picLocks noChangeAspect="1"/>
          </p:cNvPicPr>
          <p:nvPr/>
        </p:nvPicPr>
        <p:blipFill>
          <a:blip r:embed="rId5"/>
          <a:stretch>
            <a:fillRect/>
          </a:stretch>
        </p:blipFill>
        <p:spPr>
          <a:xfrm>
            <a:off x="3929941" y="3733800"/>
            <a:ext cx="4450353" cy="2819400"/>
          </a:xfrm>
          <a:prstGeom prst="rect">
            <a:avLst/>
          </a:prstGeom>
        </p:spPr>
      </p:pic>
      <p:cxnSp>
        <p:nvCxnSpPr>
          <p:cNvPr id="31" name="Straight Connector 30"/>
          <p:cNvCxnSpPr/>
          <p:nvPr/>
        </p:nvCxnSpPr>
        <p:spPr>
          <a:xfrm flipH="1">
            <a:off x="6387307" y="3477544"/>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2" name="Picture 8"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67391" y="3236536"/>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Straight Connector 32"/>
          <p:cNvCxnSpPr/>
          <p:nvPr/>
        </p:nvCxnSpPr>
        <p:spPr>
          <a:xfrm flipH="1">
            <a:off x="3276601" y="3477544"/>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6558" y="3287044"/>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8" descr="Devices computer ic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5864" y="3153777"/>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p:cNvSpPr txBox="1"/>
          <p:nvPr/>
        </p:nvSpPr>
        <p:spPr>
          <a:xfrm>
            <a:off x="7192530" y="3205187"/>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192.168.1.1/24</a:t>
            </a:r>
          </a:p>
        </p:txBody>
      </p:sp>
      <p:sp>
        <p:nvSpPr>
          <p:cNvPr id="37" name="TextBox 36"/>
          <p:cNvSpPr txBox="1"/>
          <p:nvPr/>
        </p:nvSpPr>
        <p:spPr>
          <a:xfrm>
            <a:off x="3212557" y="3205187"/>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192.168.1.2/24</a:t>
            </a:r>
          </a:p>
        </p:txBody>
      </p:sp>
      <p:sp>
        <p:nvSpPr>
          <p:cNvPr id="38" name="TextBox 37"/>
          <p:cNvSpPr txBox="1"/>
          <p:nvPr/>
        </p:nvSpPr>
        <p:spPr>
          <a:xfrm>
            <a:off x="8994741" y="3264227"/>
            <a:ext cx="632687" cy="461665"/>
          </a:xfrm>
          <a:prstGeom prst="rect">
            <a:avLst/>
          </a:prstGeom>
          <a:noFill/>
        </p:spPr>
        <p:txBody>
          <a:bodyPr wrap="square" rtlCol="0">
            <a:spAutoFit/>
          </a:bodyPr>
          <a:lstStyle/>
          <a:p>
            <a:pPr algn="ctr">
              <a:defRPr/>
            </a:pPr>
            <a:r>
              <a:rPr lang="en-US" sz="1200" b="1" spc="-150" dirty="0">
                <a:solidFill>
                  <a:srgbClr val="FFFF00"/>
                </a:solidFill>
                <a:effectLst>
                  <a:glow rad="228600">
                    <a:srgbClr val="C0504D">
                      <a:satMod val="175000"/>
                      <a:alpha val="40000"/>
                    </a:srgbClr>
                  </a:glow>
                </a:effectLst>
                <a:latin typeface="Courier New" pitchFamily="49" charset="0"/>
                <a:cs typeface="Courier New" pitchFamily="49" charset="0"/>
              </a:rPr>
              <a:t>SSH Server</a:t>
            </a:r>
          </a:p>
        </p:txBody>
      </p:sp>
      <p:sp>
        <p:nvSpPr>
          <p:cNvPr id="39" name="TextBox 38"/>
          <p:cNvSpPr txBox="1"/>
          <p:nvPr/>
        </p:nvSpPr>
        <p:spPr>
          <a:xfrm>
            <a:off x="2638067" y="3264227"/>
            <a:ext cx="632687" cy="461665"/>
          </a:xfrm>
          <a:prstGeom prst="rect">
            <a:avLst/>
          </a:prstGeom>
          <a:noFill/>
        </p:spPr>
        <p:txBody>
          <a:bodyPr wrap="square" rtlCol="0">
            <a:spAutoFit/>
          </a:bodyPr>
          <a:lstStyle/>
          <a:p>
            <a:pPr algn="ctr">
              <a:defRPr/>
            </a:pPr>
            <a:r>
              <a:rPr lang="en-US" sz="1200" b="1" spc="-150" dirty="0">
                <a:solidFill>
                  <a:srgbClr val="FFFF00"/>
                </a:solidFill>
                <a:effectLst>
                  <a:glow rad="228600">
                    <a:srgbClr val="C0504D">
                      <a:satMod val="175000"/>
                      <a:alpha val="40000"/>
                    </a:srgbClr>
                  </a:glow>
                </a:effectLst>
                <a:latin typeface="Courier New" pitchFamily="49" charset="0"/>
                <a:cs typeface="Courier New" pitchFamily="49" charset="0"/>
              </a:rPr>
              <a:t>SSH Client</a:t>
            </a:r>
          </a:p>
        </p:txBody>
      </p:sp>
      <p:pic>
        <p:nvPicPr>
          <p:cNvPr id="40" name="Picture 39"/>
          <p:cNvPicPr>
            <a:picLocks noChangeAspect="1"/>
          </p:cNvPicPr>
          <p:nvPr/>
        </p:nvPicPr>
        <p:blipFill>
          <a:blip r:embed="rId4"/>
          <a:stretch>
            <a:fillRect/>
          </a:stretch>
        </p:blipFill>
        <p:spPr>
          <a:xfrm>
            <a:off x="8453833" y="5008637"/>
            <a:ext cx="1714500" cy="1276350"/>
          </a:xfrm>
          <a:prstGeom prst="rect">
            <a:avLst/>
          </a:prstGeom>
        </p:spPr>
      </p:pic>
      <p:pic>
        <p:nvPicPr>
          <p:cNvPr id="5" name="Picture 4"/>
          <p:cNvPicPr>
            <a:picLocks noChangeAspect="1"/>
          </p:cNvPicPr>
          <p:nvPr/>
        </p:nvPicPr>
        <p:blipFill>
          <a:blip r:embed="rId9"/>
          <a:stretch>
            <a:fillRect/>
          </a:stretch>
        </p:blipFill>
        <p:spPr>
          <a:xfrm>
            <a:off x="5943600" y="1524000"/>
            <a:ext cx="4678724" cy="1374049"/>
          </a:xfrm>
          <a:prstGeom prst="rect">
            <a:avLst/>
          </a:prstGeom>
          <a:ln w="28575">
            <a:solidFill>
              <a:srgbClr val="C00000"/>
            </a:solidFill>
          </a:ln>
        </p:spPr>
      </p:pic>
      <p:cxnSp>
        <p:nvCxnSpPr>
          <p:cNvPr id="42" name="Straight Connector 41"/>
          <p:cNvCxnSpPr/>
          <p:nvPr/>
        </p:nvCxnSpPr>
        <p:spPr>
          <a:xfrm flipH="1">
            <a:off x="2971800" y="1752600"/>
            <a:ext cx="3048000" cy="0"/>
          </a:xfrm>
          <a:prstGeom prst="line">
            <a:avLst/>
          </a:prstGeom>
          <a:ln w="28575">
            <a:solidFill>
              <a:srgbClr val="C0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flipV="1">
            <a:off x="9311086" y="2743201"/>
            <a:ext cx="1" cy="516137"/>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5528434" y="4004515"/>
            <a:ext cx="1253366" cy="0"/>
          </a:xfrm>
          <a:prstGeom prst="line">
            <a:avLst/>
          </a:prstGeom>
          <a:ln w="28575">
            <a:solidFill>
              <a:srgbClr val="C00000"/>
            </a:solidFill>
            <a:prstDash val="sys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826065" y="3718554"/>
            <a:ext cx="719967" cy="369332"/>
          </a:xfrm>
          <a:prstGeom prst="rect">
            <a:avLst/>
          </a:prstGeom>
          <a:noFill/>
        </p:spPr>
        <p:txBody>
          <a:bodyPr wrap="square" rtlCol="0">
            <a:spAutoFit/>
          </a:bodyPr>
          <a:lstStyle/>
          <a:p>
            <a:pPr algn="ctr"/>
            <a:r>
              <a:rPr lang="en-US" b="1" dirty="0">
                <a:solidFill>
                  <a:srgbClr val="C00000"/>
                </a:solidFill>
                <a:latin typeface="Courier New" pitchFamily="49" charset="0"/>
                <a:cs typeface="Courier New" pitchFamily="49" charset="0"/>
              </a:rPr>
              <a:t>RSA</a:t>
            </a:r>
          </a:p>
        </p:txBody>
      </p:sp>
    </p:spTree>
    <p:extLst>
      <p:ext uri="{BB962C8B-B14F-4D97-AF65-F5344CB8AC3E}">
        <p14:creationId xmlns:p14="http://schemas.microsoft.com/office/powerpoint/2010/main" val="569112996"/>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713511" y="3282366"/>
            <a:ext cx="1649991" cy="1236750"/>
          </a:xfrm>
          <a:prstGeom prst="rect">
            <a:avLst/>
          </a:prstGeom>
        </p:spPr>
      </p:pic>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SSH: </a:t>
            </a:r>
            <a:r>
              <a:rPr lang="en-US" altLang="zh-CN" sz="2400" dirty="0">
                <a:ea typeface="宋体" panose="02010600030101010101" pitchFamily="2" charset="-122"/>
              </a:rPr>
              <a:t>Asymmetric Key </a:t>
            </a:r>
            <a:r>
              <a:rPr lang="en-US" altLang="zh-CN" sz="2400" dirty="0" err="1">
                <a:ea typeface="宋体" panose="02010600030101010101" pitchFamily="2" charset="-122"/>
              </a:rPr>
              <a:t>Crytography</a:t>
            </a:r>
            <a:endParaRPr lang="en-US" altLang="zh-CN" dirty="0">
              <a:ea typeface="宋体" panose="02010600030101010101" pitchFamily="2" charset="-122"/>
            </a:endParaRPr>
          </a:p>
        </p:txBody>
      </p:sp>
      <p:pic>
        <p:nvPicPr>
          <p:cNvPr id="11" name="Picture 10"/>
          <p:cNvPicPr>
            <a:picLocks noChangeAspect="1"/>
          </p:cNvPicPr>
          <p:nvPr/>
        </p:nvPicPr>
        <p:blipFill>
          <a:blip r:embed="rId4"/>
          <a:stretch>
            <a:fillRect/>
          </a:stretch>
        </p:blipFill>
        <p:spPr>
          <a:xfrm>
            <a:off x="1993981" y="5008637"/>
            <a:ext cx="1714500" cy="1276350"/>
          </a:xfrm>
          <a:prstGeom prst="rect">
            <a:avLst/>
          </a:prstGeom>
        </p:spPr>
      </p:pic>
      <p:pic>
        <p:nvPicPr>
          <p:cNvPr id="4" name="Picture 3"/>
          <p:cNvPicPr>
            <a:picLocks noChangeAspect="1"/>
          </p:cNvPicPr>
          <p:nvPr/>
        </p:nvPicPr>
        <p:blipFill>
          <a:blip r:embed="rId5"/>
          <a:stretch>
            <a:fillRect/>
          </a:stretch>
        </p:blipFill>
        <p:spPr>
          <a:xfrm>
            <a:off x="3929941" y="3733800"/>
            <a:ext cx="4450353" cy="2819400"/>
          </a:xfrm>
          <a:prstGeom prst="rect">
            <a:avLst/>
          </a:prstGeom>
        </p:spPr>
      </p:pic>
      <p:cxnSp>
        <p:nvCxnSpPr>
          <p:cNvPr id="31" name="Straight Connector 30"/>
          <p:cNvCxnSpPr/>
          <p:nvPr/>
        </p:nvCxnSpPr>
        <p:spPr>
          <a:xfrm flipH="1">
            <a:off x="6387307" y="3477544"/>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2" name="Picture 8"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67391" y="3236536"/>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Straight Connector 32"/>
          <p:cNvCxnSpPr/>
          <p:nvPr/>
        </p:nvCxnSpPr>
        <p:spPr>
          <a:xfrm flipH="1">
            <a:off x="3276601" y="3477544"/>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6558" y="3287044"/>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8" descr="Devices computer ic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5864" y="3153777"/>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p:cNvSpPr txBox="1"/>
          <p:nvPr/>
        </p:nvSpPr>
        <p:spPr>
          <a:xfrm>
            <a:off x="7192530" y="3205187"/>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192.168.1.1/24</a:t>
            </a:r>
          </a:p>
        </p:txBody>
      </p:sp>
      <p:sp>
        <p:nvSpPr>
          <p:cNvPr id="37" name="TextBox 36"/>
          <p:cNvSpPr txBox="1"/>
          <p:nvPr/>
        </p:nvSpPr>
        <p:spPr>
          <a:xfrm>
            <a:off x="3212557" y="3205187"/>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192.168.1.2/24</a:t>
            </a:r>
          </a:p>
        </p:txBody>
      </p:sp>
      <p:sp>
        <p:nvSpPr>
          <p:cNvPr id="38" name="TextBox 37"/>
          <p:cNvSpPr txBox="1"/>
          <p:nvPr/>
        </p:nvSpPr>
        <p:spPr>
          <a:xfrm>
            <a:off x="8994741" y="3264227"/>
            <a:ext cx="632687" cy="461665"/>
          </a:xfrm>
          <a:prstGeom prst="rect">
            <a:avLst/>
          </a:prstGeom>
          <a:noFill/>
        </p:spPr>
        <p:txBody>
          <a:bodyPr wrap="square" rtlCol="0">
            <a:spAutoFit/>
          </a:bodyPr>
          <a:lstStyle/>
          <a:p>
            <a:pPr algn="ctr">
              <a:defRPr/>
            </a:pPr>
            <a:r>
              <a:rPr lang="en-US" sz="1200" b="1" spc="-150" dirty="0">
                <a:solidFill>
                  <a:srgbClr val="FFFF00"/>
                </a:solidFill>
                <a:effectLst>
                  <a:glow rad="228600">
                    <a:srgbClr val="C0504D">
                      <a:satMod val="175000"/>
                      <a:alpha val="40000"/>
                    </a:srgbClr>
                  </a:glow>
                </a:effectLst>
                <a:latin typeface="Courier New" pitchFamily="49" charset="0"/>
                <a:cs typeface="Courier New" pitchFamily="49" charset="0"/>
              </a:rPr>
              <a:t>SSH Server</a:t>
            </a:r>
          </a:p>
        </p:txBody>
      </p:sp>
      <p:sp>
        <p:nvSpPr>
          <p:cNvPr id="39" name="TextBox 38"/>
          <p:cNvSpPr txBox="1"/>
          <p:nvPr/>
        </p:nvSpPr>
        <p:spPr>
          <a:xfrm>
            <a:off x="2638067" y="3264227"/>
            <a:ext cx="632687" cy="461665"/>
          </a:xfrm>
          <a:prstGeom prst="rect">
            <a:avLst/>
          </a:prstGeom>
          <a:noFill/>
        </p:spPr>
        <p:txBody>
          <a:bodyPr wrap="square" rtlCol="0">
            <a:spAutoFit/>
          </a:bodyPr>
          <a:lstStyle/>
          <a:p>
            <a:pPr algn="ctr">
              <a:defRPr/>
            </a:pPr>
            <a:r>
              <a:rPr lang="en-US" sz="1200" b="1" spc="-150" dirty="0">
                <a:solidFill>
                  <a:srgbClr val="FFFF00"/>
                </a:solidFill>
                <a:effectLst>
                  <a:glow rad="228600">
                    <a:srgbClr val="C0504D">
                      <a:satMod val="175000"/>
                      <a:alpha val="40000"/>
                    </a:srgbClr>
                  </a:glow>
                </a:effectLst>
                <a:latin typeface="Courier New" pitchFamily="49" charset="0"/>
                <a:cs typeface="Courier New" pitchFamily="49" charset="0"/>
              </a:rPr>
              <a:t>SSH Client</a:t>
            </a:r>
          </a:p>
        </p:txBody>
      </p:sp>
      <p:pic>
        <p:nvPicPr>
          <p:cNvPr id="40" name="Picture 39"/>
          <p:cNvPicPr>
            <a:picLocks noChangeAspect="1"/>
          </p:cNvPicPr>
          <p:nvPr/>
        </p:nvPicPr>
        <p:blipFill>
          <a:blip r:embed="rId4"/>
          <a:stretch>
            <a:fillRect/>
          </a:stretch>
        </p:blipFill>
        <p:spPr>
          <a:xfrm>
            <a:off x="8453833" y="5008637"/>
            <a:ext cx="1714500" cy="1276350"/>
          </a:xfrm>
          <a:prstGeom prst="rect">
            <a:avLst/>
          </a:prstGeom>
        </p:spPr>
      </p:pic>
      <p:cxnSp>
        <p:nvCxnSpPr>
          <p:cNvPr id="45" name="Straight Connector 44"/>
          <p:cNvCxnSpPr/>
          <p:nvPr/>
        </p:nvCxnSpPr>
        <p:spPr>
          <a:xfrm flipH="1" flipV="1">
            <a:off x="9311086" y="2743201"/>
            <a:ext cx="1" cy="516137"/>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5528434" y="4004515"/>
            <a:ext cx="1253366" cy="0"/>
          </a:xfrm>
          <a:prstGeom prst="line">
            <a:avLst/>
          </a:prstGeom>
          <a:ln w="28575">
            <a:solidFill>
              <a:srgbClr val="C00000"/>
            </a:solidFill>
            <a:prstDash val="sys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826065" y="3718554"/>
            <a:ext cx="719967" cy="369332"/>
          </a:xfrm>
          <a:prstGeom prst="rect">
            <a:avLst/>
          </a:prstGeom>
          <a:noFill/>
        </p:spPr>
        <p:txBody>
          <a:bodyPr wrap="square" rtlCol="0">
            <a:spAutoFit/>
          </a:bodyPr>
          <a:lstStyle/>
          <a:p>
            <a:pPr algn="ctr"/>
            <a:r>
              <a:rPr lang="en-US" b="1" dirty="0">
                <a:solidFill>
                  <a:srgbClr val="C00000"/>
                </a:solidFill>
                <a:latin typeface="Courier New" pitchFamily="49" charset="0"/>
                <a:cs typeface="Courier New" pitchFamily="49" charset="0"/>
              </a:rPr>
              <a:t>RSA</a:t>
            </a:r>
          </a:p>
        </p:txBody>
      </p:sp>
      <p:sp>
        <p:nvSpPr>
          <p:cNvPr id="21" name="Rectangle 20"/>
          <p:cNvSpPr/>
          <p:nvPr/>
        </p:nvSpPr>
        <p:spPr>
          <a:xfrm>
            <a:off x="3866138" y="1877137"/>
            <a:ext cx="6801862" cy="847155"/>
          </a:xfrm>
          <a:prstGeom prst="rect">
            <a:avLst/>
          </a:prstGeom>
          <a:solidFill>
            <a:schemeClr val="accent6">
              <a:lumMod val="20000"/>
              <a:lumOff val="80000"/>
            </a:schemeClr>
          </a:solidFill>
          <a:ln w="28575">
            <a:solidFill>
              <a:srgbClr val="0070C0"/>
            </a:solidFill>
          </a:ln>
        </p:spPr>
        <p:txBody>
          <a:bodyPr wrap="none">
            <a:spAutoFit/>
          </a:bodyPr>
          <a:lstStyle/>
          <a:p>
            <a:pPr defTabSz="1028700" eaLnBrk="0" fontAlgn="base" hangingPunct="0">
              <a:lnSpc>
                <a:spcPct val="90000"/>
              </a:lnSpc>
              <a:spcBef>
                <a:spcPct val="0"/>
              </a:spcBef>
              <a:spcAft>
                <a:spcPct val="0"/>
              </a:spcAft>
              <a:defRPr/>
            </a:pPr>
            <a:r>
              <a:rPr lang="en-US" b="1" dirty="0">
                <a:solidFill>
                  <a:srgbClr val="0070C0"/>
                </a:solidFill>
                <a:latin typeface="Courier New" pitchFamily="49" charset="0"/>
              </a:rPr>
              <a:t>Router(</a:t>
            </a:r>
            <a:r>
              <a:rPr lang="en-US" b="1" dirty="0" err="1">
                <a:solidFill>
                  <a:srgbClr val="0070C0"/>
                </a:solidFill>
                <a:latin typeface="Courier New" pitchFamily="49" charset="0"/>
              </a:rPr>
              <a:t>config</a:t>
            </a:r>
            <a:r>
              <a:rPr lang="en-US" b="1" dirty="0">
                <a:solidFill>
                  <a:srgbClr val="0070C0"/>
                </a:solidFill>
                <a:latin typeface="Courier New" pitchFamily="49" charset="0"/>
              </a:rPr>
              <a:t>)# </a:t>
            </a:r>
            <a:r>
              <a:rPr lang="en-US" b="1" dirty="0">
                <a:solidFill>
                  <a:srgbClr val="C00000"/>
                </a:solidFill>
                <a:latin typeface="Courier New" pitchFamily="49" charset="0"/>
              </a:rPr>
              <a:t>hostname R1</a:t>
            </a:r>
          </a:p>
          <a:p>
            <a:pPr defTabSz="1028700" eaLnBrk="0" fontAlgn="base" hangingPunct="0">
              <a:lnSpc>
                <a:spcPct val="90000"/>
              </a:lnSpc>
              <a:spcBef>
                <a:spcPct val="0"/>
              </a:spcBef>
              <a:spcAft>
                <a:spcPct val="0"/>
              </a:spcAft>
              <a:defRPr/>
            </a:pPr>
            <a:r>
              <a:rPr lang="en-US" b="1" dirty="0">
                <a:solidFill>
                  <a:srgbClr val="0070C0"/>
                </a:solidFill>
                <a:latin typeface="Courier New" pitchFamily="49" charset="0"/>
              </a:rPr>
              <a:t>R1(</a:t>
            </a:r>
            <a:r>
              <a:rPr lang="en-US" b="1" dirty="0" err="1">
                <a:solidFill>
                  <a:srgbClr val="0070C0"/>
                </a:solidFill>
                <a:latin typeface="Courier New" pitchFamily="49" charset="0"/>
              </a:rPr>
              <a:t>config</a:t>
            </a:r>
            <a:r>
              <a:rPr lang="en-US" b="1" dirty="0">
                <a:solidFill>
                  <a:srgbClr val="0070C0"/>
                </a:solidFill>
                <a:latin typeface="Courier New" pitchFamily="49" charset="0"/>
              </a:rPr>
              <a:t>)# </a:t>
            </a:r>
            <a:r>
              <a:rPr lang="en-US" b="1" dirty="0" err="1">
                <a:solidFill>
                  <a:srgbClr val="C00000"/>
                </a:solidFill>
                <a:latin typeface="Courier New" pitchFamily="49" charset="0"/>
              </a:rPr>
              <a:t>ip</a:t>
            </a:r>
            <a:r>
              <a:rPr lang="en-US" b="1" dirty="0">
                <a:solidFill>
                  <a:srgbClr val="C00000"/>
                </a:solidFill>
                <a:latin typeface="Courier New" pitchFamily="49" charset="0"/>
              </a:rPr>
              <a:t> domain-name </a:t>
            </a:r>
            <a:r>
              <a:rPr lang="en-US" dirty="0">
                <a:solidFill>
                  <a:srgbClr val="C00000"/>
                </a:solidFill>
                <a:latin typeface="Courier New" pitchFamily="49" charset="0"/>
              </a:rPr>
              <a:t>local.com</a:t>
            </a:r>
            <a:endParaRPr lang="en-US" b="1" dirty="0">
              <a:solidFill>
                <a:srgbClr val="C00000"/>
              </a:solidFill>
              <a:latin typeface="Courier New" pitchFamily="49" charset="0"/>
            </a:endParaRPr>
          </a:p>
          <a:p>
            <a:pPr defTabSz="1028700" eaLnBrk="0" fontAlgn="base" hangingPunct="0">
              <a:lnSpc>
                <a:spcPct val="90000"/>
              </a:lnSpc>
              <a:spcBef>
                <a:spcPct val="0"/>
              </a:spcBef>
              <a:spcAft>
                <a:spcPct val="0"/>
              </a:spcAft>
              <a:defRPr/>
            </a:pPr>
            <a:r>
              <a:rPr lang="en-US" b="1" dirty="0">
                <a:solidFill>
                  <a:srgbClr val="0070C0"/>
                </a:solidFill>
                <a:latin typeface="Courier New" pitchFamily="49" charset="0"/>
              </a:rPr>
              <a:t>R1(</a:t>
            </a:r>
            <a:r>
              <a:rPr lang="en-US" b="1" dirty="0" err="1">
                <a:solidFill>
                  <a:srgbClr val="0070C0"/>
                </a:solidFill>
                <a:latin typeface="Courier New" pitchFamily="49" charset="0"/>
              </a:rPr>
              <a:t>config</a:t>
            </a:r>
            <a:r>
              <a:rPr lang="en-US" b="1" dirty="0">
                <a:solidFill>
                  <a:srgbClr val="0070C0"/>
                </a:solidFill>
                <a:latin typeface="Courier New" pitchFamily="49" charset="0"/>
              </a:rPr>
              <a:t>)# </a:t>
            </a:r>
            <a:r>
              <a:rPr lang="en-US" b="1" dirty="0">
                <a:solidFill>
                  <a:srgbClr val="C00000"/>
                </a:solidFill>
                <a:latin typeface="Courier New" pitchFamily="49" charset="0"/>
              </a:rPr>
              <a:t>crypto key generate </a:t>
            </a:r>
            <a:r>
              <a:rPr lang="en-US" b="1" dirty="0" err="1">
                <a:solidFill>
                  <a:srgbClr val="C00000"/>
                </a:solidFill>
                <a:latin typeface="Courier New" pitchFamily="49" charset="0"/>
              </a:rPr>
              <a:t>rsa</a:t>
            </a:r>
            <a:r>
              <a:rPr lang="en-US" b="1" dirty="0">
                <a:solidFill>
                  <a:srgbClr val="C00000"/>
                </a:solidFill>
                <a:latin typeface="Courier New" pitchFamily="49" charset="0"/>
              </a:rPr>
              <a:t> modulus 2048</a:t>
            </a:r>
          </a:p>
        </p:txBody>
      </p:sp>
    </p:spTree>
    <p:extLst>
      <p:ext uri="{BB962C8B-B14F-4D97-AF65-F5344CB8AC3E}">
        <p14:creationId xmlns:p14="http://schemas.microsoft.com/office/powerpoint/2010/main" val="9180542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SSH: </a:t>
            </a:r>
            <a:r>
              <a:rPr lang="en-US" altLang="zh-CN" sz="2400" dirty="0">
                <a:ea typeface="宋体" panose="02010600030101010101" pitchFamily="2" charset="-122"/>
              </a:rPr>
              <a:t>Asymmetric Key </a:t>
            </a:r>
            <a:r>
              <a:rPr lang="en-US" altLang="zh-CN" sz="2400" dirty="0" err="1">
                <a:ea typeface="宋体" panose="02010600030101010101" pitchFamily="2" charset="-122"/>
              </a:rPr>
              <a:t>Crytography</a:t>
            </a:r>
            <a:endParaRPr lang="en-US" altLang="zh-CN" dirty="0">
              <a:ea typeface="宋体" panose="02010600030101010101" pitchFamily="2" charset="-122"/>
            </a:endParaRPr>
          </a:p>
        </p:txBody>
      </p:sp>
      <p:cxnSp>
        <p:nvCxnSpPr>
          <p:cNvPr id="31" name="Straight Connector 30"/>
          <p:cNvCxnSpPr/>
          <p:nvPr/>
        </p:nvCxnSpPr>
        <p:spPr>
          <a:xfrm flipH="1">
            <a:off x="6387307" y="3477544"/>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2"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7391" y="3236536"/>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Straight Connector 32"/>
          <p:cNvCxnSpPr/>
          <p:nvPr/>
        </p:nvCxnSpPr>
        <p:spPr>
          <a:xfrm flipH="1">
            <a:off x="3276601" y="3477544"/>
            <a:ext cx="258008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4"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6558" y="3287044"/>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8" descr="Devices computer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5864" y="3153777"/>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p:cNvSpPr txBox="1"/>
          <p:nvPr/>
        </p:nvSpPr>
        <p:spPr>
          <a:xfrm>
            <a:off x="7192530" y="3205187"/>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192.168.1.1/24</a:t>
            </a:r>
          </a:p>
        </p:txBody>
      </p:sp>
      <p:sp>
        <p:nvSpPr>
          <p:cNvPr id="37" name="TextBox 36"/>
          <p:cNvSpPr txBox="1"/>
          <p:nvPr/>
        </p:nvSpPr>
        <p:spPr>
          <a:xfrm>
            <a:off x="3212557" y="3205187"/>
            <a:ext cx="1829560" cy="369332"/>
          </a:xfrm>
          <a:prstGeom prst="rect">
            <a:avLst/>
          </a:prstGeom>
          <a:noFill/>
        </p:spPr>
        <p:txBody>
          <a:bodyPr wrap="square" rtlCol="0">
            <a:spAutoFit/>
          </a:bodyPr>
          <a:lstStyle/>
          <a:p>
            <a:pPr algn="ctr"/>
            <a:r>
              <a:rPr lang="en-US" b="1" spc="-150" dirty="0">
                <a:solidFill>
                  <a:srgbClr val="002060"/>
                </a:solidFill>
                <a:latin typeface="Courier New" pitchFamily="49" charset="0"/>
                <a:cs typeface="Courier New" pitchFamily="49" charset="0"/>
              </a:rPr>
              <a:t>192.168.1.2/24</a:t>
            </a:r>
          </a:p>
        </p:txBody>
      </p:sp>
      <p:sp>
        <p:nvSpPr>
          <p:cNvPr id="38" name="TextBox 37"/>
          <p:cNvSpPr txBox="1"/>
          <p:nvPr/>
        </p:nvSpPr>
        <p:spPr>
          <a:xfrm>
            <a:off x="8994741" y="3264227"/>
            <a:ext cx="632687" cy="461665"/>
          </a:xfrm>
          <a:prstGeom prst="rect">
            <a:avLst/>
          </a:prstGeom>
          <a:noFill/>
        </p:spPr>
        <p:txBody>
          <a:bodyPr wrap="square" rtlCol="0">
            <a:spAutoFit/>
          </a:bodyPr>
          <a:lstStyle/>
          <a:p>
            <a:pPr algn="ctr">
              <a:defRPr/>
            </a:pPr>
            <a:r>
              <a:rPr lang="en-US" sz="1200" b="1" spc="-150" dirty="0">
                <a:solidFill>
                  <a:srgbClr val="FFFF00"/>
                </a:solidFill>
                <a:effectLst>
                  <a:glow rad="228600">
                    <a:srgbClr val="C0504D">
                      <a:satMod val="175000"/>
                      <a:alpha val="40000"/>
                    </a:srgbClr>
                  </a:glow>
                </a:effectLst>
                <a:latin typeface="Courier New" pitchFamily="49" charset="0"/>
                <a:cs typeface="Courier New" pitchFamily="49" charset="0"/>
              </a:rPr>
              <a:t>SSH Server</a:t>
            </a:r>
          </a:p>
        </p:txBody>
      </p:sp>
      <p:sp>
        <p:nvSpPr>
          <p:cNvPr id="39" name="TextBox 38"/>
          <p:cNvSpPr txBox="1"/>
          <p:nvPr/>
        </p:nvSpPr>
        <p:spPr>
          <a:xfrm>
            <a:off x="2638067" y="3264227"/>
            <a:ext cx="632687" cy="461665"/>
          </a:xfrm>
          <a:prstGeom prst="rect">
            <a:avLst/>
          </a:prstGeom>
          <a:noFill/>
        </p:spPr>
        <p:txBody>
          <a:bodyPr wrap="square" rtlCol="0">
            <a:spAutoFit/>
          </a:bodyPr>
          <a:lstStyle/>
          <a:p>
            <a:pPr algn="ctr">
              <a:defRPr/>
            </a:pPr>
            <a:r>
              <a:rPr lang="en-US" sz="1200" b="1" spc="-150" dirty="0">
                <a:solidFill>
                  <a:srgbClr val="FFFF00"/>
                </a:solidFill>
                <a:effectLst>
                  <a:glow rad="228600">
                    <a:srgbClr val="C0504D">
                      <a:satMod val="175000"/>
                      <a:alpha val="40000"/>
                    </a:srgbClr>
                  </a:glow>
                </a:effectLst>
                <a:latin typeface="Courier New" pitchFamily="49" charset="0"/>
                <a:cs typeface="Courier New" pitchFamily="49" charset="0"/>
              </a:rPr>
              <a:t>SSH Client</a:t>
            </a:r>
          </a:p>
        </p:txBody>
      </p:sp>
      <p:cxnSp>
        <p:nvCxnSpPr>
          <p:cNvPr id="45" name="Straight Connector 44"/>
          <p:cNvCxnSpPr/>
          <p:nvPr/>
        </p:nvCxnSpPr>
        <p:spPr>
          <a:xfrm flipH="1" flipV="1">
            <a:off x="9311086" y="2743201"/>
            <a:ext cx="1" cy="516137"/>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9311086" y="3693880"/>
            <a:ext cx="1" cy="516137"/>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876801" y="4204123"/>
            <a:ext cx="5767569" cy="369332"/>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err="1">
                <a:solidFill>
                  <a:srgbClr val="C00000"/>
                </a:solidFill>
                <a:latin typeface="Courier New" pitchFamily="49" charset="0"/>
                <a:cs typeface="Courier New" pitchFamily="49" charset="0"/>
              </a:rPr>
              <a:t>ip</a:t>
            </a:r>
            <a:r>
              <a:rPr lang="en-US" spc="-150" dirty="0">
                <a:solidFill>
                  <a:srgbClr val="C00000"/>
                </a:solidFill>
                <a:latin typeface="Courier New" pitchFamily="49" charset="0"/>
                <a:cs typeface="Courier New" pitchFamily="49" charset="0"/>
              </a:rPr>
              <a:t> </a:t>
            </a:r>
            <a:r>
              <a:rPr lang="en-US" spc="-150" dirty="0" err="1">
                <a:solidFill>
                  <a:srgbClr val="C00000"/>
                </a:solidFill>
                <a:latin typeface="Courier New" pitchFamily="49" charset="0"/>
                <a:cs typeface="Courier New" pitchFamily="49" charset="0"/>
              </a:rPr>
              <a:t>ssh</a:t>
            </a:r>
            <a:r>
              <a:rPr lang="en-US" spc="-150" dirty="0">
                <a:solidFill>
                  <a:srgbClr val="C00000"/>
                </a:solidFill>
                <a:latin typeface="Courier New" pitchFamily="49" charset="0"/>
                <a:cs typeface="Courier New" pitchFamily="49" charset="0"/>
              </a:rPr>
              <a:t> version 2</a:t>
            </a:r>
          </a:p>
        </p:txBody>
      </p:sp>
      <p:sp>
        <p:nvSpPr>
          <p:cNvPr id="24" name="TextBox 23"/>
          <p:cNvSpPr txBox="1"/>
          <p:nvPr/>
        </p:nvSpPr>
        <p:spPr>
          <a:xfrm>
            <a:off x="4876801" y="1280975"/>
            <a:ext cx="5767569" cy="1477328"/>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username user1 password </a:t>
            </a:r>
            <a:r>
              <a:rPr lang="en-US" spc="-150" dirty="0" err="1">
                <a:solidFill>
                  <a:srgbClr val="C00000"/>
                </a:solidFill>
                <a:latin typeface="Courier New" pitchFamily="49" charset="0"/>
                <a:cs typeface="Courier New" pitchFamily="49" charset="0"/>
              </a:rPr>
              <a:t>abc</a:t>
            </a:r>
            <a:endParaRPr lang="en-US" spc="-150" dirty="0">
              <a:solidFill>
                <a:srgbClr val="C00000"/>
              </a:solidFill>
              <a:latin typeface="Courier New" pitchFamily="49" charset="0"/>
              <a:cs typeface="Courier New" pitchFamily="49" charset="0"/>
            </a:endParaRP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line </a:t>
            </a:r>
            <a:r>
              <a:rPr lang="en-US" spc="-150" dirty="0" err="1">
                <a:solidFill>
                  <a:srgbClr val="C00000"/>
                </a:solidFill>
                <a:latin typeface="Courier New" pitchFamily="49" charset="0"/>
                <a:cs typeface="Courier New" pitchFamily="49" charset="0"/>
              </a:rPr>
              <a:t>vty</a:t>
            </a:r>
            <a:r>
              <a:rPr lang="en-US" spc="-150" dirty="0">
                <a:solidFill>
                  <a:srgbClr val="C00000"/>
                </a:solidFill>
                <a:latin typeface="Courier New" pitchFamily="49" charset="0"/>
                <a:cs typeface="Courier New" pitchFamily="49" charset="0"/>
              </a:rPr>
              <a:t> 0 4</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transport input telnet </a:t>
            </a:r>
            <a:r>
              <a:rPr lang="en-US" spc="-150" dirty="0" err="1">
                <a:solidFill>
                  <a:srgbClr val="C00000"/>
                </a:solidFill>
                <a:latin typeface="Courier New" pitchFamily="49" charset="0"/>
                <a:cs typeface="Courier New" pitchFamily="49" charset="0"/>
              </a:rPr>
              <a:t>ssh</a:t>
            </a:r>
            <a:endParaRPr lang="en-US" spc="-150" dirty="0">
              <a:solidFill>
                <a:srgbClr val="C00000"/>
              </a:solidFill>
              <a:latin typeface="Courier New" pitchFamily="49" charset="0"/>
              <a:cs typeface="Courier New" pitchFamily="49" charset="0"/>
            </a:endParaRP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-line)# </a:t>
            </a:r>
            <a:r>
              <a:rPr lang="en-US" spc="-150" dirty="0">
                <a:solidFill>
                  <a:srgbClr val="C00000"/>
                </a:solidFill>
                <a:latin typeface="Courier New" pitchFamily="49" charset="0"/>
                <a:cs typeface="Courier New" pitchFamily="49" charset="0"/>
              </a:rPr>
              <a:t>login local</a:t>
            </a:r>
          </a:p>
          <a:p>
            <a:pPr marL="6350" lvl="5"/>
            <a:r>
              <a:rPr lang="en-US" spc="-150" dirty="0">
                <a:solidFill>
                  <a:srgbClr val="0070C0"/>
                </a:solidFill>
                <a:latin typeface="Courier New" pitchFamily="49" charset="0"/>
                <a:cs typeface="Courier New" pitchFamily="49" charset="0"/>
              </a:rPr>
              <a:t>Router(</a:t>
            </a:r>
            <a:r>
              <a:rPr lang="en-US" spc="-150" dirty="0" err="1">
                <a:solidFill>
                  <a:srgbClr val="0070C0"/>
                </a:solidFill>
                <a:latin typeface="Courier New" pitchFamily="49" charset="0"/>
                <a:cs typeface="Courier New" pitchFamily="49" charset="0"/>
              </a:rPr>
              <a:t>config</a:t>
            </a:r>
            <a:r>
              <a:rPr lang="en-US" spc="-150" dirty="0">
                <a:solidFill>
                  <a:srgbClr val="0070C0"/>
                </a:solidFill>
                <a:latin typeface="Courier New" pitchFamily="49" charset="0"/>
                <a:cs typeface="Courier New" pitchFamily="49" charset="0"/>
              </a:rPr>
              <a:t>)# </a:t>
            </a:r>
            <a:r>
              <a:rPr lang="en-US" spc="-150" dirty="0">
                <a:solidFill>
                  <a:srgbClr val="C00000"/>
                </a:solidFill>
                <a:latin typeface="Courier New" pitchFamily="49" charset="0"/>
                <a:cs typeface="Courier New" pitchFamily="49" charset="0"/>
              </a:rPr>
              <a:t>enable password 123</a:t>
            </a:r>
          </a:p>
        </p:txBody>
      </p:sp>
      <p:sp>
        <p:nvSpPr>
          <p:cNvPr id="25" name="Text Box 4"/>
          <p:cNvSpPr txBox="1">
            <a:spLocks noChangeArrowheads="1"/>
          </p:cNvSpPr>
          <p:nvPr/>
        </p:nvSpPr>
        <p:spPr bwMode="auto">
          <a:xfrm>
            <a:off x="1918903" y="4677108"/>
            <a:ext cx="8725466" cy="1089529"/>
          </a:xfrm>
          <a:prstGeom prst="rect">
            <a:avLst/>
          </a:prstGeom>
          <a:solidFill>
            <a:schemeClr val="accent6">
              <a:lumMod val="20000"/>
              <a:lumOff val="80000"/>
            </a:schemeClr>
          </a:solidFill>
          <a:ln w="28575">
            <a:solidFill>
              <a:srgbClr val="0070C0"/>
            </a:solidFill>
          </a:ln>
        </p:spPr>
        <p:txBody>
          <a:bodyPr wrap="none">
            <a:spAutoFit/>
          </a:bodyPr>
          <a:lstStyle>
            <a:defPPr>
              <a:defRPr lang="en-US"/>
            </a:defPPr>
            <a:lvl1pPr defTabSz="1028700" eaLnBrk="0" fontAlgn="base" hangingPunct="0">
              <a:lnSpc>
                <a:spcPct val="90000"/>
              </a:lnSpc>
              <a:spcBef>
                <a:spcPct val="0"/>
              </a:spcBef>
              <a:spcAft>
                <a:spcPct val="0"/>
              </a:spcAft>
              <a:defRPr sz="1600" b="1">
                <a:solidFill>
                  <a:srgbClr val="0070C0"/>
                </a:solidFill>
                <a:latin typeface="Courier New" pitchFamily="49" charset="0"/>
              </a:defRPr>
            </a:lvl1pPr>
          </a:lstStyle>
          <a:p>
            <a:pPr>
              <a:defRPr/>
            </a:pPr>
            <a:r>
              <a:rPr lang="en-US" sz="1800" spc="-150" dirty="0"/>
              <a:t>Router# </a:t>
            </a:r>
            <a:r>
              <a:rPr lang="en-US" sz="1800" spc="-150" dirty="0">
                <a:solidFill>
                  <a:srgbClr val="C00000"/>
                </a:solidFill>
              </a:rPr>
              <a:t>show </a:t>
            </a:r>
            <a:r>
              <a:rPr lang="en-US" sz="1800" spc="-150" dirty="0" err="1">
                <a:solidFill>
                  <a:srgbClr val="C00000"/>
                </a:solidFill>
              </a:rPr>
              <a:t>ssh</a:t>
            </a:r>
            <a:endParaRPr lang="en-US" sz="1800" spc="-150" dirty="0">
              <a:solidFill>
                <a:srgbClr val="C00000"/>
              </a:solidFill>
            </a:endParaRPr>
          </a:p>
          <a:p>
            <a:pPr>
              <a:defRPr/>
            </a:pPr>
            <a:r>
              <a:rPr lang="en-US" sz="1800" spc="-150" dirty="0"/>
              <a:t>Connection  </a:t>
            </a:r>
            <a:r>
              <a:rPr lang="en-US" sz="1800" spc="-150" dirty="0">
                <a:solidFill>
                  <a:srgbClr val="C00000"/>
                </a:solidFill>
              </a:rPr>
              <a:t>Version</a:t>
            </a:r>
            <a:r>
              <a:rPr lang="en-US" sz="1800" spc="-150" dirty="0"/>
              <a:t>  Mode Encryption  </a:t>
            </a:r>
            <a:r>
              <a:rPr lang="en-US" sz="1800" spc="-150" dirty="0" err="1"/>
              <a:t>Hmac</a:t>
            </a:r>
            <a:r>
              <a:rPr lang="en-US" sz="1800" spc="-150" dirty="0"/>
              <a:t> State        Username</a:t>
            </a:r>
          </a:p>
          <a:p>
            <a:pPr>
              <a:defRPr/>
            </a:pPr>
            <a:r>
              <a:rPr lang="en-US" sz="1800" spc="-150" dirty="0"/>
              <a:t>67          </a:t>
            </a:r>
            <a:r>
              <a:rPr lang="en-US" sz="1800" spc="-150" dirty="0">
                <a:solidFill>
                  <a:srgbClr val="C00000"/>
                </a:solidFill>
              </a:rPr>
              <a:t>2.0</a:t>
            </a:r>
            <a:r>
              <a:rPr lang="en-US" sz="1800" spc="-150" dirty="0"/>
              <a:t>      IN   aes128-cbc  hmac-sha1   Session Started  </a:t>
            </a:r>
            <a:r>
              <a:rPr lang="en-US" sz="1800" spc="-150" dirty="0">
                <a:solidFill>
                  <a:srgbClr val="C00000"/>
                </a:solidFill>
              </a:rPr>
              <a:t>user1</a:t>
            </a:r>
          </a:p>
          <a:p>
            <a:pPr>
              <a:defRPr/>
            </a:pPr>
            <a:r>
              <a:rPr lang="en-US" sz="1800" spc="-150" dirty="0"/>
              <a:t>67          </a:t>
            </a:r>
            <a:r>
              <a:rPr lang="en-US" sz="1800" spc="-150" dirty="0">
                <a:solidFill>
                  <a:srgbClr val="C00000"/>
                </a:solidFill>
              </a:rPr>
              <a:t>2.0  </a:t>
            </a:r>
            <a:r>
              <a:rPr lang="en-US" sz="1800" spc="-150" dirty="0"/>
              <a:t>    OUT  aes128-cbc  hmac-sha1   Session Started  </a:t>
            </a:r>
            <a:r>
              <a:rPr lang="en-US" sz="1800" spc="-150" dirty="0">
                <a:solidFill>
                  <a:srgbClr val="C00000"/>
                </a:solidFill>
              </a:rPr>
              <a:t>user1</a:t>
            </a:r>
          </a:p>
        </p:txBody>
      </p:sp>
      <p:sp>
        <p:nvSpPr>
          <p:cNvPr id="26" name="Rectangle 25"/>
          <p:cNvSpPr/>
          <p:nvPr/>
        </p:nvSpPr>
        <p:spPr>
          <a:xfrm>
            <a:off x="1918904" y="5867400"/>
            <a:ext cx="8725466" cy="597856"/>
          </a:xfrm>
          <a:prstGeom prst="rect">
            <a:avLst/>
          </a:prstGeom>
          <a:solidFill>
            <a:schemeClr val="accent6">
              <a:lumMod val="20000"/>
              <a:lumOff val="80000"/>
            </a:schemeClr>
          </a:solidFill>
          <a:ln w="28575">
            <a:solidFill>
              <a:srgbClr val="0070C0"/>
            </a:solidFill>
          </a:ln>
        </p:spPr>
        <p:txBody>
          <a:bodyPr wrap="square">
            <a:spAutoFit/>
          </a:bodyPr>
          <a:lstStyle/>
          <a:p>
            <a:pPr defTabSz="1028700" eaLnBrk="0" fontAlgn="base" hangingPunct="0">
              <a:lnSpc>
                <a:spcPct val="90000"/>
              </a:lnSpc>
              <a:spcBef>
                <a:spcPct val="0"/>
              </a:spcBef>
              <a:spcAft>
                <a:spcPct val="0"/>
              </a:spcAft>
              <a:defRPr/>
            </a:pPr>
            <a:r>
              <a:rPr lang="en-US" b="1" spc="-150" dirty="0">
                <a:solidFill>
                  <a:srgbClr val="0070C0"/>
                </a:solidFill>
                <a:latin typeface="Courier New" pitchFamily="49" charset="0"/>
              </a:rPr>
              <a:t>Router# </a:t>
            </a:r>
            <a:r>
              <a:rPr lang="en-US" b="1" spc="-150" dirty="0">
                <a:solidFill>
                  <a:srgbClr val="C00000"/>
                </a:solidFill>
                <a:latin typeface="Courier New" pitchFamily="49" charset="0"/>
              </a:rPr>
              <a:t>show </a:t>
            </a:r>
            <a:r>
              <a:rPr lang="en-US" b="1" spc="-150" dirty="0" err="1">
                <a:solidFill>
                  <a:srgbClr val="C00000"/>
                </a:solidFill>
                <a:latin typeface="Courier New" pitchFamily="49" charset="0"/>
              </a:rPr>
              <a:t>ip</a:t>
            </a:r>
            <a:r>
              <a:rPr lang="en-US" b="1" spc="-150" dirty="0">
                <a:solidFill>
                  <a:srgbClr val="C00000"/>
                </a:solidFill>
                <a:latin typeface="Courier New" pitchFamily="49" charset="0"/>
              </a:rPr>
              <a:t> </a:t>
            </a:r>
            <a:r>
              <a:rPr lang="en-US" b="1" spc="-150" dirty="0" err="1">
                <a:solidFill>
                  <a:srgbClr val="C00000"/>
                </a:solidFill>
                <a:latin typeface="Courier New" pitchFamily="49" charset="0"/>
              </a:rPr>
              <a:t>ssh</a:t>
            </a:r>
            <a:endParaRPr lang="en-US" b="1" spc="-150" dirty="0">
              <a:solidFill>
                <a:srgbClr val="C00000"/>
              </a:solidFill>
              <a:latin typeface="Courier New" pitchFamily="49" charset="0"/>
            </a:endParaRPr>
          </a:p>
          <a:p>
            <a:pPr defTabSz="1028700" eaLnBrk="0" fontAlgn="base" hangingPunct="0">
              <a:lnSpc>
                <a:spcPct val="90000"/>
              </a:lnSpc>
              <a:spcBef>
                <a:spcPct val="0"/>
              </a:spcBef>
              <a:spcAft>
                <a:spcPct val="0"/>
              </a:spcAft>
              <a:defRPr/>
            </a:pPr>
            <a:r>
              <a:rPr lang="en-US" b="1" spc="-150" dirty="0">
                <a:solidFill>
                  <a:srgbClr val="0070C0"/>
                </a:solidFill>
                <a:latin typeface="Courier New" pitchFamily="49" charset="0"/>
              </a:rPr>
              <a:t>SSH Enabled – </a:t>
            </a:r>
            <a:r>
              <a:rPr lang="en-US" b="1" spc="-150" dirty="0">
                <a:solidFill>
                  <a:srgbClr val="C00000"/>
                </a:solidFill>
                <a:latin typeface="Courier New" pitchFamily="49" charset="0"/>
              </a:rPr>
              <a:t>version 2.0</a:t>
            </a:r>
          </a:p>
        </p:txBody>
      </p:sp>
      <p:sp>
        <p:nvSpPr>
          <p:cNvPr id="18" name="TextBox 17"/>
          <p:cNvSpPr txBox="1"/>
          <p:nvPr/>
        </p:nvSpPr>
        <p:spPr>
          <a:xfrm>
            <a:off x="4014347" y="2879650"/>
            <a:ext cx="4560406" cy="369332"/>
          </a:xfrm>
          <a:prstGeom prst="rect">
            <a:avLst/>
          </a:prstGeom>
          <a:solidFill>
            <a:schemeClr val="accent6">
              <a:lumMod val="20000"/>
              <a:lumOff val="80000"/>
            </a:schemeClr>
          </a:solidFill>
          <a:ln w="28575">
            <a:solidFill>
              <a:srgbClr val="0070C0"/>
            </a:solidFill>
          </a:ln>
        </p:spPr>
        <p:txBody>
          <a:bodyPr wrap="square" rtlCol="0">
            <a:spAutoFit/>
          </a:bodyPr>
          <a:lstStyle/>
          <a:p>
            <a:pPr marL="6350" lvl="5"/>
            <a:r>
              <a:rPr lang="en-US" spc="-150" dirty="0">
                <a:solidFill>
                  <a:srgbClr val="0070C0"/>
                </a:solidFill>
                <a:latin typeface="Courier New" pitchFamily="49" charset="0"/>
                <a:cs typeface="Courier New" pitchFamily="49" charset="0"/>
              </a:rPr>
              <a:t>Switch# </a:t>
            </a:r>
            <a:r>
              <a:rPr lang="en-US" spc="-150" dirty="0" err="1">
                <a:solidFill>
                  <a:srgbClr val="C00000"/>
                </a:solidFill>
                <a:latin typeface="Courier New" pitchFamily="49" charset="0"/>
                <a:cs typeface="Courier New" pitchFamily="49" charset="0"/>
              </a:rPr>
              <a:t>ssh</a:t>
            </a:r>
            <a:r>
              <a:rPr lang="en-US" spc="-150" dirty="0">
                <a:solidFill>
                  <a:srgbClr val="C00000"/>
                </a:solidFill>
                <a:latin typeface="Courier New" pitchFamily="49" charset="0"/>
                <a:cs typeface="Courier New" pitchFamily="49" charset="0"/>
              </a:rPr>
              <a:t> –v 2 –l user1 192.168.1.1</a:t>
            </a:r>
          </a:p>
        </p:txBody>
      </p:sp>
    </p:spTree>
    <p:extLst>
      <p:ext uri="{BB962C8B-B14F-4D97-AF65-F5344CB8AC3E}">
        <p14:creationId xmlns:p14="http://schemas.microsoft.com/office/powerpoint/2010/main" val="9960690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1544-0B5A-4465-9DA1-91BC190B32F2}"/>
              </a:ext>
            </a:extLst>
          </p:cNvPr>
          <p:cNvSpPr>
            <a:spLocks noGrp="1"/>
          </p:cNvSpPr>
          <p:nvPr>
            <p:ph type="title"/>
          </p:nvPr>
        </p:nvSpPr>
        <p:spPr/>
        <p:txBody>
          <a:bodyPr/>
          <a:lstStyle/>
          <a:p>
            <a:r>
              <a:rPr lang="en-US" dirty="0"/>
              <a:t>VII. TFTP SERVER</a:t>
            </a:r>
          </a:p>
        </p:txBody>
      </p:sp>
      <p:sp>
        <p:nvSpPr>
          <p:cNvPr id="3" name="Content Placeholder 2">
            <a:extLst>
              <a:ext uri="{FF2B5EF4-FFF2-40B4-BE49-F238E27FC236}">
                <a16:creationId xmlns:a16="http://schemas.microsoft.com/office/drawing/2014/main" id="{42453EA2-76F7-49DE-A197-331167A2A8CA}"/>
              </a:ext>
            </a:extLst>
          </p:cNvPr>
          <p:cNvSpPr>
            <a:spLocks noGrp="1"/>
          </p:cNvSpPr>
          <p:nvPr>
            <p:ph idx="1"/>
          </p:nvPr>
        </p:nvSpPr>
        <p:spPr/>
        <p:txBody>
          <a:bodyPr/>
          <a:lstStyle/>
          <a:p>
            <a:pPr algn="just"/>
            <a:r>
              <a:rPr lang="vi-VN" dirty="0"/>
              <a:t>TFTP là viết tắt của Trivial File Transfer Protocol, là 1 giao thức truyền file đơn giản, cho phép client có thể upload hoặc download các tệp tin từ trên các remote host như switch, router, server... </a:t>
            </a:r>
            <a:endParaRPr lang="en-US" dirty="0"/>
          </a:p>
          <a:p>
            <a:pPr algn="just"/>
            <a:r>
              <a:rPr lang="vi-VN" dirty="0"/>
              <a:t>TFTP được thiết kế nhỏ và dễ thực hiện, và do đó nó thiếu hầu hết các tính năng nâng cao của các giao thức truyền tệp. </a:t>
            </a:r>
            <a:endParaRPr lang="en-US" dirty="0"/>
          </a:p>
          <a:p>
            <a:pPr algn="just"/>
            <a:r>
              <a:rPr lang="vi-VN" dirty="0"/>
              <a:t>TFTP chỉ đọc và ghi tệp từ các máy chủ từ xa. </a:t>
            </a:r>
            <a:endParaRPr lang="en-US" dirty="0"/>
          </a:p>
          <a:p>
            <a:pPr algn="just"/>
            <a:endParaRPr lang="en-US" dirty="0"/>
          </a:p>
        </p:txBody>
      </p:sp>
    </p:spTree>
    <p:extLst>
      <p:ext uri="{BB962C8B-B14F-4D97-AF65-F5344CB8AC3E}">
        <p14:creationId xmlns:p14="http://schemas.microsoft.com/office/powerpoint/2010/main" val="20409120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1DA17-22D5-41C7-9A83-F83ACA0291BB}"/>
              </a:ext>
            </a:extLst>
          </p:cNvPr>
          <p:cNvSpPr>
            <a:spLocks noGrp="1"/>
          </p:cNvSpPr>
          <p:nvPr>
            <p:ph type="title"/>
          </p:nvPr>
        </p:nvSpPr>
        <p:spPr/>
        <p:txBody>
          <a:bodyPr/>
          <a:lstStyle/>
          <a:p>
            <a:r>
              <a:rPr lang="en-US" dirty="0"/>
              <a:t>VII. TFTP SERVER</a:t>
            </a:r>
          </a:p>
        </p:txBody>
      </p:sp>
      <p:sp>
        <p:nvSpPr>
          <p:cNvPr id="3" name="Content Placeholder 2">
            <a:extLst>
              <a:ext uri="{FF2B5EF4-FFF2-40B4-BE49-F238E27FC236}">
                <a16:creationId xmlns:a16="http://schemas.microsoft.com/office/drawing/2014/main" id="{6E334920-0A88-44C9-9E43-90E914049A5F}"/>
              </a:ext>
            </a:extLst>
          </p:cNvPr>
          <p:cNvSpPr>
            <a:spLocks noGrp="1"/>
          </p:cNvSpPr>
          <p:nvPr>
            <p:ph idx="1"/>
          </p:nvPr>
        </p:nvSpPr>
        <p:spPr/>
        <p:txBody>
          <a:bodyPr/>
          <a:lstStyle/>
          <a:p>
            <a:pPr algn="just"/>
            <a:r>
              <a:rPr lang="vi-VN" dirty="0"/>
              <a:t>Nó không thể liệt kê, xóa, hoặc đổi tên các tập tin hoặc thư mục và cũng không có xác thực giữa client và server.</a:t>
            </a:r>
          </a:p>
          <a:p>
            <a:pPr algn="just"/>
            <a:r>
              <a:rPr lang="vi-VN" dirty="0"/>
              <a:t>Do không được bảo mật trong quá trình truyền tệp nên TFTP thường được ứng dụng trong mạng cục bộ (LAN) để backup, import config IOS trên các thiết bị switch router firewall, hoặc cài đặt license cho các thiết bị này.</a:t>
            </a:r>
          </a:p>
          <a:p>
            <a:pPr algn="just"/>
            <a:endParaRPr lang="en-US" dirty="0"/>
          </a:p>
        </p:txBody>
      </p:sp>
    </p:spTree>
    <p:extLst>
      <p:ext uri="{BB962C8B-B14F-4D97-AF65-F5344CB8AC3E}">
        <p14:creationId xmlns:p14="http://schemas.microsoft.com/office/powerpoint/2010/main" val="10901263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2179638" y="457200"/>
            <a:ext cx="8145462" cy="838200"/>
          </a:xfrm>
        </p:spPr>
        <p:txBody>
          <a:bodyPr>
            <a:normAutofit/>
          </a:bodyPr>
          <a:lstStyle/>
          <a:p>
            <a:r>
              <a:rPr lang="en-US" sz="3200">
                <a:latin typeface="Courier New" pitchFamily="49" charset="0"/>
                <a:ea typeface="Times" pitchFamily="18" charset="0"/>
                <a:cs typeface="Courier New" pitchFamily="49" charset="0"/>
              </a:rPr>
              <a:t>tftp-server </a:t>
            </a:r>
          </a:p>
        </p:txBody>
      </p:sp>
      <p:cxnSp>
        <p:nvCxnSpPr>
          <p:cNvPr id="4" name="Straight Connector 3"/>
          <p:cNvCxnSpPr>
            <a:stCxn id="6" idx="1"/>
            <a:endCxn id="5" idx="3"/>
          </p:cNvCxnSpPr>
          <p:nvPr/>
        </p:nvCxnSpPr>
        <p:spPr>
          <a:xfrm flipH="1">
            <a:off x="3332888" y="2760663"/>
            <a:ext cx="5602424" cy="0"/>
          </a:xfrm>
          <a:prstGeom prst="line">
            <a:avLst/>
          </a:prstGeom>
          <a:noFill/>
          <a:ln w="28575" cap="flat" cmpd="sng" algn="ctr">
            <a:solidFill>
              <a:srgbClr val="4F81BD">
                <a:shade val="95000"/>
                <a:satMod val="105000"/>
              </a:srgbClr>
            </a:solidFill>
            <a:prstDash val="solid"/>
          </a:ln>
          <a:effectLst/>
        </p:spPr>
      </p:cxn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3288" y="2547631"/>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29" descr="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5313" y="2286001"/>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656672" y="2461735"/>
            <a:ext cx="1158943" cy="54168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600" b="1">
                <a:solidFill>
                  <a:srgbClr val="FFFF00"/>
                </a:solidFill>
                <a:effectLst>
                  <a:glow rad="228600">
                    <a:srgbClr val="B21A1A">
                      <a:satMod val="175000"/>
                      <a:alpha val="40000"/>
                    </a:srgbClr>
                  </a:glow>
                </a:effectLst>
                <a:latin typeface="Courier New" pitchFamily="49" charset="0"/>
                <a:cs typeface="Courier New" pitchFamily="49" charset="0"/>
              </a:rPr>
              <a:t>tftp server</a:t>
            </a:r>
          </a:p>
        </p:txBody>
      </p:sp>
      <p:sp>
        <p:nvSpPr>
          <p:cNvPr id="2" name="TextBox 1"/>
          <p:cNvSpPr txBox="1"/>
          <p:nvPr/>
        </p:nvSpPr>
        <p:spPr>
          <a:xfrm>
            <a:off x="7612063" y="2461734"/>
            <a:ext cx="1371600" cy="369332"/>
          </a:xfrm>
          <a:prstGeom prst="rect">
            <a:avLst/>
          </a:prstGeom>
          <a:noFill/>
        </p:spPr>
        <p:txBody>
          <a:bodyPr wrap="square" rtlCol="0">
            <a:spAutoFit/>
          </a:bodyPr>
          <a:lstStyle/>
          <a:p>
            <a:pPr algn="ctr"/>
            <a:r>
              <a:rPr lang="en-US" b="1">
                <a:latin typeface="Courier New" pitchFamily="49" charset="0"/>
                <a:cs typeface="Courier New" pitchFamily="49" charset="0"/>
              </a:rPr>
              <a:t>10.0.0.2</a:t>
            </a:r>
          </a:p>
        </p:txBody>
      </p:sp>
      <p:sp>
        <p:nvSpPr>
          <p:cNvPr id="13" name="TextBox 12"/>
          <p:cNvSpPr txBox="1"/>
          <p:nvPr/>
        </p:nvSpPr>
        <p:spPr>
          <a:xfrm>
            <a:off x="3200400" y="2461734"/>
            <a:ext cx="1371600" cy="369332"/>
          </a:xfrm>
          <a:prstGeom prst="rect">
            <a:avLst/>
          </a:prstGeom>
          <a:noFill/>
        </p:spPr>
        <p:txBody>
          <a:bodyPr wrap="square" rtlCol="0">
            <a:spAutoFit/>
          </a:bodyPr>
          <a:lstStyle/>
          <a:p>
            <a:pPr algn="ctr"/>
            <a:r>
              <a:rPr lang="en-US" b="1">
                <a:latin typeface="Courier New" pitchFamily="49" charset="0"/>
                <a:cs typeface="Courier New" pitchFamily="49" charset="0"/>
              </a:rPr>
              <a:t>10.0.0.1</a:t>
            </a:r>
          </a:p>
        </p:txBody>
      </p:sp>
      <p:sp>
        <p:nvSpPr>
          <p:cNvPr id="14" name="TextBox 13"/>
          <p:cNvSpPr txBox="1"/>
          <p:nvPr/>
        </p:nvSpPr>
        <p:spPr>
          <a:xfrm>
            <a:off x="2743201" y="2573544"/>
            <a:ext cx="579471" cy="34855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b="1">
                <a:solidFill>
                  <a:srgbClr val="FFFF00"/>
                </a:solidFill>
                <a:effectLst>
                  <a:glow rad="228600">
                    <a:srgbClr val="B21A1A">
                      <a:satMod val="175000"/>
                      <a:alpha val="40000"/>
                    </a:srgbClr>
                  </a:glow>
                </a:effectLst>
                <a:latin typeface="Courier New" pitchFamily="49" charset="0"/>
                <a:cs typeface="Courier New" pitchFamily="49" charset="0"/>
              </a:rPr>
              <a:t>R1</a:t>
            </a:r>
          </a:p>
        </p:txBody>
      </p:sp>
      <p:sp>
        <p:nvSpPr>
          <p:cNvPr id="15" name="Rectangle 14"/>
          <p:cNvSpPr/>
          <p:nvPr/>
        </p:nvSpPr>
        <p:spPr>
          <a:xfrm>
            <a:off x="2608672" y="3722597"/>
            <a:ext cx="531612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R1# </a:t>
            </a:r>
            <a:r>
              <a:rPr lang="en-US" b="1">
                <a:solidFill>
                  <a:srgbClr val="FF0000"/>
                </a:solidFill>
                <a:latin typeface="Courier New" pitchFamily="49" charset="0"/>
              </a:rPr>
              <a:t>copy running-config tftp: </a:t>
            </a:r>
          </a:p>
        </p:txBody>
      </p:sp>
      <p:sp>
        <p:nvSpPr>
          <p:cNvPr id="16" name="Rectangle 15"/>
          <p:cNvSpPr/>
          <p:nvPr/>
        </p:nvSpPr>
        <p:spPr>
          <a:xfrm>
            <a:off x="2608672" y="4055341"/>
            <a:ext cx="485892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Address or name of remote host []? </a:t>
            </a:r>
          </a:p>
        </p:txBody>
      </p:sp>
      <p:sp>
        <p:nvSpPr>
          <p:cNvPr id="17" name="Rectangle 16"/>
          <p:cNvSpPr/>
          <p:nvPr/>
        </p:nvSpPr>
        <p:spPr>
          <a:xfrm>
            <a:off x="7467601" y="4055341"/>
            <a:ext cx="1667464"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FF0000"/>
                </a:solidFill>
                <a:latin typeface="Courier New" pitchFamily="49" charset="0"/>
              </a:rPr>
              <a:t>10.0.0.2</a:t>
            </a:r>
          </a:p>
        </p:txBody>
      </p:sp>
      <p:sp>
        <p:nvSpPr>
          <p:cNvPr id="18" name="Rectangle 17"/>
          <p:cNvSpPr/>
          <p:nvPr/>
        </p:nvSpPr>
        <p:spPr>
          <a:xfrm>
            <a:off x="2608672" y="4403898"/>
            <a:ext cx="539232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Destination filename [running-config]? </a:t>
            </a:r>
          </a:p>
        </p:txBody>
      </p:sp>
      <p:sp>
        <p:nvSpPr>
          <p:cNvPr id="19" name="Rectangle 18"/>
          <p:cNvSpPr/>
          <p:nvPr/>
        </p:nvSpPr>
        <p:spPr>
          <a:xfrm>
            <a:off x="7924800" y="4403898"/>
            <a:ext cx="1667464"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FF0000"/>
                </a:solidFill>
                <a:latin typeface="Courier New" pitchFamily="49" charset="0"/>
              </a:rPr>
              <a:t>R1.cfg</a:t>
            </a:r>
          </a:p>
        </p:txBody>
      </p:sp>
      <p:sp>
        <p:nvSpPr>
          <p:cNvPr id="20" name="Rectangle 19"/>
          <p:cNvSpPr/>
          <p:nvPr/>
        </p:nvSpPr>
        <p:spPr>
          <a:xfrm>
            <a:off x="2608672" y="4752455"/>
            <a:ext cx="104892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a:t>
            </a:r>
          </a:p>
        </p:txBody>
      </p:sp>
      <p:sp>
        <p:nvSpPr>
          <p:cNvPr id="21" name="Rectangle 20"/>
          <p:cNvSpPr/>
          <p:nvPr/>
        </p:nvSpPr>
        <p:spPr>
          <a:xfrm>
            <a:off x="2608671" y="5101012"/>
            <a:ext cx="6763930"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1684 bytes copied in 13.300 secs (129 bytes/sec) </a:t>
            </a:r>
          </a:p>
        </p:txBody>
      </p:sp>
      <p:sp>
        <p:nvSpPr>
          <p:cNvPr id="22" name="Rectangle 21"/>
          <p:cNvSpPr/>
          <p:nvPr/>
        </p:nvSpPr>
        <p:spPr>
          <a:xfrm>
            <a:off x="2608672" y="5442644"/>
            <a:ext cx="714000"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R1#</a:t>
            </a:r>
            <a:endParaRPr lang="en-US" b="1">
              <a:solidFill>
                <a:srgbClr val="FF0000"/>
              </a:solidFill>
              <a:latin typeface="Courier New" pitchFamily="49" charset="0"/>
            </a:endParaRPr>
          </a:p>
        </p:txBody>
      </p:sp>
      <p:sp>
        <p:nvSpPr>
          <p:cNvPr id="23" name="Rectangle 22"/>
          <p:cNvSpPr/>
          <p:nvPr/>
        </p:nvSpPr>
        <p:spPr>
          <a:xfrm>
            <a:off x="3155995" y="5444717"/>
            <a:ext cx="3733800"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FF0000"/>
                </a:solidFill>
                <a:latin typeface="Courier New" pitchFamily="49" charset="0"/>
              </a:rPr>
              <a:t>copy startup-config tftp: </a:t>
            </a:r>
          </a:p>
        </p:txBody>
      </p:sp>
      <p:sp>
        <p:nvSpPr>
          <p:cNvPr id="26" name="Rectangle 25"/>
          <p:cNvSpPr/>
          <p:nvPr/>
        </p:nvSpPr>
        <p:spPr>
          <a:xfrm>
            <a:off x="2608672" y="5789128"/>
            <a:ext cx="714000"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R1#</a:t>
            </a:r>
            <a:endParaRPr lang="en-US" b="1">
              <a:solidFill>
                <a:srgbClr val="FF0000"/>
              </a:solidFill>
              <a:latin typeface="Courier New" pitchFamily="49" charset="0"/>
            </a:endParaRPr>
          </a:p>
        </p:txBody>
      </p:sp>
      <p:sp>
        <p:nvSpPr>
          <p:cNvPr id="27" name="Rectangle 26"/>
          <p:cNvSpPr/>
          <p:nvPr/>
        </p:nvSpPr>
        <p:spPr>
          <a:xfrm>
            <a:off x="3155995" y="5791201"/>
            <a:ext cx="3733800"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FF0000"/>
                </a:solidFill>
                <a:latin typeface="Courier New" pitchFamily="49" charset="0"/>
              </a:rPr>
              <a:t>copy tftp: startup-config  </a:t>
            </a:r>
          </a:p>
        </p:txBody>
      </p:sp>
      <p:sp>
        <p:nvSpPr>
          <p:cNvPr id="28" name="Rectangle 27"/>
          <p:cNvSpPr/>
          <p:nvPr/>
        </p:nvSpPr>
        <p:spPr>
          <a:xfrm>
            <a:off x="2608672" y="6135612"/>
            <a:ext cx="714000"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R1#</a:t>
            </a:r>
            <a:endParaRPr lang="en-US" b="1">
              <a:solidFill>
                <a:srgbClr val="FF0000"/>
              </a:solidFill>
              <a:latin typeface="Courier New" pitchFamily="49" charset="0"/>
            </a:endParaRPr>
          </a:p>
        </p:txBody>
      </p:sp>
      <p:sp>
        <p:nvSpPr>
          <p:cNvPr id="29" name="Rectangle 28"/>
          <p:cNvSpPr/>
          <p:nvPr/>
        </p:nvSpPr>
        <p:spPr>
          <a:xfrm>
            <a:off x="3155995" y="6137685"/>
            <a:ext cx="3733800"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FF0000"/>
                </a:solidFill>
                <a:latin typeface="Courier New" pitchFamily="49" charset="0"/>
              </a:rPr>
              <a:t>copy tftp: running-config  </a:t>
            </a:r>
          </a:p>
        </p:txBody>
      </p:sp>
      <p:cxnSp>
        <p:nvCxnSpPr>
          <p:cNvPr id="30" name="Straight Connector 29"/>
          <p:cNvCxnSpPr/>
          <p:nvPr/>
        </p:nvCxnSpPr>
        <p:spPr>
          <a:xfrm flipH="1">
            <a:off x="4800600" y="2667000"/>
            <a:ext cx="2738732" cy="0"/>
          </a:xfrm>
          <a:prstGeom prst="line">
            <a:avLst/>
          </a:prstGeom>
          <a:noFill/>
          <a:ln w="28575" cap="flat" cmpd="sng" algn="ctr">
            <a:solidFill>
              <a:srgbClr val="FFFF00"/>
            </a:solidFill>
            <a:prstDash val="solid"/>
            <a:headEnd type="arrow" w="med" len="med"/>
            <a:tailEnd type="none" w="med" len="med"/>
          </a:ln>
          <a:effectLst>
            <a:glow rad="228600">
              <a:schemeClr val="accent2">
                <a:satMod val="175000"/>
                <a:alpha val="40000"/>
              </a:schemeClr>
            </a:glow>
          </a:effectLst>
        </p:spPr>
      </p:cxnSp>
    </p:spTree>
    <p:extLst>
      <p:ext uri="{BB962C8B-B14F-4D97-AF65-F5344CB8AC3E}">
        <p14:creationId xmlns:p14="http://schemas.microsoft.com/office/powerpoint/2010/main" val="372256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2000"/>
                                        <p:tgtEl>
                                          <p:spTgt spid="20"/>
                                        </p:tgtEl>
                                      </p:cBhvr>
                                    </p:animEffect>
                                  </p:childTnLst>
                                </p:cTn>
                              </p:par>
                            </p:childTnLst>
                          </p:cTn>
                        </p:par>
                        <p:par>
                          <p:cTn id="37" fill="hold">
                            <p:stCondLst>
                              <p:cond delay="2000"/>
                            </p:stCondLst>
                            <p:childTnLst>
                              <p:par>
                                <p:cTn id="38" presetID="22" presetClass="entr" presetSubtype="8"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500"/>
                                        <p:tgtEl>
                                          <p:spTgt spid="21"/>
                                        </p:tgtEl>
                                      </p:cBhvr>
                                    </p:animEffect>
                                  </p:childTnLst>
                                </p:cTn>
                              </p:par>
                            </p:childTnLst>
                          </p:cTn>
                        </p:par>
                        <p:par>
                          <p:cTn id="41" fill="hold">
                            <p:stCondLst>
                              <p:cond delay="2500"/>
                            </p:stCondLst>
                            <p:childTnLst>
                              <p:par>
                                <p:cTn id="42" presetID="22" presetClass="entr" presetSubtype="8" fill="hold" grpId="0"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left)">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left)">
                                      <p:cBhvr>
                                        <p:cTn id="49" dur="500"/>
                                        <p:tgtEl>
                                          <p:spTgt spid="2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wipe(left)">
                                      <p:cBhvr>
                                        <p:cTn id="54" dur="500"/>
                                        <p:tgtEl>
                                          <p:spTgt spid="26"/>
                                        </p:tgtEl>
                                      </p:cBhvr>
                                    </p:animEffect>
                                  </p:childTnLst>
                                </p:cTn>
                              </p:par>
                            </p:childTnLst>
                          </p:cTn>
                        </p:par>
                        <p:par>
                          <p:cTn id="55" fill="hold">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wipe(left)">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left)">
                                      <p:cBhvr>
                                        <p:cTn id="63" dur="500"/>
                                        <p:tgtEl>
                                          <p:spTgt spid="28"/>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p:bldP spid="22" grpId="0"/>
      <p:bldP spid="23" grpId="0"/>
      <p:bldP spid="26" grpId="0"/>
      <p:bldP spid="27" grpId="0"/>
      <p:bldP spid="28" grpId="0"/>
      <p:bldP spid="2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84683"/>
            <a:ext cx="9144000" cy="368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352800" y="3886200"/>
            <a:ext cx="1600200" cy="533400"/>
          </a:xfrm>
          <a:prstGeom prst="rect">
            <a:avLst/>
          </a:prstGeom>
          <a:noFill/>
          <a:ln w="28575">
            <a:solidFill>
              <a:srgbClr val="FFFF00"/>
            </a:solidFill>
          </a:ln>
          <a:effectLst>
            <a:glow rad="228600">
              <a:schemeClr val="accent2">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941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685800"/>
            <a:ext cx="6585541" cy="5472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419600" y="1295400"/>
            <a:ext cx="1600200" cy="533400"/>
          </a:xfrm>
          <a:prstGeom prst="rect">
            <a:avLst/>
          </a:prstGeom>
          <a:noFill/>
          <a:ln w="28575">
            <a:solidFill>
              <a:srgbClr val="FFFF00"/>
            </a:solidFill>
          </a:ln>
          <a:effectLst>
            <a:glow rad="228600">
              <a:schemeClr val="accent2">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419600" y="1752600"/>
            <a:ext cx="1600200" cy="533400"/>
          </a:xfrm>
          <a:prstGeom prst="rect">
            <a:avLst/>
          </a:prstGeom>
          <a:noFill/>
          <a:ln w="28575">
            <a:solidFill>
              <a:srgbClr val="FFFF00"/>
            </a:solidFill>
          </a:ln>
          <a:effectLst>
            <a:glow rad="228600">
              <a:schemeClr val="accent2">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5602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xit" presetSubtype="21" fill="hold" grpId="1" nodeType="withEffect">
                                  <p:stCondLst>
                                    <p:cond delay="0"/>
                                  </p:stCondLst>
                                  <p:childTnLst>
                                    <p:animEffect transition="out" filter="barn(inVertical)">
                                      <p:cBhvr>
                                        <p:cTn id="14" dur="500"/>
                                        <p:tgtEl>
                                          <p:spTgt spid="2"/>
                                        </p:tgtEl>
                                      </p:cBhvr>
                                    </p:animEffect>
                                    <p:set>
                                      <p:cBhvr>
                                        <p:cTn id="15"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5"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2179638" y="161925"/>
            <a:ext cx="8145462" cy="838200"/>
          </a:xfrm>
        </p:spPr>
        <p:txBody>
          <a:bodyPr>
            <a:normAutofit/>
          </a:bodyPr>
          <a:lstStyle/>
          <a:p>
            <a:r>
              <a:rPr lang="en-US" sz="3200" dirty="0" err="1">
                <a:latin typeface="Courier New" pitchFamily="49" charset="0"/>
                <a:ea typeface="Times" pitchFamily="18" charset="0"/>
                <a:cs typeface="Courier New" pitchFamily="49" charset="0"/>
              </a:rPr>
              <a:t>tftp</a:t>
            </a:r>
            <a:r>
              <a:rPr lang="en-US" sz="3200" dirty="0">
                <a:latin typeface="Courier New" pitchFamily="49" charset="0"/>
                <a:ea typeface="Times" pitchFamily="18" charset="0"/>
                <a:cs typeface="Courier New" pitchFamily="49" charset="0"/>
              </a:rPr>
              <a:t>-server </a:t>
            </a:r>
          </a:p>
        </p:txBody>
      </p:sp>
      <p:cxnSp>
        <p:nvCxnSpPr>
          <p:cNvPr id="4" name="Straight Connector 3"/>
          <p:cNvCxnSpPr>
            <a:stCxn id="6" idx="1"/>
            <a:endCxn id="5" idx="3"/>
          </p:cNvCxnSpPr>
          <p:nvPr/>
        </p:nvCxnSpPr>
        <p:spPr>
          <a:xfrm flipH="1">
            <a:off x="3332888" y="2760663"/>
            <a:ext cx="5602424" cy="0"/>
          </a:xfrm>
          <a:prstGeom prst="line">
            <a:avLst/>
          </a:prstGeom>
          <a:noFill/>
          <a:ln w="28575" cap="flat" cmpd="sng" algn="ctr">
            <a:solidFill>
              <a:srgbClr val="4F81BD">
                <a:shade val="95000"/>
                <a:satMod val="105000"/>
              </a:srgbClr>
            </a:solidFill>
            <a:prstDash val="solid"/>
          </a:ln>
          <a:effectLst/>
        </p:spPr>
      </p:cxn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3288" y="2547631"/>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29" descr="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5313" y="2286001"/>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656672" y="2461735"/>
            <a:ext cx="1158943" cy="54168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600" b="1">
                <a:solidFill>
                  <a:srgbClr val="FFFF00"/>
                </a:solidFill>
                <a:effectLst>
                  <a:glow rad="228600">
                    <a:srgbClr val="B21A1A">
                      <a:satMod val="175000"/>
                      <a:alpha val="40000"/>
                    </a:srgbClr>
                  </a:glow>
                </a:effectLst>
                <a:latin typeface="Courier New" pitchFamily="49" charset="0"/>
                <a:cs typeface="Courier New" pitchFamily="49" charset="0"/>
              </a:rPr>
              <a:t>tftp server</a:t>
            </a:r>
          </a:p>
        </p:txBody>
      </p:sp>
      <p:sp>
        <p:nvSpPr>
          <p:cNvPr id="2" name="TextBox 1"/>
          <p:cNvSpPr txBox="1"/>
          <p:nvPr/>
        </p:nvSpPr>
        <p:spPr>
          <a:xfrm>
            <a:off x="7612063" y="2461734"/>
            <a:ext cx="1371600" cy="369332"/>
          </a:xfrm>
          <a:prstGeom prst="rect">
            <a:avLst/>
          </a:prstGeom>
          <a:noFill/>
        </p:spPr>
        <p:txBody>
          <a:bodyPr wrap="square" rtlCol="0">
            <a:spAutoFit/>
          </a:bodyPr>
          <a:lstStyle/>
          <a:p>
            <a:pPr algn="ctr"/>
            <a:r>
              <a:rPr lang="en-US" b="1">
                <a:solidFill>
                  <a:prstClr val="black"/>
                </a:solidFill>
                <a:latin typeface="Courier New" pitchFamily="49" charset="0"/>
                <a:cs typeface="Courier New" pitchFamily="49" charset="0"/>
              </a:rPr>
              <a:t>10.0.0.2</a:t>
            </a:r>
          </a:p>
        </p:txBody>
      </p:sp>
      <p:sp>
        <p:nvSpPr>
          <p:cNvPr id="13" name="TextBox 12"/>
          <p:cNvSpPr txBox="1"/>
          <p:nvPr/>
        </p:nvSpPr>
        <p:spPr>
          <a:xfrm>
            <a:off x="3200400" y="2461734"/>
            <a:ext cx="1371600" cy="369332"/>
          </a:xfrm>
          <a:prstGeom prst="rect">
            <a:avLst/>
          </a:prstGeom>
          <a:noFill/>
        </p:spPr>
        <p:txBody>
          <a:bodyPr wrap="square" rtlCol="0">
            <a:spAutoFit/>
          </a:bodyPr>
          <a:lstStyle/>
          <a:p>
            <a:pPr algn="ctr"/>
            <a:r>
              <a:rPr lang="en-US" b="1">
                <a:solidFill>
                  <a:prstClr val="black"/>
                </a:solidFill>
                <a:latin typeface="Courier New" pitchFamily="49" charset="0"/>
                <a:cs typeface="Courier New" pitchFamily="49" charset="0"/>
              </a:rPr>
              <a:t>10.0.0.1</a:t>
            </a:r>
          </a:p>
        </p:txBody>
      </p:sp>
      <p:sp>
        <p:nvSpPr>
          <p:cNvPr id="14" name="TextBox 13"/>
          <p:cNvSpPr txBox="1"/>
          <p:nvPr/>
        </p:nvSpPr>
        <p:spPr>
          <a:xfrm>
            <a:off x="2743201" y="2573544"/>
            <a:ext cx="579471" cy="34855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b="1">
                <a:solidFill>
                  <a:srgbClr val="FFFF00"/>
                </a:solidFill>
                <a:effectLst>
                  <a:glow rad="228600">
                    <a:srgbClr val="B21A1A">
                      <a:satMod val="175000"/>
                      <a:alpha val="40000"/>
                    </a:srgbClr>
                  </a:glow>
                </a:effectLst>
                <a:latin typeface="Courier New" pitchFamily="49" charset="0"/>
                <a:cs typeface="Courier New" pitchFamily="49" charset="0"/>
              </a:rPr>
              <a:t>R1</a:t>
            </a:r>
          </a:p>
        </p:txBody>
      </p:sp>
      <p:sp>
        <p:nvSpPr>
          <p:cNvPr id="30" name="Text Box 10"/>
          <p:cNvSpPr txBox="1">
            <a:spLocks noChangeArrowheads="1"/>
          </p:cNvSpPr>
          <p:nvPr/>
        </p:nvSpPr>
        <p:spPr bwMode="auto">
          <a:xfrm>
            <a:off x="1644651" y="3353888"/>
            <a:ext cx="8901113" cy="2825213"/>
          </a:xfrm>
          <a:prstGeom prst="rect">
            <a:avLst/>
          </a:prstGeom>
          <a:solidFill>
            <a:schemeClr val="accent6">
              <a:lumMod val="20000"/>
              <a:lumOff val="80000"/>
            </a:schemeClr>
          </a:solidFill>
          <a:ln w="28575" algn="ctr">
            <a:solidFill>
              <a:schemeClr val="accent1"/>
            </a:solidFill>
            <a:miter lim="800000"/>
            <a:headEnd/>
            <a:tailEnd/>
          </a:ln>
          <a:effectLst/>
        </p:spPr>
        <p:txBody>
          <a:bodyPr lIns="82124" tIns="41061" rIns="82124" bIns="41061">
            <a:spAutoFit/>
          </a:bodyPr>
          <a:lstStyle>
            <a:lvl1pPr defTabSz="814388">
              <a:defRPr sz="3000" b="1">
                <a:solidFill>
                  <a:schemeClr val="tx1"/>
                </a:solidFill>
                <a:latin typeface="Arial" charset="0"/>
              </a:defRPr>
            </a:lvl1pPr>
            <a:lvl2pPr marL="742950" indent="-285750" defTabSz="814388">
              <a:defRPr sz="3000" b="1">
                <a:solidFill>
                  <a:schemeClr val="tx1"/>
                </a:solidFill>
                <a:latin typeface="Arial" charset="0"/>
              </a:defRPr>
            </a:lvl2pPr>
            <a:lvl3pPr marL="1143000" indent="-228600" defTabSz="814388">
              <a:defRPr sz="3000" b="1">
                <a:solidFill>
                  <a:schemeClr val="tx1"/>
                </a:solidFill>
                <a:latin typeface="Arial" charset="0"/>
              </a:defRPr>
            </a:lvl3pPr>
            <a:lvl4pPr marL="1600200" indent="-228600" defTabSz="814388">
              <a:defRPr sz="3000" b="1">
                <a:solidFill>
                  <a:schemeClr val="tx1"/>
                </a:solidFill>
                <a:latin typeface="Arial" charset="0"/>
              </a:defRPr>
            </a:lvl4pPr>
            <a:lvl5pPr marL="2057400" indent="-228600" defTabSz="814388">
              <a:defRPr sz="3000" b="1">
                <a:solidFill>
                  <a:schemeClr val="tx1"/>
                </a:solidFill>
                <a:latin typeface="Arial" charset="0"/>
              </a:defRPr>
            </a:lvl5pPr>
            <a:lvl6pPr marL="2514600" indent="-228600" defTabSz="814388" eaLnBrk="0" fontAlgn="base" hangingPunct="0">
              <a:lnSpc>
                <a:spcPct val="90000"/>
              </a:lnSpc>
              <a:spcBef>
                <a:spcPct val="0"/>
              </a:spcBef>
              <a:spcAft>
                <a:spcPct val="0"/>
              </a:spcAft>
              <a:defRPr sz="3000" b="1">
                <a:solidFill>
                  <a:schemeClr val="tx1"/>
                </a:solidFill>
                <a:latin typeface="Arial" charset="0"/>
              </a:defRPr>
            </a:lvl6pPr>
            <a:lvl7pPr marL="2971800" indent="-228600" defTabSz="814388" eaLnBrk="0" fontAlgn="base" hangingPunct="0">
              <a:lnSpc>
                <a:spcPct val="90000"/>
              </a:lnSpc>
              <a:spcBef>
                <a:spcPct val="0"/>
              </a:spcBef>
              <a:spcAft>
                <a:spcPct val="0"/>
              </a:spcAft>
              <a:defRPr sz="3000" b="1">
                <a:solidFill>
                  <a:schemeClr val="tx1"/>
                </a:solidFill>
                <a:latin typeface="Arial" charset="0"/>
              </a:defRPr>
            </a:lvl7pPr>
            <a:lvl8pPr marL="3429000" indent="-228600" defTabSz="814388" eaLnBrk="0" fontAlgn="base" hangingPunct="0">
              <a:lnSpc>
                <a:spcPct val="90000"/>
              </a:lnSpc>
              <a:spcBef>
                <a:spcPct val="0"/>
              </a:spcBef>
              <a:spcAft>
                <a:spcPct val="0"/>
              </a:spcAft>
              <a:defRPr sz="3000" b="1">
                <a:solidFill>
                  <a:schemeClr val="tx1"/>
                </a:solidFill>
                <a:latin typeface="Arial" charset="0"/>
              </a:defRPr>
            </a:lvl8pPr>
            <a:lvl9pPr marL="3886200" indent="-228600" defTabSz="814388" eaLnBrk="0" fontAlgn="base" hangingPunct="0">
              <a:lnSpc>
                <a:spcPct val="90000"/>
              </a:lnSpc>
              <a:spcBef>
                <a:spcPct val="0"/>
              </a:spcBef>
              <a:spcAft>
                <a:spcPct val="0"/>
              </a:spcAft>
              <a:defRPr sz="3000" b="1">
                <a:solidFill>
                  <a:schemeClr val="tx1"/>
                </a:solidFill>
                <a:latin typeface="Arial" charset="0"/>
              </a:defRPr>
            </a:lvl9pPr>
          </a:lstStyle>
          <a:p>
            <a:pPr eaLnBrk="0" fontAlgn="base" hangingPunct="0">
              <a:lnSpc>
                <a:spcPct val="90000"/>
              </a:lnSpc>
              <a:spcBef>
                <a:spcPct val="0"/>
              </a:spcBef>
              <a:spcAft>
                <a:spcPct val="0"/>
              </a:spcAft>
              <a:defRPr/>
            </a:pPr>
            <a:r>
              <a:rPr lang="en-US" sz="1800">
                <a:solidFill>
                  <a:srgbClr val="0070C0"/>
                </a:solidFill>
                <a:latin typeface="Courier New" pitchFamily="49" charset="0"/>
              </a:rPr>
              <a:t>R1# </a:t>
            </a:r>
            <a:r>
              <a:rPr lang="en-US" sz="1800">
                <a:solidFill>
                  <a:srgbClr val="C00000"/>
                </a:solidFill>
                <a:latin typeface="Courier New" pitchFamily="49" charset="0"/>
              </a:rPr>
              <a:t>show flash</a:t>
            </a:r>
          </a:p>
          <a:p>
            <a:pPr eaLnBrk="0" fontAlgn="base" hangingPunct="0">
              <a:lnSpc>
                <a:spcPct val="90000"/>
              </a:lnSpc>
              <a:spcBef>
                <a:spcPct val="0"/>
              </a:spcBef>
              <a:spcAft>
                <a:spcPct val="0"/>
              </a:spcAft>
              <a:defRPr/>
            </a:pPr>
            <a:endParaRPr lang="en-US" sz="1800">
              <a:solidFill>
                <a:srgbClr val="0070C0"/>
              </a:solidFill>
              <a:latin typeface="Courier New" pitchFamily="49" charset="0"/>
            </a:endParaRPr>
          </a:p>
          <a:p>
            <a:pPr eaLnBrk="0" fontAlgn="base" hangingPunct="0">
              <a:lnSpc>
                <a:spcPct val="90000"/>
              </a:lnSpc>
              <a:spcBef>
                <a:spcPct val="0"/>
              </a:spcBef>
              <a:spcAft>
                <a:spcPct val="0"/>
              </a:spcAft>
              <a:defRPr/>
            </a:pPr>
            <a:r>
              <a:rPr lang="en-US" sz="1800">
                <a:solidFill>
                  <a:srgbClr val="0070C0"/>
                </a:solidFill>
                <a:latin typeface="Courier New" pitchFamily="49" charset="0"/>
              </a:rPr>
              <a:t>System flash directory:</a:t>
            </a:r>
          </a:p>
          <a:p>
            <a:pPr eaLnBrk="0" fontAlgn="base" hangingPunct="0">
              <a:lnSpc>
                <a:spcPct val="90000"/>
              </a:lnSpc>
              <a:spcBef>
                <a:spcPct val="0"/>
              </a:spcBef>
              <a:spcAft>
                <a:spcPct val="0"/>
              </a:spcAft>
              <a:defRPr/>
            </a:pPr>
            <a:r>
              <a:rPr lang="en-US" sz="1800">
                <a:solidFill>
                  <a:srgbClr val="0070C0"/>
                </a:solidFill>
                <a:latin typeface="Courier New" pitchFamily="49" charset="0"/>
              </a:rPr>
              <a:t>File  Length   Name/status</a:t>
            </a:r>
          </a:p>
          <a:p>
            <a:pPr eaLnBrk="0" fontAlgn="base" hangingPunct="0">
              <a:lnSpc>
                <a:spcPct val="90000"/>
              </a:lnSpc>
              <a:spcBef>
                <a:spcPct val="0"/>
              </a:spcBef>
              <a:spcAft>
                <a:spcPct val="0"/>
              </a:spcAft>
              <a:defRPr/>
            </a:pPr>
            <a:r>
              <a:rPr lang="en-US" sz="1800">
                <a:solidFill>
                  <a:srgbClr val="0070C0"/>
                </a:solidFill>
                <a:latin typeface="Courier New" pitchFamily="49" charset="0"/>
              </a:rPr>
              <a:t>  3   50938004 </a:t>
            </a:r>
            <a:r>
              <a:rPr lang="en-US" sz="1800">
                <a:solidFill>
                  <a:srgbClr val="C00000"/>
                </a:solidFill>
                <a:latin typeface="Courier New" pitchFamily="49" charset="0"/>
              </a:rPr>
              <a:t>c2800nm-advipservicesk9-mz.124-15.T1.bin</a:t>
            </a:r>
          </a:p>
          <a:p>
            <a:pPr eaLnBrk="0" fontAlgn="base" hangingPunct="0">
              <a:lnSpc>
                <a:spcPct val="90000"/>
              </a:lnSpc>
              <a:spcBef>
                <a:spcPct val="0"/>
              </a:spcBef>
              <a:spcAft>
                <a:spcPct val="0"/>
              </a:spcAft>
              <a:defRPr/>
            </a:pPr>
            <a:r>
              <a:rPr lang="en-US" sz="1800">
                <a:solidFill>
                  <a:srgbClr val="0070C0"/>
                </a:solidFill>
                <a:latin typeface="Courier New" pitchFamily="49" charset="0"/>
              </a:rPr>
              <a:t>  2   28282    sigdef-category.xml</a:t>
            </a:r>
          </a:p>
          <a:p>
            <a:pPr eaLnBrk="0" fontAlgn="base" hangingPunct="0">
              <a:lnSpc>
                <a:spcPct val="90000"/>
              </a:lnSpc>
              <a:spcBef>
                <a:spcPct val="0"/>
              </a:spcBef>
              <a:spcAft>
                <a:spcPct val="0"/>
              </a:spcAft>
              <a:defRPr/>
            </a:pPr>
            <a:r>
              <a:rPr lang="en-US" sz="1800">
                <a:solidFill>
                  <a:srgbClr val="0070C0"/>
                </a:solidFill>
                <a:latin typeface="Courier New" pitchFamily="49" charset="0"/>
              </a:rPr>
              <a:t>  1   227537   sigdef-default.xml</a:t>
            </a:r>
          </a:p>
          <a:p>
            <a:pPr eaLnBrk="0" fontAlgn="base" hangingPunct="0">
              <a:lnSpc>
                <a:spcPct val="90000"/>
              </a:lnSpc>
              <a:spcBef>
                <a:spcPct val="0"/>
              </a:spcBef>
              <a:spcAft>
                <a:spcPct val="0"/>
              </a:spcAft>
              <a:defRPr/>
            </a:pPr>
            <a:r>
              <a:rPr lang="en-US" sz="1800">
                <a:solidFill>
                  <a:srgbClr val="0070C0"/>
                </a:solidFill>
                <a:latin typeface="Courier New" pitchFamily="49" charset="0"/>
              </a:rPr>
              <a:t>[56765407 bytes used, 7250977 available, 64016384 total]</a:t>
            </a:r>
          </a:p>
          <a:p>
            <a:pPr eaLnBrk="0" fontAlgn="base" hangingPunct="0">
              <a:lnSpc>
                <a:spcPct val="90000"/>
              </a:lnSpc>
              <a:spcBef>
                <a:spcPct val="0"/>
              </a:spcBef>
              <a:spcAft>
                <a:spcPct val="0"/>
              </a:spcAft>
              <a:defRPr/>
            </a:pPr>
            <a:r>
              <a:rPr lang="en-US" sz="1800">
                <a:solidFill>
                  <a:srgbClr val="0070C0"/>
                </a:solidFill>
                <a:latin typeface="Courier New" pitchFamily="49" charset="0"/>
              </a:rPr>
              <a:t>63488K bytes of processor board System flash (Read/Write)</a:t>
            </a:r>
          </a:p>
          <a:p>
            <a:pPr eaLnBrk="0" fontAlgn="base" hangingPunct="0">
              <a:lnSpc>
                <a:spcPct val="90000"/>
              </a:lnSpc>
              <a:spcBef>
                <a:spcPct val="0"/>
              </a:spcBef>
              <a:spcAft>
                <a:spcPct val="0"/>
              </a:spcAft>
              <a:defRPr/>
            </a:pPr>
            <a:endParaRPr lang="en-US" sz="1800">
              <a:solidFill>
                <a:srgbClr val="0070C0"/>
              </a:solidFill>
              <a:latin typeface="Courier New" pitchFamily="49" charset="0"/>
            </a:endParaRPr>
          </a:p>
          <a:p>
            <a:pPr eaLnBrk="0" fontAlgn="base" hangingPunct="0">
              <a:lnSpc>
                <a:spcPct val="90000"/>
              </a:lnSpc>
              <a:spcBef>
                <a:spcPct val="0"/>
              </a:spcBef>
              <a:spcAft>
                <a:spcPct val="0"/>
              </a:spcAft>
              <a:defRPr/>
            </a:pPr>
            <a:r>
              <a:rPr lang="en-US" sz="1800">
                <a:solidFill>
                  <a:srgbClr val="0070C0"/>
                </a:solidFill>
                <a:latin typeface="Courier New" pitchFamily="49" charset="0"/>
              </a:rPr>
              <a:t>R1# </a:t>
            </a:r>
            <a:r>
              <a:rPr lang="en-US" sz="1800">
                <a:solidFill>
                  <a:srgbClr val="C00000"/>
                </a:solidFill>
                <a:latin typeface="Courier New" pitchFamily="49" charset="0"/>
              </a:rPr>
              <a:t>delete flash:c2800nm-advipservicesk9-mz.124-15.T1.bin</a:t>
            </a:r>
          </a:p>
        </p:txBody>
      </p:sp>
    </p:spTree>
    <p:extLst>
      <p:ext uri="{BB962C8B-B14F-4D97-AF65-F5344CB8AC3E}">
        <p14:creationId xmlns:p14="http://schemas.microsoft.com/office/powerpoint/2010/main" val="224157536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2211170" y="153125"/>
            <a:ext cx="8145462" cy="838200"/>
          </a:xfrm>
        </p:spPr>
        <p:txBody>
          <a:bodyPr>
            <a:normAutofit/>
          </a:bodyPr>
          <a:lstStyle/>
          <a:p>
            <a:r>
              <a:rPr lang="en-US" sz="3200" dirty="0" err="1">
                <a:latin typeface="Courier New" pitchFamily="49" charset="0"/>
                <a:ea typeface="Times" pitchFamily="18" charset="0"/>
                <a:cs typeface="Courier New" pitchFamily="49" charset="0"/>
              </a:rPr>
              <a:t>tftp</a:t>
            </a:r>
            <a:r>
              <a:rPr lang="en-US" sz="3200" dirty="0">
                <a:latin typeface="Courier New" pitchFamily="49" charset="0"/>
                <a:ea typeface="Times" pitchFamily="18" charset="0"/>
                <a:cs typeface="Courier New" pitchFamily="49" charset="0"/>
              </a:rPr>
              <a:t>-server </a:t>
            </a:r>
          </a:p>
        </p:txBody>
      </p:sp>
      <p:cxnSp>
        <p:nvCxnSpPr>
          <p:cNvPr id="4" name="Straight Connector 3"/>
          <p:cNvCxnSpPr>
            <a:stCxn id="6" idx="1"/>
            <a:endCxn id="5" idx="3"/>
          </p:cNvCxnSpPr>
          <p:nvPr/>
        </p:nvCxnSpPr>
        <p:spPr>
          <a:xfrm flipH="1">
            <a:off x="3332888" y="2760663"/>
            <a:ext cx="5602424" cy="0"/>
          </a:xfrm>
          <a:prstGeom prst="line">
            <a:avLst/>
          </a:prstGeom>
          <a:noFill/>
          <a:ln w="28575" cap="flat" cmpd="sng" algn="ctr">
            <a:solidFill>
              <a:srgbClr val="4F81BD">
                <a:shade val="95000"/>
                <a:satMod val="105000"/>
              </a:srgbClr>
            </a:solidFill>
            <a:prstDash val="solid"/>
          </a:ln>
          <a:effectLst/>
        </p:spPr>
      </p:cxn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3288" y="2547631"/>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29" descr="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5313" y="2286001"/>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656672" y="2461735"/>
            <a:ext cx="1158943" cy="54168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600" b="1">
                <a:solidFill>
                  <a:srgbClr val="FFFF00"/>
                </a:solidFill>
                <a:effectLst>
                  <a:glow rad="228600">
                    <a:srgbClr val="B21A1A">
                      <a:satMod val="175000"/>
                      <a:alpha val="40000"/>
                    </a:srgbClr>
                  </a:glow>
                </a:effectLst>
                <a:latin typeface="Courier New" pitchFamily="49" charset="0"/>
                <a:cs typeface="Courier New" pitchFamily="49" charset="0"/>
              </a:rPr>
              <a:t>tftp server</a:t>
            </a:r>
          </a:p>
        </p:txBody>
      </p:sp>
      <p:sp>
        <p:nvSpPr>
          <p:cNvPr id="2" name="TextBox 1"/>
          <p:cNvSpPr txBox="1"/>
          <p:nvPr/>
        </p:nvSpPr>
        <p:spPr>
          <a:xfrm>
            <a:off x="7612063" y="2461734"/>
            <a:ext cx="1371600" cy="369332"/>
          </a:xfrm>
          <a:prstGeom prst="rect">
            <a:avLst/>
          </a:prstGeom>
          <a:noFill/>
        </p:spPr>
        <p:txBody>
          <a:bodyPr wrap="square" rtlCol="0">
            <a:spAutoFit/>
          </a:bodyPr>
          <a:lstStyle/>
          <a:p>
            <a:pPr algn="ctr"/>
            <a:r>
              <a:rPr lang="en-US" b="1">
                <a:solidFill>
                  <a:prstClr val="black"/>
                </a:solidFill>
                <a:latin typeface="Courier New" pitchFamily="49" charset="0"/>
                <a:cs typeface="Courier New" pitchFamily="49" charset="0"/>
              </a:rPr>
              <a:t>10.0.0.2</a:t>
            </a:r>
          </a:p>
        </p:txBody>
      </p:sp>
      <p:sp>
        <p:nvSpPr>
          <p:cNvPr id="13" name="TextBox 12"/>
          <p:cNvSpPr txBox="1"/>
          <p:nvPr/>
        </p:nvSpPr>
        <p:spPr>
          <a:xfrm>
            <a:off x="3200400" y="2461734"/>
            <a:ext cx="1371600" cy="369332"/>
          </a:xfrm>
          <a:prstGeom prst="rect">
            <a:avLst/>
          </a:prstGeom>
          <a:noFill/>
        </p:spPr>
        <p:txBody>
          <a:bodyPr wrap="square" rtlCol="0">
            <a:spAutoFit/>
          </a:bodyPr>
          <a:lstStyle/>
          <a:p>
            <a:pPr algn="ctr"/>
            <a:r>
              <a:rPr lang="en-US" b="1">
                <a:solidFill>
                  <a:prstClr val="black"/>
                </a:solidFill>
                <a:latin typeface="Courier New" pitchFamily="49" charset="0"/>
                <a:cs typeface="Courier New" pitchFamily="49" charset="0"/>
              </a:rPr>
              <a:t>10.0.0.1</a:t>
            </a:r>
          </a:p>
        </p:txBody>
      </p:sp>
      <p:sp>
        <p:nvSpPr>
          <p:cNvPr id="14" name="TextBox 13"/>
          <p:cNvSpPr txBox="1"/>
          <p:nvPr/>
        </p:nvSpPr>
        <p:spPr>
          <a:xfrm>
            <a:off x="2743201" y="2573544"/>
            <a:ext cx="579471" cy="34855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b="1">
                <a:solidFill>
                  <a:srgbClr val="FFFF00"/>
                </a:solidFill>
                <a:effectLst>
                  <a:glow rad="228600">
                    <a:srgbClr val="B21A1A">
                      <a:satMod val="175000"/>
                      <a:alpha val="40000"/>
                    </a:srgbClr>
                  </a:glow>
                </a:effectLst>
                <a:latin typeface="Courier New" pitchFamily="49" charset="0"/>
                <a:cs typeface="Courier New" pitchFamily="49" charset="0"/>
              </a:rPr>
              <a:t>R1</a:t>
            </a:r>
          </a:p>
        </p:txBody>
      </p:sp>
      <p:sp>
        <p:nvSpPr>
          <p:cNvPr id="15" name="Rectangle 14"/>
          <p:cNvSpPr/>
          <p:nvPr/>
        </p:nvSpPr>
        <p:spPr>
          <a:xfrm>
            <a:off x="1981201" y="3722597"/>
            <a:ext cx="531612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R1# </a:t>
            </a:r>
            <a:r>
              <a:rPr lang="en-US" b="1">
                <a:solidFill>
                  <a:srgbClr val="FF0000"/>
                </a:solidFill>
                <a:latin typeface="Courier New" pitchFamily="49" charset="0"/>
              </a:rPr>
              <a:t>copy flash: tftp: </a:t>
            </a:r>
          </a:p>
        </p:txBody>
      </p:sp>
      <p:sp>
        <p:nvSpPr>
          <p:cNvPr id="16" name="Rectangle 15"/>
          <p:cNvSpPr/>
          <p:nvPr/>
        </p:nvSpPr>
        <p:spPr>
          <a:xfrm>
            <a:off x="1981201" y="4055341"/>
            <a:ext cx="287772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Source filename []? </a:t>
            </a:r>
          </a:p>
        </p:txBody>
      </p:sp>
      <p:sp>
        <p:nvSpPr>
          <p:cNvPr id="17" name="Rectangle 16"/>
          <p:cNvSpPr/>
          <p:nvPr/>
        </p:nvSpPr>
        <p:spPr>
          <a:xfrm>
            <a:off x="4706530" y="4055340"/>
            <a:ext cx="4202975"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FF0000"/>
                </a:solidFill>
                <a:latin typeface="Courier New" pitchFamily="49" charset="0"/>
              </a:rPr>
              <a:t>c2800nm-ipbase-mz.124-5a.bin</a:t>
            </a:r>
          </a:p>
        </p:txBody>
      </p:sp>
      <p:sp>
        <p:nvSpPr>
          <p:cNvPr id="18" name="Rectangle 17"/>
          <p:cNvSpPr/>
          <p:nvPr/>
        </p:nvSpPr>
        <p:spPr>
          <a:xfrm>
            <a:off x="1981201" y="4403898"/>
            <a:ext cx="5003392"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Address or name of remote host []?</a:t>
            </a:r>
          </a:p>
        </p:txBody>
      </p:sp>
      <p:sp>
        <p:nvSpPr>
          <p:cNvPr id="19" name="Rectangle 18"/>
          <p:cNvSpPr/>
          <p:nvPr/>
        </p:nvSpPr>
        <p:spPr>
          <a:xfrm>
            <a:off x="6763929" y="4403898"/>
            <a:ext cx="1667464"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FF0000"/>
                </a:solidFill>
                <a:latin typeface="Courier New" pitchFamily="49" charset="0"/>
              </a:rPr>
              <a:t>10.0.0.2</a:t>
            </a:r>
          </a:p>
        </p:txBody>
      </p:sp>
      <p:sp>
        <p:nvSpPr>
          <p:cNvPr id="20" name="Rectangle 19"/>
          <p:cNvSpPr/>
          <p:nvPr/>
        </p:nvSpPr>
        <p:spPr>
          <a:xfrm>
            <a:off x="1981201" y="5098939"/>
            <a:ext cx="838199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a:t>
            </a:r>
          </a:p>
        </p:txBody>
      </p:sp>
      <p:sp>
        <p:nvSpPr>
          <p:cNvPr id="21" name="Rectangle 20"/>
          <p:cNvSpPr/>
          <p:nvPr/>
        </p:nvSpPr>
        <p:spPr>
          <a:xfrm>
            <a:off x="1974633" y="5451293"/>
            <a:ext cx="8381999" cy="597856"/>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12094416 bytes copied in 98.858 secs (122341 bytes/sec)</a:t>
            </a:r>
          </a:p>
          <a:p>
            <a:pPr eaLnBrk="0" fontAlgn="base" hangingPunct="0">
              <a:lnSpc>
                <a:spcPct val="90000"/>
              </a:lnSpc>
              <a:spcBef>
                <a:spcPct val="0"/>
              </a:spcBef>
              <a:spcAft>
                <a:spcPct val="0"/>
              </a:spcAft>
            </a:pPr>
            <a:endParaRPr lang="en-US" b="1">
              <a:solidFill>
                <a:srgbClr val="000000"/>
              </a:solidFill>
              <a:latin typeface="Courier New" pitchFamily="49" charset="0"/>
            </a:endParaRPr>
          </a:p>
        </p:txBody>
      </p:sp>
      <p:sp>
        <p:nvSpPr>
          <p:cNvPr id="22" name="Rectangle 21"/>
          <p:cNvSpPr/>
          <p:nvPr/>
        </p:nvSpPr>
        <p:spPr>
          <a:xfrm>
            <a:off x="1981201" y="6400802"/>
            <a:ext cx="714000"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R1#</a:t>
            </a:r>
            <a:endParaRPr lang="en-US" b="1">
              <a:solidFill>
                <a:srgbClr val="FF0000"/>
              </a:solidFill>
              <a:latin typeface="Courier New" pitchFamily="49" charset="0"/>
            </a:endParaRPr>
          </a:p>
        </p:txBody>
      </p:sp>
      <p:sp>
        <p:nvSpPr>
          <p:cNvPr id="28" name="Rectangle 27"/>
          <p:cNvSpPr/>
          <p:nvPr/>
        </p:nvSpPr>
        <p:spPr>
          <a:xfrm>
            <a:off x="1981201" y="4752455"/>
            <a:ext cx="838199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000000"/>
                </a:solidFill>
                <a:latin typeface="Courier New" pitchFamily="49" charset="0"/>
              </a:rPr>
              <a:t>Destination filename [c2800nm-ipbase-mz.124-5a.bin] [enter]</a:t>
            </a:r>
          </a:p>
        </p:txBody>
      </p:sp>
      <p:cxnSp>
        <p:nvCxnSpPr>
          <p:cNvPr id="29" name="Straight Connector 28"/>
          <p:cNvCxnSpPr/>
          <p:nvPr/>
        </p:nvCxnSpPr>
        <p:spPr>
          <a:xfrm flipH="1">
            <a:off x="4800600" y="2667000"/>
            <a:ext cx="2738732" cy="0"/>
          </a:xfrm>
          <a:prstGeom prst="line">
            <a:avLst/>
          </a:prstGeom>
          <a:noFill/>
          <a:ln w="28575" cap="flat" cmpd="sng" algn="ctr">
            <a:solidFill>
              <a:srgbClr val="FFFF00"/>
            </a:solidFill>
            <a:prstDash val="solid"/>
            <a:headEnd type="arrow" w="med" len="med"/>
            <a:tailEnd type="none" w="med" len="med"/>
          </a:ln>
          <a:effectLst>
            <a:glow rad="228600">
              <a:schemeClr val="accent2">
                <a:satMod val="175000"/>
                <a:alpha val="40000"/>
              </a:schemeClr>
            </a:glow>
          </a:effectLst>
        </p:spPr>
      </p:cxnSp>
      <p:sp>
        <p:nvSpPr>
          <p:cNvPr id="23" name="Rectangle 22"/>
          <p:cNvSpPr/>
          <p:nvPr/>
        </p:nvSpPr>
        <p:spPr>
          <a:xfrm>
            <a:off x="2514601" y="6400801"/>
            <a:ext cx="5316129" cy="348557"/>
          </a:xfrm>
          <a:prstGeom prst="rect">
            <a:avLst/>
          </a:prstGeom>
        </p:spPr>
        <p:txBody>
          <a:bodyPr wrap="square">
            <a:spAutoFit/>
          </a:bodyPr>
          <a:lstStyle/>
          <a:p>
            <a:pPr eaLnBrk="0" fontAlgn="base" hangingPunct="0">
              <a:lnSpc>
                <a:spcPct val="90000"/>
              </a:lnSpc>
              <a:spcBef>
                <a:spcPct val="0"/>
              </a:spcBef>
              <a:spcAft>
                <a:spcPct val="0"/>
              </a:spcAft>
            </a:pPr>
            <a:r>
              <a:rPr lang="en-US" b="1">
                <a:solidFill>
                  <a:srgbClr val="FF0000"/>
                </a:solidFill>
                <a:latin typeface="Courier New" pitchFamily="49" charset="0"/>
              </a:rPr>
              <a:t>copy tftp: flash:</a:t>
            </a:r>
          </a:p>
        </p:txBody>
      </p:sp>
      <p:sp>
        <p:nvSpPr>
          <p:cNvPr id="8" name="Rectangle 7">
            <a:extLst>
              <a:ext uri="{FF2B5EF4-FFF2-40B4-BE49-F238E27FC236}">
                <a16:creationId xmlns:a16="http://schemas.microsoft.com/office/drawing/2014/main" id="{60871C53-BB63-4719-BD97-9F27FF5C631A}"/>
              </a:ext>
            </a:extLst>
          </p:cNvPr>
          <p:cNvSpPr/>
          <p:nvPr/>
        </p:nvSpPr>
        <p:spPr>
          <a:xfrm>
            <a:off x="1966777" y="5858720"/>
            <a:ext cx="8571184" cy="348557"/>
          </a:xfrm>
          <a:prstGeom prst="rect">
            <a:avLst/>
          </a:prstGeom>
        </p:spPr>
        <p:txBody>
          <a:bodyPr wrap="square">
            <a:spAutoFit/>
          </a:bodyPr>
          <a:lstStyle/>
          <a:p>
            <a:pPr eaLnBrk="0" fontAlgn="base" hangingPunct="0">
              <a:lnSpc>
                <a:spcPct val="90000"/>
              </a:lnSpc>
              <a:spcBef>
                <a:spcPct val="0"/>
              </a:spcBef>
              <a:spcAft>
                <a:spcPct val="0"/>
              </a:spcAft>
              <a:defRPr/>
            </a:pPr>
            <a:r>
              <a:rPr lang="en-US" b="1">
                <a:solidFill>
                  <a:srgbClr val="0070C0"/>
                </a:solidFill>
                <a:latin typeface="Courier New" pitchFamily="49" charset="0"/>
              </a:rPr>
              <a:t>R1# </a:t>
            </a:r>
            <a:r>
              <a:rPr lang="en-US" b="1">
                <a:solidFill>
                  <a:srgbClr val="C00000"/>
                </a:solidFill>
                <a:latin typeface="Courier New" pitchFamily="49" charset="0"/>
              </a:rPr>
              <a:t>delete flash:c2800nm-advipservicesk9-mz.124-15.T1.bin</a:t>
            </a:r>
          </a:p>
        </p:txBody>
      </p:sp>
    </p:spTree>
    <p:extLst>
      <p:ext uri="{BB962C8B-B14F-4D97-AF65-F5344CB8AC3E}">
        <p14:creationId xmlns:p14="http://schemas.microsoft.com/office/powerpoint/2010/main" val="8417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wipe(left)">
                                      <p:cBhvr>
                                        <p:cTn id="36" dur="500"/>
                                        <p:tgtEl>
                                          <p:spTgt spid="28"/>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barn(inVertical)">
                                      <p:cBhvr>
                                        <p:cTn id="49" dur="500"/>
                                        <p:tgtEl>
                                          <p:spTgt spid="8"/>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left)">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p:bldP spid="22" grpId="0"/>
      <p:bldP spid="28" grpId="0"/>
      <p:bldP spid="23" grpId="0"/>
      <p:bldP spid="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2170113" y="152400"/>
            <a:ext cx="8145462" cy="838200"/>
          </a:xfrm>
        </p:spPr>
        <p:txBody>
          <a:bodyPr>
            <a:normAutofit/>
          </a:bodyPr>
          <a:lstStyle/>
          <a:p>
            <a:r>
              <a:rPr lang="en-US" sz="3200" dirty="0" err="1">
                <a:latin typeface="Courier New" pitchFamily="49" charset="0"/>
                <a:ea typeface="Times" pitchFamily="18" charset="0"/>
                <a:cs typeface="Courier New" pitchFamily="49" charset="0"/>
              </a:rPr>
              <a:t>tftp</a:t>
            </a:r>
            <a:r>
              <a:rPr lang="en-US" sz="3200" dirty="0">
                <a:latin typeface="Courier New" pitchFamily="49" charset="0"/>
                <a:ea typeface="Times" pitchFamily="18" charset="0"/>
                <a:cs typeface="Courier New" pitchFamily="49" charset="0"/>
              </a:rPr>
              <a:t>-server </a:t>
            </a:r>
          </a:p>
        </p:txBody>
      </p:sp>
      <p:cxnSp>
        <p:nvCxnSpPr>
          <p:cNvPr id="4" name="Straight Connector 3"/>
          <p:cNvCxnSpPr>
            <a:stCxn id="6" idx="1"/>
            <a:endCxn id="5" idx="3"/>
          </p:cNvCxnSpPr>
          <p:nvPr/>
        </p:nvCxnSpPr>
        <p:spPr>
          <a:xfrm flipH="1">
            <a:off x="3332888" y="2760663"/>
            <a:ext cx="5602424" cy="0"/>
          </a:xfrm>
          <a:prstGeom prst="line">
            <a:avLst/>
          </a:prstGeom>
          <a:noFill/>
          <a:ln w="28575" cap="flat" cmpd="sng" algn="ctr">
            <a:solidFill>
              <a:srgbClr val="4F81BD">
                <a:shade val="95000"/>
                <a:satMod val="105000"/>
              </a:srgbClr>
            </a:solidFill>
            <a:prstDash val="solid"/>
          </a:ln>
          <a:effectLst/>
        </p:spPr>
      </p:cxn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3288" y="2547631"/>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29" descr="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5313" y="2286001"/>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656672" y="2461735"/>
            <a:ext cx="1158943" cy="54168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600" b="1">
                <a:solidFill>
                  <a:srgbClr val="FFFF00"/>
                </a:solidFill>
                <a:effectLst>
                  <a:glow rad="228600">
                    <a:srgbClr val="B21A1A">
                      <a:satMod val="175000"/>
                      <a:alpha val="40000"/>
                    </a:srgbClr>
                  </a:glow>
                </a:effectLst>
                <a:latin typeface="Courier New" pitchFamily="49" charset="0"/>
                <a:cs typeface="Courier New" pitchFamily="49" charset="0"/>
              </a:rPr>
              <a:t>tftp server</a:t>
            </a:r>
          </a:p>
        </p:txBody>
      </p:sp>
      <p:sp>
        <p:nvSpPr>
          <p:cNvPr id="2" name="TextBox 1"/>
          <p:cNvSpPr txBox="1"/>
          <p:nvPr/>
        </p:nvSpPr>
        <p:spPr>
          <a:xfrm>
            <a:off x="7612063" y="2461734"/>
            <a:ext cx="1371600" cy="369332"/>
          </a:xfrm>
          <a:prstGeom prst="rect">
            <a:avLst/>
          </a:prstGeom>
          <a:noFill/>
        </p:spPr>
        <p:txBody>
          <a:bodyPr wrap="square" rtlCol="0">
            <a:spAutoFit/>
          </a:bodyPr>
          <a:lstStyle/>
          <a:p>
            <a:pPr algn="ctr"/>
            <a:r>
              <a:rPr lang="en-US" b="1">
                <a:solidFill>
                  <a:prstClr val="black"/>
                </a:solidFill>
                <a:latin typeface="Courier New" pitchFamily="49" charset="0"/>
                <a:cs typeface="Courier New" pitchFamily="49" charset="0"/>
              </a:rPr>
              <a:t>10.0.0.2</a:t>
            </a:r>
          </a:p>
        </p:txBody>
      </p:sp>
      <p:sp>
        <p:nvSpPr>
          <p:cNvPr id="13" name="TextBox 12"/>
          <p:cNvSpPr txBox="1"/>
          <p:nvPr/>
        </p:nvSpPr>
        <p:spPr>
          <a:xfrm>
            <a:off x="3200400" y="2461734"/>
            <a:ext cx="1371600" cy="369332"/>
          </a:xfrm>
          <a:prstGeom prst="rect">
            <a:avLst/>
          </a:prstGeom>
          <a:noFill/>
        </p:spPr>
        <p:txBody>
          <a:bodyPr wrap="square" rtlCol="0">
            <a:spAutoFit/>
          </a:bodyPr>
          <a:lstStyle/>
          <a:p>
            <a:pPr algn="ctr"/>
            <a:r>
              <a:rPr lang="en-US" b="1">
                <a:solidFill>
                  <a:prstClr val="black"/>
                </a:solidFill>
                <a:latin typeface="Courier New" pitchFamily="49" charset="0"/>
                <a:cs typeface="Courier New" pitchFamily="49" charset="0"/>
              </a:rPr>
              <a:t>10.0.0.1</a:t>
            </a:r>
          </a:p>
        </p:txBody>
      </p:sp>
      <p:sp>
        <p:nvSpPr>
          <p:cNvPr id="14" name="TextBox 13"/>
          <p:cNvSpPr txBox="1"/>
          <p:nvPr/>
        </p:nvSpPr>
        <p:spPr>
          <a:xfrm>
            <a:off x="2743201" y="2573544"/>
            <a:ext cx="579471" cy="34855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b="1">
                <a:solidFill>
                  <a:srgbClr val="FFFF00"/>
                </a:solidFill>
                <a:effectLst>
                  <a:glow rad="228600">
                    <a:srgbClr val="B21A1A">
                      <a:satMod val="175000"/>
                      <a:alpha val="40000"/>
                    </a:srgbClr>
                  </a:glow>
                </a:effectLst>
                <a:latin typeface="Courier New" pitchFamily="49" charset="0"/>
                <a:cs typeface="Courier New" pitchFamily="49" charset="0"/>
              </a:rPr>
              <a:t>R1</a:t>
            </a:r>
          </a:p>
        </p:txBody>
      </p:sp>
      <p:sp>
        <p:nvSpPr>
          <p:cNvPr id="30" name="Text Box 10"/>
          <p:cNvSpPr txBox="1">
            <a:spLocks noChangeArrowheads="1"/>
          </p:cNvSpPr>
          <p:nvPr/>
        </p:nvSpPr>
        <p:spPr bwMode="auto">
          <a:xfrm>
            <a:off x="1644651" y="3353888"/>
            <a:ext cx="8901113" cy="2825213"/>
          </a:xfrm>
          <a:prstGeom prst="rect">
            <a:avLst/>
          </a:prstGeom>
          <a:solidFill>
            <a:schemeClr val="accent6">
              <a:lumMod val="20000"/>
              <a:lumOff val="80000"/>
            </a:schemeClr>
          </a:solidFill>
          <a:ln w="28575" algn="ctr">
            <a:solidFill>
              <a:schemeClr val="accent1"/>
            </a:solidFill>
            <a:miter lim="800000"/>
            <a:headEnd/>
            <a:tailEnd/>
          </a:ln>
          <a:effectLst/>
        </p:spPr>
        <p:txBody>
          <a:bodyPr lIns="82124" tIns="41061" rIns="82124" bIns="41061">
            <a:spAutoFit/>
          </a:bodyPr>
          <a:lstStyle>
            <a:lvl1pPr defTabSz="814388">
              <a:defRPr sz="3000" b="1">
                <a:solidFill>
                  <a:schemeClr val="tx1"/>
                </a:solidFill>
                <a:latin typeface="Arial" charset="0"/>
              </a:defRPr>
            </a:lvl1pPr>
            <a:lvl2pPr marL="742950" indent="-285750" defTabSz="814388">
              <a:defRPr sz="3000" b="1">
                <a:solidFill>
                  <a:schemeClr val="tx1"/>
                </a:solidFill>
                <a:latin typeface="Arial" charset="0"/>
              </a:defRPr>
            </a:lvl2pPr>
            <a:lvl3pPr marL="1143000" indent="-228600" defTabSz="814388">
              <a:defRPr sz="3000" b="1">
                <a:solidFill>
                  <a:schemeClr val="tx1"/>
                </a:solidFill>
                <a:latin typeface="Arial" charset="0"/>
              </a:defRPr>
            </a:lvl3pPr>
            <a:lvl4pPr marL="1600200" indent="-228600" defTabSz="814388">
              <a:defRPr sz="3000" b="1">
                <a:solidFill>
                  <a:schemeClr val="tx1"/>
                </a:solidFill>
                <a:latin typeface="Arial" charset="0"/>
              </a:defRPr>
            </a:lvl4pPr>
            <a:lvl5pPr marL="2057400" indent="-228600" defTabSz="814388">
              <a:defRPr sz="3000" b="1">
                <a:solidFill>
                  <a:schemeClr val="tx1"/>
                </a:solidFill>
                <a:latin typeface="Arial" charset="0"/>
              </a:defRPr>
            </a:lvl5pPr>
            <a:lvl6pPr marL="2514600" indent="-228600" defTabSz="814388" eaLnBrk="0" fontAlgn="base" hangingPunct="0">
              <a:lnSpc>
                <a:spcPct val="90000"/>
              </a:lnSpc>
              <a:spcBef>
                <a:spcPct val="0"/>
              </a:spcBef>
              <a:spcAft>
                <a:spcPct val="0"/>
              </a:spcAft>
              <a:defRPr sz="3000" b="1">
                <a:solidFill>
                  <a:schemeClr val="tx1"/>
                </a:solidFill>
                <a:latin typeface="Arial" charset="0"/>
              </a:defRPr>
            </a:lvl6pPr>
            <a:lvl7pPr marL="2971800" indent="-228600" defTabSz="814388" eaLnBrk="0" fontAlgn="base" hangingPunct="0">
              <a:lnSpc>
                <a:spcPct val="90000"/>
              </a:lnSpc>
              <a:spcBef>
                <a:spcPct val="0"/>
              </a:spcBef>
              <a:spcAft>
                <a:spcPct val="0"/>
              </a:spcAft>
              <a:defRPr sz="3000" b="1">
                <a:solidFill>
                  <a:schemeClr val="tx1"/>
                </a:solidFill>
                <a:latin typeface="Arial" charset="0"/>
              </a:defRPr>
            </a:lvl7pPr>
            <a:lvl8pPr marL="3429000" indent="-228600" defTabSz="814388" eaLnBrk="0" fontAlgn="base" hangingPunct="0">
              <a:lnSpc>
                <a:spcPct val="90000"/>
              </a:lnSpc>
              <a:spcBef>
                <a:spcPct val="0"/>
              </a:spcBef>
              <a:spcAft>
                <a:spcPct val="0"/>
              </a:spcAft>
              <a:defRPr sz="3000" b="1">
                <a:solidFill>
                  <a:schemeClr val="tx1"/>
                </a:solidFill>
                <a:latin typeface="Arial" charset="0"/>
              </a:defRPr>
            </a:lvl8pPr>
            <a:lvl9pPr marL="3886200" indent="-228600" defTabSz="814388" eaLnBrk="0" fontAlgn="base" hangingPunct="0">
              <a:lnSpc>
                <a:spcPct val="90000"/>
              </a:lnSpc>
              <a:spcBef>
                <a:spcPct val="0"/>
              </a:spcBef>
              <a:spcAft>
                <a:spcPct val="0"/>
              </a:spcAft>
              <a:defRPr sz="3000" b="1">
                <a:solidFill>
                  <a:schemeClr val="tx1"/>
                </a:solidFill>
                <a:latin typeface="Arial" charset="0"/>
              </a:defRPr>
            </a:lvl9pPr>
          </a:lstStyle>
          <a:p>
            <a:pPr eaLnBrk="0" fontAlgn="base" hangingPunct="0">
              <a:lnSpc>
                <a:spcPct val="90000"/>
              </a:lnSpc>
              <a:spcBef>
                <a:spcPct val="0"/>
              </a:spcBef>
              <a:spcAft>
                <a:spcPct val="0"/>
              </a:spcAft>
              <a:defRPr/>
            </a:pPr>
            <a:r>
              <a:rPr lang="en-US" sz="1800">
                <a:solidFill>
                  <a:srgbClr val="0070C0"/>
                </a:solidFill>
                <a:latin typeface="Courier New" pitchFamily="49" charset="0"/>
              </a:rPr>
              <a:t>R1# </a:t>
            </a:r>
            <a:r>
              <a:rPr lang="en-US" sz="1800">
                <a:solidFill>
                  <a:srgbClr val="C00000"/>
                </a:solidFill>
                <a:latin typeface="Courier New" pitchFamily="49" charset="0"/>
              </a:rPr>
              <a:t>show flash</a:t>
            </a:r>
          </a:p>
          <a:p>
            <a:pPr eaLnBrk="0" fontAlgn="base" hangingPunct="0">
              <a:lnSpc>
                <a:spcPct val="90000"/>
              </a:lnSpc>
              <a:spcBef>
                <a:spcPct val="0"/>
              </a:spcBef>
              <a:spcAft>
                <a:spcPct val="0"/>
              </a:spcAft>
              <a:defRPr/>
            </a:pPr>
            <a:endParaRPr lang="en-US" sz="1800">
              <a:solidFill>
                <a:srgbClr val="0070C0"/>
              </a:solidFill>
              <a:latin typeface="Courier New" pitchFamily="49" charset="0"/>
            </a:endParaRPr>
          </a:p>
          <a:p>
            <a:pPr eaLnBrk="0" fontAlgn="base" hangingPunct="0">
              <a:lnSpc>
                <a:spcPct val="90000"/>
              </a:lnSpc>
              <a:spcBef>
                <a:spcPct val="0"/>
              </a:spcBef>
              <a:spcAft>
                <a:spcPct val="0"/>
              </a:spcAft>
              <a:defRPr/>
            </a:pPr>
            <a:r>
              <a:rPr lang="en-US" sz="1800">
                <a:solidFill>
                  <a:srgbClr val="0070C0"/>
                </a:solidFill>
                <a:latin typeface="Courier New" pitchFamily="49" charset="0"/>
              </a:rPr>
              <a:t>System flash directory:</a:t>
            </a:r>
          </a:p>
          <a:p>
            <a:pPr eaLnBrk="0" fontAlgn="base" hangingPunct="0">
              <a:lnSpc>
                <a:spcPct val="90000"/>
              </a:lnSpc>
              <a:spcBef>
                <a:spcPct val="0"/>
              </a:spcBef>
              <a:spcAft>
                <a:spcPct val="0"/>
              </a:spcAft>
              <a:defRPr/>
            </a:pPr>
            <a:r>
              <a:rPr lang="en-US" sz="1800">
                <a:solidFill>
                  <a:srgbClr val="0070C0"/>
                </a:solidFill>
                <a:latin typeface="Courier New" pitchFamily="49" charset="0"/>
              </a:rPr>
              <a:t>File  Length   Name/status</a:t>
            </a:r>
          </a:p>
          <a:p>
            <a:pPr eaLnBrk="0" fontAlgn="base" hangingPunct="0">
              <a:lnSpc>
                <a:spcPct val="90000"/>
              </a:lnSpc>
              <a:spcBef>
                <a:spcPct val="0"/>
              </a:spcBef>
              <a:spcAft>
                <a:spcPct val="0"/>
              </a:spcAft>
              <a:defRPr/>
            </a:pPr>
            <a:r>
              <a:rPr lang="en-US" sz="1800">
                <a:solidFill>
                  <a:srgbClr val="0070C0"/>
                </a:solidFill>
                <a:latin typeface="Courier New" pitchFamily="49" charset="0"/>
              </a:rPr>
              <a:t>  3   50938004 </a:t>
            </a:r>
            <a:r>
              <a:rPr lang="en-US" sz="1800">
                <a:solidFill>
                  <a:srgbClr val="C00000"/>
                </a:solidFill>
                <a:latin typeface="Courier New" pitchFamily="49" charset="0"/>
              </a:rPr>
              <a:t>c2800nm-advipservicesk9-mz.124-15.T1.bin</a:t>
            </a:r>
          </a:p>
          <a:p>
            <a:pPr eaLnBrk="0" fontAlgn="base" hangingPunct="0">
              <a:lnSpc>
                <a:spcPct val="90000"/>
              </a:lnSpc>
              <a:spcBef>
                <a:spcPct val="0"/>
              </a:spcBef>
              <a:spcAft>
                <a:spcPct val="0"/>
              </a:spcAft>
              <a:defRPr/>
            </a:pPr>
            <a:r>
              <a:rPr lang="en-US" sz="1800">
                <a:solidFill>
                  <a:srgbClr val="0070C0"/>
                </a:solidFill>
                <a:latin typeface="Courier New" pitchFamily="49" charset="0"/>
              </a:rPr>
              <a:t>  2   28282    sigdef-category.xml</a:t>
            </a:r>
          </a:p>
          <a:p>
            <a:pPr eaLnBrk="0" fontAlgn="base" hangingPunct="0">
              <a:lnSpc>
                <a:spcPct val="90000"/>
              </a:lnSpc>
              <a:spcBef>
                <a:spcPct val="0"/>
              </a:spcBef>
              <a:spcAft>
                <a:spcPct val="0"/>
              </a:spcAft>
              <a:defRPr/>
            </a:pPr>
            <a:r>
              <a:rPr lang="en-US" sz="1800">
                <a:solidFill>
                  <a:srgbClr val="0070C0"/>
                </a:solidFill>
                <a:latin typeface="Courier New" pitchFamily="49" charset="0"/>
              </a:rPr>
              <a:t>  1   227537   sigdef-default.xml</a:t>
            </a:r>
          </a:p>
          <a:p>
            <a:pPr eaLnBrk="0" fontAlgn="base" hangingPunct="0">
              <a:lnSpc>
                <a:spcPct val="90000"/>
              </a:lnSpc>
              <a:spcBef>
                <a:spcPct val="0"/>
              </a:spcBef>
              <a:spcAft>
                <a:spcPct val="0"/>
              </a:spcAft>
              <a:defRPr/>
            </a:pPr>
            <a:r>
              <a:rPr lang="en-US" sz="1800">
                <a:solidFill>
                  <a:srgbClr val="0070C0"/>
                </a:solidFill>
                <a:latin typeface="Courier New" pitchFamily="49" charset="0"/>
              </a:rPr>
              <a:t>[56765407 bytes used, 7250977 available, 64016384 total]</a:t>
            </a:r>
          </a:p>
          <a:p>
            <a:pPr eaLnBrk="0" fontAlgn="base" hangingPunct="0">
              <a:lnSpc>
                <a:spcPct val="90000"/>
              </a:lnSpc>
              <a:spcBef>
                <a:spcPct val="0"/>
              </a:spcBef>
              <a:spcAft>
                <a:spcPct val="0"/>
              </a:spcAft>
              <a:defRPr/>
            </a:pPr>
            <a:r>
              <a:rPr lang="en-US" sz="1800">
                <a:solidFill>
                  <a:srgbClr val="0070C0"/>
                </a:solidFill>
                <a:latin typeface="Courier New" pitchFamily="49" charset="0"/>
              </a:rPr>
              <a:t>63488K bytes of processor board System flash (Read/Write)</a:t>
            </a:r>
          </a:p>
          <a:p>
            <a:pPr eaLnBrk="0" fontAlgn="base" hangingPunct="0">
              <a:lnSpc>
                <a:spcPct val="90000"/>
              </a:lnSpc>
              <a:spcBef>
                <a:spcPct val="0"/>
              </a:spcBef>
              <a:spcAft>
                <a:spcPct val="0"/>
              </a:spcAft>
              <a:defRPr/>
            </a:pPr>
            <a:endParaRPr lang="en-US" sz="1800">
              <a:solidFill>
                <a:srgbClr val="0070C0"/>
              </a:solidFill>
              <a:latin typeface="Courier New" pitchFamily="49" charset="0"/>
            </a:endParaRPr>
          </a:p>
          <a:p>
            <a:pPr eaLnBrk="0" fontAlgn="base" hangingPunct="0">
              <a:lnSpc>
                <a:spcPct val="90000"/>
              </a:lnSpc>
              <a:spcBef>
                <a:spcPct val="0"/>
              </a:spcBef>
              <a:spcAft>
                <a:spcPct val="0"/>
              </a:spcAft>
              <a:defRPr/>
            </a:pPr>
            <a:r>
              <a:rPr lang="en-US" sz="1800">
                <a:solidFill>
                  <a:srgbClr val="0070C0"/>
                </a:solidFill>
                <a:latin typeface="Courier New" pitchFamily="49" charset="0"/>
              </a:rPr>
              <a:t>R1# </a:t>
            </a:r>
            <a:r>
              <a:rPr lang="en-US" sz="1800">
                <a:solidFill>
                  <a:srgbClr val="C00000"/>
                </a:solidFill>
                <a:latin typeface="Courier New" pitchFamily="49" charset="0"/>
              </a:rPr>
              <a:t>delete flash:c2800nm-advipservicesk9-mz.124-15.T1.bin</a:t>
            </a:r>
          </a:p>
        </p:txBody>
      </p:sp>
    </p:spTree>
    <p:extLst>
      <p:ext uri="{BB962C8B-B14F-4D97-AF65-F5344CB8AC3E}">
        <p14:creationId xmlns:p14="http://schemas.microsoft.com/office/powerpoint/2010/main" val="36113537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stCxn id="6" idx="1"/>
            <a:endCxn id="5" idx="3"/>
          </p:cNvCxnSpPr>
          <p:nvPr/>
        </p:nvCxnSpPr>
        <p:spPr>
          <a:xfrm flipH="1">
            <a:off x="3332888" y="627063"/>
            <a:ext cx="5602424" cy="0"/>
          </a:xfrm>
          <a:prstGeom prst="line">
            <a:avLst/>
          </a:prstGeom>
          <a:noFill/>
          <a:ln w="28575" cap="flat" cmpd="sng" algn="ctr">
            <a:solidFill>
              <a:srgbClr val="4F81BD">
                <a:shade val="95000"/>
                <a:satMod val="105000"/>
              </a:srgbClr>
            </a:solidFill>
            <a:prstDash val="solid"/>
          </a:ln>
          <a:effectLst/>
        </p:spPr>
      </p:cxn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3288" y="414031"/>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29" descr="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5313" y="152401"/>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656672" y="328135"/>
            <a:ext cx="1158943" cy="54168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600" b="1">
                <a:solidFill>
                  <a:srgbClr val="FFFF00"/>
                </a:solidFill>
                <a:effectLst>
                  <a:glow rad="228600">
                    <a:srgbClr val="B21A1A">
                      <a:satMod val="175000"/>
                      <a:alpha val="40000"/>
                    </a:srgbClr>
                  </a:glow>
                </a:effectLst>
                <a:latin typeface="Courier New" pitchFamily="49" charset="0"/>
                <a:cs typeface="Courier New" pitchFamily="49" charset="0"/>
              </a:rPr>
              <a:t>tftp server</a:t>
            </a:r>
          </a:p>
        </p:txBody>
      </p:sp>
      <p:sp>
        <p:nvSpPr>
          <p:cNvPr id="2" name="TextBox 1"/>
          <p:cNvSpPr txBox="1"/>
          <p:nvPr/>
        </p:nvSpPr>
        <p:spPr>
          <a:xfrm>
            <a:off x="7612063" y="328134"/>
            <a:ext cx="1371600" cy="369332"/>
          </a:xfrm>
          <a:prstGeom prst="rect">
            <a:avLst/>
          </a:prstGeom>
          <a:noFill/>
        </p:spPr>
        <p:txBody>
          <a:bodyPr wrap="square" rtlCol="0">
            <a:spAutoFit/>
          </a:bodyPr>
          <a:lstStyle/>
          <a:p>
            <a:pPr algn="ctr"/>
            <a:r>
              <a:rPr lang="en-US" b="1">
                <a:solidFill>
                  <a:prstClr val="black"/>
                </a:solidFill>
                <a:latin typeface="Courier New" pitchFamily="49" charset="0"/>
                <a:cs typeface="Courier New" pitchFamily="49" charset="0"/>
              </a:rPr>
              <a:t>10.0.0.2</a:t>
            </a:r>
          </a:p>
        </p:txBody>
      </p:sp>
      <p:sp>
        <p:nvSpPr>
          <p:cNvPr id="13" name="TextBox 12"/>
          <p:cNvSpPr txBox="1"/>
          <p:nvPr/>
        </p:nvSpPr>
        <p:spPr>
          <a:xfrm>
            <a:off x="3200400" y="328134"/>
            <a:ext cx="1371600" cy="369332"/>
          </a:xfrm>
          <a:prstGeom prst="rect">
            <a:avLst/>
          </a:prstGeom>
          <a:noFill/>
        </p:spPr>
        <p:txBody>
          <a:bodyPr wrap="square" rtlCol="0">
            <a:spAutoFit/>
          </a:bodyPr>
          <a:lstStyle/>
          <a:p>
            <a:pPr algn="ctr"/>
            <a:r>
              <a:rPr lang="en-US" b="1">
                <a:solidFill>
                  <a:prstClr val="black"/>
                </a:solidFill>
                <a:latin typeface="Courier New" pitchFamily="49" charset="0"/>
                <a:cs typeface="Courier New" pitchFamily="49" charset="0"/>
              </a:rPr>
              <a:t>10.0.0.1</a:t>
            </a:r>
          </a:p>
        </p:txBody>
      </p:sp>
      <p:sp>
        <p:nvSpPr>
          <p:cNvPr id="14" name="TextBox 13"/>
          <p:cNvSpPr txBox="1"/>
          <p:nvPr/>
        </p:nvSpPr>
        <p:spPr>
          <a:xfrm>
            <a:off x="2743201" y="439944"/>
            <a:ext cx="579471" cy="34855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b="1">
                <a:solidFill>
                  <a:srgbClr val="FFFF00"/>
                </a:solidFill>
                <a:effectLst>
                  <a:glow rad="228600">
                    <a:srgbClr val="B21A1A">
                      <a:satMod val="175000"/>
                      <a:alpha val="40000"/>
                    </a:srgbClr>
                  </a:glow>
                </a:effectLst>
                <a:latin typeface="Courier New" pitchFamily="49" charset="0"/>
                <a:cs typeface="Courier New" pitchFamily="49" charset="0"/>
              </a:rPr>
              <a:t>R1</a:t>
            </a:r>
          </a:p>
        </p:txBody>
      </p:sp>
      <p:sp>
        <p:nvSpPr>
          <p:cNvPr id="15" name="Rectangle 14"/>
          <p:cNvSpPr/>
          <p:nvPr/>
        </p:nvSpPr>
        <p:spPr>
          <a:xfrm>
            <a:off x="1676401" y="1143000"/>
            <a:ext cx="5316129"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R1# </a:t>
            </a:r>
            <a:r>
              <a:rPr lang="en-US" sz="1600" b="1">
                <a:solidFill>
                  <a:srgbClr val="FF0000"/>
                </a:solidFill>
                <a:latin typeface="Courier New" pitchFamily="49" charset="0"/>
              </a:rPr>
              <a:t>copy tftp: flash:</a:t>
            </a:r>
          </a:p>
        </p:txBody>
      </p:sp>
      <p:sp>
        <p:nvSpPr>
          <p:cNvPr id="16" name="Rectangle 15"/>
          <p:cNvSpPr/>
          <p:nvPr/>
        </p:nvSpPr>
        <p:spPr>
          <a:xfrm>
            <a:off x="1676400" y="1475744"/>
            <a:ext cx="44577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Address or name of remote host []? </a:t>
            </a:r>
          </a:p>
        </p:txBody>
      </p:sp>
      <p:sp>
        <p:nvSpPr>
          <p:cNvPr id="17" name="Rectangle 16"/>
          <p:cNvSpPr/>
          <p:nvPr/>
        </p:nvSpPr>
        <p:spPr>
          <a:xfrm>
            <a:off x="5943600" y="1475743"/>
            <a:ext cx="1528038"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FF0000"/>
                </a:solidFill>
                <a:latin typeface="Courier New" pitchFamily="49" charset="0"/>
              </a:rPr>
              <a:t>10.0.0.2</a:t>
            </a:r>
          </a:p>
        </p:txBody>
      </p:sp>
      <p:sp>
        <p:nvSpPr>
          <p:cNvPr id="18" name="Rectangle 17"/>
          <p:cNvSpPr/>
          <p:nvPr/>
        </p:nvSpPr>
        <p:spPr>
          <a:xfrm>
            <a:off x="1676402" y="1824301"/>
            <a:ext cx="2819399"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Source filename []? </a:t>
            </a:r>
          </a:p>
        </p:txBody>
      </p:sp>
      <p:sp>
        <p:nvSpPr>
          <p:cNvPr id="19" name="Rectangle 18"/>
          <p:cNvSpPr/>
          <p:nvPr/>
        </p:nvSpPr>
        <p:spPr>
          <a:xfrm>
            <a:off x="4122738" y="1824301"/>
            <a:ext cx="4183063"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FF0000"/>
                </a:solidFill>
                <a:latin typeface="Courier New" pitchFamily="49" charset="0"/>
              </a:rPr>
              <a:t>c2800nm-ipbase-mz.124-5a.bin</a:t>
            </a:r>
          </a:p>
        </p:txBody>
      </p:sp>
      <p:sp>
        <p:nvSpPr>
          <p:cNvPr id="20" name="Rectangle 19"/>
          <p:cNvSpPr/>
          <p:nvPr/>
        </p:nvSpPr>
        <p:spPr>
          <a:xfrm>
            <a:off x="1676400" y="2519342"/>
            <a:ext cx="89916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Accessing tftp://10.0.0.2/c2800nm-ipbase-mz.124-5a.bin...</a:t>
            </a:r>
          </a:p>
        </p:txBody>
      </p:sp>
      <p:sp>
        <p:nvSpPr>
          <p:cNvPr id="21" name="Rectangle 20"/>
          <p:cNvSpPr/>
          <p:nvPr/>
        </p:nvSpPr>
        <p:spPr>
          <a:xfrm>
            <a:off x="1676401" y="2867900"/>
            <a:ext cx="5552645"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Erase flash: before copying? [confirm]</a:t>
            </a:r>
          </a:p>
        </p:txBody>
      </p:sp>
      <p:sp>
        <p:nvSpPr>
          <p:cNvPr id="28" name="Rectangle 27"/>
          <p:cNvSpPr/>
          <p:nvPr/>
        </p:nvSpPr>
        <p:spPr>
          <a:xfrm>
            <a:off x="1676401" y="2172858"/>
            <a:ext cx="8381999"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Destination filename [c2800nm-ipbase-mz.124-5a.bin]</a:t>
            </a:r>
          </a:p>
        </p:txBody>
      </p:sp>
      <p:sp>
        <p:nvSpPr>
          <p:cNvPr id="23" name="Rectangle 22"/>
          <p:cNvSpPr/>
          <p:nvPr/>
        </p:nvSpPr>
        <p:spPr>
          <a:xfrm>
            <a:off x="6324600" y="2860974"/>
            <a:ext cx="1528038"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FF0000"/>
                </a:solidFill>
                <a:latin typeface="Courier New" pitchFamily="49" charset="0"/>
              </a:rPr>
              <a:t>[enter]</a:t>
            </a:r>
          </a:p>
        </p:txBody>
      </p:sp>
      <p:sp>
        <p:nvSpPr>
          <p:cNvPr id="24" name="Rectangle 23"/>
          <p:cNvSpPr/>
          <p:nvPr/>
        </p:nvSpPr>
        <p:spPr>
          <a:xfrm>
            <a:off x="1676400" y="3209532"/>
            <a:ext cx="89916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Erasing the flash filesystem will remove all files! Continue? [confirm]</a:t>
            </a:r>
          </a:p>
        </p:txBody>
      </p:sp>
      <p:sp>
        <p:nvSpPr>
          <p:cNvPr id="26" name="Rectangle 25"/>
          <p:cNvSpPr/>
          <p:nvPr/>
        </p:nvSpPr>
        <p:spPr>
          <a:xfrm>
            <a:off x="1676400" y="3551164"/>
            <a:ext cx="1528038"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FF0000"/>
                </a:solidFill>
                <a:latin typeface="Courier New" pitchFamily="49" charset="0"/>
              </a:rPr>
              <a:t>[enter]</a:t>
            </a:r>
          </a:p>
        </p:txBody>
      </p:sp>
      <p:sp>
        <p:nvSpPr>
          <p:cNvPr id="27" name="Rectangle 26"/>
          <p:cNvSpPr/>
          <p:nvPr/>
        </p:nvSpPr>
        <p:spPr>
          <a:xfrm>
            <a:off x="1676400" y="3892796"/>
            <a:ext cx="86868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Erasing device... eeeeeeeeee (output omitted) ...erased</a:t>
            </a:r>
          </a:p>
        </p:txBody>
      </p:sp>
      <p:sp>
        <p:nvSpPr>
          <p:cNvPr id="29" name="Rectangle 28"/>
          <p:cNvSpPr/>
          <p:nvPr/>
        </p:nvSpPr>
        <p:spPr>
          <a:xfrm>
            <a:off x="1676400" y="4241353"/>
            <a:ext cx="86868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Erase of flash: complete</a:t>
            </a:r>
          </a:p>
        </p:txBody>
      </p:sp>
      <p:sp>
        <p:nvSpPr>
          <p:cNvPr id="30" name="Rectangle 29"/>
          <p:cNvSpPr/>
          <p:nvPr/>
        </p:nvSpPr>
        <p:spPr>
          <a:xfrm>
            <a:off x="1676400" y="4589910"/>
            <a:ext cx="89916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Loading c2800nm-ipbase-mz.124-5a.bin from  10.0.0.2 (via Ethernet0/0): </a:t>
            </a:r>
          </a:p>
        </p:txBody>
      </p:sp>
      <p:sp>
        <p:nvSpPr>
          <p:cNvPr id="31" name="Rectangle 30"/>
          <p:cNvSpPr/>
          <p:nvPr/>
        </p:nvSpPr>
        <p:spPr>
          <a:xfrm>
            <a:off x="1676400" y="4903842"/>
            <a:ext cx="89916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a:t>
            </a:r>
          </a:p>
        </p:txBody>
      </p:sp>
      <p:sp>
        <p:nvSpPr>
          <p:cNvPr id="32" name="Rectangle 31"/>
          <p:cNvSpPr/>
          <p:nvPr/>
        </p:nvSpPr>
        <p:spPr>
          <a:xfrm>
            <a:off x="1676400" y="5223930"/>
            <a:ext cx="89916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[OK - 12094416 bytes]</a:t>
            </a:r>
          </a:p>
        </p:txBody>
      </p:sp>
      <p:sp>
        <p:nvSpPr>
          <p:cNvPr id="33" name="Rectangle 32"/>
          <p:cNvSpPr/>
          <p:nvPr/>
        </p:nvSpPr>
        <p:spPr>
          <a:xfrm>
            <a:off x="1676400" y="5544018"/>
            <a:ext cx="89916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Verifying checksum...  OK (0x45E2)</a:t>
            </a:r>
          </a:p>
        </p:txBody>
      </p:sp>
      <p:sp>
        <p:nvSpPr>
          <p:cNvPr id="34" name="Rectangle 33"/>
          <p:cNvSpPr/>
          <p:nvPr/>
        </p:nvSpPr>
        <p:spPr>
          <a:xfrm>
            <a:off x="1676400" y="5864106"/>
            <a:ext cx="89916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12094416 bytes copied in 120.465 secs (100398 bytes/sec)</a:t>
            </a:r>
          </a:p>
        </p:txBody>
      </p:sp>
      <p:sp>
        <p:nvSpPr>
          <p:cNvPr id="35" name="Rectangle 34"/>
          <p:cNvSpPr/>
          <p:nvPr/>
        </p:nvSpPr>
        <p:spPr>
          <a:xfrm>
            <a:off x="1676400" y="6184194"/>
            <a:ext cx="8991600" cy="320088"/>
          </a:xfrm>
          <a:prstGeom prst="rect">
            <a:avLst/>
          </a:prstGeom>
        </p:spPr>
        <p:txBody>
          <a:bodyPr wrap="square">
            <a:spAutoFit/>
          </a:bodyPr>
          <a:lstStyle/>
          <a:p>
            <a:pPr eaLnBrk="0" fontAlgn="base" hangingPunct="0">
              <a:lnSpc>
                <a:spcPct val="90000"/>
              </a:lnSpc>
              <a:spcBef>
                <a:spcPct val="0"/>
              </a:spcBef>
              <a:spcAft>
                <a:spcPct val="0"/>
              </a:spcAft>
            </a:pPr>
            <a:r>
              <a:rPr lang="en-US" sz="1600" b="1">
                <a:solidFill>
                  <a:srgbClr val="000000"/>
                </a:solidFill>
                <a:latin typeface="Courier New" pitchFamily="49" charset="0"/>
              </a:rPr>
              <a:t>R1#</a:t>
            </a:r>
          </a:p>
        </p:txBody>
      </p:sp>
      <p:cxnSp>
        <p:nvCxnSpPr>
          <p:cNvPr id="37" name="Straight Connector 36"/>
          <p:cNvCxnSpPr/>
          <p:nvPr/>
        </p:nvCxnSpPr>
        <p:spPr>
          <a:xfrm flipH="1">
            <a:off x="4800600" y="502920"/>
            <a:ext cx="2738732" cy="0"/>
          </a:xfrm>
          <a:prstGeom prst="line">
            <a:avLst/>
          </a:prstGeom>
          <a:noFill/>
          <a:ln w="28575" cap="flat" cmpd="sng" algn="ctr">
            <a:solidFill>
              <a:srgbClr val="FFFF00"/>
            </a:solidFill>
            <a:prstDash val="solid"/>
            <a:headEnd type="none" w="med" len="med"/>
            <a:tailEnd type="arrow" w="med" len="med"/>
          </a:ln>
          <a:effectLst>
            <a:glow rad="228600">
              <a:schemeClr val="accent2">
                <a:satMod val="175000"/>
                <a:alpha val="40000"/>
              </a:schemeClr>
            </a:glow>
          </a:effectLst>
        </p:spPr>
      </p:cxnSp>
    </p:spTree>
    <p:extLst>
      <p:ext uri="{BB962C8B-B14F-4D97-AF65-F5344CB8AC3E}">
        <p14:creationId xmlns:p14="http://schemas.microsoft.com/office/powerpoint/2010/main" val="45902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right)">
                                      <p:cBhvr>
                                        <p:cTn id="7" dur="500"/>
                                        <p:tgtEl>
                                          <p:spTgt spid="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wipe(left)">
                                      <p:cBhvr>
                                        <p:cTn id="36" dur="500"/>
                                        <p:tgtEl>
                                          <p:spTgt spid="28"/>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left)">
                                      <p:cBhvr>
                                        <p:cTn id="49" dur="500"/>
                                        <p:tgtEl>
                                          <p:spTgt spid="23"/>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left)">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left)">
                                      <p:cBhvr>
                                        <p:cTn id="58" dur="500"/>
                                        <p:tgtEl>
                                          <p:spTgt spid="26"/>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left)">
                                      <p:cBhvr>
                                        <p:cTn id="62" dur="500"/>
                                        <p:tgtEl>
                                          <p:spTgt spid="27"/>
                                        </p:tgtEl>
                                      </p:cBhvr>
                                    </p:animEffect>
                                  </p:childTnLst>
                                </p:cTn>
                              </p:par>
                            </p:childTnLst>
                          </p:cTn>
                        </p:par>
                        <p:par>
                          <p:cTn id="63" fill="hold">
                            <p:stCondLst>
                              <p:cond delay="1000"/>
                            </p:stCondLst>
                            <p:childTnLst>
                              <p:par>
                                <p:cTn id="64" presetID="22" presetClass="entr" presetSubtype="8" fill="hold" grpId="0" nodeType="after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wipe(left)">
                                      <p:cBhvr>
                                        <p:cTn id="66" dur="500"/>
                                        <p:tgtEl>
                                          <p:spTgt spid="29"/>
                                        </p:tgtEl>
                                      </p:cBhvr>
                                    </p:animEffect>
                                  </p:childTnLst>
                                </p:cTn>
                              </p:par>
                            </p:childTnLst>
                          </p:cTn>
                        </p:par>
                        <p:par>
                          <p:cTn id="67" fill="hold">
                            <p:stCondLst>
                              <p:cond delay="1500"/>
                            </p:stCondLst>
                            <p:childTnLst>
                              <p:par>
                                <p:cTn id="68" presetID="22" presetClass="entr" presetSubtype="8" fill="hold" grpId="0" nodeType="after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wipe(left)">
                                      <p:cBhvr>
                                        <p:cTn id="70" dur="500"/>
                                        <p:tgtEl>
                                          <p:spTgt spid="30"/>
                                        </p:tgtEl>
                                      </p:cBhvr>
                                    </p:animEffect>
                                  </p:childTnLst>
                                </p:cTn>
                              </p:par>
                            </p:childTnLst>
                          </p:cTn>
                        </p:par>
                        <p:par>
                          <p:cTn id="71" fill="hold">
                            <p:stCondLst>
                              <p:cond delay="2000"/>
                            </p:stCondLst>
                            <p:childTnLst>
                              <p:par>
                                <p:cTn id="72" presetID="22" presetClass="entr" presetSubtype="8" fill="hold" grpId="0" nodeType="after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left)">
                                      <p:cBhvr>
                                        <p:cTn id="74" dur="500"/>
                                        <p:tgtEl>
                                          <p:spTgt spid="31"/>
                                        </p:tgtEl>
                                      </p:cBhvr>
                                    </p:animEffect>
                                  </p:childTnLst>
                                </p:cTn>
                              </p:par>
                            </p:childTnLst>
                          </p:cTn>
                        </p:par>
                        <p:par>
                          <p:cTn id="75" fill="hold">
                            <p:stCondLst>
                              <p:cond delay="2500"/>
                            </p:stCondLst>
                            <p:childTnLst>
                              <p:par>
                                <p:cTn id="76" presetID="22" presetClass="entr" presetSubtype="8" fill="hold" grpId="0" nodeType="after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wipe(left)">
                                      <p:cBhvr>
                                        <p:cTn id="78" dur="500"/>
                                        <p:tgtEl>
                                          <p:spTgt spid="32"/>
                                        </p:tgtEl>
                                      </p:cBhvr>
                                    </p:animEffect>
                                  </p:childTnLst>
                                </p:cTn>
                              </p:par>
                            </p:childTnLst>
                          </p:cTn>
                        </p:par>
                        <p:par>
                          <p:cTn id="79" fill="hold">
                            <p:stCondLst>
                              <p:cond delay="3000"/>
                            </p:stCondLst>
                            <p:childTnLst>
                              <p:par>
                                <p:cTn id="80" presetID="22" presetClass="entr" presetSubtype="8" fill="hold" grpId="0" nodeType="after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wipe(left)">
                                      <p:cBhvr>
                                        <p:cTn id="82" dur="500"/>
                                        <p:tgtEl>
                                          <p:spTgt spid="33"/>
                                        </p:tgtEl>
                                      </p:cBhvr>
                                    </p:animEffect>
                                  </p:childTnLst>
                                </p:cTn>
                              </p:par>
                            </p:childTnLst>
                          </p:cTn>
                        </p:par>
                        <p:par>
                          <p:cTn id="83" fill="hold">
                            <p:stCondLst>
                              <p:cond delay="3500"/>
                            </p:stCondLst>
                            <p:childTnLst>
                              <p:par>
                                <p:cTn id="84" presetID="22" presetClass="entr" presetSubtype="8" fill="hold" grpId="0" nodeType="after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wipe(left)">
                                      <p:cBhvr>
                                        <p:cTn id="86" dur="500"/>
                                        <p:tgtEl>
                                          <p:spTgt spid="34"/>
                                        </p:tgtEl>
                                      </p:cBhvr>
                                    </p:animEffect>
                                  </p:childTnLst>
                                </p:cTn>
                              </p:par>
                            </p:childTnLst>
                          </p:cTn>
                        </p:par>
                        <p:par>
                          <p:cTn id="87" fill="hold">
                            <p:stCondLst>
                              <p:cond delay="4000"/>
                            </p:stCondLst>
                            <p:childTnLst>
                              <p:par>
                                <p:cTn id="88" presetID="22" presetClass="entr" presetSubtype="8" fill="hold" grpId="0" nodeType="after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wipe(left)">
                                      <p:cBhvr>
                                        <p:cTn id="9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p:bldP spid="28" grpId="0"/>
      <p:bldP spid="23" grpId="0"/>
      <p:bldP spid="24" grpId="0"/>
      <p:bldP spid="26" grpId="0"/>
      <p:bldP spid="27" grpId="0"/>
      <p:bldP spid="29" grpId="0"/>
      <p:bldP spid="30" grpId="0"/>
      <p:bldP spid="31" grpId="0"/>
      <p:bldP spid="32" grpId="0"/>
      <p:bldP spid="33" grpId="0"/>
      <p:bldP spid="34" grpId="0"/>
      <p:bldP spid="35" grpId="0"/>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9679" y="3608715"/>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Straight Connector 3"/>
          <p:cNvCxnSpPr>
            <a:endCxn id="5" idx="3"/>
          </p:cNvCxnSpPr>
          <p:nvPr/>
        </p:nvCxnSpPr>
        <p:spPr>
          <a:xfrm flipH="1">
            <a:off x="3810001" y="3821747"/>
            <a:ext cx="4523649" cy="0"/>
          </a:xfrm>
          <a:prstGeom prst="line">
            <a:avLst/>
          </a:prstGeom>
          <a:noFill/>
          <a:ln w="28575" cap="flat" cmpd="sng" algn="ctr">
            <a:solidFill>
              <a:srgbClr val="4F81BD">
                <a:shade val="95000"/>
                <a:satMod val="105000"/>
              </a:srgbClr>
            </a:solidFill>
            <a:prstDash val="solid"/>
          </a:ln>
          <a:effectLst/>
        </p:spPr>
      </p:cxn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608715"/>
            <a:ext cx="609600" cy="42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8055009" y="3522819"/>
            <a:ext cx="1158943" cy="541687"/>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600" b="1">
                <a:solidFill>
                  <a:srgbClr val="FFFF00"/>
                </a:solidFill>
                <a:effectLst>
                  <a:glow rad="228600">
                    <a:srgbClr val="B21A1A">
                      <a:satMod val="175000"/>
                      <a:alpha val="40000"/>
                    </a:srgbClr>
                  </a:glow>
                </a:effectLst>
                <a:latin typeface="Courier New" pitchFamily="49" charset="0"/>
                <a:cs typeface="Courier New" pitchFamily="49" charset="0"/>
              </a:rPr>
              <a:t>tftp server</a:t>
            </a:r>
          </a:p>
        </p:txBody>
      </p:sp>
      <p:sp>
        <p:nvSpPr>
          <p:cNvPr id="12" name="Line Callout 1 (No Border) 11"/>
          <p:cNvSpPr/>
          <p:nvPr/>
        </p:nvSpPr>
        <p:spPr bwMode="auto">
          <a:xfrm>
            <a:off x="2438400" y="2349061"/>
            <a:ext cx="8077200" cy="516759"/>
          </a:xfrm>
          <a:prstGeom prst="callout1">
            <a:avLst>
              <a:gd name="adj1" fmla="val 79811"/>
              <a:gd name="adj2" fmla="val 76663"/>
              <a:gd name="adj3" fmla="val 222698"/>
              <a:gd name="adj4" fmla="val 76617"/>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rtlCol="0" anchor="ctr" anchorCtr="0" compatLnSpc="1">
            <a:prstTxWarp prst="textNoShape">
              <a:avLst/>
            </a:prstTxWarp>
          </a:bodyPr>
          <a:lstStyle/>
          <a:p>
            <a:pPr algn="ctr" defTabSz="814388" eaLnBrk="0" fontAlgn="base" hangingPunct="0">
              <a:lnSpc>
                <a:spcPct val="90000"/>
              </a:lnSpc>
              <a:spcBef>
                <a:spcPct val="0"/>
              </a:spcBef>
              <a:spcAft>
                <a:spcPct val="0"/>
              </a:spcAft>
            </a:pPr>
            <a:r>
              <a:rPr lang="en-US" b="1">
                <a:solidFill>
                  <a:srgbClr val="C00000"/>
                </a:solidFill>
                <a:latin typeface="Courier New" pitchFamily="49" charset="0"/>
                <a:cs typeface="Courier New" pitchFamily="49" charset="0"/>
              </a:rPr>
              <a:t>Router(config)#</a:t>
            </a:r>
            <a:r>
              <a:rPr lang="vi-VN" b="1">
                <a:solidFill>
                  <a:srgbClr val="C00000"/>
                </a:solidFill>
                <a:latin typeface="Courier New" pitchFamily="49" charset="0"/>
                <a:cs typeface="Courier New" pitchFamily="49" charset="0"/>
              </a:rPr>
              <a:t> </a:t>
            </a:r>
            <a:r>
              <a:rPr lang="en-US" b="1">
                <a:solidFill>
                  <a:srgbClr val="C00000"/>
                </a:solidFill>
                <a:latin typeface="Courier New" pitchFamily="49" charset="0"/>
                <a:cs typeface="Courier New" pitchFamily="49" charset="0"/>
              </a:rPr>
              <a:t>tftp-server flash:/c2500-js-l.122-10b.bin </a:t>
            </a:r>
          </a:p>
        </p:txBody>
      </p:sp>
      <p:sp>
        <p:nvSpPr>
          <p:cNvPr id="2" name="TextBox 1"/>
          <p:cNvSpPr txBox="1"/>
          <p:nvPr/>
        </p:nvSpPr>
        <p:spPr>
          <a:xfrm>
            <a:off x="3541369" y="6488668"/>
            <a:ext cx="5105400" cy="369332"/>
          </a:xfrm>
          <a:prstGeom prst="rect">
            <a:avLst/>
          </a:prstGeom>
          <a:noFill/>
        </p:spPr>
        <p:txBody>
          <a:bodyPr wrap="square" rtlCol="0">
            <a:spAutoFit/>
          </a:bodyPr>
          <a:lstStyle/>
          <a:p>
            <a:pPr algn="ctr"/>
            <a:r>
              <a:rPr lang="vi-VN">
                <a:latin typeface="Courier New" pitchFamily="49" charset="0"/>
                <a:cs typeface="Courier New" pitchFamily="49" charset="0"/>
              </a:rPr>
              <a:t>Biến router thành tftp server</a:t>
            </a:r>
            <a:endParaRPr lang="en-US">
              <a:latin typeface="Courier New" pitchFamily="49" charset="0"/>
              <a:cs typeface="Courier New" pitchFamily="49" charset="0"/>
            </a:endParaRPr>
          </a:p>
        </p:txBody>
      </p:sp>
      <p:sp>
        <p:nvSpPr>
          <p:cNvPr id="13" name="Rectangle 2"/>
          <p:cNvSpPr>
            <a:spLocks noGrp="1" noChangeArrowheads="1"/>
          </p:cNvSpPr>
          <p:nvPr>
            <p:ph type="title"/>
          </p:nvPr>
        </p:nvSpPr>
        <p:spPr>
          <a:xfrm>
            <a:off x="2170113" y="230731"/>
            <a:ext cx="8145462" cy="838200"/>
          </a:xfrm>
        </p:spPr>
        <p:txBody>
          <a:bodyPr>
            <a:normAutofit/>
          </a:bodyPr>
          <a:lstStyle/>
          <a:p>
            <a:r>
              <a:rPr lang="en-US" sz="3200" dirty="0" err="1">
                <a:latin typeface="Courier New" pitchFamily="49" charset="0"/>
                <a:ea typeface="Times" pitchFamily="18" charset="0"/>
                <a:cs typeface="Courier New" pitchFamily="49" charset="0"/>
              </a:rPr>
              <a:t>tftp</a:t>
            </a:r>
            <a:r>
              <a:rPr lang="en-US" sz="3200" dirty="0">
                <a:latin typeface="Courier New" pitchFamily="49" charset="0"/>
                <a:ea typeface="Times" pitchFamily="18" charset="0"/>
                <a:cs typeface="Courier New" pitchFamily="49" charset="0"/>
              </a:rPr>
              <a:t>-server </a:t>
            </a:r>
          </a:p>
        </p:txBody>
      </p:sp>
    </p:spTree>
    <p:extLst>
      <p:ext uri="{BB962C8B-B14F-4D97-AF65-F5344CB8AC3E}">
        <p14:creationId xmlns:p14="http://schemas.microsoft.com/office/powerpoint/2010/main" val="40815105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19ABE-093E-4895-873B-77D8E8E35369}"/>
              </a:ext>
            </a:extLst>
          </p:cNvPr>
          <p:cNvSpPr>
            <a:spLocks noGrp="1"/>
          </p:cNvSpPr>
          <p:nvPr>
            <p:ph type="title"/>
          </p:nvPr>
        </p:nvSpPr>
        <p:spPr/>
        <p:txBody>
          <a:bodyPr/>
          <a:lstStyle/>
          <a:p>
            <a:endParaRPr lang="en-US"/>
          </a:p>
        </p:txBody>
      </p:sp>
      <p:pic>
        <p:nvPicPr>
          <p:cNvPr id="1026" name="Picture 2" descr="Káº¿t quáº£ hÃ¬nh áº£nh cho finished">
            <a:extLst>
              <a:ext uri="{FF2B5EF4-FFF2-40B4-BE49-F238E27FC236}">
                <a16:creationId xmlns:a16="http://schemas.microsoft.com/office/drawing/2014/main" id="{2F811B77-7525-4696-8A86-E22AB98B73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4225" y="1685925"/>
            <a:ext cx="4533034"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524942"/>
      </p:ext>
    </p:extLst>
  </p:cSld>
  <p:clrMapOvr>
    <a:masterClrMapping/>
  </p:clrMapOvr>
</p:sld>
</file>

<file path=ppt/theme/theme1.xml><?xml version="1.0" encoding="utf-8"?>
<a:theme xmlns:a="http://schemas.openxmlformats.org/drawingml/2006/main"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965D5D1C-C453-4025-8FCC-E6624AA4AC7A}" vid="{9345884C-4769-472D-A3C4-C86C3141B0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44</TotalTime>
  <Words>5105</Words>
  <Application>Microsoft Office PowerPoint</Application>
  <PresentationFormat>Widescreen</PresentationFormat>
  <Paragraphs>898</Paragraphs>
  <Slides>100</Slides>
  <Notes>21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100</vt:i4>
      </vt:variant>
    </vt:vector>
  </HeadingPairs>
  <TitlesOfParts>
    <vt:vector size="106" baseType="lpstr">
      <vt:lpstr>Arial</vt:lpstr>
      <vt:lpstr>Calibri</vt:lpstr>
      <vt:lpstr>Courier New</vt:lpstr>
      <vt:lpstr>Times New Roman</vt:lpstr>
      <vt:lpstr>Wingdings</vt:lpstr>
      <vt:lpstr>Theme1</vt:lpstr>
      <vt:lpstr>QUẢN TRỊ THIẾT BỊ MẠNG CISCO</vt:lpstr>
      <vt:lpstr>NỘI DUNG</vt:lpstr>
      <vt:lpstr>PowerPoint Presentation</vt:lpstr>
      <vt:lpstr>PowerPoint Presentation</vt:lpstr>
      <vt:lpstr>I. CÁC THÀNH PHẦN CỦA ROUTER:</vt:lpstr>
      <vt:lpstr>RAM/DRAM</vt:lpstr>
      <vt:lpstr>PowerPoint Presentation</vt:lpstr>
      <vt:lpstr>ROM</vt:lpstr>
      <vt:lpstr>FLASH</vt:lpstr>
      <vt:lpstr>NVRAM</vt:lpstr>
      <vt:lpstr>BUSES</vt:lpstr>
      <vt:lpstr>INTERFACES</vt:lpstr>
      <vt:lpstr>PowerPoint Presentation</vt:lpstr>
      <vt:lpstr>Quá trình khởi động Router</vt:lpstr>
      <vt:lpstr>II. MỘT SỐ THAO TÁC CƠ BẢN</vt:lpstr>
      <vt:lpstr>Các bước cấu hình</vt:lpstr>
      <vt:lpstr>PowerPoint Presentation</vt:lpstr>
      <vt:lpstr>PowerPoint Presentation</vt:lpstr>
      <vt:lpstr>PowerPoint Presentation</vt:lpstr>
      <vt:lpstr>FastEthernet Port</vt:lpstr>
      <vt:lpstr>RJ11</vt:lpstr>
      <vt:lpstr>Console Connection</vt:lpstr>
      <vt:lpstr>MỘT SỐ THAO TÁC CƠ BẢN</vt:lpstr>
      <vt:lpstr>PowerPoint Presentation</vt:lpstr>
      <vt:lpstr>PowerPoint Presentation</vt:lpstr>
      <vt:lpstr>PuTTy</vt:lpstr>
      <vt:lpstr>II. MỘT SỐ THAO TÁC CƠ BẢN</vt:lpstr>
      <vt:lpstr>II. MỘT SỐ THAO TÁC CƠ BẢN</vt:lpstr>
      <vt:lpstr>II. MỘT SỐ THAO TÁC CƠ BẢN</vt:lpstr>
      <vt:lpstr>Router Modes</vt:lpstr>
      <vt:lpstr>II. MỘT SỐ THAO TÁC CƠ BẢN</vt:lpstr>
      <vt:lpstr>II. MỘT SỐ THAO TÁC CƠ BẢN</vt:lpstr>
      <vt:lpstr>II. MỘT SỐ THAO TÁC CƠ BẢN</vt:lpstr>
      <vt:lpstr>II. MỘT SỐ THAO TÁC CƠ BẢN</vt:lpstr>
      <vt:lpstr>II. MỘT SỐ THAO TÁC CƠ BẢN</vt:lpstr>
      <vt:lpstr>II. MỘT SỐ THAO TÁC CƠ BẢN</vt:lpstr>
      <vt:lpstr>II. MỘT SỐ THAO TÁC CƠ BẢN</vt:lpstr>
      <vt:lpstr>II. MỘT SỐ THAO TÁC CƠ BẢN</vt:lpstr>
      <vt:lpstr>II. MỘT SỐ THAO TÁC CƠ BẢN</vt:lpstr>
      <vt:lpstr>Encrypt Password</vt:lpstr>
      <vt:lpstr>II. MỘT SỐ THAO TÁC CƠ BẢN</vt:lpstr>
      <vt:lpstr>II. MỘT SỐ THAO TÁC CƠ BẢN</vt:lpstr>
      <vt:lpstr>II. MỘT SỐ THAO TÁC CƠ BẢN</vt:lpstr>
      <vt:lpstr>show ip interface brief</vt:lpstr>
      <vt:lpstr>II. MỘT SỐ THAO TÁC CƠ BẢN</vt:lpstr>
      <vt:lpstr>III. SAO LƯU VÀ NẠP IOS CHO ROUTER</vt:lpstr>
      <vt:lpstr>PowerPoint Presentation</vt:lpstr>
      <vt:lpstr>PowerPoint Presentation</vt:lpstr>
      <vt:lpstr>PowerPoint Presentation</vt:lpstr>
      <vt:lpstr>III. SAO LƯU VÀ NẠP IOS CHO ROUTER</vt:lpstr>
      <vt:lpstr>PowerPoint Presentation</vt:lpstr>
      <vt:lpstr>PowerPoint Presentation</vt:lpstr>
      <vt:lpstr>III. SAO LƯU VÀ NẠP IOS CHO ROUTER</vt:lpstr>
      <vt:lpstr>III. SAO LƯU VÀ NẠP IOS CHO ROUTER</vt:lpstr>
      <vt:lpstr>III. SAO LƯU VÀ NẠP IOS CHO ROUTER</vt:lpstr>
      <vt:lpstr>III. SAO LƯU VÀ NẠP IOS CHO ROUTER</vt:lpstr>
      <vt:lpstr>IV. KHÔI PHỤC MẬT KHẨU CHO ROUTER</vt:lpstr>
      <vt:lpstr>PowerPoint Presentation</vt:lpstr>
      <vt:lpstr>IV. KHÔI PHỤC MẬT KHẨU CHO ROUTER</vt:lpstr>
      <vt:lpstr>IV. KHÔI PHỤC MẬT KHẨU CHO ROUTER</vt:lpstr>
      <vt:lpstr>IV. KHÔI PHỤC MẬT KHẨU CHO ROUTER</vt:lpstr>
      <vt:lpstr>IV. KHÔI PHỤC MẬT KHẨU CHO ROUTER</vt:lpstr>
      <vt:lpstr>IV. KHÔI PHỤC MẬT KHẨU CHO ROUTER</vt:lpstr>
      <vt:lpstr>IV. KHÔI PHỤC MẬT KHẨU CHO ROUTER</vt:lpstr>
      <vt:lpstr>IV. KHÔI PHỤC MẬT KHẨU CHO ROUTER</vt:lpstr>
      <vt:lpstr>MỘT SỐ LỖI CẦN CHÚ Ý</vt:lpstr>
      <vt:lpstr>V. CISCO DISCOVERY PROTOCOL (CDP)</vt:lpstr>
      <vt:lpstr>V. CISCO DISCOVERY PROTOCOL (CDP)</vt:lpstr>
      <vt:lpstr>V. CISCO DISCOVERY PROTOCOL (CDP)</vt:lpstr>
      <vt:lpstr>V. CISCO DISCOVERY PROTOCOL (CDP)</vt:lpstr>
      <vt:lpstr>V. CISCO DISCOVERY PROTOCOL (CDP)</vt:lpstr>
      <vt:lpstr>V. CISCO DISCOVERY PROTOCOL (CDP)</vt:lpstr>
      <vt:lpstr>V. CISCO DISCOVERY PROTOCOL (CDP)</vt:lpstr>
      <vt:lpstr>V. CISCO DISCOVERY PROTOCOL (CDP)</vt:lpstr>
      <vt:lpstr>V. CISCO DISCOVERY PROTOCOL (CDP)</vt:lpstr>
      <vt:lpstr>V. CISCO DISCOVERY PROTOCOL (CDP)</vt:lpstr>
      <vt:lpstr>VI. TELNET – SSH </vt:lpstr>
      <vt:lpstr>Telnet</vt:lpstr>
      <vt:lpstr>Telnet</vt:lpstr>
      <vt:lpstr>Telnet</vt:lpstr>
      <vt:lpstr>Telnet</vt:lpstr>
      <vt:lpstr>Telnet</vt:lpstr>
      <vt:lpstr>VI. TELNET – SSH </vt:lpstr>
      <vt:lpstr>SSH: Secure Shell</vt:lpstr>
      <vt:lpstr>SSH: Secure Shell</vt:lpstr>
      <vt:lpstr>SSH: Secure Shell</vt:lpstr>
      <vt:lpstr>SSH: Asymmetric Key Crytography</vt:lpstr>
      <vt:lpstr>SSH: Asymmetric Key Crytography</vt:lpstr>
      <vt:lpstr>SSH: Asymmetric Key Crytography</vt:lpstr>
      <vt:lpstr>VII. TFTP SERVER</vt:lpstr>
      <vt:lpstr>VII. TFTP SERVER</vt:lpstr>
      <vt:lpstr>tftp-server </vt:lpstr>
      <vt:lpstr>PowerPoint Presentation</vt:lpstr>
      <vt:lpstr>PowerPoint Presentation</vt:lpstr>
      <vt:lpstr>tftp-server </vt:lpstr>
      <vt:lpstr>tftp-server </vt:lpstr>
      <vt:lpstr>tftp-server </vt:lpstr>
      <vt:lpstr>PowerPoint Presentation</vt:lpstr>
      <vt:lpstr>tftp-server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TRỊ THIẾT BỊ MẠNG CISCO</dc:title>
  <dc:creator>huan luong</dc:creator>
  <cp:lastModifiedBy>huan luong</cp:lastModifiedBy>
  <cp:revision>5</cp:revision>
  <dcterms:created xsi:type="dcterms:W3CDTF">2019-09-03T14:14:45Z</dcterms:created>
  <dcterms:modified xsi:type="dcterms:W3CDTF">2019-09-03T14:59:28Z</dcterms:modified>
</cp:coreProperties>
</file>