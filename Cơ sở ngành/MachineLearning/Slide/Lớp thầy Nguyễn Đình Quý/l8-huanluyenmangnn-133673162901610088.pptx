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24"/>
  </p:notesMasterIdLst>
  <p:handoutMasterIdLst>
    <p:handoutMasterId r:id="rId25"/>
  </p:handoutMasterIdLst>
  <p:sldIdLst>
    <p:sldId id="324" r:id="rId2"/>
    <p:sldId id="325" r:id="rId3"/>
    <p:sldId id="326" r:id="rId4"/>
    <p:sldId id="327" r:id="rId5"/>
    <p:sldId id="328" r:id="rId6"/>
    <p:sldId id="330" r:id="rId7"/>
    <p:sldId id="331" r:id="rId8"/>
    <p:sldId id="332" r:id="rId9"/>
    <p:sldId id="333" r:id="rId10"/>
    <p:sldId id="334" r:id="rId11"/>
    <p:sldId id="335" r:id="rId12"/>
    <p:sldId id="336" r:id="rId13"/>
    <p:sldId id="337" r:id="rId14"/>
    <p:sldId id="338" r:id="rId15"/>
    <p:sldId id="339" r:id="rId16"/>
    <p:sldId id="340" r:id="rId17"/>
    <p:sldId id="341" r:id="rId18"/>
    <p:sldId id="342" r:id="rId19"/>
    <p:sldId id="343" r:id="rId20"/>
    <p:sldId id="344" r:id="rId21"/>
    <p:sldId id="345" r:id="rId22"/>
    <p:sldId id="346" r:id="rId23"/>
  </p:sldIdLst>
  <p:sldSz cx="10287000" cy="6858000" type="35mm"/>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902B"/>
    <a:srgbClr val="BA2212"/>
    <a:srgbClr val="EE1A4C"/>
    <a:srgbClr val="FFFFFF"/>
    <a:srgbClr val="000099"/>
    <a:srgbClr val="FFBDDE"/>
    <a:srgbClr val="FFCCCC"/>
    <a:srgbClr val="FFCCFF"/>
    <a:srgbClr val="0809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21" autoAdjust="0"/>
    <p:restoredTop sz="95161" autoAdjust="0"/>
  </p:normalViewPr>
  <p:slideViewPr>
    <p:cSldViewPr>
      <p:cViewPr varScale="1">
        <p:scale>
          <a:sx n="128" d="100"/>
          <a:sy n="128" d="100"/>
        </p:scale>
        <p:origin x="1688" y="176"/>
      </p:cViewPr>
      <p:guideLst>
        <p:guide orient="horz" pos="2160"/>
        <p:guide pos="32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3930"/>
    </p:cViewPr>
  </p:sorterViewPr>
  <p:notesViewPr>
    <p:cSldViewPr>
      <p:cViewPr varScale="1">
        <p:scale>
          <a:sx n="38" d="100"/>
          <a:sy n="38" d="100"/>
        </p:scale>
        <p:origin x="-1590" y="-90"/>
      </p:cViewPr>
      <p:guideLst>
        <p:guide orient="horz" pos="2304"/>
        <p:guide pos="302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1" name="Rectangle 3"/>
          <p:cNvSpPr>
            <a:spLocks noGrp="1" noChangeArrowheads="1"/>
          </p:cNvSpPr>
          <p:nvPr>
            <p:ph type="dt" sz="quarter"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2" name="Rectangle 4"/>
          <p:cNvSpPr>
            <a:spLocks noGrp="1" noChangeArrowheads="1"/>
          </p:cNvSpPr>
          <p:nvPr>
            <p:ph type="ftr" sz="quarter" idx="2"/>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3" name="Rectangle 5"/>
          <p:cNvSpPr>
            <a:spLocks noGrp="1" noChangeArrowheads="1"/>
          </p:cNvSpPr>
          <p:nvPr>
            <p:ph type="sldNum" sz="quarter" idx="3"/>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defRPr>
            </a:lvl1pPr>
          </a:lstStyle>
          <a:p>
            <a:fld id="{9FB05F6A-398C-455D-BE8A-CDE75FC5BBFC}"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9-10T02:02:02.477"/>
    </inkml:context>
    <inkml:brush xml:id="br0">
      <inkml:brushProperty name="width" value="0.05292" units="cm"/>
      <inkml:brushProperty name="height" value="0.05292" units="cm"/>
      <inkml:brushProperty name="color" value="#FF0000"/>
    </inkml:brush>
  </inkml:definitions>
  <inkml:trace contextRef="#ctx0" brushRef="#br0">24489 10665 24575,'-7'-4'0,"1"1"0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1" name="Rectangle 3"/>
          <p:cNvSpPr>
            <a:spLocks noGrp="1" noChangeArrowheads="1"/>
          </p:cNvSpPr>
          <p:nvPr>
            <p:ph type="dt"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defRPr sz="1200">
                <a:latin typeface="Tahoma" pitchFamily="34" charset="0"/>
                <a:cs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2743200" y="547688"/>
            <a:ext cx="4114800" cy="27432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1281113" y="3475038"/>
            <a:ext cx="7038975" cy="3292475"/>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5" name="Rectangle 7"/>
          <p:cNvSpPr>
            <a:spLocks noGrp="1" noChangeArrowheads="1"/>
          </p:cNvSpPr>
          <p:nvPr>
            <p:ph type="sldNum" sz="quarter" idx="5"/>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defRPr sz="1200">
                <a:latin typeface="Tahoma" pitchFamily="34" charset="0"/>
              </a:defRPr>
            </a:lvl1pPr>
          </a:lstStyle>
          <a:p>
            <a:fld id="{077C5485-9747-4CF4-B9B9-77ADA2DD22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ＭＳ Ｐゴシック" charset="0"/>
      </a:defRPr>
    </a:lvl1pPr>
    <a:lvl2pPr marL="4556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2pPr>
    <a:lvl3pPr marL="9128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3pPr>
    <a:lvl4pPr marL="13700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4pPr>
    <a:lvl5pPr marL="18272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077C5485-9747-4CF4-B9B9-77ADA2DD2249}" type="slidenum">
              <a:rPr lang="en-US"/>
              <a:pPr/>
              <a:t>6</a:t>
            </a:fld>
            <a:endParaRPr lang="en-US"/>
          </a:p>
        </p:txBody>
      </p:sp>
    </p:spTree>
    <p:extLst>
      <p:ext uri="{BB962C8B-B14F-4D97-AF65-F5344CB8AC3E}">
        <p14:creationId xmlns:p14="http://schemas.microsoft.com/office/powerpoint/2010/main" val="39532176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5875" y="1122363"/>
            <a:ext cx="7715250" cy="2387600"/>
          </a:xfrm>
        </p:spPr>
        <p:txBody>
          <a:bodyPr anchor="b"/>
          <a:lstStyle>
            <a:lvl1pPr algn="ctr">
              <a:defRPr sz="5063"/>
            </a:lvl1pPr>
          </a:lstStyle>
          <a:p>
            <a:r>
              <a:rPr lang="en-US"/>
              <a:t>Click to edit Master title style</a:t>
            </a:r>
          </a:p>
        </p:txBody>
      </p:sp>
      <p:sp>
        <p:nvSpPr>
          <p:cNvPr id="3" name="Subtitle 2"/>
          <p:cNvSpPr>
            <a:spLocks noGrp="1"/>
          </p:cNvSpPr>
          <p:nvPr>
            <p:ph type="subTitle" idx="1"/>
          </p:nvPr>
        </p:nvSpPr>
        <p:spPr>
          <a:xfrm>
            <a:off x="1285875" y="3602038"/>
            <a:ext cx="7715250" cy="1655762"/>
          </a:xfrm>
        </p:spPr>
        <p:txBody>
          <a:bodyPr/>
          <a:lstStyle>
            <a:lvl1pPr marL="0" indent="0" algn="ctr">
              <a:buNone/>
              <a:defRPr sz="2025"/>
            </a:lvl1pPr>
            <a:lvl2pPr marL="385785" indent="0" algn="ctr">
              <a:buNone/>
              <a:defRPr sz="1688"/>
            </a:lvl2pPr>
            <a:lvl3pPr marL="771571" indent="0" algn="ctr">
              <a:buNone/>
              <a:defRPr sz="1519"/>
            </a:lvl3pPr>
            <a:lvl4pPr marL="1157356" indent="0" algn="ctr">
              <a:buNone/>
              <a:defRPr sz="1350"/>
            </a:lvl4pPr>
            <a:lvl5pPr marL="1543141" indent="0" algn="ctr">
              <a:buNone/>
              <a:defRPr sz="1350"/>
            </a:lvl5pPr>
            <a:lvl6pPr marL="1928927" indent="0" algn="ctr">
              <a:buNone/>
              <a:defRPr sz="1350"/>
            </a:lvl6pPr>
            <a:lvl7pPr marL="2314712" indent="0" algn="ctr">
              <a:buNone/>
              <a:defRPr sz="1350"/>
            </a:lvl7pPr>
            <a:lvl8pPr marL="2700498" indent="0" algn="ctr">
              <a:buNone/>
              <a:defRPr sz="1350"/>
            </a:lvl8pPr>
            <a:lvl9pPr marL="3086283" indent="0" algn="ctr">
              <a:buNone/>
              <a:defRPr sz="135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B53E1D-A0B1-4171-ABED-667787C30A3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1012" y="404665"/>
            <a:ext cx="8874125" cy="792088"/>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718018" y="1340768"/>
            <a:ext cx="8907119" cy="4752528"/>
          </a:xfrm>
        </p:spPr>
        <p:txBody>
          <a:bodyPr/>
          <a:lstStyle>
            <a:lvl1pPr>
              <a:defRPr>
                <a:latin typeface="+mj-lt"/>
                <a:ea typeface="Verdana" panose="020B0604030504040204" pitchFamily="34" charset="0"/>
                <a:cs typeface="Verdana" panose="020B0604030504040204" pitchFamily="34" charset="0"/>
              </a:defRPr>
            </a:lvl1pPr>
            <a:lvl2pPr>
              <a:defRPr>
                <a:latin typeface="+mj-lt"/>
                <a:ea typeface="Verdana" panose="020B0604030504040204" pitchFamily="34" charset="0"/>
                <a:cs typeface="Verdana" panose="020B0604030504040204" pitchFamily="34" charset="0"/>
              </a:defRPr>
            </a:lvl2pPr>
            <a:lvl3pPr>
              <a:defRPr>
                <a:latin typeface="+mj-lt"/>
                <a:ea typeface="Verdana" panose="020B0604030504040204" pitchFamily="34" charset="0"/>
                <a:cs typeface="Verdana" panose="020B0604030504040204" pitchFamily="34" charset="0"/>
              </a:defRPr>
            </a:lvl3pPr>
            <a:lvl4pPr>
              <a:defRPr>
                <a:latin typeface="+mj-lt"/>
                <a:ea typeface="Verdana" panose="020B0604030504040204" pitchFamily="34" charset="0"/>
                <a:cs typeface="Verdana" panose="020B0604030504040204" pitchFamily="34" charset="0"/>
              </a:defRPr>
            </a:lvl4pPr>
            <a:lvl5pPr>
              <a:defRPr>
                <a:latin typeface="+mj-lt"/>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65EEBBBD-F88C-4D0A-B00C-08302391C972}" type="datetimeFigureOut">
              <a:rPr lang="en-US"/>
              <a:pPr/>
              <a:t>5/29/24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8C51A7-BEEA-471D-933F-7E35BC04A30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3" y="1709739"/>
            <a:ext cx="8872538" cy="2852737"/>
          </a:xfrm>
        </p:spPr>
        <p:txBody>
          <a:bodyPr anchor="b"/>
          <a:lstStyle>
            <a:lvl1pPr>
              <a:defRPr sz="5063"/>
            </a:lvl1pPr>
          </a:lstStyle>
          <a:p>
            <a:r>
              <a:rPr lang="en-US"/>
              <a:t>Click to edit Master title style</a:t>
            </a:r>
          </a:p>
        </p:txBody>
      </p:sp>
      <p:sp>
        <p:nvSpPr>
          <p:cNvPr id="3" name="Text Placeholder 2"/>
          <p:cNvSpPr>
            <a:spLocks noGrp="1"/>
          </p:cNvSpPr>
          <p:nvPr>
            <p:ph type="body" idx="1"/>
          </p:nvPr>
        </p:nvSpPr>
        <p:spPr>
          <a:xfrm>
            <a:off x="701873" y="4589464"/>
            <a:ext cx="8872538" cy="1500187"/>
          </a:xfrm>
        </p:spPr>
        <p:txBody>
          <a:bodyPr/>
          <a:lstStyle>
            <a:lvl1pPr marL="0" indent="0">
              <a:buNone/>
              <a:defRPr sz="2025">
                <a:solidFill>
                  <a:schemeClr val="tx1">
                    <a:tint val="75000"/>
                  </a:schemeClr>
                </a:solidFill>
              </a:defRPr>
            </a:lvl1pPr>
            <a:lvl2pPr marL="385785" indent="0">
              <a:buNone/>
              <a:defRPr sz="1688">
                <a:solidFill>
                  <a:schemeClr val="tx1">
                    <a:tint val="75000"/>
                  </a:schemeClr>
                </a:solidFill>
              </a:defRPr>
            </a:lvl2pPr>
            <a:lvl3pPr marL="771571" indent="0">
              <a:buNone/>
              <a:defRPr sz="1519">
                <a:solidFill>
                  <a:schemeClr val="tx1">
                    <a:tint val="75000"/>
                  </a:schemeClr>
                </a:solidFill>
              </a:defRPr>
            </a:lvl3pPr>
            <a:lvl4pPr marL="1157356" indent="0">
              <a:buNone/>
              <a:defRPr sz="1350">
                <a:solidFill>
                  <a:schemeClr val="tx1">
                    <a:tint val="75000"/>
                  </a:schemeClr>
                </a:solidFill>
              </a:defRPr>
            </a:lvl4pPr>
            <a:lvl5pPr marL="1543141" indent="0">
              <a:buNone/>
              <a:defRPr sz="1350">
                <a:solidFill>
                  <a:schemeClr val="tx1">
                    <a:tint val="75000"/>
                  </a:schemeClr>
                </a:solidFill>
              </a:defRPr>
            </a:lvl5pPr>
            <a:lvl6pPr marL="1928927" indent="0">
              <a:buNone/>
              <a:defRPr sz="1350">
                <a:solidFill>
                  <a:schemeClr val="tx1">
                    <a:tint val="75000"/>
                  </a:schemeClr>
                </a:solidFill>
              </a:defRPr>
            </a:lvl6pPr>
            <a:lvl7pPr marL="2314712" indent="0">
              <a:buNone/>
              <a:defRPr sz="1350">
                <a:solidFill>
                  <a:schemeClr val="tx1">
                    <a:tint val="75000"/>
                  </a:schemeClr>
                </a:solidFill>
              </a:defRPr>
            </a:lvl7pPr>
            <a:lvl8pPr marL="2700498" indent="0">
              <a:buNone/>
              <a:defRPr sz="1350">
                <a:solidFill>
                  <a:schemeClr val="tx1">
                    <a:tint val="75000"/>
                  </a:schemeClr>
                </a:solidFill>
              </a:defRPr>
            </a:lvl8pPr>
            <a:lvl9pPr marL="3086283" indent="0">
              <a:buNone/>
              <a:defRPr sz="13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9D9EDF6-B61E-473A-9275-BAC1BDA0029B}" type="datetimeFigureOut">
              <a:rPr lang="en-US"/>
              <a:pPr/>
              <a:t>5/29/24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88B2AA1-AEA7-40B9-AD8E-776A8F68979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36FBD08F-42E1-467C-8482-6F32381C3348}" type="datetimeFigureOut">
              <a:rPr lang="en-US"/>
              <a:pPr/>
              <a:t>5/29/24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E4EFCDD-D768-4613-87BA-5A10354114E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365126"/>
            <a:ext cx="8872538" cy="1325563"/>
          </a:xfrm>
        </p:spPr>
        <p:txBody>
          <a:bodyPr/>
          <a:lstStyle/>
          <a:p>
            <a:r>
              <a:rPr lang="en-US"/>
              <a:t>Click to edit Master title style</a:t>
            </a:r>
          </a:p>
        </p:txBody>
      </p:sp>
      <p:sp>
        <p:nvSpPr>
          <p:cNvPr id="3" name="Text Placeholder 2"/>
          <p:cNvSpPr>
            <a:spLocks noGrp="1"/>
          </p:cNvSpPr>
          <p:nvPr>
            <p:ph type="body" idx="1"/>
          </p:nvPr>
        </p:nvSpPr>
        <p:spPr>
          <a:xfrm>
            <a:off x="708571" y="1681163"/>
            <a:ext cx="4351883"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4" name="Content Placeholder 3"/>
          <p:cNvSpPr>
            <a:spLocks noGrp="1"/>
          </p:cNvSpPr>
          <p:nvPr>
            <p:ph sz="half" idx="2"/>
          </p:nvPr>
        </p:nvSpPr>
        <p:spPr>
          <a:xfrm>
            <a:off x="708571" y="2505075"/>
            <a:ext cx="435188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1681163"/>
            <a:ext cx="4373315"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6" name="Content Placeholder 5"/>
          <p:cNvSpPr>
            <a:spLocks noGrp="1"/>
          </p:cNvSpPr>
          <p:nvPr>
            <p:ph sz="quarter" idx="4"/>
          </p:nvPr>
        </p:nvSpPr>
        <p:spPr>
          <a:xfrm>
            <a:off x="5207794" y="2505075"/>
            <a:ext cx="437331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E3E18D6-E874-45EF-BDE1-3F1C6A343A99}" type="datetimeFigureOut">
              <a:rPr lang="en-US"/>
              <a:pPr/>
              <a:t>5/29/24</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8EB50A5-30BD-43BB-AD4F-B4E94F8C7DA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5F168BB-F8B5-4B60-A2D9-15D6AAE85ECB}" type="datetimeFigureOut">
              <a:rPr lang="en-US"/>
              <a:pPr/>
              <a:t>5/29/24</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789E71C2-40FC-46B0-9F54-054079C07FA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BDEA76D-4E6C-45C2-96AE-CD5B5C8A3520}" type="datetimeFigureOut">
              <a:rPr lang="en-US"/>
              <a:pPr/>
              <a:t>5/29/24</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95EBE714-6393-4BF3-9D63-6DB1C693A11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Content Placeholder 2"/>
          <p:cNvSpPr>
            <a:spLocks noGrp="1"/>
          </p:cNvSpPr>
          <p:nvPr>
            <p:ph idx="1"/>
          </p:nvPr>
        </p:nvSpPr>
        <p:spPr>
          <a:xfrm>
            <a:off x="4373315" y="987426"/>
            <a:ext cx="5207794" cy="4873625"/>
          </a:xfrm>
        </p:spPr>
        <p:txBody>
          <a:bodyPr/>
          <a:lstStyle>
            <a:lvl1pPr>
              <a:defRPr sz="2700"/>
            </a:lvl1pPr>
            <a:lvl2pPr>
              <a:defRPr sz="2363"/>
            </a:lvl2pPr>
            <a:lvl3pPr>
              <a:defRPr sz="2025"/>
            </a:lvl3pPr>
            <a:lvl4pPr>
              <a:defRPr sz="1688"/>
            </a:lvl4pPr>
            <a:lvl5pPr>
              <a:defRPr sz="1688"/>
            </a:lvl5pPr>
            <a:lvl6pPr>
              <a:defRPr sz="1688"/>
            </a:lvl6pPr>
            <a:lvl7pPr>
              <a:defRPr sz="1688"/>
            </a:lvl7pPr>
            <a:lvl8pPr>
              <a:defRPr sz="1688"/>
            </a:lvl8pPr>
            <a:lvl9pPr>
              <a:defRPr sz="16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41F56404-7C0A-4A70-80C7-58B4E18C2E79}" type="datetimeFigureOut">
              <a:rPr lang="en-US"/>
              <a:pPr/>
              <a:t>5/29/24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571977B-8A15-43E3-BB9A-6FACCCB6FD7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Picture Placeholder 2"/>
          <p:cNvSpPr>
            <a:spLocks noGrp="1"/>
          </p:cNvSpPr>
          <p:nvPr>
            <p:ph type="pic" idx="1"/>
          </p:nvPr>
        </p:nvSpPr>
        <p:spPr>
          <a:xfrm>
            <a:off x="4373315" y="987426"/>
            <a:ext cx="5207794" cy="4873625"/>
          </a:xfrm>
        </p:spPr>
        <p:txBody>
          <a:bodyPr rtlCol="0">
            <a:normAutofit/>
          </a:bodyPr>
          <a:lstStyle>
            <a:lvl1pPr marL="0" indent="0">
              <a:buNone/>
              <a:defRPr sz="2700"/>
            </a:lvl1pPr>
            <a:lvl2pPr marL="385785" indent="0">
              <a:buNone/>
              <a:defRPr sz="2363"/>
            </a:lvl2pPr>
            <a:lvl3pPr marL="771571" indent="0">
              <a:buNone/>
              <a:defRPr sz="2025"/>
            </a:lvl3pPr>
            <a:lvl4pPr marL="1157356" indent="0">
              <a:buNone/>
              <a:defRPr sz="1688"/>
            </a:lvl4pPr>
            <a:lvl5pPr marL="1543141" indent="0">
              <a:buNone/>
              <a:defRPr sz="1688"/>
            </a:lvl5pPr>
            <a:lvl6pPr marL="1928927" indent="0">
              <a:buNone/>
              <a:defRPr sz="1688"/>
            </a:lvl6pPr>
            <a:lvl7pPr marL="2314712" indent="0">
              <a:buNone/>
              <a:defRPr sz="1688"/>
            </a:lvl7pPr>
            <a:lvl8pPr marL="2700498" indent="0">
              <a:buNone/>
              <a:defRPr sz="1688"/>
            </a:lvl8pPr>
            <a:lvl9pPr marL="3086283" indent="0">
              <a:buNone/>
              <a:defRPr sz="1688"/>
            </a:lvl9pPr>
          </a:lstStyle>
          <a:p>
            <a:pPr lvl="0"/>
            <a:endParaRPr lang="en-US" noProof="0"/>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7215D99E-F75E-417A-B6DD-B1DB5382627C}" type="datetimeFigureOut">
              <a:rPr lang="en-US"/>
              <a:pPr/>
              <a:t>5/29/24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88D9EC-88E8-42BE-9803-E404DECFA4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19DB2C-0737-4180-B000-8EBA7417F610}" type="datetimeFigureOut">
              <a:rPr lang="en-US"/>
              <a:pPr/>
              <a:t>5/29/24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F31E5-861C-45F9-89E8-388DE9690F6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365125"/>
            <a:ext cx="2218134"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1" y="365125"/>
            <a:ext cx="652581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34FEE0-FC62-4A35-BD96-9CA27BB140EB}" type="datetimeFigureOut">
              <a:rPr lang="en-US"/>
              <a:pPr/>
              <a:t>5/29/24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F44D42D-A0F9-49AA-A49A-5E2A0AE1E14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06438" y="365125"/>
            <a:ext cx="8874125"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06438" y="1825625"/>
            <a:ext cx="8874125"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6438" y="6356350"/>
            <a:ext cx="231457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898989"/>
                </a:solidFill>
              </a:defRPr>
            </a:lvl1pPr>
          </a:lstStyle>
          <a:p>
            <a:fld id="{B21F9BC8-E4BD-4D0E-B6BB-10632FDE541F}" type="datetimeFigureOut">
              <a:rPr lang="en-US"/>
              <a:pPr/>
              <a:t>5/29/24</a:t>
            </a:fld>
            <a:endParaRPr lang="en-US"/>
          </a:p>
        </p:txBody>
      </p:sp>
      <p:sp>
        <p:nvSpPr>
          <p:cNvPr id="5" name="Footer Placeholder 4"/>
          <p:cNvSpPr>
            <a:spLocks noGrp="1"/>
          </p:cNvSpPr>
          <p:nvPr>
            <p:ph type="ftr" sz="quarter" idx="3"/>
          </p:nvPr>
        </p:nvSpPr>
        <p:spPr>
          <a:xfrm>
            <a:off x="3408363" y="6356350"/>
            <a:ext cx="3471862"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898989"/>
                </a:solidFill>
              </a:defRPr>
            </a:lvl1pPr>
          </a:lstStyle>
          <a:p>
            <a:endParaRPr lang="en-US"/>
          </a:p>
        </p:txBody>
      </p:sp>
      <p:sp>
        <p:nvSpPr>
          <p:cNvPr id="6" name="Slide Number Placeholder 5"/>
          <p:cNvSpPr>
            <a:spLocks noGrp="1"/>
          </p:cNvSpPr>
          <p:nvPr>
            <p:ph type="sldNum" sz="quarter" idx="4"/>
          </p:nvPr>
        </p:nvSpPr>
        <p:spPr>
          <a:xfrm>
            <a:off x="7265988" y="6356350"/>
            <a:ext cx="23145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898989"/>
                </a:solidFill>
              </a:defRPr>
            </a:lvl1pPr>
          </a:lstStyle>
          <a:p>
            <a:fld id="{96B54179-4137-4CBB-A5F3-054D60058E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824"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hf hdr="0" ftr="0" dt="0"/>
  <p:txStyles>
    <p:title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p:titleStyle>
    <p:body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p:bodyStyle>
    <p:otherStyle>
      <a:defPPr>
        <a:defRPr lang="en-US"/>
      </a:defPPr>
      <a:lvl1pPr marL="0" algn="l" defTabSz="771571" rtl="0" eaLnBrk="1" latinLnBrk="0" hangingPunct="1">
        <a:defRPr sz="1519" kern="1200">
          <a:solidFill>
            <a:schemeClr val="tx1"/>
          </a:solidFill>
          <a:latin typeface="+mn-lt"/>
          <a:ea typeface="+mn-ea"/>
          <a:cs typeface="+mn-cs"/>
        </a:defRPr>
      </a:lvl1pPr>
      <a:lvl2pPr marL="385785" algn="l" defTabSz="771571" rtl="0" eaLnBrk="1" latinLnBrk="0" hangingPunct="1">
        <a:defRPr sz="1519" kern="1200">
          <a:solidFill>
            <a:schemeClr val="tx1"/>
          </a:solidFill>
          <a:latin typeface="+mn-lt"/>
          <a:ea typeface="+mn-ea"/>
          <a:cs typeface="+mn-cs"/>
        </a:defRPr>
      </a:lvl2pPr>
      <a:lvl3pPr marL="771571" algn="l" defTabSz="771571" rtl="0" eaLnBrk="1" latinLnBrk="0" hangingPunct="1">
        <a:defRPr sz="1519" kern="1200">
          <a:solidFill>
            <a:schemeClr val="tx1"/>
          </a:solidFill>
          <a:latin typeface="+mn-lt"/>
          <a:ea typeface="+mn-ea"/>
          <a:cs typeface="+mn-cs"/>
        </a:defRPr>
      </a:lvl3pPr>
      <a:lvl4pPr marL="1157356" algn="l" defTabSz="771571" rtl="0" eaLnBrk="1" latinLnBrk="0" hangingPunct="1">
        <a:defRPr sz="1519" kern="1200">
          <a:solidFill>
            <a:schemeClr val="tx1"/>
          </a:solidFill>
          <a:latin typeface="+mn-lt"/>
          <a:ea typeface="+mn-ea"/>
          <a:cs typeface="+mn-cs"/>
        </a:defRPr>
      </a:lvl4pPr>
      <a:lvl5pPr marL="1543141" algn="l" defTabSz="771571" rtl="0" eaLnBrk="1" latinLnBrk="0" hangingPunct="1">
        <a:defRPr sz="1519" kern="1200">
          <a:solidFill>
            <a:schemeClr val="tx1"/>
          </a:solidFill>
          <a:latin typeface="+mn-lt"/>
          <a:ea typeface="+mn-ea"/>
          <a:cs typeface="+mn-cs"/>
        </a:defRPr>
      </a:lvl5pPr>
      <a:lvl6pPr marL="1928927" algn="l" defTabSz="771571" rtl="0" eaLnBrk="1" latinLnBrk="0" hangingPunct="1">
        <a:defRPr sz="1519" kern="1200">
          <a:solidFill>
            <a:schemeClr val="tx1"/>
          </a:solidFill>
          <a:latin typeface="+mn-lt"/>
          <a:ea typeface="+mn-ea"/>
          <a:cs typeface="+mn-cs"/>
        </a:defRPr>
      </a:lvl6pPr>
      <a:lvl7pPr marL="2314712" algn="l" defTabSz="771571" rtl="0" eaLnBrk="1" latinLnBrk="0" hangingPunct="1">
        <a:defRPr sz="1519" kern="1200">
          <a:solidFill>
            <a:schemeClr val="tx1"/>
          </a:solidFill>
          <a:latin typeface="+mn-lt"/>
          <a:ea typeface="+mn-ea"/>
          <a:cs typeface="+mn-cs"/>
        </a:defRPr>
      </a:lvl7pPr>
      <a:lvl8pPr marL="2700498" algn="l" defTabSz="771571" rtl="0" eaLnBrk="1" latinLnBrk="0" hangingPunct="1">
        <a:defRPr sz="1519" kern="1200">
          <a:solidFill>
            <a:schemeClr val="tx1"/>
          </a:solidFill>
          <a:latin typeface="+mn-lt"/>
          <a:ea typeface="+mn-ea"/>
          <a:cs typeface="+mn-cs"/>
        </a:defRPr>
      </a:lvl8pPr>
      <a:lvl9pPr marL="3086283" algn="l" defTabSz="771571"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neuralnetworksanddeeplearning.com/chap3.html" TargetMode="External"/><Relationship Id="rId2" Type="http://schemas.openxmlformats.org/officeDocument/2006/relationships/hyperlink" Target="https://cs231n.github.io/neural-networks-3" TargetMode="Externa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customXml" Target="../ink/ink1.xml"/><Relationship Id="rId4" Type="http://schemas.openxmlformats.org/officeDocument/2006/relationships/hyperlink" Target="http://ruder.io/optimizing-gradient-desc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a:spLocks noGrp="1" noChangeArrowheads="1"/>
          </p:cNvSpPr>
          <p:nvPr>
            <p:ph type="ctrTitle"/>
          </p:nvPr>
        </p:nvSpPr>
        <p:spPr>
          <a:xfrm>
            <a:off x="527050" y="3500438"/>
            <a:ext cx="9477375" cy="2232818"/>
          </a:xfrm>
        </p:spPr>
        <p:txBody>
          <a:bodyPr/>
          <a:lstStyle/>
          <a:p>
            <a:pPr eaLnBrk="1" hangingPunct="1">
              <a:lnSpc>
                <a:spcPct val="110000"/>
              </a:lnSpc>
            </a:pPr>
            <a:r>
              <a:rPr lang="en-US" sz="4000" b="1" dirty="0">
                <a:solidFill>
                  <a:schemeClr val="bg1"/>
                </a:solidFill>
                <a:ea typeface="MS PGothic" pitchFamily="34" charset="-128"/>
              </a:rPr>
              <a:t>HỌC MÁY</a:t>
            </a:r>
            <a:br>
              <a:rPr lang="en-US" sz="4000" dirty="0">
                <a:ea typeface="MS PGothic" pitchFamily="34" charset="-128"/>
              </a:rPr>
            </a:br>
            <a:r>
              <a:rPr lang="en-US" altLang="en-US" sz="4000" b="1" dirty="0" err="1">
                <a:solidFill>
                  <a:schemeClr val="bg1"/>
                </a:solidFill>
                <a:ea typeface="ＭＳ Ｐゴシック" panose="020B0600070205080204" pitchFamily="34" charset="-128"/>
              </a:rPr>
              <a:t>Lec</a:t>
            </a:r>
            <a:r>
              <a:rPr lang="en-US" altLang="en-US" sz="4000" b="1" dirty="0">
                <a:solidFill>
                  <a:schemeClr val="bg1"/>
                </a:solidFill>
                <a:ea typeface="ＭＳ Ｐゴシック" panose="020B0600070205080204" pitchFamily="34" charset="-128"/>
              </a:rPr>
              <a:t> 9. Các k</a:t>
            </a:r>
            <a:r>
              <a:rPr lang="en-US" altLang="en-US" sz="4000" b="1" dirty="0" err="1">
                <a:solidFill>
                  <a:schemeClr val="bg1"/>
                </a:solidFill>
                <a:ea typeface="ＭＳ Ｐゴシック" panose="020B0600070205080204" pitchFamily="34" charset="-128"/>
              </a:rPr>
              <a:t>ỹ thuật huấn luyện mạng nơ-ron</a:t>
            </a:r>
            <a:endParaRPr lang="en-US" sz="4000" dirty="0">
              <a:ea typeface="MS PGothic" pitchFamily="34" charset="-128"/>
            </a:endParaRPr>
          </a:p>
        </p:txBody>
      </p:sp>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1</a:t>
            </a:fld>
            <a:endParaRPr lang="en-US" sz="1200">
              <a:solidFill>
                <a:schemeClr val="tx1"/>
              </a:solidFill>
            </a:endParaRPr>
          </a:p>
        </p:txBody>
      </p:sp>
      <p:sp>
        <p:nvSpPr>
          <p:cNvPr id="15363" name="Rectangle 10"/>
          <p:cNvSpPr>
            <a:spLocks noChangeArrowheads="1"/>
          </p:cNvSpPr>
          <p:nvPr/>
        </p:nvSpPr>
        <p:spPr bwMode="auto">
          <a:xfrm>
            <a:off x="771525" y="3200400"/>
            <a:ext cx="9086850" cy="76200"/>
          </a:xfrm>
          <a:prstGeom prst="rect">
            <a:avLst/>
          </a:prstGeom>
          <a:solidFill>
            <a:schemeClr val="accent1"/>
          </a:solidFill>
          <a:ln w="9525">
            <a:solidFill>
              <a:schemeClr val="tx1"/>
            </a:solidFill>
            <a:miter lim="800000"/>
            <a:headEnd/>
            <a:tailEnd/>
          </a:ln>
        </p:spPr>
        <p:txBody>
          <a:bodyPr wrap="none" lIns="89990" tIns="46795" rIns="89990" bIns="46795" anchor="ctr"/>
          <a:lstStyle/>
          <a:p>
            <a:pPr eaLnBrk="1" hangingPunct="1"/>
            <a:endParaRPr lang="vi-VN"/>
          </a:p>
        </p:txBody>
      </p:sp>
      <p:sp>
        <p:nvSpPr>
          <p:cNvPr id="242702" name="Rectangle 14"/>
          <p:cNvSpPr>
            <a:spLocks noChangeArrowheads="1"/>
          </p:cNvSpPr>
          <p:nvPr/>
        </p:nvSpPr>
        <p:spPr bwMode="auto">
          <a:xfrm>
            <a:off x="4414838" y="2357438"/>
            <a:ext cx="5589587" cy="685800"/>
          </a:xfrm>
          <a:prstGeom prst="rect">
            <a:avLst/>
          </a:prstGeom>
          <a:noFill/>
          <a:ln w="9525">
            <a:noFill/>
            <a:miter lim="800000"/>
            <a:headEnd/>
            <a:tailEnd/>
          </a:ln>
          <a:effectLst/>
        </p:spPr>
        <p:txBody>
          <a:bodyPr lIns="91429" tIns="45715" rIns="91429" bIns="45715" anchor="b" anchorCtr="1"/>
          <a:lstStyle/>
          <a:p>
            <a:pPr algn="ctr" eaLnBrk="1" hangingPunct="1"/>
            <a:r>
              <a:rPr lang="en-US" sz="2400" b="1" dirty="0">
                <a:solidFill>
                  <a:schemeClr val="bg1"/>
                </a:solidFill>
                <a:effectLst>
                  <a:outerShdw blurRad="38100" dist="38100" dir="2700000" algn="tl">
                    <a:srgbClr val="C0C0C0"/>
                  </a:outerShdw>
                </a:effectLst>
                <a:latin typeface="+mj-lt"/>
              </a:rPr>
              <a:t>BỘ MÔN KHOA HỌC MÁY TÍNH</a:t>
            </a:r>
          </a:p>
          <a:p>
            <a:pPr algn="ctr" eaLnBrk="1" hangingPunct="1"/>
            <a:r>
              <a:rPr lang="en-US" sz="2000" b="1" dirty="0">
                <a:solidFill>
                  <a:schemeClr val="bg1"/>
                </a:solidFill>
                <a:effectLst>
                  <a:outerShdw blurRad="38100" dist="38100" dir="2700000" algn="tl">
                    <a:srgbClr val="C0C0C0"/>
                  </a:outerShdw>
                </a:effectLst>
                <a:latin typeface="+mj-lt"/>
              </a:rPr>
              <a:t>www.fit.nuce.edu.vn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7EFEF-F743-C744-8EED-607C3D393105}"/>
              </a:ext>
            </a:extLst>
          </p:cNvPr>
          <p:cNvSpPr>
            <a:spLocks noGrp="1"/>
          </p:cNvSpPr>
          <p:nvPr>
            <p:ph type="title"/>
          </p:nvPr>
        </p:nvSpPr>
        <p:spPr/>
        <p:txBody>
          <a:bodyPr/>
          <a:lstStyle/>
          <a:p>
            <a:r>
              <a:rPr lang="en-VN"/>
              <a:t>Neural Network</a:t>
            </a:r>
          </a:p>
        </p:txBody>
      </p:sp>
      <p:sp>
        <p:nvSpPr>
          <p:cNvPr id="3" name="Content Placeholder 2">
            <a:extLst>
              <a:ext uri="{FF2B5EF4-FFF2-40B4-BE49-F238E27FC236}">
                <a16:creationId xmlns:a16="http://schemas.microsoft.com/office/drawing/2014/main" id="{28CE369C-39AB-E04D-883A-F409083E7F6A}"/>
              </a:ext>
            </a:extLst>
          </p:cNvPr>
          <p:cNvSpPr>
            <a:spLocks noGrp="1"/>
          </p:cNvSpPr>
          <p:nvPr>
            <p:ph idx="1"/>
          </p:nvPr>
        </p:nvSpPr>
        <p:spPr/>
        <p:txBody>
          <a:bodyPr/>
          <a:lstStyle/>
          <a:p>
            <a:pPr marL="457200" indent="-457200">
              <a:buFont typeface="+mj-lt"/>
              <a:buAutoNum type="arabicPeriod"/>
            </a:pPr>
            <a:r>
              <a:rPr lang="en-VN">
                <a:latin typeface="Calibri" panose="020F0502020204030204" pitchFamily="34" charset="0"/>
                <a:cs typeface="Calibri" panose="020F0502020204030204" pitchFamily="34" charset="0"/>
              </a:rPr>
              <a:t>Gradient Descent và một số biến thể</a:t>
            </a:r>
          </a:p>
          <a:p>
            <a:pPr marL="457200" indent="-457200">
              <a:buFont typeface="+mj-lt"/>
              <a:buAutoNum type="arabicPeriod"/>
            </a:pPr>
            <a:r>
              <a:rPr lang="en-VN">
                <a:latin typeface="Calibri" panose="020F0502020204030204" pitchFamily="34" charset="0"/>
                <a:cs typeface="Calibri" panose="020F0502020204030204" pitchFamily="34" charset="0"/>
              </a:rPr>
              <a:t>Một số vấn đề khi huấn luyện Neural network</a:t>
            </a:r>
          </a:p>
        </p:txBody>
      </p:sp>
      <p:sp>
        <p:nvSpPr>
          <p:cNvPr id="4" name="Slide Number Placeholder 3">
            <a:extLst>
              <a:ext uri="{FF2B5EF4-FFF2-40B4-BE49-F238E27FC236}">
                <a16:creationId xmlns:a16="http://schemas.microsoft.com/office/drawing/2014/main" id="{3CE0838C-FD77-E744-9FAA-0AE431473EA8}"/>
              </a:ext>
            </a:extLst>
          </p:cNvPr>
          <p:cNvSpPr>
            <a:spLocks noGrp="1"/>
          </p:cNvSpPr>
          <p:nvPr>
            <p:ph type="sldNum" sz="quarter" idx="12"/>
          </p:nvPr>
        </p:nvSpPr>
        <p:spPr/>
        <p:txBody>
          <a:bodyPr/>
          <a:lstStyle/>
          <a:p>
            <a:fld id="{DA8C51A7-BEEA-471D-933F-7E35BC04A30F}" type="slidenum">
              <a:rPr lang="en-US"/>
              <a:pPr/>
              <a:t>2</a:t>
            </a:fld>
            <a:endParaRPr lang="en-US"/>
          </a:p>
        </p:txBody>
      </p:sp>
      <p:pic>
        <p:nvPicPr>
          <p:cNvPr id="1025" name="Picture 1" descr="page2image51841472">
            <a:extLst>
              <a:ext uri="{FF2B5EF4-FFF2-40B4-BE49-F238E27FC236}">
                <a16:creationId xmlns:a16="http://schemas.microsoft.com/office/drawing/2014/main" id="{2E9F4B9C-E1CA-0E45-BA2F-EF2753C72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217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2image51843584">
            <a:extLst>
              <a:ext uri="{FF2B5EF4-FFF2-40B4-BE49-F238E27FC236}">
                <a16:creationId xmlns:a16="http://schemas.microsoft.com/office/drawing/2014/main" id="{1D0A4889-0650-804A-8D06-1BBE13B2D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6195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2image51840704">
            <a:extLst>
              <a:ext uri="{FF2B5EF4-FFF2-40B4-BE49-F238E27FC236}">
                <a16:creationId xmlns:a16="http://schemas.microsoft.com/office/drawing/2014/main" id="{F2C00498-696D-0D4F-BD6B-6495BA0AD6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4704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2image51841472">
            <a:extLst>
              <a:ext uri="{FF2B5EF4-FFF2-40B4-BE49-F238E27FC236}">
                <a16:creationId xmlns:a16="http://schemas.microsoft.com/office/drawing/2014/main" id="{7F2F4FDD-3F4A-AE43-AC8C-C60141B56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217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2image51843584">
            <a:extLst>
              <a:ext uri="{FF2B5EF4-FFF2-40B4-BE49-F238E27FC236}">
                <a16:creationId xmlns:a16="http://schemas.microsoft.com/office/drawing/2014/main" id="{AE4F282D-E053-7441-B3FC-E3EC4DA72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6195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2image51840704">
            <a:extLst>
              <a:ext uri="{FF2B5EF4-FFF2-40B4-BE49-F238E27FC236}">
                <a16:creationId xmlns:a16="http://schemas.microsoft.com/office/drawing/2014/main" id="{B80D792C-E52D-C64C-9C97-2A98DF0987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470400" cy="22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837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7EFEF-F743-C744-8EED-607C3D393105}"/>
              </a:ext>
            </a:extLst>
          </p:cNvPr>
          <p:cNvSpPr>
            <a:spLocks noGrp="1"/>
          </p:cNvSpPr>
          <p:nvPr>
            <p:ph type="title"/>
          </p:nvPr>
        </p:nvSpPr>
        <p:spPr/>
        <p:txBody>
          <a:bodyPr/>
          <a:lstStyle/>
          <a:p>
            <a:r>
              <a:rPr lang="en-VN"/>
              <a:t>Neural Network</a:t>
            </a:r>
          </a:p>
        </p:txBody>
      </p:sp>
      <p:sp>
        <p:nvSpPr>
          <p:cNvPr id="3" name="Content Placeholder 2">
            <a:extLst>
              <a:ext uri="{FF2B5EF4-FFF2-40B4-BE49-F238E27FC236}">
                <a16:creationId xmlns:a16="http://schemas.microsoft.com/office/drawing/2014/main" id="{28CE369C-39AB-E04D-883A-F409083E7F6A}"/>
              </a:ext>
            </a:extLst>
          </p:cNvPr>
          <p:cNvSpPr>
            <a:spLocks noGrp="1"/>
          </p:cNvSpPr>
          <p:nvPr>
            <p:ph idx="1"/>
          </p:nvPr>
        </p:nvSpPr>
        <p:spPr>
          <a:xfrm>
            <a:off x="718019" y="1340768"/>
            <a:ext cx="4785521" cy="4752528"/>
          </a:xfrm>
        </p:spPr>
        <p:txBody>
          <a:bodyPr/>
          <a:lstStyle/>
          <a:p>
            <a:pPr marL="0" indent="0">
              <a:lnSpc>
                <a:spcPct val="100000"/>
              </a:lnSpc>
              <a:buNone/>
            </a:pPr>
            <a:r>
              <a:rPr lang="en-VN" b="1">
                <a:latin typeface="Calibri" panose="020F0502020204030204" pitchFamily="34" charset="0"/>
                <a:cs typeface="Calibri" panose="020F0502020204030204" pitchFamily="34" charset="0"/>
              </a:rPr>
              <a:t>Hàm không lồi (non-convexity)</a:t>
            </a:r>
          </a:p>
          <a:p>
            <a:pPr>
              <a:lnSpc>
                <a:spcPct val="100000"/>
              </a:lnSpc>
            </a:pPr>
            <a:r>
              <a:rPr lang="en-VN">
                <a:latin typeface="Calibri" panose="020F0502020204030204" pitchFamily="34" charset="0"/>
                <a:cs typeface="Calibri" panose="020F0502020204030204" pitchFamily="34" charset="0"/>
              </a:rPr>
              <a:t>Với Neuron network có nhiều </a:t>
            </a:r>
            <a:r>
              <a:rPr lang="en-VN">
                <a:solidFill>
                  <a:srgbClr val="FF0000"/>
                </a:solidFill>
                <a:latin typeface="Calibri" panose="020F0502020204030204" pitchFamily="34" charset="0"/>
                <a:cs typeface="Calibri" panose="020F0502020204030204" pitchFamily="34" charset="0"/>
              </a:rPr>
              <a:t>hơn 1 lớp ẩn</a:t>
            </a:r>
            <a:r>
              <a:rPr lang="en-VN">
                <a:latin typeface="Calibri" panose="020F0502020204030204" pitchFamily="34" charset="0"/>
                <a:cs typeface="Calibri" panose="020F0502020204030204" pitchFamily="34" charset="0"/>
              </a:rPr>
              <a:t> (hidden layers) sẽ làm cho </a:t>
            </a:r>
            <a:r>
              <a:rPr lang="en-VN">
                <a:solidFill>
                  <a:srgbClr val="FF0000"/>
                </a:solidFill>
                <a:latin typeface="Calibri" panose="020F0502020204030204" pitchFamily="34" charset="0"/>
                <a:cs typeface="Calibri" panose="020F0502020204030204" pitchFamily="34" charset="0"/>
              </a:rPr>
              <a:t>Cost có dạng là một hàm không lồi (convex)</a:t>
            </a:r>
          </a:p>
          <a:p>
            <a:pPr>
              <a:lnSpc>
                <a:spcPct val="100000"/>
              </a:lnSpc>
            </a:pPr>
            <a:r>
              <a:rPr lang="en-VN">
                <a:latin typeface="Calibri" panose="020F0502020204030204" pitchFamily="34" charset="0"/>
                <a:cs typeface="Calibri" panose="020F0502020204030204" pitchFamily="34" charset="0"/>
              </a:rPr>
              <a:t>Ta phải </a:t>
            </a:r>
            <a:r>
              <a:rPr lang="en-VN">
                <a:solidFill>
                  <a:srgbClr val="FF0000"/>
                </a:solidFill>
                <a:latin typeface="Calibri" panose="020F0502020204030204" pitchFamily="34" charset="0"/>
                <a:cs typeface="Calibri" panose="020F0502020204030204" pitchFamily="34" charset="0"/>
              </a:rPr>
              <a:t>thay đổi thuật toán Gradient descent</a:t>
            </a:r>
            <a:r>
              <a:rPr lang="en-VN">
                <a:latin typeface="Calibri" panose="020F0502020204030204" pitchFamily="34" charset="0"/>
                <a:cs typeface="Calibri" panose="020F0502020204030204" pitchFamily="34" charset="0"/>
              </a:rPr>
              <a:t> thế nào để </a:t>
            </a:r>
            <a:r>
              <a:rPr lang="en-VN">
                <a:solidFill>
                  <a:srgbClr val="FF0000"/>
                </a:solidFill>
                <a:latin typeface="Calibri" panose="020F0502020204030204" pitchFamily="34" charset="0"/>
                <a:cs typeface="Calibri" panose="020F0502020204030204" pitchFamily="34" charset="0"/>
              </a:rPr>
              <a:t>tối thiểu hoá </a:t>
            </a:r>
            <a:r>
              <a:rPr lang="en-VN">
                <a:latin typeface="Calibri" panose="020F0502020204030204" pitchFamily="34" charset="0"/>
                <a:cs typeface="Calibri" panose="020F0502020204030204" pitchFamily="34" charset="0"/>
              </a:rPr>
              <a:t>một </a:t>
            </a:r>
            <a:r>
              <a:rPr lang="en-VN">
                <a:solidFill>
                  <a:srgbClr val="FF0000"/>
                </a:solidFill>
                <a:latin typeface="Calibri" panose="020F0502020204030204" pitchFamily="34" charset="0"/>
                <a:cs typeface="Calibri" panose="020F0502020204030204" pitchFamily="34" charset="0"/>
              </a:rPr>
              <a:t>hàm không lồi</a:t>
            </a:r>
            <a:r>
              <a:rPr lang="en-VN">
                <a:latin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3CE0838C-FD77-E744-9FAA-0AE431473EA8}"/>
              </a:ext>
            </a:extLst>
          </p:cNvPr>
          <p:cNvSpPr>
            <a:spLocks noGrp="1"/>
          </p:cNvSpPr>
          <p:nvPr>
            <p:ph type="sldNum" sz="quarter" idx="12"/>
          </p:nvPr>
        </p:nvSpPr>
        <p:spPr/>
        <p:txBody>
          <a:bodyPr/>
          <a:lstStyle/>
          <a:p>
            <a:fld id="{DA8C51A7-BEEA-471D-933F-7E35BC04A30F}" type="slidenum">
              <a:rPr lang="en-US"/>
              <a:pPr/>
              <a:t>3</a:t>
            </a:fld>
            <a:endParaRPr lang="en-US"/>
          </a:p>
        </p:txBody>
      </p:sp>
      <p:pic>
        <p:nvPicPr>
          <p:cNvPr id="3074" name="Picture 2" descr="page2image51843584">
            <a:extLst>
              <a:ext uri="{FF2B5EF4-FFF2-40B4-BE49-F238E27FC236}">
                <a16:creationId xmlns:a16="http://schemas.microsoft.com/office/drawing/2014/main" id="{2EDA96D8-90C3-A24F-A820-5E36B027C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6195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ge2image51840704">
            <a:extLst>
              <a:ext uri="{FF2B5EF4-FFF2-40B4-BE49-F238E27FC236}">
                <a16:creationId xmlns:a16="http://schemas.microsoft.com/office/drawing/2014/main" id="{BC6ADF3E-A60B-7A4A-8263-5F490FA50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4704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6" descr="page2image51843584">
            <a:extLst>
              <a:ext uri="{FF2B5EF4-FFF2-40B4-BE49-F238E27FC236}">
                <a16:creationId xmlns:a16="http://schemas.microsoft.com/office/drawing/2014/main" id="{CA46ADB4-DC67-7C4D-9B13-D21A32AD84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6195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7" descr="page2image51840704">
            <a:extLst>
              <a:ext uri="{FF2B5EF4-FFF2-40B4-BE49-F238E27FC236}">
                <a16:creationId xmlns:a16="http://schemas.microsoft.com/office/drawing/2014/main" id="{D657872B-6BBC-1C42-8BE4-D2D051BB4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4704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Graphical user interface&#10;&#10;Description automatically generated with medium confidence">
            <a:extLst>
              <a:ext uri="{FF2B5EF4-FFF2-40B4-BE49-F238E27FC236}">
                <a16:creationId xmlns:a16="http://schemas.microsoft.com/office/drawing/2014/main" id="{B43A7CD0-5DA6-184E-B625-FE63479228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3540" y="1183930"/>
            <a:ext cx="4593222" cy="4372394"/>
          </a:xfrm>
          <a:prstGeom prst="rect">
            <a:avLst/>
          </a:prstGeom>
        </p:spPr>
      </p:pic>
    </p:spTree>
    <p:extLst>
      <p:ext uri="{BB962C8B-B14F-4D97-AF65-F5344CB8AC3E}">
        <p14:creationId xmlns:p14="http://schemas.microsoft.com/office/powerpoint/2010/main" val="2264906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A651-AC75-9441-8764-BCA2C63FE27C}"/>
              </a:ext>
            </a:extLst>
          </p:cNvPr>
          <p:cNvSpPr>
            <a:spLocks noGrp="1"/>
          </p:cNvSpPr>
          <p:nvPr>
            <p:ph type="title"/>
          </p:nvPr>
        </p:nvSpPr>
        <p:spPr/>
        <p:txBody>
          <a:bodyPr/>
          <a:lstStyle/>
          <a:p>
            <a:r>
              <a:rPr lang="en-VN" sz="2800"/>
              <a:t>Neural Network – Gradient descent và một số biến thể</a:t>
            </a:r>
          </a:p>
        </p:txBody>
      </p:sp>
      <p:sp>
        <p:nvSpPr>
          <p:cNvPr id="3" name="Content Placeholder 2">
            <a:extLst>
              <a:ext uri="{FF2B5EF4-FFF2-40B4-BE49-F238E27FC236}">
                <a16:creationId xmlns:a16="http://schemas.microsoft.com/office/drawing/2014/main" id="{4A296015-290E-9A40-B516-DB9ADED59A23}"/>
              </a:ext>
            </a:extLst>
          </p:cNvPr>
          <p:cNvSpPr>
            <a:spLocks noGrp="1"/>
          </p:cNvSpPr>
          <p:nvPr>
            <p:ph idx="1"/>
          </p:nvPr>
        </p:nvSpPr>
        <p:spPr/>
        <p:txBody>
          <a:bodyPr/>
          <a:lstStyle/>
          <a:p>
            <a:pPr>
              <a:lnSpc>
                <a:spcPct val="150000"/>
              </a:lnSpc>
            </a:pPr>
            <a:r>
              <a:rPr lang="en-VN">
                <a:latin typeface="+mn-lt"/>
              </a:rPr>
              <a:t>Trong </a:t>
            </a:r>
            <a:r>
              <a:rPr lang="en-VN">
                <a:solidFill>
                  <a:srgbClr val="FF0000"/>
                </a:solidFill>
                <a:latin typeface="+mn-lt"/>
              </a:rPr>
              <a:t>bước lan truyền ngược</a:t>
            </a:r>
            <a:r>
              <a:rPr lang="en-VN">
                <a:latin typeface="+mn-lt"/>
              </a:rPr>
              <a:t>, sau khi </a:t>
            </a:r>
            <a:r>
              <a:rPr lang="en-VN">
                <a:solidFill>
                  <a:srgbClr val="FF0000"/>
                </a:solidFill>
                <a:latin typeface="+mn-lt"/>
              </a:rPr>
              <a:t>tính được đạo hàm của loss </a:t>
            </a:r>
            <a:r>
              <a:rPr lang="en-VN">
                <a:latin typeface="+mn-lt"/>
              </a:rPr>
              <a:t>theo các trọng số, ta cần </a:t>
            </a:r>
            <a:r>
              <a:rPr lang="en-VN">
                <a:solidFill>
                  <a:srgbClr val="FF0000"/>
                </a:solidFill>
                <a:latin typeface="+mn-lt"/>
              </a:rPr>
              <a:t>cập nhật lại các trọng số</a:t>
            </a:r>
            <a:r>
              <a:rPr lang="en-VN">
                <a:latin typeface="+mn-lt"/>
              </a:rPr>
              <a:t>.</a:t>
            </a:r>
          </a:p>
          <a:p>
            <a:pPr lvl="1">
              <a:lnSpc>
                <a:spcPct val="150000"/>
              </a:lnSpc>
            </a:pPr>
            <a:r>
              <a:rPr lang="en-VN">
                <a:latin typeface="+mn-lt"/>
              </a:rPr>
              <a:t>Giải thuật hay sử dụng là </a:t>
            </a:r>
            <a:r>
              <a:rPr lang="en-VN">
                <a:solidFill>
                  <a:srgbClr val="26902B"/>
                </a:solidFill>
                <a:latin typeface="+mn-lt"/>
              </a:rPr>
              <a:t>Gradient descent</a:t>
            </a:r>
          </a:p>
          <a:p>
            <a:pPr>
              <a:lnSpc>
                <a:spcPct val="150000"/>
              </a:lnSpc>
            </a:pPr>
            <a:r>
              <a:rPr lang="en-VN">
                <a:solidFill>
                  <a:srgbClr val="FF0000"/>
                </a:solidFill>
                <a:latin typeface="+mn-lt"/>
              </a:rPr>
              <a:t>Ngoài gradient descent</a:t>
            </a:r>
            <a:r>
              <a:rPr lang="en-VN">
                <a:latin typeface="+mn-lt"/>
              </a:rPr>
              <a:t>, thực tế hay sử dụng các giải thuật sau:</a:t>
            </a:r>
          </a:p>
          <a:p>
            <a:pPr lvl="1">
              <a:lnSpc>
                <a:spcPct val="150000"/>
              </a:lnSpc>
            </a:pPr>
            <a:r>
              <a:rPr lang="en-VN">
                <a:latin typeface="+mn-lt"/>
              </a:rPr>
              <a:t>Mini-bath / Stochastic gradient descent – SGD</a:t>
            </a:r>
          </a:p>
          <a:p>
            <a:pPr lvl="1">
              <a:lnSpc>
                <a:spcPct val="150000"/>
              </a:lnSpc>
            </a:pPr>
            <a:r>
              <a:rPr lang="en-VN">
                <a:latin typeface="+mn-lt"/>
              </a:rPr>
              <a:t>SGD sử dụng quán tính</a:t>
            </a:r>
          </a:p>
          <a:p>
            <a:pPr lvl="1">
              <a:lnSpc>
                <a:spcPct val="150000"/>
              </a:lnSpc>
            </a:pPr>
            <a:r>
              <a:rPr lang="en-VN">
                <a:latin typeface="+mn-lt"/>
              </a:rPr>
              <a:t>Các phương pháp tự động điều chỉnh gradient (adaptive gradient methods)</a:t>
            </a:r>
          </a:p>
        </p:txBody>
      </p:sp>
      <p:sp>
        <p:nvSpPr>
          <p:cNvPr id="4" name="Slide Number Placeholder 3">
            <a:extLst>
              <a:ext uri="{FF2B5EF4-FFF2-40B4-BE49-F238E27FC236}">
                <a16:creationId xmlns:a16="http://schemas.microsoft.com/office/drawing/2014/main" id="{F0DB79E4-9B9A-EB49-93F1-FD21EE3E52B0}"/>
              </a:ext>
            </a:extLst>
          </p:cNvPr>
          <p:cNvSpPr>
            <a:spLocks noGrp="1"/>
          </p:cNvSpPr>
          <p:nvPr>
            <p:ph type="sldNum" sz="quarter" idx="12"/>
          </p:nvPr>
        </p:nvSpPr>
        <p:spPr/>
        <p:txBody>
          <a:bodyPr/>
          <a:lstStyle/>
          <a:p>
            <a:fld id="{DA8C51A7-BEEA-471D-933F-7E35BC04A30F}" type="slidenum">
              <a:rPr lang="en-US"/>
              <a:pPr/>
              <a:t>4</a:t>
            </a:fld>
            <a:endParaRPr lang="en-US"/>
          </a:p>
        </p:txBody>
      </p:sp>
    </p:spTree>
    <p:extLst>
      <p:ext uri="{BB962C8B-B14F-4D97-AF65-F5344CB8AC3E}">
        <p14:creationId xmlns:p14="http://schemas.microsoft.com/office/powerpoint/2010/main" val="965180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A651-AC75-9441-8764-BCA2C63FE27C}"/>
              </a:ext>
            </a:extLst>
          </p:cNvPr>
          <p:cNvSpPr>
            <a:spLocks noGrp="1"/>
          </p:cNvSpPr>
          <p:nvPr>
            <p:ph type="title"/>
          </p:nvPr>
        </p:nvSpPr>
        <p:spPr/>
        <p:txBody>
          <a:bodyPr/>
          <a:lstStyle/>
          <a:p>
            <a:r>
              <a:rPr lang="en-VN" sz="2800"/>
              <a:t>Neural Network – Gradient descent và một số biến thể</a:t>
            </a:r>
          </a:p>
        </p:txBody>
      </p:sp>
      <p:sp>
        <p:nvSpPr>
          <p:cNvPr id="3" name="Content Placeholder 2">
            <a:extLst>
              <a:ext uri="{FF2B5EF4-FFF2-40B4-BE49-F238E27FC236}">
                <a16:creationId xmlns:a16="http://schemas.microsoft.com/office/drawing/2014/main" id="{4A296015-290E-9A40-B516-DB9ADED59A23}"/>
              </a:ext>
            </a:extLst>
          </p:cNvPr>
          <p:cNvSpPr>
            <a:spLocks noGrp="1"/>
          </p:cNvSpPr>
          <p:nvPr>
            <p:ph idx="1"/>
          </p:nvPr>
        </p:nvSpPr>
        <p:spPr/>
        <p:txBody>
          <a:bodyPr/>
          <a:lstStyle/>
          <a:p>
            <a:pPr>
              <a:lnSpc>
                <a:spcPct val="150000"/>
              </a:lnSpc>
            </a:pPr>
            <a:r>
              <a:rPr lang="en-VN" sz="2200">
                <a:latin typeface="+mn-lt"/>
              </a:rPr>
              <a:t>Các biến thể liên quan đến số lượng dữ liệu:</a:t>
            </a:r>
          </a:p>
          <a:p>
            <a:pPr lvl="1">
              <a:lnSpc>
                <a:spcPct val="150000"/>
              </a:lnSpc>
            </a:pPr>
            <a:r>
              <a:rPr lang="en-VN" b="1">
                <a:latin typeface="+mn-lt"/>
              </a:rPr>
              <a:t>Batch gradient descent: </a:t>
            </a:r>
            <a:r>
              <a:rPr lang="en-VN">
                <a:latin typeface="+mn-lt"/>
              </a:rPr>
              <a:t>Tại mỗi vòng lặp, </a:t>
            </a:r>
            <a:r>
              <a:rPr lang="en-VN">
                <a:solidFill>
                  <a:srgbClr val="FF0000"/>
                </a:solidFill>
                <a:latin typeface="+mn-lt"/>
              </a:rPr>
              <a:t>dùng tất cả dữ liệu</a:t>
            </a:r>
            <a:r>
              <a:rPr lang="en-VN">
                <a:latin typeface="+mn-lt"/>
              </a:rPr>
              <a:t> để tính gradient</a:t>
            </a:r>
          </a:p>
          <a:p>
            <a:pPr lvl="1">
              <a:lnSpc>
                <a:spcPct val="150000"/>
              </a:lnSpc>
            </a:pPr>
            <a:r>
              <a:rPr lang="en-VN" b="1">
                <a:latin typeface="+mn-lt"/>
              </a:rPr>
              <a:t>Stochastic gradient descent (SGD): </a:t>
            </a:r>
            <a:r>
              <a:rPr lang="en-VN">
                <a:latin typeface="+mn-lt"/>
              </a:rPr>
              <a:t>Mỗi vòng lặp </a:t>
            </a:r>
            <a:r>
              <a:rPr lang="en-VN">
                <a:solidFill>
                  <a:srgbClr val="FF0000"/>
                </a:solidFill>
                <a:latin typeface="+mn-lt"/>
              </a:rPr>
              <a:t>dùng 1 mẫu dữ liệu </a:t>
            </a:r>
            <a:r>
              <a:rPr lang="en-VN">
                <a:latin typeface="+mn-lt"/>
              </a:rPr>
              <a:t>để tính gradient</a:t>
            </a:r>
          </a:p>
          <a:p>
            <a:pPr lvl="1">
              <a:lnSpc>
                <a:spcPct val="150000"/>
              </a:lnSpc>
            </a:pPr>
            <a:r>
              <a:rPr lang="en-VN" b="1">
                <a:latin typeface="+mn-lt"/>
              </a:rPr>
              <a:t>Mini-batch gradient descent: </a:t>
            </a:r>
            <a:r>
              <a:rPr lang="en-VN">
                <a:latin typeface="+mn-lt"/>
              </a:rPr>
              <a:t>mỗi vòng lặp, </a:t>
            </a:r>
            <a:r>
              <a:rPr lang="en-VN">
                <a:solidFill>
                  <a:srgbClr val="FF0000"/>
                </a:solidFill>
                <a:latin typeface="+mn-lt"/>
              </a:rPr>
              <a:t>dùng một số lượng nhỏ k mẫu dữ liệu</a:t>
            </a:r>
            <a:r>
              <a:rPr lang="en-VN">
                <a:latin typeface="+mn-lt"/>
              </a:rPr>
              <a:t> để tính gradient. Con số </a:t>
            </a:r>
            <a:r>
              <a:rPr lang="en-VN" b="1">
                <a:solidFill>
                  <a:srgbClr val="FF0000"/>
                </a:solidFill>
                <a:latin typeface="+mn-lt"/>
              </a:rPr>
              <a:t>k</a:t>
            </a:r>
            <a:r>
              <a:rPr lang="en-VN">
                <a:latin typeface="+mn-lt"/>
              </a:rPr>
              <a:t> được gọi là </a:t>
            </a:r>
            <a:r>
              <a:rPr lang="en-VN" b="1">
                <a:solidFill>
                  <a:srgbClr val="FF0000"/>
                </a:solidFill>
                <a:latin typeface="+mn-lt"/>
              </a:rPr>
              <a:t>batch size</a:t>
            </a:r>
            <a:r>
              <a:rPr lang="en-VN">
                <a:latin typeface="+mn-lt"/>
              </a:rPr>
              <a:t>.</a:t>
            </a:r>
          </a:p>
          <a:p>
            <a:pPr>
              <a:lnSpc>
                <a:spcPct val="150000"/>
              </a:lnSpc>
            </a:pPr>
            <a:r>
              <a:rPr lang="en-VN" sz="2000" b="1">
                <a:latin typeface="+mn-lt"/>
              </a:rPr>
              <a:t>Nhận xét: SGD và mini-batch GD có thể coi là như nhau - </a:t>
            </a:r>
            <a:r>
              <a:rPr lang="en-VN" sz="2000" b="1">
                <a:solidFill>
                  <a:srgbClr val="FF0000"/>
                </a:solidFill>
                <a:latin typeface="+mn-lt"/>
              </a:rPr>
              <a:t>k có thể bằng 1</a:t>
            </a:r>
            <a:r>
              <a:rPr lang="en-VN" sz="2000" b="1">
                <a:latin typeface="+mn-lt"/>
              </a:rPr>
              <a:t>.</a:t>
            </a:r>
          </a:p>
        </p:txBody>
      </p:sp>
      <p:sp>
        <p:nvSpPr>
          <p:cNvPr id="4" name="Slide Number Placeholder 3">
            <a:extLst>
              <a:ext uri="{FF2B5EF4-FFF2-40B4-BE49-F238E27FC236}">
                <a16:creationId xmlns:a16="http://schemas.microsoft.com/office/drawing/2014/main" id="{F0DB79E4-9B9A-EB49-93F1-FD21EE3E52B0}"/>
              </a:ext>
            </a:extLst>
          </p:cNvPr>
          <p:cNvSpPr>
            <a:spLocks noGrp="1"/>
          </p:cNvSpPr>
          <p:nvPr>
            <p:ph type="sldNum" sz="quarter" idx="12"/>
          </p:nvPr>
        </p:nvSpPr>
        <p:spPr/>
        <p:txBody>
          <a:bodyPr/>
          <a:lstStyle/>
          <a:p>
            <a:fld id="{DA8C51A7-BEEA-471D-933F-7E35BC04A30F}" type="slidenum">
              <a:rPr lang="en-US"/>
              <a:pPr/>
              <a:t>5</a:t>
            </a:fld>
            <a:endParaRPr lang="en-US"/>
          </a:p>
        </p:txBody>
      </p:sp>
    </p:spTree>
    <p:extLst>
      <p:ext uri="{BB962C8B-B14F-4D97-AF65-F5344CB8AC3E}">
        <p14:creationId xmlns:p14="http://schemas.microsoft.com/office/powerpoint/2010/main" val="3065991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A651-AC75-9441-8764-BCA2C63FE27C}"/>
              </a:ext>
            </a:extLst>
          </p:cNvPr>
          <p:cNvSpPr>
            <a:spLocks noGrp="1"/>
          </p:cNvSpPr>
          <p:nvPr>
            <p:ph type="title"/>
          </p:nvPr>
        </p:nvSpPr>
        <p:spPr/>
        <p:txBody>
          <a:bodyPr/>
          <a:lstStyle/>
          <a:p>
            <a:r>
              <a:rPr lang="en-VN" sz="2800"/>
              <a:t>Neural Network – Gradient descent và một số biến thể</a:t>
            </a:r>
          </a:p>
        </p:txBody>
      </p:sp>
      <p:sp>
        <p:nvSpPr>
          <p:cNvPr id="4" name="Slide Number Placeholder 3">
            <a:extLst>
              <a:ext uri="{FF2B5EF4-FFF2-40B4-BE49-F238E27FC236}">
                <a16:creationId xmlns:a16="http://schemas.microsoft.com/office/drawing/2014/main" id="{F0DB79E4-9B9A-EB49-93F1-FD21EE3E52B0}"/>
              </a:ext>
            </a:extLst>
          </p:cNvPr>
          <p:cNvSpPr>
            <a:spLocks noGrp="1"/>
          </p:cNvSpPr>
          <p:nvPr>
            <p:ph type="sldNum" sz="quarter" idx="12"/>
          </p:nvPr>
        </p:nvSpPr>
        <p:spPr/>
        <p:txBody>
          <a:bodyPr/>
          <a:lstStyle/>
          <a:p>
            <a:fld id="{DA8C51A7-BEEA-471D-933F-7E35BC04A30F}" type="slidenum">
              <a:rPr lang="en-US"/>
              <a:pPr/>
              <a:t>6</a:t>
            </a:fld>
            <a:endParaRPr lang="en-US"/>
          </a:p>
        </p:txBody>
      </p:sp>
      <p:pic>
        <p:nvPicPr>
          <p:cNvPr id="8" name="Content Placeholder 7" descr="Chart, line chart&#10;&#10;Description automatically generated">
            <a:extLst>
              <a:ext uri="{FF2B5EF4-FFF2-40B4-BE49-F238E27FC236}">
                <a16:creationId xmlns:a16="http://schemas.microsoft.com/office/drawing/2014/main" id="{B2CDFFE6-7263-5A44-B9F6-9063BFC2C45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3054" y="1341438"/>
            <a:ext cx="8876454" cy="4751387"/>
          </a:xfrm>
        </p:spPr>
      </p:pic>
    </p:spTree>
    <p:extLst>
      <p:ext uri="{BB962C8B-B14F-4D97-AF65-F5344CB8AC3E}">
        <p14:creationId xmlns:p14="http://schemas.microsoft.com/office/powerpoint/2010/main" val="4007329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A651-AC75-9441-8764-BCA2C63FE27C}"/>
              </a:ext>
            </a:extLst>
          </p:cNvPr>
          <p:cNvSpPr>
            <a:spLocks noGrp="1"/>
          </p:cNvSpPr>
          <p:nvPr>
            <p:ph type="title"/>
          </p:nvPr>
        </p:nvSpPr>
        <p:spPr/>
        <p:txBody>
          <a:bodyPr/>
          <a:lstStyle/>
          <a:p>
            <a:r>
              <a:rPr lang="en-VN" sz="2800"/>
              <a:t>Neural Network – Stochastic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296015-290E-9A40-B516-DB9ADED59A23}"/>
                  </a:ext>
                </a:extLst>
              </p:cNvPr>
              <p:cNvSpPr>
                <a:spLocks noGrp="1"/>
              </p:cNvSpPr>
              <p:nvPr>
                <p:ph idx="1"/>
              </p:nvPr>
            </p:nvSpPr>
            <p:spPr>
              <a:xfrm>
                <a:off x="718018" y="1340768"/>
                <a:ext cx="8907119" cy="4536504"/>
              </a:xfrm>
            </p:spPr>
            <p:txBody>
              <a:bodyPr/>
              <a:lstStyle/>
              <a:p>
                <a:pPr marL="0" indent="0">
                  <a:lnSpc>
                    <a:spcPct val="150000"/>
                  </a:lnSpc>
                  <a:buNone/>
                </a:pPr>
                <a:r>
                  <a:rPr lang="en-VN" sz="2400" b="1">
                    <a:latin typeface="+mn-lt"/>
                  </a:rPr>
                  <a:t>Các bước của SGD / Mini-batch gradient descent:</a:t>
                </a:r>
              </a:p>
              <a:p>
                <a:pPr marL="842962" lvl="1" indent="-457200">
                  <a:lnSpc>
                    <a:spcPct val="150000"/>
                  </a:lnSpc>
                  <a:buFont typeface="+mj-lt"/>
                  <a:buAutoNum type="arabicPeriod"/>
                </a:pPr>
                <a:r>
                  <a:rPr lang="en-VN" sz="2400">
                    <a:latin typeface="+mn-lt"/>
                  </a:rPr>
                  <a:t>Trộn đều (shuffle) dữ liệu (một cách ngẫu nhiên).</a:t>
                </a:r>
              </a:p>
              <a:p>
                <a:pPr marL="842962" lvl="1" indent="-457200">
                  <a:lnSpc>
                    <a:spcPct val="150000"/>
                  </a:lnSpc>
                  <a:buFont typeface="+mj-lt"/>
                  <a:buAutoNum type="arabicPeriod"/>
                </a:pPr>
                <a:r>
                  <a:rPr lang="en-VN" sz="2400">
                    <a:latin typeface="+mn-lt"/>
                  </a:rPr>
                  <a:t>Lặp lại tới khi hài lòng:</a:t>
                </a:r>
              </a:p>
              <a:p>
                <a:pPr marL="1228725" lvl="2" indent="-457200">
                  <a:lnSpc>
                    <a:spcPct val="150000"/>
                  </a:lnSpc>
                  <a:buFont typeface="+mj-lt"/>
                  <a:buAutoNum type="alphaLcPeriod"/>
                </a:pPr>
                <a:r>
                  <a:rPr lang="en-VN" sz="2000">
                    <a:latin typeface="+mn-lt"/>
                  </a:rPr>
                  <a:t>Lấy ra k mẫu cho mini-batch tiếp theo </a:t>
                </a:r>
                <a14:m>
                  <m:oMath xmlns:m="http://schemas.openxmlformats.org/officeDocument/2006/math">
                    <m:d>
                      <m:dPr>
                        <m:ctrlPr>
                          <a:rPr lang="en-VN" sz="2000" i="1">
                            <a:latin typeface="Cambria Math" panose="02040503050406030204" pitchFamily="18" charset="0"/>
                          </a:rPr>
                        </m:ctrlPr>
                      </m:dPr>
                      <m:e>
                        <m:sSup>
                          <m:sSupPr>
                            <m:ctrlPr>
                              <a:rPr lang="en-VN" sz="2000" i="1">
                                <a:latin typeface="Cambria Math" panose="02040503050406030204" pitchFamily="18" charset="0"/>
                              </a:rPr>
                            </m:ctrlPr>
                          </m:sSupPr>
                          <m:e>
                            <m:r>
                              <a:rPr lang="en-US" sz="2000" i="1">
                                <a:latin typeface="Cambria Math" panose="02040503050406030204" pitchFamily="18" charset="0"/>
                              </a:rPr>
                              <m:t>𝑥</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1</m:t>
                                    </m:r>
                                  </m:sub>
                                </m:sSub>
                              </m:e>
                            </m:d>
                          </m:sup>
                        </m:sSup>
                        <m:r>
                          <a:rPr lang="en-US" sz="2000" i="1">
                            <a:latin typeface="Cambria Math" panose="02040503050406030204" pitchFamily="18" charset="0"/>
                          </a:rPr>
                          <m:t>,</m:t>
                        </m:r>
                        <m:sSup>
                          <m:sSupPr>
                            <m:ctrlPr>
                              <a:rPr lang="en-VN" sz="2000" i="1">
                                <a:latin typeface="Cambria Math" panose="02040503050406030204" pitchFamily="18" charset="0"/>
                              </a:rPr>
                            </m:ctrlPr>
                          </m:sSupPr>
                          <m:e>
                            <m:r>
                              <a:rPr lang="en-US" sz="2000" b="0" i="1">
                                <a:latin typeface="Cambria Math" panose="02040503050406030204" pitchFamily="18" charset="0"/>
                              </a:rPr>
                              <m:t>𝑦</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1</m:t>
                                    </m:r>
                                  </m:sub>
                                </m:sSub>
                              </m:e>
                            </m:d>
                          </m:sup>
                        </m:sSup>
                      </m:e>
                    </m:d>
                  </m:oMath>
                </a14:m>
                <a:r>
                  <a:rPr lang="en-VN" sz="2000">
                    <a:latin typeface="+mn-lt"/>
                  </a:rPr>
                  <a:t>, ..., </a:t>
                </a:r>
                <a14:m>
                  <m:oMath xmlns:m="http://schemas.openxmlformats.org/officeDocument/2006/math">
                    <m:d>
                      <m:dPr>
                        <m:ctrlPr>
                          <a:rPr lang="en-VN" sz="2000" i="1">
                            <a:latin typeface="Cambria Math" panose="02040503050406030204" pitchFamily="18" charset="0"/>
                          </a:rPr>
                        </m:ctrlPr>
                      </m:dPr>
                      <m:e>
                        <m:sSup>
                          <m:sSupPr>
                            <m:ctrlPr>
                              <a:rPr lang="en-VN" sz="2000" i="1">
                                <a:latin typeface="Cambria Math" panose="02040503050406030204" pitchFamily="18" charset="0"/>
                              </a:rPr>
                            </m:ctrlPr>
                          </m:sSupPr>
                          <m:e>
                            <m:r>
                              <a:rPr lang="en-US" sz="2000" i="1">
                                <a:latin typeface="Cambria Math" panose="02040503050406030204" pitchFamily="18" charset="0"/>
                              </a:rPr>
                              <m:t>𝑥</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b="0" i="1">
                                        <a:latin typeface="Cambria Math" panose="02040503050406030204" pitchFamily="18" charset="0"/>
                                      </a:rPr>
                                      <m:t>𝑘</m:t>
                                    </m:r>
                                  </m:sub>
                                </m:sSub>
                              </m:e>
                            </m:d>
                          </m:sup>
                        </m:sSup>
                        <m:r>
                          <a:rPr lang="en-US" sz="2000" i="1">
                            <a:latin typeface="Cambria Math" panose="02040503050406030204" pitchFamily="18" charset="0"/>
                          </a:rPr>
                          <m:t>,</m:t>
                        </m:r>
                        <m:sSup>
                          <m:sSupPr>
                            <m:ctrlPr>
                              <a:rPr lang="en-VN" sz="2000" i="1">
                                <a:latin typeface="Cambria Math" panose="02040503050406030204" pitchFamily="18" charset="0"/>
                              </a:rPr>
                            </m:ctrlPr>
                          </m:sSupPr>
                          <m:e>
                            <m:r>
                              <a:rPr lang="en-US" sz="2000" i="1">
                                <a:latin typeface="Cambria Math" panose="02040503050406030204" pitchFamily="18" charset="0"/>
                              </a:rPr>
                              <m:t>𝑦</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b="0" i="1">
                                        <a:latin typeface="Cambria Math" panose="02040503050406030204" pitchFamily="18" charset="0"/>
                                      </a:rPr>
                                      <m:t>𝑘</m:t>
                                    </m:r>
                                  </m:sub>
                                </m:sSub>
                              </m:e>
                            </m:d>
                          </m:sup>
                        </m:sSup>
                      </m:e>
                    </m:d>
                  </m:oMath>
                </a14:m>
                <a:endParaRPr lang="en-VN" sz="2000">
                  <a:latin typeface="+mn-lt"/>
                </a:endParaRPr>
              </a:p>
              <a:p>
                <a:pPr marL="1228725" lvl="2" indent="-457200">
                  <a:lnSpc>
                    <a:spcPct val="150000"/>
                  </a:lnSpc>
                  <a:buFont typeface="+mj-lt"/>
                  <a:buAutoNum type="alphaLcPeriod"/>
                </a:pPr>
                <a:r>
                  <a:rPr lang="en-VN" sz="2000">
                    <a:latin typeface="+mn-lt"/>
                  </a:rPr>
                  <a:t>Lan truyền thuận và tính hàm lỗi J của mini-batch.</a:t>
                </a:r>
              </a:p>
              <a:p>
                <a:pPr marL="1228725" lvl="2" indent="-457200">
                  <a:lnSpc>
                    <a:spcPct val="150000"/>
                  </a:lnSpc>
                  <a:buFont typeface="+mj-lt"/>
                  <a:buAutoNum type="alphaLcPeriod"/>
                </a:pPr>
                <a:r>
                  <a:rPr lang="en-VN" sz="2000">
                    <a:latin typeface="+mn-lt"/>
                  </a:rPr>
                  <a:t>Lan truyền ngược, tính gradient </a:t>
                </a:r>
                <a14:m>
                  <m:oMath xmlns:m="http://schemas.openxmlformats.org/officeDocument/2006/math">
                    <m:sSub>
                      <m:sSubPr>
                        <m:ctrlPr>
                          <a:rPr lang="en-VN" sz="2000" i="1">
                            <a:latin typeface="Cambria Math" panose="02040503050406030204" pitchFamily="18" charset="0"/>
                          </a:rPr>
                        </m:ctrlPr>
                      </m:sSubPr>
                      <m:e>
                        <m:r>
                          <m:rPr>
                            <m:sty m:val="p"/>
                          </m:rPr>
                          <a:rPr lang="en-VN" sz="2000" i="1">
                            <a:latin typeface="Cambria Math" panose="02040503050406030204" pitchFamily="18" charset="0"/>
                            <a:ea typeface="Cambria Math" panose="02040503050406030204" pitchFamily="18" charset="0"/>
                          </a:rPr>
                          <m:t>∇</m:t>
                        </m:r>
                      </m:e>
                      <m:sub>
                        <m:r>
                          <a:rPr lang="en-VN" sz="2000" i="1">
                            <a:latin typeface="Cambria Math" panose="02040503050406030204" pitchFamily="18" charset="0"/>
                            <a:ea typeface="Cambria Math" panose="02040503050406030204" pitchFamily="18" charset="0"/>
                          </a:rPr>
                          <m:t>𝜃</m:t>
                        </m:r>
                      </m:sub>
                    </m:sSub>
                  </m:oMath>
                </a14:m>
                <a:endParaRPr lang="en-US" sz="2000">
                  <a:latin typeface="+mn-lt"/>
                </a:endParaRPr>
              </a:p>
              <a:p>
                <a:pPr marL="1228725" lvl="2" indent="-457200">
                  <a:lnSpc>
                    <a:spcPct val="150000"/>
                  </a:lnSpc>
                  <a:buFont typeface="+mj-lt"/>
                  <a:buAutoNum type="alphaLcPeriod"/>
                </a:pPr>
                <a:r>
                  <a:rPr lang="en-VN" sz="2000">
                    <a:latin typeface="+mn-lt"/>
                  </a:rPr>
                  <a:t>Cập nhật tham số: </a:t>
                </a:r>
                <a14:m>
                  <m:oMath xmlns:m="http://schemas.openxmlformats.org/officeDocument/2006/math">
                    <m:sSub>
                      <m:sSubPr>
                        <m:ctrlPr>
                          <a:rPr lang="en-VN" sz="2000" i="1">
                            <a:latin typeface="Cambria Math" panose="02040503050406030204" pitchFamily="18" charset="0"/>
                          </a:rPr>
                        </m:ctrlPr>
                      </m:sSubPr>
                      <m:e>
                        <m:r>
                          <a:rPr lang="en-VN" sz="2000" i="1">
                            <a:latin typeface="Cambria Math" panose="02040503050406030204" pitchFamily="18" charset="0"/>
                            <a:ea typeface="Cambria Math" panose="02040503050406030204" pitchFamily="18" charset="0"/>
                          </a:rPr>
                          <m:t>𝜃</m:t>
                        </m:r>
                        <m:r>
                          <a:rPr lang="en-US" sz="2000" b="0" i="1">
                            <a:latin typeface="Cambria Math" panose="02040503050406030204" pitchFamily="18" charset="0"/>
                            <a:ea typeface="Cambria Math" panose="02040503050406030204" pitchFamily="18" charset="0"/>
                          </a:rPr>
                          <m:t> ≔</m:t>
                        </m:r>
                        <m:r>
                          <a:rPr lang="en-VN" sz="2000" i="1">
                            <a:latin typeface="Cambria Math" panose="02040503050406030204" pitchFamily="18" charset="0"/>
                            <a:ea typeface="Cambria Math" panose="02040503050406030204" pitchFamily="18" charset="0"/>
                          </a:rPr>
                          <m:t>𝜃</m:t>
                        </m:r>
                        <m:r>
                          <a:rPr lang="en-US" sz="2000" b="0" i="1">
                            <a:latin typeface="Cambria Math" panose="02040503050406030204" pitchFamily="18" charset="0"/>
                            <a:ea typeface="Cambria Math" panose="02040503050406030204" pitchFamily="18" charset="0"/>
                          </a:rPr>
                          <m:t> − </m:t>
                        </m:r>
                        <m:r>
                          <a:rPr lang="en-US" sz="2000" b="0" i="1">
                            <a:latin typeface="Cambria Math" panose="02040503050406030204" pitchFamily="18" charset="0"/>
                            <a:ea typeface="Cambria Math" panose="02040503050406030204" pitchFamily="18" charset="0"/>
                          </a:rPr>
                          <m:t>𝛼</m:t>
                        </m:r>
                        <m:r>
                          <m:rPr>
                            <m:sty m:val="p"/>
                          </m:rPr>
                          <a:rPr lang="en-VN" sz="2000" i="1">
                            <a:latin typeface="Cambria Math" panose="02040503050406030204" pitchFamily="18" charset="0"/>
                            <a:ea typeface="Cambria Math" panose="02040503050406030204" pitchFamily="18" charset="0"/>
                          </a:rPr>
                          <m:t>∇</m:t>
                        </m:r>
                      </m:e>
                      <m:sub>
                        <m:r>
                          <a:rPr lang="en-VN" sz="2000" i="1">
                            <a:latin typeface="Cambria Math" panose="02040503050406030204" pitchFamily="18" charset="0"/>
                            <a:ea typeface="Cambria Math" panose="02040503050406030204" pitchFamily="18" charset="0"/>
                          </a:rPr>
                          <m:t>𝜃</m:t>
                        </m:r>
                      </m:sub>
                    </m:sSub>
                  </m:oMath>
                </a14:m>
                <a:endParaRPr lang="en-VN" sz="2000">
                  <a:latin typeface="+mn-lt"/>
                </a:endParaRPr>
              </a:p>
            </p:txBody>
          </p:sp>
        </mc:Choice>
        <mc:Fallback xmlns="">
          <p:sp>
            <p:nvSpPr>
              <p:cNvPr id="3" name="Content Placeholder 2">
                <a:extLst>
                  <a:ext uri="{FF2B5EF4-FFF2-40B4-BE49-F238E27FC236}">
                    <a16:creationId xmlns:a16="http://schemas.microsoft.com/office/drawing/2014/main" id="{4A296015-290E-9A40-B516-DB9ADED59A23}"/>
                  </a:ext>
                </a:extLst>
              </p:cNvPr>
              <p:cNvSpPr>
                <a:spLocks noGrp="1" noRot="1" noChangeAspect="1" noMove="1" noResize="1" noEditPoints="1" noAdjustHandles="1" noChangeArrowheads="1" noChangeShapeType="1" noTextEdit="1"/>
              </p:cNvSpPr>
              <p:nvPr>
                <p:ph idx="1"/>
              </p:nvPr>
            </p:nvSpPr>
            <p:spPr>
              <a:xfrm>
                <a:off x="718018" y="1340768"/>
                <a:ext cx="8907119" cy="4536504"/>
              </a:xfrm>
              <a:blipFill>
                <a:blip r:embed="rId2"/>
                <a:stretch>
                  <a:fillRect l="-1140"/>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0DB79E4-9B9A-EB49-93F1-FD21EE3E52B0}"/>
              </a:ext>
            </a:extLst>
          </p:cNvPr>
          <p:cNvSpPr>
            <a:spLocks noGrp="1"/>
          </p:cNvSpPr>
          <p:nvPr>
            <p:ph type="sldNum" sz="quarter" idx="12"/>
          </p:nvPr>
        </p:nvSpPr>
        <p:spPr/>
        <p:txBody>
          <a:bodyPr/>
          <a:lstStyle/>
          <a:p>
            <a:fld id="{DA8C51A7-BEEA-471D-933F-7E35BC04A30F}" type="slidenum">
              <a:rPr lang="en-US"/>
              <a:pPr/>
              <a:t>7</a:t>
            </a:fld>
            <a:endParaRPr lang="en-US"/>
          </a:p>
        </p:txBody>
      </p:sp>
    </p:spTree>
    <p:extLst>
      <p:ext uri="{BB962C8B-B14F-4D97-AF65-F5344CB8AC3E}">
        <p14:creationId xmlns:p14="http://schemas.microsoft.com/office/powerpoint/2010/main" val="7667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A651-AC75-9441-8764-BCA2C63FE27C}"/>
              </a:ext>
            </a:extLst>
          </p:cNvPr>
          <p:cNvSpPr>
            <a:spLocks noGrp="1"/>
          </p:cNvSpPr>
          <p:nvPr>
            <p:ph type="title"/>
          </p:nvPr>
        </p:nvSpPr>
        <p:spPr>
          <a:xfrm>
            <a:off x="751012" y="404665"/>
            <a:ext cx="9433048" cy="792088"/>
          </a:xfrm>
        </p:spPr>
        <p:txBody>
          <a:bodyPr/>
          <a:lstStyle/>
          <a:p>
            <a:r>
              <a:rPr lang="en-VN" sz="2800"/>
              <a:t>Neural Network – Stochastic Gradient Descent với quán tính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296015-290E-9A40-B516-DB9ADED59A23}"/>
                  </a:ext>
                </a:extLst>
              </p:cNvPr>
              <p:cNvSpPr>
                <a:spLocks noGrp="1"/>
              </p:cNvSpPr>
              <p:nvPr>
                <p:ph idx="1"/>
              </p:nvPr>
            </p:nvSpPr>
            <p:spPr>
              <a:xfrm>
                <a:off x="718018" y="1340768"/>
                <a:ext cx="8907119" cy="3672408"/>
              </a:xfrm>
            </p:spPr>
            <p:txBody>
              <a:bodyPr/>
              <a:lstStyle/>
              <a:p>
                <a:pPr marL="0" indent="0">
                  <a:lnSpc>
                    <a:spcPct val="100000"/>
                  </a:lnSpc>
                  <a:buNone/>
                </a:pPr>
                <a:r>
                  <a:rPr lang="en-VN" sz="2400" b="1">
                    <a:latin typeface="+mn-lt"/>
                  </a:rPr>
                  <a:t>Các bước của SGD / Mini-batch gradient descent:</a:t>
                </a:r>
              </a:p>
              <a:p>
                <a:pPr marL="842962" lvl="1" indent="-457200">
                  <a:lnSpc>
                    <a:spcPct val="100000"/>
                  </a:lnSpc>
                  <a:buFont typeface="+mj-lt"/>
                  <a:buAutoNum type="arabicPeriod"/>
                </a:pPr>
                <a:r>
                  <a:rPr lang="en-VN" sz="2400">
                    <a:latin typeface="+mn-lt"/>
                  </a:rPr>
                  <a:t>Trộn đều (shuffle) dữ liệu (một cách ngẫu nhiên).</a:t>
                </a:r>
              </a:p>
              <a:p>
                <a:pPr marL="842962" lvl="1" indent="-457200">
                  <a:lnSpc>
                    <a:spcPct val="100000"/>
                  </a:lnSpc>
                  <a:buFont typeface="+mj-lt"/>
                  <a:buAutoNum type="arabicPeriod"/>
                </a:pPr>
                <a:r>
                  <a:rPr lang="en-VN" sz="2400">
                    <a:solidFill>
                      <a:srgbClr val="FF0000"/>
                    </a:solidFill>
                    <a:latin typeface="+mn-lt"/>
                  </a:rPr>
                  <a:t>Khởi tạo ma trận quán tính </a:t>
                </a:r>
                <a14:m>
                  <m:oMath xmlns:m="http://schemas.openxmlformats.org/officeDocument/2006/math">
                    <m:sSub>
                      <m:sSubPr>
                        <m:ctrlPr>
                          <a:rPr lang="en-VN" sz="240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𝑣</m:t>
                        </m:r>
                        <m:r>
                          <a:rPr lang="en-US" sz="2400" i="1">
                            <a:solidFill>
                              <a:srgbClr val="FF0000"/>
                            </a:solidFill>
                            <a:latin typeface="Cambria Math" panose="02040503050406030204" pitchFamily="18" charset="0"/>
                            <a:ea typeface="Cambria Math" panose="02040503050406030204" pitchFamily="18" charset="0"/>
                          </a:rPr>
                          <m:t> ≔</m:t>
                        </m:r>
                        <m:r>
                          <a:rPr lang="en-US" sz="2400" b="0" i="1">
                            <a:solidFill>
                              <a:srgbClr val="FF0000"/>
                            </a:solidFill>
                            <a:latin typeface="Cambria Math" panose="02040503050406030204" pitchFamily="18" charset="0"/>
                            <a:ea typeface="Cambria Math" panose="02040503050406030204" pitchFamily="18" charset="0"/>
                          </a:rPr>
                          <m:t>0 ∗ </m:t>
                        </m:r>
                        <m:r>
                          <a:rPr lang="en-VN" sz="2400" i="1">
                            <a:solidFill>
                              <a:srgbClr val="FF0000"/>
                            </a:solidFill>
                            <a:latin typeface="Cambria Math" panose="02040503050406030204" pitchFamily="18" charset="0"/>
                            <a:ea typeface="Cambria Math" panose="02040503050406030204" pitchFamily="18" charset="0"/>
                          </a:rPr>
                          <m:t>𝜃</m:t>
                        </m:r>
                        <m:r>
                          <a:rPr lang="en-US" sz="2400" i="1">
                            <a:solidFill>
                              <a:srgbClr val="FF0000"/>
                            </a:solidFill>
                            <a:latin typeface="Cambria Math" panose="02040503050406030204" pitchFamily="18" charset="0"/>
                            <a:ea typeface="Cambria Math" panose="02040503050406030204" pitchFamily="18" charset="0"/>
                          </a:rPr>
                          <m:t> </m:t>
                        </m:r>
                      </m:e>
                      <m:sub>
                        <m:r>
                          <a:rPr lang="en-US" sz="2400" b="0" i="1">
                            <a:solidFill>
                              <a:srgbClr val="FF0000"/>
                            </a:solidFill>
                            <a:latin typeface="Cambria Math" panose="02040503050406030204" pitchFamily="18" charset="0"/>
                            <a:ea typeface="Cambria Math" panose="02040503050406030204" pitchFamily="18" charset="0"/>
                          </a:rPr>
                          <m:t> </m:t>
                        </m:r>
                      </m:sub>
                    </m:sSub>
                  </m:oMath>
                </a14:m>
                <a:endParaRPr lang="en-VN" sz="2400">
                  <a:latin typeface="+mn-lt"/>
                </a:endParaRPr>
              </a:p>
              <a:p>
                <a:pPr marL="842962" lvl="1" indent="-457200">
                  <a:lnSpc>
                    <a:spcPct val="100000"/>
                  </a:lnSpc>
                  <a:buFont typeface="+mj-lt"/>
                  <a:buAutoNum type="arabicPeriod"/>
                </a:pPr>
                <a:r>
                  <a:rPr lang="en-VN" sz="2400">
                    <a:latin typeface="+mn-lt"/>
                  </a:rPr>
                  <a:t>Lặp lại tới khi hài lòng:</a:t>
                </a:r>
              </a:p>
              <a:p>
                <a:pPr marL="1228725" lvl="2" indent="-457200">
                  <a:lnSpc>
                    <a:spcPct val="100000"/>
                  </a:lnSpc>
                  <a:buFont typeface="+mj-lt"/>
                  <a:buAutoNum type="alphaLcPeriod"/>
                </a:pPr>
                <a:r>
                  <a:rPr lang="en-VN" sz="2000">
                    <a:latin typeface="+mn-lt"/>
                  </a:rPr>
                  <a:t>Lấy ra k mẫu cho mini-batch tiếp theo </a:t>
                </a:r>
                <a14:m>
                  <m:oMath xmlns:m="http://schemas.openxmlformats.org/officeDocument/2006/math">
                    <m:d>
                      <m:dPr>
                        <m:ctrlPr>
                          <a:rPr lang="en-VN" sz="2000" i="1">
                            <a:latin typeface="Cambria Math" panose="02040503050406030204" pitchFamily="18" charset="0"/>
                          </a:rPr>
                        </m:ctrlPr>
                      </m:dPr>
                      <m:e>
                        <m:sSup>
                          <m:sSupPr>
                            <m:ctrlPr>
                              <a:rPr lang="en-VN" sz="2000" i="1">
                                <a:latin typeface="Cambria Math" panose="02040503050406030204" pitchFamily="18" charset="0"/>
                              </a:rPr>
                            </m:ctrlPr>
                          </m:sSupPr>
                          <m:e>
                            <m:r>
                              <a:rPr lang="en-US" sz="2000" i="1">
                                <a:latin typeface="Cambria Math" panose="02040503050406030204" pitchFamily="18" charset="0"/>
                              </a:rPr>
                              <m:t>𝑥</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1</m:t>
                                    </m:r>
                                  </m:sub>
                                </m:sSub>
                              </m:e>
                            </m:d>
                          </m:sup>
                        </m:sSup>
                        <m:r>
                          <a:rPr lang="en-US" sz="2000" i="1">
                            <a:latin typeface="Cambria Math" panose="02040503050406030204" pitchFamily="18" charset="0"/>
                          </a:rPr>
                          <m:t>,</m:t>
                        </m:r>
                        <m:sSup>
                          <m:sSupPr>
                            <m:ctrlPr>
                              <a:rPr lang="en-VN" sz="2000" i="1">
                                <a:latin typeface="Cambria Math" panose="02040503050406030204" pitchFamily="18" charset="0"/>
                              </a:rPr>
                            </m:ctrlPr>
                          </m:sSupPr>
                          <m:e>
                            <m:r>
                              <a:rPr lang="en-US" sz="2000" b="0" i="1">
                                <a:latin typeface="Cambria Math" panose="02040503050406030204" pitchFamily="18" charset="0"/>
                              </a:rPr>
                              <m:t>𝑦</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1</m:t>
                                    </m:r>
                                  </m:sub>
                                </m:sSub>
                              </m:e>
                            </m:d>
                          </m:sup>
                        </m:sSup>
                      </m:e>
                    </m:d>
                  </m:oMath>
                </a14:m>
                <a:r>
                  <a:rPr lang="en-VN" sz="2000">
                    <a:latin typeface="+mn-lt"/>
                  </a:rPr>
                  <a:t>, ..., </a:t>
                </a:r>
                <a14:m>
                  <m:oMath xmlns:m="http://schemas.openxmlformats.org/officeDocument/2006/math">
                    <m:d>
                      <m:dPr>
                        <m:ctrlPr>
                          <a:rPr lang="en-VN" sz="2000" i="1">
                            <a:latin typeface="Cambria Math" panose="02040503050406030204" pitchFamily="18" charset="0"/>
                          </a:rPr>
                        </m:ctrlPr>
                      </m:dPr>
                      <m:e>
                        <m:sSup>
                          <m:sSupPr>
                            <m:ctrlPr>
                              <a:rPr lang="en-VN" sz="2000" i="1">
                                <a:latin typeface="Cambria Math" panose="02040503050406030204" pitchFamily="18" charset="0"/>
                              </a:rPr>
                            </m:ctrlPr>
                          </m:sSupPr>
                          <m:e>
                            <m:r>
                              <a:rPr lang="en-US" sz="2000" i="1">
                                <a:latin typeface="Cambria Math" panose="02040503050406030204" pitchFamily="18" charset="0"/>
                              </a:rPr>
                              <m:t>𝑥</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b="0" i="1">
                                        <a:latin typeface="Cambria Math" panose="02040503050406030204" pitchFamily="18" charset="0"/>
                                      </a:rPr>
                                      <m:t>𝑘</m:t>
                                    </m:r>
                                  </m:sub>
                                </m:sSub>
                              </m:e>
                            </m:d>
                          </m:sup>
                        </m:sSup>
                        <m:r>
                          <a:rPr lang="en-US" sz="2000" i="1">
                            <a:latin typeface="Cambria Math" panose="02040503050406030204" pitchFamily="18" charset="0"/>
                          </a:rPr>
                          <m:t>,</m:t>
                        </m:r>
                        <m:sSup>
                          <m:sSupPr>
                            <m:ctrlPr>
                              <a:rPr lang="en-VN" sz="2000" i="1">
                                <a:latin typeface="Cambria Math" panose="02040503050406030204" pitchFamily="18" charset="0"/>
                              </a:rPr>
                            </m:ctrlPr>
                          </m:sSupPr>
                          <m:e>
                            <m:r>
                              <a:rPr lang="en-US" sz="2000" i="1">
                                <a:latin typeface="Cambria Math" panose="02040503050406030204" pitchFamily="18" charset="0"/>
                              </a:rPr>
                              <m:t>𝑦</m:t>
                            </m:r>
                          </m:e>
                          <m:sup>
                            <m:d>
                              <m:dPr>
                                <m:ctrlPr>
                                  <a:rPr lang="en-VN" sz="2000" i="1">
                                    <a:latin typeface="Cambria Math" panose="02040503050406030204" pitchFamily="18" charset="0"/>
                                  </a:rPr>
                                </m:ctrlPr>
                              </m:dPr>
                              <m:e>
                                <m:sSub>
                                  <m:sSubPr>
                                    <m:ctrlPr>
                                      <a:rPr lang="en-VN" sz="2000" i="1">
                                        <a:latin typeface="Cambria Math" panose="02040503050406030204" pitchFamily="18" charset="0"/>
                                      </a:rPr>
                                    </m:ctrlPr>
                                  </m:sSubPr>
                                  <m:e>
                                    <m:r>
                                      <a:rPr lang="en-US" sz="2000" i="1">
                                        <a:latin typeface="Cambria Math" panose="02040503050406030204" pitchFamily="18" charset="0"/>
                                      </a:rPr>
                                      <m:t>𝑖</m:t>
                                    </m:r>
                                  </m:e>
                                  <m:sub>
                                    <m:r>
                                      <a:rPr lang="en-US" sz="2000" b="0" i="1">
                                        <a:latin typeface="Cambria Math" panose="02040503050406030204" pitchFamily="18" charset="0"/>
                                      </a:rPr>
                                      <m:t>𝑘</m:t>
                                    </m:r>
                                  </m:sub>
                                </m:sSub>
                              </m:e>
                            </m:d>
                          </m:sup>
                        </m:sSup>
                      </m:e>
                    </m:d>
                  </m:oMath>
                </a14:m>
                <a:endParaRPr lang="en-VN" sz="2000">
                  <a:latin typeface="+mn-lt"/>
                </a:endParaRPr>
              </a:p>
              <a:p>
                <a:pPr marL="1228725" lvl="2" indent="-457200">
                  <a:lnSpc>
                    <a:spcPct val="100000"/>
                  </a:lnSpc>
                  <a:buFont typeface="+mj-lt"/>
                  <a:buAutoNum type="alphaLcPeriod"/>
                </a:pPr>
                <a:r>
                  <a:rPr lang="en-VN" sz="2000">
                    <a:latin typeface="+mn-lt"/>
                  </a:rPr>
                  <a:t>Lan truyền thuận và tính hàm lỗi J của mini-batch.</a:t>
                </a:r>
              </a:p>
              <a:p>
                <a:pPr marL="1228725" lvl="2" indent="-457200">
                  <a:lnSpc>
                    <a:spcPct val="100000"/>
                  </a:lnSpc>
                  <a:buFont typeface="+mj-lt"/>
                  <a:buAutoNum type="alphaLcPeriod"/>
                </a:pPr>
                <a:r>
                  <a:rPr lang="en-VN" sz="2000">
                    <a:latin typeface="+mn-lt"/>
                  </a:rPr>
                  <a:t>Lan truyền ngược, tính gradient </a:t>
                </a:r>
                <a14:m>
                  <m:oMath xmlns:m="http://schemas.openxmlformats.org/officeDocument/2006/math">
                    <m:sSub>
                      <m:sSubPr>
                        <m:ctrlPr>
                          <a:rPr lang="en-VN" sz="2000" i="1">
                            <a:latin typeface="Cambria Math" panose="02040503050406030204" pitchFamily="18" charset="0"/>
                          </a:rPr>
                        </m:ctrlPr>
                      </m:sSubPr>
                      <m:e>
                        <m:r>
                          <m:rPr>
                            <m:sty m:val="p"/>
                          </m:rPr>
                          <a:rPr lang="en-VN" sz="2000" i="1">
                            <a:latin typeface="Cambria Math" panose="02040503050406030204" pitchFamily="18" charset="0"/>
                            <a:ea typeface="Cambria Math" panose="02040503050406030204" pitchFamily="18" charset="0"/>
                          </a:rPr>
                          <m:t>∇</m:t>
                        </m:r>
                      </m:e>
                      <m:sub>
                        <m:r>
                          <a:rPr lang="en-VN" sz="2000" i="1">
                            <a:latin typeface="Cambria Math" panose="02040503050406030204" pitchFamily="18" charset="0"/>
                            <a:ea typeface="Cambria Math" panose="02040503050406030204" pitchFamily="18" charset="0"/>
                          </a:rPr>
                          <m:t>𝜃</m:t>
                        </m:r>
                      </m:sub>
                    </m:sSub>
                    <m:r>
                      <a:rPr lang="en-US" sz="2000" b="0" i="1">
                        <a:latin typeface="Cambria Math" panose="02040503050406030204" pitchFamily="18" charset="0"/>
                        <a:ea typeface="Cambria Math" panose="02040503050406030204" pitchFamily="18" charset="0"/>
                      </a:rPr>
                      <m:t>𝐽</m:t>
                    </m:r>
                  </m:oMath>
                </a14:m>
                <a:endParaRPr lang="en-US" sz="2000">
                  <a:latin typeface="+mn-lt"/>
                </a:endParaRPr>
              </a:p>
              <a:p>
                <a:pPr marL="1228725" lvl="2" indent="-457200">
                  <a:lnSpc>
                    <a:spcPct val="100000"/>
                  </a:lnSpc>
                  <a:buFont typeface="+mj-lt"/>
                  <a:buAutoNum type="alphaLcPeriod"/>
                </a:pPr>
                <a:r>
                  <a:rPr lang="en-US" sz="2000">
                    <a:solidFill>
                      <a:srgbClr val="FF0000"/>
                    </a:solidFill>
                    <a:latin typeface="+mn-lt"/>
                  </a:rPr>
                  <a:t>Cập nhật quán tính: </a:t>
                </a:r>
                <a14:m>
                  <m:oMath xmlns:m="http://schemas.openxmlformats.org/officeDocument/2006/math">
                    <m:r>
                      <a:rPr lang="en-US" sz="2000" b="0" i="1">
                        <a:solidFill>
                          <a:srgbClr val="FF0000"/>
                        </a:solidFill>
                        <a:latin typeface="Cambria Math" panose="02040503050406030204" pitchFamily="18" charset="0"/>
                      </a:rPr>
                      <m:t>𝑣</m:t>
                    </m:r>
                    <m:r>
                      <a:rPr lang="en-US" sz="2000" b="0" i="1">
                        <a:solidFill>
                          <a:srgbClr val="FF0000"/>
                        </a:solidFill>
                        <a:latin typeface="Cambria Math" panose="02040503050406030204" pitchFamily="18" charset="0"/>
                      </a:rPr>
                      <m:t> ≔ </m:t>
                    </m:r>
                    <m:r>
                      <a:rPr lang="en-US" sz="2000" b="0" i="1">
                        <a:solidFill>
                          <a:srgbClr val="FF0000"/>
                        </a:solidFill>
                        <a:latin typeface="Cambria Math" panose="02040503050406030204" pitchFamily="18" charset="0"/>
                        <a:ea typeface="Cambria Math" panose="02040503050406030204" pitchFamily="18" charset="0"/>
                      </a:rPr>
                      <m:t>𝜇</m:t>
                    </m:r>
                    <m:r>
                      <a:rPr lang="en-US" sz="2000" b="0" i="1">
                        <a:solidFill>
                          <a:srgbClr val="FF0000"/>
                        </a:solidFill>
                        <a:latin typeface="Cambria Math" panose="02040503050406030204" pitchFamily="18" charset="0"/>
                        <a:ea typeface="Cambria Math" panose="02040503050406030204" pitchFamily="18" charset="0"/>
                      </a:rPr>
                      <m:t>𝑣</m:t>
                    </m:r>
                    <m:r>
                      <a:rPr lang="en-US" sz="2000" b="0" i="1">
                        <a:solidFill>
                          <a:srgbClr val="FF0000"/>
                        </a:solidFill>
                        <a:latin typeface="Cambria Math" panose="02040503050406030204" pitchFamily="18" charset="0"/>
                        <a:ea typeface="Cambria Math" panose="02040503050406030204" pitchFamily="18" charset="0"/>
                      </a:rPr>
                      <m:t>+</m:t>
                    </m:r>
                    <m:sSub>
                      <m:sSubPr>
                        <m:ctrlPr>
                          <a:rPr lang="en-VN" sz="2000" i="1">
                            <a:solidFill>
                              <a:srgbClr val="FF0000"/>
                            </a:solidFill>
                            <a:latin typeface="Cambria Math" panose="02040503050406030204" pitchFamily="18" charset="0"/>
                          </a:rPr>
                        </m:ctrlPr>
                      </m:sSubPr>
                      <m:e>
                        <m:r>
                          <m:rPr>
                            <m:sty m:val="p"/>
                          </m:rPr>
                          <a:rPr lang="en-VN" sz="2000" i="1">
                            <a:solidFill>
                              <a:srgbClr val="FF0000"/>
                            </a:solidFill>
                            <a:latin typeface="Cambria Math" panose="02040503050406030204" pitchFamily="18" charset="0"/>
                            <a:ea typeface="Cambria Math" panose="02040503050406030204" pitchFamily="18" charset="0"/>
                          </a:rPr>
                          <m:t>∇</m:t>
                        </m:r>
                      </m:e>
                      <m:sub>
                        <m:r>
                          <a:rPr lang="en-VN" sz="2000" i="1">
                            <a:solidFill>
                              <a:srgbClr val="FF0000"/>
                            </a:solidFill>
                            <a:latin typeface="Cambria Math" panose="02040503050406030204" pitchFamily="18" charset="0"/>
                            <a:ea typeface="Cambria Math" panose="02040503050406030204" pitchFamily="18" charset="0"/>
                          </a:rPr>
                          <m:t>𝜃</m:t>
                        </m:r>
                      </m:sub>
                    </m:sSub>
                    <m:r>
                      <a:rPr lang="en-US" sz="2000" i="1">
                        <a:solidFill>
                          <a:srgbClr val="FF0000"/>
                        </a:solidFill>
                        <a:latin typeface="Cambria Math" panose="02040503050406030204" pitchFamily="18" charset="0"/>
                        <a:ea typeface="Cambria Math" panose="02040503050406030204" pitchFamily="18" charset="0"/>
                      </a:rPr>
                      <m:t>𝐽</m:t>
                    </m:r>
                  </m:oMath>
                </a14:m>
                <a:endParaRPr lang="en-US" sz="2000">
                  <a:solidFill>
                    <a:srgbClr val="FF0000"/>
                  </a:solidFill>
                  <a:latin typeface="+mn-lt"/>
                </a:endParaRPr>
              </a:p>
              <a:p>
                <a:pPr marL="1228725" lvl="2" indent="-457200">
                  <a:lnSpc>
                    <a:spcPct val="100000"/>
                  </a:lnSpc>
                  <a:buFont typeface="+mj-lt"/>
                  <a:buAutoNum type="alphaLcPeriod"/>
                </a:pPr>
                <a:r>
                  <a:rPr lang="en-VN" sz="2000">
                    <a:latin typeface="+mn-lt"/>
                  </a:rPr>
                  <a:t>Cập nhật tham số: </a:t>
                </a:r>
                <a14:m>
                  <m:oMath xmlns:m="http://schemas.openxmlformats.org/officeDocument/2006/math">
                    <m:sSub>
                      <m:sSubPr>
                        <m:ctrlPr>
                          <a:rPr lang="en-VN" sz="2000" i="1">
                            <a:latin typeface="Cambria Math" panose="02040503050406030204" pitchFamily="18" charset="0"/>
                          </a:rPr>
                        </m:ctrlPr>
                      </m:sSubPr>
                      <m:e>
                        <m:r>
                          <a:rPr lang="en-VN" sz="2000" i="1">
                            <a:latin typeface="Cambria Math" panose="02040503050406030204" pitchFamily="18" charset="0"/>
                            <a:ea typeface="Cambria Math" panose="02040503050406030204" pitchFamily="18" charset="0"/>
                          </a:rPr>
                          <m:t>𝜃</m:t>
                        </m:r>
                        <m:r>
                          <a:rPr lang="en-US" sz="2000" b="0" i="1">
                            <a:latin typeface="Cambria Math" panose="02040503050406030204" pitchFamily="18" charset="0"/>
                            <a:ea typeface="Cambria Math" panose="02040503050406030204" pitchFamily="18" charset="0"/>
                          </a:rPr>
                          <m:t> ≔</m:t>
                        </m:r>
                        <m:r>
                          <a:rPr lang="en-VN" sz="2000" i="1">
                            <a:latin typeface="Cambria Math" panose="02040503050406030204" pitchFamily="18" charset="0"/>
                            <a:ea typeface="Cambria Math" panose="02040503050406030204" pitchFamily="18" charset="0"/>
                          </a:rPr>
                          <m:t>𝜃</m:t>
                        </m:r>
                        <m:r>
                          <a:rPr lang="en-US" sz="2000" b="0" i="1">
                            <a:latin typeface="Cambria Math" panose="02040503050406030204" pitchFamily="18" charset="0"/>
                            <a:ea typeface="Cambria Math" panose="02040503050406030204" pitchFamily="18" charset="0"/>
                          </a:rPr>
                          <m:t> − </m:t>
                        </m:r>
                        <m:r>
                          <a:rPr lang="en-US" sz="2000" b="0" i="1">
                            <a:solidFill>
                              <a:srgbClr val="FF0000"/>
                            </a:solidFill>
                            <a:latin typeface="Cambria Math" panose="02040503050406030204" pitchFamily="18" charset="0"/>
                            <a:ea typeface="Cambria Math" panose="02040503050406030204" pitchFamily="18" charset="0"/>
                          </a:rPr>
                          <m:t>𝛼</m:t>
                        </m:r>
                        <m:r>
                          <a:rPr lang="en-US" sz="2000" b="0" i="1">
                            <a:solidFill>
                              <a:srgbClr val="FF0000"/>
                            </a:solidFill>
                            <a:latin typeface="Cambria Math" panose="02040503050406030204" pitchFamily="18" charset="0"/>
                            <a:ea typeface="Cambria Math" panose="02040503050406030204" pitchFamily="18" charset="0"/>
                          </a:rPr>
                          <m:t>𝑣</m:t>
                        </m:r>
                      </m:e>
                      <m:sub>
                        <m:r>
                          <a:rPr lang="en-US" sz="2000" b="0" i="1">
                            <a:latin typeface="Cambria Math" panose="02040503050406030204" pitchFamily="18" charset="0"/>
                            <a:ea typeface="Cambria Math" panose="02040503050406030204" pitchFamily="18" charset="0"/>
                          </a:rPr>
                          <m:t> </m:t>
                        </m:r>
                      </m:sub>
                    </m:sSub>
                  </m:oMath>
                </a14:m>
                <a:endParaRPr lang="en-VN" sz="2000">
                  <a:latin typeface="+mn-lt"/>
                </a:endParaRPr>
              </a:p>
            </p:txBody>
          </p:sp>
        </mc:Choice>
        <mc:Fallback xmlns="">
          <p:sp>
            <p:nvSpPr>
              <p:cNvPr id="3" name="Content Placeholder 2">
                <a:extLst>
                  <a:ext uri="{FF2B5EF4-FFF2-40B4-BE49-F238E27FC236}">
                    <a16:creationId xmlns:a16="http://schemas.microsoft.com/office/drawing/2014/main" id="{4A296015-290E-9A40-B516-DB9ADED59A23}"/>
                  </a:ext>
                </a:extLst>
              </p:cNvPr>
              <p:cNvSpPr>
                <a:spLocks noGrp="1" noRot="1" noChangeAspect="1" noMove="1" noResize="1" noEditPoints="1" noAdjustHandles="1" noChangeArrowheads="1" noChangeShapeType="1" noTextEdit="1"/>
              </p:cNvSpPr>
              <p:nvPr>
                <p:ph idx="1"/>
              </p:nvPr>
            </p:nvSpPr>
            <p:spPr>
              <a:xfrm>
                <a:off x="718018" y="1340768"/>
                <a:ext cx="8907119" cy="3672408"/>
              </a:xfrm>
              <a:blipFill>
                <a:blip r:embed="rId2"/>
                <a:stretch>
                  <a:fillRect l="-1140" t="-1379"/>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0DB79E4-9B9A-EB49-93F1-FD21EE3E52B0}"/>
              </a:ext>
            </a:extLst>
          </p:cNvPr>
          <p:cNvSpPr>
            <a:spLocks noGrp="1"/>
          </p:cNvSpPr>
          <p:nvPr>
            <p:ph type="sldNum" sz="quarter" idx="12"/>
          </p:nvPr>
        </p:nvSpPr>
        <p:spPr/>
        <p:txBody>
          <a:bodyPr/>
          <a:lstStyle/>
          <a:p>
            <a:fld id="{DA8C51A7-BEEA-471D-933F-7E35BC04A30F}" type="slidenum">
              <a:rPr lang="en-US"/>
              <a:pPr/>
              <a:t>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88A883-809E-3243-9224-884E060E39C8}"/>
                  </a:ext>
                </a:extLst>
              </p:cNvPr>
              <p:cNvSpPr txBox="1"/>
              <p:nvPr/>
            </p:nvSpPr>
            <p:spPr>
              <a:xfrm>
                <a:off x="6151612" y="5604907"/>
                <a:ext cx="3805657" cy="369332"/>
              </a:xfrm>
              <a:prstGeom prst="rect">
                <a:avLst/>
              </a:prstGeom>
              <a:noFill/>
            </p:spPr>
            <p:txBody>
              <a:bodyPr wrap="none" rtlCol="0">
                <a:spAutoFit/>
              </a:bodyPr>
              <a:lstStyle/>
              <a:p>
                <a:r>
                  <a:rPr lang="en-VN"/>
                  <a:t>Lưu ý: Hệ số quán tính: </a:t>
                </a:r>
                <a14:m>
                  <m:oMath xmlns:m="http://schemas.openxmlformats.org/officeDocument/2006/math">
                    <m:r>
                      <a:rPr lang="en-US" b="0" i="1">
                        <a:latin typeface="Cambria Math" panose="02040503050406030204" pitchFamily="18" charset="0"/>
                      </a:rPr>
                      <m:t>0 </m:t>
                    </m:r>
                    <m:r>
                      <a:rPr lang="en-US" b="0" i="1">
                        <a:latin typeface="Cambria Math" panose="02040503050406030204" pitchFamily="18" charset="0"/>
                        <a:ea typeface="Cambria Math" panose="02040503050406030204" pitchFamily="18" charset="0"/>
                      </a:rPr>
                      <m:t>≤ </m:t>
                    </m:r>
                    <m:r>
                      <a:rPr lang="en-US" b="0" i="1">
                        <a:latin typeface="Cambria Math" panose="02040503050406030204" pitchFamily="18" charset="0"/>
                        <a:ea typeface="Cambria Math" panose="02040503050406030204" pitchFamily="18" charset="0"/>
                      </a:rPr>
                      <m:t>𝜇</m:t>
                    </m:r>
                    <m:r>
                      <a:rPr lang="en-US" b="0" i="1">
                        <a:latin typeface="Cambria Math" panose="02040503050406030204" pitchFamily="18" charset="0"/>
                        <a:ea typeface="Cambria Math" panose="02040503050406030204" pitchFamily="18" charset="0"/>
                      </a:rPr>
                      <m:t> &lt;1</m:t>
                    </m:r>
                  </m:oMath>
                </a14:m>
                <a:endParaRPr lang="en-VN"/>
              </a:p>
            </p:txBody>
          </p:sp>
        </mc:Choice>
        <mc:Fallback xmlns="">
          <p:sp>
            <p:nvSpPr>
              <p:cNvPr id="5" name="TextBox 4">
                <a:extLst>
                  <a:ext uri="{FF2B5EF4-FFF2-40B4-BE49-F238E27FC236}">
                    <a16:creationId xmlns:a16="http://schemas.microsoft.com/office/drawing/2014/main" id="{6D88A883-809E-3243-9224-884E060E39C8}"/>
                  </a:ext>
                </a:extLst>
              </p:cNvPr>
              <p:cNvSpPr txBox="1">
                <a:spLocks noRot="1" noChangeAspect="1" noMove="1" noResize="1" noEditPoints="1" noAdjustHandles="1" noChangeArrowheads="1" noChangeShapeType="1" noTextEdit="1"/>
              </p:cNvSpPr>
              <p:nvPr/>
            </p:nvSpPr>
            <p:spPr>
              <a:xfrm>
                <a:off x="6151612" y="5604907"/>
                <a:ext cx="3805657" cy="369332"/>
              </a:xfrm>
              <a:prstGeom prst="rect">
                <a:avLst/>
              </a:prstGeom>
              <a:blipFill>
                <a:blip r:embed="rId3"/>
                <a:stretch>
                  <a:fillRect l="-1333" t="-6667" b="-26667"/>
                </a:stretch>
              </a:blipFill>
            </p:spPr>
            <p:txBody>
              <a:bodyPr/>
              <a:lstStyle/>
              <a:p>
                <a:r>
                  <a:rPr lang="en-VN">
                    <a:noFill/>
                  </a:rPr>
                  <a:t> </a:t>
                </a:r>
              </a:p>
            </p:txBody>
          </p:sp>
        </mc:Fallback>
      </mc:AlternateContent>
    </p:spTree>
    <p:extLst>
      <p:ext uri="{BB962C8B-B14F-4D97-AF65-F5344CB8AC3E}">
        <p14:creationId xmlns:p14="http://schemas.microsoft.com/office/powerpoint/2010/main" val="3006410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hape&#10;&#10;Description automatically generated">
            <a:extLst>
              <a:ext uri="{FF2B5EF4-FFF2-40B4-BE49-F238E27FC236}">
                <a16:creationId xmlns:a16="http://schemas.microsoft.com/office/drawing/2014/main" id="{8C3E057B-98BB-2E40-B343-32F25923C4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2788" y="1185364"/>
            <a:ext cx="2376264" cy="4487271"/>
          </a:xfrm>
        </p:spPr>
      </p:pic>
      <p:sp>
        <p:nvSpPr>
          <p:cNvPr id="2" name="Title 1">
            <a:extLst>
              <a:ext uri="{FF2B5EF4-FFF2-40B4-BE49-F238E27FC236}">
                <a16:creationId xmlns:a16="http://schemas.microsoft.com/office/drawing/2014/main" id="{AAC41FD5-0792-7845-9A6F-2C49B90646C2}"/>
              </a:ext>
            </a:extLst>
          </p:cNvPr>
          <p:cNvSpPr>
            <a:spLocks noGrp="1"/>
          </p:cNvSpPr>
          <p:nvPr>
            <p:ph type="title"/>
          </p:nvPr>
        </p:nvSpPr>
        <p:spPr/>
        <p:txBody>
          <a:bodyPr/>
          <a:lstStyle/>
          <a:p>
            <a:r>
              <a:rPr lang="en-VN" sz="2800"/>
              <a:t>Neural Network – Stochastic Gradient Descent với quán tính</a:t>
            </a:r>
          </a:p>
        </p:txBody>
      </p:sp>
      <p:sp>
        <p:nvSpPr>
          <p:cNvPr id="4" name="Slide Number Placeholder 3">
            <a:extLst>
              <a:ext uri="{FF2B5EF4-FFF2-40B4-BE49-F238E27FC236}">
                <a16:creationId xmlns:a16="http://schemas.microsoft.com/office/drawing/2014/main" id="{2ACCC168-0112-E54D-B078-77CBB5AEBA7A}"/>
              </a:ext>
            </a:extLst>
          </p:cNvPr>
          <p:cNvSpPr>
            <a:spLocks noGrp="1"/>
          </p:cNvSpPr>
          <p:nvPr>
            <p:ph type="sldNum" sz="quarter" idx="12"/>
          </p:nvPr>
        </p:nvSpPr>
        <p:spPr/>
        <p:txBody>
          <a:bodyPr/>
          <a:lstStyle/>
          <a:p>
            <a:fld id="{DA8C51A7-BEEA-471D-933F-7E35BC04A30F}" type="slidenum">
              <a:rPr lang="en-US"/>
              <a:pPr/>
              <a:t>9</a:t>
            </a:fld>
            <a:endParaRPr lang="en-US"/>
          </a:p>
        </p:txBody>
      </p:sp>
      <p:pic>
        <p:nvPicPr>
          <p:cNvPr id="8" name="Picture 7" descr="Diagram&#10;&#10;Description automatically generated with medium confidence">
            <a:extLst>
              <a:ext uri="{FF2B5EF4-FFF2-40B4-BE49-F238E27FC236}">
                <a16:creationId xmlns:a16="http://schemas.microsoft.com/office/drawing/2014/main" id="{7582C840-548A-7749-88FE-B5BB9DD90B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1772" y="1405757"/>
            <a:ext cx="2486607" cy="4039468"/>
          </a:xfrm>
          <a:prstGeom prst="rect">
            <a:avLst/>
          </a:prstGeom>
        </p:spPr>
      </p:pic>
      <p:sp>
        <p:nvSpPr>
          <p:cNvPr id="9" name="TextBox 8">
            <a:extLst>
              <a:ext uri="{FF2B5EF4-FFF2-40B4-BE49-F238E27FC236}">
                <a16:creationId xmlns:a16="http://schemas.microsoft.com/office/drawing/2014/main" id="{B4A0C5D9-8BE3-E54D-A1A6-1FE4ACF1294C}"/>
              </a:ext>
            </a:extLst>
          </p:cNvPr>
          <p:cNvSpPr txBox="1"/>
          <p:nvPr/>
        </p:nvSpPr>
        <p:spPr>
          <a:xfrm>
            <a:off x="3869172" y="5758460"/>
            <a:ext cx="2548656" cy="523220"/>
          </a:xfrm>
          <a:prstGeom prst="rect">
            <a:avLst/>
          </a:prstGeom>
          <a:noFill/>
        </p:spPr>
        <p:txBody>
          <a:bodyPr wrap="square" rtlCol="0">
            <a:spAutoFit/>
          </a:bodyPr>
          <a:lstStyle/>
          <a:p>
            <a:pPr algn="ctr"/>
            <a:r>
              <a:rPr lang="en-VN" sz="1400"/>
              <a:t>Minh hoạ thuật toán khi chỉ có 1 tham số cần tối ưu</a:t>
            </a:r>
          </a:p>
        </p:txBody>
      </p:sp>
      <p:sp>
        <p:nvSpPr>
          <p:cNvPr id="10" name="TextBox 9">
            <a:extLst>
              <a:ext uri="{FF2B5EF4-FFF2-40B4-BE49-F238E27FC236}">
                <a16:creationId xmlns:a16="http://schemas.microsoft.com/office/drawing/2014/main" id="{0FC324A9-36D8-0348-8D72-D01206F09365}"/>
              </a:ext>
            </a:extLst>
          </p:cNvPr>
          <p:cNvSpPr txBox="1"/>
          <p:nvPr/>
        </p:nvSpPr>
        <p:spPr>
          <a:xfrm>
            <a:off x="7375748" y="5742932"/>
            <a:ext cx="2548656" cy="523220"/>
          </a:xfrm>
          <a:prstGeom prst="rect">
            <a:avLst/>
          </a:prstGeom>
          <a:noFill/>
        </p:spPr>
        <p:txBody>
          <a:bodyPr wrap="square" rtlCol="0">
            <a:spAutoFit/>
          </a:bodyPr>
          <a:lstStyle/>
          <a:p>
            <a:pPr algn="ctr"/>
            <a:r>
              <a:rPr lang="en-VN" sz="1400"/>
              <a:t>Minh hoạ thuật toán khi chỉ có 2 tham số cần tối ưu</a:t>
            </a:r>
          </a:p>
        </p:txBody>
      </p:sp>
      <p:sp>
        <p:nvSpPr>
          <p:cNvPr id="11" name="TextBox 10">
            <a:extLst>
              <a:ext uri="{FF2B5EF4-FFF2-40B4-BE49-F238E27FC236}">
                <a16:creationId xmlns:a16="http://schemas.microsoft.com/office/drawing/2014/main" id="{E52F4880-269A-6E4C-A59B-CAC9BFA3F952}"/>
              </a:ext>
            </a:extLst>
          </p:cNvPr>
          <p:cNvSpPr txBox="1"/>
          <p:nvPr/>
        </p:nvSpPr>
        <p:spPr>
          <a:xfrm>
            <a:off x="405055" y="2276872"/>
            <a:ext cx="2454518" cy="369332"/>
          </a:xfrm>
          <a:prstGeom prst="rect">
            <a:avLst/>
          </a:prstGeom>
          <a:noFill/>
        </p:spPr>
        <p:txBody>
          <a:bodyPr wrap="none" rtlCol="0">
            <a:spAutoFit/>
          </a:bodyPr>
          <a:lstStyle/>
          <a:p>
            <a:r>
              <a:rPr lang="en-VN"/>
              <a:t>Không dùng quán tính</a:t>
            </a:r>
          </a:p>
        </p:txBody>
      </p:sp>
      <p:sp>
        <p:nvSpPr>
          <p:cNvPr id="12" name="TextBox 11">
            <a:extLst>
              <a:ext uri="{FF2B5EF4-FFF2-40B4-BE49-F238E27FC236}">
                <a16:creationId xmlns:a16="http://schemas.microsoft.com/office/drawing/2014/main" id="{897B9EC2-0E03-EC4F-AD40-D55252D4EDB6}"/>
              </a:ext>
            </a:extLst>
          </p:cNvPr>
          <p:cNvSpPr txBox="1"/>
          <p:nvPr/>
        </p:nvSpPr>
        <p:spPr>
          <a:xfrm>
            <a:off x="405055" y="4437112"/>
            <a:ext cx="2082621" cy="369332"/>
          </a:xfrm>
          <a:prstGeom prst="rect">
            <a:avLst/>
          </a:prstGeom>
          <a:noFill/>
        </p:spPr>
        <p:txBody>
          <a:bodyPr wrap="none" rtlCol="0">
            <a:spAutoFit/>
          </a:bodyPr>
          <a:lstStyle/>
          <a:p>
            <a:r>
              <a:rPr lang="en-VN"/>
              <a:t>Có dùng quán tính</a:t>
            </a:r>
          </a:p>
        </p:txBody>
      </p:sp>
    </p:spTree>
    <p:extLst>
      <p:ext uri="{BB962C8B-B14F-4D97-AF65-F5344CB8AC3E}">
        <p14:creationId xmlns:p14="http://schemas.microsoft.com/office/powerpoint/2010/main" val="2512490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1FD5-0792-7845-9A6F-2C49B90646C2}"/>
              </a:ext>
            </a:extLst>
          </p:cNvPr>
          <p:cNvSpPr>
            <a:spLocks noGrp="1"/>
          </p:cNvSpPr>
          <p:nvPr>
            <p:ph type="title"/>
          </p:nvPr>
        </p:nvSpPr>
        <p:spPr/>
        <p:txBody>
          <a:bodyPr/>
          <a:lstStyle/>
          <a:p>
            <a:r>
              <a:rPr lang="en-VN" sz="2800"/>
              <a:t>Neural Network – Stochastic Gradient Descent với quán tính</a:t>
            </a:r>
          </a:p>
        </p:txBody>
      </p:sp>
      <p:sp>
        <p:nvSpPr>
          <p:cNvPr id="4" name="Slide Number Placeholder 3">
            <a:extLst>
              <a:ext uri="{FF2B5EF4-FFF2-40B4-BE49-F238E27FC236}">
                <a16:creationId xmlns:a16="http://schemas.microsoft.com/office/drawing/2014/main" id="{2ACCC168-0112-E54D-B078-77CBB5AEBA7A}"/>
              </a:ext>
            </a:extLst>
          </p:cNvPr>
          <p:cNvSpPr>
            <a:spLocks noGrp="1"/>
          </p:cNvSpPr>
          <p:nvPr>
            <p:ph type="sldNum" sz="quarter" idx="12"/>
          </p:nvPr>
        </p:nvSpPr>
        <p:spPr/>
        <p:txBody>
          <a:bodyPr/>
          <a:lstStyle/>
          <a:p>
            <a:fld id="{DA8C51A7-BEEA-471D-933F-7E35BC04A30F}" type="slidenum">
              <a:rPr lang="en-US"/>
              <a:pPr/>
              <a:t>10</a:t>
            </a:fld>
            <a:endParaRPr lang="en-US"/>
          </a:p>
        </p:txBody>
      </p:sp>
      <p:pic>
        <p:nvPicPr>
          <p:cNvPr id="5" name="Picture 4" descr="Diagram&#10;&#10;Description automatically generated">
            <a:extLst>
              <a:ext uri="{FF2B5EF4-FFF2-40B4-BE49-F238E27FC236}">
                <a16:creationId xmlns:a16="http://schemas.microsoft.com/office/drawing/2014/main" id="{233A2071-A0DB-A845-ACE0-534E980177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7041" y="1864540"/>
            <a:ext cx="8362276" cy="4186986"/>
          </a:xfrm>
          <a:prstGeom prst="rect">
            <a:avLst/>
          </a:prstGeom>
        </p:spPr>
      </p:pic>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BBB9AA5F-6067-894D-9401-6DB377169D1D}"/>
                  </a:ext>
                </a:extLst>
              </p:cNvPr>
              <p:cNvSpPr>
                <a:spLocks noGrp="1"/>
              </p:cNvSpPr>
              <p:nvPr>
                <p:ph idx="1"/>
              </p:nvPr>
            </p:nvSpPr>
            <p:spPr>
              <a:xfrm>
                <a:off x="525640" y="1315792"/>
                <a:ext cx="9761360" cy="1584176"/>
              </a:xfrm>
            </p:spPr>
            <p:txBody>
              <a:bodyPr/>
              <a:lstStyle/>
              <a:p>
                <a:pPr marL="0" indent="0">
                  <a:lnSpc>
                    <a:spcPct val="100000"/>
                  </a:lnSpc>
                  <a:buNone/>
                </a:pPr>
                <a:r>
                  <a:rPr lang="en-VN" sz="2400"/>
                  <a:t>Quán tính tại mỗi thời điểm là trung bình chuyển động tính trên </a:t>
                </a:r>
                <a14:m>
                  <m:oMath xmlns:m="http://schemas.openxmlformats.org/officeDocument/2006/math">
                    <m:r>
                      <a:rPr lang="en-VN"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 </m:t>
                    </m:r>
                    <m:f>
                      <m:fPr>
                        <m:ctrlPr>
                          <a:rPr lang="en-US" sz="2400" b="0" i="1">
                            <a:latin typeface="Cambria Math" panose="02040503050406030204" pitchFamily="18" charset="0"/>
                            <a:ea typeface="Cambria Math" panose="02040503050406030204" pitchFamily="18" charset="0"/>
                          </a:rPr>
                        </m:ctrlPr>
                      </m:fPr>
                      <m:num>
                        <m:r>
                          <a:rPr lang="en-US" sz="2400" b="0" i="1">
                            <a:latin typeface="Cambria Math" panose="02040503050406030204" pitchFamily="18" charset="0"/>
                            <a:ea typeface="Cambria Math" panose="02040503050406030204" pitchFamily="18" charset="0"/>
                          </a:rPr>
                          <m:t>1</m:t>
                        </m:r>
                      </m:num>
                      <m:den>
                        <m:r>
                          <a:rPr lang="en-US" sz="2400" b="0" i="1">
                            <a:latin typeface="Cambria Math" panose="02040503050406030204" pitchFamily="18" charset="0"/>
                            <a:ea typeface="Cambria Math" panose="02040503050406030204" pitchFamily="18" charset="0"/>
                          </a:rPr>
                          <m:t>1 − </m:t>
                        </m:r>
                        <m:r>
                          <a:rPr lang="en-US" sz="2400" b="0" i="1">
                            <a:latin typeface="Cambria Math" panose="02040503050406030204" pitchFamily="18" charset="0"/>
                            <a:ea typeface="Cambria Math" panose="02040503050406030204" pitchFamily="18" charset="0"/>
                          </a:rPr>
                          <m:t>𝜇</m:t>
                        </m:r>
                      </m:den>
                    </m:f>
                    <m:r>
                      <a:rPr lang="en-US" sz="2400" b="0" i="1">
                        <a:latin typeface="Cambria Math" panose="02040503050406030204" pitchFamily="18" charset="0"/>
                        <a:ea typeface="Cambria Math" panose="02040503050406030204" pitchFamily="18" charset="0"/>
                      </a:rPr>
                      <m:t> </m:t>
                    </m:r>
                  </m:oMath>
                </a14:m>
                <a:r>
                  <a:rPr lang="en-VN" sz="2400"/>
                  <a:t>iteration trước đó</a:t>
                </a:r>
              </a:p>
            </p:txBody>
          </p:sp>
        </mc:Choice>
        <mc:Fallback xmlns="">
          <p:sp>
            <p:nvSpPr>
              <p:cNvPr id="13" name="Content Placeholder 12">
                <a:extLst>
                  <a:ext uri="{FF2B5EF4-FFF2-40B4-BE49-F238E27FC236}">
                    <a16:creationId xmlns:a16="http://schemas.microsoft.com/office/drawing/2014/main" id="{BBB9AA5F-6067-894D-9401-6DB377169D1D}"/>
                  </a:ext>
                </a:extLst>
              </p:cNvPr>
              <p:cNvSpPr>
                <a:spLocks noGrp="1" noRot="1" noChangeAspect="1" noMove="1" noResize="1" noEditPoints="1" noAdjustHandles="1" noChangeArrowheads="1" noChangeShapeType="1" noTextEdit="1"/>
              </p:cNvSpPr>
              <p:nvPr>
                <p:ph idx="1"/>
              </p:nvPr>
            </p:nvSpPr>
            <p:spPr>
              <a:xfrm>
                <a:off x="525640" y="1315792"/>
                <a:ext cx="9761360" cy="1584176"/>
              </a:xfrm>
              <a:blipFill>
                <a:blip r:embed="rId3"/>
                <a:stretch>
                  <a:fillRect l="-909" t="-2381"/>
                </a:stretch>
              </a:blipFill>
            </p:spPr>
            <p:txBody>
              <a:bodyPr/>
              <a:lstStyle/>
              <a:p>
                <a:r>
                  <a:rPr lang="en-VN">
                    <a:noFill/>
                  </a:rPr>
                  <a:t> </a:t>
                </a:r>
              </a:p>
            </p:txBody>
          </p:sp>
        </mc:Fallback>
      </mc:AlternateContent>
      <p:sp>
        <p:nvSpPr>
          <p:cNvPr id="14" name="TextBox 13">
            <a:extLst>
              <a:ext uri="{FF2B5EF4-FFF2-40B4-BE49-F238E27FC236}">
                <a16:creationId xmlns:a16="http://schemas.microsoft.com/office/drawing/2014/main" id="{4FFCA1FC-D241-7041-99A7-A128B1F90B5C}"/>
              </a:ext>
            </a:extLst>
          </p:cNvPr>
          <p:cNvSpPr txBox="1"/>
          <p:nvPr/>
        </p:nvSpPr>
        <p:spPr>
          <a:xfrm>
            <a:off x="6133244" y="5937002"/>
            <a:ext cx="3677097" cy="338554"/>
          </a:xfrm>
          <a:prstGeom prst="rect">
            <a:avLst/>
          </a:prstGeom>
          <a:noFill/>
        </p:spPr>
        <p:txBody>
          <a:bodyPr wrap="none" rtlCol="0">
            <a:spAutoFit/>
          </a:bodyPr>
          <a:lstStyle/>
          <a:p>
            <a:r>
              <a:rPr lang="en-VN" sz="1600" i="1">
                <a:solidFill>
                  <a:schemeClr val="bg2">
                    <a:lumMod val="50000"/>
                  </a:schemeClr>
                </a:solidFill>
              </a:rPr>
              <a:t>Nguồn: Udacity’s Deeplearning course</a:t>
            </a:r>
          </a:p>
        </p:txBody>
      </p:sp>
    </p:spTree>
    <p:extLst>
      <p:ext uri="{BB962C8B-B14F-4D97-AF65-F5344CB8AC3E}">
        <p14:creationId xmlns:p14="http://schemas.microsoft.com/office/powerpoint/2010/main" val="893526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1FD5-0792-7845-9A6F-2C49B90646C2}"/>
              </a:ext>
            </a:extLst>
          </p:cNvPr>
          <p:cNvSpPr>
            <a:spLocks noGrp="1"/>
          </p:cNvSpPr>
          <p:nvPr>
            <p:ph type="title"/>
          </p:nvPr>
        </p:nvSpPr>
        <p:spPr/>
        <p:txBody>
          <a:bodyPr/>
          <a:lstStyle/>
          <a:p>
            <a:r>
              <a:rPr lang="en-VN" sz="2800"/>
              <a:t>Neural Network – Stochastic Gradient Descent</a:t>
            </a:r>
          </a:p>
        </p:txBody>
      </p:sp>
      <p:sp>
        <p:nvSpPr>
          <p:cNvPr id="4" name="Slide Number Placeholder 3">
            <a:extLst>
              <a:ext uri="{FF2B5EF4-FFF2-40B4-BE49-F238E27FC236}">
                <a16:creationId xmlns:a16="http://schemas.microsoft.com/office/drawing/2014/main" id="{2ACCC168-0112-E54D-B078-77CBB5AEBA7A}"/>
              </a:ext>
            </a:extLst>
          </p:cNvPr>
          <p:cNvSpPr>
            <a:spLocks noGrp="1"/>
          </p:cNvSpPr>
          <p:nvPr>
            <p:ph type="sldNum" sz="quarter" idx="12"/>
          </p:nvPr>
        </p:nvSpPr>
        <p:spPr/>
        <p:txBody>
          <a:bodyPr/>
          <a:lstStyle/>
          <a:p>
            <a:fld id="{DA8C51A7-BEEA-471D-933F-7E35BC04A30F}" type="slidenum">
              <a:rPr lang="en-US"/>
              <a:pPr/>
              <a:t>11</a:t>
            </a:fld>
            <a:endParaRPr lang="en-US"/>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BBB9AA5F-6067-894D-9401-6DB377169D1D}"/>
                  </a:ext>
                </a:extLst>
              </p:cNvPr>
              <p:cNvSpPr>
                <a:spLocks noGrp="1"/>
              </p:cNvSpPr>
              <p:nvPr>
                <p:ph idx="1"/>
              </p:nvPr>
            </p:nvSpPr>
            <p:spPr>
              <a:xfrm>
                <a:off x="525640" y="2060848"/>
                <a:ext cx="4761876" cy="3876154"/>
              </a:xfrm>
            </p:spPr>
            <p:txBody>
              <a:bodyPr/>
              <a:lstStyle/>
              <a:p>
                <a:pPr>
                  <a:lnSpc>
                    <a:spcPct val="100000"/>
                  </a:lnSpc>
                </a:pPr>
                <a:r>
                  <a:rPr lang="en-VN" sz="2400">
                    <a:latin typeface="+mn-lt"/>
                  </a:rPr>
                  <a:t>SGD thông thường:</a:t>
                </a:r>
              </a:p>
              <a:p>
                <a:pPr marL="0" indent="0">
                  <a:lnSpc>
                    <a:spcPct val="100000"/>
                  </a:lnSpc>
                  <a:buNone/>
                </a:pPr>
                <a:r>
                  <a:rPr lang="en-VN" sz="2400">
                    <a:latin typeface="+mn-lt"/>
                  </a:rPr>
                  <a:t>	 </a:t>
                </a:r>
                <a14:m>
                  <m:oMath xmlns:m="http://schemas.openxmlformats.org/officeDocument/2006/math">
                    <m:sSub>
                      <m:sSubPr>
                        <m:ctrlPr>
                          <a:rPr lang="en-VN" sz="2400" i="1">
                            <a:latin typeface="Cambria Math" panose="02040503050406030204" pitchFamily="18" charset="0"/>
                          </a:rPr>
                        </m:ctrlPr>
                      </m:sSubPr>
                      <m:e>
                        <m:r>
                          <a:rPr lang="en-VN"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 ≔</m:t>
                        </m:r>
                        <m:r>
                          <a:rPr lang="en-VN"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 − </m:t>
                        </m:r>
                        <m:r>
                          <a:rPr lang="en-US" sz="2400" i="1">
                            <a:latin typeface="Cambria Math" panose="02040503050406030204" pitchFamily="18" charset="0"/>
                            <a:ea typeface="Cambria Math" panose="02040503050406030204" pitchFamily="18" charset="0"/>
                          </a:rPr>
                          <m:t>𝛼</m:t>
                        </m:r>
                        <m:r>
                          <m:rPr>
                            <m:sty m:val="p"/>
                          </m:rPr>
                          <a:rPr lang="en-VN" sz="2400" i="1">
                            <a:latin typeface="Cambria Math" panose="02040503050406030204" pitchFamily="18" charset="0"/>
                            <a:ea typeface="Cambria Math" panose="02040503050406030204" pitchFamily="18" charset="0"/>
                          </a:rPr>
                          <m:t>∇</m:t>
                        </m:r>
                      </m:e>
                      <m:sub>
                        <m:r>
                          <a:rPr lang="en-VN" sz="2400" i="1">
                            <a:latin typeface="Cambria Math" panose="02040503050406030204" pitchFamily="18" charset="0"/>
                            <a:ea typeface="Cambria Math" panose="02040503050406030204" pitchFamily="18" charset="0"/>
                          </a:rPr>
                          <m:t>𝜃</m:t>
                        </m:r>
                      </m:sub>
                    </m:sSub>
                  </m:oMath>
                </a14:m>
                <a:endParaRPr lang="en-VN" sz="2400">
                  <a:latin typeface="+mn-lt"/>
                </a:endParaRPr>
              </a:p>
              <a:p>
                <a:pPr>
                  <a:lnSpc>
                    <a:spcPct val="100000"/>
                  </a:lnSpc>
                </a:pPr>
                <a:r>
                  <a:rPr lang="en-VN" sz="2400">
                    <a:latin typeface="+mn-lt"/>
                  </a:rPr>
                  <a:t>SGD với quán tính:</a:t>
                </a:r>
              </a:p>
              <a:p>
                <a:pPr marL="771525" lvl="2" indent="0">
                  <a:lnSpc>
                    <a:spcPct val="100000"/>
                  </a:lnSpc>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Cambria Math" panose="02040503050406030204" pitchFamily="18" charset="0"/>
                        </a:rPr>
                        <m:t>𝑣</m:t>
                      </m:r>
                      <m:r>
                        <a:rPr lang="en-US" sz="2400" i="1">
                          <a:latin typeface="Cambria Math" panose="02040503050406030204" pitchFamily="18" charset="0"/>
                          <a:ea typeface="Cambria Math" panose="02040503050406030204" pitchFamily="18" charset="0"/>
                        </a:rPr>
                        <m:t> ≔ </m:t>
                      </m:r>
                      <m:r>
                        <a:rPr lang="en-US" sz="2400" i="1">
                          <a:latin typeface="Cambria Math" panose="02040503050406030204" pitchFamily="18" charset="0"/>
                          <a:ea typeface="Cambria Math" panose="02040503050406030204" pitchFamily="18" charset="0"/>
                        </a:rPr>
                        <m:t>𝜇</m:t>
                      </m:r>
                      <m:r>
                        <a:rPr lang="en-US" sz="2400" i="1">
                          <a:latin typeface="Cambria Math" panose="02040503050406030204" pitchFamily="18" charset="0"/>
                          <a:ea typeface="Cambria Math" panose="02040503050406030204" pitchFamily="18" charset="0"/>
                        </a:rPr>
                        <m:t>𝑣</m:t>
                      </m:r>
                      <m:r>
                        <a:rPr lang="en-US" sz="2400" i="1">
                          <a:latin typeface="Cambria Math" panose="02040503050406030204" pitchFamily="18" charset="0"/>
                          <a:ea typeface="Cambria Math" panose="02040503050406030204" pitchFamily="18" charset="0"/>
                        </a:rPr>
                        <m:t>+</m:t>
                      </m:r>
                      <m:sSub>
                        <m:sSubPr>
                          <m:ctrlPr>
                            <a:rPr lang="en-VN" sz="2400" i="1">
                              <a:latin typeface="Cambria Math" panose="02040503050406030204" pitchFamily="18" charset="0"/>
                              <a:ea typeface="Cambria Math" panose="02040503050406030204" pitchFamily="18" charset="0"/>
                            </a:rPr>
                          </m:ctrlPr>
                        </m:sSubPr>
                        <m:e>
                          <m:r>
                            <m:rPr>
                              <m:sty m:val="p"/>
                            </m:rPr>
                            <a:rPr lang="en-VN" sz="2400" i="1">
                              <a:latin typeface="Cambria Math" panose="02040503050406030204" pitchFamily="18" charset="0"/>
                              <a:ea typeface="Cambria Math" panose="02040503050406030204" pitchFamily="18" charset="0"/>
                            </a:rPr>
                            <m:t>∇</m:t>
                          </m:r>
                        </m:e>
                        <m:sub>
                          <m:r>
                            <a:rPr lang="en-VN" sz="2400" i="1">
                              <a:latin typeface="Cambria Math" panose="02040503050406030204" pitchFamily="18" charset="0"/>
                              <a:ea typeface="Cambria Math" panose="02040503050406030204" pitchFamily="18" charset="0"/>
                            </a:rPr>
                            <m:t>𝜃</m:t>
                          </m:r>
                        </m:sub>
                      </m:sSub>
                      <m:r>
                        <a:rPr lang="en-US" sz="2400" i="1">
                          <a:latin typeface="Cambria Math" panose="02040503050406030204" pitchFamily="18" charset="0"/>
                          <a:ea typeface="Cambria Math" panose="02040503050406030204" pitchFamily="18" charset="0"/>
                        </a:rPr>
                        <m:t>𝐽</m:t>
                      </m:r>
                    </m:oMath>
                  </m:oMathPara>
                </a14:m>
                <a:endParaRPr lang="en-VN" sz="2400" i="1">
                  <a:latin typeface="+mn-lt"/>
                  <a:ea typeface="Cambria Math" panose="02040503050406030204" pitchFamily="18" charset="0"/>
                </a:endParaRPr>
              </a:p>
              <a:p>
                <a:pPr marL="771525" lvl="2" indent="0">
                  <a:lnSpc>
                    <a:spcPct val="100000"/>
                  </a:lnSpc>
                  <a:buNone/>
                </a:pPr>
                <a14:m>
                  <m:oMathPara xmlns:m="http://schemas.openxmlformats.org/officeDocument/2006/math">
                    <m:oMathParaPr>
                      <m:jc m:val="left"/>
                    </m:oMathParaPr>
                    <m:oMath xmlns:m="http://schemas.openxmlformats.org/officeDocument/2006/math">
                      <m:sSub>
                        <m:sSubPr>
                          <m:ctrlPr>
                            <a:rPr lang="en-VN" sz="2400" i="1">
                              <a:latin typeface="Cambria Math" panose="02040503050406030204" pitchFamily="18" charset="0"/>
                            </a:rPr>
                          </m:ctrlPr>
                        </m:sSubPr>
                        <m:e>
                          <m:r>
                            <a:rPr lang="en-VN"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 ≔</m:t>
                          </m:r>
                          <m:r>
                            <a:rPr lang="en-VN"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 − </m:t>
                          </m:r>
                          <m:r>
                            <a:rPr lang="en-US" sz="2400" i="1">
                              <a:solidFill>
                                <a:srgbClr val="FF0000"/>
                              </a:solidFill>
                              <a:latin typeface="Cambria Math" panose="02040503050406030204" pitchFamily="18" charset="0"/>
                              <a:ea typeface="Cambria Math" panose="02040503050406030204" pitchFamily="18" charset="0"/>
                            </a:rPr>
                            <m:t>𝛼</m:t>
                          </m:r>
                          <m:r>
                            <a:rPr lang="en-US" sz="2400" i="1">
                              <a:solidFill>
                                <a:srgbClr val="FF0000"/>
                              </a:solidFill>
                              <a:latin typeface="Cambria Math" panose="02040503050406030204" pitchFamily="18" charset="0"/>
                              <a:ea typeface="Cambria Math" panose="02040503050406030204" pitchFamily="18" charset="0"/>
                            </a:rPr>
                            <m:t>𝑣</m:t>
                          </m:r>
                        </m:e>
                        <m:sub>
                          <m:r>
                            <a:rPr lang="en-US" sz="2400" i="1">
                              <a:latin typeface="Cambria Math" panose="02040503050406030204" pitchFamily="18" charset="0"/>
                              <a:ea typeface="Cambria Math" panose="02040503050406030204" pitchFamily="18" charset="0"/>
                            </a:rPr>
                            <m:t> </m:t>
                          </m:r>
                        </m:sub>
                      </m:sSub>
                    </m:oMath>
                  </m:oMathPara>
                </a14:m>
                <a:endParaRPr lang="en-VN" sz="1700">
                  <a:latin typeface="+mn-lt"/>
                </a:endParaRPr>
              </a:p>
              <a:p>
                <a:pPr>
                  <a:lnSpc>
                    <a:spcPct val="100000"/>
                  </a:lnSpc>
                </a:pPr>
                <a:r>
                  <a:rPr lang="en-VN" sz="2400">
                    <a:latin typeface="+mn-lt"/>
                  </a:rPr>
                  <a:t>Biến thể Nesterov Momentum</a:t>
                </a:r>
              </a:p>
              <a:p>
                <a:pPr marL="0" indent="0">
                  <a:lnSpc>
                    <a:spcPct val="100000"/>
                  </a:lnSpc>
                  <a:buNone/>
                </a:pPr>
                <a:r>
                  <a:rPr lang="en-VN" sz="2400" i="1">
                    <a:solidFill>
                      <a:schemeClr val="bg2">
                        <a:lumMod val="25000"/>
                      </a:schemeClr>
                    </a:solidFill>
                    <a:latin typeface="+mn-lt"/>
                  </a:rPr>
                  <a:t>Learning rate nên được điều chỉnh khi số vòng lặp đủ lớn</a:t>
                </a:r>
              </a:p>
              <a:p>
                <a:pPr marL="771525" lvl="2" indent="0">
                  <a:lnSpc>
                    <a:spcPct val="100000"/>
                  </a:lnSpc>
                  <a:buNone/>
                </a:pPr>
                <a:endParaRPr lang="en-VN" sz="1700">
                  <a:latin typeface="+mn-lt"/>
                </a:endParaRPr>
              </a:p>
              <a:p>
                <a:pPr marL="0" indent="0">
                  <a:lnSpc>
                    <a:spcPct val="100000"/>
                  </a:lnSpc>
                  <a:buNone/>
                </a:pPr>
                <a:endParaRPr lang="en-VN" sz="2400">
                  <a:latin typeface="+mn-lt"/>
                </a:endParaRPr>
              </a:p>
            </p:txBody>
          </p:sp>
        </mc:Choice>
        <mc:Fallback xmlns="">
          <p:sp>
            <p:nvSpPr>
              <p:cNvPr id="13" name="Content Placeholder 12">
                <a:extLst>
                  <a:ext uri="{FF2B5EF4-FFF2-40B4-BE49-F238E27FC236}">
                    <a16:creationId xmlns:a16="http://schemas.microsoft.com/office/drawing/2014/main" id="{BBB9AA5F-6067-894D-9401-6DB377169D1D}"/>
                  </a:ext>
                </a:extLst>
              </p:cNvPr>
              <p:cNvSpPr>
                <a:spLocks noGrp="1" noRot="1" noChangeAspect="1" noMove="1" noResize="1" noEditPoints="1" noAdjustHandles="1" noChangeArrowheads="1" noChangeShapeType="1" noTextEdit="1"/>
              </p:cNvSpPr>
              <p:nvPr>
                <p:ph idx="1"/>
              </p:nvPr>
            </p:nvSpPr>
            <p:spPr>
              <a:xfrm>
                <a:off x="525640" y="2060848"/>
                <a:ext cx="4761876" cy="3876154"/>
              </a:xfrm>
              <a:blipFill>
                <a:blip r:embed="rId2"/>
                <a:stretch>
                  <a:fillRect l="-1862" t="-1307"/>
                </a:stretch>
              </a:blipFill>
            </p:spPr>
            <p:txBody>
              <a:bodyPr/>
              <a:lstStyle/>
              <a:p>
                <a:r>
                  <a:rPr lang="en-VN">
                    <a:noFill/>
                  </a:rPr>
                  <a:t> </a:t>
                </a:r>
              </a:p>
            </p:txBody>
          </p:sp>
        </mc:Fallback>
      </mc:AlternateContent>
      <p:sp>
        <p:nvSpPr>
          <p:cNvPr id="3" name="Rectangle 2">
            <a:extLst>
              <a:ext uri="{FF2B5EF4-FFF2-40B4-BE49-F238E27FC236}">
                <a16:creationId xmlns:a16="http://schemas.microsoft.com/office/drawing/2014/main" id="{DDE3521C-511A-6549-87D4-C46F95F5BF47}"/>
              </a:ext>
            </a:extLst>
          </p:cNvPr>
          <p:cNvSpPr/>
          <p:nvPr/>
        </p:nvSpPr>
        <p:spPr>
          <a:xfrm>
            <a:off x="539668" y="1298886"/>
            <a:ext cx="9356360" cy="461665"/>
          </a:xfrm>
          <a:prstGeom prst="rect">
            <a:avLst/>
          </a:prstGeom>
        </p:spPr>
        <p:txBody>
          <a:bodyPr wrap="square">
            <a:spAutoFit/>
          </a:bodyPr>
          <a:lstStyle/>
          <a:p>
            <a:pPr marL="0" indent="0">
              <a:lnSpc>
                <a:spcPct val="100000"/>
              </a:lnSpc>
              <a:buNone/>
            </a:pPr>
            <a:r>
              <a:rPr lang="en-VN" sz="2400"/>
              <a:t>Stochastic Gradient Descent và </a:t>
            </a:r>
            <a:r>
              <a:rPr lang="en-VN" sz="2400">
                <a:solidFill>
                  <a:srgbClr val="FF0000"/>
                </a:solidFill>
              </a:rPr>
              <a:t>một số biến thể khác</a:t>
            </a:r>
          </a:p>
        </p:txBody>
      </p:sp>
      <mc:AlternateContent xmlns:mc="http://schemas.openxmlformats.org/markup-compatibility/2006" xmlns:a14="http://schemas.microsoft.com/office/drawing/2010/main">
        <mc:Choice Requires="a14">
          <p:sp>
            <p:nvSpPr>
              <p:cNvPr id="8" name="Content Placeholder 12">
                <a:extLst>
                  <a:ext uri="{FF2B5EF4-FFF2-40B4-BE49-F238E27FC236}">
                    <a16:creationId xmlns:a16="http://schemas.microsoft.com/office/drawing/2014/main" id="{B913167F-A183-1345-951D-EBEBB5F7690B}"/>
                  </a:ext>
                </a:extLst>
              </p:cNvPr>
              <p:cNvSpPr txBox="1">
                <a:spLocks/>
              </p:cNvSpPr>
              <p:nvPr/>
            </p:nvSpPr>
            <p:spPr bwMode="auto">
              <a:xfrm>
                <a:off x="5525124" y="2060848"/>
                <a:ext cx="4761876" cy="38761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j-lt"/>
                    <a:ea typeface="Verdana" panose="020B0604030504040204" pitchFamily="34" charset="0"/>
                    <a:cs typeface="Verdana" panose="020B0604030504040204" pitchFamily="34" charset="0"/>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j-lt"/>
                    <a:ea typeface="Verdana" panose="020B0604030504040204" pitchFamily="34" charset="0"/>
                    <a:cs typeface="Verdana" panose="020B0604030504040204" pitchFamily="34" charset="0"/>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j-lt"/>
                    <a:ea typeface="Verdana" panose="020B0604030504040204" pitchFamily="34" charset="0"/>
                    <a:cs typeface="Verdana" panose="020B0604030504040204" pitchFamily="34" charset="0"/>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j-lt"/>
                    <a:ea typeface="Verdana" panose="020B0604030504040204" pitchFamily="34" charset="0"/>
                    <a:cs typeface="Verdana" panose="020B0604030504040204" pitchFamily="34" charset="0"/>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j-lt"/>
                    <a:ea typeface="Verdana" panose="020B0604030504040204" pitchFamily="34" charset="0"/>
                    <a:cs typeface="Verdana" panose="020B0604030504040204" pitchFamily="34" charset="0"/>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a:lstStyle>
              <a:p>
                <a:pPr>
                  <a:lnSpc>
                    <a:spcPct val="100000"/>
                  </a:lnSpc>
                </a:pPr>
                <a:r>
                  <a:rPr lang="en-VN" sz="2400">
                    <a:latin typeface="+mn-lt"/>
                  </a:rPr>
                  <a:t>AdaGrad: (adaptive gradient)</a:t>
                </a:r>
              </a:p>
              <a:p>
                <a:pPr marL="0" indent="0">
                  <a:lnSpc>
                    <a:spcPct val="100000"/>
                  </a:lnSpc>
                  <a:buNone/>
                </a:pPr>
                <a:r>
                  <a:rPr lang="en-VN" sz="2400">
                    <a:latin typeface="+mn-lt"/>
                  </a:rPr>
                  <a:t>	 </a:t>
                </a:r>
                <a14:m>
                  <m:oMath xmlns:m="http://schemas.openxmlformats.org/officeDocument/2006/math">
                    <m:sSub>
                      <m:sSubPr>
                        <m:ctrlPr>
                          <a:rPr lang="en-VN" sz="2400" i="1">
                            <a:latin typeface="Cambria Math" panose="02040503050406030204" pitchFamily="18" charset="0"/>
                          </a:rPr>
                        </m:ctrlPr>
                      </m:sSubPr>
                      <m:e>
                        <m:r>
                          <a:rPr lang="en-US" sz="2400" b="0" i="1">
                            <a:latin typeface="Cambria Math" panose="02040503050406030204" pitchFamily="18" charset="0"/>
                          </a:rPr>
                          <m:t>𝐺</m:t>
                        </m:r>
                        <m:r>
                          <a:rPr lang="en-US" sz="2400" i="1">
                            <a:latin typeface="Cambria Math" panose="02040503050406030204" pitchFamily="18" charset="0"/>
                            <a:ea typeface="Cambria Math" panose="02040503050406030204" pitchFamily="18" charset="0"/>
                          </a:rPr>
                          <m:t> ≔</m:t>
                        </m:r>
                        <m:r>
                          <a:rPr lang="en-US" sz="2400" b="0" i="1">
                            <a:latin typeface="Cambria Math" panose="02040503050406030204" pitchFamily="18" charset="0"/>
                            <a:ea typeface="Cambria Math" panose="02040503050406030204" pitchFamily="18" charset="0"/>
                          </a:rPr>
                          <m:t>𝐺</m:t>
                        </m:r>
                        <m:r>
                          <a:rPr lang="en-US" sz="2400" i="1">
                            <a:latin typeface="Cambria Math" panose="02040503050406030204" pitchFamily="18" charset="0"/>
                            <a:ea typeface="Cambria Math" panose="02040503050406030204" pitchFamily="18" charset="0"/>
                          </a:rPr>
                          <m:t> − </m:t>
                        </m:r>
                        <m:sSup>
                          <m:sSupPr>
                            <m:ctrlPr>
                              <a:rPr lang="en-US" sz="2400" i="1">
                                <a:latin typeface="Cambria Math" panose="02040503050406030204" pitchFamily="18" charset="0"/>
                                <a:ea typeface="Cambria Math" panose="02040503050406030204" pitchFamily="18" charset="0"/>
                              </a:rPr>
                            </m:ctrlPr>
                          </m:sSupPr>
                          <m:e>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m:rPr>
                                    <m:sty m:val="p"/>
                                  </m:rPr>
                                  <a:rPr lang="en-VN" sz="2400" i="1">
                                    <a:latin typeface="Cambria Math" panose="02040503050406030204" pitchFamily="18" charset="0"/>
                                    <a:ea typeface="Cambria Math" panose="02040503050406030204" pitchFamily="18" charset="0"/>
                                  </a:rPr>
                                  <m:t>∇</m:t>
                                </m:r>
                              </m:e>
                              <m:sub>
                                <m:r>
                                  <a:rPr lang="en-US" sz="2400" b="0" i="1">
                                    <a:latin typeface="Cambria Math" panose="02040503050406030204" pitchFamily="18" charset="0"/>
                                    <a:ea typeface="Cambria Math" panose="02040503050406030204" pitchFamily="18" charset="0"/>
                                  </a:rPr>
                                  <m:t>𝜃</m:t>
                                </m:r>
                              </m:sub>
                            </m:sSub>
                            <m:r>
                              <a:rPr lang="en-US" sz="2400" b="0" i="1">
                                <a:latin typeface="Cambria Math" panose="02040503050406030204" pitchFamily="18" charset="0"/>
                                <a:ea typeface="Cambria Math" panose="02040503050406030204" pitchFamily="18" charset="0"/>
                              </a:rPr>
                              <m:t>)</m:t>
                            </m:r>
                          </m:e>
                          <m:sup>
                            <m:r>
                              <a:rPr lang="en-US" sz="2400" b="0" i="1">
                                <a:latin typeface="Cambria Math" panose="02040503050406030204" pitchFamily="18" charset="0"/>
                                <a:ea typeface="Cambria Math" panose="02040503050406030204" pitchFamily="18" charset="0"/>
                              </a:rPr>
                              <m:t>2</m:t>
                            </m:r>
                          </m:sup>
                        </m:sSup>
                      </m:e>
                      <m:sub>
                        <m:r>
                          <a:rPr lang="en-US" sz="2400" b="0" i="1">
                            <a:latin typeface="Cambria Math" panose="02040503050406030204" pitchFamily="18" charset="0"/>
                            <a:ea typeface="Cambria Math" panose="02040503050406030204" pitchFamily="18" charset="0"/>
                          </a:rPr>
                          <m:t> </m:t>
                        </m:r>
                      </m:sub>
                    </m:sSub>
                  </m:oMath>
                </a14:m>
                <a:endParaRPr lang="en-VN" sz="2400">
                  <a:latin typeface="+mn-lt"/>
                </a:endParaRPr>
              </a:p>
              <a:p>
                <a:pPr marL="0" indent="0">
                  <a:lnSpc>
                    <a:spcPct val="100000"/>
                  </a:lnSpc>
                  <a:buNone/>
                </a:pPr>
                <a:r>
                  <a:rPr lang="en-VN" sz="2400">
                    <a:latin typeface="+mn-lt"/>
                  </a:rPr>
                  <a:t>	</a:t>
                </a:r>
                <a14:m>
                  <m:oMath xmlns:m="http://schemas.openxmlformats.org/officeDocument/2006/math">
                    <m:r>
                      <a:rPr lang="en-VN" sz="2400" i="1">
                        <a:latin typeface="Cambria Math" panose="02040503050406030204" pitchFamily="18" charset="0"/>
                        <a:ea typeface="Cambria Math" panose="02040503050406030204" pitchFamily="18" charset="0"/>
                      </a:rPr>
                      <m:t>𝜃</m:t>
                    </m:r>
                    <m:r>
                      <a:rPr lang="en-US" sz="2400" b="0" i="1">
                        <a:latin typeface="Cambria Math" panose="02040503050406030204" pitchFamily="18" charset="0"/>
                        <a:ea typeface="Cambria Math" panose="02040503050406030204" pitchFamily="18" charset="0"/>
                      </a:rPr>
                      <m:t> ≔ </m:t>
                    </m:r>
                    <m:r>
                      <a:rPr lang="en-US" sz="2400" b="0" i="1">
                        <a:latin typeface="Cambria Math" panose="02040503050406030204" pitchFamily="18" charset="0"/>
                        <a:ea typeface="Cambria Math" panose="02040503050406030204" pitchFamily="18" charset="0"/>
                      </a:rPr>
                      <m:t>𝜃</m:t>
                    </m:r>
                    <m:r>
                      <a:rPr lang="en-US" sz="2400" b="0" i="1">
                        <a:latin typeface="Cambria Math" panose="02040503050406030204" pitchFamily="18" charset="0"/>
                        <a:ea typeface="Cambria Math" panose="02040503050406030204" pitchFamily="18" charset="0"/>
                      </a:rPr>
                      <m:t> − </m:t>
                    </m:r>
                    <m:d>
                      <m:dPr>
                        <m:ctrlPr>
                          <a:rPr lang="en-US" sz="2400" b="0" i="1">
                            <a:latin typeface="Cambria Math" panose="02040503050406030204" pitchFamily="18" charset="0"/>
                            <a:ea typeface="Cambria Math" panose="02040503050406030204" pitchFamily="18" charset="0"/>
                          </a:rPr>
                        </m:ctrlPr>
                      </m:dPr>
                      <m:e>
                        <m:r>
                          <a:rPr lang="en-US" sz="2400" b="0" i="1">
                            <a:latin typeface="Cambria Math" panose="02040503050406030204" pitchFamily="18" charset="0"/>
                            <a:ea typeface="Cambria Math" panose="02040503050406030204" pitchFamily="18" charset="0"/>
                          </a:rPr>
                          <m:t>𝛼</m:t>
                        </m:r>
                        <m:r>
                          <a:rPr lang="en-US" sz="2400" b="0" i="1">
                            <a:latin typeface="Cambria Math" panose="02040503050406030204" pitchFamily="18" charset="0"/>
                            <a:ea typeface="Cambria Math" panose="02040503050406030204" pitchFamily="18" charset="0"/>
                          </a:rPr>
                          <m:t>/</m:t>
                        </m:r>
                        <m:rad>
                          <m:radPr>
                            <m:degHide m:val="on"/>
                            <m:ctrlPr>
                              <a:rPr lang="en-US" sz="2400" b="0" i="1">
                                <a:latin typeface="Cambria Math" panose="02040503050406030204" pitchFamily="18" charset="0"/>
                                <a:ea typeface="Cambria Math" panose="02040503050406030204" pitchFamily="18" charset="0"/>
                              </a:rPr>
                            </m:ctrlPr>
                          </m:radPr>
                          <m:deg/>
                          <m:e>
                            <m:r>
                              <a:rPr lang="en-US" sz="2400" b="0" i="1">
                                <a:latin typeface="Cambria Math" panose="02040503050406030204" pitchFamily="18" charset="0"/>
                                <a:ea typeface="Cambria Math" panose="02040503050406030204" pitchFamily="18" charset="0"/>
                              </a:rPr>
                              <m:t>𝐺</m:t>
                            </m:r>
                            <m:r>
                              <a:rPr lang="en-US" sz="2400" b="0" i="1">
                                <a:latin typeface="Cambria Math" panose="02040503050406030204" pitchFamily="18" charset="0"/>
                                <a:ea typeface="Cambria Math" panose="02040503050406030204" pitchFamily="18" charset="0"/>
                              </a:rPr>
                              <m:t>+ </m:t>
                            </m:r>
                            <m:r>
                              <a:rPr lang="en-US" sz="2400" b="0" i="1">
                                <a:latin typeface="Cambria Math" panose="02040503050406030204" pitchFamily="18" charset="0"/>
                                <a:ea typeface="Cambria Math" panose="02040503050406030204" pitchFamily="18" charset="0"/>
                              </a:rPr>
                              <m:t>𝜀</m:t>
                            </m:r>
                          </m:e>
                        </m:rad>
                      </m:e>
                    </m:d>
                  </m:oMath>
                </a14:m>
                <a:r>
                  <a:rPr lang="en-US" sz="2400">
                    <a:ea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m:rPr>
                            <m:sty m:val="p"/>
                          </m:rPr>
                          <a:rPr lang="en-VN" sz="2400" i="1">
                            <a:latin typeface="Cambria Math" panose="02040503050406030204" pitchFamily="18" charset="0"/>
                            <a:ea typeface="Cambria Math" panose="02040503050406030204" pitchFamily="18" charset="0"/>
                          </a:rPr>
                          <m:t>∇</m:t>
                        </m:r>
                      </m:e>
                      <m:sub>
                        <m:r>
                          <a:rPr lang="en-US" sz="2400" i="1">
                            <a:latin typeface="Cambria Math" panose="02040503050406030204" pitchFamily="18" charset="0"/>
                            <a:ea typeface="Cambria Math" panose="02040503050406030204" pitchFamily="18" charset="0"/>
                          </a:rPr>
                          <m:t>𝜃</m:t>
                        </m:r>
                      </m:sub>
                    </m:sSub>
                  </m:oMath>
                </a14:m>
                <a:endParaRPr lang="en-VN" sz="1700">
                  <a:latin typeface="+mn-lt"/>
                </a:endParaRPr>
              </a:p>
              <a:p>
                <a:pPr marL="0" indent="0">
                  <a:lnSpc>
                    <a:spcPct val="100000"/>
                  </a:lnSpc>
                  <a:buNone/>
                </a:pPr>
                <a:r>
                  <a:rPr lang="en-VN" sz="2000" i="1">
                    <a:solidFill>
                      <a:schemeClr val="bg2">
                        <a:lumMod val="25000"/>
                      </a:schemeClr>
                    </a:solidFill>
                    <a:latin typeface="+mn-lt"/>
                  </a:rPr>
                  <a:t>Learning rate được tự động giảm dần khi số vòng lặp tăng lên</a:t>
                </a:r>
                <a:endParaRPr lang="en-VN" sz="2400" i="1">
                  <a:solidFill>
                    <a:schemeClr val="bg2">
                      <a:lumMod val="25000"/>
                    </a:schemeClr>
                  </a:solidFill>
                  <a:latin typeface="+mn-lt"/>
                </a:endParaRPr>
              </a:p>
              <a:p>
                <a:pPr>
                  <a:lnSpc>
                    <a:spcPct val="100000"/>
                  </a:lnSpc>
                </a:pPr>
                <a:r>
                  <a:rPr lang="en-VN" sz="2400" i="1">
                    <a:solidFill>
                      <a:schemeClr val="bg2">
                        <a:lumMod val="25000"/>
                      </a:schemeClr>
                    </a:solidFill>
                    <a:latin typeface="+mn-lt"/>
                  </a:rPr>
                  <a:t>RMSprop – “improved” AdaGrad</a:t>
                </a:r>
              </a:p>
              <a:p>
                <a:pPr>
                  <a:lnSpc>
                    <a:spcPct val="100000"/>
                  </a:lnSpc>
                </a:pPr>
                <a:r>
                  <a:rPr lang="en-VN" sz="2400">
                    <a:solidFill>
                      <a:schemeClr val="bg2">
                        <a:lumMod val="25000"/>
                      </a:schemeClr>
                    </a:solidFill>
                    <a:latin typeface="+mn-lt"/>
                  </a:rPr>
                  <a:t>ADAM = RMSprop + momentum</a:t>
                </a:r>
              </a:p>
              <a:p>
                <a:pPr marL="0" indent="0">
                  <a:lnSpc>
                    <a:spcPct val="100000"/>
                  </a:lnSpc>
                  <a:buFont typeface="Arial" pitchFamily="34" charset="0"/>
                  <a:buNone/>
                </a:pPr>
                <a:endParaRPr lang="en-VN" sz="2400">
                  <a:latin typeface="+mn-lt"/>
                </a:endParaRPr>
              </a:p>
            </p:txBody>
          </p:sp>
        </mc:Choice>
        <mc:Fallback xmlns="">
          <p:sp>
            <p:nvSpPr>
              <p:cNvPr id="8" name="Content Placeholder 12">
                <a:extLst>
                  <a:ext uri="{FF2B5EF4-FFF2-40B4-BE49-F238E27FC236}">
                    <a16:creationId xmlns:a16="http://schemas.microsoft.com/office/drawing/2014/main" id="{B913167F-A183-1345-951D-EBEBB5F7690B}"/>
                  </a:ext>
                </a:extLst>
              </p:cNvPr>
              <p:cNvSpPr txBox="1">
                <a:spLocks noRot="1" noChangeAspect="1" noMove="1" noResize="1" noEditPoints="1" noAdjustHandles="1" noChangeArrowheads="1" noChangeShapeType="1" noTextEdit="1"/>
              </p:cNvSpPr>
              <p:nvPr/>
            </p:nvSpPr>
            <p:spPr bwMode="auto">
              <a:xfrm>
                <a:off x="5525124" y="2060848"/>
                <a:ext cx="4761876" cy="3876154"/>
              </a:xfrm>
              <a:prstGeom prst="rect">
                <a:avLst/>
              </a:prstGeom>
              <a:blipFill>
                <a:blip r:embed="rId3"/>
                <a:stretch>
                  <a:fillRect l="-1592" t="-1307" r="-1326"/>
                </a:stretch>
              </a:blipFill>
              <a:ln w="9525">
                <a:noFill/>
                <a:miter lim="800000"/>
                <a:headEnd/>
                <a:tailEnd/>
              </a:ln>
            </p:spPr>
            <p:txBody>
              <a:bodyPr/>
              <a:lstStyle/>
              <a:p>
                <a:r>
                  <a:rPr lang="en-VN">
                    <a:noFill/>
                  </a:rPr>
                  <a:t> </a:t>
                </a:r>
              </a:p>
            </p:txBody>
          </p:sp>
        </mc:Fallback>
      </mc:AlternateContent>
    </p:spTree>
    <p:extLst>
      <p:ext uri="{BB962C8B-B14F-4D97-AF65-F5344CB8AC3E}">
        <p14:creationId xmlns:p14="http://schemas.microsoft.com/office/powerpoint/2010/main" val="2238831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1FD5-0792-7845-9A6F-2C49B90646C2}"/>
              </a:ext>
            </a:extLst>
          </p:cNvPr>
          <p:cNvSpPr>
            <a:spLocks noGrp="1"/>
          </p:cNvSpPr>
          <p:nvPr>
            <p:ph type="title"/>
          </p:nvPr>
        </p:nvSpPr>
        <p:spPr/>
        <p:txBody>
          <a:bodyPr/>
          <a:lstStyle/>
          <a:p>
            <a:r>
              <a:rPr lang="en-VN" sz="2800"/>
              <a:t>Neural Network – Stochastic Gradient Descent và biến thể</a:t>
            </a:r>
          </a:p>
        </p:txBody>
      </p:sp>
      <p:sp>
        <p:nvSpPr>
          <p:cNvPr id="4" name="Slide Number Placeholder 3">
            <a:extLst>
              <a:ext uri="{FF2B5EF4-FFF2-40B4-BE49-F238E27FC236}">
                <a16:creationId xmlns:a16="http://schemas.microsoft.com/office/drawing/2014/main" id="{2ACCC168-0112-E54D-B078-77CBB5AEBA7A}"/>
              </a:ext>
            </a:extLst>
          </p:cNvPr>
          <p:cNvSpPr>
            <a:spLocks noGrp="1"/>
          </p:cNvSpPr>
          <p:nvPr>
            <p:ph type="sldNum" sz="quarter" idx="12"/>
          </p:nvPr>
        </p:nvSpPr>
        <p:spPr/>
        <p:txBody>
          <a:bodyPr/>
          <a:lstStyle/>
          <a:p>
            <a:fld id="{DA8C51A7-BEEA-471D-933F-7E35BC04A30F}" type="slidenum">
              <a:rPr lang="en-US"/>
              <a:pPr/>
              <a:t>12</a:t>
            </a:fld>
            <a:endParaRPr lang="en-US"/>
          </a:p>
        </p:txBody>
      </p:sp>
      <p:pic>
        <p:nvPicPr>
          <p:cNvPr id="6" name="Content Placeholder 5" descr="A picture containing text, electronics, vector graphics, screenshot&#10;&#10;Description automatically generated">
            <a:extLst>
              <a:ext uri="{FF2B5EF4-FFF2-40B4-BE49-F238E27FC236}">
                <a16:creationId xmlns:a16="http://schemas.microsoft.com/office/drawing/2014/main" id="{097A6931-3E61-4449-AAE9-0A16E4309C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2187" y="1340768"/>
            <a:ext cx="5762625" cy="4524375"/>
          </a:xfrm>
        </p:spPr>
      </p:pic>
      <p:sp>
        <p:nvSpPr>
          <p:cNvPr id="7" name="Rectangle 6">
            <a:extLst>
              <a:ext uri="{FF2B5EF4-FFF2-40B4-BE49-F238E27FC236}">
                <a16:creationId xmlns:a16="http://schemas.microsoft.com/office/drawing/2014/main" id="{89B95CEA-C2B3-E24A-85DD-BDD7816B1CB2}"/>
              </a:ext>
            </a:extLst>
          </p:cNvPr>
          <p:cNvSpPr/>
          <p:nvPr/>
        </p:nvSpPr>
        <p:spPr>
          <a:xfrm>
            <a:off x="1839205" y="5865143"/>
            <a:ext cx="6697737" cy="369332"/>
          </a:xfrm>
          <a:prstGeom prst="rect">
            <a:avLst/>
          </a:prstGeom>
        </p:spPr>
        <p:txBody>
          <a:bodyPr wrap="square">
            <a:spAutoFit/>
          </a:bodyPr>
          <a:lstStyle/>
          <a:p>
            <a:pPr algn="ctr"/>
            <a:r>
              <a:rPr lang="en-US" sz="1800">
                <a:effectLst/>
                <a:latin typeface="ArialMT"/>
              </a:rPr>
              <a:t>Source: http://ruder.io/optimizing-gradient-descent/ </a:t>
            </a:r>
            <a:endParaRPr lang="en-US">
              <a:effectLst/>
            </a:endParaRPr>
          </a:p>
        </p:txBody>
      </p:sp>
    </p:spTree>
    <p:extLst>
      <p:ext uri="{BB962C8B-B14F-4D97-AF65-F5344CB8AC3E}">
        <p14:creationId xmlns:p14="http://schemas.microsoft.com/office/powerpoint/2010/main" val="3683547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19EA-904F-F04E-8C37-122EEE5BA8EE}"/>
              </a:ext>
            </a:extLst>
          </p:cNvPr>
          <p:cNvSpPr>
            <a:spLocks noGrp="1"/>
          </p:cNvSpPr>
          <p:nvPr>
            <p:ph type="ctrTitle"/>
          </p:nvPr>
        </p:nvSpPr>
        <p:spPr>
          <a:xfrm>
            <a:off x="1285875" y="1289894"/>
            <a:ext cx="7715250" cy="867940"/>
          </a:xfrm>
        </p:spPr>
        <p:txBody>
          <a:bodyPr/>
          <a:lstStyle/>
          <a:p>
            <a:r>
              <a:rPr lang="en-VN" sz="3200">
                <a:solidFill>
                  <a:schemeClr val="bg1"/>
                </a:solidFill>
              </a:rPr>
              <a:t>Một số vấn đề khi huấn luyện neural network</a:t>
            </a:r>
          </a:p>
        </p:txBody>
      </p:sp>
      <p:sp>
        <p:nvSpPr>
          <p:cNvPr id="3" name="Subtitle 2">
            <a:extLst>
              <a:ext uri="{FF2B5EF4-FFF2-40B4-BE49-F238E27FC236}">
                <a16:creationId xmlns:a16="http://schemas.microsoft.com/office/drawing/2014/main" id="{E24896BD-75D4-B74E-8A36-ACF9148F0DF0}"/>
              </a:ext>
            </a:extLst>
          </p:cNvPr>
          <p:cNvSpPr>
            <a:spLocks noGrp="1"/>
          </p:cNvSpPr>
          <p:nvPr>
            <p:ph type="subTitle" idx="1"/>
          </p:nvPr>
        </p:nvSpPr>
        <p:spPr>
          <a:xfrm>
            <a:off x="1285875" y="2276872"/>
            <a:ext cx="7715250" cy="3528392"/>
          </a:xfrm>
        </p:spPr>
        <p:txBody>
          <a:bodyPr/>
          <a:lstStyle/>
          <a:p>
            <a:pPr marL="342900" indent="-342900" algn="l">
              <a:buFont typeface="Arial" panose="020B0604020202020204" pitchFamily="34" charset="0"/>
              <a:buChar char="•"/>
            </a:pPr>
            <a:r>
              <a:rPr lang="en-VN" sz="2400">
                <a:solidFill>
                  <a:schemeClr val="bg1"/>
                </a:solidFill>
              </a:rPr>
              <a:t>Overfitting</a:t>
            </a:r>
          </a:p>
          <a:p>
            <a:pPr marL="342900" indent="-342900" algn="l">
              <a:buFont typeface="Arial" panose="020B0604020202020204" pitchFamily="34" charset="0"/>
              <a:buChar char="•"/>
            </a:pPr>
            <a:r>
              <a:rPr lang="en-VN" sz="2400">
                <a:solidFill>
                  <a:schemeClr val="bg1"/>
                </a:solidFill>
              </a:rPr>
              <a:t>Underfitting</a:t>
            </a:r>
          </a:p>
          <a:p>
            <a:pPr marL="342900" indent="-342900" algn="l">
              <a:buFont typeface="Arial" panose="020B0604020202020204" pitchFamily="34" charset="0"/>
              <a:buChar char="•"/>
            </a:pPr>
            <a:r>
              <a:rPr lang="en-VN" sz="2400">
                <a:solidFill>
                  <a:schemeClr val="bg1"/>
                </a:solidFill>
              </a:rPr>
              <a:t>Dying ReLU</a:t>
            </a:r>
          </a:p>
          <a:p>
            <a:pPr marL="342900" indent="-342900" algn="l">
              <a:buFont typeface="Arial" panose="020B0604020202020204" pitchFamily="34" charset="0"/>
              <a:buChar char="•"/>
            </a:pPr>
            <a:r>
              <a:rPr lang="en-VN" sz="2400">
                <a:solidFill>
                  <a:schemeClr val="bg1"/>
                </a:solidFill>
              </a:rPr>
              <a:t>Khởi tạo tham số giống nhau</a:t>
            </a:r>
          </a:p>
          <a:p>
            <a:pPr marL="342900" indent="-342900" algn="l">
              <a:buFont typeface="Arial" panose="020B0604020202020204" pitchFamily="34" charset="0"/>
              <a:buChar char="•"/>
            </a:pPr>
            <a:r>
              <a:rPr lang="en-VN" sz="2400">
                <a:solidFill>
                  <a:schemeClr val="bg1"/>
                </a:solidFill>
              </a:rPr>
              <a:t>Gradient vanishing</a:t>
            </a:r>
          </a:p>
          <a:p>
            <a:pPr marL="342900" indent="-342900" algn="l">
              <a:buFont typeface="Arial" panose="020B0604020202020204" pitchFamily="34" charset="0"/>
              <a:buChar char="•"/>
            </a:pPr>
            <a:r>
              <a:rPr lang="en-VN" sz="2400">
                <a:solidFill>
                  <a:schemeClr val="bg1"/>
                </a:solidFill>
              </a:rPr>
              <a:t>Hàm lỗi tăng dần đều</a:t>
            </a:r>
          </a:p>
          <a:p>
            <a:pPr marL="342900" indent="-342900" algn="l">
              <a:buFont typeface="Arial" panose="020B0604020202020204" pitchFamily="34" charset="0"/>
              <a:buChar char="•"/>
            </a:pPr>
            <a:r>
              <a:rPr lang="en-VN" sz="2400">
                <a:solidFill>
                  <a:schemeClr val="bg1"/>
                </a:solidFill>
              </a:rPr>
              <a:t>Hàm lỗi giảm rất chậm</a:t>
            </a:r>
          </a:p>
          <a:p>
            <a:pPr marL="342900" indent="-342900" algn="l">
              <a:buFont typeface="Arial" panose="020B0604020202020204" pitchFamily="34" charset="0"/>
              <a:buChar char="•"/>
            </a:pPr>
            <a:r>
              <a:rPr lang="en-VN" sz="2400">
                <a:solidFill>
                  <a:schemeClr val="bg1"/>
                </a:solidFill>
              </a:rPr>
              <a:t>Hàm lỗi không ổn định (tăng giảm thất thường)</a:t>
            </a:r>
          </a:p>
        </p:txBody>
      </p:sp>
      <p:sp>
        <p:nvSpPr>
          <p:cNvPr id="4" name="Slide Number Placeholder 3">
            <a:extLst>
              <a:ext uri="{FF2B5EF4-FFF2-40B4-BE49-F238E27FC236}">
                <a16:creationId xmlns:a16="http://schemas.microsoft.com/office/drawing/2014/main" id="{3D07D9D7-0C17-284E-BC04-6A8DAACF7C49}"/>
              </a:ext>
            </a:extLst>
          </p:cNvPr>
          <p:cNvSpPr>
            <a:spLocks noGrp="1"/>
          </p:cNvSpPr>
          <p:nvPr>
            <p:ph type="sldNum" sz="quarter" idx="12"/>
          </p:nvPr>
        </p:nvSpPr>
        <p:spPr/>
        <p:txBody>
          <a:bodyPr/>
          <a:lstStyle/>
          <a:p>
            <a:fld id="{6BB53E1D-A0B1-4171-ABED-667787C30A3E}" type="slidenum">
              <a:rPr lang="en-US"/>
              <a:pPr/>
              <a:t>13</a:t>
            </a:fld>
            <a:endParaRPr lang="en-US"/>
          </a:p>
        </p:txBody>
      </p:sp>
    </p:spTree>
    <p:extLst>
      <p:ext uri="{BB962C8B-B14F-4D97-AF65-F5344CB8AC3E}">
        <p14:creationId xmlns:p14="http://schemas.microsoft.com/office/powerpoint/2010/main" val="1409203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Một số vấn đề khi huấn luyện neural network</a:t>
            </a:r>
          </a:p>
        </p:txBody>
      </p:sp>
      <p:sp>
        <p:nvSpPr>
          <p:cNvPr id="3" name="Content Placeholder 2">
            <a:extLst>
              <a:ext uri="{FF2B5EF4-FFF2-40B4-BE49-F238E27FC236}">
                <a16:creationId xmlns:a16="http://schemas.microsoft.com/office/drawing/2014/main" id="{C51C75F7-3B7D-FB4F-9BE5-65DE12DBEF9B}"/>
              </a:ext>
            </a:extLst>
          </p:cNvPr>
          <p:cNvSpPr>
            <a:spLocks noGrp="1"/>
          </p:cNvSpPr>
          <p:nvPr>
            <p:ph idx="1"/>
          </p:nvPr>
        </p:nvSpPr>
        <p:spPr/>
        <p:txBody>
          <a:bodyPr/>
          <a:lstStyle/>
          <a:p>
            <a:pPr>
              <a:lnSpc>
                <a:spcPct val="150000"/>
              </a:lnSpc>
            </a:pPr>
            <a:r>
              <a:rPr lang="en-VN" sz="2400" b="1"/>
              <a:t>Overfitting</a:t>
            </a:r>
          </a:p>
          <a:p>
            <a:pPr marL="385762" lvl="1" indent="0">
              <a:lnSpc>
                <a:spcPct val="150000"/>
              </a:lnSpc>
              <a:buNone/>
            </a:pPr>
            <a:r>
              <a:rPr lang="en-VN" sz="2800"/>
              <a:t>Cách giải quyết:</a:t>
            </a:r>
          </a:p>
          <a:p>
            <a:pPr lvl="2">
              <a:lnSpc>
                <a:spcPct val="150000"/>
              </a:lnSpc>
            </a:pPr>
            <a:r>
              <a:rPr lang="en-VN" sz="2400"/>
              <a:t>Giảm số lượng tham số</a:t>
            </a:r>
          </a:p>
          <a:p>
            <a:pPr lvl="2">
              <a:lnSpc>
                <a:spcPct val="150000"/>
              </a:lnSpc>
            </a:pPr>
            <a:r>
              <a:rPr lang="en-VN" sz="2400"/>
              <a:t>Giảm số lớp</a:t>
            </a:r>
          </a:p>
          <a:p>
            <a:pPr lvl="2">
              <a:lnSpc>
                <a:spcPct val="150000"/>
              </a:lnSpc>
            </a:pPr>
            <a:r>
              <a:rPr lang="en-VN" sz="2400"/>
              <a:t>Thêm L2 regularization cho các tham số</a:t>
            </a:r>
          </a:p>
          <a:p>
            <a:pPr lvl="2">
              <a:lnSpc>
                <a:spcPct val="150000"/>
              </a:lnSpc>
            </a:pPr>
            <a:r>
              <a:rPr lang="en-VN" sz="2400"/>
              <a:t>Sử dụng giải thuật dropout</a:t>
            </a:r>
          </a:p>
          <a:p>
            <a:pPr>
              <a:lnSpc>
                <a:spcPct val="150000"/>
              </a:lnSpc>
            </a:pPr>
            <a:endParaRPr lang="en-VN"/>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14</a:t>
            </a:fld>
            <a:endParaRPr lang="en-US"/>
          </a:p>
        </p:txBody>
      </p:sp>
    </p:spTree>
    <p:extLst>
      <p:ext uri="{BB962C8B-B14F-4D97-AF65-F5344CB8AC3E}">
        <p14:creationId xmlns:p14="http://schemas.microsoft.com/office/powerpoint/2010/main" val="758594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Dropout</a:t>
            </a:r>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15</a:t>
            </a:fld>
            <a:endParaRPr lang="en-US"/>
          </a:p>
        </p:txBody>
      </p:sp>
      <p:pic>
        <p:nvPicPr>
          <p:cNvPr id="4098" name="Picture 2" descr="Dropout neural network model. (a) is a standard neural network. (b) is... |  Download Scientific Diagram">
            <a:extLst>
              <a:ext uri="{FF2B5EF4-FFF2-40B4-BE49-F238E27FC236}">
                <a16:creationId xmlns:a16="http://schemas.microsoft.com/office/drawing/2014/main" id="{51DEA686-CEC2-BC47-AE3A-A577730024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1092" y="2065932"/>
            <a:ext cx="7934777" cy="31925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D3C2806-ABB5-0B49-AA98-2B95A307E837}"/>
              </a:ext>
            </a:extLst>
          </p:cNvPr>
          <p:cNvSpPr txBox="1"/>
          <p:nvPr/>
        </p:nvSpPr>
        <p:spPr>
          <a:xfrm>
            <a:off x="7591772" y="5877272"/>
            <a:ext cx="2581541" cy="338554"/>
          </a:xfrm>
          <a:prstGeom prst="rect">
            <a:avLst/>
          </a:prstGeom>
          <a:noFill/>
        </p:spPr>
        <p:txBody>
          <a:bodyPr wrap="none" rtlCol="0">
            <a:spAutoFit/>
          </a:bodyPr>
          <a:lstStyle/>
          <a:p>
            <a:r>
              <a:rPr lang="en-VN" sz="1600" i="1">
                <a:solidFill>
                  <a:schemeClr val="bg2">
                    <a:lumMod val="50000"/>
                  </a:schemeClr>
                </a:solidFill>
              </a:rPr>
              <a:t>Nguồn: </a:t>
            </a:r>
            <a:r>
              <a:rPr lang="en-US" sz="1600" i="1">
                <a:solidFill>
                  <a:schemeClr val="bg2">
                    <a:lumMod val="50000"/>
                  </a:schemeClr>
                </a:solidFill>
              </a:rPr>
              <a:t> Amine ben khalifa</a:t>
            </a:r>
            <a:endParaRPr lang="en-VN" sz="1600" i="1">
              <a:solidFill>
                <a:schemeClr val="bg2">
                  <a:lumMod val="50000"/>
                </a:schemeClr>
              </a:solidFill>
            </a:endParaRPr>
          </a:p>
        </p:txBody>
      </p:sp>
    </p:spTree>
    <p:extLst>
      <p:ext uri="{BB962C8B-B14F-4D97-AF65-F5344CB8AC3E}">
        <p14:creationId xmlns:p14="http://schemas.microsoft.com/office/powerpoint/2010/main" val="3803156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C863-21B3-5945-8001-3B2EFCA74553}"/>
              </a:ext>
            </a:extLst>
          </p:cNvPr>
          <p:cNvSpPr>
            <a:spLocks noGrp="1"/>
          </p:cNvSpPr>
          <p:nvPr>
            <p:ph type="title"/>
          </p:nvPr>
        </p:nvSpPr>
        <p:spPr/>
        <p:txBody>
          <a:bodyPr/>
          <a:lstStyle/>
          <a:p>
            <a:r>
              <a:rPr lang="en-VN"/>
              <a:t>Dropout</a:t>
            </a:r>
          </a:p>
        </p:txBody>
      </p:sp>
      <p:sp>
        <p:nvSpPr>
          <p:cNvPr id="3" name="Content Placeholder 2">
            <a:extLst>
              <a:ext uri="{FF2B5EF4-FFF2-40B4-BE49-F238E27FC236}">
                <a16:creationId xmlns:a16="http://schemas.microsoft.com/office/drawing/2014/main" id="{F6501C34-5743-1A4E-AD7D-285B9970BDD0}"/>
              </a:ext>
            </a:extLst>
          </p:cNvPr>
          <p:cNvSpPr>
            <a:spLocks noGrp="1"/>
          </p:cNvSpPr>
          <p:nvPr>
            <p:ph idx="1"/>
          </p:nvPr>
        </p:nvSpPr>
        <p:spPr/>
        <p:txBody>
          <a:bodyPr/>
          <a:lstStyle/>
          <a:p>
            <a:pPr>
              <a:lnSpc>
                <a:spcPct val="100000"/>
              </a:lnSpc>
            </a:pPr>
            <a:r>
              <a:rPr lang="vi-VN">
                <a:latin typeface="+mn-lt"/>
              </a:rPr>
              <a:t>Theo Wikipedia, thuật ngữ “dropout” đề cập đến việc bỏ qua các đơn vị (unit) (cả hai hidden unit và visible unit) trong mạng neural network.</a:t>
            </a:r>
          </a:p>
          <a:p>
            <a:pPr>
              <a:lnSpc>
                <a:spcPct val="100000"/>
              </a:lnSpc>
            </a:pPr>
            <a:r>
              <a:rPr lang="vi-VN">
                <a:latin typeface="+mn-lt"/>
              </a:rPr>
              <a:t>Kỹ thuật dropout là việc chúng ta sẽ bỏ qua một vài unit trong suốt quá trình train trong mô hình, những unit bị bỏ qua được lựa chọn ngẫu nhiên. Unit bị drop sẽ không tham gia và đóng góp vào quá trình huấn luyện (lan truyền tiến và lan truyền ngược).</a:t>
            </a:r>
          </a:p>
          <a:p>
            <a:pPr>
              <a:lnSpc>
                <a:spcPct val="100000"/>
              </a:lnSpc>
            </a:pPr>
            <a:r>
              <a:rPr lang="vi-VN">
                <a:latin typeface="+mn-lt"/>
              </a:rPr>
              <a:t>Về mặt kỹ thuật, tại mỗi giai đoạn huấn luyện, mỗi node có xác suất bị bỏ qua là 1-p và xác suất được chọn là p</a:t>
            </a:r>
          </a:p>
        </p:txBody>
      </p:sp>
      <p:sp>
        <p:nvSpPr>
          <p:cNvPr id="4" name="Slide Number Placeholder 3">
            <a:extLst>
              <a:ext uri="{FF2B5EF4-FFF2-40B4-BE49-F238E27FC236}">
                <a16:creationId xmlns:a16="http://schemas.microsoft.com/office/drawing/2014/main" id="{A713F5FB-6F92-644A-AC54-E7574E28A3A2}"/>
              </a:ext>
            </a:extLst>
          </p:cNvPr>
          <p:cNvSpPr>
            <a:spLocks noGrp="1"/>
          </p:cNvSpPr>
          <p:nvPr>
            <p:ph type="sldNum" sz="quarter" idx="12"/>
          </p:nvPr>
        </p:nvSpPr>
        <p:spPr/>
        <p:txBody>
          <a:bodyPr/>
          <a:lstStyle/>
          <a:p>
            <a:fld id="{DA8C51A7-BEEA-471D-933F-7E35BC04A30F}" type="slidenum">
              <a:rPr lang="en-US"/>
              <a:pPr/>
              <a:t>16</a:t>
            </a:fld>
            <a:endParaRPr lang="en-US"/>
          </a:p>
        </p:txBody>
      </p:sp>
    </p:spTree>
    <p:extLst>
      <p:ext uri="{BB962C8B-B14F-4D97-AF65-F5344CB8AC3E}">
        <p14:creationId xmlns:p14="http://schemas.microsoft.com/office/powerpoint/2010/main" val="4009521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Một số vấn đề khi huấn luyện neural network</a:t>
            </a:r>
          </a:p>
        </p:txBody>
      </p:sp>
      <p:sp>
        <p:nvSpPr>
          <p:cNvPr id="3" name="Content Placeholder 2">
            <a:extLst>
              <a:ext uri="{FF2B5EF4-FFF2-40B4-BE49-F238E27FC236}">
                <a16:creationId xmlns:a16="http://schemas.microsoft.com/office/drawing/2014/main" id="{C51C75F7-3B7D-FB4F-9BE5-65DE12DBEF9B}"/>
              </a:ext>
            </a:extLst>
          </p:cNvPr>
          <p:cNvSpPr>
            <a:spLocks noGrp="1"/>
          </p:cNvSpPr>
          <p:nvPr>
            <p:ph idx="1"/>
          </p:nvPr>
        </p:nvSpPr>
        <p:spPr/>
        <p:txBody>
          <a:bodyPr/>
          <a:lstStyle/>
          <a:p>
            <a:pPr>
              <a:lnSpc>
                <a:spcPct val="150000"/>
              </a:lnSpc>
            </a:pPr>
            <a:r>
              <a:rPr lang="en-VN" sz="2400" b="1"/>
              <a:t>Underfitting</a:t>
            </a:r>
          </a:p>
          <a:p>
            <a:pPr marL="385762" lvl="1" indent="0">
              <a:lnSpc>
                <a:spcPct val="150000"/>
              </a:lnSpc>
              <a:buNone/>
            </a:pPr>
            <a:r>
              <a:rPr lang="en-VN" sz="2800"/>
              <a:t>Cách giải quyết:</a:t>
            </a:r>
          </a:p>
          <a:p>
            <a:pPr lvl="2">
              <a:lnSpc>
                <a:spcPct val="150000"/>
              </a:lnSpc>
            </a:pPr>
            <a:r>
              <a:rPr lang="en-VN" sz="2400" b="1">
                <a:solidFill>
                  <a:srgbClr val="FF0000"/>
                </a:solidFill>
              </a:rPr>
              <a:t>Tăng số lượng tham số </a:t>
            </a:r>
            <a:r>
              <a:rPr lang="en-VN" sz="2400"/>
              <a:t>bằng cách tăng số lớp hoặc số nút ẩn</a:t>
            </a:r>
          </a:p>
          <a:p>
            <a:pPr lvl="2">
              <a:lnSpc>
                <a:spcPct val="150000"/>
              </a:lnSpc>
            </a:pPr>
            <a:r>
              <a:rPr lang="en-VN" sz="2400">
                <a:solidFill>
                  <a:srgbClr val="FF0000"/>
                </a:solidFill>
              </a:rPr>
              <a:t>Giảm hệ số L2</a:t>
            </a:r>
            <a:r>
              <a:rPr lang="en-VN" sz="2400"/>
              <a:t> hoặc </a:t>
            </a:r>
            <a:r>
              <a:rPr lang="en-VN" sz="2400">
                <a:solidFill>
                  <a:srgbClr val="FF0000"/>
                </a:solidFill>
              </a:rPr>
              <a:t>không dùng L2</a:t>
            </a:r>
          </a:p>
          <a:p>
            <a:pPr lvl="2">
              <a:lnSpc>
                <a:spcPct val="150000"/>
              </a:lnSpc>
            </a:pPr>
            <a:r>
              <a:rPr lang="en-VN" sz="2400"/>
              <a:t>Tập giá trị của </a:t>
            </a:r>
            <a:r>
              <a:rPr lang="en-VN" sz="2400">
                <a:solidFill>
                  <a:srgbClr val="FF0000"/>
                </a:solidFill>
              </a:rPr>
              <a:t>đầu ra </a:t>
            </a:r>
            <a:r>
              <a:rPr lang="en-VN" sz="2400"/>
              <a:t>(output range) </a:t>
            </a:r>
            <a:r>
              <a:rPr lang="en-VN" sz="2400">
                <a:solidFill>
                  <a:srgbClr val="FF0000"/>
                </a:solidFill>
              </a:rPr>
              <a:t>bất khả thi </a:t>
            </a:r>
            <a:r>
              <a:rPr lang="en-VN" sz="2400"/>
              <a:t>(ví dụ: đầu ra của mạng dùng activation là sigmoid nhưng bài toán cần làm lại là regression với output target có giá trị &gt; 1)</a:t>
            </a:r>
            <a:endParaRPr lang="en-VN"/>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17</a:t>
            </a:fld>
            <a:endParaRPr lang="en-US"/>
          </a:p>
        </p:txBody>
      </p:sp>
    </p:spTree>
    <p:extLst>
      <p:ext uri="{BB962C8B-B14F-4D97-AF65-F5344CB8AC3E}">
        <p14:creationId xmlns:p14="http://schemas.microsoft.com/office/powerpoint/2010/main" val="269172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Một số vấn đề khi huấn luyện neural network</a:t>
            </a:r>
          </a:p>
        </p:txBody>
      </p:sp>
      <p:sp>
        <p:nvSpPr>
          <p:cNvPr id="3" name="Content Placeholder 2">
            <a:extLst>
              <a:ext uri="{FF2B5EF4-FFF2-40B4-BE49-F238E27FC236}">
                <a16:creationId xmlns:a16="http://schemas.microsoft.com/office/drawing/2014/main" id="{C51C75F7-3B7D-FB4F-9BE5-65DE12DBEF9B}"/>
              </a:ext>
            </a:extLst>
          </p:cNvPr>
          <p:cNvSpPr>
            <a:spLocks noGrp="1"/>
          </p:cNvSpPr>
          <p:nvPr>
            <p:ph idx="1"/>
          </p:nvPr>
        </p:nvSpPr>
        <p:spPr/>
        <p:txBody>
          <a:bodyPr/>
          <a:lstStyle/>
          <a:p>
            <a:pPr>
              <a:lnSpc>
                <a:spcPct val="150000"/>
              </a:lnSpc>
            </a:pPr>
            <a:r>
              <a:rPr lang="en-VN" sz="2400" b="1"/>
              <a:t>Dying ReLU</a:t>
            </a:r>
          </a:p>
          <a:p>
            <a:pPr lvl="1">
              <a:lnSpc>
                <a:spcPct val="150000"/>
              </a:lnSpc>
            </a:pPr>
            <a:r>
              <a:rPr lang="en-VN" sz="2100" b="1"/>
              <a:t>Xảy ra khi toàn bộ tất cả các nút ẩn rơi vào số âm</a:t>
            </a:r>
          </a:p>
          <a:p>
            <a:pPr lvl="1">
              <a:lnSpc>
                <a:spcPct val="150000"/>
              </a:lnSpc>
            </a:pPr>
            <a:r>
              <a:rPr lang="en-VN" sz="2100" b="1"/>
              <a:t>Các giải quyết: dùng phiên bản Leaky ReLU.</a:t>
            </a:r>
          </a:p>
          <a:p>
            <a:pPr>
              <a:lnSpc>
                <a:spcPct val="150000"/>
              </a:lnSpc>
            </a:pPr>
            <a:endParaRPr lang="en-VN"/>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18</a:t>
            </a:fld>
            <a:endParaRPr lang="en-US"/>
          </a:p>
        </p:txBody>
      </p:sp>
      <p:pic>
        <p:nvPicPr>
          <p:cNvPr id="6" name="Picture 5" descr="Diagram&#10;&#10;Description automatically generated">
            <a:extLst>
              <a:ext uri="{FF2B5EF4-FFF2-40B4-BE49-F238E27FC236}">
                <a16:creationId xmlns:a16="http://schemas.microsoft.com/office/drawing/2014/main" id="{B7686938-E2FB-4849-A5BC-EC14D55D0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6718" y="3324278"/>
            <a:ext cx="7133563" cy="2748341"/>
          </a:xfrm>
          <a:prstGeom prst="rect">
            <a:avLst/>
          </a:prstGeom>
        </p:spPr>
      </p:pic>
    </p:spTree>
    <p:extLst>
      <p:ext uri="{BB962C8B-B14F-4D97-AF65-F5344CB8AC3E}">
        <p14:creationId xmlns:p14="http://schemas.microsoft.com/office/powerpoint/2010/main" val="708950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Một số vấn đề khi huấn luyện neural network</a:t>
            </a:r>
          </a:p>
        </p:txBody>
      </p:sp>
      <p:sp>
        <p:nvSpPr>
          <p:cNvPr id="3" name="Content Placeholder 2">
            <a:extLst>
              <a:ext uri="{FF2B5EF4-FFF2-40B4-BE49-F238E27FC236}">
                <a16:creationId xmlns:a16="http://schemas.microsoft.com/office/drawing/2014/main" id="{C51C75F7-3B7D-FB4F-9BE5-65DE12DBEF9B}"/>
              </a:ext>
            </a:extLst>
          </p:cNvPr>
          <p:cNvSpPr>
            <a:spLocks noGrp="1"/>
          </p:cNvSpPr>
          <p:nvPr>
            <p:ph idx="1"/>
          </p:nvPr>
        </p:nvSpPr>
        <p:spPr/>
        <p:txBody>
          <a:bodyPr/>
          <a:lstStyle/>
          <a:p>
            <a:pPr>
              <a:lnSpc>
                <a:spcPct val="150000"/>
              </a:lnSpc>
            </a:pPr>
            <a:r>
              <a:rPr lang="en-VN" sz="2400" b="1">
                <a:latin typeface="+mn-lt"/>
              </a:rPr>
              <a:t>Khởi tạo tham số bằng nhau</a:t>
            </a:r>
          </a:p>
          <a:p>
            <a:pPr lvl="1">
              <a:lnSpc>
                <a:spcPct val="150000"/>
              </a:lnSpc>
            </a:pPr>
            <a:r>
              <a:rPr lang="en-VN" sz="2200">
                <a:latin typeface="+mn-lt"/>
              </a:rPr>
              <a:t>Các tham số sẽ có đạo hàm giống nhau trong bước lan truyền ngược.</a:t>
            </a:r>
          </a:p>
          <a:p>
            <a:pPr lvl="1">
              <a:lnSpc>
                <a:spcPct val="150000"/>
              </a:lnSpc>
            </a:pPr>
            <a:r>
              <a:rPr lang="en-VN" sz="2200">
                <a:latin typeface="+mn-lt"/>
              </a:rPr>
              <a:t>Việc cập nhật sẽ giống hệt nhau cho các bộ tham số</a:t>
            </a:r>
          </a:p>
          <a:p>
            <a:pPr>
              <a:lnSpc>
                <a:spcPct val="150000"/>
              </a:lnSpc>
            </a:pPr>
            <a:r>
              <a:rPr lang="en-VN" sz="2500" b="1">
                <a:latin typeface="+mn-lt"/>
              </a:rPr>
              <a:t>Cách giải quyết: </a:t>
            </a:r>
            <a:r>
              <a:rPr lang="en-VN" sz="2500" b="1">
                <a:solidFill>
                  <a:srgbClr val="FF0000"/>
                </a:solidFill>
                <a:latin typeface="+mn-lt"/>
              </a:rPr>
              <a:t>Khởi tạo tham số ngẫu nhiên </a:t>
            </a:r>
            <a:r>
              <a:rPr lang="en-VN" sz="2500" b="1">
                <a:latin typeface="+mn-lt"/>
              </a:rPr>
              <a:t>để tránh lỗi này (symmetry breaking)</a:t>
            </a:r>
          </a:p>
          <a:p>
            <a:pPr>
              <a:lnSpc>
                <a:spcPct val="150000"/>
              </a:lnSpc>
            </a:pPr>
            <a:endParaRPr lang="en-VN">
              <a:latin typeface="+mn-lt"/>
            </a:endParaRPr>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19</a:t>
            </a:fld>
            <a:endParaRPr lang="en-US"/>
          </a:p>
        </p:txBody>
      </p:sp>
    </p:spTree>
    <p:extLst>
      <p:ext uri="{BB962C8B-B14F-4D97-AF65-F5344CB8AC3E}">
        <p14:creationId xmlns:p14="http://schemas.microsoft.com/office/powerpoint/2010/main" val="1920634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Một số vấn đề khi huấn luyện neural network</a:t>
            </a:r>
          </a:p>
        </p:txBody>
      </p:sp>
      <p:sp>
        <p:nvSpPr>
          <p:cNvPr id="3" name="Content Placeholder 2">
            <a:extLst>
              <a:ext uri="{FF2B5EF4-FFF2-40B4-BE49-F238E27FC236}">
                <a16:creationId xmlns:a16="http://schemas.microsoft.com/office/drawing/2014/main" id="{C51C75F7-3B7D-FB4F-9BE5-65DE12DBEF9B}"/>
              </a:ext>
            </a:extLst>
          </p:cNvPr>
          <p:cNvSpPr>
            <a:spLocks noGrp="1"/>
          </p:cNvSpPr>
          <p:nvPr>
            <p:ph idx="1"/>
          </p:nvPr>
        </p:nvSpPr>
        <p:spPr>
          <a:xfrm>
            <a:off x="718018" y="1340768"/>
            <a:ext cx="9322026" cy="4752528"/>
          </a:xfrm>
        </p:spPr>
        <p:txBody>
          <a:bodyPr/>
          <a:lstStyle/>
          <a:p>
            <a:pPr>
              <a:lnSpc>
                <a:spcPct val="150000"/>
              </a:lnSpc>
            </a:pPr>
            <a:r>
              <a:rPr lang="en-VN" sz="2400" b="1">
                <a:latin typeface="+mn-lt"/>
              </a:rPr>
              <a:t>Gradient vanishing</a:t>
            </a:r>
          </a:p>
          <a:p>
            <a:pPr lvl="1">
              <a:lnSpc>
                <a:spcPct val="150000"/>
              </a:lnSpc>
            </a:pPr>
            <a:r>
              <a:rPr lang="en-VN" sz="2200">
                <a:latin typeface="+mn-lt"/>
              </a:rPr>
              <a:t>Thường gặp khi sử dụng nhiều lớp với hàm kích hoạt là sigmoid hoặc tanh</a:t>
            </a:r>
          </a:p>
          <a:p>
            <a:pPr marL="385762" lvl="1" indent="0">
              <a:lnSpc>
                <a:spcPct val="150000"/>
              </a:lnSpc>
              <a:buNone/>
            </a:pPr>
            <a:endParaRPr lang="en-VN" sz="2500" b="1">
              <a:latin typeface="+mn-lt"/>
            </a:endParaRPr>
          </a:p>
          <a:p>
            <a:pPr>
              <a:lnSpc>
                <a:spcPct val="150000"/>
              </a:lnSpc>
            </a:pPr>
            <a:endParaRPr lang="en-VN">
              <a:latin typeface="+mn-lt"/>
            </a:endParaRPr>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20</a:t>
            </a:fld>
            <a:endParaRPr lang="en-US"/>
          </a:p>
        </p:txBody>
      </p:sp>
      <p:pic>
        <p:nvPicPr>
          <p:cNvPr id="6" name="Picture 5" descr="Chart, diagram&#10;&#10;Description automatically generated">
            <a:extLst>
              <a:ext uri="{FF2B5EF4-FFF2-40B4-BE49-F238E27FC236}">
                <a16:creationId xmlns:a16="http://schemas.microsoft.com/office/drawing/2014/main" id="{E3452B69-0E11-194E-A184-578C62767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74" y="2689248"/>
            <a:ext cx="10242426" cy="3548063"/>
          </a:xfrm>
          <a:prstGeom prst="rect">
            <a:avLst/>
          </a:prstGeom>
        </p:spPr>
      </p:pic>
    </p:spTree>
    <p:extLst>
      <p:ext uri="{BB962C8B-B14F-4D97-AF65-F5344CB8AC3E}">
        <p14:creationId xmlns:p14="http://schemas.microsoft.com/office/powerpoint/2010/main" val="3085480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B178-AD13-B247-8780-F87C62A14960}"/>
              </a:ext>
            </a:extLst>
          </p:cNvPr>
          <p:cNvSpPr>
            <a:spLocks noGrp="1"/>
          </p:cNvSpPr>
          <p:nvPr>
            <p:ph type="title"/>
          </p:nvPr>
        </p:nvSpPr>
        <p:spPr/>
        <p:txBody>
          <a:bodyPr/>
          <a:lstStyle/>
          <a:p>
            <a:r>
              <a:rPr lang="en-VN" sz="3200"/>
              <a:t>Một số vấn đề khi huấn luyện neural network</a:t>
            </a:r>
          </a:p>
        </p:txBody>
      </p:sp>
      <p:sp>
        <p:nvSpPr>
          <p:cNvPr id="3" name="Content Placeholder 2">
            <a:extLst>
              <a:ext uri="{FF2B5EF4-FFF2-40B4-BE49-F238E27FC236}">
                <a16:creationId xmlns:a16="http://schemas.microsoft.com/office/drawing/2014/main" id="{C51C75F7-3B7D-FB4F-9BE5-65DE12DBEF9B}"/>
              </a:ext>
            </a:extLst>
          </p:cNvPr>
          <p:cNvSpPr>
            <a:spLocks noGrp="1"/>
          </p:cNvSpPr>
          <p:nvPr>
            <p:ph idx="1"/>
          </p:nvPr>
        </p:nvSpPr>
        <p:spPr>
          <a:xfrm>
            <a:off x="390972" y="1196753"/>
            <a:ext cx="5904656" cy="4956062"/>
          </a:xfrm>
        </p:spPr>
        <p:txBody>
          <a:bodyPr/>
          <a:lstStyle/>
          <a:p>
            <a:pPr>
              <a:lnSpc>
                <a:spcPct val="100000"/>
              </a:lnSpc>
            </a:pPr>
            <a:r>
              <a:rPr lang="en-VN" sz="2400" b="1">
                <a:latin typeface="+mn-lt"/>
              </a:rPr>
              <a:t>Hàm lỗi tăng dần đều:</a:t>
            </a:r>
          </a:p>
          <a:p>
            <a:pPr lvl="1">
              <a:lnSpc>
                <a:spcPct val="100000"/>
              </a:lnSpc>
            </a:pPr>
            <a:r>
              <a:rPr lang="en-VN">
                <a:latin typeface="+mn-lt"/>
              </a:rPr>
              <a:t>Hệ số học hoặc hệ số quán tính quá lớn.</a:t>
            </a:r>
          </a:p>
          <a:p>
            <a:pPr lvl="1">
              <a:lnSpc>
                <a:spcPct val="100000"/>
              </a:lnSpc>
            </a:pPr>
            <a:r>
              <a:rPr lang="en-VN">
                <a:latin typeface="+mn-lt"/>
              </a:rPr>
              <a:t>Khi tính đạo hàm bị ngược dấu ở một giai đoạn nào đó</a:t>
            </a:r>
          </a:p>
          <a:p>
            <a:pPr>
              <a:lnSpc>
                <a:spcPct val="100000"/>
              </a:lnSpc>
            </a:pPr>
            <a:r>
              <a:rPr lang="en-VN" sz="2400" b="1">
                <a:latin typeface="+mn-lt"/>
              </a:rPr>
              <a:t>Hàm lỗi giảm rất chậm:</a:t>
            </a:r>
          </a:p>
          <a:p>
            <a:pPr lvl="1">
              <a:lnSpc>
                <a:spcPct val="100000"/>
              </a:lnSpc>
            </a:pPr>
            <a:r>
              <a:rPr lang="en-VN">
                <a:latin typeface="+mn-lt"/>
              </a:rPr>
              <a:t>Hệ số học quá bé</a:t>
            </a:r>
          </a:p>
          <a:p>
            <a:pPr lvl="1">
              <a:lnSpc>
                <a:spcPct val="100000"/>
              </a:lnSpc>
            </a:pPr>
            <a:r>
              <a:rPr lang="en-VN">
                <a:latin typeface="+mn-lt"/>
              </a:rPr>
              <a:t>Sử dụng batch gradient descent để xấp xỉ hàm quá phức tạp</a:t>
            </a:r>
          </a:p>
          <a:p>
            <a:pPr>
              <a:lnSpc>
                <a:spcPct val="100000"/>
              </a:lnSpc>
            </a:pPr>
            <a:r>
              <a:rPr lang="en-VN" sz="2400" b="1">
                <a:latin typeface="+mn-lt"/>
              </a:rPr>
              <a:t>Hàm lỗi không ổn định </a:t>
            </a:r>
            <a:r>
              <a:rPr lang="en-VN" sz="2400">
                <a:latin typeface="+mn-lt"/>
              </a:rPr>
              <a:t>(tăng hoặc giảm thất thường)</a:t>
            </a:r>
          </a:p>
          <a:p>
            <a:pPr lvl="1">
              <a:lnSpc>
                <a:spcPct val="100000"/>
              </a:lnSpc>
            </a:pPr>
            <a:r>
              <a:rPr lang="en-VN" sz="2100">
                <a:latin typeface="+mn-lt"/>
              </a:rPr>
              <a:t>Hệ số học vẫn còn lớn</a:t>
            </a:r>
          </a:p>
          <a:p>
            <a:pPr lvl="1">
              <a:lnSpc>
                <a:spcPct val="100000"/>
              </a:lnSpc>
            </a:pPr>
            <a:r>
              <a:rPr lang="en-VN" sz="2100">
                <a:latin typeface="+mn-lt"/>
              </a:rPr>
              <a:t>Các khắc phục: Giảm hệ số học sau một số vòng lặp nhất định</a:t>
            </a:r>
          </a:p>
          <a:p>
            <a:pPr marL="385762" lvl="1" indent="0">
              <a:lnSpc>
                <a:spcPct val="100000"/>
              </a:lnSpc>
              <a:buNone/>
            </a:pPr>
            <a:endParaRPr lang="en-VN" sz="2500">
              <a:latin typeface="+mn-lt"/>
            </a:endParaRPr>
          </a:p>
          <a:p>
            <a:pPr>
              <a:lnSpc>
                <a:spcPct val="100000"/>
              </a:lnSpc>
            </a:pPr>
            <a:endParaRPr lang="en-VN">
              <a:latin typeface="+mn-lt"/>
            </a:endParaRPr>
          </a:p>
        </p:txBody>
      </p:sp>
      <p:sp>
        <p:nvSpPr>
          <p:cNvPr id="4" name="Slide Number Placeholder 3">
            <a:extLst>
              <a:ext uri="{FF2B5EF4-FFF2-40B4-BE49-F238E27FC236}">
                <a16:creationId xmlns:a16="http://schemas.microsoft.com/office/drawing/2014/main" id="{138C13FE-A7E7-704B-AE3D-36D7A860B0AE}"/>
              </a:ext>
            </a:extLst>
          </p:cNvPr>
          <p:cNvSpPr>
            <a:spLocks noGrp="1"/>
          </p:cNvSpPr>
          <p:nvPr>
            <p:ph type="sldNum" sz="quarter" idx="12"/>
          </p:nvPr>
        </p:nvSpPr>
        <p:spPr/>
        <p:txBody>
          <a:bodyPr/>
          <a:lstStyle/>
          <a:p>
            <a:fld id="{DA8C51A7-BEEA-471D-933F-7E35BC04A30F}" type="slidenum">
              <a:rPr lang="en-US"/>
              <a:pPr/>
              <a:t>21</a:t>
            </a:fld>
            <a:endParaRPr lang="en-US"/>
          </a:p>
        </p:txBody>
      </p:sp>
      <p:pic>
        <p:nvPicPr>
          <p:cNvPr id="7" name="Picture 6" descr="Diagram&#10;&#10;Description automatically generated">
            <a:extLst>
              <a:ext uri="{FF2B5EF4-FFF2-40B4-BE49-F238E27FC236}">
                <a16:creationId xmlns:a16="http://schemas.microsoft.com/office/drawing/2014/main" id="{992CE9BB-2917-6B4A-8A44-876517930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5628" y="1231389"/>
            <a:ext cx="3790839" cy="4585692"/>
          </a:xfrm>
          <a:prstGeom prst="rect">
            <a:avLst/>
          </a:prstGeom>
        </p:spPr>
      </p:pic>
      <p:sp>
        <p:nvSpPr>
          <p:cNvPr id="8" name="TextBox 7">
            <a:extLst>
              <a:ext uri="{FF2B5EF4-FFF2-40B4-BE49-F238E27FC236}">
                <a16:creationId xmlns:a16="http://schemas.microsoft.com/office/drawing/2014/main" id="{89E5CF90-1D80-134F-93A2-D5022481E673}"/>
              </a:ext>
            </a:extLst>
          </p:cNvPr>
          <p:cNvSpPr txBox="1"/>
          <p:nvPr/>
        </p:nvSpPr>
        <p:spPr>
          <a:xfrm>
            <a:off x="6953368" y="5875765"/>
            <a:ext cx="2475358" cy="338554"/>
          </a:xfrm>
          <a:prstGeom prst="rect">
            <a:avLst/>
          </a:prstGeom>
          <a:noFill/>
        </p:spPr>
        <p:txBody>
          <a:bodyPr wrap="none" rtlCol="0">
            <a:spAutoFit/>
          </a:bodyPr>
          <a:lstStyle/>
          <a:p>
            <a:r>
              <a:rPr lang="en-VN" sz="1600" i="1">
                <a:solidFill>
                  <a:schemeClr val="bg2">
                    <a:lumMod val="50000"/>
                  </a:schemeClr>
                </a:solidFill>
              </a:rPr>
              <a:t>Nguồn: Standford CS232</a:t>
            </a:r>
          </a:p>
        </p:txBody>
      </p:sp>
    </p:spTree>
    <p:extLst>
      <p:ext uri="{BB962C8B-B14F-4D97-AF65-F5344CB8AC3E}">
        <p14:creationId xmlns:p14="http://schemas.microsoft.com/office/powerpoint/2010/main" val="2517122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4E5B-4CF1-F449-AC83-0066ACBADAD6}"/>
              </a:ext>
            </a:extLst>
          </p:cNvPr>
          <p:cNvSpPr>
            <a:spLocks noGrp="1"/>
          </p:cNvSpPr>
          <p:nvPr>
            <p:ph type="title"/>
          </p:nvPr>
        </p:nvSpPr>
        <p:spPr/>
        <p:txBody>
          <a:bodyPr/>
          <a:lstStyle/>
          <a:p>
            <a:r>
              <a:rPr lang="en-VN"/>
              <a:t>Tài liệu tham khảo</a:t>
            </a:r>
          </a:p>
        </p:txBody>
      </p:sp>
      <p:sp>
        <p:nvSpPr>
          <p:cNvPr id="3" name="Content Placeholder 2">
            <a:extLst>
              <a:ext uri="{FF2B5EF4-FFF2-40B4-BE49-F238E27FC236}">
                <a16:creationId xmlns:a16="http://schemas.microsoft.com/office/drawing/2014/main" id="{866773DC-0185-F740-B643-83818D6F4CA9}"/>
              </a:ext>
            </a:extLst>
          </p:cNvPr>
          <p:cNvSpPr>
            <a:spLocks noGrp="1"/>
          </p:cNvSpPr>
          <p:nvPr>
            <p:ph idx="1"/>
          </p:nvPr>
        </p:nvSpPr>
        <p:spPr/>
        <p:txBody>
          <a:bodyPr/>
          <a:lstStyle/>
          <a:p>
            <a:pPr marL="0" indent="0">
              <a:buNone/>
            </a:pPr>
            <a:r>
              <a:rPr lang="en-US"/>
              <a:t>1. </a:t>
            </a:r>
            <a:r>
              <a:rPr lang="en-US">
                <a:hlinkClick r:id="rId2"/>
              </a:rPr>
              <a:t>https://cs231n.github.io/neural-networks-3 </a:t>
            </a:r>
            <a:endParaRPr lang="en-US">
              <a:effectLst/>
            </a:endParaRPr>
          </a:p>
          <a:p>
            <a:pPr marL="0" indent="0">
              <a:buNone/>
            </a:pPr>
            <a:r>
              <a:rPr lang="en-US" i="1"/>
              <a:t>2. Improving the way neural networks learn </a:t>
            </a:r>
            <a:r>
              <a:rPr lang="en-US"/>
              <a:t>- Michael Nielsen </a:t>
            </a:r>
            <a:endParaRPr lang="en-US">
              <a:effectLst/>
            </a:endParaRPr>
          </a:p>
          <a:p>
            <a:pPr marL="0" indent="0">
              <a:buNone/>
            </a:pPr>
            <a:r>
              <a:rPr lang="en-US">
                <a:hlinkClick r:id="rId3"/>
              </a:rPr>
              <a:t>http://neuralnetworksanddeeplearning.com/chap3.html </a:t>
            </a:r>
            <a:endParaRPr lang="en-US">
              <a:effectLst/>
            </a:endParaRPr>
          </a:p>
          <a:p>
            <a:pPr marL="0" indent="0">
              <a:buNone/>
            </a:pPr>
            <a:r>
              <a:rPr lang="en-US" i="1"/>
              <a:t>3. An overview of gradient descent optimization algorithms </a:t>
            </a:r>
            <a:r>
              <a:rPr lang="en-US"/>
              <a:t>- Sebastian Ruder </a:t>
            </a:r>
          </a:p>
          <a:p>
            <a:pPr marL="0" indent="0">
              <a:buNone/>
            </a:pPr>
            <a:r>
              <a:rPr lang="en-US">
                <a:hlinkClick r:id="rId4"/>
              </a:rPr>
              <a:t>http://ruder.io/optimizing-gradient-descent/ </a:t>
            </a:r>
            <a:endParaRPr lang="en-US">
              <a:effectLst/>
            </a:endParaRPr>
          </a:p>
          <a:p>
            <a:pPr marL="0" indent="0">
              <a:buNone/>
            </a:pPr>
            <a:r>
              <a:rPr lang="en-VN"/>
              <a:t>4. VietAI Slide </a:t>
            </a:r>
          </a:p>
          <a:p>
            <a:pPr marL="0" indent="0">
              <a:buNone/>
            </a:pPr>
            <a:endParaRPr lang="en-VN"/>
          </a:p>
        </p:txBody>
      </p:sp>
      <p:sp>
        <p:nvSpPr>
          <p:cNvPr id="4" name="Slide Number Placeholder 3">
            <a:extLst>
              <a:ext uri="{FF2B5EF4-FFF2-40B4-BE49-F238E27FC236}">
                <a16:creationId xmlns:a16="http://schemas.microsoft.com/office/drawing/2014/main" id="{5D4796B9-22A5-8742-AF09-1A8A78290029}"/>
              </a:ext>
            </a:extLst>
          </p:cNvPr>
          <p:cNvSpPr>
            <a:spLocks noGrp="1"/>
          </p:cNvSpPr>
          <p:nvPr>
            <p:ph type="sldNum" sz="quarter" idx="12"/>
          </p:nvPr>
        </p:nvSpPr>
        <p:spPr/>
        <p:txBody>
          <a:bodyPr/>
          <a:lstStyle/>
          <a:p>
            <a:fld id="{DA8C51A7-BEEA-471D-933F-7E35BC04A30F}" type="slidenum">
              <a:rPr lang="en-US"/>
              <a:pPr/>
              <a:t>22</a:t>
            </a:fld>
            <a:endParaRPr lang="en-US"/>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93E4C89-A1C3-AC4F-91B9-18517C552C44}"/>
                  </a:ext>
                </a:extLst>
              </p14:cNvPr>
              <p14:cNvContentPartPr/>
              <p14:nvPr/>
            </p14:nvContentPartPr>
            <p14:xfrm>
              <a:off x="8811360" y="3836880"/>
              <a:ext cx="5040" cy="2880"/>
            </p14:xfrm>
          </p:contentPart>
        </mc:Choice>
        <mc:Fallback xmlns="">
          <p:pic>
            <p:nvPicPr>
              <p:cNvPr id="5" name="Ink 4">
                <a:extLst>
                  <a:ext uri="{FF2B5EF4-FFF2-40B4-BE49-F238E27FC236}">
                    <a16:creationId xmlns:a16="http://schemas.microsoft.com/office/drawing/2014/main" id="{793E4C89-A1C3-AC4F-91B9-18517C552C44}"/>
                  </a:ext>
                </a:extLst>
              </p:cNvPr>
              <p:cNvPicPr/>
              <p:nvPr/>
            </p:nvPicPr>
            <p:blipFill>
              <a:blip r:embed="rId6"/>
              <a:stretch>
                <a:fillRect/>
              </a:stretch>
            </p:blipFill>
            <p:spPr>
              <a:xfrm>
                <a:off x="8802000" y="3827520"/>
                <a:ext cx="23760" cy="21600"/>
              </a:xfrm>
              <a:prstGeom prst="rect">
                <a:avLst/>
              </a:prstGeom>
            </p:spPr>
          </p:pic>
        </mc:Fallback>
      </mc:AlternateContent>
    </p:spTree>
    <p:extLst>
      <p:ext uri="{BB962C8B-B14F-4D97-AF65-F5344CB8AC3E}">
        <p14:creationId xmlns:p14="http://schemas.microsoft.com/office/powerpoint/2010/main" val="3341368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Template" id="{0AF96A80-A828-A34E-A395-551D35D8BAE2}" vid="{38747540-D07E-8842-8803-D3EFDEFF576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24895</TotalTime>
  <Words>1244</Words>
  <Application>Microsoft Macintosh PowerPoint</Application>
  <PresentationFormat>35mm Slides</PresentationFormat>
  <Paragraphs>149</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.VnTime</vt:lpstr>
      <vt:lpstr>Arial</vt:lpstr>
      <vt:lpstr>ArialMT</vt:lpstr>
      <vt:lpstr>Calibri</vt:lpstr>
      <vt:lpstr>Calibri Light</vt:lpstr>
      <vt:lpstr>Cambria Math</vt:lpstr>
      <vt:lpstr>Tahoma</vt:lpstr>
      <vt:lpstr>Wingdings</vt:lpstr>
      <vt:lpstr>Office Theme</vt:lpstr>
      <vt:lpstr>HỌC MÁY Lec 9. Các kỹ thuật huấn luyện mạng nơ-ron</vt:lpstr>
      <vt:lpstr>Neural Network</vt:lpstr>
      <vt:lpstr>Neural Network</vt:lpstr>
      <vt:lpstr>Neural Network – Gradient descent và một số biến thể</vt:lpstr>
      <vt:lpstr>Neural Network – Gradient descent và một số biến thể</vt:lpstr>
      <vt:lpstr>Neural Network – Gradient descent và một số biến thể</vt:lpstr>
      <vt:lpstr>Neural Network – Stochastic Gradient Descent</vt:lpstr>
      <vt:lpstr>Neural Network – Stochastic Gradient Descent với quán tính</vt:lpstr>
      <vt:lpstr>Neural Network – Stochastic Gradient Descent với quán tính</vt:lpstr>
      <vt:lpstr>Neural Network – Stochastic Gradient Descent với quán tính</vt:lpstr>
      <vt:lpstr>Neural Network – Stochastic Gradient Descent</vt:lpstr>
      <vt:lpstr>Neural Network – Stochastic Gradient Descent và biến thể</vt:lpstr>
      <vt:lpstr>Một số vấn đề khi huấn luyện neural network</vt:lpstr>
      <vt:lpstr>Một số vấn đề khi huấn luyện neural network</vt:lpstr>
      <vt:lpstr>Dropout</vt:lpstr>
      <vt:lpstr>Dropout</vt:lpstr>
      <vt:lpstr>Một số vấn đề khi huấn luyện neural network</vt:lpstr>
      <vt:lpstr>Một số vấn đề khi huấn luyện neural network</vt:lpstr>
      <vt:lpstr>Một số vấn đề khi huấn luyện neural network</vt:lpstr>
      <vt:lpstr>Một số vấn đề khi huấn luyện neural network</vt:lpstr>
      <vt:lpstr>Một số vấn đề khi huấn luyện neural network</vt:lpstr>
      <vt:lpstr>Tài liệu 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ĐẠI CƯƠNG Chương 5. Ngôn ngữ lập trình C++</dc:title>
  <dc:creator>Dinh Anh Nguyen</dc:creator>
  <cp:lastModifiedBy>Nguyen Quy</cp:lastModifiedBy>
  <cp:revision>214</cp:revision>
  <cp:lastPrinted>2021-01-31T11:08:06Z</cp:lastPrinted>
  <dcterms:created xsi:type="dcterms:W3CDTF">2018-12-13T03:42:15Z</dcterms:created>
  <dcterms:modified xsi:type="dcterms:W3CDTF">2024-05-29T14:49:04Z</dcterms:modified>
</cp:coreProperties>
</file>