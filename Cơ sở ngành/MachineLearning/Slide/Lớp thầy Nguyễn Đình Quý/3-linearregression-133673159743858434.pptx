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0" r:id="rId17"/>
    <p:sldId id="279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0287000" cy="6858000" type="35mm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902B"/>
    <a:srgbClr val="000099"/>
    <a:srgbClr val="BA2212"/>
    <a:srgbClr val="EE1A4C"/>
    <a:srgbClr val="FFFFFF"/>
    <a:srgbClr val="FFBDDE"/>
    <a:srgbClr val="FFCCCC"/>
    <a:srgbClr val="FFCCFF"/>
    <a:srgbClr val="080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2F971D-8AFC-49A5-9A13-11D6E32468E6}" v="7" dt="2024-05-09T03:41:44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8" autoAdjust="0"/>
    <p:restoredTop sz="81648" autoAdjust="0"/>
  </p:normalViewPr>
  <p:slideViewPr>
    <p:cSldViewPr>
      <p:cViewPr>
        <p:scale>
          <a:sx n="125" d="100"/>
          <a:sy n="125" d="100"/>
        </p:scale>
        <p:origin x="1122" y="-780"/>
      </p:cViewPr>
      <p:guideLst>
        <p:guide orient="horz" pos="2160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3930"/>
    </p:cViewPr>
  </p:sorterViewPr>
  <p:notesViewPr>
    <p:cSldViewPr>
      <p:cViewPr varScale="1">
        <p:scale>
          <a:sx n="38" d="100"/>
          <a:sy n="38" d="100"/>
        </p:scale>
        <p:origin x="-1590" y="-90"/>
      </p:cViewPr>
      <p:guideLst>
        <p:guide orient="horz" pos="2304"/>
        <p:guide pos="30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Đào Việt Cường" userId="0f13a9cd-9ec9-494e-9b0f-9b516429b511" providerId="ADAL" clId="{582F971D-8AFC-49A5-9A13-11D6E32468E6}"/>
    <pc:docChg chg="undo redo custSel addSld modSld">
      <pc:chgData name="Đào Việt Cường" userId="0f13a9cd-9ec9-494e-9b0f-9b516429b511" providerId="ADAL" clId="{582F971D-8AFC-49A5-9A13-11D6E32468E6}" dt="2024-05-09T03:57:27.610" v="213" actId="14100"/>
      <pc:docMkLst>
        <pc:docMk/>
      </pc:docMkLst>
      <pc:sldChg chg="modSp mod">
        <pc:chgData name="Đào Việt Cường" userId="0f13a9cd-9ec9-494e-9b0f-9b516429b511" providerId="ADAL" clId="{582F971D-8AFC-49A5-9A13-11D6E32468E6}" dt="2024-05-08T16:25:57.985" v="13" actId="207"/>
        <pc:sldMkLst>
          <pc:docMk/>
          <pc:sldMk cId="216533819" sldId="258"/>
        </pc:sldMkLst>
        <pc:spChg chg="mod">
          <ac:chgData name="Đào Việt Cường" userId="0f13a9cd-9ec9-494e-9b0f-9b516429b511" providerId="ADAL" clId="{582F971D-8AFC-49A5-9A13-11D6E32468E6}" dt="2024-05-08T16:25:57.985" v="13" actId="207"/>
          <ac:spMkLst>
            <pc:docMk/>
            <pc:sldMk cId="216533819" sldId="258"/>
            <ac:spMk id="128" creationId="{00000000-0000-0000-0000-000000000000}"/>
          </ac:spMkLst>
        </pc:spChg>
        <pc:picChg chg="mod">
          <ac:chgData name="Đào Việt Cường" userId="0f13a9cd-9ec9-494e-9b0f-9b516429b511" providerId="ADAL" clId="{582F971D-8AFC-49A5-9A13-11D6E32468E6}" dt="2024-05-08T15:44:42.327" v="1" actId="1076"/>
          <ac:picMkLst>
            <pc:docMk/>
            <pc:sldMk cId="216533819" sldId="258"/>
            <ac:picMk id="132" creationId="{00000000-0000-0000-0000-000000000000}"/>
          </ac:picMkLst>
        </pc:picChg>
      </pc:sldChg>
      <pc:sldChg chg="addSp delSp modSp mod">
        <pc:chgData name="Đào Việt Cường" userId="0f13a9cd-9ec9-494e-9b0f-9b516429b511" providerId="ADAL" clId="{582F971D-8AFC-49A5-9A13-11D6E32468E6}" dt="2024-05-08T16:29:44.774" v="77" actId="1076"/>
        <pc:sldMkLst>
          <pc:docMk/>
          <pc:sldMk cId="1189839703" sldId="265"/>
        </pc:sldMkLst>
        <pc:spChg chg="add del mod">
          <ac:chgData name="Đào Việt Cường" userId="0f13a9cd-9ec9-494e-9b0f-9b516429b511" providerId="ADAL" clId="{582F971D-8AFC-49A5-9A13-11D6E32468E6}" dt="2024-05-08T16:25:54.585" v="11" actId="767"/>
          <ac:spMkLst>
            <pc:docMk/>
            <pc:sldMk cId="1189839703" sldId="265"/>
            <ac:spMk id="2" creationId="{F6439A27-B755-D02B-7403-9328ADBE9EFB}"/>
          </ac:spMkLst>
        </pc:spChg>
        <pc:spChg chg="mod">
          <ac:chgData name="Đào Việt Cường" userId="0f13a9cd-9ec9-494e-9b0f-9b516429b511" providerId="ADAL" clId="{582F971D-8AFC-49A5-9A13-11D6E32468E6}" dt="2024-05-08T16:27:03.211" v="68" actId="20577"/>
          <ac:spMkLst>
            <pc:docMk/>
            <pc:sldMk cId="1189839703" sldId="265"/>
            <ac:spMk id="204" creationId="{00000000-0000-0000-0000-000000000000}"/>
          </ac:spMkLst>
        </pc:spChg>
        <pc:spChg chg="mod">
          <ac:chgData name="Đào Việt Cường" userId="0f13a9cd-9ec9-494e-9b0f-9b516429b511" providerId="ADAL" clId="{582F971D-8AFC-49A5-9A13-11D6E32468E6}" dt="2024-05-08T16:29:44.774" v="77" actId="1076"/>
          <ac:spMkLst>
            <pc:docMk/>
            <pc:sldMk cId="1189839703" sldId="265"/>
            <ac:spMk id="209" creationId="{00000000-0000-0000-0000-000000000000}"/>
          </ac:spMkLst>
        </pc:spChg>
        <pc:picChg chg="mod">
          <ac:chgData name="Đào Việt Cường" userId="0f13a9cd-9ec9-494e-9b0f-9b516429b511" providerId="ADAL" clId="{582F971D-8AFC-49A5-9A13-11D6E32468E6}" dt="2024-05-08T16:28:17.421" v="73" actId="1076"/>
          <ac:picMkLst>
            <pc:docMk/>
            <pc:sldMk cId="1189839703" sldId="265"/>
            <ac:picMk id="205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8T16:26:38.462" v="15" actId="1076"/>
          <ac:picMkLst>
            <pc:docMk/>
            <pc:sldMk cId="1189839703" sldId="265"/>
            <ac:picMk id="206" creationId="{00000000-0000-0000-0000-000000000000}"/>
          </ac:picMkLst>
        </pc:picChg>
      </pc:sldChg>
      <pc:sldChg chg="delSp modSp mod">
        <pc:chgData name="Đào Việt Cường" userId="0f13a9cd-9ec9-494e-9b0f-9b516429b511" providerId="ADAL" clId="{582F971D-8AFC-49A5-9A13-11D6E32468E6}" dt="2024-05-09T03:40:06.554" v="92" actId="21"/>
        <pc:sldMkLst>
          <pc:docMk/>
          <pc:sldMk cId="678198797" sldId="269"/>
        </pc:sldMkLst>
        <pc:spChg chg="mod">
          <ac:chgData name="Đào Việt Cường" userId="0f13a9cd-9ec9-494e-9b0f-9b516429b511" providerId="ADAL" clId="{582F971D-8AFC-49A5-9A13-11D6E32468E6}" dt="2024-05-09T03:40:02.632" v="91" actId="1076"/>
          <ac:spMkLst>
            <pc:docMk/>
            <pc:sldMk cId="678198797" sldId="269"/>
            <ac:spMk id="257" creationId="{00000000-0000-0000-0000-000000000000}"/>
          </ac:spMkLst>
        </pc:spChg>
        <pc:picChg chg="del mod">
          <ac:chgData name="Đào Việt Cường" userId="0f13a9cd-9ec9-494e-9b0f-9b516429b511" providerId="ADAL" clId="{582F971D-8AFC-49A5-9A13-11D6E32468E6}" dt="2024-05-09T03:39:46.085" v="84" actId="21"/>
          <ac:picMkLst>
            <pc:docMk/>
            <pc:sldMk cId="678198797" sldId="269"/>
            <ac:picMk id="253" creationId="{00000000-0000-0000-0000-000000000000}"/>
          </ac:picMkLst>
        </pc:picChg>
        <pc:picChg chg="del">
          <ac:chgData name="Đào Việt Cường" userId="0f13a9cd-9ec9-494e-9b0f-9b516429b511" providerId="ADAL" clId="{582F971D-8AFC-49A5-9A13-11D6E32468E6}" dt="2024-05-09T03:40:06.554" v="92" actId="21"/>
          <ac:picMkLst>
            <pc:docMk/>
            <pc:sldMk cId="678198797" sldId="269"/>
            <ac:picMk id="270" creationId="{00000000-0000-0000-0000-000000000000}"/>
          </ac:picMkLst>
        </pc:picChg>
      </pc:sldChg>
      <pc:sldChg chg="delSp modSp mod">
        <pc:chgData name="Đào Việt Cường" userId="0f13a9cd-9ec9-494e-9b0f-9b516429b511" providerId="ADAL" clId="{582F971D-8AFC-49A5-9A13-11D6E32468E6}" dt="2024-05-09T03:42:07.027" v="109" actId="1076"/>
        <pc:sldMkLst>
          <pc:docMk/>
          <pc:sldMk cId="4001400956" sldId="270"/>
        </pc:sldMkLst>
        <pc:picChg chg="mod">
          <ac:chgData name="Đào Việt Cường" userId="0f13a9cd-9ec9-494e-9b0f-9b516429b511" providerId="ADAL" clId="{582F971D-8AFC-49A5-9A13-11D6E32468E6}" dt="2024-05-09T03:42:07.027" v="109" actId="1076"/>
          <ac:picMkLst>
            <pc:docMk/>
            <pc:sldMk cId="4001400956" sldId="270"/>
            <ac:picMk id="275" creationId="{00000000-0000-0000-0000-000000000000}"/>
          </ac:picMkLst>
        </pc:picChg>
        <pc:picChg chg="del">
          <ac:chgData name="Đào Việt Cường" userId="0f13a9cd-9ec9-494e-9b0f-9b516429b511" providerId="ADAL" clId="{582F971D-8AFC-49A5-9A13-11D6E32468E6}" dt="2024-05-09T03:41:41.946" v="99" actId="21"/>
          <ac:picMkLst>
            <pc:docMk/>
            <pc:sldMk cId="4001400956" sldId="270"/>
            <ac:picMk id="278" creationId="{00000000-0000-0000-0000-000000000000}"/>
          </ac:picMkLst>
        </pc:picChg>
        <pc:picChg chg="del">
          <ac:chgData name="Đào Việt Cường" userId="0f13a9cd-9ec9-494e-9b0f-9b516429b511" providerId="ADAL" clId="{582F971D-8AFC-49A5-9A13-11D6E32468E6}" dt="2024-05-09T03:41:41.946" v="99" actId="21"/>
          <ac:picMkLst>
            <pc:docMk/>
            <pc:sldMk cId="4001400956" sldId="270"/>
            <ac:picMk id="279" creationId="{00000000-0000-0000-0000-000000000000}"/>
          </ac:picMkLst>
        </pc:picChg>
      </pc:sldChg>
      <pc:sldChg chg="modNotesTx">
        <pc:chgData name="Đào Việt Cường" userId="0f13a9cd-9ec9-494e-9b0f-9b516429b511" providerId="ADAL" clId="{582F971D-8AFC-49A5-9A13-11D6E32468E6}" dt="2024-05-08T16:32:35.151" v="82" actId="20577"/>
        <pc:sldMkLst>
          <pc:docMk/>
          <pc:sldMk cId="2744577177" sldId="273"/>
        </pc:sldMkLst>
      </pc:sldChg>
      <pc:sldChg chg="modSp mod">
        <pc:chgData name="Đào Việt Cường" userId="0f13a9cd-9ec9-494e-9b0f-9b516429b511" providerId="ADAL" clId="{582F971D-8AFC-49A5-9A13-11D6E32468E6}" dt="2024-05-09T03:57:27.610" v="213" actId="14100"/>
        <pc:sldMkLst>
          <pc:docMk/>
          <pc:sldMk cId="1202434382" sldId="276"/>
        </pc:sldMkLst>
        <pc:spChg chg="mod">
          <ac:chgData name="Đào Việt Cường" userId="0f13a9cd-9ec9-494e-9b0f-9b516429b511" providerId="ADAL" clId="{582F971D-8AFC-49A5-9A13-11D6E32468E6}" dt="2024-05-09T03:56:11.687" v="171" actId="404"/>
          <ac:spMkLst>
            <pc:docMk/>
            <pc:sldMk cId="1202434382" sldId="276"/>
            <ac:spMk id="328" creationId="{00000000-0000-0000-0000-000000000000}"/>
          </ac:spMkLst>
        </pc:spChg>
        <pc:picChg chg="mod">
          <ac:chgData name="Đào Việt Cường" userId="0f13a9cd-9ec9-494e-9b0f-9b516429b511" providerId="ADAL" clId="{582F971D-8AFC-49A5-9A13-11D6E32468E6}" dt="2024-05-09T03:57:27.610" v="213" actId="14100"/>
          <ac:picMkLst>
            <pc:docMk/>
            <pc:sldMk cId="1202434382" sldId="276"/>
            <ac:picMk id="330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9T03:56:16.516" v="172" actId="1076"/>
          <ac:picMkLst>
            <pc:docMk/>
            <pc:sldMk cId="1202434382" sldId="276"/>
            <ac:picMk id="331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9T03:57:02.623" v="201" actId="1036"/>
          <ac:picMkLst>
            <pc:docMk/>
            <pc:sldMk cId="1202434382" sldId="276"/>
            <ac:picMk id="332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9T03:57:06.417" v="204" actId="1036"/>
          <ac:picMkLst>
            <pc:docMk/>
            <pc:sldMk cId="1202434382" sldId="276"/>
            <ac:picMk id="333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9T03:57:09.694" v="207" actId="1036"/>
          <ac:picMkLst>
            <pc:docMk/>
            <pc:sldMk cId="1202434382" sldId="276"/>
            <ac:picMk id="334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9T03:56:58.264" v="197" actId="1036"/>
          <ac:picMkLst>
            <pc:docMk/>
            <pc:sldMk cId="1202434382" sldId="276"/>
            <ac:picMk id="335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9T03:57:13.649" v="211" actId="1036"/>
          <ac:picMkLst>
            <pc:docMk/>
            <pc:sldMk cId="1202434382" sldId="276"/>
            <ac:picMk id="336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9T03:56:30.328" v="187" actId="1037"/>
          <ac:picMkLst>
            <pc:docMk/>
            <pc:sldMk cId="1202434382" sldId="276"/>
            <ac:picMk id="338" creationId="{00000000-0000-0000-0000-000000000000}"/>
          </ac:picMkLst>
        </pc:picChg>
        <pc:picChg chg="mod">
          <ac:chgData name="Đào Việt Cường" userId="0f13a9cd-9ec9-494e-9b0f-9b516429b511" providerId="ADAL" clId="{582F971D-8AFC-49A5-9A13-11D6E32468E6}" dt="2024-05-09T03:56:33.096" v="188" actId="1076"/>
          <ac:picMkLst>
            <pc:docMk/>
            <pc:sldMk cId="1202434382" sldId="276"/>
            <ac:picMk id="339" creationId="{00000000-0000-0000-0000-000000000000}"/>
          </ac:picMkLst>
        </pc:picChg>
      </pc:sldChg>
      <pc:sldChg chg="addSp delSp modSp new mod">
        <pc:chgData name="Đào Việt Cường" userId="0f13a9cd-9ec9-494e-9b0f-9b516429b511" providerId="ADAL" clId="{582F971D-8AFC-49A5-9A13-11D6E32468E6}" dt="2024-05-09T03:40:15.087" v="96" actId="1076"/>
        <pc:sldMkLst>
          <pc:docMk/>
          <pc:sldMk cId="2637339029" sldId="278"/>
        </pc:sldMkLst>
        <pc:spChg chg="del">
          <ac:chgData name="Đào Việt Cường" userId="0f13a9cd-9ec9-494e-9b0f-9b516429b511" providerId="ADAL" clId="{582F971D-8AFC-49A5-9A13-11D6E32468E6}" dt="2024-05-09T03:39:55.219" v="87" actId="478"/>
          <ac:spMkLst>
            <pc:docMk/>
            <pc:sldMk cId="2637339029" sldId="278"/>
            <ac:spMk id="2" creationId="{6733C8B4-E40A-0358-0394-9A2B03675278}"/>
          </ac:spMkLst>
        </pc:spChg>
        <pc:spChg chg="del">
          <ac:chgData name="Đào Việt Cường" userId="0f13a9cd-9ec9-494e-9b0f-9b516429b511" providerId="ADAL" clId="{582F971D-8AFC-49A5-9A13-11D6E32468E6}" dt="2024-05-09T03:39:53.811" v="86" actId="478"/>
          <ac:spMkLst>
            <pc:docMk/>
            <pc:sldMk cId="2637339029" sldId="278"/>
            <ac:spMk id="3" creationId="{C823AA3B-F206-17C4-6F3C-FFAC2A8757F3}"/>
          </ac:spMkLst>
        </pc:spChg>
        <pc:picChg chg="add mod">
          <ac:chgData name="Đào Việt Cường" userId="0f13a9cd-9ec9-494e-9b0f-9b516429b511" providerId="ADAL" clId="{582F971D-8AFC-49A5-9A13-11D6E32468E6}" dt="2024-05-09T03:40:15.087" v="96" actId="1076"/>
          <ac:picMkLst>
            <pc:docMk/>
            <pc:sldMk cId="2637339029" sldId="278"/>
            <ac:picMk id="253" creationId="{00000000-0000-0000-0000-000000000000}"/>
          </ac:picMkLst>
        </pc:picChg>
        <pc:picChg chg="add mod">
          <ac:chgData name="Đào Việt Cường" userId="0f13a9cd-9ec9-494e-9b0f-9b516429b511" providerId="ADAL" clId="{582F971D-8AFC-49A5-9A13-11D6E32468E6}" dt="2024-05-09T03:40:11.521" v="94" actId="1076"/>
          <ac:picMkLst>
            <pc:docMk/>
            <pc:sldMk cId="2637339029" sldId="278"/>
            <ac:picMk id="270" creationId="{00000000-0000-0000-0000-000000000000}"/>
          </ac:picMkLst>
        </pc:picChg>
      </pc:sldChg>
      <pc:sldChg chg="addSp delSp modSp new mod">
        <pc:chgData name="Đào Việt Cường" userId="0f13a9cd-9ec9-494e-9b0f-9b516429b511" providerId="ADAL" clId="{582F971D-8AFC-49A5-9A13-11D6E32468E6}" dt="2024-05-09T03:41:58.523" v="106" actId="1076"/>
        <pc:sldMkLst>
          <pc:docMk/>
          <pc:sldMk cId="3344452057" sldId="279"/>
        </pc:sldMkLst>
        <pc:spChg chg="del">
          <ac:chgData name="Đào Việt Cường" userId="0f13a9cd-9ec9-494e-9b0f-9b516429b511" providerId="ADAL" clId="{582F971D-8AFC-49A5-9A13-11D6E32468E6}" dt="2024-05-09T03:41:47.903" v="103" actId="478"/>
          <ac:spMkLst>
            <pc:docMk/>
            <pc:sldMk cId="3344452057" sldId="279"/>
            <ac:spMk id="2" creationId="{C2A78D06-1169-DC75-D5F7-75BD16560711}"/>
          </ac:spMkLst>
        </pc:spChg>
        <pc:spChg chg="del">
          <ac:chgData name="Đào Việt Cường" userId="0f13a9cd-9ec9-494e-9b0f-9b516429b511" providerId="ADAL" clId="{582F971D-8AFC-49A5-9A13-11D6E32468E6}" dt="2024-05-09T03:41:46.909" v="102" actId="478"/>
          <ac:spMkLst>
            <pc:docMk/>
            <pc:sldMk cId="3344452057" sldId="279"/>
            <ac:spMk id="3" creationId="{F0958370-5018-AB0C-91CF-2201EBE315BD}"/>
          </ac:spMkLst>
        </pc:spChg>
        <pc:picChg chg="add mod">
          <ac:chgData name="Đào Việt Cường" userId="0f13a9cd-9ec9-494e-9b0f-9b516429b511" providerId="ADAL" clId="{582F971D-8AFC-49A5-9A13-11D6E32468E6}" dt="2024-05-09T03:41:56.603" v="105" actId="1076"/>
          <ac:picMkLst>
            <pc:docMk/>
            <pc:sldMk cId="3344452057" sldId="279"/>
            <ac:picMk id="278" creationId="{00000000-0000-0000-0000-000000000000}"/>
          </ac:picMkLst>
        </pc:picChg>
        <pc:picChg chg="add mod">
          <ac:chgData name="Đào Việt Cường" userId="0f13a9cd-9ec9-494e-9b0f-9b516429b511" providerId="ADAL" clId="{582F971D-8AFC-49A5-9A13-11D6E32468E6}" dt="2024-05-09T03:41:58.523" v="106" actId="1076"/>
          <ac:picMkLst>
            <pc:docMk/>
            <pc:sldMk cId="3344452057" sldId="279"/>
            <ac:picMk id="279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363" y="0"/>
            <a:ext cx="41608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8488"/>
            <a:ext cx="416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363" y="6948488"/>
            <a:ext cx="4160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</a:defRPr>
            </a:lvl1pPr>
          </a:lstStyle>
          <a:p>
            <a:fld id="{9FB05F6A-398C-455D-BE8A-CDE75FC5BBF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363" y="0"/>
            <a:ext cx="41608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43200" y="547688"/>
            <a:ext cx="4114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3" y="3475038"/>
            <a:ext cx="7038975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363" y="6948488"/>
            <a:ext cx="4160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200">
                <a:latin typeface="Tahoma" pitchFamily="34" charset="0"/>
              </a:defRPr>
            </a:lvl1pPr>
          </a:lstStyle>
          <a:p>
            <a:fld id="{077C5485-9747-4CF4-B9B9-77ADA2DD224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5pPr>
    <a:lvl6pPr marL="2285740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743f6a4f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4743f6a4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813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46e9905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46e9905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507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f8871b8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5f8871b8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Vậy nếu ghi x^(i)_j có ý nghĩa là gì?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Cách ký hiệu trên chỉ là một trong các cách ký hiệu thường gặp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005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592561d0c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592561d0c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418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592561d0cf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592561d0cf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Vd Regression: ước lượng nhu cầu của sản phẩm, dự đoán giá nhà/cổ phiếu/lợi nhuận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283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92561d0c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592561d0c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884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92561d0cf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92561d0cf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[Dành câu trả lời / thảo luận cho câu hỏi này đến cuối giờ]</a:t>
            </a:r>
            <a:endParaRPr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964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592561d0cf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592561d0cf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99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92561d0c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92561d0c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309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48caf2f1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48caf2f1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301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713ae094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713ae094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429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92561d0cf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92561d0cf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362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48caf2f1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48caf2f1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075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8caf2f1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48caf2f1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78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49423c15ba_5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49423c15ba_5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379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f8871b8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5f8871b8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381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592561d0cf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592561d0cf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504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713ae094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713ae0946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a simplification of reality</a:t>
            </a:r>
            <a:r>
              <a:rPr lang="en-US" dirty="0"/>
              <a:t> = </a:t>
            </a:r>
            <a:r>
              <a:rPr lang="vi-VN"/>
              <a:t>sự đơn giản hóa thực tế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165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5713ae0946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5713ae0946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889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592561d0cf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592561d0cf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3397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81cf441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681cf441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735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45c273c36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45c273c36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103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875" y="1122363"/>
            <a:ext cx="7715250" cy="2387600"/>
          </a:xfrm>
        </p:spPr>
        <p:txBody>
          <a:bodyPr anchor="b"/>
          <a:lstStyle>
            <a:lvl1pPr algn="ctr">
              <a:defRPr sz="50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3602038"/>
            <a:ext cx="7715250" cy="1655762"/>
          </a:xfrm>
        </p:spPr>
        <p:txBody>
          <a:bodyPr/>
          <a:lstStyle>
            <a:lvl1pPr marL="0" indent="0" algn="ctr">
              <a:buNone/>
              <a:defRPr sz="2025"/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B53E1D-A0B1-4171-ABED-667787C30A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012" y="188640"/>
            <a:ext cx="8874125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EEBBBD-F88C-4D0A-B00C-08302391C972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C51A7-BEEA-471D-933F-7E35BC04A3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3" y="1709739"/>
            <a:ext cx="8872538" cy="2852737"/>
          </a:xfrm>
        </p:spPr>
        <p:txBody>
          <a:bodyPr anchor="b"/>
          <a:lstStyle>
            <a:lvl1pPr>
              <a:defRPr sz="50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3" y="4589464"/>
            <a:ext cx="8872538" cy="1500187"/>
          </a:xfrm>
        </p:spPr>
        <p:txBody>
          <a:bodyPr/>
          <a:lstStyle>
            <a:lvl1pPr marL="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1pPr>
            <a:lvl2pPr marL="38578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771571" indent="0">
              <a:buNone/>
              <a:defRPr sz="1519">
                <a:solidFill>
                  <a:schemeClr val="tx1">
                    <a:tint val="75000"/>
                  </a:schemeClr>
                </a:solidFill>
              </a:defRPr>
            </a:lvl3pPr>
            <a:lvl4pPr marL="115735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54314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192892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31471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270049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0862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D9EDF6-B61E-473A-9275-BAC1BDA0029B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B2AA1-AEA7-40B9-AD8E-776A8F6897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1825625"/>
            <a:ext cx="43719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1825625"/>
            <a:ext cx="43719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FBD08F-42E1-467C-8482-6F32381C3348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EFCDD-D768-4613-87BA-5A10354114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365126"/>
            <a:ext cx="887253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1" y="1681163"/>
            <a:ext cx="4351883" cy="823912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1" y="2505075"/>
            <a:ext cx="435188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1681163"/>
            <a:ext cx="4373315" cy="823912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2505075"/>
            <a:ext cx="43733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E18D6-E874-45EF-BDE1-3F1C6A343A99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B50A5-30BD-43BB-AD4F-B4E94F8C7D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F168BB-F8B5-4B60-A2D9-15D6AAE85ECB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9E71C2-40FC-46B0-9F54-054079C07F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DEA76D-4E6C-45C2-96AE-CD5B5C8A3520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EBE714-6393-4BF3-9D63-6DB1C693A1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2" y="457200"/>
            <a:ext cx="3317825" cy="1600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987426"/>
            <a:ext cx="5207794" cy="4873625"/>
          </a:xfrm>
        </p:spPr>
        <p:txBody>
          <a:bodyPr/>
          <a:lstStyle>
            <a:lvl1pPr>
              <a:defRPr sz="2700"/>
            </a:lvl1pPr>
            <a:lvl2pPr>
              <a:defRPr sz="2363"/>
            </a:lvl2pPr>
            <a:lvl3pPr>
              <a:defRPr sz="2025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2" y="2057400"/>
            <a:ext cx="3317825" cy="3811588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F56404-7C0A-4A70-80C7-58B4E18C2E79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71977B-8A15-43E3-BB9A-6FACCCB6FD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2" y="457200"/>
            <a:ext cx="3317825" cy="1600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73315" y="987426"/>
            <a:ext cx="5207794" cy="4873625"/>
          </a:xfrm>
        </p:spPr>
        <p:txBody>
          <a:bodyPr rtlCol="0">
            <a:normAutofit/>
          </a:bodyPr>
          <a:lstStyle>
            <a:lvl1pPr marL="0" indent="0">
              <a:buNone/>
              <a:defRPr sz="2700"/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2" y="2057400"/>
            <a:ext cx="3317825" cy="3811588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15D99E-F75E-417A-B6DD-B1DB5382627C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88D9EC-88E8-42BE-9803-E404DECFA4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19DB2C-0737-4180-B000-8EBA7417F610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F31E5-861C-45F9-89E8-388DE9690F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365125"/>
            <a:ext cx="221813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1" y="365125"/>
            <a:ext cx="652581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34FEE0-FC62-4A35-BD96-9CA27BB140EB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D42D-A0F9-49AA-A49A-5E2A0AE1E1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10287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50663" y="593367"/>
            <a:ext cx="9585675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50663" y="1536633"/>
            <a:ext cx="9585675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lvl="0" indent="-38576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28700" lvl="1" indent="-357188">
              <a:spcBef>
                <a:spcPts val="1800"/>
              </a:spcBef>
              <a:spcAft>
                <a:spcPts val="0"/>
              </a:spcAft>
              <a:buSzPts val="1400"/>
              <a:buChar char="○"/>
              <a:defRPr/>
            </a:lvl2pPr>
            <a:lvl3pPr marL="1543050" lvl="2" indent="-357188">
              <a:spcBef>
                <a:spcPts val="1800"/>
              </a:spcBef>
              <a:spcAft>
                <a:spcPts val="0"/>
              </a:spcAft>
              <a:buSzPts val="1400"/>
              <a:buChar char="■"/>
              <a:defRPr/>
            </a:lvl3pPr>
            <a:lvl4pPr marL="2057400" lvl="3" indent="-357188">
              <a:spcBef>
                <a:spcPts val="1800"/>
              </a:spcBef>
              <a:spcAft>
                <a:spcPts val="0"/>
              </a:spcAft>
              <a:buSzPts val="1400"/>
              <a:buChar char="●"/>
              <a:defRPr/>
            </a:lvl4pPr>
            <a:lvl5pPr marL="2571750" lvl="4" indent="-357188">
              <a:spcBef>
                <a:spcPts val="1800"/>
              </a:spcBef>
              <a:spcAft>
                <a:spcPts val="0"/>
              </a:spcAft>
              <a:buSzPts val="1400"/>
              <a:buChar char="○"/>
              <a:defRPr/>
            </a:lvl5pPr>
            <a:lvl6pPr marL="3086100" lvl="5" indent="-357188">
              <a:spcBef>
                <a:spcPts val="1800"/>
              </a:spcBef>
              <a:spcAft>
                <a:spcPts val="0"/>
              </a:spcAft>
              <a:buSzPts val="1400"/>
              <a:buChar char="■"/>
              <a:defRPr/>
            </a:lvl6pPr>
            <a:lvl7pPr marL="3600450" lvl="6" indent="-357188">
              <a:spcBef>
                <a:spcPts val="1800"/>
              </a:spcBef>
              <a:spcAft>
                <a:spcPts val="0"/>
              </a:spcAft>
              <a:buSzPts val="1400"/>
              <a:buChar char="●"/>
              <a:defRPr/>
            </a:lvl7pPr>
            <a:lvl8pPr marL="4114800" lvl="7" indent="-357188">
              <a:spcBef>
                <a:spcPts val="1800"/>
              </a:spcBef>
              <a:spcAft>
                <a:spcPts val="0"/>
              </a:spcAft>
              <a:buSzPts val="1400"/>
              <a:buChar char="○"/>
              <a:defRPr/>
            </a:lvl8pPr>
            <a:lvl9pPr marL="4629150" lvl="8" indent="-357188">
              <a:spcBef>
                <a:spcPts val="1800"/>
              </a:spcBef>
              <a:spcAft>
                <a:spcPts val="18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9531515" y="6217623"/>
            <a:ext cx="617288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61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bg>
      <p:bgPr>
        <a:solidFill>
          <a:srgbClr val="FFFFFF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3997533"/>
            <a:ext cx="10287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74256" y="2743200"/>
            <a:ext cx="9138488" cy="10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05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5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5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5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5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5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5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5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9531515" y="6217623"/>
            <a:ext cx="617288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9113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50663" y="593367"/>
            <a:ext cx="9585675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50662" y="1536633"/>
            <a:ext cx="4499888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lvl="0" indent="-357188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75"/>
            </a:lvl1pPr>
            <a:lvl2pPr marL="1028700" lvl="1" indent="-342900">
              <a:spcBef>
                <a:spcPts val="1800"/>
              </a:spcBef>
              <a:spcAft>
                <a:spcPts val="0"/>
              </a:spcAft>
              <a:buSzPts val="1200"/>
              <a:buChar char="○"/>
              <a:defRPr sz="1350"/>
            </a:lvl2pPr>
            <a:lvl3pPr marL="1543050" lvl="2" indent="-342900">
              <a:spcBef>
                <a:spcPts val="1800"/>
              </a:spcBef>
              <a:spcAft>
                <a:spcPts val="0"/>
              </a:spcAft>
              <a:buSzPts val="1200"/>
              <a:buChar char="■"/>
              <a:defRPr sz="1350"/>
            </a:lvl3pPr>
            <a:lvl4pPr marL="2057400" lvl="3" indent="-342900">
              <a:spcBef>
                <a:spcPts val="1800"/>
              </a:spcBef>
              <a:spcAft>
                <a:spcPts val="0"/>
              </a:spcAft>
              <a:buSzPts val="1200"/>
              <a:buChar char="●"/>
              <a:defRPr sz="1350"/>
            </a:lvl4pPr>
            <a:lvl5pPr marL="2571750" lvl="4" indent="-342900">
              <a:spcBef>
                <a:spcPts val="1800"/>
              </a:spcBef>
              <a:spcAft>
                <a:spcPts val="0"/>
              </a:spcAft>
              <a:buSzPts val="1200"/>
              <a:buChar char="○"/>
              <a:defRPr sz="1350"/>
            </a:lvl5pPr>
            <a:lvl6pPr marL="3086100" lvl="5" indent="-342900">
              <a:spcBef>
                <a:spcPts val="1800"/>
              </a:spcBef>
              <a:spcAft>
                <a:spcPts val="0"/>
              </a:spcAft>
              <a:buSzPts val="1200"/>
              <a:buChar char="■"/>
              <a:defRPr sz="1350"/>
            </a:lvl6pPr>
            <a:lvl7pPr marL="3600450" lvl="6" indent="-342900">
              <a:spcBef>
                <a:spcPts val="1800"/>
              </a:spcBef>
              <a:spcAft>
                <a:spcPts val="0"/>
              </a:spcAft>
              <a:buSzPts val="1200"/>
              <a:buChar char="●"/>
              <a:defRPr sz="1350"/>
            </a:lvl7pPr>
            <a:lvl8pPr marL="4114800" lvl="7" indent="-342900">
              <a:spcBef>
                <a:spcPts val="1800"/>
              </a:spcBef>
              <a:spcAft>
                <a:spcPts val="0"/>
              </a:spcAft>
              <a:buSzPts val="1200"/>
              <a:buChar char="○"/>
              <a:defRPr sz="1350"/>
            </a:lvl8pPr>
            <a:lvl9pPr marL="4629150" lvl="8" indent="-342900">
              <a:spcBef>
                <a:spcPts val="1800"/>
              </a:spcBef>
              <a:spcAft>
                <a:spcPts val="1800"/>
              </a:spcAft>
              <a:buSzPts val="1200"/>
              <a:buChar char="■"/>
              <a:defRPr sz="135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5436450" y="1536633"/>
            <a:ext cx="4499888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lvl="0" indent="-357188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75"/>
            </a:lvl1pPr>
            <a:lvl2pPr marL="1028700" lvl="1" indent="-342900">
              <a:spcBef>
                <a:spcPts val="1800"/>
              </a:spcBef>
              <a:spcAft>
                <a:spcPts val="0"/>
              </a:spcAft>
              <a:buSzPts val="1200"/>
              <a:buChar char="○"/>
              <a:defRPr sz="1350"/>
            </a:lvl2pPr>
            <a:lvl3pPr marL="1543050" lvl="2" indent="-342900">
              <a:spcBef>
                <a:spcPts val="1800"/>
              </a:spcBef>
              <a:spcAft>
                <a:spcPts val="0"/>
              </a:spcAft>
              <a:buSzPts val="1200"/>
              <a:buChar char="■"/>
              <a:defRPr sz="1350"/>
            </a:lvl3pPr>
            <a:lvl4pPr marL="2057400" lvl="3" indent="-342900">
              <a:spcBef>
                <a:spcPts val="1800"/>
              </a:spcBef>
              <a:spcAft>
                <a:spcPts val="0"/>
              </a:spcAft>
              <a:buSzPts val="1200"/>
              <a:buChar char="●"/>
              <a:defRPr sz="1350"/>
            </a:lvl4pPr>
            <a:lvl5pPr marL="2571750" lvl="4" indent="-342900">
              <a:spcBef>
                <a:spcPts val="1800"/>
              </a:spcBef>
              <a:spcAft>
                <a:spcPts val="0"/>
              </a:spcAft>
              <a:buSzPts val="1200"/>
              <a:buChar char="○"/>
              <a:defRPr sz="1350"/>
            </a:lvl5pPr>
            <a:lvl6pPr marL="3086100" lvl="5" indent="-342900">
              <a:spcBef>
                <a:spcPts val="1800"/>
              </a:spcBef>
              <a:spcAft>
                <a:spcPts val="0"/>
              </a:spcAft>
              <a:buSzPts val="1200"/>
              <a:buChar char="■"/>
              <a:defRPr sz="1350"/>
            </a:lvl6pPr>
            <a:lvl7pPr marL="3600450" lvl="6" indent="-342900">
              <a:spcBef>
                <a:spcPts val="1800"/>
              </a:spcBef>
              <a:spcAft>
                <a:spcPts val="0"/>
              </a:spcAft>
              <a:buSzPts val="1200"/>
              <a:buChar char="●"/>
              <a:defRPr sz="1350"/>
            </a:lvl7pPr>
            <a:lvl8pPr marL="4114800" lvl="7" indent="-342900">
              <a:spcBef>
                <a:spcPts val="1800"/>
              </a:spcBef>
              <a:spcAft>
                <a:spcPts val="0"/>
              </a:spcAft>
              <a:buSzPts val="1200"/>
              <a:buChar char="○"/>
              <a:defRPr sz="1350"/>
            </a:lvl8pPr>
            <a:lvl9pPr marL="4629150" lvl="8" indent="-342900">
              <a:spcBef>
                <a:spcPts val="1800"/>
              </a:spcBef>
              <a:spcAft>
                <a:spcPts val="1800"/>
              </a:spcAft>
              <a:buSzPts val="1200"/>
              <a:buChar char="■"/>
              <a:defRPr sz="135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9531515" y="6217623"/>
            <a:ext cx="617288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45709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9"/>
          <p:cNvCxnSpPr/>
          <p:nvPr/>
        </p:nvCxnSpPr>
        <p:spPr>
          <a:xfrm>
            <a:off x="5658384" y="5994000"/>
            <a:ext cx="526838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98688" y="1607767"/>
            <a:ext cx="455085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25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98688" y="3692001"/>
            <a:ext cx="455085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363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5556938" y="965600"/>
            <a:ext cx="4316625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514350" lvl="0" indent="-38576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028700" lvl="1" indent="-357188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543050" lvl="2" indent="-357188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057400" lvl="3" indent="-357188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571750" lvl="4" indent="-357188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086100" lvl="5" indent="-357188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600450" lvl="6" indent="-357188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114800" lvl="7" indent="-357188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629150" lvl="8" indent="-357188">
              <a:spcBef>
                <a:spcPts val="1800"/>
              </a:spcBef>
              <a:spcAft>
                <a:spcPts val="18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9531515" y="6217623"/>
            <a:ext cx="617288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1000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06438" y="365125"/>
            <a:ext cx="8874125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06438" y="1825625"/>
            <a:ext cx="8874125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6438" y="6356350"/>
            <a:ext cx="2314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898989"/>
                </a:solidFill>
              </a:defRPr>
            </a:lvl1pPr>
          </a:lstStyle>
          <a:p>
            <a:fld id="{B21F9BC8-E4BD-4D0E-B6BB-10632FDE541F}" type="datetimeFigureOut">
              <a:rPr lang="en-US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363" y="6356350"/>
            <a:ext cx="347186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988" y="6356350"/>
            <a:ext cx="2314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898989"/>
                </a:solidFill>
              </a:defRPr>
            </a:lvl1pPr>
          </a:lstStyle>
          <a:p>
            <a:fld id="{96B54179-4137-4CBB-A5F3-054D60058EF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5" r:id="rId12"/>
    <p:sldLayoutId id="2147483826" r:id="rId13"/>
    <p:sldLayoutId id="2147483827" r:id="rId14"/>
    <p:sldLayoutId id="2147483828" r:id="rId15"/>
  </p:sldLayoutIdLst>
  <p:hf hdr="0" ftr="0" dt="0"/>
  <p:txStyles>
    <p:titleStyle>
      <a:lvl1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2pPr>
      <a:lvl3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3pPr>
      <a:lvl4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4pPr>
      <a:lvl5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5pPr>
      <a:lvl6pPr marL="4572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6pPr>
      <a:lvl7pPr marL="9144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7pPr>
      <a:lvl8pPr marL="13716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8pPr>
      <a:lvl9pPr marL="18288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9pPr>
    </p:titleStyle>
    <p:bodyStyle>
      <a:lvl1pPr marL="192088" indent="-192088" algn="l" defTabSz="771525" rtl="0" eaLnBrk="0" fontAlgn="base" hangingPunct="0">
        <a:lnSpc>
          <a:spcPct val="90000"/>
        </a:lnSpc>
        <a:spcBef>
          <a:spcPts val="850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63613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49375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35138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YO_jab_esuFRV4b17AJtAw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as/stanford_dl_ex/blob/master/ex1/housing.data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kaggle.com/c/house-prices-advanced-regression-techniques/overview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ufldl.stanford.edu/tutorial/supervised/LinearRegression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ctrTitle"/>
          </p:nvPr>
        </p:nvSpPr>
        <p:spPr>
          <a:xfrm>
            <a:off x="574256" y="1950244"/>
            <a:ext cx="9138488" cy="1787063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bg1"/>
                </a:solidFill>
              </a:rPr>
              <a:t>Bài toán Hồi quy </a:t>
            </a:r>
            <a:endParaRPr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bg1"/>
                </a:solidFill>
              </a:rPr>
              <a:t>&amp; Mô hình Linear Regression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3" name="Google Shape;113;p25"/>
          <p:cNvSpPr txBox="1">
            <a:spLocks noGrp="1"/>
          </p:cNvSpPr>
          <p:nvPr>
            <p:ph type="sldNum" sz="quarter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78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438" y="2924944"/>
            <a:ext cx="4698561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6"/>
          <p:cNvSpPr/>
          <p:nvPr/>
        </p:nvSpPr>
        <p:spPr>
          <a:xfrm>
            <a:off x="7378742" y="3267837"/>
            <a:ext cx="2228238" cy="2114680"/>
          </a:xfrm>
          <a:prstGeom prst="ellipse">
            <a:avLst/>
          </a:prstGeom>
          <a:noFill/>
          <a:ln w="38100" cap="flat" cmpd="sng">
            <a:solidFill>
              <a:srgbClr val="4BA1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350663" y="490299"/>
            <a:ext cx="9585675" cy="644288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bg1"/>
                </a:solidFill>
              </a:rPr>
              <a:t>Nội dung chính</a:t>
            </a:r>
            <a:endParaRPr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26"/>
          <p:cNvSpPr txBox="1">
            <a:spLocks noGrp="1"/>
          </p:cNvSpPr>
          <p:nvPr>
            <p:ph type="body" idx="1"/>
          </p:nvPr>
        </p:nvSpPr>
        <p:spPr>
          <a:xfrm>
            <a:off x="350663" y="1268760"/>
            <a:ext cx="5776650" cy="4407006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" dirty="0"/>
              <a:t>Giới thiệu bài toán Hồi quy (Regression) </a:t>
            </a:r>
            <a:endParaRPr dirty="0"/>
          </a:p>
          <a:p>
            <a:pPr>
              <a:lnSpc>
                <a:spcPct val="150000"/>
              </a:lnSpc>
            </a:pPr>
            <a:r>
              <a:rPr lang="en" dirty="0"/>
              <a:t>Linear regression - một  </a:t>
            </a:r>
            <a:r>
              <a:rPr lang="en" b="1" dirty="0"/>
              <a:t>Mô hình tuyến tính</a:t>
            </a:r>
            <a:r>
              <a:rPr lang="en" b="1" i="1" dirty="0"/>
              <a:t> </a:t>
            </a:r>
            <a:r>
              <a:rPr lang="en" dirty="0"/>
              <a:t>cho bài toán Hồi quy</a:t>
            </a:r>
            <a:endParaRPr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b="1" dirty="0"/>
              <a:t>Hàm mục tiêu</a:t>
            </a:r>
            <a:r>
              <a:rPr lang="en" dirty="0"/>
              <a:t> (objective/cost/loss function)</a:t>
            </a:r>
            <a:endParaRPr dirty="0"/>
          </a:p>
          <a:p>
            <a:pPr>
              <a:lnSpc>
                <a:spcPct val="150000"/>
              </a:lnSpc>
            </a:pPr>
            <a:r>
              <a:rPr lang="en" dirty="0"/>
              <a:t>Thuật toán học - Learning algorithm</a:t>
            </a:r>
            <a:endParaRPr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Normal equation (closed-form)</a:t>
            </a:r>
            <a:endParaRPr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b="1" dirty="0"/>
              <a:t>Thuật toán Gradient descent</a:t>
            </a:r>
            <a:r>
              <a:rPr lang="en" dirty="0"/>
              <a:t> (iterative)</a:t>
            </a:r>
            <a:endParaRPr dirty="0"/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dirty="0"/>
          </a:p>
          <a:p>
            <a:pPr marL="0" indent="0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endParaRPr dirty="0"/>
          </a:p>
        </p:txBody>
      </p:sp>
      <p:sp>
        <p:nvSpPr>
          <p:cNvPr id="122" name="Google Shape;122;p26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3057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title"/>
          </p:nvPr>
        </p:nvSpPr>
        <p:spPr>
          <a:xfrm>
            <a:off x="350663" y="483222"/>
            <a:ext cx="9585675" cy="644288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Math n</a:t>
            </a:r>
            <a:r>
              <a:rPr lang="en" dirty="0">
                <a:solidFill>
                  <a:schemeClr val="bg1"/>
                </a:solidFill>
                <a:sym typeface="Proxima Nova"/>
              </a:rPr>
              <a:t>otation</a:t>
            </a:r>
            <a:endParaRPr dirty="0">
              <a:solidFill>
                <a:schemeClr val="bg1"/>
              </a:solidFill>
              <a:sym typeface="Proxima Nova"/>
            </a:endParaRPr>
          </a:p>
        </p:txBody>
      </p:sp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>
            <a:off x="350663" y="1700808"/>
            <a:ext cx="9585675" cy="3974958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i="1" dirty="0">
                <a:solidFill>
                  <a:srgbClr val="000000"/>
                </a:solidFill>
              </a:rPr>
              <a:t> </a:t>
            </a:r>
            <a:r>
              <a:rPr lang="en" dirty="0"/>
              <a:t>: số lượng mẫu dữ liệu trong tập huấn luyện </a:t>
            </a:r>
            <a:endParaRPr dirty="0"/>
          </a:p>
          <a:p>
            <a:pPr>
              <a:lnSpc>
                <a:spcPct val="115000"/>
              </a:lnSpc>
            </a:pPr>
            <a:r>
              <a:rPr lang="en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i="1" dirty="0">
                <a:solidFill>
                  <a:srgbClr val="000000"/>
                </a:solidFill>
              </a:rPr>
              <a:t> </a:t>
            </a:r>
            <a:r>
              <a:rPr lang="en" dirty="0"/>
              <a:t>: số chiều của input vector </a:t>
            </a:r>
            <a:endParaRPr dirty="0"/>
          </a:p>
          <a:p>
            <a:pPr>
              <a:lnSpc>
                <a:spcPct val="115000"/>
              </a:lnSpc>
            </a:pPr>
            <a:r>
              <a:rPr lang="en" dirty="0"/>
              <a:t>      : input vector (</a:t>
            </a:r>
            <a:r>
              <a:rPr lang="en" b="1" i="1" dirty="0"/>
              <a:t>feature </a:t>
            </a:r>
            <a:r>
              <a:rPr lang="en" i="1" dirty="0"/>
              <a:t>vector</a:t>
            </a:r>
            <a:r>
              <a:rPr lang="en" dirty="0"/>
              <a:t>)</a:t>
            </a:r>
            <a:endParaRPr dirty="0"/>
          </a:p>
          <a:p>
            <a:pPr>
              <a:lnSpc>
                <a:spcPct val="115000"/>
              </a:lnSpc>
            </a:pP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dirty="0"/>
              <a:t> : ma trận với mỗi hàng là input vector</a:t>
            </a:r>
            <a:endParaRPr dirty="0"/>
          </a:p>
          <a:p>
            <a:pPr>
              <a:lnSpc>
                <a:spcPct val="115000"/>
              </a:lnSpc>
            </a:pP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dirty="0"/>
              <a:t> : vector chứa các giá trị output tương ứng với các input vectors</a:t>
            </a:r>
            <a:endParaRPr dirty="0"/>
          </a:p>
          <a:p>
            <a:pPr>
              <a:lnSpc>
                <a:spcPct val="115000"/>
              </a:lnSpc>
            </a:pPr>
            <a:r>
              <a:rPr lang="en" dirty="0"/>
              <a:t>𝜽 : vector trọng số (</a:t>
            </a:r>
            <a:r>
              <a:rPr lang="en" b="1" i="1" dirty="0"/>
              <a:t>model parameter / weight</a:t>
            </a:r>
            <a:r>
              <a:rPr lang="en" dirty="0"/>
              <a:t>)</a:t>
            </a:r>
            <a:endParaRPr dirty="0"/>
          </a:p>
          <a:p>
            <a:pPr>
              <a:lnSpc>
                <a:spcPct val="115000"/>
              </a:lnSpc>
            </a:pPr>
            <a:r>
              <a:rPr lang="en" dirty="0"/>
              <a:t>𝐉 : cost function</a:t>
            </a:r>
            <a:endParaRPr dirty="0"/>
          </a:p>
          <a:p>
            <a:r>
              <a:rPr lang="en" dirty="0"/>
              <a:t>∇𝐉 : vector gradient của 𝐉</a:t>
            </a:r>
            <a:endParaRPr dirty="0"/>
          </a:p>
          <a:p>
            <a:r>
              <a:rPr lang="en" i="1" dirty="0"/>
              <a:t>  </a:t>
            </a:r>
            <a:r>
              <a:rPr lang="en" dirty="0"/>
              <a:t>: learning rate (tham số phụ trong thuật toán học Gradient Descent)</a:t>
            </a:r>
            <a:endParaRPr dirty="0"/>
          </a:p>
          <a:p>
            <a:pPr marL="0" indent="0">
              <a:lnSpc>
                <a:spcPct val="115000"/>
              </a:lnSpc>
              <a:buNone/>
            </a:pPr>
            <a:endParaRPr baseline="30000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endParaRPr baseline="30000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endParaRPr dirty="0"/>
          </a:p>
          <a:p>
            <a:pPr marL="0" indent="0">
              <a:lnSpc>
                <a:spcPct val="115000"/>
              </a:lnSpc>
              <a:buClr>
                <a:schemeClr val="dk1"/>
              </a:buClr>
              <a:buSzPts val="1100"/>
              <a:buNone/>
            </a:pPr>
            <a:endParaRPr dirty="0"/>
          </a:p>
        </p:txBody>
      </p:sp>
      <p:sp>
        <p:nvSpPr>
          <p:cNvPr id="130" name="Google Shape;130;p27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3</a:t>
            </a:fld>
            <a:endParaRPr/>
          </a:p>
        </p:txBody>
      </p:sp>
      <p:pic>
        <p:nvPicPr>
          <p:cNvPr id="131" name="Google Shape;131;p27" descr="Screenshot from 2017-09-07 15-25-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584" y="1937012"/>
            <a:ext cx="2734003" cy="334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7" descr="Screenshot from 2017-09-07 15-26-44.png"/>
          <p:cNvPicPr preferRelativeResize="0"/>
          <p:nvPr/>
        </p:nvPicPr>
        <p:blipFill rotWithShape="1">
          <a:blip r:embed="rId4">
            <a:alphaModFix/>
          </a:blip>
          <a:srcRect r="58704"/>
          <a:stretch/>
        </p:blipFill>
        <p:spPr>
          <a:xfrm>
            <a:off x="933689" y="2641080"/>
            <a:ext cx="463191" cy="294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7" descr="Screenshot from 2017-09-07 15-26-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467" y="2641086"/>
            <a:ext cx="1121681" cy="294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7" descr="Screenshot from 2017-09-10 11-29-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028" y="5013176"/>
            <a:ext cx="210263" cy="1812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3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>
            <a:spLocks noGrp="1"/>
          </p:cNvSpPr>
          <p:nvPr>
            <p:ph type="title"/>
          </p:nvPr>
        </p:nvSpPr>
        <p:spPr>
          <a:xfrm>
            <a:off x="574256" y="2850356"/>
            <a:ext cx="9138488" cy="8761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"/>
              <a:t>Giới thiệu bài toán Hồi quy </a:t>
            </a:r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>
                <a:solidFill>
                  <a:schemeClr val="lt1"/>
                </a:solidFill>
              </a:rPr>
              <a:pPr>
                <a:spcBef>
                  <a:spcPts val="0"/>
                </a:spcBef>
                <a:spcAft>
                  <a:spcPts val="0"/>
                </a:spcAft>
              </a:pPr>
              <a:t>4</a:t>
            </a:fld>
            <a:endParaRPr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0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>
            <a:spLocks noGrp="1"/>
          </p:cNvSpPr>
          <p:nvPr>
            <p:ph type="title"/>
          </p:nvPr>
        </p:nvSpPr>
        <p:spPr>
          <a:xfrm>
            <a:off x="254484" y="535820"/>
            <a:ext cx="9585675" cy="1294668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bg1"/>
                </a:solidFill>
              </a:rPr>
              <a:t>Giới thiệu bài toán Hồi quy</a:t>
            </a:r>
            <a:endParaRPr>
              <a:solidFill>
                <a:schemeClr val="bg1"/>
              </a:solidFill>
            </a:endParaRPr>
          </a:p>
          <a:p>
            <a:pPr>
              <a:buClr>
                <a:schemeClr val="dk1"/>
              </a:buClr>
              <a:buSzPts val="1100"/>
            </a:pPr>
            <a:br>
              <a:rPr lang="en" sz="2400">
                <a:solidFill>
                  <a:srgbClr val="6AA84F"/>
                </a:solidFill>
              </a:rPr>
            </a:br>
            <a:r>
              <a:rPr lang="en" sz="2400">
                <a:solidFill>
                  <a:srgbClr val="6AA84F"/>
                </a:solidFill>
              </a:rPr>
              <a:t>Nhắc lại &amp; Định nghĩa</a:t>
            </a:r>
            <a:endParaRPr sz="2400">
              <a:solidFill>
                <a:srgbClr val="6AA84F"/>
              </a:solidFill>
            </a:endParaRPr>
          </a:p>
          <a:p>
            <a:pPr>
              <a:buClr>
                <a:schemeClr val="dk1"/>
              </a:buClr>
              <a:buSzPts val="1100"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145" name="Google Shape;145;p29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5</a:t>
            </a:fld>
            <a:endParaRPr/>
          </a:p>
        </p:txBody>
      </p:sp>
      <p:grpSp>
        <p:nvGrpSpPr>
          <p:cNvPr id="146" name="Google Shape;146;p29"/>
          <p:cNvGrpSpPr/>
          <p:nvPr/>
        </p:nvGrpSpPr>
        <p:grpSpPr>
          <a:xfrm>
            <a:off x="991238" y="1980534"/>
            <a:ext cx="8446920" cy="3613894"/>
            <a:chOff x="652500" y="1436625"/>
            <a:chExt cx="7508373" cy="3212350"/>
          </a:xfrm>
        </p:grpSpPr>
        <p:sp>
          <p:nvSpPr>
            <p:cNvPr id="147" name="Google Shape;147;p29"/>
            <p:cNvSpPr/>
            <p:nvPr/>
          </p:nvSpPr>
          <p:spPr>
            <a:xfrm>
              <a:off x="3602050" y="2938450"/>
              <a:ext cx="1626900" cy="1488000"/>
            </a:xfrm>
            <a:prstGeom prst="ellipse">
              <a:avLst/>
            </a:prstGeom>
            <a:noFill/>
            <a:ln w="9525" cap="flat" cmpd="sng">
              <a:solidFill>
                <a:srgbClr val="4BA1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2853" tIns="102853" rIns="102853" bIns="102853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/>
                <a:t>Thuật toán học</a:t>
              </a:r>
              <a:endParaRPr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b="1" i="1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1125" i="1"/>
                <a:t>(vd. SGD)</a:t>
              </a:r>
              <a:endParaRPr sz="1125" i="1"/>
            </a:p>
          </p:txBody>
        </p:sp>
        <p:sp>
          <p:nvSpPr>
            <p:cNvPr id="148" name="Google Shape;148;p29"/>
            <p:cNvSpPr/>
            <p:nvPr/>
          </p:nvSpPr>
          <p:spPr>
            <a:xfrm>
              <a:off x="652500" y="3828775"/>
              <a:ext cx="2328000" cy="820200"/>
            </a:xfrm>
            <a:prstGeom prst="rect">
              <a:avLst/>
            </a:prstGeom>
            <a:noFill/>
            <a:ln w="9525" cap="flat" cmpd="sng">
              <a:solidFill>
                <a:srgbClr val="4BA1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2853" tIns="102853" rIns="102853" bIns="102853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/>
                <a:t>Tập giả thiết</a:t>
              </a:r>
              <a:endParaRPr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b="1" i="1"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b="1" i="1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1125" i="1"/>
                <a:t>(thiết kế cấu trúc / kiến trúc mô hình)</a:t>
              </a:r>
              <a:endParaRPr sz="1125" i="1"/>
            </a:p>
          </p:txBody>
        </p:sp>
        <p:grpSp>
          <p:nvGrpSpPr>
            <p:cNvPr id="149" name="Google Shape;149;p29"/>
            <p:cNvGrpSpPr/>
            <p:nvPr/>
          </p:nvGrpSpPr>
          <p:grpSpPr>
            <a:xfrm>
              <a:off x="652500" y="1436625"/>
              <a:ext cx="2328000" cy="820200"/>
              <a:chOff x="652500" y="1208025"/>
              <a:chExt cx="2328000" cy="820200"/>
            </a:xfrm>
          </p:grpSpPr>
          <p:sp>
            <p:nvSpPr>
              <p:cNvPr id="150" name="Google Shape;150;p29"/>
              <p:cNvSpPr/>
              <p:nvPr/>
            </p:nvSpPr>
            <p:spPr>
              <a:xfrm>
                <a:off x="652500" y="1208025"/>
                <a:ext cx="2328000" cy="820200"/>
              </a:xfrm>
              <a:prstGeom prst="rect">
                <a:avLst/>
              </a:prstGeom>
              <a:noFill/>
              <a:ln w="9525" cap="flat" cmpd="sng">
                <a:solidFill>
                  <a:srgbClr val="E691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2853" tIns="102853" rIns="102853" bIns="102853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/>
                  <a:t>(chưa biết, cần tìm)</a:t>
                </a:r>
                <a:endParaRPr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</p:txBody>
          </p:sp>
          <p:pic>
            <p:nvPicPr>
              <p:cNvPr id="151" name="Google Shape;151;p29" descr="Screenshot from 2017-08-30 14-04-13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247225" y="1414955"/>
                <a:ext cx="1138550" cy="25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2" name="Google Shape;152;p29"/>
            <p:cNvGrpSpPr/>
            <p:nvPr/>
          </p:nvGrpSpPr>
          <p:grpSpPr>
            <a:xfrm>
              <a:off x="652500" y="2656325"/>
              <a:ext cx="2328000" cy="820200"/>
              <a:chOff x="652500" y="2656325"/>
              <a:chExt cx="2328000" cy="820200"/>
            </a:xfrm>
          </p:grpSpPr>
          <p:sp>
            <p:nvSpPr>
              <p:cNvPr id="153" name="Google Shape;153;p29"/>
              <p:cNvSpPr/>
              <p:nvPr/>
            </p:nvSpPr>
            <p:spPr>
              <a:xfrm>
                <a:off x="652500" y="2656325"/>
                <a:ext cx="2328000" cy="820200"/>
              </a:xfrm>
              <a:prstGeom prst="rect">
                <a:avLst/>
              </a:prstGeom>
              <a:noFill/>
              <a:ln w="9525" cap="flat" cmpd="sng">
                <a:solidFill>
                  <a:srgbClr val="4BA1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2853" tIns="102853" rIns="102853" bIns="102853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/>
                  <a:t>Dữ liệu huấn luyện</a:t>
                </a:r>
                <a:endParaRPr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</p:txBody>
          </p:sp>
          <p:pic>
            <p:nvPicPr>
              <p:cNvPr id="154" name="Google Shape;154;p29" descr="Screenshot from 2017-08-30 14-30-18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92688" y="3062650"/>
                <a:ext cx="2247625" cy="2704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5" name="Google Shape;155;p29"/>
            <p:cNvGrpSpPr/>
            <p:nvPr/>
          </p:nvGrpSpPr>
          <p:grpSpPr>
            <a:xfrm>
              <a:off x="5832873" y="3272350"/>
              <a:ext cx="2328000" cy="820200"/>
              <a:chOff x="5982775" y="3272350"/>
              <a:chExt cx="2328000" cy="820200"/>
            </a:xfrm>
          </p:grpSpPr>
          <p:sp>
            <p:nvSpPr>
              <p:cNvPr id="156" name="Google Shape;156;p29"/>
              <p:cNvSpPr/>
              <p:nvPr/>
            </p:nvSpPr>
            <p:spPr>
              <a:xfrm>
                <a:off x="5982775" y="3272350"/>
                <a:ext cx="2328000" cy="820200"/>
              </a:xfrm>
              <a:prstGeom prst="rect">
                <a:avLst/>
              </a:prstGeom>
              <a:noFill/>
              <a:ln w="9525" cap="flat" cmpd="sng">
                <a:solidFill>
                  <a:srgbClr val="4BA1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2853" tIns="102853" rIns="102853" bIns="102853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/>
                  <a:t>Hàm giả thiết được học</a:t>
                </a:r>
                <a:endParaRPr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/>
              </a:p>
            </p:txBody>
          </p:sp>
          <p:pic>
            <p:nvPicPr>
              <p:cNvPr id="157" name="Google Shape;157;p29" descr="Screenshot from 2017-08-30 14-32-47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820375" y="3662475"/>
                <a:ext cx="652775" cy="296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58" name="Google Shape;158;p29"/>
            <p:cNvCxnSpPr>
              <a:stCxn id="153" idx="3"/>
            </p:cNvCxnSpPr>
            <p:nvPr/>
          </p:nvCxnSpPr>
          <p:spPr>
            <a:xfrm>
              <a:off x="2980500" y="3066425"/>
              <a:ext cx="670200" cy="3990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4BA17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9" name="Google Shape;159;p29"/>
            <p:cNvCxnSpPr>
              <a:stCxn id="148" idx="3"/>
            </p:cNvCxnSpPr>
            <p:nvPr/>
          </p:nvCxnSpPr>
          <p:spPr>
            <a:xfrm rot="10800000" flipH="1">
              <a:off x="2980500" y="3897475"/>
              <a:ext cx="661200" cy="3414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4BA17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0" name="Google Shape;160;p29"/>
            <p:cNvCxnSpPr>
              <a:stCxn id="147" idx="6"/>
              <a:endCxn id="156" idx="1"/>
            </p:cNvCxnSpPr>
            <p:nvPr/>
          </p:nvCxnSpPr>
          <p:spPr>
            <a:xfrm>
              <a:off x="5228950" y="3682450"/>
              <a:ext cx="603900" cy="0"/>
            </a:xfrm>
            <a:prstGeom prst="straightConnector1">
              <a:avLst/>
            </a:prstGeom>
            <a:noFill/>
            <a:ln w="9525" cap="flat" cmpd="sng">
              <a:solidFill>
                <a:srgbClr val="4BA17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61" name="Google Shape;161;p29"/>
          <p:cNvSpPr txBox="1"/>
          <p:nvPr/>
        </p:nvSpPr>
        <p:spPr>
          <a:xfrm>
            <a:off x="4583025" y="1980534"/>
            <a:ext cx="5565713" cy="119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 marL="514350" indent="-357188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Nếu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 là liên tục, bài toán được gọi là </a:t>
            </a:r>
            <a:r>
              <a:rPr lang="en" b="1" i="1">
                <a:solidFill>
                  <a:srgbClr val="E69138"/>
                </a:solidFill>
              </a:rPr>
              <a:t>Regression</a:t>
            </a:r>
            <a:endParaRPr b="1" i="1">
              <a:solidFill>
                <a:srgbClr val="E69138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514350" indent="-357188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400"/>
              <a:buChar char="●"/>
            </a:pPr>
            <a:r>
              <a:rPr lang="en">
                <a:solidFill>
                  <a:srgbClr val="202729"/>
                </a:solidFill>
              </a:rPr>
              <a:t>Nếu </a:t>
            </a:r>
            <a:r>
              <a:rPr lang="en" i="1">
                <a:solidFill>
                  <a:srgbClr val="20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>
                <a:solidFill>
                  <a:srgbClr val="202729"/>
                </a:solidFill>
              </a:rPr>
              <a:t>  là rời rạc, bài toán được gọi là </a:t>
            </a:r>
            <a:r>
              <a:rPr lang="en" b="1" i="1">
                <a:solidFill>
                  <a:srgbClr val="E69138"/>
                </a:solidFill>
              </a:rPr>
              <a:t>Classification</a:t>
            </a:r>
            <a:endParaRPr b="1" i="1">
              <a:solidFill>
                <a:srgbClr val="E69138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38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350662" y="1252125"/>
            <a:ext cx="9585675" cy="644288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2800">
                <a:solidFill>
                  <a:srgbClr val="6AA84F"/>
                </a:solidFill>
              </a:rPr>
              <a:t>Ví dụ</a:t>
            </a:r>
            <a:endParaRPr sz="2800">
              <a:solidFill>
                <a:srgbClr val="6AA84F"/>
              </a:solidFill>
            </a:endParaRPr>
          </a:p>
          <a:p>
            <a:pPr>
              <a:buClr>
                <a:schemeClr val="dk1"/>
              </a:buClr>
              <a:buSzPts val="1100"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167" name="Google Shape;167;p30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6</a:t>
            </a:fld>
            <a:endParaRPr/>
          </a:p>
        </p:txBody>
      </p:sp>
      <p:sp>
        <p:nvSpPr>
          <p:cNvPr id="168" name="Google Shape;168;p30"/>
          <p:cNvSpPr txBox="1"/>
          <p:nvPr/>
        </p:nvSpPr>
        <p:spPr>
          <a:xfrm>
            <a:off x="280800" y="1896413"/>
            <a:ext cx="9585675" cy="38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r>
              <a:rPr lang="en" sz="2025">
                <a:solidFill>
                  <a:schemeClr val="dk1"/>
                </a:solidFill>
              </a:rPr>
              <a:t>Given new values 𝐱</a:t>
            </a:r>
            <a:r>
              <a:rPr lang="en" sz="2025" baseline="-25000">
                <a:solidFill>
                  <a:schemeClr val="dk1"/>
                </a:solidFill>
              </a:rPr>
              <a:t>new</a:t>
            </a:r>
            <a:r>
              <a:rPr lang="en" sz="2025">
                <a:solidFill>
                  <a:schemeClr val="dk1"/>
                </a:solidFill>
              </a:rPr>
              <a:t> = [𝑥₁, 𝑥₂]. Estimate </a:t>
            </a:r>
            <a:r>
              <a:rPr lang="en" sz="2025" i="1">
                <a:solidFill>
                  <a:schemeClr val="dk1"/>
                </a:solidFill>
              </a:rPr>
              <a:t>𝐲</a:t>
            </a:r>
            <a:r>
              <a:rPr lang="en" sz="2025" i="1" baseline="-25000">
                <a:solidFill>
                  <a:schemeClr val="dk1"/>
                </a:solidFill>
              </a:rPr>
              <a:t>new</a:t>
            </a:r>
            <a:r>
              <a:rPr lang="en" sz="2025">
                <a:solidFill>
                  <a:schemeClr val="dk1"/>
                </a:solidFill>
              </a:rPr>
              <a:t>?  </a:t>
            </a:r>
            <a:endParaRPr sz="2025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</a:pPr>
            <a:r>
              <a:rPr lang="en" sz="2025">
                <a:solidFill>
                  <a:schemeClr val="dk1"/>
                </a:solidFill>
              </a:rPr>
              <a:t>Our goal is to find </a:t>
            </a:r>
            <a:r>
              <a:rPr lang="en" sz="2025" b="1">
                <a:solidFill>
                  <a:schemeClr val="dk1"/>
                </a:solidFill>
              </a:rPr>
              <a:t>h</a:t>
            </a:r>
            <a:r>
              <a:rPr lang="en" sz="2025">
                <a:solidFill>
                  <a:schemeClr val="dk1"/>
                </a:solidFill>
              </a:rPr>
              <a:t> - </a:t>
            </a:r>
            <a:r>
              <a:rPr lang="en" sz="2025" u="sng">
                <a:solidFill>
                  <a:schemeClr val="dk1"/>
                </a:solidFill>
              </a:rPr>
              <a:t>unknown</a:t>
            </a:r>
            <a:r>
              <a:rPr lang="en" sz="2025">
                <a:solidFill>
                  <a:schemeClr val="dk1"/>
                </a:solidFill>
              </a:rPr>
              <a:t> hypothesis function. After that: 𝐲</a:t>
            </a:r>
            <a:r>
              <a:rPr lang="en" sz="2025" baseline="-25000">
                <a:solidFill>
                  <a:schemeClr val="dk1"/>
                </a:solidFill>
              </a:rPr>
              <a:t>new</a:t>
            </a:r>
            <a:r>
              <a:rPr lang="en" sz="2025">
                <a:solidFill>
                  <a:schemeClr val="dk1"/>
                </a:solidFill>
              </a:rPr>
              <a:t> = h(𝐱</a:t>
            </a:r>
            <a:r>
              <a:rPr lang="en" sz="2025" baseline="-25000">
                <a:solidFill>
                  <a:schemeClr val="dk1"/>
                </a:solidFill>
              </a:rPr>
              <a:t>new</a:t>
            </a:r>
            <a:r>
              <a:rPr lang="en" sz="2025">
                <a:solidFill>
                  <a:schemeClr val="dk1"/>
                </a:solidFill>
              </a:rPr>
              <a:t>)</a:t>
            </a:r>
            <a:endParaRPr sz="2025">
              <a:solidFill>
                <a:schemeClr val="dk1"/>
              </a:solidFill>
            </a:endParaRPr>
          </a:p>
        </p:txBody>
      </p:sp>
      <p:graphicFrame>
        <p:nvGraphicFramePr>
          <p:cNvPr id="169" name="Google Shape;169;p30"/>
          <p:cNvGraphicFramePr/>
          <p:nvPr/>
        </p:nvGraphicFramePr>
        <p:xfrm>
          <a:off x="1071563" y="2073282"/>
          <a:ext cx="8143875" cy="25715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Area </a:t>
                      </a:r>
                      <a:r>
                        <a:rPr lang="en" sz="2000"/>
                        <a:t>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𝑥₁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Nr of bedrooms </a:t>
                      </a:r>
                      <a:r>
                        <a:rPr lang="en" sz="2000"/>
                        <a:t>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𝑥₂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Price -</a:t>
                      </a:r>
                      <a:r>
                        <a:rPr lang="en" sz="2000"/>
                        <a:t> y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210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400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160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330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240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369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141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232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CB5960A-F714-5346-9D16-4AC99DAE707F}"/>
              </a:ext>
            </a:extLst>
          </p:cNvPr>
          <p:cNvSpPr/>
          <p:nvPr/>
        </p:nvSpPr>
        <p:spPr>
          <a:xfrm>
            <a:off x="375243" y="476672"/>
            <a:ext cx="9156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2800">
                <a:solidFill>
                  <a:schemeClr val="bg1"/>
                </a:solidFill>
              </a:rPr>
              <a:t>Giới thiệu bài toán Hồi quy</a:t>
            </a:r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433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50663" y="476672"/>
            <a:ext cx="9585675" cy="12040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bg1"/>
                </a:solidFill>
              </a:rPr>
              <a:t>Giới thiệu bài toán Hồi quy</a:t>
            </a:r>
            <a:endParaRPr>
              <a:solidFill>
                <a:schemeClr val="bg1"/>
              </a:solidFill>
            </a:endParaRPr>
          </a:p>
          <a:p>
            <a:pPr>
              <a:buClr>
                <a:schemeClr val="dk1"/>
              </a:buClr>
              <a:buSzPts val="1100"/>
            </a:pPr>
            <a:br>
              <a:rPr lang="en" sz="2400">
                <a:solidFill>
                  <a:srgbClr val="6AA84F"/>
                </a:solidFill>
              </a:rPr>
            </a:br>
            <a:r>
              <a:rPr lang="en" sz="2400">
                <a:solidFill>
                  <a:srgbClr val="6AA84F"/>
                </a:solidFill>
              </a:rPr>
              <a:t>Ví dụ</a:t>
            </a:r>
            <a:endParaRPr sz="2400">
              <a:solidFill>
                <a:srgbClr val="6AA84F"/>
              </a:solidFill>
            </a:endParaRPr>
          </a:p>
          <a:p>
            <a:pPr>
              <a:buClr>
                <a:schemeClr val="dk1"/>
              </a:buClr>
              <a:buSzPts val="1100"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350663" y="5200509"/>
            <a:ext cx="9585675" cy="4752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"/>
              <a:t>How do you encode x</a:t>
            </a:r>
            <a:r>
              <a:rPr lang="en" baseline="-25000"/>
              <a:t>3</a:t>
            </a:r>
            <a:r>
              <a:rPr lang="en"/>
              <a:t>?</a:t>
            </a:r>
            <a:br>
              <a:rPr lang="en"/>
            </a:br>
            <a:r>
              <a:rPr lang="en"/>
              <a:t>What else need to be done to feature vector </a:t>
            </a:r>
            <a:r>
              <a:rPr lang="en" b="1"/>
              <a:t>x</a:t>
            </a:r>
            <a:r>
              <a:rPr lang="en"/>
              <a:t>?</a:t>
            </a:r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7</a:t>
            </a:fld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280800" y="5200509"/>
            <a:ext cx="9585675" cy="53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</a:pPr>
            <a:endParaRPr sz="2025">
              <a:solidFill>
                <a:schemeClr val="dk1"/>
              </a:solidFill>
            </a:endParaRPr>
          </a:p>
        </p:txBody>
      </p:sp>
      <p:graphicFrame>
        <p:nvGraphicFramePr>
          <p:cNvPr id="177" name="Google Shape;177;p31"/>
          <p:cNvGraphicFramePr/>
          <p:nvPr/>
        </p:nvGraphicFramePr>
        <p:xfrm>
          <a:off x="1071563" y="2073282"/>
          <a:ext cx="8143876" cy="2880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35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Area </a:t>
                      </a:r>
                      <a:r>
                        <a:rPr lang="en" sz="2000"/>
                        <a:t>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𝑥₁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Nr of bedrooms </a:t>
                      </a:r>
                      <a:r>
                        <a:rPr lang="en" sz="2000"/>
                        <a:t>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𝑥₂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Location 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</a:t>
                      </a:r>
                      <a:r>
                        <a:rPr lang="en" sz="2000" baseline="-25000">
                          <a:solidFill>
                            <a:schemeClr val="dk1"/>
                          </a:solidFill>
                        </a:rPr>
                        <a:t>3</a:t>
                      </a:r>
                      <a:endParaRPr sz="2000" baseline="-25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Price - </a:t>
                      </a:r>
                      <a:r>
                        <a:rPr lang="en" sz="2000"/>
                        <a:t>y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210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Tây Hồ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400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160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Tây Hồ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330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240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Quận Hoàn Kiếm</a:t>
                      </a:r>
                      <a:endParaRPr sz="18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369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141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Cầu Giấy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232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44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574256" y="2850356"/>
            <a:ext cx="9138488" cy="8761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"/>
              <a:t>Mô hình Linear Regression</a:t>
            </a:r>
            <a:endParaRPr/>
          </a:p>
        </p:txBody>
      </p:sp>
      <p:sp>
        <p:nvSpPr>
          <p:cNvPr id="185" name="Google Shape;185;p32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>
                <a:solidFill>
                  <a:schemeClr val="lt1"/>
                </a:solidFill>
              </a:rPr>
              <a:pPr>
                <a:spcBef>
                  <a:spcPts val="0"/>
                </a:spcBef>
                <a:spcAft>
                  <a:spcPts val="0"/>
                </a:spcAft>
              </a:pPr>
              <a:t>8</a:t>
            </a:fld>
            <a:endParaRPr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110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350663" y="548680"/>
            <a:ext cx="9585675" cy="1132042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bg1"/>
                </a:solidFill>
              </a:rPr>
              <a:t>Thế nào là một Mô hình tuyến tính?</a:t>
            </a:r>
            <a:endParaRPr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" name="Google Shape;191;p33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9</a:t>
            </a:fld>
            <a:endParaRPr/>
          </a:p>
        </p:txBody>
      </p:sp>
      <p:pic>
        <p:nvPicPr>
          <p:cNvPr id="192" name="Google Shape;192;p33" descr="GenaralizedLinearModel.png"/>
          <p:cNvPicPr preferRelativeResize="0"/>
          <p:nvPr/>
        </p:nvPicPr>
        <p:blipFill rotWithShape="1">
          <a:blip r:embed="rId3">
            <a:alphaModFix/>
          </a:blip>
          <a:srcRect l="6441" r="5800" b="3288"/>
          <a:stretch/>
        </p:blipFill>
        <p:spPr>
          <a:xfrm>
            <a:off x="5510363" y="1886512"/>
            <a:ext cx="4156080" cy="3434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3" descr="LinearModel.png"/>
          <p:cNvPicPr preferRelativeResize="0"/>
          <p:nvPr/>
        </p:nvPicPr>
        <p:blipFill rotWithShape="1">
          <a:blip r:embed="rId4">
            <a:alphaModFix/>
          </a:blip>
          <a:srcRect l="7642" t="8040" r="7062" b="4186"/>
          <a:stretch/>
        </p:blipFill>
        <p:spPr>
          <a:xfrm>
            <a:off x="495900" y="1868344"/>
            <a:ext cx="4547363" cy="350969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3"/>
          <p:cNvSpPr txBox="1"/>
          <p:nvPr/>
        </p:nvSpPr>
        <p:spPr>
          <a:xfrm>
            <a:off x="849375" y="5472844"/>
            <a:ext cx="3716213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 marL="514350" indent="514350">
              <a:spcBef>
                <a:spcPts val="0"/>
              </a:spcBef>
              <a:spcAft>
                <a:spcPts val="0"/>
              </a:spcAft>
            </a:pPr>
            <a:r>
              <a:rPr lang="en"/>
              <a:t>Linear model</a:t>
            </a:r>
            <a:endParaRPr/>
          </a:p>
        </p:txBody>
      </p:sp>
      <p:sp>
        <p:nvSpPr>
          <p:cNvPr id="195" name="Google Shape;195;p33"/>
          <p:cNvSpPr txBox="1"/>
          <p:nvPr/>
        </p:nvSpPr>
        <p:spPr>
          <a:xfrm>
            <a:off x="5736811" y="5468569"/>
            <a:ext cx="3716213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 marL="514350" indent="514350">
              <a:spcBef>
                <a:spcPts val="0"/>
              </a:spcBef>
              <a:spcAft>
                <a:spcPts val="0"/>
              </a:spcAft>
            </a:pPr>
            <a:r>
              <a:rPr lang="en"/>
              <a:t>Linear model ???</a:t>
            </a:r>
            <a:endParaRPr/>
          </a:p>
        </p:txBody>
      </p:sp>
      <p:sp>
        <p:nvSpPr>
          <p:cNvPr id="196" name="Google Shape;196;p33"/>
          <p:cNvSpPr txBox="1"/>
          <p:nvPr/>
        </p:nvSpPr>
        <p:spPr>
          <a:xfrm>
            <a:off x="2578753" y="5169263"/>
            <a:ext cx="580163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025">
                <a:solidFill>
                  <a:schemeClr val="dk1"/>
                </a:solidFill>
              </a:rPr>
              <a:t>𝑥₁</a:t>
            </a:r>
            <a:endParaRPr sz="2025"/>
          </a:p>
        </p:txBody>
      </p:sp>
      <p:sp>
        <p:nvSpPr>
          <p:cNvPr id="197" name="Google Shape;197;p33"/>
          <p:cNvSpPr txBox="1"/>
          <p:nvPr/>
        </p:nvSpPr>
        <p:spPr>
          <a:xfrm>
            <a:off x="7433156" y="5115909"/>
            <a:ext cx="580163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025">
                <a:solidFill>
                  <a:schemeClr val="dk1"/>
                </a:solidFill>
              </a:rPr>
              <a:t>𝑥₁</a:t>
            </a:r>
            <a:endParaRPr sz="2025"/>
          </a:p>
        </p:txBody>
      </p:sp>
      <p:sp>
        <p:nvSpPr>
          <p:cNvPr id="198" name="Google Shape;198;p33"/>
          <p:cNvSpPr txBox="1"/>
          <p:nvPr/>
        </p:nvSpPr>
        <p:spPr>
          <a:xfrm>
            <a:off x="241987" y="3269475"/>
            <a:ext cx="413438" cy="5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025"/>
              <a:t>y</a:t>
            </a:r>
            <a:endParaRPr/>
          </a:p>
        </p:txBody>
      </p:sp>
      <p:sp>
        <p:nvSpPr>
          <p:cNvPr id="199" name="Google Shape;199;p33"/>
          <p:cNvSpPr txBox="1"/>
          <p:nvPr/>
        </p:nvSpPr>
        <p:spPr>
          <a:xfrm>
            <a:off x="5293462" y="3247552"/>
            <a:ext cx="413438" cy="5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025"/>
              <a:t>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0145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>
            <a:spLocks noGrp="1"/>
          </p:cNvSpPr>
          <p:nvPr>
            <p:ph type="title"/>
          </p:nvPr>
        </p:nvSpPr>
        <p:spPr>
          <a:xfrm>
            <a:off x="375244" y="520238"/>
            <a:ext cx="9585675" cy="892537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solidFill>
                  <a:schemeClr val="bg1"/>
                </a:solidFill>
              </a:rPr>
              <a:t>Mô hình Linear Regression </a:t>
            </a:r>
            <a:br>
              <a:rPr lang="en" dirty="0">
                <a:solidFill>
                  <a:schemeClr val="bg1"/>
                </a:solidFill>
              </a:rPr>
            </a:br>
            <a:endParaRPr dirty="0">
              <a:solidFill>
                <a:schemeClr val="bg1"/>
              </a:solidFill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1800" dirty="0">
                <a:solidFill>
                  <a:srgbClr val="6AA84F"/>
                </a:solidFill>
              </a:rPr>
              <a:t>Cấu trúc i.e. dạng của hàm giả thuyết h(.) trong mô hình Linear Regression</a:t>
            </a:r>
            <a:endParaRPr sz="1800" dirty="0">
              <a:solidFill>
                <a:srgbClr val="6AA84F"/>
              </a:solidFill>
            </a:endParaRPr>
          </a:p>
        </p:txBody>
      </p:sp>
      <p:sp>
        <p:nvSpPr>
          <p:cNvPr id="204" name="Google Shape;204;p34"/>
          <p:cNvSpPr txBox="1">
            <a:spLocks noGrp="1"/>
          </p:cNvSpPr>
          <p:nvPr>
            <p:ph type="body" idx="1"/>
          </p:nvPr>
        </p:nvSpPr>
        <p:spPr>
          <a:xfrm>
            <a:off x="350663" y="1832316"/>
            <a:ext cx="9585675" cy="38434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1575" b="1" dirty="0">
                <a:solidFill>
                  <a:schemeClr val="dk1"/>
                </a:solidFill>
              </a:rPr>
              <a:t>Problem</a:t>
            </a:r>
            <a:endParaRPr sz="1575" b="1" dirty="0">
              <a:solidFill>
                <a:schemeClr val="dk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575" dirty="0">
                <a:solidFill>
                  <a:schemeClr val="dk1"/>
                </a:solidFill>
              </a:rPr>
              <a:t>Given a dataset                                                                                    . </a:t>
            </a:r>
            <a:r>
              <a:rPr lang="en" sz="1575" dirty="0">
                <a:solidFill>
                  <a:srgbClr val="E06666"/>
                </a:solidFill>
              </a:rPr>
              <a:t>Assume                      for convenience</a:t>
            </a:r>
            <a:endParaRPr sz="1575" dirty="0">
              <a:solidFill>
                <a:srgbClr val="E06666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575" dirty="0">
                <a:solidFill>
                  <a:schemeClr val="dk1"/>
                </a:solidFill>
              </a:rPr>
              <a:t>Build a model that</a:t>
            </a:r>
            <a:r>
              <a:rPr lang="en" sz="1575" i="1" dirty="0">
                <a:solidFill>
                  <a:schemeClr val="dk1"/>
                </a:solidFill>
              </a:rPr>
              <a:t> “best fit”</a:t>
            </a:r>
            <a:r>
              <a:rPr lang="en" sz="1575" dirty="0">
                <a:solidFill>
                  <a:schemeClr val="dk1"/>
                </a:solidFill>
              </a:rPr>
              <a:t> i.e. describe your data as close as possible</a:t>
            </a:r>
            <a:endParaRPr sz="1575" dirty="0">
              <a:solidFill>
                <a:schemeClr val="dk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sz="1575" b="1" dirty="0">
              <a:solidFill>
                <a:schemeClr val="dk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575" b="1" dirty="0">
                <a:solidFill>
                  <a:schemeClr val="dk1"/>
                </a:solidFill>
              </a:rPr>
              <a:t>Model</a:t>
            </a:r>
            <a:endParaRPr sz="1575" dirty="0">
              <a:solidFill>
                <a:schemeClr val="dk1"/>
              </a:solidFill>
            </a:endParaRPr>
          </a:p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" sz="1575" dirty="0">
                <a:solidFill>
                  <a:schemeClr val="dk1"/>
                </a:solidFill>
              </a:rPr>
              <a:t>𝒉(𝐱) = </a:t>
            </a:r>
            <a:r>
              <a:rPr lang="en" sz="1575" dirty="0">
                <a:solidFill>
                  <a:schemeClr val="dk2"/>
                </a:solidFill>
              </a:rPr>
              <a:t>𝒉</a:t>
            </a:r>
            <a:r>
              <a:rPr lang="en" sz="1575" baseline="-25000" dirty="0">
                <a:solidFill>
                  <a:schemeClr val="dk2"/>
                </a:solidFill>
              </a:rPr>
              <a:t>𝛳</a:t>
            </a:r>
            <a:r>
              <a:rPr lang="en" sz="1575" dirty="0">
                <a:solidFill>
                  <a:schemeClr val="dk2"/>
                </a:solidFill>
              </a:rPr>
              <a:t>(𝐱)</a:t>
            </a:r>
            <a:r>
              <a:rPr lang="en" sz="1575" dirty="0">
                <a:solidFill>
                  <a:schemeClr val="dk1"/>
                </a:solidFill>
              </a:rPr>
              <a:t> = 𝜃₀ +  𝜃₁𝑥₁  = [𝜃₀ 𝜃₁][1 𝑥₁] = 𝜃</a:t>
            </a:r>
            <a:r>
              <a:rPr lang="en" sz="1575" baseline="30000" dirty="0">
                <a:solidFill>
                  <a:schemeClr val="dk1"/>
                </a:solidFill>
              </a:rPr>
              <a:t>T</a:t>
            </a:r>
            <a:r>
              <a:rPr lang="en" sz="1575" dirty="0">
                <a:solidFill>
                  <a:schemeClr val="dk1"/>
                </a:solidFill>
              </a:rPr>
              <a:t>𝐱</a:t>
            </a:r>
            <a:endParaRPr sz="1575" dirty="0">
              <a:solidFill>
                <a:schemeClr val="dk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575" dirty="0">
                <a:solidFill>
                  <a:schemeClr val="dk1"/>
                </a:solidFill>
              </a:rPr>
              <a:t>𝒉(𝐱) = </a:t>
            </a:r>
            <a:r>
              <a:rPr lang="en" sz="1575" dirty="0">
                <a:solidFill>
                  <a:schemeClr val="dk2"/>
                </a:solidFill>
              </a:rPr>
              <a:t>𝒉’</a:t>
            </a:r>
            <a:r>
              <a:rPr lang="en" sz="1575" baseline="-25000" dirty="0">
                <a:solidFill>
                  <a:schemeClr val="dk2"/>
                </a:solidFill>
              </a:rPr>
              <a:t>𝛳</a:t>
            </a:r>
            <a:r>
              <a:rPr lang="en" sz="1575" dirty="0">
                <a:solidFill>
                  <a:schemeClr val="dk2"/>
                </a:solidFill>
              </a:rPr>
              <a:t>(𝐱)</a:t>
            </a:r>
            <a:r>
              <a:rPr lang="en" sz="1575" dirty="0">
                <a:solidFill>
                  <a:schemeClr val="dk1"/>
                </a:solidFill>
              </a:rPr>
              <a:t> = 𝜃₀ +  𝜃₁𝑥₁ + 𝜃₂sin𝑥₁²  = [𝜃₀ 𝜃₁ 𝜃₂][1 𝑥₁ sin𝑥</a:t>
            </a:r>
            <a:r>
              <a:rPr lang="en" sz="1575" baseline="-25000" dirty="0">
                <a:solidFill>
                  <a:schemeClr val="dk1"/>
                </a:solidFill>
              </a:rPr>
              <a:t>1</a:t>
            </a:r>
            <a:r>
              <a:rPr lang="en" sz="1575" dirty="0">
                <a:solidFill>
                  <a:schemeClr val="dk1"/>
                </a:solidFill>
              </a:rPr>
              <a:t>²]  = 𝜽</a:t>
            </a:r>
            <a:r>
              <a:rPr lang="en" sz="1575" baseline="30000" dirty="0">
                <a:solidFill>
                  <a:schemeClr val="dk1"/>
                </a:solidFill>
              </a:rPr>
              <a:t>T</a:t>
            </a:r>
            <a:r>
              <a:rPr lang="en" sz="1575" dirty="0">
                <a:solidFill>
                  <a:schemeClr val="dk1"/>
                </a:solidFill>
              </a:rPr>
              <a:t>𝐱   </a:t>
            </a:r>
            <a:endParaRPr sz="1575" dirty="0">
              <a:solidFill>
                <a:schemeClr val="dk1"/>
              </a:solidFill>
            </a:endParaRPr>
          </a:p>
          <a:p>
            <a:pPr indent="-357188"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lang="en" sz="1575" dirty="0">
                <a:solidFill>
                  <a:schemeClr val="dk1"/>
                </a:solidFill>
              </a:rPr>
              <a:t>𝒉’</a:t>
            </a:r>
            <a:r>
              <a:rPr lang="en" sz="1575" baseline="-25000" dirty="0">
                <a:solidFill>
                  <a:schemeClr val="dk1"/>
                </a:solidFill>
              </a:rPr>
              <a:t>𝛳</a:t>
            </a:r>
            <a:r>
              <a:rPr lang="en" sz="1575" dirty="0">
                <a:solidFill>
                  <a:schemeClr val="dk1"/>
                </a:solidFill>
              </a:rPr>
              <a:t>(𝐱) is a </a:t>
            </a:r>
            <a:r>
              <a:rPr lang="en" sz="1575" dirty="0">
                <a:solidFill>
                  <a:srgbClr val="E06666"/>
                </a:solidFill>
              </a:rPr>
              <a:t>nonlinear </a:t>
            </a:r>
            <a:r>
              <a:rPr lang="en" sz="1575" dirty="0">
                <a:solidFill>
                  <a:schemeClr val="dk1"/>
                </a:solidFill>
              </a:rPr>
              <a:t>function of data 𝑥₁</a:t>
            </a:r>
            <a:endParaRPr sz="1575" dirty="0">
              <a:solidFill>
                <a:schemeClr val="dk1"/>
              </a:solidFill>
            </a:endParaRPr>
          </a:p>
          <a:p>
            <a:pPr indent="-357188"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lang="en" sz="1575" dirty="0">
                <a:solidFill>
                  <a:schemeClr val="dk1"/>
                </a:solidFill>
              </a:rPr>
              <a:t>𝒉’</a:t>
            </a:r>
            <a:r>
              <a:rPr lang="en" sz="1575" baseline="-25000" dirty="0">
                <a:solidFill>
                  <a:schemeClr val="dk1"/>
                </a:solidFill>
              </a:rPr>
              <a:t>𝛳</a:t>
            </a:r>
            <a:r>
              <a:rPr lang="en" sz="1575" dirty="0">
                <a:solidFill>
                  <a:schemeClr val="dk1"/>
                </a:solidFill>
              </a:rPr>
              <a:t>(𝐱) is still a </a:t>
            </a:r>
            <a:r>
              <a:rPr lang="en" sz="1575" dirty="0">
                <a:solidFill>
                  <a:schemeClr val="dk2"/>
                </a:solidFill>
              </a:rPr>
              <a:t>linear </a:t>
            </a:r>
            <a:r>
              <a:rPr lang="en" sz="1575" dirty="0">
                <a:solidFill>
                  <a:schemeClr val="dk1"/>
                </a:solidFill>
              </a:rPr>
              <a:t>function of </a:t>
            </a:r>
            <a:r>
              <a:rPr lang="en" sz="1575" u="sng" dirty="0">
                <a:solidFill>
                  <a:schemeClr val="dk1"/>
                </a:solidFill>
              </a:rPr>
              <a:t>unknown</a:t>
            </a:r>
            <a:r>
              <a:rPr lang="en" sz="1575" dirty="0">
                <a:solidFill>
                  <a:schemeClr val="dk1"/>
                </a:solidFill>
              </a:rPr>
              <a:t> parameters 𝜽 =&gt; 𝒉’</a:t>
            </a:r>
            <a:r>
              <a:rPr lang="en" sz="1575" baseline="-25000" dirty="0">
                <a:solidFill>
                  <a:schemeClr val="dk1"/>
                </a:solidFill>
              </a:rPr>
              <a:t>𝛳</a:t>
            </a:r>
            <a:r>
              <a:rPr lang="en" sz="1575" dirty="0">
                <a:solidFill>
                  <a:schemeClr val="dk1"/>
                </a:solidFill>
              </a:rPr>
              <a:t>(.) </a:t>
            </a:r>
            <a:r>
              <a:rPr lang="en" sz="1575" u="sng" dirty="0">
                <a:solidFill>
                  <a:schemeClr val="dk1"/>
                </a:solidFill>
              </a:rPr>
              <a:t>là </a:t>
            </a:r>
            <a:r>
              <a:rPr lang="en" sz="1575" i="1" u="sng" dirty="0">
                <a:solidFill>
                  <a:schemeClr val="dk1"/>
                </a:solidFill>
              </a:rPr>
              <a:t>mô hình tuyến tính</a:t>
            </a:r>
            <a:r>
              <a:rPr lang="en" sz="1575" i="1" dirty="0">
                <a:solidFill>
                  <a:schemeClr val="dk1"/>
                </a:solidFill>
              </a:rPr>
              <a:t> (theo </a:t>
            </a:r>
            <a:r>
              <a:rPr lang="en" sz="1575" dirty="0">
                <a:solidFill>
                  <a:schemeClr val="dk1"/>
                </a:solidFill>
              </a:rPr>
              <a:t>𝜽</a:t>
            </a:r>
            <a:r>
              <a:rPr lang="en" sz="1575" i="1" dirty="0">
                <a:solidFill>
                  <a:schemeClr val="dk1"/>
                </a:solidFill>
              </a:rPr>
              <a:t>)</a:t>
            </a:r>
            <a:endParaRPr sz="1575" i="1" dirty="0">
              <a:solidFill>
                <a:schemeClr val="dk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sz="1575" dirty="0">
              <a:solidFill>
                <a:schemeClr val="dk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sz="1575" i="1" dirty="0">
              <a:solidFill>
                <a:schemeClr val="dk1"/>
              </a:solidFill>
            </a:endParaRPr>
          </a:p>
        </p:txBody>
      </p:sp>
      <p:sp>
        <p:nvSpPr>
          <p:cNvPr id="208" name="Google Shape;208;p34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10</a:t>
            </a:fld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9842" y="2370562"/>
            <a:ext cx="778106" cy="27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4" descr="Screenshot from 2017-09-07 15-18-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9124" y="2350847"/>
            <a:ext cx="3658584" cy="31328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4"/>
          <p:cNvSpPr txBox="1"/>
          <p:nvPr/>
        </p:nvSpPr>
        <p:spPr>
          <a:xfrm>
            <a:off x="4567436" y="4350511"/>
            <a:ext cx="1483988" cy="3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1238" dirty="0">
                <a:solidFill>
                  <a:srgbClr val="E06666"/>
                </a:solidFill>
              </a:rPr>
              <a:t>𝑥</a:t>
            </a:r>
            <a:r>
              <a:rPr lang="en" sz="1238" baseline="-25000" dirty="0">
                <a:solidFill>
                  <a:srgbClr val="E06666"/>
                </a:solidFill>
              </a:rPr>
              <a:t>0 </a:t>
            </a:r>
            <a:r>
              <a:rPr lang="en" sz="1238" dirty="0">
                <a:solidFill>
                  <a:srgbClr val="E06666"/>
                </a:solidFill>
              </a:rPr>
              <a:t> 𝑥</a:t>
            </a:r>
            <a:r>
              <a:rPr lang="en" sz="1238" baseline="-25000" dirty="0">
                <a:solidFill>
                  <a:srgbClr val="E06666"/>
                </a:solidFill>
              </a:rPr>
              <a:t>1       </a:t>
            </a:r>
            <a:r>
              <a:rPr lang="en" sz="1238" dirty="0">
                <a:solidFill>
                  <a:srgbClr val="E06666"/>
                </a:solidFill>
              </a:rPr>
              <a:t>𝑥</a:t>
            </a:r>
            <a:r>
              <a:rPr lang="en" sz="1238" baseline="-25000" dirty="0">
                <a:solidFill>
                  <a:srgbClr val="E06666"/>
                </a:solidFill>
              </a:rPr>
              <a:t>2</a:t>
            </a:r>
            <a:endParaRPr sz="1238" dirty="0">
              <a:solidFill>
                <a:srgbClr val="E06666"/>
              </a:solidFill>
            </a:endParaRPr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7756" y="3681465"/>
            <a:ext cx="2382983" cy="84353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18983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350663" y="476672"/>
            <a:ext cx="9585675" cy="12040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bg1"/>
                </a:solidFill>
              </a:rPr>
              <a:t>Mô hình Linear Regression </a:t>
            </a:r>
            <a:endParaRPr>
              <a:solidFill>
                <a:schemeClr val="bg1"/>
              </a:solidFill>
            </a:endParaRPr>
          </a:p>
          <a:p>
            <a:pPr>
              <a:buClr>
                <a:schemeClr val="dk1"/>
              </a:buClr>
              <a:buSzPts val="1100"/>
            </a:pPr>
            <a:br>
              <a:rPr lang="en" sz="2400">
                <a:solidFill>
                  <a:srgbClr val="6AA84F"/>
                </a:solidFill>
              </a:rPr>
            </a:br>
            <a:r>
              <a:rPr lang="en" sz="2400">
                <a:solidFill>
                  <a:srgbClr val="6AA84F"/>
                </a:solidFill>
              </a:rPr>
              <a:t>Hàm mục tiêu</a:t>
            </a:r>
            <a:endParaRPr sz="2400">
              <a:solidFill>
                <a:srgbClr val="6AA84F"/>
              </a:solidFill>
            </a:endParaRPr>
          </a:p>
        </p:txBody>
      </p:sp>
      <p:sp>
        <p:nvSpPr>
          <p:cNvPr id="215" name="Google Shape;215;p35"/>
          <p:cNvSpPr txBox="1">
            <a:spLocks noGrp="1"/>
          </p:cNvSpPr>
          <p:nvPr>
            <p:ph type="body" idx="1"/>
          </p:nvPr>
        </p:nvSpPr>
        <p:spPr>
          <a:xfrm>
            <a:off x="350663" y="2197497"/>
            <a:ext cx="9585675" cy="3895798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1575" b="1">
                <a:solidFill>
                  <a:schemeClr val="dk1"/>
                </a:solidFill>
              </a:rPr>
              <a:t>Problem</a:t>
            </a:r>
            <a:endParaRPr sz="1575" b="1">
              <a:solidFill>
                <a:schemeClr val="dk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575">
                <a:solidFill>
                  <a:schemeClr val="dk1"/>
                </a:solidFill>
              </a:rPr>
              <a:t>Given a dataset                                                                                        . </a:t>
            </a:r>
            <a:r>
              <a:rPr lang="en" sz="1575">
                <a:solidFill>
                  <a:srgbClr val="E06666"/>
                </a:solidFill>
              </a:rPr>
              <a:t>Assume                       for convenience</a:t>
            </a:r>
            <a:endParaRPr sz="1575">
              <a:solidFill>
                <a:srgbClr val="E06666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575">
                <a:solidFill>
                  <a:schemeClr val="dk1"/>
                </a:solidFill>
              </a:rPr>
              <a:t>Build a model that</a:t>
            </a:r>
            <a:r>
              <a:rPr lang="en" sz="1575" i="1">
                <a:solidFill>
                  <a:schemeClr val="dk1"/>
                </a:solidFill>
              </a:rPr>
              <a:t> “best fit”</a:t>
            </a:r>
            <a:r>
              <a:rPr lang="en" sz="1575">
                <a:solidFill>
                  <a:schemeClr val="dk1"/>
                </a:solidFill>
              </a:rPr>
              <a:t> i.e. describe your data as close as possible</a:t>
            </a:r>
            <a:endParaRPr sz="1575">
              <a:solidFill>
                <a:schemeClr val="dk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sz="1575">
              <a:solidFill>
                <a:srgbClr val="E06666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575" b="1">
                <a:solidFill>
                  <a:schemeClr val="dk1"/>
                </a:solidFill>
              </a:rPr>
              <a:t>Learning model</a:t>
            </a:r>
            <a:endParaRPr sz="1575">
              <a:solidFill>
                <a:srgbClr val="E06666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575">
                <a:solidFill>
                  <a:srgbClr val="E06666"/>
                </a:solidFill>
              </a:rPr>
              <a:t>HOW</a:t>
            </a:r>
            <a:r>
              <a:rPr lang="en" sz="1575">
                <a:solidFill>
                  <a:schemeClr val="dk1"/>
                </a:solidFill>
              </a:rPr>
              <a:t>? </a:t>
            </a:r>
            <a:r>
              <a:rPr lang="en" sz="1575">
                <a:solidFill>
                  <a:schemeClr val="dk2"/>
                </a:solidFill>
              </a:rPr>
              <a:t>F</a:t>
            </a:r>
            <a:r>
              <a:rPr lang="en" sz="1575">
                <a:solidFill>
                  <a:schemeClr val="dk1"/>
                </a:solidFill>
              </a:rPr>
              <a:t>ind optimal values 𝜽</a:t>
            </a:r>
            <a:r>
              <a:rPr lang="en" sz="1575" baseline="30000">
                <a:solidFill>
                  <a:schemeClr val="dk1"/>
                </a:solidFill>
              </a:rPr>
              <a:t>best</a:t>
            </a:r>
            <a:r>
              <a:rPr lang="en" sz="1575">
                <a:solidFill>
                  <a:schemeClr val="dk1"/>
                </a:solidFill>
              </a:rPr>
              <a:t> so that 𝒉</a:t>
            </a:r>
            <a:r>
              <a:rPr lang="en" sz="1575" b="1" baseline="-25000">
                <a:solidFill>
                  <a:schemeClr val="dk1"/>
                </a:solidFill>
              </a:rPr>
              <a:t>𝛳 </a:t>
            </a:r>
            <a:r>
              <a:rPr lang="en" sz="1125" baseline="-25000">
                <a:solidFill>
                  <a:schemeClr val="dk1"/>
                </a:solidFill>
              </a:rPr>
              <a:t>best</a:t>
            </a:r>
            <a:r>
              <a:rPr lang="en" sz="1575">
                <a:solidFill>
                  <a:schemeClr val="dk1"/>
                </a:solidFill>
              </a:rPr>
              <a:t>(𝐱) ≅ 𝑦 for as many data points as possible</a:t>
            </a:r>
            <a:endParaRPr sz="1575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endParaRPr sz="1575">
              <a:solidFill>
                <a:srgbClr val="E06666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" sz="1575">
                <a:solidFill>
                  <a:srgbClr val="E06666"/>
                </a:solidFill>
              </a:rPr>
              <a:t>HOW</a:t>
            </a:r>
            <a:r>
              <a:rPr lang="en" sz="1575">
                <a:solidFill>
                  <a:schemeClr val="dk1"/>
                </a:solidFill>
              </a:rPr>
              <a:t>?? Minimize </a:t>
            </a:r>
            <a:r>
              <a:rPr lang="en" sz="1575" b="1">
                <a:solidFill>
                  <a:schemeClr val="dk2"/>
                </a:solidFill>
              </a:rPr>
              <a:t>objective/cost/loss function</a:t>
            </a:r>
            <a:endParaRPr sz="1575" b="1">
              <a:solidFill>
                <a:schemeClr val="dk2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endParaRPr sz="1575">
              <a:solidFill>
                <a:srgbClr val="E06666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" sz="1575">
                <a:solidFill>
                  <a:srgbClr val="E06666"/>
                </a:solidFill>
              </a:rPr>
              <a:t>HOW</a:t>
            </a:r>
            <a:r>
              <a:rPr lang="en" sz="1575">
                <a:solidFill>
                  <a:schemeClr val="dk1"/>
                </a:solidFill>
              </a:rPr>
              <a:t>??? </a:t>
            </a:r>
            <a:r>
              <a:rPr lang="en" sz="1575" i="1">
                <a:solidFill>
                  <a:schemeClr val="dk1"/>
                </a:solidFill>
              </a:rPr>
              <a:t>(next section) </a:t>
            </a:r>
            <a:endParaRPr sz="1575" i="1">
              <a:solidFill>
                <a:schemeClr val="dk1"/>
              </a:solidFill>
            </a:endParaRPr>
          </a:p>
        </p:txBody>
      </p:sp>
      <p:sp>
        <p:nvSpPr>
          <p:cNvPr id="220" name="Google Shape;220;p35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11</a:t>
            </a:fld>
            <a:endParaRPr/>
          </a:p>
        </p:txBody>
      </p:sp>
      <p:pic>
        <p:nvPicPr>
          <p:cNvPr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91" y="2738939"/>
            <a:ext cx="778106" cy="27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5" descr="Screenshot from 2017-09-07 15-18-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1732" y="2719224"/>
            <a:ext cx="3658584" cy="31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5" descr="Screenshot from 2017-09-07 15-39-4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2607" y="3431940"/>
            <a:ext cx="5019976" cy="58516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1" name="Google Shape;221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8967" y="1358915"/>
            <a:ext cx="2382983" cy="8435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740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>
            <a:spLocks noGrp="1"/>
          </p:cNvSpPr>
          <p:nvPr>
            <p:ph type="title"/>
          </p:nvPr>
        </p:nvSpPr>
        <p:spPr>
          <a:xfrm>
            <a:off x="574256" y="2850356"/>
            <a:ext cx="9138488" cy="8761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"/>
              <a:t>Thuật toán học cho mô hình Linear Regression</a:t>
            </a:r>
            <a:endParaRPr/>
          </a:p>
        </p:txBody>
      </p:sp>
      <p:sp>
        <p:nvSpPr>
          <p:cNvPr id="227" name="Google Shape;227;p36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>
                <a:solidFill>
                  <a:schemeClr val="lt1"/>
                </a:solidFill>
              </a:rPr>
              <a:pPr>
                <a:spcBef>
                  <a:spcPts val="0"/>
                </a:spcBef>
                <a:spcAft>
                  <a:spcPts val="0"/>
                </a:spcAft>
              </a:pPr>
              <a:t>12</a:t>
            </a:fld>
            <a:endParaRPr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929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822" y="5320939"/>
            <a:ext cx="1481432" cy="45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7" descr="Screenshot from 2017-09-07 15-39-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8795" y="4058536"/>
            <a:ext cx="4293715" cy="511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7"/>
          <p:cNvPicPr preferRelativeResize="0"/>
          <p:nvPr/>
        </p:nvPicPr>
        <p:blipFill rotWithShape="1">
          <a:blip r:embed="rId5">
            <a:alphaModFix/>
          </a:blip>
          <a:srcRect r="16387"/>
          <a:stretch/>
        </p:blipFill>
        <p:spPr>
          <a:xfrm>
            <a:off x="1555031" y="3949692"/>
            <a:ext cx="2029403" cy="71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7"/>
          <p:cNvSpPr txBox="1"/>
          <p:nvPr/>
        </p:nvSpPr>
        <p:spPr>
          <a:xfrm>
            <a:off x="652346" y="3483511"/>
            <a:ext cx="4163523" cy="118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 sz="1125">
                <a:solidFill>
                  <a:schemeClr val="dk2"/>
                </a:solidFill>
              </a:rPr>
              <a:t>Our cost function is: </a:t>
            </a:r>
            <a:endParaRPr/>
          </a:p>
        </p:txBody>
      </p:sp>
      <p:sp>
        <p:nvSpPr>
          <p:cNvPr id="236" name="Google Shape;236;p37"/>
          <p:cNvSpPr txBox="1">
            <a:spLocks noGrp="1"/>
          </p:cNvSpPr>
          <p:nvPr>
            <p:ph type="title"/>
          </p:nvPr>
        </p:nvSpPr>
        <p:spPr>
          <a:xfrm>
            <a:off x="390972" y="395751"/>
            <a:ext cx="10834927" cy="744147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bg1"/>
                </a:solidFill>
              </a:rPr>
              <a:t>“Thuật toán” Normal Equation (closed-form)</a:t>
            </a:r>
            <a:endParaRPr sz="1800"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7" name="Google Shape;237;p37"/>
          <p:cNvSpPr txBox="1">
            <a:spLocks noGrp="1"/>
          </p:cNvSpPr>
          <p:nvPr>
            <p:ph type="sldNum" idx="12"/>
          </p:nvPr>
        </p:nvSpPr>
        <p:spPr>
          <a:xfrm>
            <a:off x="9531515" y="5713270"/>
            <a:ext cx="697736" cy="51143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13</a:t>
            </a:fld>
            <a:endParaRPr/>
          </a:p>
        </p:txBody>
      </p:sp>
      <p:pic>
        <p:nvPicPr>
          <p:cNvPr id="238" name="Google Shape;238;p37" descr="LeastSquareGraph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8747" y="1257603"/>
            <a:ext cx="2870503" cy="280093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7"/>
          <p:cNvSpPr txBox="1"/>
          <p:nvPr/>
        </p:nvSpPr>
        <p:spPr>
          <a:xfrm>
            <a:off x="652359" y="1166883"/>
            <a:ext cx="6507365" cy="16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 sz="1600">
                <a:solidFill>
                  <a:schemeClr val="dk2"/>
                </a:solidFill>
              </a:rPr>
              <a:t>Given  a dataset of  </a:t>
            </a:r>
            <a:r>
              <a:rPr lang="en" sz="1600" b="1" i="1">
                <a:solidFill>
                  <a:schemeClr val="dk2"/>
                </a:solidFill>
              </a:rPr>
              <a:t>M </a:t>
            </a:r>
            <a:r>
              <a:rPr lang="en" sz="1600">
                <a:solidFill>
                  <a:schemeClr val="dk2"/>
                </a:solidFill>
              </a:rPr>
              <a:t>samples with </a:t>
            </a:r>
            <a:r>
              <a:rPr lang="en" sz="1600" b="1" i="1">
                <a:solidFill>
                  <a:schemeClr val="dk2"/>
                </a:solidFill>
              </a:rPr>
              <a:t>N</a:t>
            </a:r>
            <a:r>
              <a:rPr lang="en" sz="1600">
                <a:solidFill>
                  <a:schemeClr val="dk2"/>
                </a:solidFill>
              </a:rPr>
              <a:t> features and </a:t>
            </a:r>
            <a:r>
              <a:rPr lang="en" sz="1600" b="1" i="1">
                <a:solidFill>
                  <a:schemeClr val="dk2"/>
                </a:solidFill>
              </a:rPr>
              <a:t>M </a:t>
            </a:r>
            <a:r>
              <a:rPr lang="en" sz="1600">
                <a:solidFill>
                  <a:schemeClr val="dk2"/>
                </a:solidFill>
              </a:rPr>
              <a:t>outputs. A datapoint  can be represented by a vector of </a:t>
            </a:r>
            <a:r>
              <a:rPr lang="en" sz="1600" b="1" i="1">
                <a:solidFill>
                  <a:schemeClr val="dk2"/>
                </a:solidFill>
              </a:rPr>
              <a:t>(N+1) </a:t>
            </a:r>
            <a:r>
              <a:rPr lang="en" sz="1600">
                <a:solidFill>
                  <a:schemeClr val="dk2"/>
                </a:solidFill>
              </a:rPr>
              <a:t>dimensions. Then, the dataset can be represented by a matrix of </a:t>
            </a:r>
            <a:r>
              <a:rPr lang="en" sz="1600" b="1" i="1">
                <a:solidFill>
                  <a:schemeClr val="dk2"/>
                </a:solidFill>
              </a:rPr>
              <a:t>M * (N+1) </a:t>
            </a:r>
            <a:r>
              <a:rPr lang="en" sz="1600">
                <a:solidFill>
                  <a:schemeClr val="dk2"/>
                </a:solidFill>
              </a:rPr>
              <a:t>for inputs and a vector of </a:t>
            </a:r>
            <a:r>
              <a:rPr lang="en" sz="1600" b="1" i="1">
                <a:solidFill>
                  <a:schemeClr val="dk2"/>
                </a:solidFill>
              </a:rPr>
              <a:t>M</a:t>
            </a:r>
            <a:r>
              <a:rPr lang="en" sz="1600">
                <a:solidFill>
                  <a:schemeClr val="dk2"/>
                </a:solidFill>
              </a:rPr>
              <a:t> dimensions for outputs: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40" name="Google Shape;240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95444" y="4618170"/>
            <a:ext cx="2785792" cy="711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7"/>
          <p:cNvPicPr preferRelativeResize="0"/>
          <p:nvPr/>
        </p:nvPicPr>
        <p:blipFill rotWithShape="1">
          <a:blip r:embed="rId8">
            <a:alphaModFix/>
          </a:blip>
          <a:srcRect l="7511" r="9761"/>
          <a:stretch/>
        </p:blipFill>
        <p:spPr>
          <a:xfrm>
            <a:off x="2854253" y="5598614"/>
            <a:ext cx="1585990" cy="51143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2" name="Google Shape;242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2919" y="2420892"/>
            <a:ext cx="2337198" cy="1401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96693" y="2459967"/>
            <a:ext cx="2537731" cy="133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7"/>
          <p:cNvSpPr txBox="1"/>
          <p:nvPr/>
        </p:nvSpPr>
        <p:spPr>
          <a:xfrm>
            <a:off x="550343" y="4521761"/>
            <a:ext cx="4038778" cy="57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 sz="1200">
                <a:solidFill>
                  <a:schemeClr val="dk2"/>
                </a:solidFill>
              </a:rPr>
              <a:t>The gradient of the cost function w.r.t 𝜽 is: </a:t>
            </a:r>
            <a:endParaRPr sz="2000"/>
          </a:p>
        </p:txBody>
      </p:sp>
      <p:sp>
        <p:nvSpPr>
          <p:cNvPr id="245" name="Google Shape;245;p37"/>
          <p:cNvSpPr txBox="1"/>
          <p:nvPr/>
        </p:nvSpPr>
        <p:spPr>
          <a:xfrm>
            <a:off x="635991" y="5133695"/>
            <a:ext cx="2861898" cy="456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 sz="1125">
                <a:solidFill>
                  <a:schemeClr val="dk2"/>
                </a:solidFill>
              </a:rPr>
              <a:t>To minimize the cost function, let:</a:t>
            </a:r>
            <a:endParaRPr/>
          </a:p>
        </p:txBody>
      </p:sp>
      <p:sp>
        <p:nvSpPr>
          <p:cNvPr id="246" name="Google Shape;246;p37"/>
          <p:cNvSpPr txBox="1"/>
          <p:nvPr/>
        </p:nvSpPr>
        <p:spPr>
          <a:xfrm>
            <a:off x="652359" y="5638016"/>
            <a:ext cx="2824894" cy="51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 sz="1125">
                <a:solidFill>
                  <a:schemeClr val="dk2"/>
                </a:solidFill>
              </a:rPr>
              <a:t>We get the root of the equation</a:t>
            </a:r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15445" y="2420888"/>
            <a:ext cx="1585979" cy="1401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586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615" y="3688608"/>
            <a:ext cx="203597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1776" y="1789726"/>
            <a:ext cx="289074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8"/>
          <p:cNvSpPr txBox="1"/>
          <p:nvPr/>
        </p:nvSpPr>
        <p:spPr>
          <a:xfrm>
            <a:off x="1206531" y="3773419"/>
            <a:ext cx="3477263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 sz="1125">
                <a:solidFill>
                  <a:schemeClr val="dk2"/>
                </a:solidFill>
              </a:rPr>
              <a:t>(       : tham số phụ Learning rate)</a:t>
            </a:r>
            <a:endParaRPr/>
          </a:p>
        </p:txBody>
      </p:sp>
      <p:sp>
        <p:nvSpPr>
          <p:cNvPr id="255" name="Google Shape;255;p38"/>
          <p:cNvSpPr txBox="1"/>
          <p:nvPr/>
        </p:nvSpPr>
        <p:spPr>
          <a:xfrm>
            <a:off x="1214634" y="3334247"/>
            <a:ext cx="3709125" cy="22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>
                <a:solidFill>
                  <a:schemeClr val="dk2"/>
                </a:solidFill>
              </a:rPr>
              <a:t>(cập nhật tất cả các       đồng thời trước khi thực hiện iteration tiếp theo)</a:t>
            </a:r>
            <a:endParaRPr/>
          </a:p>
        </p:txBody>
      </p:sp>
      <p:pic>
        <p:nvPicPr>
          <p:cNvPr id="256" name="Google Shape;25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987" y="2764870"/>
            <a:ext cx="289074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8"/>
          <p:cNvSpPr txBox="1">
            <a:spLocks noGrp="1"/>
          </p:cNvSpPr>
          <p:nvPr>
            <p:ph type="title"/>
          </p:nvPr>
        </p:nvSpPr>
        <p:spPr>
          <a:xfrm>
            <a:off x="350663" y="468285"/>
            <a:ext cx="9585675" cy="1212437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bg1"/>
                </a:solidFill>
              </a:rPr>
              <a:t>Thuật toán Gradient descent</a:t>
            </a:r>
            <a:endParaRPr sz="1800"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8" name="Google Shape;258;p38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14</a:t>
            </a:fld>
            <a:endParaRPr/>
          </a:p>
        </p:txBody>
      </p:sp>
      <p:pic>
        <p:nvPicPr>
          <p:cNvPr id="259" name="Google Shape;259;p38"/>
          <p:cNvPicPr preferRelativeResize="0"/>
          <p:nvPr/>
        </p:nvPicPr>
        <p:blipFill rotWithShape="1">
          <a:blip r:embed="rId5">
            <a:alphaModFix/>
          </a:blip>
          <a:srcRect r="5864"/>
          <a:stretch/>
        </p:blipFill>
        <p:spPr>
          <a:xfrm>
            <a:off x="800149" y="5082806"/>
            <a:ext cx="4768931" cy="9612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 txBox="1"/>
          <p:nvPr/>
        </p:nvSpPr>
        <p:spPr>
          <a:xfrm>
            <a:off x="461981" y="1377869"/>
            <a:ext cx="2278463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 b="1">
                <a:solidFill>
                  <a:schemeClr val="dk2"/>
                </a:solidFill>
              </a:rPr>
              <a:t>Giải thuật </a:t>
            </a:r>
            <a:r>
              <a:rPr lang="en">
                <a:solidFill>
                  <a:srgbClr val="E06666"/>
                </a:solidFill>
              </a:rPr>
              <a:t>(iterative)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455089" y="1700808"/>
            <a:ext cx="4707671" cy="771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>
                <a:solidFill>
                  <a:schemeClr val="dk2"/>
                </a:solidFill>
              </a:rPr>
              <a:t>Khởi tạo ngẫu nhiên tất cả các 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Lặp đến khi hội tụ: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63" name="Google Shape;263;p38" descr="Screenshot from 2017-09-10 11-09-1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8920" y="2511014"/>
            <a:ext cx="2595825" cy="341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 descr="Screenshot from 2017-09-13 16-46-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139" y="4398737"/>
            <a:ext cx="3977690" cy="71468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8"/>
          <p:cNvSpPr/>
          <p:nvPr/>
        </p:nvSpPr>
        <p:spPr>
          <a:xfrm>
            <a:off x="7303734" y="3369554"/>
            <a:ext cx="131288" cy="1866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6" name="Google Shape;266;p38"/>
          <p:cNvSpPr/>
          <p:nvPr/>
        </p:nvSpPr>
        <p:spPr>
          <a:xfrm>
            <a:off x="7452631" y="3518451"/>
            <a:ext cx="131288" cy="1866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7" name="Google Shape;267;p38"/>
          <p:cNvSpPr/>
          <p:nvPr/>
        </p:nvSpPr>
        <p:spPr>
          <a:xfrm>
            <a:off x="8705408" y="2969247"/>
            <a:ext cx="131288" cy="1488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8" name="Google Shape;268;p38"/>
          <p:cNvSpPr/>
          <p:nvPr/>
        </p:nvSpPr>
        <p:spPr>
          <a:xfrm>
            <a:off x="5879098" y="1688355"/>
            <a:ext cx="131288" cy="1488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02853" tIns="102853" rIns="102853" bIns="102853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9" name="Google Shape;269;p38"/>
          <p:cNvSpPr txBox="1"/>
          <p:nvPr/>
        </p:nvSpPr>
        <p:spPr>
          <a:xfrm>
            <a:off x="420475" y="3945326"/>
            <a:ext cx="2278463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" i="1">
                <a:solidFill>
                  <a:schemeClr val="dk2"/>
                </a:solidFill>
              </a:rPr>
              <a:t>Cụ thể</a:t>
            </a:r>
            <a:br>
              <a:rPr lang="en" i="1">
                <a:solidFill>
                  <a:schemeClr val="dk2"/>
                </a:solidFill>
              </a:rPr>
            </a:br>
            <a:br>
              <a:rPr lang="en" i="1">
                <a:solidFill>
                  <a:schemeClr val="dk2"/>
                </a:solidFill>
              </a:rPr>
            </a:br>
            <a:br>
              <a:rPr lang="en" i="1">
                <a:solidFill>
                  <a:schemeClr val="dk2"/>
                </a:solidFill>
              </a:rPr>
            </a:br>
            <a:br>
              <a:rPr lang="en" i="1">
                <a:solidFill>
                  <a:schemeClr val="dk2"/>
                </a:solidFill>
              </a:rPr>
            </a:br>
            <a:r>
              <a:rPr lang="en" i="1">
                <a:solidFill>
                  <a:schemeClr val="dk2"/>
                </a:solidFill>
              </a:rPr>
              <a:t>vì</a:t>
            </a:r>
            <a:endParaRPr i="1"/>
          </a:p>
        </p:txBody>
      </p:sp>
    </p:spTree>
    <p:extLst>
      <p:ext uri="{BB962C8B-B14F-4D97-AF65-F5344CB8AC3E}">
        <p14:creationId xmlns:p14="http://schemas.microsoft.com/office/powerpoint/2010/main" val="678198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59480-F3DA-1717-9AB2-5439ABE5EC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15</a:t>
            </a:fld>
            <a:endParaRPr lang="en"/>
          </a:p>
        </p:txBody>
      </p:sp>
      <p:pic>
        <p:nvPicPr>
          <p:cNvPr id="253" name="Google Shape;253;p38"/>
          <p:cNvPicPr preferRelativeResize="0"/>
          <p:nvPr/>
        </p:nvPicPr>
        <p:blipFill rotWithShape="1">
          <a:blip r:embed="rId2">
            <a:alphaModFix/>
          </a:blip>
          <a:srcRect b="16191"/>
          <a:stretch/>
        </p:blipFill>
        <p:spPr>
          <a:xfrm>
            <a:off x="951570" y="1700808"/>
            <a:ext cx="8383860" cy="4516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18" y="1196752"/>
            <a:ext cx="3081857" cy="3763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7339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836" y="1268760"/>
            <a:ext cx="7811327" cy="482432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9"/>
          <p:cNvSpPr txBox="1">
            <a:spLocks noGrp="1"/>
          </p:cNvSpPr>
          <p:nvPr>
            <p:ph type="title"/>
          </p:nvPr>
        </p:nvSpPr>
        <p:spPr>
          <a:xfrm>
            <a:off x="350663" y="548680"/>
            <a:ext cx="9585675" cy="1132042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bg1"/>
                </a:solidFill>
              </a:rPr>
              <a:t>Thuật toán Gradient descent</a:t>
            </a:r>
            <a:endParaRPr>
              <a:solidFill>
                <a:schemeClr val="bg1"/>
              </a:solidFill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400">
                <a:solidFill>
                  <a:srgbClr val="6AA84F"/>
                </a:solidFill>
              </a:rPr>
              <a:t>Tính chất</a:t>
            </a:r>
            <a:endParaRPr sz="2400">
              <a:solidFill>
                <a:srgbClr val="6AA84F"/>
              </a:solidFill>
            </a:endParaRPr>
          </a:p>
          <a:p>
            <a:pPr>
              <a:buClr>
                <a:schemeClr val="dk1"/>
              </a:buClr>
              <a:buSzPts val="1100"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277" name="Google Shape;277;p39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1400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E6B3A-6B8D-A461-A2A5-96759D6DF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17</a:t>
            </a:fld>
            <a:endParaRPr lang="en"/>
          </a:p>
        </p:txBody>
      </p:sp>
      <p:pic>
        <p:nvPicPr>
          <p:cNvPr id="278" name="Google Shape;27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020" y="1556792"/>
            <a:ext cx="8326750" cy="3243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020" y="5283561"/>
            <a:ext cx="1855368" cy="428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4452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292" y="4509120"/>
            <a:ext cx="289074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>
            <a:spLocks noGrp="1"/>
          </p:cNvSpPr>
          <p:nvPr>
            <p:ph type="title"/>
          </p:nvPr>
        </p:nvSpPr>
        <p:spPr>
          <a:xfrm>
            <a:off x="350663" y="492461"/>
            <a:ext cx="9585675" cy="1188261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Gradient Descent v.s. Normal Equation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87" name="Google Shape;287;p40"/>
          <p:cNvSpPr txBox="1">
            <a:spLocks noGrp="1"/>
          </p:cNvSpPr>
          <p:nvPr>
            <p:ph type="body" idx="1"/>
          </p:nvPr>
        </p:nvSpPr>
        <p:spPr>
          <a:xfrm>
            <a:off x="369883" y="1867166"/>
            <a:ext cx="4499888" cy="38434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2025" b="1"/>
              <a:t>Gradient Descent</a:t>
            </a:r>
            <a:endParaRPr sz="2025" b="1"/>
          </a:p>
          <a:p>
            <a:pPr indent="-385763">
              <a:lnSpc>
                <a:spcPct val="100000"/>
              </a:lnSpc>
              <a:buSzPts val="1800"/>
            </a:pPr>
            <a:r>
              <a:rPr lang="en" sz="2025"/>
              <a:t>Iterative: cần thực hiện nhiều bước lặp để tìm nghiệm tối ưu</a:t>
            </a:r>
            <a:endParaRPr sz="2025"/>
          </a:p>
          <a:p>
            <a:pPr indent="-385763">
              <a:lnSpc>
                <a:spcPct val="100000"/>
              </a:lnSpc>
              <a:buClr>
                <a:schemeClr val="dk2"/>
              </a:buClr>
              <a:buSzPts val="1800"/>
            </a:pPr>
            <a:r>
              <a:rPr lang="en" sz="2025">
                <a:solidFill>
                  <a:schemeClr val="dk2"/>
                </a:solidFill>
              </a:rPr>
              <a:t>Generic: có thể sử dụng làm thuật toán học </a:t>
            </a:r>
            <a:r>
              <a:rPr lang="en" sz="2025" b="1">
                <a:solidFill>
                  <a:schemeClr val="dk2"/>
                </a:solidFill>
              </a:rPr>
              <a:t>cho nhiều mô hình khác nhau</a:t>
            </a:r>
            <a:endParaRPr sz="2025" b="1">
              <a:solidFill>
                <a:schemeClr val="dk2"/>
              </a:solidFill>
            </a:endParaRPr>
          </a:p>
          <a:p>
            <a:pPr indent="-385763">
              <a:lnSpc>
                <a:spcPct val="100000"/>
              </a:lnSpc>
              <a:buClr>
                <a:srgbClr val="CC0000"/>
              </a:buClr>
              <a:buSzPts val="1800"/>
            </a:pPr>
            <a:r>
              <a:rPr lang="en" sz="2025">
                <a:solidFill>
                  <a:srgbClr val="CC0000"/>
                </a:solidFill>
              </a:rPr>
              <a:t>Cần chọn tham số phụ learning rate     , điều kiện hội tụ phù hợp</a:t>
            </a:r>
            <a:endParaRPr sz="2025">
              <a:solidFill>
                <a:srgbClr val="CC0000"/>
              </a:solidFill>
            </a:endParaRPr>
          </a:p>
          <a:p>
            <a:pPr indent="-385763">
              <a:lnSpc>
                <a:spcPct val="100000"/>
              </a:lnSpc>
              <a:buClr>
                <a:srgbClr val="CC0000"/>
              </a:buClr>
              <a:buSzPts val="1800"/>
            </a:pPr>
            <a:r>
              <a:rPr lang="en" sz="2025">
                <a:solidFill>
                  <a:srgbClr val="CC0000"/>
                </a:solidFill>
              </a:rPr>
              <a:t>Cần lưu ý khi khởi tạo </a:t>
            </a:r>
            <a:endParaRPr>
              <a:solidFill>
                <a:srgbClr val="CC0000"/>
              </a:solidFill>
            </a:endParaRPr>
          </a:p>
          <a:p>
            <a:pPr indent="0">
              <a:lnSpc>
                <a:spcPct val="100000"/>
              </a:lnSpc>
              <a:buNone/>
            </a:pPr>
            <a:endParaRPr sz="2025"/>
          </a:p>
          <a:p>
            <a:pPr marL="0" indent="0">
              <a:lnSpc>
                <a:spcPct val="100000"/>
              </a:lnSpc>
              <a:spcAft>
                <a:spcPts val="1800"/>
              </a:spcAft>
              <a:buNone/>
            </a:pPr>
            <a:endParaRPr sz="2025"/>
          </a:p>
        </p:txBody>
      </p:sp>
      <p:sp>
        <p:nvSpPr>
          <p:cNvPr id="285" name="Google Shape;285;p40"/>
          <p:cNvSpPr txBox="1">
            <a:spLocks noGrp="1"/>
          </p:cNvSpPr>
          <p:nvPr>
            <p:ph type="body" idx="2"/>
          </p:nvPr>
        </p:nvSpPr>
        <p:spPr>
          <a:xfrm>
            <a:off x="5436450" y="1832316"/>
            <a:ext cx="4499888" cy="4116964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2025" b="1"/>
              <a:t>Normal Equation</a:t>
            </a:r>
            <a:endParaRPr sz="2025" b="1"/>
          </a:p>
          <a:p>
            <a:pPr indent="-385763">
              <a:lnSpc>
                <a:spcPct val="100000"/>
              </a:lnSpc>
              <a:buClr>
                <a:schemeClr val="dk2"/>
              </a:buClr>
              <a:buSzPts val="1800"/>
            </a:pPr>
            <a:r>
              <a:rPr lang="en" sz="2025">
                <a:solidFill>
                  <a:schemeClr val="dk2"/>
                </a:solidFill>
              </a:rPr>
              <a:t>Closed-form: chỉ cần thực hiện 1 phép tính để tìm nghiệm tối ưu</a:t>
            </a:r>
            <a:endParaRPr sz="2025">
              <a:solidFill>
                <a:schemeClr val="dk2"/>
              </a:solidFill>
            </a:endParaRPr>
          </a:p>
          <a:p>
            <a:pPr indent="-385763">
              <a:lnSpc>
                <a:spcPct val="100000"/>
              </a:lnSpc>
              <a:buClr>
                <a:schemeClr val="dk2"/>
              </a:buClr>
              <a:buSzPts val="1800"/>
            </a:pPr>
            <a:r>
              <a:rPr lang="en" sz="2025">
                <a:solidFill>
                  <a:schemeClr val="dk2"/>
                </a:solidFill>
              </a:rPr>
              <a:t>Không có tham số phụ</a:t>
            </a:r>
            <a:endParaRPr sz="2025">
              <a:solidFill>
                <a:schemeClr val="dk2"/>
              </a:solidFill>
            </a:endParaRPr>
          </a:p>
          <a:p>
            <a:pPr indent="-385763">
              <a:lnSpc>
                <a:spcPct val="100000"/>
              </a:lnSpc>
              <a:buClr>
                <a:srgbClr val="CC0000"/>
              </a:buClr>
              <a:buSzPts val="1800"/>
            </a:pPr>
            <a:r>
              <a:rPr lang="en" sz="2025">
                <a:solidFill>
                  <a:srgbClr val="CC0000"/>
                </a:solidFill>
              </a:rPr>
              <a:t>Khi số đặc trưng (feature) lớn, yêu cầu khả năng tính toán cao do phép nhân            và nghịch đảo có complexity O(n</a:t>
            </a:r>
            <a:r>
              <a:rPr lang="en" sz="2025" baseline="30000">
                <a:solidFill>
                  <a:srgbClr val="CC0000"/>
                </a:solidFill>
              </a:rPr>
              <a:t>2</a:t>
            </a:r>
            <a:r>
              <a:rPr lang="en" sz="2025">
                <a:solidFill>
                  <a:srgbClr val="CC0000"/>
                </a:solidFill>
              </a:rPr>
              <a:t>m) và O(n</a:t>
            </a:r>
            <a:r>
              <a:rPr lang="en" sz="2025" baseline="30000">
                <a:solidFill>
                  <a:srgbClr val="CC0000"/>
                </a:solidFill>
              </a:rPr>
              <a:t>3</a:t>
            </a:r>
            <a:r>
              <a:rPr lang="en" sz="2025">
                <a:solidFill>
                  <a:srgbClr val="CC0000"/>
                </a:solidFill>
              </a:rPr>
              <a:t>) </a:t>
            </a:r>
            <a:endParaRPr sz="2025">
              <a:solidFill>
                <a:srgbClr val="CC0000"/>
              </a:solidFill>
            </a:endParaRPr>
          </a:p>
          <a:p>
            <a:pPr indent="-385763">
              <a:lnSpc>
                <a:spcPct val="100000"/>
              </a:lnSpc>
              <a:buClr>
                <a:srgbClr val="CC0000"/>
              </a:buClr>
              <a:buSzPts val="1800"/>
            </a:pPr>
            <a:r>
              <a:rPr lang="en" sz="2025">
                <a:solidFill>
                  <a:srgbClr val="CC0000"/>
                </a:solidFill>
              </a:rPr>
              <a:t>Chỉ sử dụng được làm thuật toán học cho mô hình Linear Regression và số ít các biến thể (vd. Ridge Regression)</a:t>
            </a:r>
            <a:endParaRPr sz="2025">
              <a:solidFill>
                <a:srgbClr val="CC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sz="2025"/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None/>
            </a:pPr>
            <a:endParaRPr sz="2025"/>
          </a:p>
        </p:txBody>
      </p:sp>
      <p:sp>
        <p:nvSpPr>
          <p:cNvPr id="288" name="Google Shape;288;p40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18</a:t>
            </a:fld>
            <a:endParaRPr/>
          </a:p>
        </p:txBody>
      </p:sp>
      <p:pic>
        <p:nvPicPr>
          <p:cNvPr id="289" name="Google Shape;289;p40" descr="Screenshot from 2017-09-10 11-29-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012" y="4365104"/>
            <a:ext cx="210263" cy="181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0" descr="Screenshot from 2017-09-10 11-28-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3660" y="3951169"/>
            <a:ext cx="617288" cy="257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0856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>
            <a:spLocks noGrp="1"/>
          </p:cNvSpPr>
          <p:nvPr>
            <p:ph type="title"/>
          </p:nvPr>
        </p:nvSpPr>
        <p:spPr>
          <a:xfrm>
            <a:off x="298688" y="1892334"/>
            <a:ext cx="4550850" cy="16983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"/>
              <a:t>Take-home messages</a:t>
            </a:r>
            <a:endParaRPr/>
          </a:p>
        </p:txBody>
      </p:sp>
      <p:sp>
        <p:nvSpPr>
          <p:cNvPr id="299" name="Google Shape;299;p41"/>
          <p:cNvSpPr txBox="1">
            <a:spLocks noGrp="1"/>
          </p:cNvSpPr>
          <p:nvPr>
            <p:ph type="subTitle" idx="1"/>
          </p:nvPr>
        </p:nvSpPr>
        <p:spPr>
          <a:xfrm>
            <a:off x="298688" y="3650907"/>
            <a:ext cx="4550850" cy="1513688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/>
            <a:r>
              <a:rPr lang="en" i="1"/>
              <a:t>“The purpose of computation is </a:t>
            </a:r>
            <a:r>
              <a:rPr lang="en" b="1" i="1"/>
              <a:t>insight</a:t>
            </a:r>
            <a:r>
              <a:rPr lang="en" i="1"/>
              <a:t>, not numbers”</a:t>
            </a:r>
            <a:endParaRPr i="1"/>
          </a:p>
          <a:p>
            <a:pPr marL="0" indent="0"/>
            <a:r>
              <a:rPr lang="en"/>
              <a:t>- Richard Hamming</a:t>
            </a:r>
            <a:endParaRPr/>
          </a:p>
        </p:txBody>
      </p:sp>
      <p:sp>
        <p:nvSpPr>
          <p:cNvPr id="297" name="Google Shape;297;p41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>
                <a:solidFill>
                  <a:schemeClr val="lt1"/>
                </a:solidFill>
              </a:rPr>
              <a:pPr>
                <a:spcBef>
                  <a:spcPts val="0"/>
                </a:spcBef>
                <a:spcAft>
                  <a:spcPts val="0"/>
                </a:spcAft>
              </a:pPr>
              <a:t>19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98" name="Google Shape;298;p41"/>
          <p:cNvSpPr txBox="1"/>
          <p:nvPr/>
        </p:nvSpPr>
        <p:spPr>
          <a:xfrm>
            <a:off x="1761" y="5781900"/>
            <a:ext cx="5322713" cy="50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1238" i="1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Acknowledgement: quotation extracted from </a:t>
            </a:r>
            <a:r>
              <a:rPr lang="en" sz="1238" i="1" u="sng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3Blue1Brown</a:t>
            </a:r>
            <a:r>
              <a:rPr lang="en" sz="1238" i="1">
                <a:solidFill>
                  <a:srgbClr val="B7B7B7"/>
                </a:solidFill>
              </a:rPr>
              <a:t> </a:t>
            </a:r>
            <a:r>
              <a:rPr lang="en" sz="1238" i="1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videos </a:t>
            </a:r>
            <a:endParaRPr sz="1238" i="1">
              <a:solidFill>
                <a:srgbClr val="B7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02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141" y="1343110"/>
            <a:ext cx="6614718" cy="4843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2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20</a:t>
            </a:fld>
            <a:endParaRPr/>
          </a:p>
        </p:txBody>
      </p:sp>
      <p:sp>
        <p:nvSpPr>
          <p:cNvPr id="306" name="Google Shape;306;p42"/>
          <p:cNvSpPr txBox="1"/>
          <p:nvPr/>
        </p:nvSpPr>
        <p:spPr>
          <a:xfrm>
            <a:off x="377120" y="548680"/>
            <a:ext cx="8038913" cy="4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70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Take-home messages </a:t>
            </a:r>
            <a:endParaRPr sz="2700"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744577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>
            <a:spLocks noGrp="1"/>
          </p:cNvSpPr>
          <p:nvPr>
            <p:ph type="title"/>
          </p:nvPr>
        </p:nvSpPr>
        <p:spPr>
          <a:xfrm>
            <a:off x="350663" y="476672"/>
            <a:ext cx="9585675" cy="12040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endParaRPr sz="1800">
              <a:solidFill>
                <a:srgbClr val="6AA84F"/>
              </a:solidFill>
            </a:endParaRPr>
          </a:p>
          <a:p>
            <a:pPr>
              <a:buClr>
                <a:schemeClr val="dk1"/>
              </a:buClr>
              <a:buSzPts val="1100"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314" name="Google Shape;314;p43"/>
          <p:cNvSpPr txBox="1">
            <a:spLocks noGrp="1"/>
          </p:cNvSpPr>
          <p:nvPr>
            <p:ph type="body" idx="1"/>
          </p:nvPr>
        </p:nvSpPr>
        <p:spPr>
          <a:xfrm>
            <a:off x="350663" y="5200509"/>
            <a:ext cx="9585675" cy="4752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"/>
              <a:t>How do you encode x</a:t>
            </a:r>
            <a:r>
              <a:rPr lang="en" baseline="-25000"/>
              <a:t>3</a:t>
            </a:r>
            <a:r>
              <a:rPr lang="en"/>
              <a:t>?</a:t>
            </a:r>
            <a:br>
              <a:rPr lang="en"/>
            </a:br>
            <a:r>
              <a:rPr lang="en"/>
              <a:t>What else need to be done to feature vector </a:t>
            </a:r>
            <a:r>
              <a:rPr lang="en" b="1"/>
              <a:t>x</a:t>
            </a:r>
            <a:r>
              <a:rPr lang="en"/>
              <a:t>?</a:t>
            </a:r>
            <a:endParaRPr/>
          </a:p>
        </p:txBody>
      </p:sp>
      <p:sp>
        <p:nvSpPr>
          <p:cNvPr id="311" name="Google Shape;311;p43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/>
              <a:pPr>
                <a:spcBef>
                  <a:spcPts val="0"/>
                </a:spcBef>
                <a:spcAft>
                  <a:spcPts val="0"/>
                </a:spcAft>
              </a:pPr>
              <a:t>21</a:t>
            </a:fld>
            <a:endParaRPr/>
          </a:p>
        </p:txBody>
      </p:sp>
      <p:sp>
        <p:nvSpPr>
          <p:cNvPr id="312" name="Google Shape;312;p43"/>
          <p:cNvSpPr txBox="1"/>
          <p:nvPr/>
        </p:nvSpPr>
        <p:spPr>
          <a:xfrm>
            <a:off x="280800" y="5200509"/>
            <a:ext cx="9585675" cy="53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3" tIns="102853" rIns="102853" bIns="102853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</a:pPr>
            <a:endParaRPr sz="2025">
              <a:solidFill>
                <a:srgbClr val="595959"/>
              </a:solidFill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</a:pPr>
            <a:endParaRPr sz="2025">
              <a:solidFill>
                <a:schemeClr val="dk1"/>
              </a:solidFill>
            </a:endParaRPr>
          </a:p>
        </p:txBody>
      </p:sp>
      <p:graphicFrame>
        <p:nvGraphicFramePr>
          <p:cNvPr id="313" name="Google Shape;313;p43"/>
          <p:cNvGraphicFramePr/>
          <p:nvPr/>
        </p:nvGraphicFramePr>
        <p:xfrm>
          <a:off x="1071563" y="2073282"/>
          <a:ext cx="8143876" cy="2880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35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Area </a:t>
                      </a:r>
                      <a:r>
                        <a:rPr lang="en" sz="2000"/>
                        <a:t>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𝑥₁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Nr of bedrooms </a:t>
                      </a:r>
                      <a:r>
                        <a:rPr lang="en" sz="2000"/>
                        <a:t>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𝑥₂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Location 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</a:t>
                      </a:r>
                      <a:r>
                        <a:rPr lang="en" sz="2000" baseline="-25000">
                          <a:solidFill>
                            <a:schemeClr val="dk1"/>
                          </a:solidFill>
                        </a:rPr>
                        <a:t>3</a:t>
                      </a:r>
                      <a:endParaRPr sz="2000" baseline="-25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Price - </a:t>
                      </a:r>
                      <a:r>
                        <a:rPr lang="en" sz="2000"/>
                        <a:t>y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210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Tây Hồ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400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160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Tây Hồ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330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240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Quận Hoàn Kiếm</a:t>
                      </a:r>
                      <a:endParaRPr sz="18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369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141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Cầu Giấy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232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442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>
            <a:spLocks noGrp="1"/>
          </p:cNvSpPr>
          <p:nvPr>
            <p:ph type="title"/>
          </p:nvPr>
        </p:nvSpPr>
        <p:spPr>
          <a:xfrm>
            <a:off x="350663" y="476672"/>
            <a:ext cx="9585675" cy="12040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Homework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21" name="Google Shape;321;p44"/>
          <p:cNvSpPr txBox="1">
            <a:spLocks noGrp="1"/>
          </p:cNvSpPr>
          <p:nvPr>
            <p:ph type="body" idx="1"/>
          </p:nvPr>
        </p:nvSpPr>
        <p:spPr>
          <a:xfrm>
            <a:off x="350663" y="1832316"/>
            <a:ext cx="9585675" cy="38434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/>
              <a:t>Xây dựng mô hình dự đoán giá nhà ở thành phố Portland, bang Oregon với dữ liệu được cho tại</a:t>
            </a:r>
            <a:endParaRPr/>
          </a:p>
          <a:p>
            <a:pPr marL="0" indent="0">
              <a:spcBef>
                <a:spcPts val="1800"/>
              </a:spcBef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https://github.com/amaas/stanford_dl_ex/blob/master/ex1/housing.data</a:t>
            </a:r>
            <a:endParaRPr/>
          </a:p>
          <a:p>
            <a:pPr marL="0" indent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"/>
              <a:t>Hoặc sử dụng dữ liệu của thành phố Ames, bang Iowa và (tùy chọn) đăng kết quả dự đoán lên Kaggle tại </a:t>
            </a:r>
            <a:r>
              <a:rPr lang="en" sz="1238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https://www.kaggle.com/c/house-prices-advanced-regression-techniques/overview</a:t>
            </a:r>
            <a:r>
              <a:rPr lang="en"/>
              <a:t> </a:t>
            </a:r>
            <a:endParaRPr/>
          </a:p>
        </p:txBody>
      </p:sp>
      <p:sp>
        <p:nvSpPr>
          <p:cNvPr id="322" name="Google Shape;322;p44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>
                <a:solidFill>
                  <a:schemeClr val="dk1"/>
                </a:solidFill>
              </a:rPr>
              <a:pPr>
                <a:spcBef>
                  <a:spcPts val="0"/>
                </a:spcBef>
                <a:spcAft>
                  <a:spcPts val="0"/>
                </a:spcAft>
              </a:pPr>
              <a:t>22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2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>
            <a:spLocks noGrp="1"/>
          </p:cNvSpPr>
          <p:nvPr>
            <p:ph type="title"/>
          </p:nvPr>
        </p:nvSpPr>
        <p:spPr>
          <a:xfrm>
            <a:off x="254484" y="433974"/>
            <a:ext cx="9585675" cy="644288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Homework</a:t>
            </a:r>
            <a:endParaRPr dirty="0"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45"/>
          <p:cNvSpPr txBox="1">
            <a:spLocks noGrp="1"/>
          </p:cNvSpPr>
          <p:nvPr>
            <p:ph type="body" idx="1"/>
          </p:nvPr>
        </p:nvSpPr>
        <p:spPr>
          <a:xfrm>
            <a:off x="350661" y="1411681"/>
            <a:ext cx="5193097" cy="4435535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1100" dirty="0">
                <a:solidFill>
                  <a:srgbClr val="595959"/>
                </a:solidFill>
              </a:rPr>
              <a:t>In economics, the Cobb-Douglas functional form of production functions is widely used to represent the relationship of an output to inputs. It was proposed by Knut Wicksell (1851-1926), and tested against statistical evidence by Charles Cobb and Paul Douglas in 1928. In 1928 Charles Cobb and Paul Douglas published a study in which they modeled the growth of the American economy during the period 1899-1922. They considered a simplified view of the economy in which production output is determined by the amount of labor involved and the amount of capital invested.</a:t>
            </a:r>
            <a:endParaRPr sz="1100" dirty="0">
              <a:solidFill>
                <a:srgbClr val="595959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" sz="1100" dirty="0">
                <a:solidFill>
                  <a:srgbClr val="595959"/>
                </a:solidFill>
              </a:rPr>
              <a:t>     : total production (the monetary value of all goods produced in a year)</a:t>
            </a:r>
            <a:endParaRPr sz="1100" dirty="0">
              <a:solidFill>
                <a:srgbClr val="595959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" sz="1100" dirty="0">
                <a:solidFill>
                  <a:srgbClr val="595959"/>
                </a:solidFill>
              </a:rPr>
              <a:t>    :  labor input (the total number of person-hours worked in a year)</a:t>
            </a:r>
            <a:endParaRPr sz="1100" dirty="0">
              <a:solidFill>
                <a:srgbClr val="595959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" sz="1100" dirty="0">
                <a:solidFill>
                  <a:srgbClr val="595959"/>
                </a:solidFill>
              </a:rPr>
              <a:t>     : capital input (the monetary worth of all machinery, equipment, and buildings</a:t>
            </a:r>
            <a:endParaRPr sz="1100" dirty="0">
              <a:solidFill>
                <a:srgbClr val="595959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" sz="1100" dirty="0">
                <a:solidFill>
                  <a:srgbClr val="595959"/>
                </a:solidFill>
              </a:rPr>
              <a:t>    :  total factor productivity</a:t>
            </a:r>
            <a:endParaRPr sz="1100" dirty="0">
              <a:solidFill>
                <a:srgbClr val="595959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" sz="1100" dirty="0">
                <a:solidFill>
                  <a:srgbClr val="595959"/>
                </a:solidFill>
              </a:rPr>
              <a:t>    :  the output elasticities of labor </a:t>
            </a:r>
            <a:endParaRPr sz="1100" dirty="0">
              <a:solidFill>
                <a:srgbClr val="595959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" sz="1100" dirty="0">
                <a:solidFill>
                  <a:srgbClr val="595959"/>
                </a:solidFill>
              </a:rPr>
              <a:t>HW1- Using the data about the American economy in the table to find out      and </a:t>
            </a:r>
            <a:endParaRPr sz="1100" dirty="0">
              <a:solidFill>
                <a:srgbClr val="595959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" sz="1100" dirty="0">
                <a:solidFill>
                  <a:srgbClr val="595959"/>
                </a:solidFill>
              </a:rPr>
              <a:t>HW2- How to derive the above equation (                          award)</a:t>
            </a:r>
            <a:endParaRPr sz="1100" dirty="0">
              <a:solidFill>
                <a:srgbClr val="595959"/>
              </a:solidFill>
            </a:endParaRPr>
          </a:p>
          <a:p>
            <a:pPr marL="0" indent="0">
              <a:spcBef>
                <a:spcPts val="1800"/>
              </a:spcBef>
              <a:spcAft>
                <a:spcPts val="1800"/>
              </a:spcAft>
              <a:buNone/>
            </a:pPr>
            <a:endParaRPr sz="1100" dirty="0">
              <a:solidFill>
                <a:srgbClr val="595959"/>
              </a:solidFill>
            </a:endParaRPr>
          </a:p>
        </p:txBody>
      </p:sp>
      <p:sp>
        <p:nvSpPr>
          <p:cNvPr id="329" name="Google Shape;329;p45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>
                <a:spcBef>
                  <a:spcPts val="0"/>
                </a:spcBef>
                <a:spcAft>
                  <a:spcPts val="0"/>
                </a:spcAft>
              </a:pPr>
              <a:t>23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30" name="Google Shape;330;p45"/>
          <p:cNvPicPr preferRelativeResize="0"/>
          <p:nvPr/>
        </p:nvPicPr>
        <p:blipFill rotWithShape="1">
          <a:blip r:embed="rId3">
            <a:alphaModFix/>
          </a:blip>
          <a:srcRect b="22330"/>
          <a:stretch/>
        </p:blipFill>
        <p:spPr>
          <a:xfrm>
            <a:off x="1970767" y="3933056"/>
            <a:ext cx="1416968" cy="288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1252" y="5047187"/>
            <a:ext cx="597743" cy="419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152" y="2809611"/>
            <a:ext cx="222478" cy="187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938" y="3199239"/>
            <a:ext cx="164063" cy="157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1327" y="3601699"/>
            <a:ext cx="187341" cy="187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1325" y="4400050"/>
            <a:ext cx="187341" cy="18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2970" y="4028744"/>
            <a:ext cx="164053" cy="19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13582" y="1767868"/>
            <a:ext cx="3278926" cy="4215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75734" y="4797152"/>
            <a:ext cx="144016" cy="168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74664" y="4797152"/>
            <a:ext cx="187341" cy="1810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2434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>
            <a:spLocks noGrp="1"/>
          </p:cNvSpPr>
          <p:nvPr>
            <p:ph type="title"/>
          </p:nvPr>
        </p:nvSpPr>
        <p:spPr>
          <a:xfrm>
            <a:off x="350663" y="476672"/>
            <a:ext cx="9585675" cy="12040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Tài liệu tham khảo</a:t>
            </a:r>
            <a:endParaRPr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5" name="Google Shape;345;p46"/>
          <p:cNvSpPr txBox="1">
            <a:spLocks noGrp="1"/>
          </p:cNvSpPr>
          <p:nvPr>
            <p:ph type="body" idx="1"/>
          </p:nvPr>
        </p:nvSpPr>
        <p:spPr>
          <a:xfrm>
            <a:off x="350663" y="1832316"/>
            <a:ext cx="9585675" cy="384345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AutoNum type="arabicPeriod"/>
            </a:pPr>
            <a:r>
              <a:rPr lang="en" sz="2400"/>
              <a:t>Linear Regression - Machine Learning Course on Coursera by Andrew Ng. Alternatively: </a:t>
            </a:r>
            <a:r>
              <a:rPr lang="en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http://ufldl.stanford.edu/tutorial/supervised/LinearRegression/</a:t>
            </a:r>
            <a:endParaRPr sz="2400"/>
          </a:p>
          <a:p>
            <a:pPr>
              <a:buAutoNum type="arabicPeriod"/>
            </a:pPr>
            <a:r>
              <a:rPr lang="en" sz="2400" i="1"/>
              <a:t>Chapter 3</a:t>
            </a:r>
            <a:r>
              <a:rPr lang="en" sz="2400"/>
              <a:t> - Linear Regression - Pattern Recognition and Machine Learning C.M.Bishop </a:t>
            </a:r>
            <a:endParaRPr sz="2400"/>
          </a:p>
          <a:p>
            <a:pPr>
              <a:buAutoNum type="arabicPeriod"/>
            </a:pPr>
            <a:r>
              <a:rPr lang="en" sz="2400"/>
              <a:t>Machine Learning: Bayesian and Optimization Perspective - Sergios Theodoridis</a:t>
            </a:r>
          </a:p>
          <a:p>
            <a:pPr marL="0" indent="0">
              <a:spcBef>
                <a:spcPts val="1800"/>
              </a:spcBef>
              <a:spcAft>
                <a:spcPts val="1800"/>
              </a:spcAft>
              <a:buNone/>
            </a:pPr>
            <a:endParaRPr lang="en-US" sz="2400"/>
          </a:p>
        </p:txBody>
      </p:sp>
      <p:sp>
        <p:nvSpPr>
          <p:cNvPr id="346" name="Google Shape;346;p46"/>
          <p:cNvSpPr txBox="1">
            <a:spLocks noGrp="1"/>
          </p:cNvSpPr>
          <p:nvPr>
            <p:ph type="sldNum" idx="12"/>
          </p:nvPr>
        </p:nvSpPr>
        <p:spPr>
          <a:xfrm>
            <a:off x="9531515" y="5781900"/>
            <a:ext cx="617288" cy="442800"/>
          </a:xfrm>
          <a:prstGeom prst="rect">
            <a:avLst/>
          </a:prstGeom>
        </p:spPr>
        <p:txBody>
          <a:bodyPr spcFirstLastPara="1" vert="horz" wrap="square" lIns="102853" tIns="102853" rIns="102853" bIns="102853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>
                <a:spcBef>
                  <a:spcPts val="0"/>
                </a:spcBef>
                <a:spcAft>
                  <a:spcPts val="0"/>
                </a:spcAft>
              </a:pPr>
              <a:t>24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544251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Template" id="{0AF96A80-A828-A34E-A395-551D35D8BAE2}" vid="{38747540-D07E-8842-8803-D3EFDEFF576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18876</TotalTime>
  <Words>1466</Words>
  <Application>Microsoft Office PowerPoint</Application>
  <PresentationFormat>35mm Slides</PresentationFormat>
  <Paragraphs>225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.VnTime</vt:lpstr>
      <vt:lpstr>Proxima Nova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Bài toán Hồi quy  &amp; Mô hình Linear Regression</vt:lpstr>
      <vt:lpstr>Nội dung chính</vt:lpstr>
      <vt:lpstr>Math notation</vt:lpstr>
      <vt:lpstr>Giới thiệu bài toán Hồi quy </vt:lpstr>
      <vt:lpstr>Giới thiệu bài toán Hồi quy  Nhắc lại &amp; Định nghĩa </vt:lpstr>
      <vt:lpstr>Ví dụ </vt:lpstr>
      <vt:lpstr>Giới thiệu bài toán Hồi quy  Ví dụ </vt:lpstr>
      <vt:lpstr>Mô hình Linear Regression</vt:lpstr>
      <vt:lpstr>Thế nào là một Mô hình tuyến tính?</vt:lpstr>
      <vt:lpstr>Mô hình Linear Regression   Cấu trúc i.e. dạng của hàm giả thuyết h(.) trong mô hình Linear Regression</vt:lpstr>
      <vt:lpstr>Mô hình Linear Regression   Hàm mục tiêu</vt:lpstr>
      <vt:lpstr>Thuật toán học cho mô hình Linear Regression</vt:lpstr>
      <vt:lpstr>“Thuật toán” Normal Equation (closed-form)</vt:lpstr>
      <vt:lpstr>Thuật toán Gradient descent</vt:lpstr>
      <vt:lpstr>PowerPoint Presentation</vt:lpstr>
      <vt:lpstr>Thuật toán Gradient descent Tính chất </vt:lpstr>
      <vt:lpstr>PowerPoint Presentation</vt:lpstr>
      <vt:lpstr>Gradient Descent v.s. Normal Equation</vt:lpstr>
      <vt:lpstr>Take-home messages</vt:lpstr>
      <vt:lpstr>PowerPoint Presentation</vt:lpstr>
      <vt:lpstr> </vt:lpstr>
      <vt:lpstr>Homework</vt:lpstr>
      <vt:lpstr>Homework</vt:lpstr>
      <vt:lpstr>Tài liệu tham khảo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ĐẠI CƯƠNG Chương 5. Ngôn ngữ lập trình C++</dc:title>
  <dc:creator>Dinh Anh Nguyen</dc:creator>
  <cp:lastModifiedBy>Đào Việt Cường</cp:lastModifiedBy>
  <cp:revision>270</cp:revision>
  <cp:lastPrinted>2021-01-31T11:08:06Z</cp:lastPrinted>
  <dcterms:created xsi:type="dcterms:W3CDTF">2018-12-13T03:42:15Z</dcterms:created>
  <dcterms:modified xsi:type="dcterms:W3CDTF">2024-05-09T03:57:29Z</dcterms:modified>
</cp:coreProperties>
</file>