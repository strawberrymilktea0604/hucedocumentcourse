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Proxima Nova" panose="02000506030000020004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A2AF7A-1270-487D-B6FF-46857AC86A4D}">
  <a:tblStyle styleId="{09A2AF7A-1270-487D-B6FF-46857AC86A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f055bf0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f055bf0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ff055bf0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ff055bf0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49b826b7df_36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49b826b7df_36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49b826b7df_36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49b826b7df_36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49b826b7df_36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49b826b7df_36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9b826b7df_36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9b826b7df_36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9b826b7df_36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9b826b7df_36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9b826b7df_36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49b826b7df_36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9b826b7df_37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49b826b7df_37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87c798a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87c798a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49b826b7df_37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49b826b7df_37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49b826b7df_37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49b826b7df_37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49b826b7df_37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49b826b7df_37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49b826b7df_37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49b826b7df_37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499ba50e4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499ba50e4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49b826b7df_37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49b826b7df_37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499ba50e42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499ba50e42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/>
              <a:t>https://www.learnopencv.com/understanding-feedforward-neural-networks/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49b826b7df_24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49b826b7df_24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489ef191d4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489ef191d4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489ef191d4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489ef191d4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489ef191d4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489ef191d4_1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489ef191d4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489ef191d4_1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489ef191d4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489ef191d4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48a067fb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48a067fb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48a067fb2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48a067fb2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489ef191d4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489ef191d4_1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49b0ab2632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49b0ab2632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49b826b7df_44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49b826b7df_44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49b0ab263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49b0ab2632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49b0ab2632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49b0ab2632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49b0ab2632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49b0ab2632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49b0ab2632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49b0ab2632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49b0ab2632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49b0ab2632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49b0ab2632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49b0ab2632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49b0ab263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49b0ab263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49b826b7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49b826b7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49b826b7d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49b826b7df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49b826b7df_4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49b826b7df_4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playground.tensorflow.org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50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7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11" Type="http://schemas.openxmlformats.org/officeDocument/2006/relationships/image" Target="../media/image56.png"/><Relationship Id="rId5" Type="http://schemas.openxmlformats.org/officeDocument/2006/relationships/image" Target="../media/image45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51.png"/><Relationship Id="rId4" Type="http://schemas.openxmlformats.org/officeDocument/2006/relationships/image" Target="../media/image44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49.png"/><Relationship Id="rId3" Type="http://schemas.openxmlformats.org/officeDocument/2006/relationships/image" Target="../media/image43.png"/><Relationship Id="rId21" Type="http://schemas.openxmlformats.org/officeDocument/2006/relationships/image" Target="../media/image52.png"/><Relationship Id="rId7" Type="http://schemas.openxmlformats.org/officeDocument/2006/relationships/image" Target="../media/image47.png"/><Relationship Id="rId12" Type="http://schemas.openxmlformats.org/officeDocument/2006/relationships/image" Target="../media/image57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61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11" Type="http://schemas.openxmlformats.org/officeDocument/2006/relationships/image" Target="../media/image56.png"/><Relationship Id="rId5" Type="http://schemas.openxmlformats.org/officeDocument/2006/relationships/image" Target="../media/image45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48.png"/><Relationship Id="rId3" Type="http://schemas.openxmlformats.org/officeDocument/2006/relationships/image" Target="../media/image43.png"/><Relationship Id="rId21" Type="http://schemas.openxmlformats.org/officeDocument/2006/relationships/image" Target="../media/image51.png"/><Relationship Id="rId7" Type="http://schemas.openxmlformats.org/officeDocument/2006/relationships/image" Target="../media/image47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61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11" Type="http://schemas.openxmlformats.org/officeDocument/2006/relationships/image" Target="../media/image56.png"/><Relationship Id="rId5" Type="http://schemas.openxmlformats.org/officeDocument/2006/relationships/image" Target="../media/image45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19" Type="http://schemas.openxmlformats.org/officeDocument/2006/relationships/image" Target="../media/image49.png"/><Relationship Id="rId4" Type="http://schemas.openxmlformats.org/officeDocument/2006/relationships/image" Target="../media/image44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image" Target="../media/image64.png"/><Relationship Id="rId21" Type="http://schemas.openxmlformats.org/officeDocument/2006/relationships/image" Target="../media/image80.png"/><Relationship Id="rId7" Type="http://schemas.openxmlformats.org/officeDocument/2006/relationships/image" Target="../media/image84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82.png"/><Relationship Id="rId15" Type="http://schemas.openxmlformats.org/officeDocument/2006/relationships/image" Target="../media/image91.png"/><Relationship Id="rId10" Type="http://schemas.openxmlformats.org/officeDocument/2006/relationships/image" Target="../media/image74.png"/><Relationship Id="rId19" Type="http://schemas.openxmlformats.org/officeDocument/2006/relationships/image" Target="../media/image95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64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11" Type="http://schemas.openxmlformats.org/officeDocument/2006/relationships/image" Target="../media/image99.png"/><Relationship Id="rId5" Type="http://schemas.openxmlformats.org/officeDocument/2006/relationships/image" Target="../media/image86.png"/><Relationship Id="rId10" Type="http://schemas.openxmlformats.org/officeDocument/2006/relationships/image" Target="../media/image98.png"/><Relationship Id="rId4" Type="http://schemas.openxmlformats.org/officeDocument/2006/relationships/image" Target="../media/image83.png"/><Relationship Id="rId9" Type="http://schemas.openxmlformats.org/officeDocument/2006/relationships/image" Target="../media/image9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100.png"/><Relationship Id="rId3" Type="http://schemas.openxmlformats.org/officeDocument/2006/relationships/image" Target="../media/image64.png"/><Relationship Id="rId7" Type="http://schemas.openxmlformats.org/officeDocument/2006/relationships/image" Target="../media/image84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82.png"/><Relationship Id="rId15" Type="http://schemas.openxmlformats.org/officeDocument/2006/relationships/image" Target="../media/image102.png"/><Relationship Id="rId10" Type="http://schemas.openxmlformats.org/officeDocument/2006/relationships/image" Target="../media/image74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10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6.png"/><Relationship Id="rId3" Type="http://schemas.openxmlformats.org/officeDocument/2006/relationships/image" Target="../media/image83.png"/><Relationship Id="rId7" Type="http://schemas.openxmlformats.org/officeDocument/2006/relationships/image" Target="../media/image79.png"/><Relationship Id="rId12" Type="http://schemas.openxmlformats.org/officeDocument/2006/relationships/image" Target="../media/image105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10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7.png"/><Relationship Id="rId11" Type="http://schemas.openxmlformats.org/officeDocument/2006/relationships/image" Target="../media/image64.png"/><Relationship Id="rId5" Type="http://schemas.openxmlformats.org/officeDocument/2006/relationships/image" Target="../media/image66.png"/><Relationship Id="rId15" Type="http://schemas.openxmlformats.org/officeDocument/2006/relationships/image" Target="../media/image108.png"/><Relationship Id="rId10" Type="http://schemas.openxmlformats.org/officeDocument/2006/relationships/image" Target="../media/image96.png"/><Relationship Id="rId4" Type="http://schemas.openxmlformats.org/officeDocument/2006/relationships/image" Target="../media/image103.png"/><Relationship Id="rId9" Type="http://schemas.openxmlformats.org/officeDocument/2006/relationships/image" Target="../media/image80.png"/><Relationship Id="rId14" Type="http://schemas.openxmlformats.org/officeDocument/2006/relationships/image" Target="../media/image10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13.png"/><Relationship Id="rId3" Type="http://schemas.openxmlformats.org/officeDocument/2006/relationships/image" Target="../media/image110.png"/><Relationship Id="rId7" Type="http://schemas.openxmlformats.org/officeDocument/2006/relationships/image" Target="../media/image79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7.png"/><Relationship Id="rId11" Type="http://schemas.openxmlformats.org/officeDocument/2006/relationships/image" Target="../media/image111.png"/><Relationship Id="rId5" Type="http://schemas.openxmlformats.org/officeDocument/2006/relationships/image" Target="../media/image66.png"/><Relationship Id="rId10" Type="http://schemas.openxmlformats.org/officeDocument/2006/relationships/image" Target="../media/image107.png"/><Relationship Id="rId4" Type="http://schemas.openxmlformats.org/officeDocument/2006/relationships/image" Target="../media/image83.png"/><Relationship Id="rId9" Type="http://schemas.openxmlformats.org/officeDocument/2006/relationships/image" Target="../media/image108.png"/><Relationship Id="rId14" Type="http://schemas.openxmlformats.org/officeDocument/2006/relationships/image" Target="../media/image11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8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183425" y="1257300"/>
            <a:ext cx="89139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Bài 7: Neural Network</a:t>
            </a:r>
            <a:endParaRPr sz="4500"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Tuần 4A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Nhắc lại về bài toán dự đoán</a:t>
            </a:r>
            <a:endParaRPr sz="1400"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2288975" y="2045650"/>
            <a:ext cx="1447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Cho </a:t>
            </a:r>
            <a:r>
              <a:rPr lang="en" sz="3000">
                <a:solidFill>
                  <a:srgbClr val="0000FF"/>
                </a:solidFill>
              </a:rPr>
              <a:t>x</a:t>
            </a:r>
            <a:endParaRPr sz="3000">
              <a:solidFill>
                <a:srgbClr val="0000FF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581900" y="2045650"/>
            <a:ext cx="2120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dự đoán </a:t>
            </a:r>
            <a:r>
              <a:rPr lang="en" sz="3000">
                <a:solidFill>
                  <a:srgbClr val="FF0000"/>
                </a:solidFill>
              </a:rPr>
              <a:t>y</a:t>
            </a:r>
            <a:endParaRPr sz="3000">
              <a:solidFill>
                <a:srgbClr val="FF0000"/>
              </a:solidFill>
            </a:endParaRPr>
          </a:p>
        </p:txBody>
      </p:sp>
      <p:cxnSp>
        <p:nvCxnSpPr>
          <p:cNvPr id="71" name="Google Shape;71;p14"/>
          <p:cNvCxnSpPr>
            <a:stCxn id="69" idx="3"/>
            <a:endCxn id="70" idx="1"/>
          </p:cNvCxnSpPr>
          <p:nvPr/>
        </p:nvCxnSpPr>
        <p:spPr>
          <a:xfrm>
            <a:off x="3736475" y="2224300"/>
            <a:ext cx="845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Nhắc lại về bài toán dự đoán</a:t>
            </a:r>
            <a:endParaRPr sz="1400"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8" name="Google Shape;78;p15"/>
          <p:cNvGraphicFramePr/>
          <p:nvPr/>
        </p:nvGraphicFramePr>
        <p:xfrm>
          <a:off x="952500" y="19762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{09A2AF7A-1270-487D-B6FF-46857AC86A4D}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Area - </a:t>
                      </a:r>
                      <a:r>
                        <a:rPr lang="en" sz="1800" b="1">
                          <a:solidFill>
                            <a:srgbClr val="000000"/>
                          </a:solidFill>
                        </a:rPr>
                        <a:t>𝑥₁</a:t>
                      </a:r>
                      <a:endParaRPr sz="1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No of bedrooms - </a:t>
                      </a:r>
                      <a:r>
                        <a:rPr lang="en" sz="1800" b="1">
                          <a:solidFill>
                            <a:srgbClr val="000000"/>
                          </a:solidFill>
                        </a:rPr>
                        <a:t>𝑥₂</a:t>
                      </a:r>
                      <a:endParaRPr sz="1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Price - </a:t>
                      </a:r>
                      <a:r>
                        <a:rPr lang="en" sz="1800" b="1" i="1"/>
                        <a:t>𝐲</a:t>
                      </a:r>
                      <a:endParaRPr sz="1800" b="1" i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2104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400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1600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330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2400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369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1416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232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" name="Google Shape;79;p15"/>
          <p:cNvSpPr txBox="1"/>
          <p:nvPr/>
        </p:nvSpPr>
        <p:spPr>
          <a:xfrm>
            <a:off x="1250300" y="1040125"/>
            <a:ext cx="31869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Cho diện tích và số phòng</a:t>
            </a:r>
            <a:endParaRPr sz="1800"/>
          </a:p>
        </p:txBody>
      </p:sp>
      <p:cxnSp>
        <p:nvCxnSpPr>
          <p:cNvPr id="80" name="Google Shape;80;p15"/>
          <p:cNvCxnSpPr>
            <a:stCxn id="79" idx="2"/>
          </p:cNvCxnSpPr>
          <p:nvPr/>
        </p:nvCxnSpPr>
        <p:spPr>
          <a:xfrm flipH="1">
            <a:off x="1405550" y="1342525"/>
            <a:ext cx="1438200" cy="77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81;p15"/>
          <p:cNvCxnSpPr>
            <a:stCxn id="79" idx="2"/>
          </p:cNvCxnSpPr>
          <p:nvPr/>
        </p:nvCxnSpPr>
        <p:spPr>
          <a:xfrm>
            <a:off x="2843750" y="1342525"/>
            <a:ext cx="1258500" cy="72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" name="Google Shape;82;p15"/>
          <p:cNvSpPr txBox="1"/>
          <p:nvPr/>
        </p:nvSpPr>
        <p:spPr>
          <a:xfrm>
            <a:off x="5455800" y="1040125"/>
            <a:ext cx="15474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Dự đoán giá</a:t>
            </a:r>
            <a:endParaRPr sz="1800"/>
          </a:p>
        </p:txBody>
      </p:sp>
      <p:cxnSp>
        <p:nvCxnSpPr>
          <p:cNvPr id="83" name="Google Shape;83;p15"/>
          <p:cNvCxnSpPr>
            <a:stCxn id="82" idx="2"/>
          </p:cNvCxnSpPr>
          <p:nvPr/>
        </p:nvCxnSpPr>
        <p:spPr>
          <a:xfrm>
            <a:off x="6229500" y="1399825"/>
            <a:ext cx="217800" cy="70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" name="Google Shape;84;p15"/>
          <p:cNvSpPr txBox="1"/>
          <p:nvPr/>
        </p:nvSpPr>
        <p:spPr>
          <a:xfrm>
            <a:off x="878950" y="4360250"/>
            <a:ext cx="34647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Đây là bài toán regression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</a:t>
            </a:r>
            <a:endParaRPr sz="1400"/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3378750" y="1399225"/>
            <a:ext cx="2386500" cy="11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r>
              <a:rPr lang="en" sz="1800"/>
              <a:t> = </a:t>
            </a:r>
            <a:r>
              <a:rPr lang="en" sz="1800">
                <a:solidFill>
                  <a:srgbClr val="0000FF"/>
                </a:solidFill>
              </a:rPr>
              <a:t>w</a:t>
            </a:r>
            <a:r>
              <a:rPr lang="en" sz="1800"/>
              <a:t> . </a:t>
            </a: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/>
              <a:t>(x)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800"/>
              <a:t>  = ∑</a:t>
            </a:r>
            <a:r>
              <a:rPr lang="en" sz="1800" baseline="-25000"/>
              <a:t>i=1</a:t>
            </a:r>
            <a:r>
              <a:rPr lang="en" sz="1800"/>
              <a:t> w</a:t>
            </a:r>
            <a:r>
              <a:rPr lang="en" sz="1800" baseline="-25000"/>
              <a:t>i </a:t>
            </a: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i</a:t>
            </a:r>
            <a:r>
              <a:rPr lang="en" sz="1800"/>
              <a:t>(x)</a:t>
            </a:r>
            <a:endParaRPr sz="1800"/>
          </a:p>
        </p:txBody>
      </p:sp>
      <p:sp>
        <p:nvSpPr>
          <p:cNvPr id="92" name="Google Shape;92;p16"/>
          <p:cNvSpPr txBox="1"/>
          <p:nvPr/>
        </p:nvSpPr>
        <p:spPr>
          <a:xfrm>
            <a:off x="513275" y="2639525"/>
            <a:ext cx="6252900" cy="20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X: là đầu vào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/>
              <a:t>(x): là hàm đặc trưng (feature function)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w</a:t>
            </a:r>
            <a:r>
              <a:rPr lang="en" sz="1800"/>
              <a:t>: là các tham số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y: </a:t>
            </a:r>
            <a:r>
              <a:rPr lang="en" sz="1800"/>
              <a:t>là đầu ra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function </a:t>
            </a:r>
            <a:r>
              <a:rPr lang="en" sz="180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"/>
              <a:t> </a:t>
            </a:r>
            <a:endParaRPr sz="1400"/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513275" y="1390675"/>
            <a:ext cx="62529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800"/>
              <a:t>Hàm đặc trưng là hàm trích chọn đặc trưng của đầu vào</a:t>
            </a:r>
            <a:endParaRPr sz="1800"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250" y="2115154"/>
            <a:ext cx="4869498" cy="229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3832150" y="2605300"/>
            <a:ext cx="1060800" cy="615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FF00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Ví dụ về Linear regression</a:t>
            </a:r>
            <a:endParaRPr sz="1400"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aphicFrame>
        <p:nvGraphicFramePr>
          <p:cNvPr id="108" name="Google Shape;108;p18"/>
          <p:cNvGraphicFramePr/>
          <p:nvPr/>
        </p:nvGraphicFramePr>
        <p:xfrm>
          <a:off x="952500" y="13715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{09A2AF7A-1270-487D-B6FF-46857AC86A4D}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Area - </a:t>
                      </a:r>
                      <a:r>
                        <a:rPr lang="en" sz="1800" b="1">
                          <a:solidFill>
                            <a:srgbClr val="000000"/>
                          </a:solidFill>
                        </a:rPr>
                        <a:t>𝑥₁</a:t>
                      </a:r>
                      <a:endParaRPr sz="1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No of bedrooms - </a:t>
                      </a:r>
                      <a:r>
                        <a:rPr lang="en" sz="1800" b="1">
                          <a:solidFill>
                            <a:srgbClr val="000000"/>
                          </a:solidFill>
                        </a:rPr>
                        <a:t>𝑥₂</a:t>
                      </a:r>
                      <a:endParaRPr sz="18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Price - </a:t>
                      </a:r>
                      <a:r>
                        <a:rPr lang="en" sz="1800" b="1" i="1"/>
                        <a:t>𝐲</a:t>
                      </a:r>
                      <a:endParaRPr sz="1800" b="1" i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2104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400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9" name="Google Shape;109;p18"/>
          <p:cNvSpPr txBox="1"/>
          <p:nvPr/>
        </p:nvSpPr>
        <p:spPr>
          <a:xfrm>
            <a:off x="952500" y="2557700"/>
            <a:ext cx="175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(x) = </a:t>
            </a:r>
            <a:r>
              <a:rPr lang="en" sz="1800"/>
              <a:t>2104</a:t>
            </a: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952500" y="2938700"/>
            <a:ext cx="175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(x) = </a:t>
            </a:r>
            <a:r>
              <a:rPr lang="en" sz="1800"/>
              <a:t>3</a:t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3619500" y="2557700"/>
            <a:ext cx="175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w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= </a:t>
            </a:r>
            <a:r>
              <a:rPr lang="en" sz="1800"/>
              <a:t>1</a:t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3619500" y="2938700"/>
            <a:ext cx="175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w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 = </a:t>
            </a:r>
            <a:r>
              <a:rPr lang="en" sz="1800"/>
              <a:t>2</a:t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2827425" y="2750350"/>
            <a:ext cx="4086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5113425" y="2750350"/>
            <a:ext cx="4086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</a:t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5676900" y="2557700"/>
            <a:ext cx="175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2104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5676900" y="2938700"/>
            <a:ext cx="175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6348750" y="2750350"/>
            <a:ext cx="4086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</a:t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5676900" y="3395900"/>
            <a:ext cx="175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= 2110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Ví dụ về Linear regression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911650" y="1936675"/>
            <a:ext cx="175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(x) = </a:t>
            </a:r>
            <a:r>
              <a:rPr lang="en" sz="1800"/>
              <a:t>2104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952500" y="2938700"/>
            <a:ext cx="175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(x) = </a:t>
            </a:r>
            <a:r>
              <a:rPr lang="en" sz="1800"/>
              <a:t>3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3072000" y="1913975"/>
            <a:ext cx="85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w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= </a:t>
            </a:r>
            <a:r>
              <a:rPr lang="en" sz="1800"/>
              <a:t>1</a:t>
            </a:r>
            <a:endParaRPr/>
          </a:p>
        </p:txBody>
      </p:sp>
      <p:sp>
        <p:nvSpPr>
          <p:cNvPr id="128" name="Google Shape;128;p19"/>
          <p:cNvSpPr txBox="1"/>
          <p:nvPr/>
        </p:nvSpPr>
        <p:spPr>
          <a:xfrm>
            <a:off x="3004945" y="3054325"/>
            <a:ext cx="987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w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 = </a:t>
            </a:r>
            <a:r>
              <a:rPr lang="en" sz="1800"/>
              <a:t>2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3925425" y="2484150"/>
            <a:ext cx="3870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     </a:t>
            </a:r>
            <a:r>
              <a:rPr lang="en" sz="1800"/>
              <a:t>∑</a:t>
            </a:r>
            <a:r>
              <a:rPr lang="en" sz="1800" baseline="-25000"/>
              <a:t>i=1</a:t>
            </a:r>
            <a:r>
              <a:rPr lang="en" sz="1800"/>
              <a:t> w</a:t>
            </a:r>
            <a:r>
              <a:rPr lang="en" sz="1800" baseline="-25000"/>
              <a:t>i </a:t>
            </a: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i</a:t>
            </a:r>
            <a:r>
              <a:rPr lang="en" sz="1800"/>
              <a:t>(x)  = </a:t>
            </a:r>
            <a:r>
              <a:rPr lang="en" sz="1800">
                <a:solidFill>
                  <a:srgbClr val="FF0000"/>
                </a:solidFill>
              </a:rPr>
              <a:t>2110</a:t>
            </a:r>
            <a:endParaRPr/>
          </a:p>
        </p:txBody>
      </p:sp>
      <p:cxnSp>
        <p:nvCxnSpPr>
          <p:cNvPr id="130" name="Google Shape;130;p19"/>
          <p:cNvCxnSpPr>
            <a:stCxn id="125" idx="3"/>
            <a:endCxn id="129" idx="1"/>
          </p:cNvCxnSpPr>
          <p:nvPr/>
        </p:nvCxnSpPr>
        <p:spPr>
          <a:xfrm>
            <a:off x="2663950" y="2133475"/>
            <a:ext cx="1261500" cy="54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19"/>
          <p:cNvCxnSpPr>
            <a:stCxn id="126" idx="3"/>
            <a:endCxn id="129" idx="1"/>
          </p:cNvCxnSpPr>
          <p:nvPr/>
        </p:nvCxnSpPr>
        <p:spPr>
          <a:xfrm rot="10800000" flipH="1">
            <a:off x="2704800" y="2681000"/>
            <a:ext cx="1220700" cy="45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19"/>
          <p:cNvSpPr/>
          <p:nvPr/>
        </p:nvSpPr>
        <p:spPr>
          <a:xfrm>
            <a:off x="2353475" y="2006875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2353475" y="3008900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3992550" y="2554350"/>
            <a:ext cx="253200" cy="2532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Ví dụ về Linear classification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41" name="Google Shape;141;p20"/>
          <p:cNvSpPr txBox="1"/>
          <p:nvPr/>
        </p:nvSpPr>
        <p:spPr>
          <a:xfrm>
            <a:off x="911650" y="1936675"/>
            <a:ext cx="175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(x) = </a:t>
            </a:r>
            <a:r>
              <a:rPr lang="en" sz="1800"/>
              <a:t>2104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952500" y="2938700"/>
            <a:ext cx="1752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(x) = </a:t>
            </a:r>
            <a:r>
              <a:rPr lang="en" sz="1800"/>
              <a:t>3</a:t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3072000" y="1913975"/>
            <a:ext cx="85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w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= </a:t>
            </a:r>
            <a:r>
              <a:rPr lang="en" sz="1800"/>
              <a:t>1</a:t>
            </a:r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3004945" y="3054325"/>
            <a:ext cx="987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w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 = </a:t>
            </a:r>
            <a:r>
              <a:rPr lang="en" sz="1800"/>
              <a:t>2</a:t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3925425" y="2484150"/>
            <a:ext cx="3870300" cy="393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     sign(</a:t>
            </a:r>
            <a:r>
              <a:rPr lang="en" sz="1800"/>
              <a:t>∑</a:t>
            </a:r>
            <a:r>
              <a:rPr lang="en" sz="1800" baseline="-25000"/>
              <a:t>i=1</a:t>
            </a:r>
            <a:r>
              <a:rPr lang="en" sz="1800"/>
              <a:t> w</a:t>
            </a:r>
            <a:r>
              <a:rPr lang="en" sz="1800" baseline="-25000"/>
              <a:t>i </a:t>
            </a: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i</a:t>
            </a:r>
            <a:r>
              <a:rPr lang="en" sz="1800"/>
              <a:t>(x)</a:t>
            </a:r>
            <a:r>
              <a:rPr lang="en" sz="1800">
                <a:solidFill>
                  <a:srgbClr val="FF0000"/>
                </a:solidFill>
              </a:rPr>
              <a:t>)</a:t>
            </a:r>
            <a:r>
              <a:rPr lang="en" sz="1800"/>
              <a:t> = </a:t>
            </a:r>
            <a:r>
              <a:rPr lang="en" sz="1800">
                <a:solidFill>
                  <a:srgbClr val="FF0000"/>
                </a:solidFill>
              </a:rPr>
              <a:t>1 </a:t>
            </a:r>
            <a:endParaRPr/>
          </a:p>
        </p:txBody>
      </p:sp>
      <p:cxnSp>
        <p:nvCxnSpPr>
          <p:cNvPr id="146" name="Google Shape;146;p20"/>
          <p:cNvCxnSpPr>
            <a:stCxn id="141" idx="3"/>
            <a:endCxn id="145" idx="1"/>
          </p:cNvCxnSpPr>
          <p:nvPr/>
        </p:nvCxnSpPr>
        <p:spPr>
          <a:xfrm>
            <a:off x="2663950" y="2133475"/>
            <a:ext cx="1261500" cy="54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7" name="Google Shape;147;p20"/>
          <p:cNvCxnSpPr>
            <a:stCxn id="142" idx="3"/>
            <a:endCxn id="145" idx="1"/>
          </p:cNvCxnSpPr>
          <p:nvPr/>
        </p:nvCxnSpPr>
        <p:spPr>
          <a:xfrm rot="10800000" flipH="1">
            <a:off x="2704800" y="2681000"/>
            <a:ext cx="1220700" cy="45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8" name="Google Shape;148;p20"/>
          <p:cNvSpPr/>
          <p:nvPr/>
        </p:nvSpPr>
        <p:spPr>
          <a:xfrm>
            <a:off x="2353475" y="2006875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2353475" y="3008900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3992550" y="2554350"/>
            <a:ext cx="253200" cy="2532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4698700" y="1287725"/>
            <a:ext cx="1887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</a:t>
            </a:r>
            <a:r>
              <a:rPr lang="en" sz="1800" b="1"/>
              <a:t>perceptron</a:t>
            </a:r>
            <a:endParaRPr sz="1800" b="1"/>
          </a:p>
        </p:txBody>
      </p:sp>
      <p:cxnSp>
        <p:nvCxnSpPr>
          <p:cNvPr id="152" name="Google Shape;152;p20"/>
          <p:cNvCxnSpPr/>
          <p:nvPr/>
        </p:nvCxnSpPr>
        <p:spPr>
          <a:xfrm flipH="1">
            <a:off x="4208670" y="1753530"/>
            <a:ext cx="547200" cy="83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Vấn đề của Linear classification</a:t>
            </a:r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cxnSp>
        <p:nvCxnSpPr>
          <p:cNvPr id="159" name="Google Shape;159;p21"/>
          <p:cNvCxnSpPr/>
          <p:nvPr/>
        </p:nvCxnSpPr>
        <p:spPr>
          <a:xfrm>
            <a:off x="5078550" y="2190125"/>
            <a:ext cx="0" cy="252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" name="Google Shape;160;p21"/>
          <p:cNvCxnSpPr/>
          <p:nvPr/>
        </p:nvCxnSpPr>
        <p:spPr>
          <a:xfrm>
            <a:off x="3286125" y="3382475"/>
            <a:ext cx="3771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" name="Google Shape;161;p21"/>
          <p:cNvSpPr txBox="1"/>
          <p:nvPr/>
        </p:nvSpPr>
        <p:spPr>
          <a:xfrm>
            <a:off x="4281050" y="2587575"/>
            <a:ext cx="3663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5577325" y="3784250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5577325" y="2587575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4281050" y="3784250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475250" y="1290425"/>
            <a:ext cx="4172100" cy="8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Không thể phân loại được tốt với dữ liệu phân bổ phi tuyến tính</a:t>
            </a:r>
            <a:endParaRPr sz="1800"/>
          </a:p>
        </p:txBody>
      </p:sp>
      <p:cxnSp>
        <p:nvCxnSpPr>
          <p:cNvPr id="166" name="Google Shape;166;p21"/>
          <p:cNvCxnSpPr/>
          <p:nvPr/>
        </p:nvCxnSpPr>
        <p:spPr>
          <a:xfrm>
            <a:off x="4933075" y="2404850"/>
            <a:ext cx="0" cy="2190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1"/>
          <p:cNvCxnSpPr/>
          <p:nvPr/>
        </p:nvCxnSpPr>
        <p:spPr>
          <a:xfrm>
            <a:off x="4138175" y="3293275"/>
            <a:ext cx="26808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</a:t>
            </a:r>
            <a:endParaRPr sz="1400"/>
          </a:p>
        </p:txBody>
      </p:sp>
      <p:sp>
        <p:nvSpPr>
          <p:cNvPr id="173" name="Google Shape;17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4596400" y="2247175"/>
            <a:ext cx="1050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(0)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cxnSp>
        <p:nvCxnSpPr>
          <p:cNvPr id="175" name="Google Shape;175;p22"/>
          <p:cNvCxnSpPr>
            <a:stCxn id="176" idx="6"/>
            <a:endCxn id="177" idx="2"/>
          </p:cNvCxnSpPr>
          <p:nvPr/>
        </p:nvCxnSpPr>
        <p:spPr>
          <a:xfrm>
            <a:off x="5862500" y="2443975"/>
            <a:ext cx="89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" name="Google Shape;178;p22"/>
          <p:cNvCxnSpPr>
            <a:stCxn id="179" idx="6"/>
            <a:endCxn id="177" idx="2"/>
          </p:cNvCxnSpPr>
          <p:nvPr/>
        </p:nvCxnSpPr>
        <p:spPr>
          <a:xfrm rot="10800000" flipH="1">
            <a:off x="5862500" y="2444000"/>
            <a:ext cx="894000" cy="100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" name="Google Shape;176;p22"/>
          <p:cNvSpPr/>
          <p:nvPr/>
        </p:nvSpPr>
        <p:spPr>
          <a:xfrm>
            <a:off x="5609300" y="2317375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5609300" y="3319400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6756400" y="2317375"/>
            <a:ext cx="253200" cy="253200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6756400" y="3319400"/>
            <a:ext cx="253200" cy="253200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1" name="Google Shape;181;p22"/>
          <p:cNvCxnSpPr>
            <a:stCxn id="176" idx="6"/>
            <a:endCxn id="180" idx="2"/>
          </p:cNvCxnSpPr>
          <p:nvPr/>
        </p:nvCxnSpPr>
        <p:spPr>
          <a:xfrm>
            <a:off x="5862500" y="2443975"/>
            <a:ext cx="894000" cy="100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22"/>
          <p:cNvCxnSpPr>
            <a:stCxn id="179" idx="6"/>
            <a:endCxn id="180" idx="2"/>
          </p:cNvCxnSpPr>
          <p:nvPr/>
        </p:nvCxnSpPr>
        <p:spPr>
          <a:xfrm>
            <a:off x="5862500" y="3446000"/>
            <a:ext cx="89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3" name="Google Shape;183;p22"/>
          <p:cNvSpPr/>
          <p:nvPr/>
        </p:nvSpPr>
        <p:spPr>
          <a:xfrm>
            <a:off x="7583400" y="2818375"/>
            <a:ext cx="253200" cy="2532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4" name="Google Shape;184;p22"/>
          <p:cNvCxnSpPr>
            <a:stCxn id="177" idx="6"/>
            <a:endCxn id="183" idx="2"/>
          </p:cNvCxnSpPr>
          <p:nvPr/>
        </p:nvCxnSpPr>
        <p:spPr>
          <a:xfrm>
            <a:off x="7009600" y="2443975"/>
            <a:ext cx="573900" cy="50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22"/>
          <p:cNvCxnSpPr>
            <a:stCxn id="180" idx="6"/>
            <a:endCxn id="183" idx="2"/>
          </p:cNvCxnSpPr>
          <p:nvPr/>
        </p:nvCxnSpPr>
        <p:spPr>
          <a:xfrm rot="10800000" flipH="1">
            <a:off x="7009600" y="2945000"/>
            <a:ext cx="573900" cy="50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6" name="Google Shape;186;p22"/>
          <p:cNvSpPr txBox="1"/>
          <p:nvPr/>
        </p:nvSpPr>
        <p:spPr>
          <a:xfrm>
            <a:off x="449475" y="1287725"/>
            <a:ext cx="4355400" cy="14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 mạng neural net là sự kết hợp của nhiều perceptrons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Mục tiêu là nâng cao khả năng mô hình hóa các hàm phi tuyến</a:t>
            </a:r>
            <a:endParaRPr sz="1800"/>
          </a:p>
        </p:txBody>
      </p:sp>
      <p:sp>
        <p:nvSpPr>
          <p:cNvPr id="187" name="Google Shape;187;p22"/>
          <p:cNvSpPr txBox="1"/>
          <p:nvPr/>
        </p:nvSpPr>
        <p:spPr>
          <a:xfrm>
            <a:off x="4555800" y="3179000"/>
            <a:ext cx="109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(1)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6444500" y="1909275"/>
            <a:ext cx="109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(0)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6444500" y="3572600"/>
            <a:ext cx="109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(0)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5609500" y="3952975"/>
            <a:ext cx="253200" cy="2532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191" name="Google Shape;191;p22"/>
          <p:cNvCxnSpPr>
            <a:endCxn id="177" idx="2"/>
          </p:cNvCxnSpPr>
          <p:nvPr/>
        </p:nvCxnSpPr>
        <p:spPr>
          <a:xfrm rot="10800000" flipH="1">
            <a:off x="5862700" y="2443975"/>
            <a:ext cx="893700" cy="1509000"/>
          </a:xfrm>
          <a:prstGeom prst="straightConnector1">
            <a:avLst/>
          </a:prstGeom>
          <a:noFill/>
          <a:ln w="9525" cap="flat" cmpd="sng">
            <a:solidFill>
              <a:srgbClr val="F6B26B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22"/>
          <p:cNvCxnSpPr>
            <a:stCxn id="190" idx="7"/>
            <a:endCxn id="180" idx="2"/>
          </p:cNvCxnSpPr>
          <p:nvPr/>
        </p:nvCxnSpPr>
        <p:spPr>
          <a:xfrm rot="10800000" flipH="1">
            <a:off x="5825620" y="3445855"/>
            <a:ext cx="930900" cy="544200"/>
          </a:xfrm>
          <a:prstGeom prst="straightConnector1">
            <a:avLst/>
          </a:prstGeom>
          <a:noFill/>
          <a:ln w="9525" cap="flat" cmpd="sng">
            <a:solidFill>
              <a:srgbClr val="F9CB9C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ví dụ</a:t>
            </a:r>
            <a:endParaRPr sz="1400"/>
          </a:p>
        </p:txBody>
      </p:sp>
      <p:sp>
        <p:nvSpPr>
          <p:cNvPr id="198" name="Google Shape;19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cxnSp>
        <p:nvCxnSpPr>
          <p:cNvPr id="199" name="Google Shape;199;p23"/>
          <p:cNvCxnSpPr/>
          <p:nvPr/>
        </p:nvCxnSpPr>
        <p:spPr>
          <a:xfrm>
            <a:off x="2183375" y="1339675"/>
            <a:ext cx="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3"/>
          <p:cNvCxnSpPr/>
          <p:nvPr/>
        </p:nvCxnSpPr>
        <p:spPr>
          <a:xfrm>
            <a:off x="390950" y="2388625"/>
            <a:ext cx="335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" name="Google Shape;201;p23"/>
          <p:cNvSpPr txBox="1"/>
          <p:nvPr/>
        </p:nvSpPr>
        <p:spPr>
          <a:xfrm>
            <a:off x="1385875" y="1593725"/>
            <a:ext cx="298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2682150" y="2790400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2682150" y="1593725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1385875" y="2790400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154875" y="1313938"/>
            <a:ext cx="1642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) = [-1, 1]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2520350" y="1300775"/>
            <a:ext cx="1642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) = [1, 1]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109675" y="3327775"/>
            <a:ext cx="187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3</a:t>
            </a:r>
            <a:r>
              <a:rPr lang="en" sz="1800">
                <a:solidFill>
                  <a:srgbClr val="FF00FF"/>
                </a:solidFill>
              </a:rPr>
              <a:t>) = [-1, -1]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2568500" y="3327775"/>
            <a:ext cx="187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4</a:t>
            </a:r>
            <a:r>
              <a:rPr lang="en" sz="1800">
                <a:solidFill>
                  <a:srgbClr val="FF00FF"/>
                </a:solidFill>
              </a:rPr>
              <a:t>) = [1, -1]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4998525" y="1263125"/>
            <a:ext cx="1089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(0)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cxnSp>
        <p:nvCxnSpPr>
          <p:cNvPr id="210" name="Google Shape;210;p23"/>
          <p:cNvCxnSpPr>
            <a:stCxn id="211" idx="6"/>
            <a:endCxn id="212" idx="2"/>
          </p:cNvCxnSpPr>
          <p:nvPr/>
        </p:nvCxnSpPr>
        <p:spPr>
          <a:xfrm>
            <a:off x="6303525" y="1459925"/>
            <a:ext cx="931200" cy="60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23"/>
          <p:cNvCxnSpPr>
            <a:stCxn id="214" idx="6"/>
            <a:endCxn id="212" idx="2"/>
          </p:cNvCxnSpPr>
          <p:nvPr/>
        </p:nvCxnSpPr>
        <p:spPr>
          <a:xfrm rot="10800000" flipH="1">
            <a:off x="6303525" y="2068500"/>
            <a:ext cx="931200" cy="10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1" name="Google Shape;211;p23"/>
          <p:cNvSpPr/>
          <p:nvPr/>
        </p:nvSpPr>
        <p:spPr>
          <a:xfrm>
            <a:off x="6050325" y="1333325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6050325" y="2043000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7234775" y="1941750"/>
            <a:ext cx="253200" cy="253200"/>
          </a:xfrm>
          <a:prstGeom prst="ellipse">
            <a:avLst/>
          </a:prstGeom>
          <a:solidFill>
            <a:srgbClr val="FFF2CC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5043050" y="2194950"/>
            <a:ext cx="1044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(1)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7272275" y="1491125"/>
            <a:ext cx="1200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(1)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6588088" y="1360800"/>
            <a:ext cx="39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6402350" y="1791600"/>
            <a:ext cx="39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6087700" y="2620325"/>
            <a:ext cx="253200" cy="2532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0" name="Google Shape;220;p23"/>
          <p:cNvCxnSpPr>
            <a:stCxn id="219" idx="6"/>
            <a:endCxn id="212" idx="2"/>
          </p:cNvCxnSpPr>
          <p:nvPr/>
        </p:nvCxnSpPr>
        <p:spPr>
          <a:xfrm rot="10800000" flipH="1">
            <a:off x="6340900" y="2068325"/>
            <a:ext cx="894000" cy="67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1" name="Google Shape;221;p23"/>
          <p:cNvSpPr txBox="1"/>
          <p:nvPr/>
        </p:nvSpPr>
        <p:spPr>
          <a:xfrm>
            <a:off x="6641100" y="2313750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-1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5129325" y="3197650"/>
            <a:ext cx="1044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(0)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cxnSp>
        <p:nvCxnSpPr>
          <p:cNvPr id="223" name="Google Shape;223;p23"/>
          <p:cNvCxnSpPr>
            <a:stCxn id="224" idx="6"/>
            <a:endCxn id="225" idx="2"/>
          </p:cNvCxnSpPr>
          <p:nvPr/>
        </p:nvCxnSpPr>
        <p:spPr>
          <a:xfrm>
            <a:off x="6389750" y="3394450"/>
            <a:ext cx="931200" cy="60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6" name="Google Shape;226;p23"/>
          <p:cNvCxnSpPr>
            <a:stCxn id="227" idx="6"/>
            <a:endCxn id="225" idx="2"/>
          </p:cNvCxnSpPr>
          <p:nvPr/>
        </p:nvCxnSpPr>
        <p:spPr>
          <a:xfrm rot="10800000" flipH="1">
            <a:off x="6389750" y="4003025"/>
            <a:ext cx="931200" cy="10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4" name="Google Shape;224;p23"/>
          <p:cNvSpPr/>
          <p:nvPr/>
        </p:nvSpPr>
        <p:spPr>
          <a:xfrm>
            <a:off x="6136550" y="3267850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6136550" y="3977525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7321000" y="3876275"/>
            <a:ext cx="253200" cy="253200"/>
          </a:xfrm>
          <a:prstGeom prst="ellipse">
            <a:avLst/>
          </a:prstGeom>
          <a:solidFill>
            <a:srgbClr val="FFF2CC"/>
          </a:solidFill>
          <a:ln w="38100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084625" y="4129475"/>
            <a:ext cx="1089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(1)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7358500" y="3425650"/>
            <a:ext cx="1114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(1)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6674313" y="3295325"/>
            <a:ext cx="39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-1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488575" y="3726125"/>
            <a:ext cx="39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-1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6173925" y="4554850"/>
            <a:ext cx="253200" cy="2532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cxnSp>
        <p:nvCxnSpPr>
          <p:cNvPr id="233" name="Google Shape;233;p23"/>
          <p:cNvCxnSpPr>
            <a:stCxn id="232" idx="6"/>
            <a:endCxn id="225" idx="2"/>
          </p:cNvCxnSpPr>
          <p:nvPr/>
        </p:nvCxnSpPr>
        <p:spPr>
          <a:xfrm rot="10800000" flipH="1">
            <a:off x="6427125" y="4002850"/>
            <a:ext cx="894000" cy="67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23"/>
          <p:cNvSpPr txBox="1"/>
          <p:nvPr/>
        </p:nvSpPr>
        <p:spPr>
          <a:xfrm>
            <a:off x="6727325" y="4248275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-1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107350" y="2577575"/>
            <a:ext cx="298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1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ví dụ</a:t>
            </a:r>
            <a:endParaRPr sz="1400"/>
          </a:p>
        </p:txBody>
      </p:sp>
      <p:sp>
        <p:nvSpPr>
          <p:cNvPr id="241" name="Google Shape;24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cxnSp>
        <p:nvCxnSpPr>
          <p:cNvPr id="242" name="Google Shape;242;p24"/>
          <p:cNvCxnSpPr/>
          <p:nvPr/>
        </p:nvCxnSpPr>
        <p:spPr>
          <a:xfrm>
            <a:off x="2183375" y="1339675"/>
            <a:ext cx="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243;p24"/>
          <p:cNvCxnSpPr/>
          <p:nvPr/>
        </p:nvCxnSpPr>
        <p:spPr>
          <a:xfrm>
            <a:off x="390950" y="2388625"/>
            <a:ext cx="335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24"/>
          <p:cNvSpPr txBox="1"/>
          <p:nvPr/>
        </p:nvSpPr>
        <p:spPr>
          <a:xfrm>
            <a:off x="1385875" y="1593725"/>
            <a:ext cx="298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2682150" y="2790400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2682150" y="1593725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1385875" y="2790400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154875" y="1313938"/>
            <a:ext cx="1642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) = [-1, 1]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2520350" y="1300775"/>
            <a:ext cx="1642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) = [1, 1]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109675" y="3327775"/>
            <a:ext cx="187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3</a:t>
            </a:r>
            <a:r>
              <a:rPr lang="en" sz="1800">
                <a:solidFill>
                  <a:srgbClr val="FF00FF"/>
                </a:solidFill>
              </a:rPr>
              <a:t>) = [-1, -1]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2568500" y="3327775"/>
            <a:ext cx="172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4</a:t>
            </a:r>
            <a:r>
              <a:rPr lang="en" sz="1800">
                <a:solidFill>
                  <a:srgbClr val="FF00FF"/>
                </a:solidFill>
              </a:rPr>
              <a:t>) = [1, -1]</a:t>
            </a:r>
            <a:endParaRPr/>
          </a:p>
        </p:txBody>
      </p:sp>
      <p:cxnSp>
        <p:nvCxnSpPr>
          <p:cNvPr id="252" name="Google Shape;252;p24"/>
          <p:cNvCxnSpPr/>
          <p:nvPr/>
        </p:nvCxnSpPr>
        <p:spPr>
          <a:xfrm>
            <a:off x="7212575" y="1339675"/>
            <a:ext cx="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4"/>
          <p:cNvCxnSpPr/>
          <p:nvPr/>
        </p:nvCxnSpPr>
        <p:spPr>
          <a:xfrm>
            <a:off x="5420150" y="2388625"/>
            <a:ext cx="335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" name="Google Shape;254;p24"/>
          <p:cNvSpPr txBox="1"/>
          <p:nvPr/>
        </p:nvSpPr>
        <p:spPr>
          <a:xfrm>
            <a:off x="6415075" y="1593725"/>
            <a:ext cx="298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7711350" y="2790400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6415075" y="2790400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5074425" y="3530875"/>
            <a:ext cx="2002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) = [-1, -1]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420150" y="1300775"/>
            <a:ext cx="1642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3</a:t>
            </a:r>
            <a:r>
              <a:rPr lang="en" sz="1800">
                <a:solidFill>
                  <a:srgbClr val="FF00FF"/>
                </a:solidFill>
              </a:rPr>
              <a:t>) = [-1, 1]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5074400" y="4004525"/>
            <a:ext cx="187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4</a:t>
            </a:r>
            <a:r>
              <a:rPr lang="en" sz="1800">
                <a:solidFill>
                  <a:srgbClr val="FF00FF"/>
                </a:solidFill>
              </a:rPr>
              <a:t>) = [-1, -1]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7597700" y="3327775"/>
            <a:ext cx="187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) = [1, -1]</a:t>
            </a:r>
            <a:endParaRPr/>
          </a:p>
        </p:txBody>
      </p:sp>
      <p:cxnSp>
        <p:nvCxnSpPr>
          <p:cNvPr id="261" name="Google Shape;261;p24"/>
          <p:cNvCxnSpPr>
            <a:stCxn id="248" idx="3"/>
            <a:endCxn id="257" idx="1"/>
          </p:cNvCxnSpPr>
          <p:nvPr/>
        </p:nvCxnSpPr>
        <p:spPr>
          <a:xfrm>
            <a:off x="1797375" y="1510738"/>
            <a:ext cx="3277200" cy="2217000"/>
          </a:xfrm>
          <a:prstGeom prst="curvedConnector3">
            <a:avLst>
              <a:gd name="adj1" fmla="val 49998"/>
            </a:avLst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2" name="Google Shape;262;p24"/>
          <p:cNvCxnSpPr>
            <a:stCxn id="251" idx="3"/>
            <a:endCxn id="259" idx="1"/>
          </p:cNvCxnSpPr>
          <p:nvPr/>
        </p:nvCxnSpPr>
        <p:spPr>
          <a:xfrm>
            <a:off x="4293800" y="3524575"/>
            <a:ext cx="780600" cy="6768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3" name="Google Shape;263;p24"/>
          <p:cNvCxnSpPr>
            <a:stCxn id="249" idx="3"/>
            <a:endCxn id="260" idx="1"/>
          </p:cNvCxnSpPr>
          <p:nvPr/>
        </p:nvCxnSpPr>
        <p:spPr>
          <a:xfrm>
            <a:off x="4162850" y="1497575"/>
            <a:ext cx="3435000" cy="2027100"/>
          </a:xfrm>
          <a:prstGeom prst="curvedConnector3">
            <a:avLst>
              <a:gd name="adj1" fmla="val 49998"/>
            </a:avLst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4" name="Google Shape;264;p24"/>
          <p:cNvCxnSpPr>
            <a:stCxn id="250" idx="0"/>
            <a:endCxn id="258" idx="2"/>
          </p:cNvCxnSpPr>
          <p:nvPr/>
        </p:nvCxnSpPr>
        <p:spPr>
          <a:xfrm rot="-5400000">
            <a:off x="2827225" y="-86525"/>
            <a:ext cx="1633500" cy="5195100"/>
          </a:xfrm>
          <a:prstGeom prst="curvedConnector3">
            <a:avLst>
              <a:gd name="adj1" fmla="val 49997"/>
            </a:avLst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ví dụ</a:t>
            </a:r>
            <a:endParaRPr sz="1400"/>
          </a:p>
        </p:txBody>
      </p:sp>
      <p:sp>
        <p:nvSpPr>
          <p:cNvPr id="270" name="Google Shape;270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7212575" y="1339675"/>
            <a:ext cx="0" cy="209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25"/>
          <p:cNvCxnSpPr/>
          <p:nvPr/>
        </p:nvCxnSpPr>
        <p:spPr>
          <a:xfrm>
            <a:off x="5420150" y="2388625"/>
            <a:ext cx="335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25"/>
          <p:cNvSpPr txBox="1"/>
          <p:nvPr/>
        </p:nvSpPr>
        <p:spPr>
          <a:xfrm>
            <a:off x="6415075" y="1593725"/>
            <a:ext cx="298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7711350" y="2790400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415075" y="2790400"/>
            <a:ext cx="36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5074425" y="3530875"/>
            <a:ext cx="2002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) = [-1, -1]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5420150" y="1300775"/>
            <a:ext cx="1642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3</a:t>
            </a:r>
            <a:r>
              <a:rPr lang="en" sz="1800">
                <a:solidFill>
                  <a:srgbClr val="FF00FF"/>
                </a:solidFill>
              </a:rPr>
              <a:t>) = [-1, 1]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5074400" y="4004525"/>
            <a:ext cx="187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4</a:t>
            </a:r>
            <a:r>
              <a:rPr lang="en" sz="1800">
                <a:solidFill>
                  <a:srgbClr val="FF00FF"/>
                </a:solidFill>
              </a:rPr>
              <a:t>) = [-1, -1]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7597700" y="3327775"/>
            <a:ext cx="187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) = [1, -1]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420825" y="1376150"/>
            <a:ext cx="4293900" cy="30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Thông qua 2 perceptions, các điểm dữ liệu được chuyển sang 1 miền khác mà dễ phân loại hơn.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</a:t>
            </a:r>
            <a:endParaRPr sz="1400"/>
          </a:p>
        </p:txBody>
      </p:sp>
      <p:sp>
        <p:nvSpPr>
          <p:cNvPr id="286" name="Google Shape;28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2208900" y="2080900"/>
            <a:ext cx="1053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(0)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cxnSp>
        <p:nvCxnSpPr>
          <p:cNvPr id="288" name="Google Shape;288;p26"/>
          <p:cNvCxnSpPr>
            <a:stCxn id="289" idx="6"/>
            <a:endCxn id="290" idx="2"/>
          </p:cNvCxnSpPr>
          <p:nvPr/>
        </p:nvCxnSpPr>
        <p:spPr>
          <a:xfrm>
            <a:off x="3477800" y="2277700"/>
            <a:ext cx="89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1" name="Google Shape;291;p26"/>
          <p:cNvCxnSpPr>
            <a:stCxn id="292" idx="6"/>
            <a:endCxn id="290" idx="2"/>
          </p:cNvCxnSpPr>
          <p:nvPr/>
        </p:nvCxnSpPr>
        <p:spPr>
          <a:xfrm rot="10800000" flipH="1">
            <a:off x="3477800" y="2277725"/>
            <a:ext cx="894000" cy="100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" name="Google Shape;289;p26"/>
          <p:cNvSpPr/>
          <p:nvPr/>
        </p:nvSpPr>
        <p:spPr>
          <a:xfrm>
            <a:off x="3224600" y="2151100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3224600" y="3153125"/>
            <a:ext cx="253200" cy="25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4371700" y="2151100"/>
            <a:ext cx="787500" cy="253200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FFFF"/>
                </a:solidFill>
              </a:rPr>
              <a:t>tanh</a:t>
            </a:r>
            <a:endParaRPr u="sng">
              <a:solidFill>
                <a:srgbClr val="FFFFFF"/>
              </a:solidFill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4371700" y="3153125"/>
            <a:ext cx="787500" cy="253200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FFFF"/>
                </a:solidFill>
              </a:rPr>
              <a:t>tanh</a:t>
            </a:r>
            <a:endParaRPr u="sng">
              <a:solidFill>
                <a:srgbClr val="FFFFFF"/>
              </a:solidFill>
            </a:endParaRPr>
          </a:p>
        </p:txBody>
      </p:sp>
      <p:cxnSp>
        <p:nvCxnSpPr>
          <p:cNvPr id="294" name="Google Shape;294;p26"/>
          <p:cNvCxnSpPr>
            <a:stCxn id="289" idx="6"/>
            <a:endCxn id="293" idx="2"/>
          </p:cNvCxnSpPr>
          <p:nvPr/>
        </p:nvCxnSpPr>
        <p:spPr>
          <a:xfrm>
            <a:off x="3477800" y="2277700"/>
            <a:ext cx="894000" cy="100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5" name="Google Shape;295;p26"/>
          <p:cNvCxnSpPr>
            <a:stCxn id="292" idx="6"/>
            <a:endCxn id="293" idx="2"/>
          </p:cNvCxnSpPr>
          <p:nvPr/>
        </p:nvCxnSpPr>
        <p:spPr>
          <a:xfrm>
            <a:off x="3477800" y="3279725"/>
            <a:ext cx="89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6" name="Google Shape;296;p26"/>
          <p:cNvSpPr/>
          <p:nvPr/>
        </p:nvSpPr>
        <p:spPr>
          <a:xfrm>
            <a:off x="6858650" y="2652125"/>
            <a:ext cx="253200" cy="2532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7" name="Google Shape;297;p26"/>
          <p:cNvCxnSpPr>
            <a:stCxn id="290" idx="6"/>
            <a:endCxn id="298" idx="2"/>
          </p:cNvCxnSpPr>
          <p:nvPr/>
        </p:nvCxnSpPr>
        <p:spPr>
          <a:xfrm>
            <a:off x="5159200" y="2277700"/>
            <a:ext cx="362400" cy="1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9" name="Google Shape;299;p26"/>
          <p:cNvCxnSpPr>
            <a:stCxn id="300" idx="6"/>
            <a:endCxn id="296" idx="2"/>
          </p:cNvCxnSpPr>
          <p:nvPr/>
        </p:nvCxnSpPr>
        <p:spPr>
          <a:xfrm rot="10800000" flipH="1">
            <a:off x="6309125" y="2778725"/>
            <a:ext cx="549600" cy="50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1" name="Google Shape;301;p26"/>
          <p:cNvSpPr txBox="1"/>
          <p:nvPr/>
        </p:nvSpPr>
        <p:spPr>
          <a:xfrm>
            <a:off x="449475" y="1287725"/>
            <a:ext cx="7764600" cy="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Lớp đầu vào + lớp ẩn + lớp đầu ra + các hàm kích hoạt phi tuyến</a:t>
            </a:r>
            <a:endParaRPr sz="1800"/>
          </a:p>
        </p:txBody>
      </p:sp>
      <p:sp>
        <p:nvSpPr>
          <p:cNvPr id="302" name="Google Shape;302;p26"/>
          <p:cNvSpPr txBox="1"/>
          <p:nvPr/>
        </p:nvSpPr>
        <p:spPr>
          <a:xfrm>
            <a:off x="2160175" y="3012725"/>
            <a:ext cx="1101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(1)</a:t>
            </a:r>
            <a:r>
              <a:rPr lang="en" sz="1800" baseline="-25000">
                <a:solidFill>
                  <a:srgbClr val="FF00FF"/>
                </a:solidFill>
              </a:rPr>
              <a:t>0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4027950" y="1743000"/>
            <a:ext cx="1178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(0)</a:t>
            </a:r>
            <a:r>
              <a:rPr lang="en" sz="1800" baseline="-25000">
                <a:solidFill>
                  <a:srgbClr val="FF00FF"/>
                </a:solidFill>
              </a:rPr>
              <a:t>1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4206600" y="2712725"/>
            <a:ext cx="99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</a:rPr>
              <a:t>φ</a:t>
            </a:r>
            <a:r>
              <a:rPr lang="en" sz="1800" baseline="30000">
                <a:solidFill>
                  <a:srgbClr val="FF00FF"/>
                </a:solidFill>
              </a:rPr>
              <a:t>(0)</a:t>
            </a:r>
            <a:r>
              <a:rPr lang="en" sz="1800" baseline="-25000">
                <a:solidFill>
                  <a:srgbClr val="FF00FF"/>
                </a:solidFill>
              </a:rPr>
              <a:t>2</a:t>
            </a:r>
            <a:r>
              <a:rPr lang="en" sz="1800">
                <a:solidFill>
                  <a:srgbClr val="FF00FF"/>
                </a:solidFill>
              </a:rPr>
              <a:t>(x)</a:t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3224800" y="3786700"/>
            <a:ext cx="253200" cy="2532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6" name="Google Shape;306;p26"/>
          <p:cNvCxnSpPr>
            <a:endCxn id="290" idx="2"/>
          </p:cNvCxnSpPr>
          <p:nvPr/>
        </p:nvCxnSpPr>
        <p:spPr>
          <a:xfrm rot="10800000" flipH="1">
            <a:off x="3478000" y="2277700"/>
            <a:ext cx="893700" cy="1509000"/>
          </a:xfrm>
          <a:prstGeom prst="straightConnector1">
            <a:avLst/>
          </a:prstGeom>
          <a:noFill/>
          <a:ln w="9525" cap="flat" cmpd="sng">
            <a:solidFill>
              <a:srgbClr val="F6B26B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7" name="Google Shape;307;p26"/>
          <p:cNvCxnSpPr>
            <a:stCxn id="305" idx="7"/>
            <a:endCxn id="293" idx="2"/>
          </p:cNvCxnSpPr>
          <p:nvPr/>
        </p:nvCxnSpPr>
        <p:spPr>
          <a:xfrm rot="10800000" flipH="1">
            <a:off x="3440920" y="3279580"/>
            <a:ext cx="930900" cy="544200"/>
          </a:xfrm>
          <a:prstGeom prst="straightConnector1">
            <a:avLst/>
          </a:prstGeom>
          <a:noFill/>
          <a:ln w="9525" cap="flat" cmpd="sng">
            <a:solidFill>
              <a:srgbClr val="F9CB9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8" name="Google Shape;298;p26"/>
          <p:cNvSpPr/>
          <p:nvPr/>
        </p:nvSpPr>
        <p:spPr>
          <a:xfrm>
            <a:off x="5521625" y="2161325"/>
            <a:ext cx="787500" cy="253200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FFFF"/>
                </a:solidFill>
              </a:rPr>
              <a:t>tanh</a:t>
            </a:r>
            <a:endParaRPr u="sng">
              <a:solidFill>
                <a:srgbClr val="FFFFFF"/>
              </a:solidFill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5521625" y="3153125"/>
            <a:ext cx="787500" cy="253200"/>
          </a:xfrm>
          <a:prstGeom prst="ellipse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FFFF"/>
                </a:solidFill>
              </a:rPr>
              <a:t>tanh</a:t>
            </a:r>
            <a:endParaRPr u="sng">
              <a:solidFill>
                <a:srgbClr val="FFFFFF"/>
              </a:solidFill>
            </a:endParaRPr>
          </a:p>
        </p:txBody>
      </p:sp>
      <p:cxnSp>
        <p:nvCxnSpPr>
          <p:cNvPr id="308" name="Google Shape;308;p26"/>
          <p:cNvCxnSpPr>
            <a:stCxn id="293" idx="6"/>
            <a:endCxn id="300" idx="2"/>
          </p:cNvCxnSpPr>
          <p:nvPr/>
        </p:nvCxnSpPr>
        <p:spPr>
          <a:xfrm>
            <a:off x="5159200" y="3279725"/>
            <a:ext cx="362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9" name="Google Shape;309;p26"/>
          <p:cNvCxnSpPr>
            <a:stCxn id="298" idx="6"/>
            <a:endCxn id="296" idx="2"/>
          </p:cNvCxnSpPr>
          <p:nvPr/>
        </p:nvCxnSpPr>
        <p:spPr>
          <a:xfrm>
            <a:off x="6309125" y="2287925"/>
            <a:ext cx="549600" cy="49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" name="Google Shape;310;p26"/>
          <p:cNvCxnSpPr>
            <a:stCxn id="293" idx="6"/>
            <a:endCxn id="298" idx="2"/>
          </p:cNvCxnSpPr>
          <p:nvPr/>
        </p:nvCxnSpPr>
        <p:spPr>
          <a:xfrm rot="10800000" flipH="1">
            <a:off x="5159200" y="2287925"/>
            <a:ext cx="362400" cy="99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1" name="Google Shape;311;p26"/>
          <p:cNvCxnSpPr>
            <a:stCxn id="290" idx="6"/>
            <a:endCxn id="300" idx="2"/>
          </p:cNvCxnSpPr>
          <p:nvPr/>
        </p:nvCxnSpPr>
        <p:spPr>
          <a:xfrm>
            <a:off x="5159200" y="2277700"/>
            <a:ext cx="362400" cy="100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26"/>
          <p:cNvSpPr/>
          <p:nvPr/>
        </p:nvSpPr>
        <p:spPr>
          <a:xfrm>
            <a:off x="4850125" y="3786700"/>
            <a:ext cx="253200" cy="253200"/>
          </a:xfrm>
          <a:prstGeom prst="ellipse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3" name="Google Shape;313;p26"/>
          <p:cNvCxnSpPr>
            <a:stCxn id="312" idx="6"/>
            <a:endCxn id="298" idx="2"/>
          </p:cNvCxnSpPr>
          <p:nvPr/>
        </p:nvCxnSpPr>
        <p:spPr>
          <a:xfrm rot="10800000" flipH="1">
            <a:off x="5103325" y="2287900"/>
            <a:ext cx="418200" cy="1625400"/>
          </a:xfrm>
          <a:prstGeom prst="straightConnector1">
            <a:avLst/>
          </a:prstGeom>
          <a:noFill/>
          <a:ln w="9525" cap="flat" cmpd="sng">
            <a:solidFill>
              <a:srgbClr val="FFE59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4" name="Google Shape;314;p26"/>
          <p:cNvCxnSpPr>
            <a:stCxn id="312" idx="5"/>
            <a:endCxn id="300" idx="2"/>
          </p:cNvCxnSpPr>
          <p:nvPr/>
        </p:nvCxnSpPr>
        <p:spPr>
          <a:xfrm rot="10800000" flipH="1">
            <a:off x="5066245" y="3279820"/>
            <a:ext cx="455400" cy="723000"/>
          </a:xfrm>
          <a:prstGeom prst="straightConnector1">
            <a:avLst/>
          </a:prstGeom>
          <a:noFill/>
          <a:ln w="9525" cap="flat" cmpd="sng">
            <a:solidFill>
              <a:srgbClr val="FFE59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5" name="Google Shape;315;p26"/>
          <p:cNvSpPr txBox="1"/>
          <p:nvPr/>
        </p:nvSpPr>
        <p:spPr>
          <a:xfrm>
            <a:off x="5259950" y="4404075"/>
            <a:ext cx="23775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Higher-level features</a:t>
            </a:r>
            <a:endParaRPr sz="1800"/>
          </a:p>
        </p:txBody>
      </p:sp>
      <p:cxnSp>
        <p:nvCxnSpPr>
          <p:cNvPr id="316" name="Google Shape;316;p26"/>
          <p:cNvCxnSpPr>
            <a:stCxn id="315" idx="0"/>
          </p:cNvCxnSpPr>
          <p:nvPr/>
        </p:nvCxnSpPr>
        <p:spPr>
          <a:xfrm rot="10800000">
            <a:off x="5947700" y="3439575"/>
            <a:ext cx="501000" cy="96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7" name="Google Shape;317;p26"/>
          <p:cNvCxnSpPr>
            <a:stCxn id="315" idx="0"/>
            <a:endCxn id="293" idx="6"/>
          </p:cNvCxnSpPr>
          <p:nvPr/>
        </p:nvCxnSpPr>
        <p:spPr>
          <a:xfrm rot="10800000">
            <a:off x="5159300" y="3279675"/>
            <a:ext cx="1289400" cy="112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Tại sao lại cần hàm kích hoạt phi tuyến?</a:t>
            </a:r>
            <a:endParaRPr sz="1400"/>
          </a:p>
        </p:txBody>
      </p:sp>
      <p:sp>
        <p:nvSpPr>
          <p:cNvPr id="323" name="Google Shape;32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324" name="Google Shape;3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50" y="3691288"/>
            <a:ext cx="88963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/>
        </p:nvSpPr>
        <p:spPr>
          <a:xfrm>
            <a:off x="5288100" y="2331400"/>
            <a:ext cx="3544200" cy="8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Ta có thể xấp xỉ hàm f(x) bất kỳ bằng nhiều lớp tuyến tính hay không? </a:t>
            </a:r>
            <a:endParaRPr/>
          </a:p>
        </p:txBody>
      </p:sp>
      <p:pic>
        <p:nvPicPr>
          <p:cNvPr id="326" name="Google Shape;32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8700" y="1982113"/>
            <a:ext cx="415290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Tại sao lại cần hàm kích hoạt phi tuyến?</a:t>
            </a:r>
            <a:endParaRPr sz="1400"/>
          </a:p>
        </p:txBody>
      </p:sp>
      <p:sp>
        <p:nvSpPr>
          <p:cNvPr id="332" name="Google Shape;33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333" name="Google Shape;3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200" y="2485525"/>
            <a:ext cx="2597550" cy="24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 txBox="1"/>
          <p:nvPr/>
        </p:nvSpPr>
        <p:spPr>
          <a:xfrm>
            <a:off x="311700" y="1161325"/>
            <a:ext cx="8709300" cy="13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Tổ hợp tuyến tính của các hàm phi tuyến (như sigmoid) có khả năng xấp xỉ rất tốt.</a:t>
            </a:r>
            <a:endParaRPr sz="1800">
              <a:solidFill>
                <a:srgbClr val="595959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Lượng neuron mỗi lớp càng nhiều, số tầng ẩn càng nhiều thì mạng càng có khả năng xấp xỉ các hàm phức tạp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"/>
          <p:cNvSpPr txBox="1">
            <a:spLocks noGrp="1"/>
          </p:cNvSpPr>
          <p:nvPr>
            <p:ph type="title"/>
          </p:nvPr>
        </p:nvSpPr>
        <p:spPr>
          <a:xfrm>
            <a:off x="311700" y="468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Tại sao lại cần các lớp ẩn</a:t>
            </a:r>
            <a:endParaRPr sz="1400"/>
          </a:p>
        </p:txBody>
      </p:sp>
      <p:sp>
        <p:nvSpPr>
          <p:cNvPr id="340" name="Google Shape;34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564550" y="4512200"/>
            <a:ext cx="41484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http://playground.tensorflow.org/</a:t>
            </a:r>
            <a:endParaRPr sz="1800"/>
          </a:p>
        </p:txBody>
      </p:sp>
      <p:pic>
        <p:nvPicPr>
          <p:cNvPr id="342" name="Google Shape;34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863" y="1239925"/>
            <a:ext cx="4093776" cy="3073061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9"/>
          <p:cNvSpPr txBox="1"/>
          <p:nvPr/>
        </p:nvSpPr>
        <p:spPr>
          <a:xfrm>
            <a:off x="5124250" y="1287700"/>
            <a:ext cx="3061500" cy="17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Các lớp ẩn giúp mạng neural net học từ dễ đến khó, học lower-level feature đến higher-level feature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 </a:t>
            </a:r>
            <a:br>
              <a:rPr lang="en"/>
            </a:br>
            <a:r>
              <a:rPr lang="en"/>
              <a:t>- Thuật toán lan truyền ngược</a:t>
            </a:r>
            <a:endParaRPr/>
          </a:p>
        </p:txBody>
      </p:sp>
      <p:sp>
        <p:nvSpPr>
          <p:cNvPr id="349" name="Google Shape;34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18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Partial Derivative (Đạo hàm từng phần)</a:t>
            </a:r>
            <a:endParaRPr sz="1400"/>
          </a:p>
        </p:txBody>
      </p:sp>
      <p:sp>
        <p:nvSpPr>
          <p:cNvPr id="355" name="Google Shape;35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457700" y="1589275"/>
            <a:ext cx="81318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Đạo hàm riêng trên từng biến nói cho chúng ta biết độ nhạy(sensitivity) của hàm số trên biến đó</a:t>
            </a:r>
            <a:endParaRPr/>
          </a:p>
        </p:txBody>
      </p:sp>
      <p:pic>
        <p:nvPicPr>
          <p:cNvPr id="357" name="Google Shape;3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8611" y="3235263"/>
            <a:ext cx="3831576" cy="2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450" y="3736075"/>
            <a:ext cx="1536085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451" y="4325675"/>
            <a:ext cx="1362090" cy="4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1"/>
          <p:cNvSpPr txBox="1"/>
          <p:nvPr/>
        </p:nvSpPr>
        <p:spPr>
          <a:xfrm>
            <a:off x="2798700" y="3736075"/>
            <a:ext cx="50427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Khi tăng giá trị của </a:t>
            </a:r>
            <a:r>
              <a:rPr lang="en" b="1"/>
              <a:t>x</a:t>
            </a:r>
            <a:r>
              <a:rPr lang="en"/>
              <a:t> lên một khoảng nhỏ    </a:t>
            </a:r>
            <a:r>
              <a:rPr lang="en" b="1"/>
              <a:t> </a:t>
            </a:r>
            <a:r>
              <a:rPr lang="en"/>
              <a:t>thì </a:t>
            </a:r>
            <a:r>
              <a:rPr lang="en" b="1"/>
              <a:t>f(x,y)</a:t>
            </a:r>
            <a:r>
              <a:rPr lang="en"/>
              <a:t> </a:t>
            </a:r>
            <a:r>
              <a:rPr lang="en" b="1"/>
              <a:t>giảm 2</a:t>
            </a:r>
            <a:r>
              <a:rPr lang="en"/>
              <a:t> </a:t>
            </a:r>
            <a:endParaRPr/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5250" y="1169475"/>
            <a:ext cx="1362100" cy="26806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2798700" y="4287300"/>
            <a:ext cx="59100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Tương tự, khi tăng giá trị của </a:t>
            </a:r>
            <a:r>
              <a:rPr lang="en" b="1"/>
              <a:t>y </a:t>
            </a:r>
            <a:r>
              <a:rPr lang="en"/>
              <a:t>lên một khoảng nhỏ   </a:t>
            </a:r>
            <a:r>
              <a:rPr lang="en" b="1"/>
              <a:t>  </a:t>
            </a:r>
            <a:r>
              <a:rPr lang="en"/>
              <a:t>thì</a:t>
            </a:r>
            <a:r>
              <a:rPr lang="en" b="1"/>
              <a:t> f(x,y)</a:t>
            </a:r>
            <a:r>
              <a:rPr lang="en"/>
              <a:t> </a:t>
            </a:r>
            <a:r>
              <a:rPr lang="en" b="1"/>
              <a:t>tăng 6</a:t>
            </a:r>
            <a:r>
              <a:rPr lang="en"/>
              <a:t>  </a:t>
            </a:r>
            <a:endParaRPr/>
          </a:p>
        </p:txBody>
      </p:sp>
      <p:cxnSp>
        <p:nvCxnSpPr>
          <p:cNvPr id="363" name="Google Shape;363;p31"/>
          <p:cNvCxnSpPr/>
          <p:nvPr/>
        </p:nvCxnSpPr>
        <p:spPr>
          <a:xfrm>
            <a:off x="3881200" y="2310925"/>
            <a:ext cx="99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4" name="Google Shape;364;p31"/>
          <p:cNvCxnSpPr/>
          <p:nvPr/>
        </p:nvCxnSpPr>
        <p:spPr>
          <a:xfrm>
            <a:off x="3897863" y="2869200"/>
            <a:ext cx="994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65" name="Google Shape;365;p31" descr="\frac{df(x; \ y)}{dx} = \lim_{\epsilon\ \to 0} \frac{f(x + \epsilon; \ y) - f(x; \ y)}{\epsilon}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7800" y="2095975"/>
            <a:ext cx="3404226" cy="48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1" descr="\frac{df(y; \ x)}{dy} = \lim_{\epsilon\ \to 0} \frac{f(y + \epsilon; \ x) - f(y; \ x )}{\epsilon}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713" y="2662700"/>
            <a:ext cx="3244400" cy="48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1" descr="\epsilon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61198" y="3785788"/>
            <a:ext cx="180200" cy="29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1" descr="\epsilon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65550" y="4327363"/>
            <a:ext cx="180198" cy="29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1" descr="\epsilon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50098" y="3785788"/>
            <a:ext cx="180200" cy="29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1" descr="\epsilon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84423" y="4327363"/>
            <a:ext cx="180200" cy="29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1" descr="f(x + \epsilon; \ y) = f(x; \ y) + \epsilon \frac{df(x; \ y)}{dx}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77350" y="2031315"/>
            <a:ext cx="3244400" cy="446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1" descr="f(y + \epsilon; \ x) = f(y; \ x) + \epsilon \frac{df(y; \ x)}{dy}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61842" y="2615938"/>
            <a:ext cx="3259908" cy="48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Partial Derivative</a:t>
            </a:r>
            <a:endParaRPr sz="1400"/>
          </a:p>
        </p:txBody>
      </p:sp>
      <p:sp>
        <p:nvSpPr>
          <p:cNvPr id="378" name="Google Shape;378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379" name="Google Shape;3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62" y="1652813"/>
            <a:ext cx="2958825" cy="352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550" y="2167550"/>
            <a:ext cx="2791635" cy="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6850" y="2739925"/>
            <a:ext cx="142597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1638" y="1908025"/>
            <a:ext cx="4048125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150" y="3400975"/>
            <a:ext cx="1790619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6148" y="2739925"/>
            <a:ext cx="152959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6638" y="4018025"/>
            <a:ext cx="176964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68050" y="4038375"/>
            <a:ext cx="1158603" cy="3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2"/>
          <p:cNvSpPr txBox="1"/>
          <p:nvPr/>
        </p:nvSpPr>
        <p:spPr>
          <a:xfrm>
            <a:off x="2637775" y="4810725"/>
            <a:ext cx="3938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CS231n Convolutional Neural Networks for Visual Recognition - Stanford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Partial Derivative</a:t>
            </a:r>
            <a:endParaRPr sz="1400"/>
          </a:p>
        </p:txBody>
      </p:sp>
      <p:sp>
        <p:nvSpPr>
          <p:cNvPr id="393" name="Google Shape;39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394" name="Google Shape;3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175" y="1513400"/>
            <a:ext cx="4605675" cy="222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3"/>
          <p:cNvSpPr txBox="1"/>
          <p:nvPr/>
        </p:nvSpPr>
        <p:spPr>
          <a:xfrm>
            <a:off x="888925" y="4291100"/>
            <a:ext cx="33090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calculate partial derivative of:</a:t>
            </a:r>
            <a:endParaRPr/>
          </a:p>
        </p:txBody>
      </p:sp>
      <p:pic>
        <p:nvPicPr>
          <p:cNvPr id="396" name="Google Shape;39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0393" y="4291100"/>
            <a:ext cx="3809124" cy="50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Partial Derivative</a:t>
            </a:r>
            <a:endParaRPr sz="1400"/>
          </a:p>
        </p:txBody>
      </p:sp>
      <p:sp>
        <p:nvSpPr>
          <p:cNvPr id="402" name="Google Shape;402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403" name="Google Shape;4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2225" y="2528012"/>
            <a:ext cx="5640226" cy="19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600" y="2109625"/>
            <a:ext cx="1167300" cy="223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273" y="1502072"/>
            <a:ext cx="296489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1900" y="1502075"/>
            <a:ext cx="2052343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1900" y="2036900"/>
            <a:ext cx="1416150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41900" y="2513513"/>
            <a:ext cx="814826" cy="331187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4"/>
          <p:cNvSpPr txBox="1"/>
          <p:nvPr/>
        </p:nvSpPr>
        <p:spPr>
          <a:xfrm>
            <a:off x="2637775" y="4810725"/>
            <a:ext cx="3938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CS231n Convolutional Neural Networks for Visual Recognition - Stanford</a:t>
            </a:r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Multivariable Chain Rule</a:t>
            </a:r>
            <a:endParaRPr sz="1400"/>
          </a:p>
        </p:txBody>
      </p:sp>
      <p:sp>
        <p:nvSpPr>
          <p:cNvPr id="415" name="Google Shape;415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1065650" y="3952925"/>
            <a:ext cx="552600" cy="552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5"/>
          <p:cNvSpPr/>
          <p:nvPr/>
        </p:nvSpPr>
        <p:spPr>
          <a:xfrm>
            <a:off x="2465650" y="3952925"/>
            <a:ext cx="552600" cy="552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5"/>
          <p:cNvSpPr/>
          <p:nvPr/>
        </p:nvSpPr>
        <p:spPr>
          <a:xfrm>
            <a:off x="907700" y="2600250"/>
            <a:ext cx="552600" cy="552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5"/>
          <p:cNvSpPr/>
          <p:nvPr/>
        </p:nvSpPr>
        <p:spPr>
          <a:xfrm>
            <a:off x="2718350" y="2600250"/>
            <a:ext cx="552600" cy="552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5"/>
          <p:cNvSpPr/>
          <p:nvPr/>
        </p:nvSpPr>
        <p:spPr>
          <a:xfrm>
            <a:off x="1770775" y="1568200"/>
            <a:ext cx="552600" cy="552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1" name="Google Shape;421;p35"/>
          <p:cNvCxnSpPr>
            <a:stCxn id="416" idx="0"/>
            <a:endCxn id="418" idx="4"/>
          </p:cNvCxnSpPr>
          <p:nvPr/>
        </p:nvCxnSpPr>
        <p:spPr>
          <a:xfrm rot="10800000">
            <a:off x="1184150" y="3152825"/>
            <a:ext cx="157800" cy="8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2" name="Google Shape;422;p35"/>
          <p:cNvCxnSpPr>
            <a:stCxn id="417" idx="0"/>
            <a:endCxn id="419" idx="4"/>
          </p:cNvCxnSpPr>
          <p:nvPr/>
        </p:nvCxnSpPr>
        <p:spPr>
          <a:xfrm rot="10800000" flipH="1">
            <a:off x="2741950" y="3152825"/>
            <a:ext cx="252600" cy="8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3" name="Google Shape;423;p35"/>
          <p:cNvCxnSpPr>
            <a:stCxn id="419" idx="0"/>
            <a:endCxn id="420" idx="5"/>
          </p:cNvCxnSpPr>
          <p:nvPr/>
        </p:nvCxnSpPr>
        <p:spPr>
          <a:xfrm rot="10800000">
            <a:off x="2242550" y="2039850"/>
            <a:ext cx="752100" cy="56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4" name="Google Shape;424;p35"/>
          <p:cNvCxnSpPr>
            <a:stCxn id="418" idx="0"/>
            <a:endCxn id="420" idx="3"/>
          </p:cNvCxnSpPr>
          <p:nvPr/>
        </p:nvCxnSpPr>
        <p:spPr>
          <a:xfrm rot="10800000" flipH="1">
            <a:off x="1184000" y="2039850"/>
            <a:ext cx="667800" cy="56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5" name="Google Shape;425;p35"/>
          <p:cNvCxnSpPr>
            <a:stCxn id="416" idx="7"/>
            <a:endCxn id="419" idx="3"/>
          </p:cNvCxnSpPr>
          <p:nvPr/>
        </p:nvCxnSpPr>
        <p:spPr>
          <a:xfrm rot="10800000" flipH="1">
            <a:off x="1537324" y="3072051"/>
            <a:ext cx="1262100" cy="96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6" name="Google Shape;426;p35"/>
          <p:cNvCxnSpPr>
            <a:stCxn id="417" idx="1"/>
            <a:endCxn id="418" idx="5"/>
          </p:cNvCxnSpPr>
          <p:nvPr/>
        </p:nvCxnSpPr>
        <p:spPr>
          <a:xfrm rot="10800000">
            <a:off x="1379276" y="3072051"/>
            <a:ext cx="1167300" cy="96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27" name="Google Shape;427;p35" descr="z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875" y="1665625"/>
            <a:ext cx="252600" cy="357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5" descr="x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700" y="2730187"/>
            <a:ext cx="252600" cy="292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5" descr="y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6450" y="2662450"/>
            <a:ext cx="252600" cy="42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5" descr="u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5650" y="4082875"/>
            <a:ext cx="252600" cy="292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5" descr="v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5650" y="4056663"/>
            <a:ext cx="252600" cy="345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5" descr="\frac{\partial z }{\partial x}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6713" y="1768588"/>
            <a:ext cx="412384" cy="5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5" descr="\frac{\partial x}{\partial u}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1525" y="3276587"/>
            <a:ext cx="412374" cy="552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5" descr="\frac{\partial x}{\partial v}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08113" y="2760563"/>
            <a:ext cx="412374" cy="552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5" descr="\frac{\partial y}{\partial u}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68300" y="2739438"/>
            <a:ext cx="412374" cy="594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5" descr="\frac{\partial y}{\partial v}" title="MathEquation,#0000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13150" y="3276600"/>
            <a:ext cx="365658" cy="55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5" descr="\frac{\partial z}{\partial y}" title="MathEquation,#000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625050" y="1768600"/>
            <a:ext cx="365650" cy="552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5" descr="\frac{\partial z}{\partial v} = \frac{\partial z}{\partial x}\frac{\partial x}{\partial v} + \frac{\partial z}{\partial y}\frac{\partial y}{\partial v} 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782188" y="3204325"/>
            <a:ext cx="3402670" cy="7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5" descr="\frac{\partial z}{\partial u} = \frac{\partial z}{\partial x}\frac{\partial x}{\partial u} + \frac{\partial z}{\partial y}\frac{\partial y}{\partial u} " title="MathEquation,#0000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805300" y="2360600"/>
            <a:ext cx="3356448" cy="73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Multivariable Chain Rule</a:t>
            </a:r>
            <a:endParaRPr sz="1400"/>
          </a:p>
        </p:txBody>
      </p:sp>
      <p:sp>
        <p:nvSpPr>
          <p:cNvPr id="445" name="Google Shape;44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446" name="Google Shape;446;p36"/>
          <p:cNvSpPr/>
          <p:nvPr/>
        </p:nvSpPr>
        <p:spPr>
          <a:xfrm>
            <a:off x="6447175" y="1809363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6"/>
          <p:cNvSpPr/>
          <p:nvPr/>
        </p:nvSpPr>
        <p:spPr>
          <a:xfrm>
            <a:off x="6049825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6"/>
          <p:cNvSpPr/>
          <p:nvPr/>
        </p:nvSpPr>
        <p:spPr>
          <a:xfrm>
            <a:off x="7059500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6"/>
          <p:cNvSpPr/>
          <p:nvPr/>
        </p:nvSpPr>
        <p:spPr>
          <a:xfrm>
            <a:off x="8126300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0" name="Google Shape;450;p36" descr="x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5825" y="4263600"/>
            <a:ext cx="280450" cy="32638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6"/>
          <p:cNvSpPr/>
          <p:nvPr/>
        </p:nvSpPr>
        <p:spPr>
          <a:xfrm>
            <a:off x="5040150" y="3041925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2" name="Google Shape;452;p36"/>
          <p:cNvCxnSpPr>
            <a:stCxn id="450" idx="0"/>
            <a:endCxn id="451" idx="5"/>
          </p:cNvCxnSpPr>
          <p:nvPr/>
        </p:nvCxnSpPr>
        <p:spPr>
          <a:xfrm rot="10800000">
            <a:off x="5423450" y="3425400"/>
            <a:ext cx="1332600" cy="838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3" name="Google Shape;453;p36"/>
          <p:cNvCxnSpPr>
            <a:stCxn id="450" idx="0"/>
            <a:endCxn id="447" idx="4"/>
          </p:cNvCxnSpPr>
          <p:nvPr/>
        </p:nvCxnSpPr>
        <p:spPr>
          <a:xfrm rot="10800000">
            <a:off x="6274250" y="3436500"/>
            <a:ext cx="481800" cy="82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4" name="Google Shape;454;p36"/>
          <p:cNvCxnSpPr>
            <a:stCxn id="450" idx="0"/>
            <a:endCxn id="448" idx="4"/>
          </p:cNvCxnSpPr>
          <p:nvPr/>
        </p:nvCxnSpPr>
        <p:spPr>
          <a:xfrm rot="10800000" flipH="1">
            <a:off x="6756050" y="3436500"/>
            <a:ext cx="528000" cy="82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36"/>
          <p:cNvCxnSpPr>
            <a:stCxn id="450" idx="0"/>
            <a:endCxn id="449" idx="4"/>
          </p:cNvCxnSpPr>
          <p:nvPr/>
        </p:nvCxnSpPr>
        <p:spPr>
          <a:xfrm rot="10800000" flipH="1">
            <a:off x="6756050" y="3436500"/>
            <a:ext cx="1594800" cy="82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6" name="Google Shape;456;p36"/>
          <p:cNvCxnSpPr>
            <a:stCxn id="451" idx="0"/>
            <a:endCxn id="446" idx="4"/>
          </p:cNvCxnSpPr>
          <p:nvPr/>
        </p:nvCxnSpPr>
        <p:spPr>
          <a:xfrm rot="10800000" flipH="1">
            <a:off x="5264700" y="2258325"/>
            <a:ext cx="1407000" cy="783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7" name="Google Shape;457;p36"/>
          <p:cNvCxnSpPr>
            <a:stCxn id="447" idx="0"/>
            <a:endCxn id="446" idx="4"/>
          </p:cNvCxnSpPr>
          <p:nvPr/>
        </p:nvCxnSpPr>
        <p:spPr>
          <a:xfrm rot="10800000" flipH="1">
            <a:off x="6274375" y="2258500"/>
            <a:ext cx="397500" cy="72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" name="Google Shape;458;p36"/>
          <p:cNvCxnSpPr>
            <a:stCxn id="448" idx="0"/>
            <a:endCxn id="446" idx="4"/>
          </p:cNvCxnSpPr>
          <p:nvPr/>
        </p:nvCxnSpPr>
        <p:spPr>
          <a:xfrm rot="10800000">
            <a:off x="6671750" y="2258500"/>
            <a:ext cx="612300" cy="72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36"/>
          <p:cNvCxnSpPr>
            <a:stCxn id="449" idx="0"/>
            <a:endCxn id="446" idx="4"/>
          </p:cNvCxnSpPr>
          <p:nvPr/>
        </p:nvCxnSpPr>
        <p:spPr>
          <a:xfrm rot="10800000">
            <a:off x="6671750" y="2258500"/>
            <a:ext cx="1679100" cy="72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0" name="Google Shape;460;p36"/>
          <p:cNvCxnSpPr>
            <a:stCxn id="446" idx="0"/>
          </p:cNvCxnSpPr>
          <p:nvPr/>
        </p:nvCxnSpPr>
        <p:spPr>
          <a:xfrm rot="10800000">
            <a:off x="6654025" y="690663"/>
            <a:ext cx="17700" cy="1118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61" name="Google Shape;461;p36" descr="g_1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475" y="3138875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6" descr="g_3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4150" y="307885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6" descr="g_4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2388" y="308440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6" descr="g_4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10625" y="308440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6" descr="y_1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79575" y="2823648"/>
            <a:ext cx="284346" cy="25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6" descr="y_3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96275" y="2825400"/>
            <a:ext cx="280450" cy="251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6" descr="z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74375" y="1599938"/>
            <a:ext cx="229440" cy="32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6" descr="y_2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53700" y="2825400"/>
            <a:ext cx="280450" cy="251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6" descr="y_4" title="MathEquation,#0000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38850" y="2823650"/>
            <a:ext cx="284350" cy="255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6" descr="y_1 = g_1(x)" title="MathEquation,#000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06150" y="1506175"/>
            <a:ext cx="148532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6" descr="y_2 = g_2(x)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06150" y="2131225"/>
            <a:ext cx="148523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6" descr="y_3 = g_3(x)" title="MathEquation,#0000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06150" y="2699350"/>
            <a:ext cx="148526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6" descr="y_4 = g_4(x)" title="MathEquation,#00000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06150" y="3267475"/>
            <a:ext cx="1485324" cy="39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6" descr="h" title="MathEquation,#00000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557000" y="1853388"/>
            <a:ext cx="229450" cy="36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6" descr="z = h(y_1, y_2, y_3)" title="MathEquation,#00000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14275" y="3892525"/>
            <a:ext cx="2147300" cy="37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6" descr="\frac{\partial z}{\partial x} = \frac{\partial z}{\partial y_1}\frac{\partial y_1}{\partial x}\ +" title="MathEquation,#00000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537400" y="1447750"/>
            <a:ext cx="2147300" cy="63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7" name="Google Shape;477;p36"/>
          <p:cNvCxnSpPr/>
          <p:nvPr/>
        </p:nvCxnSpPr>
        <p:spPr>
          <a:xfrm>
            <a:off x="2351375" y="1414300"/>
            <a:ext cx="0" cy="2963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Multivariable Chain Rule</a:t>
            </a:r>
            <a:endParaRPr sz="1400"/>
          </a:p>
        </p:txBody>
      </p:sp>
      <p:sp>
        <p:nvSpPr>
          <p:cNvPr id="483" name="Google Shape;48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484" name="Google Shape;484;p37"/>
          <p:cNvSpPr/>
          <p:nvPr/>
        </p:nvSpPr>
        <p:spPr>
          <a:xfrm>
            <a:off x="6447175" y="1809363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7"/>
          <p:cNvSpPr/>
          <p:nvPr/>
        </p:nvSpPr>
        <p:spPr>
          <a:xfrm>
            <a:off x="6049825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7"/>
          <p:cNvSpPr/>
          <p:nvPr/>
        </p:nvSpPr>
        <p:spPr>
          <a:xfrm>
            <a:off x="7059500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7"/>
          <p:cNvSpPr/>
          <p:nvPr/>
        </p:nvSpPr>
        <p:spPr>
          <a:xfrm>
            <a:off x="8126300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8" name="Google Shape;488;p37" descr="x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5825" y="4263600"/>
            <a:ext cx="280450" cy="32638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7"/>
          <p:cNvSpPr/>
          <p:nvPr/>
        </p:nvSpPr>
        <p:spPr>
          <a:xfrm>
            <a:off x="5040150" y="3041925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0" name="Google Shape;490;p37"/>
          <p:cNvCxnSpPr>
            <a:stCxn id="488" idx="0"/>
            <a:endCxn id="489" idx="5"/>
          </p:cNvCxnSpPr>
          <p:nvPr/>
        </p:nvCxnSpPr>
        <p:spPr>
          <a:xfrm rot="10800000">
            <a:off x="5423450" y="3425400"/>
            <a:ext cx="1332600" cy="83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" name="Google Shape;491;p37"/>
          <p:cNvCxnSpPr>
            <a:stCxn id="488" idx="0"/>
            <a:endCxn id="485" idx="4"/>
          </p:cNvCxnSpPr>
          <p:nvPr/>
        </p:nvCxnSpPr>
        <p:spPr>
          <a:xfrm rot="10800000">
            <a:off x="6274250" y="3436500"/>
            <a:ext cx="481800" cy="827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Google Shape;492;p37"/>
          <p:cNvCxnSpPr>
            <a:stCxn id="488" idx="0"/>
            <a:endCxn id="486" idx="4"/>
          </p:cNvCxnSpPr>
          <p:nvPr/>
        </p:nvCxnSpPr>
        <p:spPr>
          <a:xfrm rot="10800000" flipH="1">
            <a:off x="6756050" y="3436500"/>
            <a:ext cx="528000" cy="82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3" name="Google Shape;493;p37"/>
          <p:cNvCxnSpPr>
            <a:stCxn id="488" idx="0"/>
            <a:endCxn id="487" idx="4"/>
          </p:cNvCxnSpPr>
          <p:nvPr/>
        </p:nvCxnSpPr>
        <p:spPr>
          <a:xfrm rot="10800000" flipH="1">
            <a:off x="6756050" y="3436500"/>
            <a:ext cx="1594800" cy="82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4" name="Google Shape;494;p37"/>
          <p:cNvCxnSpPr>
            <a:stCxn id="489" idx="0"/>
            <a:endCxn id="484" idx="4"/>
          </p:cNvCxnSpPr>
          <p:nvPr/>
        </p:nvCxnSpPr>
        <p:spPr>
          <a:xfrm rot="10800000" flipH="1">
            <a:off x="5264700" y="2258325"/>
            <a:ext cx="1407000" cy="78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5" name="Google Shape;495;p37"/>
          <p:cNvCxnSpPr>
            <a:stCxn id="485" idx="0"/>
            <a:endCxn id="484" idx="4"/>
          </p:cNvCxnSpPr>
          <p:nvPr/>
        </p:nvCxnSpPr>
        <p:spPr>
          <a:xfrm rot="10800000" flipH="1">
            <a:off x="6274375" y="2258500"/>
            <a:ext cx="397500" cy="729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6" name="Google Shape;496;p37"/>
          <p:cNvCxnSpPr>
            <a:stCxn id="486" idx="0"/>
            <a:endCxn id="484" idx="4"/>
          </p:cNvCxnSpPr>
          <p:nvPr/>
        </p:nvCxnSpPr>
        <p:spPr>
          <a:xfrm rot="10800000">
            <a:off x="6671750" y="2258500"/>
            <a:ext cx="612300" cy="72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7" name="Google Shape;497;p37"/>
          <p:cNvCxnSpPr>
            <a:stCxn id="487" idx="0"/>
            <a:endCxn id="484" idx="4"/>
          </p:cNvCxnSpPr>
          <p:nvPr/>
        </p:nvCxnSpPr>
        <p:spPr>
          <a:xfrm rot="10800000">
            <a:off x="6671750" y="2258500"/>
            <a:ext cx="1679100" cy="72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8" name="Google Shape;498;p37"/>
          <p:cNvCxnSpPr>
            <a:stCxn id="484" idx="0"/>
          </p:cNvCxnSpPr>
          <p:nvPr/>
        </p:nvCxnSpPr>
        <p:spPr>
          <a:xfrm rot="10800000">
            <a:off x="6654025" y="690663"/>
            <a:ext cx="17700" cy="1118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99" name="Google Shape;499;p37" descr="g_1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475" y="3138875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7" descr="g_3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4150" y="307885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7" descr="g_4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2388" y="308440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7" descr="g_4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10625" y="308440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7" descr="y_1 = g_1(x)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6150" y="1506175"/>
            <a:ext cx="148532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7" descr="y_2 = g_2(x)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6150" y="2131225"/>
            <a:ext cx="148523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7" descr="y_3 = g_3(x)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6150" y="2699350"/>
            <a:ext cx="148526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7" descr="y_4 = g_4(x)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6150" y="3267475"/>
            <a:ext cx="1485324" cy="39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7" descr="h" title="MathEquation,#0000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57000" y="1853388"/>
            <a:ext cx="229450" cy="36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z = h(y_1, y_2, y_3)" title="MathEquation,#000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4275" y="3892525"/>
            <a:ext cx="2147300" cy="37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7" descr="\frac{\partial z}{\partial x} = \frac{\partial z}{\partial y_1}\frac{\partial y_1}{\partial x}\ +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37400" y="1447750"/>
            <a:ext cx="2147300" cy="63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0" name="Google Shape;510;p37"/>
          <p:cNvCxnSpPr/>
          <p:nvPr/>
        </p:nvCxnSpPr>
        <p:spPr>
          <a:xfrm>
            <a:off x="2351375" y="1414300"/>
            <a:ext cx="0" cy="2963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11" name="Google Shape;511;p37" descr="\frac{\partial z}{\partial y_2}\frac{\partial y_2}{\partial x}\ +" title="MathEquation,#0000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374675" y="2176800"/>
            <a:ext cx="1332600" cy="64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7" descr="y_1" title="MathEquation,#00000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879575" y="2823648"/>
            <a:ext cx="284346" cy="25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7" descr="y_3" title="MathEquation,#00000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896275" y="2825400"/>
            <a:ext cx="280450" cy="251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7" descr="z" title="MathEquation,#00000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274375" y="1599938"/>
            <a:ext cx="229440" cy="32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7" descr="y_2" title="MathEquation,#00000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853700" y="2825400"/>
            <a:ext cx="280450" cy="251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7" descr="y_4" title="MathEquation,#00000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938850" y="2823650"/>
            <a:ext cx="284350" cy="25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Multivariable Chain Rule</a:t>
            </a:r>
            <a:endParaRPr sz="1400"/>
          </a:p>
        </p:txBody>
      </p:sp>
      <p:sp>
        <p:nvSpPr>
          <p:cNvPr id="522" name="Google Shape;522;p38"/>
          <p:cNvSpPr/>
          <p:nvPr/>
        </p:nvSpPr>
        <p:spPr>
          <a:xfrm>
            <a:off x="6447175" y="1809363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8"/>
          <p:cNvSpPr/>
          <p:nvPr/>
        </p:nvSpPr>
        <p:spPr>
          <a:xfrm>
            <a:off x="6049825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8"/>
          <p:cNvSpPr/>
          <p:nvPr/>
        </p:nvSpPr>
        <p:spPr>
          <a:xfrm>
            <a:off x="7059500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8"/>
          <p:cNvSpPr/>
          <p:nvPr/>
        </p:nvSpPr>
        <p:spPr>
          <a:xfrm>
            <a:off x="8126300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6" name="Google Shape;526;p38" descr="x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5825" y="4263600"/>
            <a:ext cx="280450" cy="326381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8"/>
          <p:cNvSpPr/>
          <p:nvPr/>
        </p:nvSpPr>
        <p:spPr>
          <a:xfrm>
            <a:off x="5040150" y="3041925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8" name="Google Shape;528;p38"/>
          <p:cNvCxnSpPr>
            <a:stCxn id="526" idx="0"/>
            <a:endCxn id="527" idx="5"/>
          </p:cNvCxnSpPr>
          <p:nvPr/>
        </p:nvCxnSpPr>
        <p:spPr>
          <a:xfrm rot="10800000">
            <a:off x="5423450" y="3425400"/>
            <a:ext cx="1332600" cy="83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9" name="Google Shape;529;p38"/>
          <p:cNvCxnSpPr>
            <a:stCxn id="526" idx="0"/>
            <a:endCxn id="523" idx="4"/>
          </p:cNvCxnSpPr>
          <p:nvPr/>
        </p:nvCxnSpPr>
        <p:spPr>
          <a:xfrm rot="10800000">
            <a:off x="6274250" y="3436500"/>
            <a:ext cx="481800" cy="82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0" name="Google Shape;530;p38"/>
          <p:cNvCxnSpPr>
            <a:stCxn id="526" idx="0"/>
            <a:endCxn id="524" idx="4"/>
          </p:cNvCxnSpPr>
          <p:nvPr/>
        </p:nvCxnSpPr>
        <p:spPr>
          <a:xfrm rot="10800000" flipH="1">
            <a:off x="6756050" y="3436500"/>
            <a:ext cx="528000" cy="827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1" name="Google Shape;531;p38"/>
          <p:cNvCxnSpPr>
            <a:stCxn id="526" idx="0"/>
            <a:endCxn id="525" idx="4"/>
          </p:cNvCxnSpPr>
          <p:nvPr/>
        </p:nvCxnSpPr>
        <p:spPr>
          <a:xfrm rot="10800000" flipH="1">
            <a:off x="6756050" y="3436500"/>
            <a:ext cx="1594800" cy="82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" name="Google Shape;532;p38"/>
          <p:cNvCxnSpPr>
            <a:stCxn id="527" idx="0"/>
            <a:endCxn id="522" idx="4"/>
          </p:cNvCxnSpPr>
          <p:nvPr/>
        </p:nvCxnSpPr>
        <p:spPr>
          <a:xfrm rot="10800000" flipH="1">
            <a:off x="5264700" y="2258325"/>
            <a:ext cx="1407000" cy="78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" name="Google Shape;533;p38"/>
          <p:cNvCxnSpPr>
            <a:stCxn id="523" idx="0"/>
            <a:endCxn id="522" idx="4"/>
          </p:cNvCxnSpPr>
          <p:nvPr/>
        </p:nvCxnSpPr>
        <p:spPr>
          <a:xfrm rot="10800000" flipH="1">
            <a:off x="6274375" y="2258500"/>
            <a:ext cx="397500" cy="72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4" name="Google Shape;534;p38"/>
          <p:cNvCxnSpPr>
            <a:stCxn id="524" idx="0"/>
            <a:endCxn id="522" idx="4"/>
          </p:cNvCxnSpPr>
          <p:nvPr/>
        </p:nvCxnSpPr>
        <p:spPr>
          <a:xfrm rot="10800000">
            <a:off x="6671750" y="2258500"/>
            <a:ext cx="612300" cy="729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5" name="Google Shape;535;p38"/>
          <p:cNvCxnSpPr>
            <a:stCxn id="525" idx="0"/>
            <a:endCxn id="522" idx="4"/>
          </p:cNvCxnSpPr>
          <p:nvPr/>
        </p:nvCxnSpPr>
        <p:spPr>
          <a:xfrm rot="10800000">
            <a:off x="6671750" y="2258500"/>
            <a:ext cx="1679100" cy="72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6" name="Google Shape;536;p38"/>
          <p:cNvCxnSpPr>
            <a:stCxn id="522" idx="0"/>
          </p:cNvCxnSpPr>
          <p:nvPr/>
        </p:nvCxnSpPr>
        <p:spPr>
          <a:xfrm rot="10800000">
            <a:off x="6654025" y="690663"/>
            <a:ext cx="17700" cy="1118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37" name="Google Shape;537;p38" descr="g_1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475" y="3138875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38" descr="g_3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4150" y="307885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38" descr="g_4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2388" y="308440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8" descr="g_4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10625" y="308440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38" descr="y_1 = g_1(x)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6150" y="1506175"/>
            <a:ext cx="148532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38" descr="y_2 = g_2(x)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6150" y="2131225"/>
            <a:ext cx="148523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8" descr="y_3 = g_3(x)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6150" y="2699350"/>
            <a:ext cx="148526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38" descr="y_4 = g_4(x)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6150" y="3267475"/>
            <a:ext cx="1485324" cy="39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8" descr="h" title="MathEquation,#0000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57000" y="1853388"/>
            <a:ext cx="229450" cy="36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8" descr="z = h(y_1, y_2, y_3)" title="MathEquation,#000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4275" y="3892525"/>
            <a:ext cx="2147300" cy="37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38" descr="\frac{\partial z}{\partial x} = \frac{\partial z}{\partial y_1}\frac{\partial y_1}{\partial x}\ +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37400" y="1447750"/>
            <a:ext cx="2147300" cy="63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38"/>
          <p:cNvCxnSpPr/>
          <p:nvPr/>
        </p:nvCxnSpPr>
        <p:spPr>
          <a:xfrm>
            <a:off x="2351375" y="1414300"/>
            <a:ext cx="0" cy="2963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49" name="Google Shape;549;p38" descr="\frac{\partial z}{\partial y_2}\frac{\partial y_2}{\partial x}\ +" title="MathEquation,#0000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374675" y="2176800"/>
            <a:ext cx="1332600" cy="64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8" descr="\frac{\partial z}{\partial y_3} \frac{\partial y_3}{\partial x} \ +" title="MathEquation,#00000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390175" y="2918025"/>
            <a:ext cx="1292360" cy="6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8" descr="y_1" title="MathEquation,#00000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879575" y="2823648"/>
            <a:ext cx="284346" cy="25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8" descr="y_3" title="MathEquation,#00000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896275" y="2825400"/>
            <a:ext cx="280450" cy="251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8" descr="z" title="MathEquation,#00000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274375" y="1599938"/>
            <a:ext cx="229440" cy="32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8" descr="y_2" title="MathEquation,#00000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853700" y="2825400"/>
            <a:ext cx="280450" cy="251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8" descr="y_4" title="MathEquation,#00000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938850" y="2823650"/>
            <a:ext cx="284350" cy="25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Multivariable Chain Rule</a:t>
            </a:r>
            <a:endParaRPr sz="1400"/>
          </a:p>
        </p:txBody>
      </p:sp>
      <p:sp>
        <p:nvSpPr>
          <p:cNvPr id="561" name="Google Shape;561;p39"/>
          <p:cNvSpPr/>
          <p:nvPr/>
        </p:nvSpPr>
        <p:spPr>
          <a:xfrm>
            <a:off x="6447175" y="1809363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9"/>
          <p:cNvSpPr/>
          <p:nvPr/>
        </p:nvSpPr>
        <p:spPr>
          <a:xfrm>
            <a:off x="6049825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39"/>
          <p:cNvSpPr/>
          <p:nvPr/>
        </p:nvSpPr>
        <p:spPr>
          <a:xfrm>
            <a:off x="7059500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39"/>
          <p:cNvSpPr/>
          <p:nvPr/>
        </p:nvSpPr>
        <p:spPr>
          <a:xfrm>
            <a:off x="8126300" y="2987500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5" name="Google Shape;565;p39" descr="x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5825" y="4263600"/>
            <a:ext cx="280450" cy="326381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9"/>
          <p:cNvSpPr/>
          <p:nvPr/>
        </p:nvSpPr>
        <p:spPr>
          <a:xfrm>
            <a:off x="5040150" y="3041925"/>
            <a:ext cx="449100" cy="449100"/>
          </a:xfrm>
          <a:prstGeom prst="ellipse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67" name="Google Shape;567;p39"/>
          <p:cNvCxnSpPr>
            <a:stCxn id="565" idx="0"/>
            <a:endCxn id="566" idx="5"/>
          </p:cNvCxnSpPr>
          <p:nvPr/>
        </p:nvCxnSpPr>
        <p:spPr>
          <a:xfrm rot="10800000">
            <a:off x="5423450" y="3425400"/>
            <a:ext cx="1332600" cy="83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8" name="Google Shape;568;p39"/>
          <p:cNvCxnSpPr>
            <a:stCxn id="565" idx="0"/>
            <a:endCxn id="562" idx="4"/>
          </p:cNvCxnSpPr>
          <p:nvPr/>
        </p:nvCxnSpPr>
        <p:spPr>
          <a:xfrm rot="10800000">
            <a:off x="6274250" y="3436500"/>
            <a:ext cx="481800" cy="82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9" name="Google Shape;569;p39"/>
          <p:cNvCxnSpPr>
            <a:stCxn id="565" idx="0"/>
            <a:endCxn id="563" idx="4"/>
          </p:cNvCxnSpPr>
          <p:nvPr/>
        </p:nvCxnSpPr>
        <p:spPr>
          <a:xfrm rot="10800000" flipH="1">
            <a:off x="6756050" y="3436500"/>
            <a:ext cx="528000" cy="82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0" name="Google Shape;570;p39"/>
          <p:cNvCxnSpPr>
            <a:stCxn id="565" idx="0"/>
            <a:endCxn id="564" idx="4"/>
          </p:cNvCxnSpPr>
          <p:nvPr/>
        </p:nvCxnSpPr>
        <p:spPr>
          <a:xfrm rot="10800000" flipH="1">
            <a:off x="6756050" y="3436500"/>
            <a:ext cx="1594800" cy="827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1" name="Google Shape;571;p39"/>
          <p:cNvCxnSpPr>
            <a:stCxn id="566" idx="0"/>
            <a:endCxn id="561" idx="4"/>
          </p:cNvCxnSpPr>
          <p:nvPr/>
        </p:nvCxnSpPr>
        <p:spPr>
          <a:xfrm rot="10800000" flipH="1">
            <a:off x="5264700" y="2258325"/>
            <a:ext cx="1407000" cy="78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2" name="Google Shape;572;p39"/>
          <p:cNvCxnSpPr>
            <a:stCxn id="562" idx="0"/>
            <a:endCxn id="561" idx="4"/>
          </p:cNvCxnSpPr>
          <p:nvPr/>
        </p:nvCxnSpPr>
        <p:spPr>
          <a:xfrm rot="10800000" flipH="1">
            <a:off x="6274375" y="2258500"/>
            <a:ext cx="397500" cy="72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3" name="Google Shape;573;p39"/>
          <p:cNvCxnSpPr>
            <a:stCxn id="563" idx="0"/>
            <a:endCxn id="561" idx="4"/>
          </p:cNvCxnSpPr>
          <p:nvPr/>
        </p:nvCxnSpPr>
        <p:spPr>
          <a:xfrm rot="10800000">
            <a:off x="6671750" y="2258500"/>
            <a:ext cx="612300" cy="72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4" name="Google Shape;574;p39"/>
          <p:cNvCxnSpPr>
            <a:stCxn id="564" idx="0"/>
            <a:endCxn id="561" idx="4"/>
          </p:cNvCxnSpPr>
          <p:nvPr/>
        </p:nvCxnSpPr>
        <p:spPr>
          <a:xfrm rot="10800000">
            <a:off x="6671750" y="2258500"/>
            <a:ext cx="1679100" cy="729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5" name="Google Shape;575;p39"/>
          <p:cNvCxnSpPr>
            <a:stCxn id="561" idx="0"/>
          </p:cNvCxnSpPr>
          <p:nvPr/>
        </p:nvCxnSpPr>
        <p:spPr>
          <a:xfrm rot="10800000">
            <a:off x="6654025" y="690663"/>
            <a:ext cx="17700" cy="1118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76" name="Google Shape;576;p39" descr="g_1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475" y="3138875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9" descr="g_3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4150" y="307885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39" descr="g_4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2388" y="308440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39" descr="g_4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10625" y="3084400"/>
            <a:ext cx="280450" cy="255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9" descr="y_1 = g_1(x)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6150" y="1506175"/>
            <a:ext cx="1485322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39" descr="y_2 = g_2(x)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6150" y="2131225"/>
            <a:ext cx="148523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39" descr="y_3 = g_3(x)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6150" y="2699350"/>
            <a:ext cx="148526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39" descr="y_4 = g_4(x)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6150" y="3267475"/>
            <a:ext cx="1485324" cy="39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39" descr="h" title="MathEquation,#0000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57000" y="1853388"/>
            <a:ext cx="229450" cy="36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39" descr="z = h(y_1, y_2, y_3)" title="MathEquation,#000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4275" y="3892525"/>
            <a:ext cx="2147300" cy="37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39" descr="\frac{\partial z}{\partial x} = \frac{\partial z}{\partial y_1}\frac{\partial y_1}{\partial x}\ +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37400" y="1447750"/>
            <a:ext cx="2147300" cy="63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7" name="Google Shape;587;p39"/>
          <p:cNvCxnSpPr/>
          <p:nvPr/>
        </p:nvCxnSpPr>
        <p:spPr>
          <a:xfrm>
            <a:off x="2351375" y="1414300"/>
            <a:ext cx="0" cy="2963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88" name="Google Shape;588;p39" descr="\frac{\partial z}{\partial y_2}\frac{\partial y_2}{\partial x}\ +" title="MathEquation,#0000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374675" y="2176800"/>
            <a:ext cx="1332600" cy="64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39" descr="\frac{\partial z}{\partial y_3} \frac{\partial y_3}{\partial x} \ +" title="MathEquation,#00000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390175" y="2918025"/>
            <a:ext cx="1292360" cy="6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9" descr="\frac{\partial z}{\partial y_4} \frac{\partial y_4}{\partial x}" title="MathEquation,#00000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396613" y="3659250"/>
            <a:ext cx="981602" cy="64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39" descr="y_1" title="MathEquation,#00000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879575" y="2823648"/>
            <a:ext cx="284346" cy="25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9" descr="y_3" title="MathEquation,#00000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896275" y="2825400"/>
            <a:ext cx="280450" cy="251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9" descr="z" title="MathEquation,#00000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274375" y="1599938"/>
            <a:ext cx="229440" cy="32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9" descr="y_2" title="MathEquation,#00000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853700" y="2825400"/>
            <a:ext cx="280450" cy="251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9" descr="y_4" title="MathEquation,#000000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938850" y="2823650"/>
            <a:ext cx="284350" cy="25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601" name="Google Shape;60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Quy ước</a:t>
            </a:r>
            <a:endParaRPr sz="1400"/>
          </a:p>
        </p:txBody>
      </p:sp>
      <p:pic>
        <p:nvPicPr>
          <p:cNvPr id="602" name="Google Shape;60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063" y="1093925"/>
            <a:ext cx="535187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Copy Node</a:t>
            </a:r>
            <a:endParaRPr sz="1400"/>
          </a:p>
        </p:txBody>
      </p:sp>
      <p:sp>
        <p:nvSpPr>
          <p:cNvPr id="608" name="Google Shape;608;p41"/>
          <p:cNvSpPr/>
          <p:nvPr/>
        </p:nvSpPr>
        <p:spPr>
          <a:xfrm>
            <a:off x="7652515" y="2272095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Copy</a:t>
            </a:r>
            <a:endParaRPr sz="700" b="1"/>
          </a:p>
        </p:txBody>
      </p:sp>
      <p:cxnSp>
        <p:nvCxnSpPr>
          <p:cNvPr id="609" name="Google Shape;609;p41"/>
          <p:cNvCxnSpPr>
            <a:endCxn id="608" idx="4"/>
          </p:cNvCxnSpPr>
          <p:nvPr/>
        </p:nvCxnSpPr>
        <p:spPr>
          <a:xfrm rot="10800000">
            <a:off x="7943065" y="2853195"/>
            <a:ext cx="15900" cy="83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0" name="Google Shape;610;p41"/>
          <p:cNvCxnSpPr/>
          <p:nvPr/>
        </p:nvCxnSpPr>
        <p:spPr>
          <a:xfrm rot="10800000">
            <a:off x="7020480" y="1739122"/>
            <a:ext cx="692100" cy="61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1" name="Google Shape;611;p41"/>
          <p:cNvCxnSpPr>
            <a:stCxn id="608" idx="0"/>
          </p:cNvCxnSpPr>
          <p:nvPr/>
        </p:nvCxnSpPr>
        <p:spPr>
          <a:xfrm rot="10800000">
            <a:off x="7943065" y="1530795"/>
            <a:ext cx="0" cy="741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2" name="Google Shape;612;p41"/>
          <p:cNvCxnSpPr>
            <a:stCxn id="608" idx="7"/>
          </p:cNvCxnSpPr>
          <p:nvPr/>
        </p:nvCxnSpPr>
        <p:spPr>
          <a:xfrm rot="10800000" flipH="1">
            <a:off x="8148515" y="1786295"/>
            <a:ext cx="570900" cy="57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3" name="Google Shape;613;p41"/>
          <p:cNvSpPr/>
          <p:nvPr/>
        </p:nvSpPr>
        <p:spPr>
          <a:xfrm>
            <a:off x="5795577" y="2321083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Copy</a:t>
            </a:r>
            <a:endParaRPr sz="700" b="1"/>
          </a:p>
        </p:txBody>
      </p:sp>
      <p:cxnSp>
        <p:nvCxnSpPr>
          <p:cNvPr id="614" name="Google Shape;614;p41"/>
          <p:cNvCxnSpPr>
            <a:endCxn id="613" idx="1"/>
          </p:cNvCxnSpPr>
          <p:nvPr/>
        </p:nvCxnSpPr>
        <p:spPr>
          <a:xfrm>
            <a:off x="5262977" y="1658283"/>
            <a:ext cx="617700" cy="74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5" name="Google Shape;615;p41"/>
          <p:cNvCxnSpPr>
            <a:endCxn id="613" idx="0"/>
          </p:cNvCxnSpPr>
          <p:nvPr/>
        </p:nvCxnSpPr>
        <p:spPr>
          <a:xfrm>
            <a:off x="6067827" y="1499083"/>
            <a:ext cx="18300" cy="82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6" name="Google Shape;616;p41"/>
          <p:cNvCxnSpPr>
            <a:endCxn id="613" idx="7"/>
          </p:cNvCxnSpPr>
          <p:nvPr/>
        </p:nvCxnSpPr>
        <p:spPr>
          <a:xfrm flipH="1">
            <a:off x="6291576" y="1645683"/>
            <a:ext cx="498000" cy="76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7" name="Google Shape;617;p41"/>
          <p:cNvCxnSpPr>
            <a:stCxn id="613" idx="4"/>
          </p:cNvCxnSpPr>
          <p:nvPr/>
        </p:nvCxnSpPr>
        <p:spPr>
          <a:xfrm>
            <a:off x="6086127" y="2902183"/>
            <a:ext cx="0" cy="80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18" name="Google Shape;61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375" y="3815375"/>
            <a:ext cx="1698000" cy="106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1" descr="x_{ij}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9438" y="4233600"/>
            <a:ext cx="299728" cy="2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41" descr="X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8150" y="4236225"/>
            <a:ext cx="206400" cy="219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075" y="3815375"/>
            <a:ext cx="1698000" cy="106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41" descr="= \sum_{k=1}^{3} \frac{\partial J}{\partial (y_{ij})_k} \\&#10;= \sum_{k=1}^{3} \bigtriangledown (y_{ij})_k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3525" y="2929400"/>
            <a:ext cx="2027500" cy="10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1" descr="\frac{\partial J}{\partial x_{ij}} = \sum_{k=1}^{3} \frac{\partial J}{\partial y_{({ij})k}} \frac{\partial (y_{ij})_k}{\partial x_{ij}}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9175" y="2268149"/>
            <a:ext cx="2734650" cy="5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41" descr="\\ y_{(ij)1} = y_{(ij)2} = y_{(ij)3} = copy(x_{ij}) &#10;\\ \rightarrow \frac{\partial y_{(ij)1}}{\partial x_{ij}} = \frac{\partial y_{(ij)2}}{\partial x_{ij}} = \frac{\partial y_{(ij)3}}{\partial x_{ij}} = 1&#10;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1125" y="1337200"/>
            <a:ext cx="3176804" cy="8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41" descr="Y_1&#10;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16425" y="4218075"/>
            <a:ext cx="257774" cy="255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1" descr="y_{(ij)1}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37088" y="4233600"/>
            <a:ext cx="444072" cy="2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41" descr="\bigtriangledown x_{ij} =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19692" y="2446300"/>
            <a:ext cx="895358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41" descr="\rightarrow \bigtriangledown X = \sum_{k=1}^{3}\bigtriangledown Y_k" title="MathEquation,#0000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8861" y="4281925"/>
            <a:ext cx="2804126" cy="4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1"/>
          <p:cNvSpPr/>
          <p:nvPr/>
        </p:nvSpPr>
        <p:spPr>
          <a:xfrm>
            <a:off x="596225" y="4282700"/>
            <a:ext cx="2997000" cy="570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0" name="Google Shape;630;p41" descr="X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9325" y="3076125"/>
            <a:ext cx="192602" cy="20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41" descr="\bigtriangledown Y_1" title="MathEquation,#000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64525" y="2021973"/>
            <a:ext cx="362574" cy="204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1" descr="\bigtriangledown Y_3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086225" y="1741615"/>
            <a:ext cx="362576" cy="204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41" descr="\bigtriangledown Y_3" title="MathEquation,#0000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553838" y="2021977"/>
            <a:ext cx="362576" cy="204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41" descr="Y_1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81275" y="2067250"/>
            <a:ext cx="206400" cy="2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41" descr="Y_2" title="MathEquation,#00000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993275" y="1811425"/>
            <a:ext cx="206400" cy="204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41" descr="Y_3" title="MathEquation,#00000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416175" y="2067252"/>
            <a:ext cx="206400" cy="204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41" descr="\bigtriangledown X" title="MathEquation,#00000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616875" y="3047123"/>
            <a:ext cx="362576" cy="226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41" descr="Y_3" title="MathEquation,#00000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491774" y="977538"/>
            <a:ext cx="257774" cy="255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1" descr="=" title="MathEquation,#00000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102822" y="977550"/>
            <a:ext cx="257774" cy="255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1" descr="=" title="MathEquation,#00000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428749" y="1015088"/>
            <a:ext cx="257776" cy="180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1" descr="=" title="MathEquation,#00000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776901" y="1015088"/>
            <a:ext cx="257774" cy="180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1" descr="Y_1&#10;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80725" y="977537"/>
            <a:ext cx="257774" cy="255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41" descr="=" title="MathEquation,#00000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186251" y="1015088"/>
            <a:ext cx="257774" cy="180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1" descr="X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4675" y="977525"/>
            <a:ext cx="206400" cy="21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Addition Node</a:t>
            </a:r>
            <a:endParaRPr sz="1400"/>
          </a:p>
        </p:txBody>
      </p:sp>
      <p:sp>
        <p:nvSpPr>
          <p:cNvPr id="650" name="Google Shape;650;p42"/>
          <p:cNvSpPr/>
          <p:nvPr/>
        </p:nvSpPr>
        <p:spPr>
          <a:xfrm>
            <a:off x="7652515" y="2272095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Add</a:t>
            </a:r>
            <a:endParaRPr sz="700" b="1"/>
          </a:p>
        </p:txBody>
      </p:sp>
      <p:pic>
        <p:nvPicPr>
          <p:cNvPr id="651" name="Google Shape;65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613" y="4031375"/>
            <a:ext cx="1185120" cy="7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775" y="4031375"/>
            <a:ext cx="1185120" cy="74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3" name="Google Shape;653;p42"/>
          <p:cNvCxnSpPr>
            <a:endCxn id="650" idx="3"/>
          </p:cNvCxnSpPr>
          <p:nvPr/>
        </p:nvCxnSpPr>
        <p:spPr>
          <a:xfrm rot="10800000" flipH="1">
            <a:off x="7218615" y="2768094"/>
            <a:ext cx="519000" cy="78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" name="Google Shape;654;p42"/>
          <p:cNvCxnSpPr>
            <a:endCxn id="650" idx="5"/>
          </p:cNvCxnSpPr>
          <p:nvPr/>
        </p:nvCxnSpPr>
        <p:spPr>
          <a:xfrm rot="10800000">
            <a:off x="8148515" y="2768094"/>
            <a:ext cx="579300" cy="77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5" name="Google Shape;655;p42"/>
          <p:cNvCxnSpPr>
            <a:stCxn id="650" idx="0"/>
          </p:cNvCxnSpPr>
          <p:nvPr/>
        </p:nvCxnSpPr>
        <p:spPr>
          <a:xfrm rot="10800000">
            <a:off x="7943065" y="1370895"/>
            <a:ext cx="0" cy="90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56" name="Google Shape;656;p42" descr="X_2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6250" y="2882250"/>
            <a:ext cx="257774" cy="206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42" descr="X_2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08125" y="2882250"/>
            <a:ext cx="257776" cy="206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42" descr="Y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23375" y="1749850"/>
            <a:ext cx="192744" cy="21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450" y="4031375"/>
            <a:ext cx="1185124" cy="74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42" descr="X_2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000" y="4269400"/>
            <a:ext cx="330300" cy="26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42" descr="X_2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5275" y="4269400"/>
            <a:ext cx="330296" cy="2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2" descr="Y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3550" y="4258673"/>
            <a:ext cx="238448" cy="26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2" descr="x_{(ij)1}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25250" y="4337250"/>
            <a:ext cx="426800" cy="20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2" descr="x_{(ij)2}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9775" y="4337252"/>
            <a:ext cx="426808" cy="20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42" descr="y_{ij}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72500" y="4337250"/>
            <a:ext cx="257774" cy="207516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42"/>
          <p:cNvSpPr/>
          <p:nvPr/>
        </p:nvSpPr>
        <p:spPr>
          <a:xfrm>
            <a:off x="5702190" y="2233995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/>
              <a:t>Add</a:t>
            </a:r>
            <a:endParaRPr sz="700" b="1"/>
          </a:p>
        </p:txBody>
      </p:sp>
      <p:cxnSp>
        <p:nvCxnSpPr>
          <p:cNvPr id="667" name="Google Shape;667;p42"/>
          <p:cNvCxnSpPr>
            <a:endCxn id="666" idx="0"/>
          </p:cNvCxnSpPr>
          <p:nvPr/>
        </p:nvCxnSpPr>
        <p:spPr>
          <a:xfrm>
            <a:off x="5985840" y="1430895"/>
            <a:ext cx="6900" cy="80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8" name="Google Shape;668;p42"/>
          <p:cNvCxnSpPr>
            <a:stCxn id="666" idx="3"/>
          </p:cNvCxnSpPr>
          <p:nvPr/>
        </p:nvCxnSpPr>
        <p:spPr>
          <a:xfrm flipH="1">
            <a:off x="5212490" y="2729994"/>
            <a:ext cx="574800" cy="69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" name="Google Shape;669;p42"/>
          <p:cNvCxnSpPr>
            <a:stCxn id="666" idx="5"/>
          </p:cNvCxnSpPr>
          <p:nvPr/>
        </p:nvCxnSpPr>
        <p:spPr>
          <a:xfrm>
            <a:off x="6198190" y="2729994"/>
            <a:ext cx="512700" cy="73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70" name="Google Shape;670;p42" descr="\bigtriangledown Y_1&#10;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42300" y="1772351"/>
            <a:ext cx="426800" cy="241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42" descr="\bigtriangledown X_1&#10;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73625" y="2843300"/>
            <a:ext cx="426800" cy="213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2" descr="\bigtriangledown X_2&#10;" title="MathEquation,#0000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43050" y="2820200"/>
            <a:ext cx="426800" cy="213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42" descr="\bigtriangledown x_{(ij)1} =" title="MathEquation,#000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59050" y="2548250"/>
            <a:ext cx="1140024" cy="3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42" descr="\\ y_{ij} = x_{(ij)1} + x_{(ij)2} \\&#10;\rightarrow \frac{\partial y_{(ij)}}{\partial x_{(ij)1}} = \frac{\partial y_{(ij)}}{\partial x_{(ij)2}} = 1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59050" y="1491371"/>
            <a:ext cx="2092812" cy="80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42" descr="\frac{\partial J}{\partial x_{(ij)1}} =  \frac{\partial J}{\partial y_{ij}} \frac{\partial y_{ij}}{\partial x_{(ij)1}}" title="MathEquation,#0000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658000" y="2294475"/>
            <a:ext cx="2517848" cy="6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42" descr="\\ = \frac{\partial J}{\partial y_{ij}}" title="MathEquation,#00000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358250" y="2993175"/>
            <a:ext cx="82698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2" descr="= \bigtriangledown y_{ij}&#10;" title="MathEquation,#00000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244175" y="3127050"/>
            <a:ext cx="968104" cy="3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2" descr="\rightarrow \bigtriangledown X_1 = \bigtriangledown Y" title="MathEquation,#00000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59050" y="3726425"/>
            <a:ext cx="1568308" cy="2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42" descr="\rightarrow \bigtriangledown X_2 = \bigtriangledown Y" title="MathEquation,#00000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59050" y="4264575"/>
            <a:ext cx="1568286" cy="2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42" descr="Y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2300" y="791173"/>
            <a:ext cx="238448" cy="26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42" descr="X_2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0900" y="791175"/>
            <a:ext cx="330300" cy="26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42" descr="X_2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4025" y="791175"/>
            <a:ext cx="330296" cy="2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42" descr="=" title="MathEquation,#00000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123388" y="793850"/>
            <a:ext cx="238450" cy="25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42" descr="=" title="MathEquation,#00000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6366925" y="833111"/>
            <a:ext cx="257776" cy="180767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2"/>
          <p:cNvSpPr/>
          <p:nvPr/>
        </p:nvSpPr>
        <p:spPr>
          <a:xfrm>
            <a:off x="373050" y="3705850"/>
            <a:ext cx="1740300" cy="886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Transpose Node</a:t>
            </a:r>
            <a:endParaRPr sz="1400"/>
          </a:p>
        </p:txBody>
      </p:sp>
      <p:sp>
        <p:nvSpPr>
          <p:cNvPr id="691" name="Google Shape;691;p43"/>
          <p:cNvSpPr/>
          <p:nvPr/>
        </p:nvSpPr>
        <p:spPr>
          <a:xfrm>
            <a:off x="5702190" y="2233995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T</a:t>
            </a:r>
            <a:endParaRPr sz="1200" b="1"/>
          </a:p>
        </p:txBody>
      </p:sp>
      <p:sp>
        <p:nvSpPr>
          <p:cNvPr id="692" name="Google Shape;692;p43"/>
          <p:cNvSpPr/>
          <p:nvPr/>
        </p:nvSpPr>
        <p:spPr>
          <a:xfrm>
            <a:off x="7652515" y="2272095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T</a:t>
            </a:r>
            <a:endParaRPr sz="1200" b="1"/>
          </a:p>
        </p:txBody>
      </p:sp>
      <p:pic>
        <p:nvPicPr>
          <p:cNvPr id="693" name="Google Shape;6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613" y="4031375"/>
            <a:ext cx="1185120" cy="7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775" y="4031375"/>
            <a:ext cx="1185120" cy="7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3" descr="Y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3550" y="4258673"/>
            <a:ext cx="238448" cy="26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3" descr="y_{ij}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2500" y="4337250"/>
            <a:ext cx="257774" cy="20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43" descr="X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52525" y="3233750"/>
            <a:ext cx="202526" cy="215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43" descr="Y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2523" y="1792775"/>
            <a:ext cx="202524" cy="22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43" descr="x_{ij}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0638" y="4328613"/>
            <a:ext cx="299728" cy="2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43" descr="\bigtriangledown X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75963" y="3248750"/>
            <a:ext cx="438720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43" descr="\bigtriangledown Y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94450" y="1772850"/>
            <a:ext cx="401748" cy="2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2" name="Google Shape;702;p43"/>
          <p:cNvCxnSpPr>
            <a:endCxn id="692" idx="4"/>
          </p:cNvCxnSpPr>
          <p:nvPr/>
        </p:nvCxnSpPr>
        <p:spPr>
          <a:xfrm rot="10800000" flipH="1">
            <a:off x="7935565" y="2853195"/>
            <a:ext cx="7500" cy="87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3" name="Google Shape;703;p43"/>
          <p:cNvCxnSpPr>
            <a:stCxn id="692" idx="0"/>
          </p:cNvCxnSpPr>
          <p:nvPr/>
        </p:nvCxnSpPr>
        <p:spPr>
          <a:xfrm rot="10800000">
            <a:off x="7943065" y="1350195"/>
            <a:ext cx="0" cy="92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4" name="Google Shape;704;p43"/>
          <p:cNvCxnSpPr>
            <a:stCxn id="691" idx="4"/>
          </p:cNvCxnSpPr>
          <p:nvPr/>
        </p:nvCxnSpPr>
        <p:spPr>
          <a:xfrm>
            <a:off x="5992740" y="2815095"/>
            <a:ext cx="0" cy="91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5" name="Google Shape;705;p43"/>
          <p:cNvCxnSpPr>
            <a:endCxn id="691" idx="0"/>
          </p:cNvCxnSpPr>
          <p:nvPr/>
        </p:nvCxnSpPr>
        <p:spPr>
          <a:xfrm>
            <a:off x="5977740" y="1318095"/>
            <a:ext cx="15000" cy="9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06" name="Google Shape;706;p43" descr="\\ Y = X^T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56900" y="813725"/>
            <a:ext cx="1185100" cy="342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43" descr="X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1504" y="4283304"/>
            <a:ext cx="257774" cy="274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43" descr="\bigtriangledown X =  (\bigtriangledown Y)^T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7575" y="1542748"/>
            <a:ext cx="1810580" cy="375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43"/>
          <p:cNvSpPr txBox="1"/>
          <p:nvPr/>
        </p:nvSpPr>
        <p:spPr>
          <a:xfrm>
            <a:off x="386750" y="2179975"/>
            <a:ext cx="46404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Chứng minh công thức này như thế nào?</a:t>
            </a:r>
            <a:endParaRPr/>
          </a:p>
        </p:txBody>
      </p:sp>
      <p:sp>
        <p:nvSpPr>
          <p:cNvPr id="710" name="Google Shape;710;p43"/>
          <p:cNvSpPr/>
          <p:nvPr/>
        </p:nvSpPr>
        <p:spPr>
          <a:xfrm>
            <a:off x="454213" y="1517150"/>
            <a:ext cx="1917300" cy="426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Element wise multiplication Node</a:t>
            </a:r>
            <a:endParaRPr sz="1400"/>
          </a:p>
        </p:txBody>
      </p:sp>
      <p:pic>
        <p:nvPicPr>
          <p:cNvPr id="716" name="Google Shape;71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613" y="4031375"/>
            <a:ext cx="1185120" cy="7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775" y="4031375"/>
            <a:ext cx="1185120" cy="7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450" y="4031375"/>
            <a:ext cx="1185124" cy="74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44" descr="X_2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000" y="4269400"/>
            <a:ext cx="330300" cy="264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44" descr="X_2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5275" y="4269400"/>
            <a:ext cx="330296" cy="2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44" descr="Y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3550" y="4258673"/>
            <a:ext cx="238448" cy="26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44" descr="x_{(ij)1}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25250" y="4337250"/>
            <a:ext cx="426800" cy="20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44" descr="x_{(ij)2}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9775" y="4337252"/>
            <a:ext cx="426808" cy="20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44" descr="y_{ij}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72500" y="4337250"/>
            <a:ext cx="257774" cy="207516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4"/>
          <p:cNvSpPr/>
          <p:nvPr/>
        </p:nvSpPr>
        <p:spPr>
          <a:xfrm>
            <a:off x="7652515" y="2272095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/>
          </a:p>
        </p:txBody>
      </p:sp>
      <p:cxnSp>
        <p:nvCxnSpPr>
          <p:cNvPr id="726" name="Google Shape;726;p44"/>
          <p:cNvCxnSpPr>
            <a:endCxn id="725" idx="3"/>
          </p:cNvCxnSpPr>
          <p:nvPr/>
        </p:nvCxnSpPr>
        <p:spPr>
          <a:xfrm rot="10800000" flipH="1">
            <a:off x="7218615" y="2768094"/>
            <a:ext cx="519000" cy="78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7" name="Google Shape;727;p44"/>
          <p:cNvCxnSpPr>
            <a:endCxn id="725" idx="5"/>
          </p:cNvCxnSpPr>
          <p:nvPr/>
        </p:nvCxnSpPr>
        <p:spPr>
          <a:xfrm rot="10800000">
            <a:off x="8148515" y="2768094"/>
            <a:ext cx="579300" cy="77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8" name="Google Shape;728;p44"/>
          <p:cNvCxnSpPr>
            <a:stCxn id="725" idx="0"/>
          </p:cNvCxnSpPr>
          <p:nvPr/>
        </p:nvCxnSpPr>
        <p:spPr>
          <a:xfrm rot="10800000">
            <a:off x="7943065" y="1370895"/>
            <a:ext cx="0" cy="90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29" name="Google Shape;729;p44" descr="X_2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6250" y="2882250"/>
            <a:ext cx="257774" cy="206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44" descr="X_2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08125" y="2882250"/>
            <a:ext cx="257776" cy="206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44" descr="Y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23375" y="1749850"/>
            <a:ext cx="192744" cy="2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44"/>
          <p:cNvSpPr/>
          <p:nvPr/>
        </p:nvSpPr>
        <p:spPr>
          <a:xfrm>
            <a:off x="5702190" y="2233995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 b="1"/>
          </a:p>
        </p:txBody>
      </p:sp>
      <p:cxnSp>
        <p:nvCxnSpPr>
          <p:cNvPr id="733" name="Google Shape;733;p44"/>
          <p:cNvCxnSpPr>
            <a:endCxn id="732" idx="0"/>
          </p:cNvCxnSpPr>
          <p:nvPr/>
        </p:nvCxnSpPr>
        <p:spPr>
          <a:xfrm>
            <a:off x="5985840" y="1430895"/>
            <a:ext cx="6900" cy="80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4" name="Google Shape;734;p44"/>
          <p:cNvCxnSpPr>
            <a:stCxn id="732" idx="3"/>
          </p:cNvCxnSpPr>
          <p:nvPr/>
        </p:nvCxnSpPr>
        <p:spPr>
          <a:xfrm flipH="1">
            <a:off x="5212490" y="2729994"/>
            <a:ext cx="574800" cy="69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5" name="Google Shape;735;p44"/>
          <p:cNvCxnSpPr>
            <a:stCxn id="732" idx="5"/>
          </p:cNvCxnSpPr>
          <p:nvPr/>
        </p:nvCxnSpPr>
        <p:spPr>
          <a:xfrm>
            <a:off x="6198190" y="2729994"/>
            <a:ext cx="512700" cy="73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36" name="Google Shape;736;p44" descr="\bigtriangledown Y_1&#10;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42300" y="1772351"/>
            <a:ext cx="426800" cy="241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44" descr="\bigtriangledown X_1&#10;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73625" y="2843300"/>
            <a:ext cx="426800" cy="213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44" descr="\bigtriangledown X_2&#10;" title="MathEquation,#0000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43050" y="2820200"/>
            <a:ext cx="426800" cy="213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44" descr="\odot " title="MathEquation,#000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73525" y="2394900"/>
            <a:ext cx="238450" cy="25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44" descr="\odot " title="MathEquation,#000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823850" y="2442100"/>
            <a:ext cx="238450" cy="25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44" descr="Y = X_1 \odot X_2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73525" y="825875"/>
            <a:ext cx="2143050" cy="37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44" descr="\bigtriangledown X_1 =  \bigtriangledown YX_2 \\&#10;\bigtriangledown X_2 =  \bigtriangledown YX_1" title="MathEquation,#0000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64550" y="1562562"/>
            <a:ext cx="1822622" cy="6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4"/>
          <p:cNvSpPr/>
          <p:nvPr/>
        </p:nvSpPr>
        <p:spPr>
          <a:xfrm>
            <a:off x="467325" y="1503250"/>
            <a:ext cx="1998000" cy="781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44"/>
          <p:cNvSpPr txBox="1"/>
          <p:nvPr/>
        </p:nvSpPr>
        <p:spPr>
          <a:xfrm>
            <a:off x="386750" y="2372813"/>
            <a:ext cx="46404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Chứng minh công thức này như thế nào?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Add Bias Node</a:t>
            </a:r>
            <a:endParaRPr sz="1400"/>
          </a:p>
        </p:txBody>
      </p:sp>
      <p:sp>
        <p:nvSpPr>
          <p:cNvPr id="750" name="Google Shape;750;p45"/>
          <p:cNvSpPr/>
          <p:nvPr/>
        </p:nvSpPr>
        <p:spPr>
          <a:xfrm>
            <a:off x="7652515" y="2272095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/>
              <a:t>Bias Add</a:t>
            </a:r>
            <a:endParaRPr sz="700" b="1"/>
          </a:p>
        </p:txBody>
      </p:sp>
      <p:cxnSp>
        <p:nvCxnSpPr>
          <p:cNvPr id="751" name="Google Shape;751;p45"/>
          <p:cNvCxnSpPr>
            <a:endCxn id="750" idx="3"/>
          </p:cNvCxnSpPr>
          <p:nvPr/>
        </p:nvCxnSpPr>
        <p:spPr>
          <a:xfrm rot="10800000" flipH="1">
            <a:off x="7218615" y="2768094"/>
            <a:ext cx="519000" cy="78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2" name="Google Shape;752;p45"/>
          <p:cNvCxnSpPr>
            <a:endCxn id="750" idx="5"/>
          </p:cNvCxnSpPr>
          <p:nvPr/>
        </p:nvCxnSpPr>
        <p:spPr>
          <a:xfrm rot="10800000">
            <a:off x="8148515" y="2768094"/>
            <a:ext cx="579300" cy="77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3" name="Google Shape;753;p45"/>
          <p:cNvCxnSpPr>
            <a:stCxn id="750" idx="0"/>
          </p:cNvCxnSpPr>
          <p:nvPr/>
        </p:nvCxnSpPr>
        <p:spPr>
          <a:xfrm rot="10800000">
            <a:off x="7943065" y="1370895"/>
            <a:ext cx="0" cy="90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54" name="Google Shape;754;p45" descr="Y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525" y="1749850"/>
            <a:ext cx="192744" cy="2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45"/>
          <p:cNvSpPr/>
          <p:nvPr/>
        </p:nvSpPr>
        <p:spPr>
          <a:xfrm>
            <a:off x="5702190" y="2233995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/>
              <a:t>Bias Add</a:t>
            </a:r>
            <a:endParaRPr sz="800" b="1"/>
          </a:p>
        </p:txBody>
      </p:sp>
      <p:cxnSp>
        <p:nvCxnSpPr>
          <p:cNvPr id="756" name="Google Shape;756;p45"/>
          <p:cNvCxnSpPr>
            <a:endCxn id="755" idx="0"/>
          </p:cNvCxnSpPr>
          <p:nvPr/>
        </p:nvCxnSpPr>
        <p:spPr>
          <a:xfrm>
            <a:off x="5985840" y="1430895"/>
            <a:ext cx="6900" cy="80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7" name="Google Shape;757;p45"/>
          <p:cNvCxnSpPr>
            <a:stCxn id="755" idx="3"/>
          </p:cNvCxnSpPr>
          <p:nvPr/>
        </p:nvCxnSpPr>
        <p:spPr>
          <a:xfrm flipH="1">
            <a:off x="5212490" y="2729994"/>
            <a:ext cx="574800" cy="69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8" name="Google Shape;758;p45"/>
          <p:cNvCxnSpPr>
            <a:stCxn id="755" idx="5"/>
          </p:cNvCxnSpPr>
          <p:nvPr/>
        </p:nvCxnSpPr>
        <p:spPr>
          <a:xfrm>
            <a:off x="6198190" y="2729994"/>
            <a:ext cx="512700" cy="73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59" name="Google Shape;759;p45" descr="B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8450" y="2835102"/>
            <a:ext cx="192750" cy="23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45" descr="X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8625" y="2842550"/>
            <a:ext cx="202526" cy="215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45" descr="\bigtriangledown Y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4450" y="1772850"/>
            <a:ext cx="401748" cy="2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45" descr="\bigtriangledown X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8688" y="2813175"/>
            <a:ext cx="438720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45" descr="\bigtriangledown B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80925" y="2809425"/>
            <a:ext cx="426800" cy="281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45" descr="Y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300" y="791173"/>
            <a:ext cx="238448" cy="26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45" descr="=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6925" y="833111"/>
            <a:ext cx="257776" cy="180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45" descr="X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0874" y="779338"/>
            <a:ext cx="271040" cy="2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45" descr="+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68100" y="783350"/>
            <a:ext cx="257776" cy="280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45" descr="B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2050" y="781003"/>
            <a:ext cx="238450" cy="284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4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80775" y="4031375"/>
            <a:ext cx="1185120" cy="7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45" descr="Y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4113" y="3743048"/>
            <a:ext cx="238448" cy="26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4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40938" y="4031386"/>
            <a:ext cx="1185126" cy="740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45" descr="X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4288" y="3788000"/>
            <a:ext cx="238450" cy="253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4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005699" y="4041650"/>
            <a:ext cx="139746" cy="6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45" descr="B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9188" y="3760202"/>
            <a:ext cx="192750" cy="23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45" descr="1" title="MathEquation,#000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005700" y="4740347"/>
            <a:ext cx="139750" cy="25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45" descr="n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727175" y="4311253"/>
            <a:ext cx="238450" cy="18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45" descr="n" title="MathEquation,#0000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976975" y="4760125"/>
            <a:ext cx="192750" cy="21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45" descr="n" title="MathEquation,#0000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37137" y="4760112"/>
            <a:ext cx="192750" cy="21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45" descr="n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08825" y="4300540"/>
            <a:ext cx="238450" cy="18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45" descr="n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325875" y="4300540"/>
            <a:ext cx="238450" cy="180924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45"/>
          <p:cNvSpPr txBox="1"/>
          <p:nvPr/>
        </p:nvSpPr>
        <p:spPr>
          <a:xfrm>
            <a:off x="386750" y="2381375"/>
            <a:ext cx="46404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Chứng minh công thức này như thế nào?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2" name="Google Shape;782;p45" descr="\bigtriangledown X =  \bigtriangledown Y \\&#10;\bigtriangledown B =  \sum_{j=1}^{n} \bigtriangledown Y_j" title="MathEquation,#00000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59388" y="1534825"/>
            <a:ext cx="2029314" cy="7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45"/>
          <p:cNvSpPr/>
          <p:nvPr/>
        </p:nvSpPr>
        <p:spPr>
          <a:xfrm>
            <a:off x="526750" y="1510375"/>
            <a:ext cx="2094600" cy="789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950" y="1380100"/>
            <a:ext cx="3810960" cy="238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Matmul Node</a:t>
            </a:r>
            <a:endParaRPr sz="1400"/>
          </a:p>
        </p:txBody>
      </p:sp>
      <p:sp>
        <p:nvSpPr>
          <p:cNvPr id="790" name="Google Shape;790;p46"/>
          <p:cNvSpPr/>
          <p:nvPr/>
        </p:nvSpPr>
        <p:spPr>
          <a:xfrm>
            <a:off x="7652515" y="2272095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/>
              <a:t>Matmul</a:t>
            </a:r>
            <a:endParaRPr sz="700" b="1"/>
          </a:p>
        </p:txBody>
      </p:sp>
      <p:cxnSp>
        <p:nvCxnSpPr>
          <p:cNvPr id="791" name="Google Shape;791;p46"/>
          <p:cNvCxnSpPr>
            <a:endCxn id="790" idx="3"/>
          </p:cNvCxnSpPr>
          <p:nvPr/>
        </p:nvCxnSpPr>
        <p:spPr>
          <a:xfrm rot="10800000" flipH="1">
            <a:off x="7218615" y="2768094"/>
            <a:ext cx="519000" cy="78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2" name="Google Shape;792;p46"/>
          <p:cNvCxnSpPr>
            <a:endCxn id="790" idx="5"/>
          </p:cNvCxnSpPr>
          <p:nvPr/>
        </p:nvCxnSpPr>
        <p:spPr>
          <a:xfrm rot="10800000">
            <a:off x="8148515" y="2768094"/>
            <a:ext cx="579300" cy="77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3" name="Google Shape;793;p46"/>
          <p:cNvCxnSpPr>
            <a:stCxn id="790" idx="0"/>
          </p:cNvCxnSpPr>
          <p:nvPr/>
        </p:nvCxnSpPr>
        <p:spPr>
          <a:xfrm rot="10800000">
            <a:off x="7943065" y="1370895"/>
            <a:ext cx="0" cy="90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94" name="Google Shape;794;p46" descr="Y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2525" y="1749850"/>
            <a:ext cx="192744" cy="2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46"/>
          <p:cNvSpPr/>
          <p:nvPr/>
        </p:nvSpPr>
        <p:spPr>
          <a:xfrm>
            <a:off x="5702190" y="2233995"/>
            <a:ext cx="581100" cy="581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1"/>
              <a:t>Matmul</a:t>
            </a:r>
            <a:endParaRPr sz="800" b="1"/>
          </a:p>
        </p:txBody>
      </p:sp>
      <p:cxnSp>
        <p:nvCxnSpPr>
          <p:cNvPr id="796" name="Google Shape;796;p46"/>
          <p:cNvCxnSpPr>
            <a:endCxn id="795" idx="0"/>
          </p:cNvCxnSpPr>
          <p:nvPr/>
        </p:nvCxnSpPr>
        <p:spPr>
          <a:xfrm>
            <a:off x="5985840" y="1430895"/>
            <a:ext cx="6900" cy="80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7" name="Google Shape;797;p46"/>
          <p:cNvCxnSpPr>
            <a:stCxn id="795" idx="3"/>
          </p:cNvCxnSpPr>
          <p:nvPr/>
        </p:nvCxnSpPr>
        <p:spPr>
          <a:xfrm flipH="1">
            <a:off x="5212490" y="2729994"/>
            <a:ext cx="574800" cy="69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8" name="Google Shape;798;p46"/>
          <p:cNvCxnSpPr>
            <a:stCxn id="795" idx="5"/>
          </p:cNvCxnSpPr>
          <p:nvPr/>
        </p:nvCxnSpPr>
        <p:spPr>
          <a:xfrm>
            <a:off x="6198190" y="2729994"/>
            <a:ext cx="512700" cy="73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799" name="Google Shape;799;p46" descr="X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8625" y="2842550"/>
            <a:ext cx="202526" cy="215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46" descr="\bigtriangledown Y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4450" y="1772850"/>
            <a:ext cx="401748" cy="2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46" descr="\bigtriangledown X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8688" y="2813175"/>
            <a:ext cx="438720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46" descr="Y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2300" y="791173"/>
            <a:ext cx="238448" cy="26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46" descr="=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66925" y="833111"/>
            <a:ext cx="257776" cy="180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46" descr="X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0874" y="779338"/>
            <a:ext cx="271040" cy="2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46" descr="Y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2362" y="3089511"/>
            <a:ext cx="238448" cy="26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46" descr="X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3838" y="3095013"/>
            <a:ext cx="238450" cy="253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46" descr="n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86700" y="3514462"/>
            <a:ext cx="192750" cy="21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46" descr="n" title="MathEquation,#000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31187" y="2287437"/>
            <a:ext cx="192750" cy="21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46" descr="n" title="MathEquation,#0000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2225" y="3131365"/>
            <a:ext cx="238450" cy="18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46" descr="W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27475" y="2847163"/>
            <a:ext cx="238424" cy="20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46" descr="\bigtriangledown W" title="MathEquation,#0000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31375" y="2827175"/>
            <a:ext cx="438700" cy="246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46" descr=" W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05700" y="779325"/>
            <a:ext cx="333322" cy="2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46" descr="W" title="MathEquation,#0000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22375" y="2192825"/>
            <a:ext cx="238424" cy="20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46" descr=" k" title="MathEquation,#0000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307825" y="1369387"/>
            <a:ext cx="139750" cy="2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46" descr=" \bigtriangledown X =  \bigtriangledown Y W^T" title="MathEquation,#000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79475" y="4159775"/>
            <a:ext cx="2328350" cy="4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46"/>
          <p:cNvSpPr txBox="1"/>
          <p:nvPr/>
        </p:nvSpPr>
        <p:spPr>
          <a:xfrm>
            <a:off x="3460800" y="4159775"/>
            <a:ext cx="35448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Chứng minh công thức này như thế nào?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46"/>
          <p:cNvSpPr/>
          <p:nvPr/>
        </p:nvSpPr>
        <p:spPr>
          <a:xfrm>
            <a:off x="958750" y="4145750"/>
            <a:ext cx="2328300" cy="439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Fully connected Network</a:t>
            </a:r>
            <a:endParaRPr sz="1400"/>
          </a:p>
        </p:txBody>
      </p:sp>
      <p:pic>
        <p:nvPicPr>
          <p:cNvPr id="823" name="Google Shape;82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75" y="1496675"/>
            <a:ext cx="5360573" cy="289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47" descr="\begin{eqnarray}&#10;\frac{\partial J}{\partial w_{ij}^{(l)}} &amp;=&amp; \frac{\partial J}{\partial z_j^{(l)}}. \frac{\partial z_j^{(l)}}{\partial w_{ij}^{(l)}} \\&#10;&amp;=&amp; e_j^{(l)} a_i^{(l-1)}&#10;\end{eqnarray}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1250" y="1017725"/>
            <a:ext cx="1624626" cy="9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47" descr="\begin{eqnarray}&#10;e_j^{(l)} &amp;=&amp; \frac{\partial J}{\partial z_j^{(l)}} = \frac{\partial J}{\partial a_j^{(l)}} . \frac{\partial a_j^{(l)}}{\partial z_j^{(l)}} \\&#10;&amp;=&amp; \left( \sum_{k = 1}^{d^{(l+1)}} \frac{\partial J}{\partial z_k^{(l+1)}} .\frac{\partial z_k^{(l+1)}}{\partial a_j^{(l)}} \right) f’(z_j^{(l)}) \\&#10; &amp;=&amp;\left( \sum_{k = 1}^{d^{(l+1)}} e_k^{(l+1)} w_{jk}^{(l+1)} \right) f’(z_j^{(l)}) \\&#10; &amp;=&amp;\left( \mathbf{w}_{j:}^{(l+1)} \mathbf{e}^{(l+1)} \right) f’(z_j^{(l)}) \\&#10;\end{eqnarray}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1350" y="2188125"/>
            <a:ext cx="2530950" cy="20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47" descr="\mathbf{e}^{(l+1)} = [e_1^{(l+1)}, e_2^{(l+1)}, …, e_{d^{(l+1)}}^{(l+1)}]^T \in \mathbb{R}^{d^{(l+1)}\times 1}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351" y="4439225"/>
            <a:ext cx="3796426" cy="3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47" descr="\mathbf{w}_{j:}^{(l+1)}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02625" y="4439225"/>
            <a:ext cx="562154" cy="3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47"/>
          <p:cNvSpPr txBox="1"/>
          <p:nvPr/>
        </p:nvSpPr>
        <p:spPr>
          <a:xfrm>
            <a:off x="5264775" y="4439225"/>
            <a:ext cx="200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Hàng thứ j của ma trận </a:t>
            </a:r>
            <a:endParaRPr/>
          </a:p>
        </p:txBody>
      </p:sp>
      <p:pic>
        <p:nvPicPr>
          <p:cNvPr id="829" name="Google Shape;829;p47" descr="\mathbf{W}^{(l+1)}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22275" y="4512650"/>
            <a:ext cx="562150" cy="2185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0" name="Google Shape;830;p47"/>
          <p:cNvCxnSpPr/>
          <p:nvPr/>
        </p:nvCxnSpPr>
        <p:spPr>
          <a:xfrm>
            <a:off x="5919125" y="1188600"/>
            <a:ext cx="0" cy="300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836" name="Google Shape;836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Learning Process</a:t>
            </a:r>
            <a:endParaRPr sz="1400"/>
          </a:p>
        </p:txBody>
      </p:sp>
      <p:sp>
        <p:nvSpPr>
          <p:cNvPr id="837" name="Google Shape;837;p48"/>
          <p:cNvSpPr txBox="1"/>
          <p:nvPr/>
        </p:nvSpPr>
        <p:spPr>
          <a:xfrm>
            <a:off x="718225" y="1396600"/>
            <a:ext cx="7253100" cy="28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Bước 1:</a:t>
            </a:r>
            <a:r>
              <a:rPr lang="en"/>
              <a:t> Tạo cấu trúc mạng, chuẩn bị tập dữ liệu huấn luyện, gồm đầu vào    và nhãn    , tốc độ học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Bước 2:</a:t>
            </a:r>
            <a:r>
              <a:rPr lang="en"/>
              <a:t> Khởi tạo ngẫu nhiên tất cả các giá trị weights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Bước 3:</a:t>
            </a:r>
            <a:r>
              <a:rPr lang="en"/>
              <a:t> Thực hiện </a:t>
            </a:r>
            <a:r>
              <a:rPr lang="en" b="1"/>
              <a:t>Lan truyền thuận</a:t>
            </a:r>
            <a:r>
              <a:rPr lang="en"/>
              <a:t> đến output layer, được các giá trị    trong output neuron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8" name="Google Shape;838;p48" descr="X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7050" y="1508050"/>
            <a:ext cx="156850" cy="16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48" descr="Y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9875" y="1723450"/>
            <a:ext cx="150296" cy="166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48" descr="\alpha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5550" y="1725300"/>
            <a:ext cx="156850" cy="163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48" descr="\hat{y}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5725" y="2500499"/>
            <a:ext cx="150300" cy="291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847" name="Google Shape;847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Learning Process</a:t>
            </a:r>
            <a:endParaRPr sz="1400"/>
          </a:p>
        </p:txBody>
      </p:sp>
      <p:sp>
        <p:nvSpPr>
          <p:cNvPr id="848" name="Google Shape;848;p49"/>
          <p:cNvSpPr txBox="1"/>
          <p:nvPr/>
        </p:nvSpPr>
        <p:spPr>
          <a:xfrm>
            <a:off x="718225" y="1396600"/>
            <a:ext cx="7253100" cy="28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 Bước 4:</a:t>
            </a:r>
            <a:r>
              <a:rPr lang="en"/>
              <a:t> Lan truyền ngược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Đối với output layer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>3.1:</a:t>
            </a:r>
            <a:r>
              <a:rPr lang="en"/>
              <a:t> Tính độ lỗi: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>3.2:</a:t>
            </a:r>
            <a:r>
              <a:rPr lang="en"/>
              <a:t> Tính sai số gradient: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>3.3:</a:t>
            </a:r>
            <a:r>
              <a:rPr lang="en"/>
              <a:t> Tính giá trị cần thay đổi: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>3.4:</a:t>
            </a:r>
            <a:r>
              <a:rPr lang="en"/>
              <a:t> Cập nhật trọng số: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>3.5:</a:t>
            </a:r>
            <a:r>
              <a:rPr lang="en"/>
              <a:t> Cập nhật bias: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	Đối với hidden layer, bỏ </a:t>
            </a:r>
            <a:r>
              <a:rPr lang="en" b="1"/>
              <a:t>4.1</a:t>
            </a:r>
            <a:r>
              <a:rPr lang="en"/>
              <a:t> và thay đổi </a:t>
            </a:r>
            <a:r>
              <a:rPr lang="en" b="1"/>
              <a:t>4.2: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/>
              <a:t>4.2</a:t>
            </a:r>
            <a:r>
              <a:rPr lang="en"/>
              <a:t> Tính sai số gradient: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9" name="Google Shape;849;p49" descr="e_k^{(l)} = \hat{y}_k^{(l)} - y_k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1275" y="2299050"/>
            <a:ext cx="968314" cy="2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49" descr="\delta_k^{(l)} = \hat{y}_k^{(l)} \times (1 - \hat{y}_k^{(l)}) \times e_k^{(l)}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4696" y="2503975"/>
            <a:ext cx="1817724" cy="2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49" descr="\Delta w_{kj}^{(l)} = a_j^{(l - 1)} \times \delta_k^{(l)}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0145" y="2744826"/>
            <a:ext cx="1227306" cy="2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49" descr="b_k^{(l)} = b_k^{(l)} - \alpha \times \delta_k^{(l)}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8423" y="3156362"/>
            <a:ext cx="1284554" cy="2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49" descr="w_{kj}^{(l)} = w_{kj}^{(l)} - \alpha \times \Delta w_{kj}^{(l)}" title="MathEquation,#000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77702" y="2915505"/>
            <a:ext cx="1427262" cy="2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49" descr="\delta_k^{(l)} = a_k^{(l)} \times (1 - a_k^{(l)}) \times \sum_{i=1}^n \delta_i^{(l+1)} \times w_{ik}^{(l+1)}" title="MathEquation,#0000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30348" y="3961650"/>
            <a:ext cx="3756300" cy="3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Quá trình lan truyền ngược được thực hiện 1 lần sau mỗi lần Lan truyền thuận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 hiện lặp </a:t>
            </a:r>
            <a: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3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</a:t>
            </a:r>
            <a: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4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nhiều lần cho đến khi mô hình hội tụ (converge)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Đặt ra số lần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Đặt ra độ chính xác mong muốn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Quá trình lặp </a:t>
            </a:r>
            <a: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" sz="1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ư</a:t>
            </a:r>
            <a: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ớc 3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</a:t>
            </a:r>
            <a: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" sz="1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ư</a:t>
            </a:r>
            <a:r>
              <a:rPr lang="en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ớc 4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được gọi là quá trình huấn luyện (training process) và được thực hiện trên toàn bộ tập huấn luyện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Sau khi dừng quá trình huấn luyện, ta sẽ có được tập các giá trị weights tối ưu cho bài toán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Tập weights này sẽ được giữ nguyên (freeze) và mang vào sử dụng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400"/>
          </a:p>
        </p:txBody>
      </p:sp>
      <p:sp>
        <p:nvSpPr>
          <p:cNvPr id="860" name="Google Shape;860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861" name="Google Shape;86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Learning Process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1278</Words>
  <Application>Microsoft Macintosh PowerPoint</Application>
  <PresentationFormat>On-screen Show (16:9)</PresentationFormat>
  <Paragraphs>262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Proxima Nova</vt:lpstr>
      <vt:lpstr>Spearmint</vt:lpstr>
      <vt:lpstr>Bài 7: Neural Network</vt:lpstr>
      <vt:lpstr>Nhắc lại về bài toán dự đoán</vt:lpstr>
      <vt:lpstr>Nhắc lại về bài toán dự đoán</vt:lpstr>
      <vt:lpstr>Linear regression</vt:lpstr>
      <vt:lpstr>Feature function φ </vt:lpstr>
      <vt:lpstr>Ví dụ về Linear regression</vt:lpstr>
      <vt:lpstr>Ví dụ về Linear regression</vt:lpstr>
      <vt:lpstr>Ví dụ về Linear classification</vt:lpstr>
      <vt:lpstr>Vấn đề của Linear classification</vt:lpstr>
      <vt:lpstr>Neural network</vt:lpstr>
      <vt:lpstr>Neural network ví dụ</vt:lpstr>
      <vt:lpstr>Neural network ví dụ</vt:lpstr>
      <vt:lpstr>Neural network ví dụ</vt:lpstr>
      <vt:lpstr>Neural network</vt:lpstr>
      <vt:lpstr>Tại sao lại cần hàm kích hoạt phi tuyến?</vt:lpstr>
      <vt:lpstr>Tại sao lại cần hàm kích hoạt phi tuyến?</vt:lpstr>
      <vt:lpstr>Tại sao lại cần các lớp ẩn</vt:lpstr>
      <vt:lpstr>Backpropagation algorithm  - Thuật toán lan truyền ngược</vt:lpstr>
      <vt:lpstr>Backpropagation algorithm Partial Derivative (Đạo hàm từng phần)</vt:lpstr>
      <vt:lpstr>Backpropagation algorithm Partial Derivative</vt:lpstr>
      <vt:lpstr>Backpropagation algorithm Partial Derivative</vt:lpstr>
      <vt:lpstr>Backpropagation algorithm Partial Derivative</vt:lpstr>
      <vt:lpstr>Backpropagation algorithm Multivariable Chain Rule</vt:lpstr>
      <vt:lpstr>Backpropagation algorithm Multivariable Chain Rule</vt:lpstr>
      <vt:lpstr>Backpropagation algorithm Multivariable Chain Rule</vt:lpstr>
      <vt:lpstr>Backpropagation algorithm Multivariable Chain Rule</vt:lpstr>
      <vt:lpstr>Backpropagation algorithm Multivariable Chain Rule</vt:lpstr>
      <vt:lpstr>Backpropagation algorithm Quy ước</vt:lpstr>
      <vt:lpstr>Backpropagation algorithm Copy Node</vt:lpstr>
      <vt:lpstr>Backpropagation algorithm Addition Node</vt:lpstr>
      <vt:lpstr>Backpropagation algorithm Transpose Node</vt:lpstr>
      <vt:lpstr>Backpropagation algorithm Element wise multiplication Node</vt:lpstr>
      <vt:lpstr>Backpropagation algorithm Add Bias Node</vt:lpstr>
      <vt:lpstr>Backpropagation algorithm Matmul Node</vt:lpstr>
      <vt:lpstr>Backpropagation algorithm Fully connected Network</vt:lpstr>
      <vt:lpstr>Backpropagation algorithm Learning Process</vt:lpstr>
      <vt:lpstr>Backpropagation algorithm Learning Process</vt:lpstr>
      <vt:lpstr>Backpropagation algorithm Learning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7: Neural Network</dc:title>
  <cp:lastModifiedBy>Nguyen Quy</cp:lastModifiedBy>
  <cp:revision>1</cp:revision>
  <dcterms:modified xsi:type="dcterms:W3CDTF">2024-06-06T02:27:07Z</dcterms:modified>
</cp:coreProperties>
</file>