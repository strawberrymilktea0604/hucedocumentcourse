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2" r:id="rId20"/>
  </p:sldIdLst>
  <p:sldSz cx="10287000" cy="6858000" type="35mm"/>
  <p:notesSz cx="10287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364" y="7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9751" y="495807"/>
            <a:ext cx="6795134" cy="589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43050" y="3840480"/>
            <a:ext cx="72009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14350" y="1577340"/>
            <a:ext cx="447484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97805" y="1577340"/>
            <a:ext cx="447484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96240"/>
            <a:ext cx="10287000" cy="63337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7438" y="434846"/>
            <a:ext cx="865212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0604" y="1263396"/>
            <a:ext cx="8900160" cy="4653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97580" y="6377940"/>
            <a:ext cx="32918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14350" y="6377940"/>
            <a:ext cx="236601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0052" y="6462106"/>
            <a:ext cx="22860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fit.nuce.edu.vn/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10283952" cy="65958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0929" y="4311801"/>
            <a:ext cx="8870315" cy="13423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3900" dirty="0">
                <a:solidFill>
                  <a:srgbClr val="FFFFFF"/>
                </a:solidFill>
                <a:latin typeface="Carlito"/>
                <a:cs typeface="Carlito"/>
              </a:rPr>
              <a:t>HỌC</a:t>
            </a:r>
            <a:r>
              <a:rPr sz="3900" spc="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900" spc="-25" dirty="0">
                <a:solidFill>
                  <a:srgbClr val="FFFFFF"/>
                </a:solidFill>
                <a:latin typeface="Carlito"/>
                <a:cs typeface="Carlito"/>
              </a:rPr>
              <a:t>MÁY</a:t>
            </a:r>
            <a:endParaRPr sz="390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3900" dirty="0">
                <a:solidFill>
                  <a:srgbClr val="FFFFFF"/>
                </a:solidFill>
                <a:latin typeface="Carlito"/>
                <a:cs typeface="Carlito"/>
              </a:rPr>
              <a:t>Lecture</a:t>
            </a:r>
            <a:r>
              <a:rPr sz="3900" spc="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900" dirty="0">
                <a:solidFill>
                  <a:srgbClr val="FFFFFF"/>
                </a:solidFill>
                <a:latin typeface="Carlito"/>
                <a:cs typeface="Carlito"/>
              </a:rPr>
              <a:t>4.</a:t>
            </a:r>
            <a:r>
              <a:rPr sz="3900" spc="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900" dirty="0">
                <a:solidFill>
                  <a:srgbClr val="FFFFFF"/>
                </a:solidFill>
                <a:latin typeface="Carlito"/>
                <a:cs typeface="Carlito"/>
              </a:rPr>
              <a:t>Giới</a:t>
            </a:r>
            <a:r>
              <a:rPr sz="3900" spc="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900" dirty="0">
                <a:solidFill>
                  <a:srgbClr val="FFFFFF"/>
                </a:solidFill>
                <a:latin typeface="Carlito"/>
                <a:cs typeface="Carlito"/>
              </a:rPr>
              <a:t>thiệu</a:t>
            </a:r>
            <a:r>
              <a:rPr sz="3900" spc="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900" dirty="0">
                <a:solidFill>
                  <a:srgbClr val="FFFFFF"/>
                </a:solidFill>
                <a:latin typeface="Carlito"/>
                <a:cs typeface="Carlito"/>
              </a:rPr>
              <a:t>về</a:t>
            </a:r>
            <a:r>
              <a:rPr sz="3900" spc="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900" dirty="0">
                <a:solidFill>
                  <a:srgbClr val="FFFFFF"/>
                </a:solidFill>
                <a:latin typeface="Carlito"/>
                <a:cs typeface="Carlito"/>
              </a:rPr>
              <a:t>feature</a:t>
            </a:r>
            <a:r>
              <a:rPr sz="3900" spc="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900" spc="-10" dirty="0">
                <a:solidFill>
                  <a:srgbClr val="FFFFFF"/>
                </a:solidFill>
                <a:latin typeface="Carlito"/>
                <a:cs typeface="Carlito"/>
              </a:rPr>
              <a:t>engineering</a:t>
            </a:r>
            <a:endParaRPr sz="39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5175" y="2228088"/>
            <a:ext cx="9099550" cy="1055370"/>
            <a:chOff x="765175" y="2228088"/>
            <a:chExt cx="9099550" cy="1055370"/>
          </a:xfrm>
        </p:grpSpPr>
        <p:sp>
          <p:nvSpPr>
            <p:cNvPr id="5" name="object 5"/>
            <p:cNvSpPr/>
            <p:nvPr/>
          </p:nvSpPr>
          <p:spPr>
            <a:xfrm>
              <a:off x="771525" y="3200400"/>
              <a:ext cx="9086850" cy="76200"/>
            </a:xfrm>
            <a:custGeom>
              <a:avLst/>
              <a:gdLst/>
              <a:ahLst/>
              <a:cxnLst/>
              <a:rect l="l" t="t" r="r" b="b"/>
              <a:pathLst>
                <a:path w="9086850" h="76200">
                  <a:moveTo>
                    <a:pt x="908685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086850" y="76200"/>
                  </a:lnTo>
                  <a:lnTo>
                    <a:pt x="9086850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1525" y="3200400"/>
              <a:ext cx="9086850" cy="76200"/>
            </a:xfrm>
            <a:custGeom>
              <a:avLst/>
              <a:gdLst/>
              <a:ahLst/>
              <a:cxnLst/>
              <a:rect l="l" t="t" r="r" b="b"/>
              <a:pathLst>
                <a:path w="9086850" h="76200">
                  <a:moveTo>
                    <a:pt x="0" y="0"/>
                  </a:moveTo>
                  <a:lnTo>
                    <a:pt x="9086855" y="0"/>
                  </a:lnTo>
                  <a:lnTo>
                    <a:pt x="9086855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3688" y="2228088"/>
              <a:ext cx="4197096" cy="6736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4559" y="2612136"/>
              <a:ext cx="2435351" cy="57302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03837" y="2265732"/>
            <a:ext cx="3812540" cy="72898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350" dirty="0"/>
              <a:t>BỘ</a:t>
            </a:r>
            <a:r>
              <a:rPr sz="2350" spc="10" dirty="0"/>
              <a:t> </a:t>
            </a:r>
            <a:r>
              <a:rPr sz="2350" dirty="0"/>
              <a:t>MÔN</a:t>
            </a:r>
            <a:r>
              <a:rPr sz="2350" spc="25" dirty="0"/>
              <a:t> </a:t>
            </a:r>
            <a:r>
              <a:rPr sz="2350" dirty="0"/>
              <a:t>KHOA</a:t>
            </a:r>
            <a:r>
              <a:rPr sz="2350" spc="15" dirty="0"/>
              <a:t> </a:t>
            </a:r>
            <a:r>
              <a:rPr sz="2350" dirty="0"/>
              <a:t>HỌC</a:t>
            </a:r>
            <a:r>
              <a:rPr sz="2350" spc="20" dirty="0"/>
              <a:t> </a:t>
            </a:r>
            <a:r>
              <a:rPr sz="2350" spc="-40" dirty="0"/>
              <a:t>MÁY</a:t>
            </a:r>
            <a:r>
              <a:rPr sz="2350" spc="15" dirty="0"/>
              <a:t> </a:t>
            </a:r>
            <a:r>
              <a:rPr sz="2350" spc="-20" dirty="0"/>
              <a:t>TÍNH</a:t>
            </a:r>
            <a:endParaRPr sz="2350"/>
          </a:p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950" spc="-10" dirty="0">
                <a:hlinkClick r:id="rId5"/>
              </a:rPr>
              <a:t>www.fit.nuce.edu.vn</a:t>
            </a:r>
            <a:endParaRPr sz="195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796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30"/>
              </a:spcBef>
            </a:pPr>
            <a:r>
              <a:rPr sz="3500" dirty="0"/>
              <a:t>Giới</a:t>
            </a:r>
            <a:r>
              <a:rPr sz="3500" spc="15" dirty="0"/>
              <a:t> </a:t>
            </a:r>
            <a:r>
              <a:rPr sz="3500" dirty="0"/>
              <a:t>thiệu</a:t>
            </a:r>
            <a:r>
              <a:rPr sz="3500" spc="15" dirty="0"/>
              <a:t> </a:t>
            </a:r>
            <a:r>
              <a:rPr sz="3500" dirty="0"/>
              <a:t>về</a:t>
            </a:r>
            <a:r>
              <a:rPr sz="3500" spc="10" dirty="0"/>
              <a:t> </a:t>
            </a:r>
            <a:r>
              <a:rPr sz="3500" dirty="0"/>
              <a:t>feature</a:t>
            </a:r>
            <a:r>
              <a:rPr sz="3500" spc="10" dirty="0"/>
              <a:t> </a:t>
            </a:r>
            <a:r>
              <a:rPr sz="3500" spc="-10" dirty="0"/>
              <a:t>engineering</a:t>
            </a:r>
            <a:endParaRPr sz="3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85177" y="1401571"/>
            <a:ext cx="6690359" cy="35255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rlito"/>
                <a:cs typeface="Carlito"/>
              </a:rPr>
              <a:t>Giới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thiệu</a:t>
            </a:r>
            <a:endParaRPr sz="2400" dirty="0">
              <a:latin typeface="Carlito"/>
              <a:cs typeface="Carlito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rlito"/>
                <a:cs typeface="Carlito"/>
              </a:rPr>
              <a:t>Mô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hình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chung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cho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các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bài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toán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Machine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Learning</a:t>
            </a:r>
            <a:endParaRPr sz="2400" dirty="0">
              <a:latin typeface="Carlito"/>
              <a:cs typeface="Carlito"/>
            </a:endParaRPr>
          </a:p>
          <a:p>
            <a:pPr marL="469265" indent="-45656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rlito"/>
                <a:cs typeface="Carlito"/>
              </a:rPr>
              <a:t>Một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số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ví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dụ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về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Feature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Engineering</a:t>
            </a:r>
            <a:endParaRPr sz="2400" dirty="0">
              <a:latin typeface="Carlito"/>
              <a:cs typeface="Carlito"/>
            </a:endParaRPr>
          </a:p>
          <a:p>
            <a:pPr marL="854710" lvl="1" indent="-457200">
              <a:lnSpc>
                <a:spcPct val="100000"/>
              </a:lnSpc>
              <a:spcBef>
                <a:spcPts val="330"/>
              </a:spcBef>
              <a:buAutoNum type="alphaLcPeriod"/>
              <a:tabLst>
                <a:tab pos="854710" algn="l"/>
              </a:tabLst>
            </a:pPr>
            <a:r>
              <a:rPr sz="2000" dirty="0">
                <a:latin typeface="Arial"/>
                <a:cs typeface="Arial"/>
              </a:rPr>
              <a:t>Trực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tiếp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lấy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liệu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thô</a:t>
            </a:r>
            <a:endParaRPr sz="2000" dirty="0">
              <a:latin typeface="Arial"/>
              <a:cs typeface="Arial"/>
            </a:endParaRPr>
          </a:p>
          <a:p>
            <a:pPr marL="854710" lvl="1" indent="-457200">
              <a:lnSpc>
                <a:spcPct val="100000"/>
              </a:lnSpc>
              <a:spcBef>
                <a:spcPts val="95"/>
              </a:spcBef>
              <a:buAutoNum type="alphaLcPeriod"/>
              <a:tabLst>
                <a:tab pos="854710" algn="l"/>
              </a:tabLst>
            </a:pPr>
            <a:r>
              <a:rPr sz="2000" dirty="0">
                <a:latin typeface="Arial"/>
                <a:cs typeface="Arial"/>
              </a:rPr>
              <a:t>Lựa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chọn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đặc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trưng</a:t>
            </a:r>
            <a:endParaRPr sz="2000" dirty="0">
              <a:latin typeface="Arial"/>
              <a:cs typeface="Arial"/>
            </a:endParaRPr>
          </a:p>
          <a:p>
            <a:pPr marL="854710" lvl="1" indent="-457200">
              <a:lnSpc>
                <a:spcPct val="100000"/>
              </a:lnSpc>
              <a:spcBef>
                <a:spcPts val="195"/>
              </a:spcBef>
              <a:buAutoNum type="alphaLcPeriod"/>
              <a:tabLst>
                <a:tab pos="854710" algn="l"/>
              </a:tabLst>
            </a:pPr>
            <a:r>
              <a:rPr sz="2000" dirty="0">
                <a:latin typeface="Arial"/>
                <a:cs typeface="Arial"/>
              </a:rPr>
              <a:t>Giảm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chiều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dữ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liệu</a:t>
            </a:r>
            <a:endParaRPr sz="2000" dirty="0">
              <a:latin typeface="Arial"/>
              <a:cs typeface="Arial"/>
            </a:endParaRPr>
          </a:p>
          <a:p>
            <a:pPr marL="854710" lvl="1" indent="-457200">
              <a:lnSpc>
                <a:spcPct val="100000"/>
              </a:lnSpc>
              <a:spcBef>
                <a:spcPts val="95"/>
              </a:spcBef>
              <a:buAutoNum type="alphaLcPeriod"/>
              <a:tabLst>
                <a:tab pos="854710" algn="l"/>
              </a:tabLst>
            </a:pPr>
            <a:r>
              <a:rPr sz="2000" dirty="0">
                <a:latin typeface="Carlito"/>
                <a:cs typeface="Carlito"/>
              </a:rPr>
              <a:t>Bag</a:t>
            </a:r>
            <a:r>
              <a:rPr sz="2000" spc="-2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of</a:t>
            </a:r>
            <a:r>
              <a:rPr sz="2000" spc="-20" dirty="0">
                <a:latin typeface="Carlito"/>
                <a:cs typeface="Carlito"/>
              </a:rPr>
              <a:t> words</a:t>
            </a:r>
            <a:endParaRPr sz="2000" dirty="0">
              <a:latin typeface="Carlito"/>
              <a:cs typeface="Carlito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469265" algn="l"/>
              </a:tabLst>
            </a:pPr>
            <a:r>
              <a:rPr sz="2300" dirty="0">
                <a:latin typeface="Arial"/>
                <a:cs typeface="Arial"/>
              </a:rPr>
              <a:t>Chuẩn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hoá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vector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đặc</a:t>
            </a:r>
            <a:r>
              <a:rPr sz="2300" spc="-20" dirty="0">
                <a:latin typeface="Arial"/>
                <a:cs typeface="Arial"/>
              </a:rPr>
              <a:t> trưng</a:t>
            </a:r>
            <a:endParaRPr sz="2300" dirty="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469265" algn="l"/>
              </a:tabLst>
            </a:pPr>
            <a:r>
              <a:rPr sz="2300" dirty="0">
                <a:latin typeface="Arial"/>
                <a:cs typeface="Arial"/>
              </a:rPr>
              <a:t>Phân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chia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tập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dữ</a:t>
            </a:r>
            <a:r>
              <a:rPr sz="2300" spc="-20" dirty="0">
                <a:latin typeface="Arial"/>
                <a:cs typeface="Arial"/>
              </a:rPr>
              <a:t> liệu</a:t>
            </a:r>
            <a:endParaRPr sz="23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796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30"/>
              </a:spcBef>
            </a:pPr>
            <a:r>
              <a:rPr sz="3500" dirty="0"/>
              <a:t>1.</a:t>
            </a:r>
            <a:r>
              <a:rPr sz="3500" spc="5" dirty="0"/>
              <a:t> </a:t>
            </a:r>
            <a:r>
              <a:rPr sz="3500" dirty="0"/>
              <a:t>Giới</a:t>
            </a:r>
            <a:r>
              <a:rPr sz="3500" spc="5" dirty="0"/>
              <a:t> </a:t>
            </a:r>
            <a:r>
              <a:rPr sz="3500" spc="-10" dirty="0"/>
              <a:t>thiệu</a:t>
            </a:r>
            <a:endParaRPr sz="3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85177" y="1423415"/>
            <a:ext cx="8722360" cy="30949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300" spc="-10" dirty="0">
                <a:latin typeface="Arial"/>
                <a:cs typeface="Arial"/>
              </a:rPr>
              <a:t>Feature?</a:t>
            </a:r>
            <a:endParaRPr sz="2300">
              <a:latin typeface="Arial"/>
              <a:cs typeface="Arial"/>
            </a:endParaRPr>
          </a:p>
          <a:p>
            <a:pPr marL="204470" indent="-191770">
              <a:lnSpc>
                <a:spcPts val="2630"/>
              </a:lnSpc>
              <a:spcBef>
                <a:spcPts val="530"/>
              </a:spcBef>
              <a:buChar char="•"/>
              <a:tabLst>
                <a:tab pos="204470" algn="l"/>
              </a:tabLst>
            </a:pPr>
            <a:r>
              <a:rPr sz="2300" dirty="0">
                <a:latin typeface="Arial"/>
                <a:cs typeface="Arial"/>
              </a:rPr>
              <a:t>Mỗi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điểm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dữ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liệu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được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biểu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diễn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bằng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một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vector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được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gọi</a:t>
            </a:r>
            <a:r>
              <a:rPr sz="2300" spc="-25" dirty="0">
                <a:latin typeface="Arial"/>
                <a:cs typeface="Arial"/>
              </a:rPr>
              <a:t> là</a:t>
            </a:r>
            <a:endParaRPr sz="2300">
              <a:latin typeface="Arial"/>
              <a:cs typeface="Arial"/>
            </a:endParaRPr>
          </a:p>
          <a:p>
            <a:pPr marL="204470">
              <a:lnSpc>
                <a:spcPts val="2630"/>
              </a:lnSpc>
            </a:pPr>
            <a:r>
              <a:rPr sz="2300" b="1" dirty="0">
                <a:latin typeface="Arial"/>
                <a:cs typeface="Arial"/>
              </a:rPr>
              <a:t>vector</a:t>
            </a:r>
            <a:r>
              <a:rPr sz="2300" b="1" spc="-3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đặc</a:t>
            </a:r>
            <a:r>
              <a:rPr sz="2300" b="1" spc="-4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trưng</a:t>
            </a:r>
            <a:r>
              <a:rPr sz="2300" b="1" spc="-4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(feature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vector)</a:t>
            </a:r>
            <a:endParaRPr sz="2300">
              <a:latin typeface="Arial"/>
              <a:cs typeface="Arial"/>
            </a:endParaRPr>
          </a:p>
          <a:p>
            <a:pPr marL="204470" marR="290195" indent="-192405">
              <a:lnSpc>
                <a:spcPts val="2500"/>
              </a:lnSpc>
              <a:spcBef>
                <a:spcPts val="944"/>
              </a:spcBef>
              <a:buChar char="•"/>
              <a:tabLst>
                <a:tab pos="204470" algn="l"/>
              </a:tabLst>
            </a:pPr>
            <a:r>
              <a:rPr sz="2300" dirty="0">
                <a:latin typeface="Arial"/>
                <a:cs typeface="Arial"/>
              </a:rPr>
              <a:t>Trong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cùng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một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bài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toán,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các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feature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vector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của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tất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cả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các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điểm </a:t>
            </a:r>
            <a:r>
              <a:rPr sz="2300" dirty="0">
                <a:latin typeface="Arial"/>
                <a:cs typeface="Arial"/>
              </a:rPr>
              <a:t>thường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có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kích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thước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như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nhau.</a:t>
            </a:r>
            <a:endParaRPr sz="2300">
              <a:latin typeface="Arial"/>
              <a:cs typeface="Arial"/>
            </a:endParaRPr>
          </a:p>
          <a:p>
            <a:pPr marL="204470" marR="5080" indent="-192405">
              <a:lnSpc>
                <a:spcPts val="2500"/>
              </a:lnSpc>
              <a:spcBef>
                <a:spcPts val="905"/>
              </a:spcBef>
              <a:buChar char="•"/>
              <a:tabLst>
                <a:tab pos="204470" algn="l"/>
              </a:tabLst>
            </a:pPr>
            <a:r>
              <a:rPr sz="2300" dirty="0">
                <a:latin typeface="Arial"/>
                <a:cs typeface="Arial"/>
              </a:rPr>
              <a:t>Trên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thực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tế,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dữ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liệu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thường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ở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dạng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thô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(raw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data)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với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kích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thước </a:t>
            </a:r>
            <a:r>
              <a:rPr sz="2300" dirty="0">
                <a:latin typeface="Arial"/>
                <a:cs typeface="Arial"/>
              </a:rPr>
              <a:t>khác</a:t>
            </a:r>
            <a:r>
              <a:rPr sz="2300" spc="-20" dirty="0">
                <a:latin typeface="Arial"/>
                <a:cs typeface="Arial"/>
              </a:rPr>
              <a:t> nhau</a:t>
            </a:r>
            <a:endParaRPr sz="2300">
              <a:latin typeface="Arial"/>
              <a:cs typeface="Arial"/>
            </a:endParaRPr>
          </a:p>
          <a:p>
            <a:pPr marL="204470" indent="-191770">
              <a:lnSpc>
                <a:spcPct val="100000"/>
              </a:lnSpc>
              <a:spcBef>
                <a:spcPts val="484"/>
              </a:spcBef>
              <a:buChar char="•"/>
              <a:tabLst>
                <a:tab pos="204470" algn="l"/>
              </a:tabLst>
            </a:pPr>
            <a:r>
              <a:rPr sz="2300" dirty="0">
                <a:latin typeface="Arial"/>
                <a:cs typeface="Arial"/>
              </a:rPr>
              <a:t>Việc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lựa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chọn,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tính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toán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đặc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trưng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nào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là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vấn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đề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cần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giải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quyết.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796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30"/>
              </a:spcBef>
            </a:pPr>
            <a:r>
              <a:rPr sz="3500" dirty="0"/>
              <a:t>1.</a:t>
            </a:r>
            <a:r>
              <a:rPr sz="3500" spc="5" dirty="0"/>
              <a:t> </a:t>
            </a:r>
            <a:r>
              <a:rPr sz="3500" dirty="0"/>
              <a:t>Giới</a:t>
            </a:r>
            <a:r>
              <a:rPr sz="3500" spc="5" dirty="0"/>
              <a:t> </a:t>
            </a:r>
            <a:r>
              <a:rPr sz="3500" spc="-10" dirty="0"/>
              <a:t>thiệu</a:t>
            </a:r>
            <a:endParaRPr sz="3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40604" y="1755648"/>
            <a:ext cx="8759190" cy="29273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5104" marR="273050" indent="-192405">
              <a:lnSpc>
                <a:spcPct val="88700"/>
              </a:lnSpc>
              <a:spcBef>
                <a:spcPts val="409"/>
              </a:spcBef>
              <a:buFont typeface="Arial"/>
              <a:buChar char="•"/>
              <a:tabLst>
                <a:tab pos="205104" algn="l"/>
              </a:tabLst>
            </a:pPr>
            <a:r>
              <a:rPr sz="2300" dirty="0">
                <a:latin typeface="Carlito"/>
                <a:cs typeface="Carlito"/>
              </a:rPr>
              <a:t>“Coming</a:t>
            </a:r>
            <a:r>
              <a:rPr sz="2300" spc="-60" dirty="0">
                <a:latin typeface="Carlito"/>
                <a:cs typeface="Carlito"/>
              </a:rPr>
              <a:t> </a:t>
            </a:r>
            <a:r>
              <a:rPr sz="2300" dirty="0">
                <a:latin typeface="Carlito"/>
                <a:cs typeface="Carlito"/>
              </a:rPr>
              <a:t>up</a:t>
            </a:r>
            <a:r>
              <a:rPr sz="2300" spc="-60" dirty="0">
                <a:latin typeface="Carlito"/>
                <a:cs typeface="Carlito"/>
              </a:rPr>
              <a:t> </a:t>
            </a:r>
            <a:r>
              <a:rPr sz="2300" dirty="0">
                <a:latin typeface="Carlito"/>
                <a:cs typeface="Carlito"/>
              </a:rPr>
              <a:t>with</a:t>
            </a:r>
            <a:r>
              <a:rPr sz="2300" spc="-60" dirty="0">
                <a:latin typeface="Carlito"/>
                <a:cs typeface="Carlito"/>
              </a:rPr>
              <a:t> </a:t>
            </a:r>
            <a:r>
              <a:rPr sz="2300" spc="-10" dirty="0">
                <a:latin typeface="Carlito"/>
                <a:cs typeface="Carlito"/>
              </a:rPr>
              <a:t>features</a:t>
            </a:r>
            <a:r>
              <a:rPr sz="2300" spc="-60" dirty="0">
                <a:latin typeface="Carlito"/>
                <a:cs typeface="Carlito"/>
              </a:rPr>
              <a:t> </a:t>
            </a:r>
            <a:r>
              <a:rPr sz="2300" dirty="0">
                <a:latin typeface="Carlito"/>
                <a:cs typeface="Carlito"/>
              </a:rPr>
              <a:t>is</a:t>
            </a:r>
            <a:r>
              <a:rPr sz="2300" spc="-60" dirty="0">
                <a:latin typeface="Carlito"/>
                <a:cs typeface="Carlito"/>
              </a:rPr>
              <a:t> </a:t>
            </a:r>
            <a:r>
              <a:rPr sz="2300" dirty="0">
                <a:latin typeface="Carlito"/>
                <a:cs typeface="Carlito"/>
              </a:rPr>
              <a:t>difficult,</a:t>
            </a:r>
            <a:r>
              <a:rPr sz="2300" spc="-60" dirty="0">
                <a:latin typeface="Carlito"/>
                <a:cs typeface="Carlito"/>
              </a:rPr>
              <a:t> </a:t>
            </a:r>
            <a:r>
              <a:rPr sz="2300" spc="-10" dirty="0">
                <a:latin typeface="Carlito"/>
                <a:cs typeface="Carlito"/>
              </a:rPr>
              <a:t>time-</a:t>
            </a:r>
            <a:r>
              <a:rPr sz="2300" dirty="0">
                <a:latin typeface="Carlito"/>
                <a:cs typeface="Carlito"/>
              </a:rPr>
              <a:t>consuming,</a:t>
            </a:r>
            <a:r>
              <a:rPr sz="2300" spc="-60" dirty="0">
                <a:latin typeface="Carlito"/>
                <a:cs typeface="Carlito"/>
              </a:rPr>
              <a:t> </a:t>
            </a:r>
            <a:r>
              <a:rPr sz="2300" dirty="0">
                <a:latin typeface="Carlito"/>
                <a:cs typeface="Carlito"/>
              </a:rPr>
              <a:t>requires</a:t>
            </a:r>
            <a:r>
              <a:rPr sz="2300" spc="-55" dirty="0">
                <a:latin typeface="Carlito"/>
                <a:cs typeface="Carlito"/>
              </a:rPr>
              <a:t> </a:t>
            </a:r>
            <a:r>
              <a:rPr sz="2300" spc="-10" dirty="0">
                <a:latin typeface="Carlito"/>
                <a:cs typeface="Carlito"/>
              </a:rPr>
              <a:t>expert </a:t>
            </a:r>
            <a:r>
              <a:rPr sz="2300" dirty="0">
                <a:latin typeface="Carlito"/>
                <a:cs typeface="Carlito"/>
              </a:rPr>
              <a:t>knowledge.</a:t>
            </a:r>
            <a:r>
              <a:rPr sz="2300" spc="-60" dirty="0">
                <a:latin typeface="Carlito"/>
                <a:cs typeface="Carlito"/>
              </a:rPr>
              <a:t> </a:t>
            </a:r>
            <a:r>
              <a:rPr sz="2300" spc="-20" dirty="0">
                <a:latin typeface="Carlito"/>
                <a:cs typeface="Carlito"/>
              </a:rPr>
              <a:t>“Applied</a:t>
            </a:r>
            <a:r>
              <a:rPr sz="2300" spc="-50" dirty="0">
                <a:latin typeface="Carlito"/>
                <a:cs typeface="Carlito"/>
              </a:rPr>
              <a:t> </a:t>
            </a:r>
            <a:r>
              <a:rPr sz="2300" dirty="0">
                <a:latin typeface="Carlito"/>
                <a:cs typeface="Carlito"/>
              </a:rPr>
              <a:t>machine</a:t>
            </a:r>
            <a:r>
              <a:rPr sz="2300" spc="-45" dirty="0">
                <a:latin typeface="Carlito"/>
                <a:cs typeface="Carlito"/>
              </a:rPr>
              <a:t> </a:t>
            </a:r>
            <a:r>
              <a:rPr sz="2300" dirty="0">
                <a:latin typeface="Carlito"/>
                <a:cs typeface="Carlito"/>
              </a:rPr>
              <a:t>learning”</a:t>
            </a:r>
            <a:r>
              <a:rPr sz="2300" spc="-60" dirty="0">
                <a:latin typeface="Carlito"/>
                <a:cs typeface="Carlito"/>
              </a:rPr>
              <a:t> </a:t>
            </a:r>
            <a:r>
              <a:rPr sz="2300" dirty="0">
                <a:latin typeface="Carlito"/>
                <a:cs typeface="Carlito"/>
              </a:rPr>
              <a:t>is</a:t>
            </a:r>
            <a:r>
              <a:rPr sz="2300" spc="-50" dirty="0">
                <a:latin typeface="Carlito"/>
                <a:cs typeface="Carlito"/>
              </a:rPr>
              <a:t> </a:t>
            </a:r>
            <a:r>
              <a:rPr sz="2300" dirty="0">
                <a:latin typeface="Carlito"/>
                <a:cs typeface="Carlito"/>
              </a:rPr>
              <a:t>basically</a:t>
            </a:r>
            <a:r>
              <a:rPr sz="2300" spc="-55" dirty="0">
                <a:latin typeface="Carlito"/>
                <a:cs typeface="Carlito"/>
              </a:rPr>
              <a:t> </a:t>
            </a:r>
            <a:r>
              <a:rPr sz="2300" spc="-10" dirty="0">
                <a:latin typeface="Carlito"/>
                <a:cs typeface="Carlito"/>
              </a:rPr>
              <a:t>feature engineering.”</a:t>
            </a:r>
            <a:endParaRPr sz="2300">
              <a:latin typeface="Carlito"/>
              <a:cs typeface="Carlito"/>
            </a:endParaRPr>
          </a:p>
          <a:p>
            <a:pPr marL="7423150">
              <a:lnSpc>
                <a:spcPct val="100000"/>
              </a:lnSpc>
              <a:spcBef>
                <a:spcPts val="650"/>
              </a:spcBef>
            </a:pPr>
            <a:r>
              <a:rPr sz="2300" i="1" dirty="0">
                <a:latin typeface="Carlito"/>
                <a:cs typeface="Carlito"/>
              </a:rPr>
              <a:t>Andrew</a:t>
            </a:r>
            <a:r>
              <a:rPr sz="2300" i="1" spc="-65" dirty="0">
                <a:latin typeface="Carlito"/>
                <a:cs typeface="Carlito"/>
              </a:rPr>
              <a:t> </a:t>
            </a:r>
            <a:r>
              <a:rPr sz="2300" i="1" spc="-25" dirty="0">
                <a:latin typeface="Carlito"/>
                <a:cs typeface="Carlito"/>
              </a:rPr>
              <a:t>Ng</a:t>
            </a:r>
            <a:endParaRPr sz="2300">
              <a:latin typeface="Carlito"/>
              <a:cs typeface="Carlito"/>
            </a:endParaRPr>
          </a:p>
          <a:p>
            <a:pPr marL="12700" marR="563880">
              <a:lnSpc>
                <a:spcPts val="2500"/>
              </a:lnSpc>
              <a:spcBef>
                <a:spcPts val="919"/>
              </a:spcBef>
            </a:pPr>
            <a:r>
              <a:rPr sz="2300" i="1" dirty="0">
                <a:latin typeface="Carlito"/>
                <a:cs typeface="Carlito"/>
              </a:rPr>
              <a:t>Ví</a:t>
            </a:r>
            <a:r>
              <a:rPr sz="2300" i="1" spc="-4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dụ:</a:t>
            </a:r>
            <a:r>
              <a:rPr sz="2300" i="1" spc="-4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Computer</a:t>
            </a:r>
            <a:r>
              <a:rPr sz="2300" i="1" spc="-4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vision:</a:t>
            </a:r>
            <a:r>
              <a:rPr sz="2300" i="1" spc="-4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Xác</a:t>
            </a:r>
            <a:r>
              <a:rPr sz="2300" i="1" spc="-4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định</a:t>
            </a:r>
            <a:r>
              <a:rPr sz="2300" i="1" spc="-3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khuôn</a:t>
            </a:r>
            <a:r>
              <a:rPr sz="2300" i="1" spc="-3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mặt</a:t>
            </a:r>
            <a:r>
              <a:rPr sz="2300" i="1" spc="-3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trong</a:t>
            </a:r>
            <a:r>
              <a:rPr sz="2300" i="1" spc="-4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bài</a:t>
            </a:r>
            <a:r>
              <a:rPr sz="2300" i="1" spc="-4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toán</a:t>
            </a:r>
            <a:r>
              <a:rPr sz="2300" i="1" spc="-3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nhận</a:t>
            </a:r>
            <a:r>
              <a:rPr sz="2300" i="1" spc="-40" dirty="0">
                <a:latin typeface="Carlito"/>
                <a:cs typeface="Carlito"/>
              </a:rPr>
              <a:t> </a:t>
            </a:r>
            <a:r>
              <a:rPr sz="2300" i="1" spc="-20" dirty="0">
                <a:latin typeface="Carlito"/>
                <a:cs typeface="Carlito"/>
              </a:rPr>
              <a:t>diện </a:t>
            </a:r>
            <a:r>
              <a:rPr sz="2300" i="1" dirty="0">
                <a:latin typeface="Carlito"/>
                <a:cs typeface="Carlito"/>
              </a:rPr>
              <a:t>khuôn</a:t>
            </a:r>
            <a:r>
              <a:rPr sz="2300" i="1" spc="-2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mặt;</a:t>
            </a:r>
            <a:r>
              <a:rPr sz="2300" i="1" spc="-3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căn</a:t>
            </a:r>
            <a:r>
              <a:rPr sz="2300" i="1" spc="-2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chỉnh</a:t>
            </a:r>
            <a:r>
              <a:rPr sz="2300" i="1" spc="-2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hình</a:t>
            </a:r>
            <a:r>
              <a:rPr sz="2300" i="1" spc="-2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ảnh</a:t>
            </a:r>
            <a:r>
              <a:rPr sz="2300" i="1" spc="-2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trong</a:t>
            </a:r>
            <a:r>
              <a:rPr sz="2300" i="1" spc="-2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bài</a:t>
            </a:r>
            <a:r>
              <a:rPr sz="2300" i="1" spc="-3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toán</a:t>
            </a:r>
            <a:r>
              <a:rPr sz="2300" i="1" spc="-25" dirty="0">
                <a:latin typeface="Carlito"/>
                <a:cs typeface="Carlito"/>
              </a:rPr>
              <a:t> </a:t>
            </a:r>
            <a:r>
              <a:rPr sz="2300" i="1" spc="-10" dirty="0">
                <a:latin typeface="Carlito"/>
                <a:cs typeface="Carlito"/>
              </a:rPr>
              <a:t>OCR...</a:t>
            </a:r>
            <a:endParaRPr sz="2300">
              <a:latin typeface="Carlito"/>
              <a:cs typeface="Carlito"/>
            </a:endParaRPr>
          </a:p>
          <a:p>
            <a:pPr marL="12700" marR="568960">
              <a:lnSpc>
                <a:spcPts val="2500"/>
              </a:lnSpc>
              <a:spcBef>
                <a:spcPts val="905"/>
              </a:spcBef>
            </a:pPr>
            <a:r>
              <a:rPr sz="2300" i="1" spc="-10" dirty="0">
                <a:latin typeface="Carlito"/>
                <a:cs typeface="Carlito"/>
              </a:rPr>
              <a:t>Trong</a:t>
            </a:r>
            <a:r>
              <a:rPr sz="2300" i="1" spc="-3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NLP:</a:t>
            </a:r>
            <a:r>
              <a:rPr sz="2300" i="1" spc="-4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Biểu</a:t>
            </a:r>
            <a:r>
              <a:rPr sz="2300" i="1" spc="-2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diễn</a:t>
            </a:r>
            <a:r>
              <a:rPr sz="2300" i="1" spc="-3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các</a:t>
            </a:r>
            <a:r>
              <a:rPr sz="2300" i="1" spc="-2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từ,</a:t>
            </a:r>
            <a:r>
              <a:rPr sz="2300" i="1" spc="-3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văn</a:t>
            </a:r>
            <a:r>
              <a:rPr sz="2300" i="1" spc="-2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bản,</a:t>
            </a:r>
            <a:r>
              <a:rPr sz="2300" i="1" spc="-3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loại</a:t>
            </a:r>
            <a:r>
              <a:rPr sz="2300" i="1" spc="-3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bỏ</a:t>
            </a:r>
            <a:r>
              <a:rPr sz="2300" i="1" spc="-4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từ</a:t>
            </a:r>
            <a:r>
              <a:rPr sz="2300" i="1" spc="-3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thừa,</a:t>
            </a:r>
            <a:r>
              <a:rPr sz="2300" i="1" spc="-3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lọc</a:t>
            </a:r>
            <a:r>
              <a:rPr sz="2300" i="1" spc="-30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nhiễu</a:t>
            </a:r>
            <a:r>
              <a:rPr sz="2300" i="1" spc="-25" dirty="0">
                <a:latin typeface="Carlito"/>
                <a:cs typeface="Carlito"/>
              </a:rPr>
              <a:t> </a:t>
            </a:r>
            <a:r>
              <a:rPr sz="2300" i="1" spc="-10" dirty="0">
                <a:latin typeface="Carlito"/>
                <a:cs typeface="Carlito"/>
              </a:rPr>
              <a:t>trong </a:t>
            </a:r>
            <a:r>
              <a:rPr sz="2300" i="1" dirty="0">
                <a:latin typeface="Carlito"/>
                <a:cs typeface="Carlito"/>
              </a:rPr>
              <a:t>speech</a:t>
            </a:r>
            <a:r>
              <a:rPr sz="2300" i="1" spc="-35" dirty="0">
                <a:latin typeface="Carlito"/>
                <a:cs typeface="Carlito"/>
              </a:rPr>
              <a:t> </a:t>
            </a:r>
            <a:r>
              <a:rPr sz="2300" i="1" dirty="0">
                <a:latin typeface="Carlito"/>
                <a:cs typeface="Carlito"/>
              </a:rPr>
              <a:t>to</a:t>
            </a:r>
            <a:r>
              <a:rPr sz="2300" i="1" spc="-45" dirty="0">
                <a:latin typeface="Carlito"/>
                <a:cs typeface="Carlito"/>
              </a:rPr>
              <a:t> </a:t>
            </a:r>
            <a:r>
              <a:rPr sz="2300" i="1" spc="-10" dirty="0">
                <a:latin typeface="Carlito"/>
                <a:cs typeface="Carlito"/>
              </a:rPr>
              <a:t>text...</a:t>
            </a:r>
            <a:endParaRPr sz="23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922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2.</a:t>
            </a:r>
            <a:r>
              <a:rPr sz="3200" spc="-105" dirty="0"/>
              <a:t> </a:t>
            </a:r>
            <a:r>
              <a:rPr sz="3200" dirty="0"/>
              <a:t>Mô</a:t>
            </a:r>
            <a:r>
              <a:rPr sz="3200" spc="-110" dirty="0"/>
              <a:t> </a:t>
            </a:r>
            <a:r>
              <a:rPr sz="3200" dirty="0"/>
              <a:t>hình</a:t>
            </a:r>
            <a:r>
              <a:rPr sz="3200" spc="-105" dirty="0"/>
              <a:t> </a:t>
            </a:r>
            <a:r>
              <a:rPr sz="3200" dirty="0"/>
              <a:t>chung</a:t>
            </a:r>
            <a:r>
              <a:rPr sz="3200" spc="-105" dirty="0"/>
              <a:t> </a:t>
            </a:r>
            <a:r>
              <a:rPr sz="3200" dirty="0"/>
              <a:t>cho</a:t>
            </a:r>
            <a:r>
              <a:rPr sz="3200" spc="-110" dirty="0"/>
              <a:t> </a:t>
            </a:r>
            <a:r>
              <a:rPr sz="3200" dirty="0"/>
              <a:t>các</a:t>
            </a:r>
            <a:r>
              <a:rPr sz="3200" spc="-105" dirty="0"/>
              <a:t> </a:t>
            </a:r>
            <a:r>
              <a:rPr sz="3200" dirty="0"/>
              <a:t>bài</a:t>
            </a:r>
            <a:r>
              <a:rPr sz="3200" spc="-110" dirty="0"/>
              <a:t> </a:t>
            </a:r>
            <a:r>
              <a:rPr sz="3200" spc="-10" dirty="0"/>
              <a:t>toán</a:t>
            </a:r>
            <a:r>
              <a:rPr sz="3200" spc="-105" dirty="0"/>
              <a:t> </a:t>
            </a:r>
            <a:r>
              <a:rPr sz="3200" spc="-20" dirty="0"/>
              <a:t>Machine</a:t>
            </a:r>
            <a:r>
              <a:rPr sz="3200" spc="-114" dirty="0"/>
              <a:t> </a:t>
            </a:r>
            <a:r>
              <a:rPr sz="3200" spc="-10" dirty="0"/>
              <a:t>Learning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248" y="1267967"/>
            <a:ext cx="5334000" cy="4821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58344" y="1493011"/>
            <a:ext cx="3711575" cy="168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2570">
              <a:lnSpc>
                <a:spcPct val="1522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Có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bước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(phase)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lớn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bài </a:t>
            </a:r>
            <a:r>
              <a:rPr sz="1800" dirty="0">
                <a:latin typeface="Arial"/>
                <a:cs typeface="Arial"/>
              </a:rPr>
              <a:t>toán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machine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learning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055"/>
              </a:spcBef>
              <a:buChar char="•"/>
              <a:tabLst>
                <a:tab pos="297815" algn="l"/>
              </a:tabLst>
            </a:pPr>
            <a:r>
              <a:rPr sz="1800" dirty="0">
                <a:solidFill>
                  <a:srgbClr val="385723"/>
                </a:solidFill>
                <a:latin typeface="Arial"/>
                <a:cs typeface="Arial"/>
              </a:rPr>
              <a:t>Bước</a:t>
            </a:r>
            <a:r>
              <a:rPr sz="1800" spc="-3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5723"/>
                </a:solidFill>
                <a:latin typeface="Arial"/>
                <a:cs typeface="Arial"/>
              </a:rPr>
              <a:t>huấn</a:t>
            </a:r>
            <a:r>
              <a:rPr sz="1800" spc="-3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5723"/>
                </a:solidFill>
                <a:latin typeface="Arial"/>
                <a:cs typeface="Arial"/>
              </a:rPr>
              <a:t>luyện</a:t>
            </a:r>
            <a:r>
              <a:rPr sz="1800" spc="-3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5723"/>
                </a:solidFill>
                <a:latin typeface="Arial"/>
                <a:cs typeface="Arial"/>
              </a:rPr>
              <a:t>(training</a:t>
            </a:r>
            <a:r>
              <a:rPr sz="1800" spc="-25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85723"/>
                </a:solidFill>
                <a:latin typeface="Arial"/>
                <a:cs typeface="Arial"/>
              </a:rPr>
              <a:t>phase)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130"/>
              </a:spcBef>
              <a:buChar char="•"/>
              <a:tabLst>
                <a:tab pos="297815" algn="l"/>
              </a:tabLst>
            </a:pPr>
            <a:r>
              <a:rPr sz="1800" dirty="0">
                <a:solidFill>
                  <a:srgbClr val="385723"/>
                </a:solidFill>
                <a:latin typeface="Arial"/>
                <a:cs typeface="Arial"/>
              </a:rPr>
              <a:t>Bước</a:t>
            </a:r>
            <a:r>
              <a:rPr sz="1800" spc="-25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5723"/>
                </a:solidFill>
                <a:latin typeface="Arial"/>
                <a:cs typeface="Arial"/>
              </a:rPr>
              <a:t>kiểm</a:t>
            </a:r>
            <a:r>
              <a:rPr sz="18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5723"/>
                </a:solidFill>
                <a:latin typeface="Arial"/>
                <a:cs typeface="Arial"/>
              </a:rPr>
              <a:t>thử</a:t>
            </a:r>
            <a:r>
              <a:rPr sz="1800" spc="-25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85723"/>
                </a:solidFill>
                <a:latin typeface="Arial"/>
                <a:cs typeface="Arial"/>
              </a:rPr>
              <a:t>(test</a:t>
            </a:r>
            <a:r>
              <a:rPr sz="1800" spc="-25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85723"/>
                </a:solidFill>
                <a:latin typeface="Arial"/>
                <a:cs typeface="Arial"/>
              </a:rPr>
              <a:t>phase)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9751" y="544068"/>
            <a:ext cx="86398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2.</a:t>
            </a:r>
            <a:r>
              <a:rPr sz="3200" spc="-105" dirty="0"/>
              <a:t> </a:t>
            </a:r>
            <a:r>
              <a:rPr sz="3200" dirty="0"/>
              <a:t>Mô</a:t>
            </a:r>
            <a:r>
              <a:rPr sz="3200" spc="-100" dirty="0"/>
              <a:t> </a:t>
            </a:r>
            <a:r>
              <a:rPr sz="3200" dirty="0"/>
              <a:t>hình</a:t>
            </a:r>
            <a:r>
              <a:rPr sz="3200" spc="-105" dirty="0"/>
              <a:t> </a:t>
            </a:r>
            <a:r>
              <a:rPr sz="3200" dirty="0"/>
              <a:t>chung</a:t>
            </a:r>
            <a:r>
              <a:rPr sz="3200" spc="-105" dirty="0"/>
              <a:t> </a:t>
            </a:r>
            <a:r>
              <a:rPr sz="3200" dirty="0"/>
              <a:t>cho</a:t>
            </a:r>
            <a:r>
              <a:rPr sz="3200" spc="-105" dirty="0"/>
              <a:t> </a:t>
            </a:r>
            <a:r>
              <a:rPr sz="3200" dirty="0"/>
              <a:t>các</a:t>
            </a:r>
            <a:r>
              <a:rPr sz="3200" spc="-105" dirty="0"/>
              <a:t> </a:t>
            </a:r>
            <a:r>
              <a:rPr sz="3200" dirty="0"/>
              <a:t>bài</a:t>
            </a:r>
            <a:r>
              <a:rPr sz="3200" spc="-100" dirty="0"/>
              <a:t> </a:t>
            </a:r>
            <a:r>
              <a:rPr sz="3200" dirty="0"/>
              <a:t>toán</a:t>
            </a:r>
            <a:r>
              <a:rPr sz="3200" spc="-105" dirty="0"/>
              <a:t> </a:t>
            </a:r>
            <a:r>
              <a:rPr sz="3200" spc="-10" dirty="0"/>
              <a:t>Machine</a:t>
            </a:r>
            <a:r>
              <a:rPr sz="3200" spc="-100" dirty="0"/>
              <a:t> </a:t>
            </a:r>
            <a:r>
              <a:rPr sz="3200" spc="-10" dirty="0"/>
              <a:t>Learning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40604" y="1078920"/>
            <a:ext cx="8557260" cy="456057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b="1" i="1" spc="-10" dirty="0">
                <a:solidFill>
                  <a:srgbClr val="385723"/>
                </a:solidFill>
                <a:latin typeface="Carlito"/>
                <a:cs typeface="Carlito"/>
              </a:rPr>
              <a:t>Training</a:t>
            </a:r>
            <a:r>
              <a:rPr sz="2400" b="1" i="1" spc="-60" dirty="0">
                <a:solidFill>
                  <a:srgbClr val="385723"/>
                </a:solidFill>
                <a:latin typeface="Carlito"/>
                <a:cs typeface="Carlito"/>
              </a:rPr>
              <a:t> </a:t>
            </a:r>
            <a:r>
              <a:rPr sz="2400" b="1" i="1" spc="-10" dirty="0">
                <a:solidFill>
                  <a:srgbClr val="385723"/>
                </a:solidFill>
                <a:latin typeface="Carlito"/>
                <a:cs typeface="Carlito"/>
              </a:rPr>
              <a:t>phase</a:t>
            </a:r>
            <a:endParaRPr sz="2400">
              <a:latin typeface="Carlito"/>
              <a:cs typeface="Carlito"/>
            </a:endParaRPr>
          </a:p>
          <a:p>
            <a:pPr marL="204470" indent="-191770">
              <a:lnSpc>
                <a:spcPct val="100000"/>
              </a:lnSpc>
              <a:spcBef>
                <a:spcPts val="1255"/>
              </a:spcBef>
              <a:buFont typeface="Arial"/>
              <a:buChar char="•"/>
              <a:tabLst>
                <a:tab pos="204470" algn="l"/>
              </a:tabLst>
            </a:pPr>
            <a:r>
              <a:rPr sz="2800" dirty="0">
                <a:latin typeface="Carlito"/>
                <a:cs typeface="Carlito"/>
              </a:rPr>
              <a:t>Feature</a:t>
            </a:r>
            <a:r>
              <a:rPr sz="2800" spc="-1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Extraction:</a:t>
            </a:r>
            <a:endParaRPr sz="2800">
              <a:latin typeface="Carlito"/>
              <a:cs typeface="Carlito"/>
            </a:endParaRPr>
          </a:p>
          <a:p>
            <a:pPr marL="589280" lvl="1" indent="-1911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589280" algn="l"/>
              </a:tabLst>
            </a:pPr>
            <a:r>
              <a:rPr sz="2400" b="1" dirty="0">
                <a:latin typeface="Arial"/>
                <a:cs typeface="Arial"/>
              </a:rPr>
              <a:t>Đầu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vào:</a:t>
            </a:r>
            <a:endParaRPr sz="2400">
              <a:latin typeface="Arial"/>
              <a:cs typeface="Arial"/>
            </a:endParaRPr>
          </a:p>
          <a:p>
            <a:pPr marL="974725" lvl="2" indent="-191135">
              <a:lnSpc>
                <a:spcPct val="100000"/>
              </a:lnSpc>
              <a:spcBef>
                <a:spcPts val="120"/>
              </a:spcBef>
              <a:buChar char="-"/>
              <a:tabLst>
                <a:tab pos="974725" algn="l"/>
              </a:tabLst>
            </a:pP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thô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(raw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input)</a:t>
            </a:r>
            <a:endParaRPr sz="2400">
              <a:latin typeface="Arial"/>
              <a:cs typeface="Arial"/>
            </a:endParaRPr>
          </a:p>
          <a:p>
            <a:pPr marL="974725" marR="30480" lvl="2" indent="-191135">
              <a:lnSpc>
                <a:spcPts val="2500"/>
              </a:lnSpc>
              <a:spcBef>
                <a:spcPts val="520"/>
              </a:spcBef>
              <a:buChar char="-"/>
              <a:tabLst>
                <a:tab pos="975994" algn="l"/>
              </a:tabLst>
            </a:pPr>
            <a:r>
              <a:rPr sz="2400" dirty="0">
                <a:latin typeface="Arial"/>
                <a:cs typeface="Arial"/>
              </a:rPr>
              <a:t>Output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set: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thông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ra 	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lựa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chọn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feature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phù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hợp.</a:t>
            </a:r>
            <a:endParaRPr sz="2400">
              <a:latin typeface="Arial"/>
              <a:cs typeface="Arial"/>
            </a:endParaRPr>
          </a:p>
          <a:p>
            <a:pPr marL="974725" lvl="2" indent="-191135">
              <a:lnSpc>
                <a:spcPct val="100000"/>
              </a:lnSpc>
              <a:spcBef>
                <a:spcPts val="100"/>
              </a:spcBef>
              <a:buChar char="-"/>
              <a:tabLst>
                <a:tab pos="974725" algn="l"/>
              </a:tabLst>
            </a:pPr>
            <a:r>
              <a:rPr sz="2400" dirty="0">
                <a:latin typeface="Arial"/>
                <a:cs typeface="Arial"/>
              </a:rPr>
              <a:t>Hiểu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588645" marR="172085" lvl="1" indent="-191135">
              <a:lnSpc>
                <a:spcPts val="2690"/>
              </a:lnSpc>
              <a:spcBef>
                <a:spcPts val="775"/>
              </a:spcBef>
              <a:buFont typeface="Arial"/>
              <a:buChar char="•"/>
              <a:tabLst>
                <a:tab pos="589915" algn="l"/>
              </a:tabLst>
            </a:pPr>
            <a:r>
              <a:rPr sz="2400" b="1" dirty="0">
                <a:latin typeface="Arial"/>
                <a:cs typeface="Arial"/>
              </a:rPr>
              <a:t>Đầu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vector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đặc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kích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thước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như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với 	</a:t>
            </a:r>
            <a:r>
              <a:rPr sz="2400" dirty="0">
                <a:latin typeface="Arial"/>
                <a:cs typeface="Arial"/>
              </a:rPr>
              <a:t>mọi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extracted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feature</a:t>
            </a:r>
            <a:endParaRPr sz="2400">
              <a:latin typeface="Arial"/>
              <a:cs typeface="Arial"/>
            </a:endParaRPr>
          </a:p>
          <a:p>
            <a:pPr marL="205104" marR="5080" indent="-192405">
              <a:lnSpc>
                <a:spcPct val="88400"/>
              </a:lnSpc>
              <a:spcBef>
                <a:spcPts val="840"/>
              </a:spcBef>
              <a:buChar char="•"/>
              <a:tabLst>
                <a:tab pos="205104" algn="l"/>
              </a:tabLst>
            </a:pPr>
            <a:r>
              <a:rPr sz="2800" spc="-10" dirty="0">
                <a:latin typeface="Arial"/>
                <a:cs typeface="Arial"/>
              </a:rPr>
              <a:t>Training: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thuật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Carlito"/>
                <a:cs typeface="Carlito"/>
              </a:rPr>
              <a:t>như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classification,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regression, </a:t>
            </a:r>
            <a:r>
              <a:rPr sz="2400" dirty="0">
                <a:latin typeface="Carlito"/>
                <a:cs typeface="Carlito"/>
              </a:rPr>
              <a:t>clustering,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v.v.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9751" y="544068"/>
            <a:ext cx="86398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2.</a:t>
            </a:r>
            <a:r>
              <a:rPr sz="3200" spc="-105" dirty="0"/>
              <a:t> </a:t>
            </a:r>
            <a:r>
              <a:rPr sz="3200" dirty="0"/>
              <a:t>Mô</a:t>
            </a:r>
            <a:r>
              <a:rPr sz="3200" spc="-100" dirty="0"/>
              <a:t> </a:t>
            </a:r>
            <a:r>
              <a:rPr sz="3200" dirty="0"/>
              <a:t>hình</a:t>
            </a:r>
            <a:r>
              <a:rPr sz="3200" spc="-105" dirty="0"/>
              <a:t> </a:t>
            </a:r>
            <a:r>
              <a:rPr sz="3200" dirty="0"/>
              <a:t>chung</a:t>
            </a:r>
            <a:r>
              <a:rPr sz="3200" spc="-105" dirty="0"/>
              <a:t> </a:t>
            </a:r>
            <a:r>
              <a:rPr sz="3200" dirty="0"/>
              <a:t>cho</a:t>
            </a:r>
            <a:r>
              <a:rPr sz="3200" spc="-105" dirty="0"/>
              <a:t> </a:t>
            </a:r>
            <a:r>
              <a:rPr sz="3200" dirty="0"/>
              <a:t>các</a:t>
            </a:r>
            <a:r>
              <a:rPr sz="3200" spc="-105" dirty="0"/>
              <a:t> </a:t>
            </a:r>
            <a:r>
              <a:rPr sz="3200" dirty="0"/>
              <a:t>bài</a:t>
            </a:r>
            <a:r>
              <a:rPr sz="3200" spc="-100" dirty="0"/>
              <a:t> </a:t>
            </a:r>
            <a:r>
              <a:rPr sz="3200" dirty="0"/>
              <a:t>toán</a:t>
            </a:r>
            <a:r>
              <a:rPr sz="3200" spc="-105" dirty="0"/>
              <a:t> </a:t>
            </a:r>
            <a:r>
              <a:rPr sz="3200" spc="-10" dirty="0"/>
              <a:t>Machine</a:t>
            </a:r>
            <a:r>
              <a:rPr sz="3200" spc="-100" dirty="0"/>
              <a:t> </a:t>
            </a:r>
            <a:r>
              <a:rPr sz="3200" spc="-10" dirty="0"/>
              <a:t>Learning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40604" y="1041907"/>
            <a:ext cx="8640445" cy="2985135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400" b="1" i="1" spc="-35" dirty="0">
                <a:solidFill>
                  <a:srgbClr val="385723"/>
                </a:solidFill>
                <a:latin typeface="Carlito"/>
                <a:cs typeface="Carlito"/>
              </a:rPr>
              <a:t>Test</a:t>
            </a:r>
            <a:r>
              <a:rPr sz="2400" b="1" i="1" spc="-100" dirty="0">
                <a:solidFill>
                  <a:srgbClr val="385723"/>
                </a:solidFill>
                <a:latin typeface="Carlito"/>
                <a:cs typeface="Carlito"/>
              </a:rPr>
              <a:t> </a:t>
            </a:r>
            <a:r>
              <a:rPr sz="2400" b="1" i="1" spc="-10" dirty="0">
                <a:solidFill>
                  <a:srgbClr val="385723"/>
                </a:solidFill>
                <a:latin typeface="Carlito"/>
                <a:cs typeface="Carlito"/>
              </a:rPr>
              <a:t>phase</a:t>
            </a:r>
            <a:endParaRPr sz="2400">
              <a:latin typeface="Carlito"/>
              <a:cs typeface="Carlito"/>
            </a:endParaRPr>
          </a:p>
          <a:p>
            <a:pPr marL="203835" marR="476884" indent="-191135">
              <a:lnSpc>
                <a:spcPts val="2590"/>
              </a:lnSpc>
              <a:spcBef>
                <a:spcPts val="1700"/>
              </a:spcBef>
              <a:buFont typeface="Arial"/>
              <a:buChar char="•"/>
              <a:tabLst>
                <a:tab pos="205104" algn="l"/>
              </a:tabLst>
            </a:pPr>
            <a:r>
              <a:rPr sz="2400" b="1" dirty="0">
                <a:latin typeface="Arial"/>
                <a:cs typeface="Arial"/>
              </a:rPr>
              <a:t>Bước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1: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bộ</a:t>
            </a:r>
            <a:r>
              <a:rPr sz="2400" b="1" i="1" spc="-3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dữ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liệu</a:t>
            </a:r>
            <a:r>
              <a:rPr sz="2400" b="1" i="1" spc="-4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kiểm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thử</a:t>
            </a:r>
            <a:r>
              <a:rPr sz="2400" b="1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bộ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trích 	</a:t>
            </a:r>
            <a:r>
              <a:rPr sz="2400" b="1" dirty="0">
                <a:latin typeface="Arial"/>
                <a:cs typeface="Arial"/>
              </a:rPr>
              <a:t>chọn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đặc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trưng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đã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548235"/>
                </a:solidFill>
                <a:latin typeface="Arial"/>
                <a:cs typeface="Arial"/>
              </a:rPr>
              <a:t>vector</a:t>
            </a:r>
            <a:r>
              <a:rPr sz="2400" b="1" i="1" spc="-40" dirty="0">
                <a:solidFill>
                  <a:srgbClr val="548235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548235"/>
                </a:solidFill>
                <a:latin typeface="Arial"/>
                <a:cs typeface="Arial"/>
              </a:rPr>
              <a:t>đặc</a:t>
            </a:r>
            <a:r>
              <a:rPr sz="2400" b="1" i="1" spc="-40" dirty="0">
                <a:solidFill>
                  <a:srgbClr val="548235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548235"/>
                </a:solidFill>
                <a:latin typeface="Arial"/>
                <a:cs typeface="Arial"/>
              </a:rPr>
              <a:t>trưng</a:t>
            </a:r>
            <a:endParaRPr sz="2400">
              <a:latin typeface="Arial"/>
              <a:cs typeface="Arial"/>
            </a:endParaRPr>
          </a:p>
          <a:p>
            <a:pPr marL="203835" marR="5080" indent="-191135">
              <a:lnSpc>
                <a:spcPts val="2590"/>
              </a:lnSpc>
              <a:spcBef>
                <a:spcPts val="915"/>
              </a:spcBef>
              <a:buFont typeface="Arial"/>
              <a:buChar char="•"/>
              <a:tabLst>
                <a:tab pos="205104" algn="l"/>
              </a:tabLst>
            </a:pPr>
            <a:r>
              <a:rPr sz="2400" b="1" dirty="0">
                <a:latin typeface="Arial"/>
                <a:cs typeface="Arial"/>
              </a:rPr>
              <a:t>Bước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2: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vector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đặc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thuật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vừa 	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ở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bước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huấn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luyện.</a:t>
            </a:r>
            <a:endParaRPr sz="2400">
              <a:latin typeface="Arial"/>
              <a:cs typeface="Arial"/>
            </a:endParaRPr>
          </a:p>
          <a:p>
            <a:pPr marL="203835" marR="563245" indent="-191135">
              <a:lnSpc>
                <a:spcPts val="2620"/>
              </a:lnSpc>
              <a:spcBef>
                <a:spcPts val="890"/>
              </a:spcBef>
              <a:buFont typeface="Arial"/>
              <a:buChar char="•"/>
              <a:tabLst>
                <a:tab pos="205104" algn="l"/>
              </a:tabLst>
            </a:pPr>
            <a:r>
              <a:rPr sz="2400" b="1" dirty="0">
                <a:latin typeface="Arial"/>
                <a:cs typeface="Arial"/>
              </a:rPr>
              <a:t>Bước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3: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đánh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mô 	</a:t>
            </a:r>
            <a:r>
              <a:rPr sz="2400" dirty="0">
                <a:latin typeface="Arial"/>
                <a:cs typeface="Arial"/>
              </a:rPr>
              <a:t>hình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(bằng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phương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pháp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đánh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giá)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301" y="4818379"/>
            <a:ext cx="1143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Dữ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liệu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thô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6290" y="4437113"/>
            <a:ext cx="2016760" cy="1152525"/>
          </a:xfrm>
          <a:prstGeom prst="rect">
            <a:avLst/>
          </a:prstGeom>
          <a:solidFill>
            <a:srgbClr val="4472C4"/>
          </a:solidFill>
          <a:ln w="12700">
            <a:solidFill>
              <a:srgbClr val="2F528F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</a:pPr>
            <a:endParaRPr sz="1800">
              <a:latin typeface="Times New Roman"/>
              <a:cs typeface="Times New Roman"/>
            </a:endParaRPr>
          </a:p>
          <a:p>
            <a:pPr marL="554355" marR="384175" indent="-163830">
              <a:lnSpc>
                <a:spcPts val="209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Bộ</a:t>
            </a:r>
            <a:r>
              <a:rPr sz="1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trích</a:t>
            </a:r>
            <a:r>
              <a:rPr sz="1800" spc="-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chọn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đặc</a:t>
            </a:r>
            <a:r>
              <a:rPr sz="1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trưng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9661" y="4786312"/>
            <a:ext cx="1800225" cy="369570"/>
          </a:xfrm>
          <a:prstGeom prst="rect">
            <a:avLst/>
          </a:prstGeom>
          <a:solidFill>
            <a:srgbClr val="ED7D31"/>
          </a:solidFill>
          <a:ln w="12700">
            <a:solidFill>
              <a:srgbClr val="2F528F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280"/>
              </a:spcBef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Vector</a:t>
            </a:r>
            <a:r>
              <a:rPr sz="18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đặc</a:t>
            </a:r>
            <a:r>
              <a:rPr sz="18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trưng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7048" y="4394911"/>
            <a:ext cx="2016760" cy="1152525"/>
          </a:xfrm>
          <a:prstGeom prst="rect">
            <a:avLst/>
          </a:prstGeom>
          <a:solidFill>
            <a:srgbClr val="4472C4"/>
          </a:solidFill>
          <a:ln w="12700">
            <a:solidFill>
              <a:srgbClr val="2F528F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</a:pPr>
            <a:endParaRPr sz="1800">
              <a:latin typeface="Times New Roman"/>
              <a:cs typeface="Times New Roman"/>
            </a:endParaRPr>
          </a:p>
          <a:p>
            <a:pPr marL="617220" marR="494030" indent="-116205">
              <a:lnSpc>
                <a:spcPts val="2090"/>
              </a:lnSpc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Thuật</a:t>
            </a:r>
            <a:r>
              <a:rPr sz="1800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toán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học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 máy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80462" y="4653140"/>
            <a:ext cx="1247775" cy="659130"/>
          </a:xfrm>
          <a:prstGeom prst="rect">
            <a:avLst/>
          </a:prstGeom>
          <a:solidFill>
            <a:srgbClr val="548235"/>
          </a:solidFill>
          <a:ln w="12700">
            <a:solidFill>
              <a:srgbClr val="2F528F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318770">
              <a:lnSpc>
                <a:spcPct val="100000"/>
              </a:lnSpc>
              <a:spcBef>
                <a:spcPts val="1425"/>
              </a:spcBef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Đầu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ra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777" y="4894173"/>
            <a:ext cx="269875" cy="197485"/>
            <a:chOff x="1752777" y="4894173"/>
            <a:chExt cx="269875" cy="197485"/>
          </a:xfrm>
        </p:grpSpPr>
        <p:sp>
          <p:nvSpPr>
            <p:cNvPr id="10" name="object 10"/>
            <p:cNvSpPr/>
            <p:nvPr/>
          </p:nvSpPr>
          <p:spPr>
            <a:xfrm>
              <a:off x="1759127" y="4900523"/>
              <a:ext cx="257175" cy="184785"/>
            </a:xfrm>
            <a:custGeom>
              <a:avLst/>
              <a:gdLst/>
              <a:ahLst/>
              <a:cxnLst/>
              <a:rect l="l" t="t" r="r" b="b"/>
              <a:pathLst>
                <a:path w="257175" h="184785">
                  <a:moveTo>
                    <a:pt x="164833" y="0"/>
                  </a:moveTo>
                  <a:lnTo>
                    <a:pt x="164833" y="46164"/>
                  </a:lnTo>
                  <a:lnTo>
                    <a:pt x="0" y="46164"/>
                  </a:lnTo>
                  <a:lnTo>
                    <a:pt x="0" y="138493"/>
                  </a:lnTo>
                  <a:lnTo>
                    <a:pt x="164833" y="138493"/>
                  </a:lnTo>
                  <a:lnTo>
                    <a:pt x="164833" y="184657"/>
                  </a:lnTo>
                  <a:lnTo>
                    <a:pt x="257162" y="92329"/>
                  </a:lnTo>
                  <a:lnTo>
                    <a:pt x="164833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59127" y="4900523"/>
              <a:ext cx="257175" cy="184785"/>
            </a:xfrm>
            <a:custGeom>
              <a:avLst/>
              <a:gdLst/>
              <a:ahLst/>
              <a:cxnLst/>
              <a:rect l="l" t="t" r="r" b="b"/>
              <a:pathLst>
                <a:path w="257175" h="184785">
                  <a:moveTo>
                    <a:pt x="0" y="46166"/>
                  </a:moveTo>
                  <a:lnTo>
                    <a:pt x="164837" y="46166"/>
                  </a:lnTo>
                  <a:lnTo>
                    <a:pt x="164837" y="0"/>
                  </a:lnTo>
                  <a:lnTo>
                    <a:pt x="257170" y="92333"/>
                  </a:lnTo>
                  <a:lnTo>
                    <a:pt x="164837" y="184666"/>
                  </a:lnTo>
                  <a:lnTo>
                    <a:pt x="164837" y="138499"/>
                  </a:lnTo>
                  <a:lnTo>
                    <a:pt x="0" y="138499"/>
                  </a:lnTo>
                  <a:lnTo>
                    <a:pt x="0" y="46166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051020" y="4862804"/>
            <a:ext cx="269875" cy="197485"/>
            <a:chOff x="4051020" y="4862804"/>
            <a:chExt cx="269875" cy="197485"/>
          </a:xfrm>
        </p:grpSpPr>
        <p:sp>
          <p:nvSpPr>
            <p:cNvPr id="13" name="object 13"/>
            <p:cNvSpPr/>
            <p:nvPr/>
          </p:nvSpPr>
          <p:spPr>
            <a:xfrm>
              <a:off x="4057370" y="4869154"/>
              <a:ext cx="257175" cy="184785"/>
            </a:xfrm>
            <a:custGeom>
              <a:avLst/>
              <a:gdLst/>
              <a:ahLst/>
              <a:cxnLst/>
              <a:rect l="l" t="t" r="r" b="b"/>
              <a:pathLst>
                <a:path w="257175" h="184785">
                  <a:moveTo>
                    <a:pt x="164833" y="0"/>
                  </a:moveTo>
                  <a:lnTo>
                    <a:pt x="164833" y="46177"/>
                  </a:lnTo>
                  <a:lnTo>
                    <a:pt x="0" y="46177"/>
                  </a:lnTo>
                  <a:lnTo>
                    <a:pt x="0" y="138506"/>
                  </a:lnTo>
                  <a:lnTo>
                    <a:pt x="164833" y="138506"/>
                  </a:lnTo>
                  <a:lnTo>
                    <a:pt x="164833" y="184670"/>
                  </a:lnTo>
                  <a:lnTo>
                    <a:pt x="257162" y="92341"/>
                  </a:lnTo>
                  <a:lnTo>
                    <a:pt x="164833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57370" y="4869154"/>
              <a:ext cx="257175" cy="184785"/>
            </a:xfrm>
            <a:custGeom>
              <a:avLst/>
              <a:gdLst/>
              <a:ahLst/>
              <a:cxnLst/>
              <a:rect l="l" t="t" r="r" b="b"/>
              <a:pathLst>
                <a:path w="257175" h="184785">
                  <a:moveTo>
                    <a:pt x="0" y="46166"/>
                  </a:moveTo>
                  <a:lnTo>
                    <a:pt x="164837" y="46166"/>
                  </a:lnTo>
                  <a:lnTo>
                    <a:pt x="164837" y="0"/>
                  </a:lnTo>
                  <a:lnTo>
                    <a:pt x="257170" y="92333"/>
                  </a:lnTo>
                  <a:lnTo>
                    <a:pt x="164837" y="184666"/>
                  </a:lnTo>
                  <a:lnTo>
                    <a:pt x="164837" y="138499"/>
                  </a:lnTo>
                  <a:lnTo>
                    <a:pt x="0" y="138499"/>
                  </a:lnTo>
                  <a:lnTo>
                    <a:pt x="0" y="46166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143510" y="4862804"/>
            <a:ext cx="269875" cy="197485"/>
            <a:chOff x="6143510" y="4862804"/>
            <a:chExt cx="269875" cy="197485"/>
          </a:xfrm>
        </p:grpSpPr>
        <p:sp>
          <p:nvSpPr>
            <p:cNvPr id="16" name="object 16"/>
            <p:cNvSpPr/>
            <p:nvPr/>
          </p:nvSpPr>
          <p:spPr>
            <a:xfrm>
              <a:off x="6149860" y="4869154"/>
              <a:ext cx="257175" cy="184785"/>
            </a:xfrm>
            <a:custGeom>
              <a:avLst/>
              <a:gdLst/>
              <a:ahLst/>
              <a:cxnLst/>
              <a:rect l="l" t="t" r="r" b="b"/>
              <a:pathLst>
                <a:path w="257175" h="184785">
                  <a:moveTo>
                    <a:pt x="164833" y="0"/>
                  </a:moveTo>
                  <a:lnTo>
                    <a:pt x="164833" y="46177"/>
                  </a:lnTo>
                  <a:lnTo>
                    <a:pt x="0" y="46177"/>
                  </a:lnTo>
                  <a:lnTo>
                    <a:pt x="0" y="138506"/>
                  </a:lnTo>
                  <a:lnTo>
                    <a:pt x="164833" y="138506"/>
                  </a:lnTo>
                  <a:lnTo>
                    <a:pt x="164833" y="184670"/>
                  </a:lnTo>
                  <a:lnTo>
                    <a:pt x="257175" y="92341"/>
                  </a:lnTo>
                  <a:lnTo>
                    <a:pt x="164833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49860" y="4869154"/>
              <a:ext cx="257175" cy="184785"/>
            </a:xfrm>
            <a:custGeom>
              <a:avLst/>
              <a:gdLst/>
              <a:ahLst/>
              <a:cxnLst/>
              <a:rect l="l" t="t" r="r" b="b"/>
              <a:pathLst>
                <a:path w="257175" h="184785">
                  <a:moveTo>
                    <a:pt x="0" y="46166"/>
                  </a:moveTo>
                  <a:lnTo>
                    <a:pt x="164837" y="46166"/>
                  </a:lnTo>
                  <a:lnTo>
                    <a:pt x="164837" y="0"/>
                  </a:lnTo>
                  <a:lnTo>
                    <a:pt x="257170" y="92333"/>
                  </a:lnTo>
                  <a:lnTo>
                    <a:pt x="164837" y="184666"/>
                  </a:lnTo>
                  <a:lnTo>
                    <a:pt x="164837" y="138499"/>
                  </a:lnTo>
                  <a:lnTo>
                    <a:pt x="0" y="138499"/>
                  </a:lnTo>
                  <a:lnTo>
                    <a:pt x="0" y="46166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8416937" y="4893093"/>
            <a:ext cx="269875" cy="197485"/>
            <a:chOff x="8416937" y="4893093"/>
            <a:chExt cx="269875" cy="197485"/>
          </a:xfrm>
        </p:grpSpPr>
        <p:sp>
          <p:nvSpPr>
            <p:cNvPr id="19" name="object 19"/>
            <p:cNvSpPr/>
            <p:nvPr/>
          </p:nvSpPr>
          <p:spPr>
            <a:xfrm>
              <a:off x="8423287" y="4899443"/>
              <a:ext cx="257175" cy="184785"/>
            </a:xfrm>
            <a:custGeom>
              <a:avLst/>
              <a:gdLst/>
              <a:ahLst/>
              <a:cxnLst/>
              <a:rect l="l" t="t" r="r" b="b"/>
              <a:pathLst>
                <a:path w="257175" h="184785">
                  <a:moveTo>
                    <a:pt x="164846" y="0"/>
                  </a:moveTo>
                  <a:lnTo>
                    <a:pt x="164846" y="46164"/>
                  </a:lnTo>
                  <a:lnTo>
                    <a:pt x="0" y="46164"/>
                  </a:lnTo>
                  <a:lnTo>
                    <a:pt x="0" y="138506"/>
                  </a:lnTo>
                  <a:lnTo>
                    <a:pt x="164846" y="138506"/>
                  </a:lnTo>
                  <a:lnTo>
                    <a:pt x="164846" y="184670"/>
                  </a:lnTo>
                  <a:lnTo>
                    <a:pt x="257175" y="92341"/>
                  </a:lnTo>
                  <a:lnTo>
                    <a:pt x="164846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423287" y="4899443"/>
              <a:ext cx="257175" cy="184785"/>
            </a:xfrm>
            <a:custGeom>
              <a:avLst/>
              <a:gdLst/>
              <a:ahLst/>
              <a:cxnLst/>
              <a:rect l="l" t="t" r="r" b="b"/>
              <a:pathLst>
                <a:path w="257175" h="184785">
                  <a:moveTo>
                    <a:pt x="0" y="46166"/>
                  </a:moveTo>
                  <a:lnTo>
                    <a:pt x="164837" y="46166"/>
                  </a:lnTo>
                  <a:lnTo>
                    <a:pt x="164837" y="0"/>
                  </a:lnTo>
                  <a:lnTo>
                    <a:pt x="257170" y="92333"/>
                  </a:lnTo>
                  <a:lnTo>
                    <a:pt x="164837" y="184666"/>
                  </a:lnTo>
                  <a:lnTo>
                    <a:pt x="164837" y="138499"/>
                  </a:lnTo>
                  <a:lnTo>
                    <a:pt x="0" y="138499"/>
                  </a:lnTo>
                  <a:lnTo>
                    <a:pt x="0" y="46166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Một</a:t>
            </a:r>
            <a:r>
              <a:rPr spc="-114" dirty="0"/>
              <a:t> </a:t>
            </a:r>
            <a:r>
              <a:rPr dirty="0"/>
              <a:t>số</a:t>
            </a:r>
            <a:r>
              <a:rPr spc="-114" dirty="0"/>
              <a:t> </a:t>
            </a:r>
            <a:r>
              <a:rPr dirty="0"/>
              <a:t>ví</a:t>
            </a:r>
            <a:r>
              <a:rPr spc="-110" dirty="0"/>
              <a:t> </a:t>
            </a:r>
            <a:r>
              <a:rPr dirty="0"/>
              <a:t>dụ</a:t>
            </a:r>
            <a:r>
              <a:rPr spc="-110" dirty="0"/>
              <a:t> </a:t>
            </a:r>
            <a:r>
              <a:rPr dirty="0"/>
              <a:t>về</a:t>
            </a:r>
            <a:r>
              <a:rPr spc="-110" dirty="0"/>
              <a:t> </a:t>
            </a:r>
            <a:r>
              <a:rPr spc="-25" dirty="0"/>
              <a:t>Feature</a:t>
            </a:r>
            <a:r>
              <a:rPr spc="-114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0605" y="1263396"/>
            <a:ext cx="8724265" cy="254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a.</a:t>
            </a:r>
            <a:r>
              <a:rPr sz="2000" b="1" spc="-5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70C0"/>
                </a:solidFill>
                <a:latin typeface="Arial"/>
                <a:cs typeface="Arial"/>
              </a:rPr>
              <a:t>Trực</a:t>
            </a:r>
            <a:r>
              <a:rPr sz="2000" b="1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tiếp</a:t>
            </a:r>
            <a:r>
              <a:rPr sz="2000" b="1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lấy</a:t>
            </a:r>
            <a:r>
              <a:rPr sz="2000" b="1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dữ</a:t>
            </a:r>
            <a:r>
              <a:rPr sz="2000" b="1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liệu</a:t>
            </a:r>
            <a:r>
              <a:rPr sz="2000" b="1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70C0"/>
                </a:solidFill>
                <a:latin typeface="Arial"/>
                <a:cs typeface="Arial"/>
              </a:rPr>
              <a:t>thô</a:t>
            </a:r>
            <a:endParaRPr sz="2000">
              <a:latin typeface="Arial"/>
              <a:cs typeface="Arial"/>
            </a:endParaRPr>
          </a:p>
          <a:p>
            <a:pPr marL="204470" marR="5080" indent="-192405">
              <a:lnSpc>
                <a:spcPct val="101699"/>
              </a:lnSpc>
              <a:spcBef>
                <a:spcPts val="1714"/>
              </a:spcBef>
              <a:buChar char="•"/>
              <a:tabLst>
                <a:tab pos="204470" algn="l"/>
              </a:tabLst>
            </a:pPr>
            <a:r>
              <a:rPr sz="2300" dirty="0">
                <a:latin typeface="Arial"/>
                <a:cs typeface="Arial"/>
              </a:rPr>
              <a:t>Xét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một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bài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toán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phân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loại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các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bức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ảnh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xám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kích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thước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cố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định</a:t>
            </a:r>
            <a:r>
              <a:rPr sz="2300" spc="-25" dirty="0">
                <a:latin typeface="Arial"/>
                <a:cs typeface="Arial"/>
              </a:rPr>
              <a:t> là </a:t>
            </a:r>
            <a:r>
              <a:rPr sz="2300" dirty="0">
                <a:latin typeface="Arial"/>
                <a:cs typeface="Arial"/>
              </a:rPr>
              <a:t>m</a:t>
            </a:r>
            <a:r>
              <a:rPr sz="2300" spc="-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×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</a:t>
            </a:r>
            <a:r>
              <a:rPr sz="2300" spc="-10" dirty="0">
                <a:latin typeface="Arial"/>
                <a:cs typeface="Arial"/>
              </a:rPr>
              <a:t> pixel:</a:t>
            </a:r>
            <a:endParaRPr sz="2300">
              <a:latin typeface="Arial"/>
              <a:cs typeface="Arial"/>
            </a:endParaRPr>
          </a:p>
          <a:p>
            <a:pPr marL="12700" marR="360680">
              <a:lnSpc>
                <a:spcPts val="2710"/>
              </a:lnSpc>
              <a:spcBef>
                <a:spcPts val="1070"/>
              </a:spcBef>
            </a:pPr>
            <a:r>
              <a:rPr sz="2300" spc="-110" dirty="0">
                <a:latin typeface="Arial"/>
                <a:cs typeface="Arial"/>
              </a:rPr>
              <a:t>Ta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có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thể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kéo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dài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ma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trận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các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pixel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thành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một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vector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có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mn</a:t>
            </a:r>
            <a:r>
              <a:rPr sz="2300" spc="-20" dirty="0">
                <a:latin typeface="Arial"/>
                <a:cs typeface="Arial"/>
              </a:rPr>
              <a:t> phần </a:t>
            </a:r>
            <a:r>
              <a:rPr sz="2300" spc="-25" dirty="0">
                <a:latin typeface="Arial"/>
                <a:cs typeface="Arial"/>
              </a:rPr>
              <a:t>tử.</a:t>
            </a:r>
            <a:endParaRPr sz="2300">
              <a:latin typeface="Arial"/>
              <a:cs typeface="Arial"/>
            </a:endParaRPr>
          </a:p>
          <a:p>
            <a:pPr marL="783590">
              <a:lnSpc>
                <a:spcPct val="100000"/>
              </a:lnSpc>
              <a:spcBef>
                <a:spcPts val="755"/>
              </a:spcBef>
            </a:pPr>
            <a:r>
              <a:rPr sz="2400" dirty="0">
                <a:latin typeface="Arial"/>
                <a:cs typeface="Arial"/>
              </a:rPr>
              <a:t>Kỹ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thuật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còn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gọi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Vector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hóa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300" spc="-10" dirty="0">
                <a:latin typeface="Carlito"/>
                <a:cs typeface="Carlito"/>
              </a:rPr>
              <a:t>(vectorization).</a:t>
            </a:r>
            <a:endParaRPr sz="23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6146" y="3494659"/>
            <a:ext cx="589280" cy="229235"/>
            <a:chOff x="756146" y="3494659"/>
            <a:chExt cx="589280" cy="229235"/>
          </a:xfrm>
        </p:grpSpPr>
        <p:sp>
          <p:nvSpPr>
            <p:cNvPr id="5" name="object 5"/>
            <p:cNvSpPr/>
            <p:nvPr/>
          </p:nvSpPr>
          <p:spPr>
            <a:xfrm>
              <a:off x="762496" y="3501009"/>
              <a:ext cx="576580" cy="216535"/>
            </a:xfrm>
            <a:custGeom>
              <a:avLst/>
              <a:gdLst/>
              <a:ahLst/>
              <a:cxnLst/>
              <a:rect l="l" t="t" r="r" b="b"/>
              <a:pathLst>
                <a:path w="576580" h="216535">
                  <a:moveTo>
                    <a:pt x="468052" y="0"/>
                  </a:moveTo>
                  <a:lnTo>
                    <a:pt x="468052" y="54000"/>
                  </a:lnTo>
                  <a:lnTo>
                    <a:pt x="0" y="54000"/>
                  </a:lnTo>
                  <a:lnTo>
                    <a:pt x="0" y="162013"/>
                  </a:lnTo>
                  <a:lnTo>
                    <a:pt x="468052" y="162013"/>
                  </a:lnTo>
                  <a:lnTo>
                    <a:pt x="468052" y="216026"/>
                  </a:lnTo>
                  <a:lnTo>
                    <a:pt x="576058" y="108013"/>
                  </a:lnTo>
                  <a:lnTo>
                    <a:pt x="468052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2496" y="3501009"/>
              <a:ext cx="576580" cy="216535"/>
            </a:xfrm>
            <a:custGeom>
              <a:avLst/>
              <a:gdLst/>
              <a:ahLst/>
              <a:cxnLst/>
              <a:rect l="l" t="t" r="r" b="b"/>
              <a:pathLst>
                <a:path w="576580" h="216535">
                  <a:moveTo>
                    <a:pt x="0" y="54006"/>
                  </a:moveTo>
                  <a:lnTo>
                    <a:pt x="468052" y="54006"/>
                  </a:lnTo>
                  <a:lnTo>
                    <a:pt x="468052" y="0"/>
                  </a:lnTo>
                  <a:lnTo>
                    <a:pt x="576064" y="108012"/>
                  </a:lnTo>
                  <a:lnTo>
                    <a:pt x="468052" y="216024"/>
                  </a:lnTo>
                  <a:lnTo>
                    <a:pt x="468052" y="162018"/>
                  </a:lnTo>
                  <a:lnTo>
                    <a:pt x="0" y="162018"/>
                  </a:lnTo>
                  <a:lnTo>
                    <a:pt x="0" y="54006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56146" y="4160989"/>
          <a:ext cx="1877695" cy="1636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500" spc="-25" dirty="0">
                          <a:latin typeface="Carlito"/>
                          <a:cs typeface="Carlito"/>
                        </a:rPr>
                        <a:t>129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500" spc="-25" dirty="0">
                          <a:latin typeface="Carlito"/>
                          <a:cs typeface="Carlito"/>
                        </a:rPr>
                        <a:t>33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500" spc="-25" dirty="0">
                          <a:latin typeface="Carlito"/>
                          <a:cs typeface="Carlito"/>
                        </a:rPr>
                        <a:t>54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500" spc="-25" dirty="0">
                          <a:latin typeface="Carlito"/>
                          <a:cs typeface="Carlito"/>
                        </a:rPr>
                        <a:t>122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500" spc="-25" dirty="0">
                          <a:latin typeface="Carlito"/>
                          <a:cs typeface="Carlito"/>
                        </a:rPr>
                        <a:t>11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500" spc="-25" dirty="0">
                          <a:latin typeface="Carlito"/>
                          <a:cs typeface="Carlito"/>
                        </a:rPr>
                        <a:t>134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500" spc="-25" dirty="0">
                          <a:latin typeface="Carlito"/>
                          <a:cs typeface="Carlito"/>
                        </a:rPr>
                        <a:t>45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500" spc="-25" dirty="0">
                          <a:latin typeface="Carlito"/>
                          <a:cs typeface="Carlito"/>
                        </a:rPr>
                        <a:t>33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500" spc="-50" dirty="0">
                          <a:latin typeface="Carlito"/>
                          <a:cs typeface="Carlito"/>
                        </a:rPr>
                        <a:t>2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120923" y="4778108"/>
          <a:ext cx="69469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129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33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54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122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11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134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45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33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5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2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188007" y="5866891"/>
            <a:ext cx="107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3x3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matrix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95669" y="5263388"/>
            <a:ext cx="1080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vector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9x1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16873" y="4790808"/>
            <a:ext cx="434975" cy="306705"/>
            <a:chOff x="2616873" y="4790808"/>
            <a:chExt cx="434975" cy="306705"/>
          </a:xfrm>
        </p:grpSpPr>
        <p:sp>
          <p:nvSpPr>
            <p:cNvPr id="12" name="object 12"/>
            <p:cNvSpPr/>
            <p:nvPr/>
          </p:nvSpPr>
          <p:spPr>
            <a:xfrm>
              <a:off x="2623223" y="4797158"/>
              <a:ext cx="422275" cy="294005"/>
            </a:xfrm>
            <a:custGeom>
              <a:avLst/>
              <a:gdLst/>
              <a:ahLst/>
              <a:cxnLst/>
              <a:rect l="l" t="t" r="r" b="b"/>
              <a:pathLst>
                <a:path w="422275" h="294004">
                  <a:moveTo>
                    <a:pt x="275501" y="0"/>
                  </a:moveTo>
                  <a:lnTo>
                    <a:pt x="275501" y="73355"/>
                  </a:lnTo>
                  <a:lnTo>
                    <a:pt x="0" y="73355"/>
                  </a:lnTo>
                  <a:lnTo>
                    <a:pt x="0" y="220065"/>
                  </a:lnTo>
                  <a:lnTo>
                    <a:pt x="275501" y="220065"/>
                  </a:lnTo>
                  <a:lnTo>
                    <a:pt x="275501" y="293420"/>
                  </a:lnTo>
                  <a:lnTo>
                    <a:pt x="422224" y="146710"/>
                  </a:lnTo>
                  <a:lnTo>
                    <a:pt x="2755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23223" y="4797158"/>
              <a:ext cx="422275" cy="294005"/>
            </a:xfrm>
            <a:custGeom>
              <a:avLst/>
              <a:gdLst/>
              <a:ahLst/>
              <a:cxnLst/>
              <a:rect l="l" t="t" r="r" b="b"/>
              <a:pathLst>
                <a:path w="422275" h="294004">
                  <a:moveTo>
                    <a:pt x="0" y="73358"/>
                  </a:moveTo>
                  <a:lnTo>
                    <a:pt x="275509" y="73358"/>
                  </a:lnTo>
                  <a:lnTo>
                    <a:pt x="275509" y="0"/>
                  </a:lnTo>
                  <a:lnTo>
                    <a:pt x="422225" y="146716"/>
                  </a:lnTo>
                  <a:lnTo>
                    <a:pt x="275509" y="293432"/>
                  </a:lnTo>
                  <a:lnTo>
                    <a:pt x="275509" y="220074"/>
                  </a:lnTo>
                  <a:lnTo>
                    <a:pt x="0" y="220074"/>
                  </a:lnTo>
                  <a:lnTo>
                    <a:pt x="0" y="73358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49485" y="5900420"/>
            <a:ext cx="5749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Việc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biến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đổi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trận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vector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mất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mát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thông</a:t>
            </a:r>
            <a:r>
              <a:rPr sz="1800" spc="-25" dirty="0">
                <a:latin typeface="Arial"/>
                <a:cs typeface="Arial"/>
              </a:rPr>
              <a:t> tin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Một</a:t>
            </a:r>
            <a:r>
              <a:rPr spc="-114" dirty="0"/>
              <a:t> </a:t>
            </a:r>
            <a:r>
              <a:rPr dirty="0"/>
              <a:t>số</a:t>
            </a:r>
            <a:r>
              <a:rPr spc="-114" dirty="0"/>
              <a:t> </a:t>
            </a:r>
            <a:r>
              <a:rPr dirty="0"/>
              <a:t>ví</a:t>
            </a:r>
            <a:r>
              <a:rPr spc="-110" dirty="0"/>
              <a:t> </a:t>
            </a:r>
            <a:r>
              <a:rPr dirty="0"/>
              <a:t>dụ</a:t>
            </a:r>
            <a:r>
              <a:rPr spc="-110" dirty="0"/>
              <a:t> </a:t>
            </a:r>
            <a:r>
              <a:rPr dirty="0"/>
              <a:t>về</a:t>
            </a:r>
            <a:r>
              <a:rPr spc="-110" dirty="0"/>
              <a:t> </a:t>
            </a:r>
            <a:r>
              <a:rPr spc="-25" dirty="0"/>
              <a:t>Feature</a:t>
            </a:r>
            <a:r>
              <a:rPr spc="-114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40604" y="1263396"/>
            <a:ext cx="9127295" cy="4462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b.</a:t>
            </a:r>
            <a:r>
              <a:rPr sz="2000" b="1" spc="-5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Lựa</a:t>
            </a:r>
            <a:r>
              <a:rPr sz="2000" b="1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chọn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 err="1">
                <a:solidFill>
                  <a:srgbClr val="0070C0"/>
                </a:solidFill>
                <a:latin typeface="Arial"/>
                <a:cs typeface="Arial"/>
              </a:rPr>
              <a:t>đặc</a:t>
            </a:r>
            <a:r>
              <a:rPr sz="2000" b="1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spc="-20" dirty="0" err="1">
                <a:solidFill>
                  <a:srgbClr val="0070C0"/>
                </a:solidFill>
                <a:latin typeface="Arial"/>
                <a:cs typeface="Arial"/>
              </a:rPr>
              <a:t>trưng</a:t>
            </a:r>
            <a:endParaRPr lang="en-US" sz="2000" b="1" spc="-20" dirty="0">
              <a:solidFill>
                <a:srgbClr val="0070C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spc="-20" dirty="0">
              <a:solidFill>
                <a:srgbClr val="0070C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vi-VN" sz="2000" dirty="0"/>
              <a:t>Giả sử rằng các điểm dữ liệu có số đặc trưng khác nhau </a:t>
            </a:r>
            <a:r>
              <a:rPr lang="en-US" sz="2000" dirty="0"/>
              <a:t> </a:t>
            </a:r>
            <a:r>
              <a:rPr lang="vi-VN" sz="2000" dirty="0"/>
              <a:t>và số lượng đặc trưng là cực lớn. Chúng ta cần chọn ra một số lượng nhỏ hơn các đặc trưng phù hợp với bài toán</a:t>
            </a:r>
            <a:endParaRPr lang="en-US" sz="200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>
                <a:latin typeface="Arial"/>
                <a:cs typeface="Arial"/>
              </a:rPr>
              <a:t>Ví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dụ</a:t>
            </a:r>
            <a:r>
              <a:rPr lang="en-US" sz="2000" dirty="0">
                <a:latin typeface="Arial"/>
                <a:cs typeface="Arial"/>
              </a:rPr>
              <a:t>: Trong </a:t>
            </a:r>
            <a:r>
              <a:rPr lang="en-US" sz="2000" dirty="0" err="1">
                <a:latin typeface="Arial"/>
                <a:cs typeface="Arial"/>
              </a:rPr>
              <a:t>bài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toán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xây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dựng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dự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đoán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giá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nhà</a:t>
            </a:r>
            <a:endParaRPr lang="en-US"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Arial"/>
                <a:cs typeface="Arial"/>
              </a:rPr>
              <a:t>Cho </a:t>
            </a:r>
            <a:r>
              <a:rPr lang="en-US" sz="2000" dirty="0" err="1">
                <a:latin typeface="Arial"/>
                <a:cs typeface="Arial"/>
              </a:rPr>
              <a:t>các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đặc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trưng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của</a:t>
            </a:r>
            <a:r>
              <a:rPr lang="en-US" sz="2000" dirty="0">
                <a:latin typeface="Arial"/>
                <a:cs typeface="Arial"/>
              </a:rPr>
              <a:t> 1 </a:t>
            </a:r>
            <a:r>
              <a:rPr lang="en-US" sz="2000" dirty="0" err="1">
                <a:latin typeface="Arial"/>
                <a:cs typeface="Arial"/>
              </a:rPr>
              <a:t>ngôi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nhà</a:t>
            </a:r>
            <a:r>
              <a:rPr lang="en-US" sz="2000" dirty="0">
                <a:latin typeface="Arial"/>
                <a:cs typeface="Arial"/>
              </a:rPr>
              <a:t> bao </a:t>
            </a:r>
            <a:r>
              <a:rPr lang="en-US" sz="2000" dirty="0" err="1">
                <a:latin typeface="Arial"/>
                <a:cs typeface="Arial"/>
              </a:rPr>
              <a:t>gồm</a:t>
            </a:r>
            <a:r>
              <a:rPr lang="en-US" sz="2000" dirty="0">
                <a:latin typeface="Arial"/>
                <a:cs typeface="Arial"/>
              </a:rPr>
              <a:t>: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n-US" sz="2000" dirty="0" err="1">
                <a:latin typeface="Arial"/>
                <a:cs typeface="Arial"/>
              </a:rPr>
              <a:t>Diện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tích</a:t>
            </a:r>
            <a:endParaRPr lang="en-US"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n-US" sz="2000" dirty="0" err="1">
                <a:latin typeface="Arial"/>
                <a:cs typeface="Arial"/>
              </a:rPr>
              <a:t>Số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tầng</a:t>
            </a:r>
            <a:endParaRPr lang="en-US"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n-US" sz="2000" dirty="0" err="1">
                <a:latin typeface="Arial"/>
                <a:cs typeface="Arial"/>
              </a:rPr>
              <a:t>Họ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tên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chủ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nhà</a:t>
            </a:r>
            <a:endParaRPr lang="en-US"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n-US" sz="2000" dirty="0" err="1">
                <a:latin typeface="Arial"/>
                <a:cs typeface="Arial"/>
              </a:rPr>
              <a:t>Vị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trí</a:t>
            </a:r>
            <a:endParaRPr lang="en-US"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n-US" sz="2000" dirty="0" err="1">
                <a:latin typeface="Arial"/>
                <a:cs typeface="Arial"/>
              </a:rPr>
              <a:t>Màu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sơn</a:t>
            </a:r>
            <a:endParaRPr lang="en-US"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Tx/>
              <a:buChar char="-"/>
            </a:pPr>
            <a:r>
              <a:rPr lang="en-US" sz="2000" dirty="0" err="1">
                <a:latin typeface="Arial"/>
                <a:cs typeface="Arial"/>
              </a:rPr>
              <a:t>Năm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xây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dựng</a:t>
            </a:r>
            <a:endParaRPr lang="en-US"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>
                <a:latin typeface="Arial"/>
                <a:cs typeface="Arial"/>
              </a:rPr>
              <a:t>Câu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hỏi</a:t>
            </a:r>
            <a:r>
              <a:rPr lang="en-US" sz="2000" dirty="0">
                <a:latin typeface="Arial"/>
                <a:cs typeface="Arial"/>
              </a:rPr>
              <a:t>: </a:t>
            </a:r>
            <a:r>
              <a:rPr lang="en-US" sz="2000" dirty="0" err="1">
                <a:latin typeface="Arial"/>
                <a:cs typeface="Arial"/>
              </a:rPr>
              <a:t>Đặc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trưng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nào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được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sử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dụng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để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dự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đoán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giá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nhà</a:t>
            </a:r>
            <a:r>
              <a:rPr lang="en-US" sz="2000" dirty="0">
                <a:latin typeface="Arial"/>
                <a:cs typeface="Arial"/>
              </a:rPr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Một</a:t>
            </a:r>
            <a:r>
              <a:rPr spc="-114" dirty="0"/>
              <a:t> </a:t>
            </a:r>
            <a:r>
              <a:rPr dirty="0"/>
              <a:t>số</a:t>
            </a:r>
            <a:r>
              <a:rPr spc="-114" dirty="0"/>
              <a:t> </a:t>
            </a:r>
            <a:r>
              <a:rPr dirty="0"/>
              <a:t>ví</a:t>
            </a:r>
            <a:r>
              <a:rPr spc="-110" dirty="0"/>
              <a:t> </a:t>
            </a:r>
            <a:r>
              <a:rPr dirty="0"/>
              <a:t>dụ</a:t>
            </a:r>
            <a:r>
              <a:rPr spc="-110" dirty="0"/>
              <a:t> </a:t>
            </a:r>
            <a:r>
              <a:rPr dirty="0"/>
              <a:t>về</a:t>
            </a:r>
            <a:r>
              <a:rPr spc="-110" dirty="0"/>
              <a:t> </a:t>
            </a:r>
            <a:r>
              <a:rPr spc="-25" dirty="0"/>
              <a:t>Feature</a:t>
            </a:r>
            <a:r>
              <a:rPr spc="-114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40605" y="1263396"/>
            <a:ext cx="9546395" cy="41877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c.</a:t>
            </a:r>
            <a:r>
              <a:rPr sz="2000" b="1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Giảm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chiều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 err="1">
                <a:solidFill>
                  <a:srgbClr val="0070C0"/>
                </a:solidFill>
                <a:latin typeface="Arial"/>
                <a:cs typeface="Arial"/>
              </a:rPr>
              <a:t>dữ</a:t>
            </a:r>
            <a:r>
              <a:rPr sz="2000" b="1" spc="-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spc="-20" dirty="0" err="1">
                <a:solidFill>
                  <a:srgbClr val="0070C0"/>
                </a:solidFill>
                <a:latin typeface="Arial"/>
                <a:cs typeface="Arial"/>
              </a:rPr>
              <a:t>liệu</a:t>
            </a:r>
            <a:endParaRPr lang="en-US" sz="2000" b="1" spc="-20" dirty="0">
              <a:solidFill>
                <a:srgbClr val="0070C0"/>
              </a:solidFill>
              <a:latin typeface="Arial"/>
              <a:cs typeface="Arial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sz="2000" i="1" dirty="0" err="1">
                <a:latin typeface="Arial"/>
                <a:cs typeface="Arial"/>
              </a:rPr>
              <a:t>Được</a:t>
            </a:r>
            <a:r>
              <a:rPr lang="en-US" sz="2000" i="1" dirty="0">
                <a:latin typeface="Arial"/>
                <a:cs typeface="Arial"/>
              </a:rPr>
              <a:t> </a:t>
            </a:r>
            <a:r>
              <a:rPr lang="en-US" sz="2000" i="1" dirty="0" err="1">
                <a:latin typeface="Arial"/>
                <a:cs typeface="Arial"/>
              </a:rPr>
              <a:t>sử</a:t>
            </a:r>
            <a:r>
              <a:rPr lang="en-US" sz="2000" i="1" dirty="0">
                <a:latin typeface="Arial"/>
                <a:cs typeface="Arial"/>
              </a:rPr>
              <a:t> </a:t>
            </a:r>
            <a:r>
              <a:rPr lang="en-US" sz="2000" i="1" dirty="0" err="1">
                <a:latin typeface="Arial"/>
                <a:cs typeface="Arial"/>
              </a:rPr>
              <a:t>dụng</a:t>
            </a:r>
            <a:r>
              <a:rPr lang="en-US" sz="2000" i="1" dirty="0">
                <a:latin typeface="Arial"/>
                <a:cs typeface="Arial"/>
              </a:rPr>
              <a:t> </a:t>
            </a:r>
            <a:r>
              <a:rPr lang="en-US" sz="2000" i="1" dirty="0" err="1">
                <a:latin typeface="Arial"/>
                <a:cs typeface="Arial"/>
              </a:rPr>
              <a:t>để</a:t>
            </a:r>
            <a:r>
              <a:rPr lang="en-US" sz="2000" i="1" dirty="0">
                <a:latin typeface="Arial"/>
                <a:cs typeface="Arial"/>
              </a:rPr>
              <a:t> </a:t>
            </a:r>
            <a:r>
              <a:rPr lang="vi-VN" sz="2000" i="1" dirty="0"/>
              <a:t>để giảm bộ nhớ và khối lượng tính toán</a:t>
            </a:r>
            <a:endParaRPr lang="en-US" sz="2000" i="1" dirty="0">
              <a:latin typeface="Arial"/>
              <a:cs typeface="Arial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sz="2000" dirty="0" err="1">
                <a:latin typeface="Arial"/>
                <a:cs typeface="Arial"/>
              </a:rPr>
              <a:t>Có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nhiều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cách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để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thực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hiện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như</a:t>
            </a:r>
            <a:r>
              <a:rPr lang="en-US" sz="2000" dirty="0">
                <a:latin typeface="Arial"/>
                <a:cs typeface="Arial"/>
              </a:rPr>
              <a:t>:</a:t>
            </a:r>
          </a:p>
          <a:p>
            <a:pPr marL="355600" lvl="8" indent="-342900">
              <a:lnSpc>
                <a:spcPct val="150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sz="2000" b="1" dirty="0" err="1"/>
              <a:t>Chiếu</a:t>
            </a:r>
            <a:r>
              <a:rPr lang="en-US" sz="2000" b="1" dirty="0"/>
              <a:t> </a:t>
            </a:r>
            <a:r>
              <a:rPr lang="en-US" sz="2000" b="1" dirty="0" err="1"/>
              <a:t>ngẫu</a:t>
            </a:r>
            <a:r>
              <a:rPr lang="en-US" sz="2000" b="1" dirty="0"/>
              <a:t> </a:t>
            </a:r>
            <a:r>
              <a:rPr lang="en-US" sz="2000" b="1" dirty="0" err="1"/>
              <a:t>nhiên</a:t>
            </a:r>
            <a:r>
              <a:rPr lang="en-US" sz="2000" b="1" dirty="0"/>
              <a:t> </a:t>
            </a:r>
            <a:r>
              <a:rPr lang="en-US" sz="2000" dirty="0"/>
              <a:t>(random projection): </a:t>
            </a:r>
            <a:r>
              <a:rPr lang="en-US" sz="2000" dirty="0" err="1"/>
              <a:t>Nhân</a:t>
            </a:r>
            <a:r>
              <a:rPr lang="en-US" sz="2000" dirty="0"/>
              <a:t> vector </a:t>
            </a:r>
            <a:r>
              <a:rPr lang="en-US" sz="2000" dirty="0" err="1"/>
              <a:t>đặc</a:t>
            </a:r>
            <a:r>
              <a:rPr lang="en-US" sz="2000" dirty="0"/>
              <a:t> </a:t>
            </a:r>
            <a:r>
              <a:rPr lang="en-US" sz="2000" dirty="0" err="1"/>
              <a:t>trưng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1 ma </a:t>
            </a:r>
            <a:r>
              <a:rPr lang="en-US" sz="2000" dirty="0" err="1"/>
              <a:t>trận</a:t>
            </a:r>
            <a:r>
              <a:rPr lang="en-US" sz="2000" dirty="0"/>
              <a:t> </a:t>
            </a:r>
            <a:r>
              <a:rPr lang="en-US" sz="2000" dirty="0" err="1"/>
              <a:t>béo</a:t>
            </a:r>
            <a:r>
              <a:rPr lang="en-US" sz="2000" dirty="0"/>
              <a:t> (ma </a:t>
            </a:r>
            <a:r>
              <a:rPr lang="en-US" sz="2000" dirty="0" err="1"/>
              <a:t>trận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cột</a:t>
            </a:r>
            <a:r>
              <a:rPr lang="en-US" sz="2000" dirty="0"/>
              <a:t> </a:t>
            </a:r>
            <a:r>
              <a:rPr lang="en-US" sz="2000" dirty="0" err="1"/>
              <a:t>nhiều</a:t>
            </a:r>
            <a:r>
              <a:rPr lang="en-US" sz="2000" dirty="0"/>
              <a:t> </a:t>
            </a:r>
            <a:r>
              <a:rPr lang="en-US" sz="2000" dirty="0" err="1"/>
              <a:t>hơn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)</a:t>
            </a:r>
          </a:p>
          <a:p>
            <a:pPr marL="12700" lvl="8">
              <a:lnSpc>
                <a:spcPct val="150000"/>
              </a:lnSpc>
              <a:spcBef>
                <a:spcPts val="100"/>
              </a:spcBef>
            </a:pPr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: </a:t>
            </a:r>
            <a:r>
              <a:rPr lang="vi-VN" sz="2000" dirty="0"/>
              <a:t>x</a:t>
            </a:r>
            <a:r>
              <a:rPr lang="vi-VN" baseline="-25000" dirty="0"/>
              <a:t>0</a:t>
            </a:r>
            <a:r>
              <a:rPr lang="vi-VN" sz="2000" dirty="0"/>
              <a:t> ∈ R</a:t>
            </a:r>
            <a:r>
              <a:rPr lang="vi-VN" sz="2000" baseline="30000" dirty="0"/>
              <a:t>D</a:t>
            </a:r>
            <a:r>
              <a:rPr lang="vi-VN" sz="2000" dirty="0"/>
              <a:t>, nếu ta chọn một ma trận chiếu P ∈ R</a:t>
            </a:r>
            <a:r>
              <a:rPr lang="vi-VN" sz="2000" baseline="30000" dirty="0"/>
              <a:t>d×D</a:t>
            </a:r>
            <a:r>
              <a:rPr lang="vi-VN" sz="2000" dirty="0"/>
              <a:t> với d</a:t>
            </a:r>
            <a:r>
              <a:rPr lang="en-US" sz="2000" dirty="0"/>
              <a:t> &lt;&lt; </a:t>
            </a:r>
            <a:r>
              <a:rPr lang="vi-VN" sz="2000" dirty="0"/>
              <a:t>D, vector mới x</a:t>
            </a:r>
            <a:r>
              <a:rPr lang="vi-VN" sz="2000" baseline="-25000" dirty="0"/>
              <a:t>1</a:t>
            </a:r>
            <a:r>
              <a:rPr lang="vi-VN" sz="2000" dirty="0"/>
              <a:t> = Px</a:t>
            </a:r>
            <a:r>
              <a:rPr lang="vi-VN" sz="2000" baseline="-25000" dirty="0"/>
              <a:t>0</a:t>
            </a:r>
            <a:r>
              <a:rPr lang="vi-VN" sz="2000" dirty="0"/>
              <a:t> ∈ R</a:t>
            </a:r>
            <a:r>
              <a:rPr lang="vi-VN" sz="2000" baseline="30000" dirty="0"/>
              <a:t>d</a:t>
            </a:r>
            <a:r>
              <a:rPr lang="vi-VN" sz="2000" dirty="0"/>
              <a:t> có số chiều nhỏ hơn số chiều của vector x</a:t>
            </a:r>
            <a:r>
              <a:rPr lang="vi-VN" sz="2000" baseline="-25000" dirty="0"/>
              <a:t>0</a:t>
            </a:r>
            <a:r>
              <a:rPr lang="vi-VN" sz="2000" dirty="0"/>
              <a:t> ban đầu</a:t>
            </a:r>
            <a:endParaRPr lang="en-US" sz="2000" dirty="0"/>
          </a:p>
          <a:p>
            <a:pPr marL="355600" lvl="8" indent="-342900">
              <a:lnSpc>
                <a:spcPct val="150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- </a:t>
            </a:r>
            <a:r>
              <a:rPr lang="en-US" sz="2000" b="1" dirty="0"/>
              <a:t>Principal component analysi</a:t>
            </a:r>
            <a:r>
              <a:rPr lang="en-US" sz="2000" dirty="0"/>
              <a:t>s: </a:t>
            </a:r>
            <a:r>
              <a:rPr lang="en-US" sz="2000" dirty="0" err="1"/>
              <a:t>Thuật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</a:t>
            </a:r>
            <a:r>
              <a:rPr lang="en-US" sz="2000" dirty="0" err="1"/>
              <a:t>giảm</a:t>
            </a:r>
            <a:r>
              <a:rPr lang="en-US" sz="2000" dirty="0"/>
              <a:t> </a:t>
            </a:r>
            <a:r>
              <a:rPr lang="en-US" sz="2000" dirty="0" err="1"/>
              <a:t>chiều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endParaRPr lang="en-US" sz="2000" dirty="0"/>
          </a:p>
          <a:p>
            <a:pPr marL="355600" lvl="8" indent="-342900">
              <a:lnSpc>
                <a:spcPct val="150000"/>
              </a:lnSpc>
              <a:spcBef>
                <a:spcPts val="100"/>
              </a:spcBef>
              <a:buFont typeface="Courier New" panose="02070309020205020404" pitchFamily="49" charset="0"/>
              <a:buChar char="o"/>
            </a:pP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Một</a:t>
            </a:r>
            <a:r>
              <a:rPr spc="-114" dirty="0"/>
              <a:t> </a:t>
            </a:r>
            <a:r>
              <a:rPr dirty="0"/>
              <a:t>số</a:t>
            </a:r>
            <a:r>
              <a:rPr spc="-114" dirty="0"/>
              <a:t> </a:t>
            </a:r>
            <a:r>
              <a:rPr dirty="0"/>
              <a:t>ví</a:t>
            </a:r>
            <a:r>
              <a:rPr spc="-110" dirty="0"/>
              <a:t> </a:t>
            </a:r>
            <a:r>
              <a:rPr dirty="0"/>
              <a:t>dụ</a:t>
            </a:r>
            <a:r>
              <a:rPr spc="-110" dirty="0"/>
              <a:t> </a:t>
            </a:r>
            <a:r>
              <a:rPr dirty="0"/>
              <a:t>về</a:t>
            </a:r>
            <a:r>
              <a:rPr spc="-110" dirty="0"/>
              <a:t> </a:t>
            </a:r>
            <a:r>
              <a:rPr spc="-25" dirty="0"/>
              <a:t>Feature</a:t>
            </a:r>
            <a:r>
              <a:rPr spc="-114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40605" y="1263396"/>
            <a:ext cx="8823325" cy="423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d.</a:t>
            </a:r>
            <a:r>
              <a:rPr sz="2000" b="1" spc="-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Bag</a:t>
            </a:r>
            <a:r>
              <a:rPr sz="20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70C0"/>
                </a:solidFill>
                <a:latin typeface="Arial"/>
                <a:cs typeface="Arial"/>
              </a:rPr>
              <a:t>words</a:t>
            </a:r>
            <a:endParaRPr sz="2000">
              <a:latin typeface="Arial"/>
              <a:cs typeface="Arial"/>
            </a:endParaRPr>
          </a:p>
          <a:p>
            <a:pPr marL="588645" marR="113664" indent="-191135">
              <a:lnSpc>
                <a:spcPct val="102899"/>
              </a:lnSpc>
              <a:spcBef>
                <a:spcPts val="1695"/>
              </a:spcBef>
              <a:buChar char="•"/>
              <a:tabLst>
                <a:tab pos="589915" algn="l"/>
              </a:tabLst>
            </a:pPr>
            <a:r>
              <a:rPr sz="2000" dirty="0">
                <a:latin typeface="Arial"/>
                <a:cs typeface="Arial"/>
              </a:rPr>
              <a:t>Là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kỹ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thuật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rất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phổ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biến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xử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lý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văn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bản,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404040"/>
                </a:solidFill>
                <a:latin typeface="Arial"/>
                <a:cs typeface="Arial"/>
              </a:rPr>
              <a:t>biểu</a:t>
            </a:r>
            <a:r>
              <a:rPr sz="210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404040"/>
                </a:solidFill>
                <a:latin typeface="Arial"/>
                <a:cs typeface="Arial"/>
              </a:rPr>
              <a:t>diễn</a:t>
            </a:r>
            <a:r>
              <a:rPr sz="21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404040"/>
                </a:solidFill>
                <a:latin typeface="Arial"/>
                <a:cs typeface="Arial"/>
              </a:rPr>
              <a:t>các</a:t>
            </a:r>
            <a:r>
              <a:rPr sz="21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404040"/>
                </a:solidFill>
                <a:latin typeface="Arial"/>
                <a:cs typeface="Arial"/>
              </a:rPr>
              <a:t>văn</a:t>
            </a:r>
            <a:r>
              <a:rPr sz="2100" spc="-25" dirty="0">
                <a:solidFill>
                  <a:srgbClr val="404040"/>
                </a:solidFill>
                <a:latin typeface="Arial"/>
                <a:cs typeface="Arial"/>
              </a:rPr>
              <a:t> bản 	</a:t>
            </a:r>
            <a:r>
              <a:rPr sz="2100" dirty="0">
                <a:solidFill>
                  <a:srgbClr val="404040"/>
                </a:solidFill>
                <a:latin typeface="Arial"/>
                <a:cs typeface="Arial"/>
              </a:rPr>
              <a:t>thành</a:t>
            </a:r>
            <a:r>
              <a:rPr sz="21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404040"/>
                </a:solidFill>
                <a:latin typeface="Arial"/>
                <a:cs typeface="Arial"/>
              </a:rPr>
              <a:t>vector</a:t>
            </a:r>
            <a:r>
              <a:rPr sz="210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404040"/>
                </a:solidFill>
                <a:latin typeface="Arial"/>
                <a:cs typeface="Arial"/>
              </a:rPr>
              <a:t>đặc</a:t>
            </a:r>
            <a:r>
              <a:rPr sz="210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404040"/>
                </a:solidFill>
                <a:latin typeface="Arial"/>
                <a:cs typeface="Arial"/>
              </a:rPr>
              <a:t>trưng</a:t>
            </a:r>
            <a:endParaRPr sz="2100">
              <a:latin typeface="Arial"/>
              <a:cs typeface="Arial"/>
            </a:endParaRPr>
          </a:p>
          <a:p>
            <a:pPr marL="589915" indent="-192405">
              <a:lnSpc>
                <a:spcPct val="100000"/>
              </a:lnSpc>
              <a:spcBef>
                <a:spcPts val="385"/>
              </a:spcBef>
              <a:buChar char="•"/>
              <a:tabLst>
                <a:tab pos="589915" algn="l"/>
              </a:tabLst>
            </a:pPr>
            <a:r>
              <a:rPr sz="2100" dirty="0">
                <a:solidFill>
                  <a:srgbClr val="404040"/>
                </a:solidFill>
                <a:latin typeface="Arial"/>
                <a:cs typeface="Arial"/>
              </a:rPr>
              <a:t>Ví</a:t>
            </a:r>
            <a:r>
              <a:rPr sz="21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404040"/>
                </a:solidFill>
                <a:latin typeface="Arial"/>
                <a:cs typeface="Arial"/>
              </a:rPr>
              <a:t>dụ:</a:t>
            </a:r>
            <a:endParaRPr sz="2100">
              <a:latin typeface="Arial"/>
              <a:cs typeface="Arial"/>
            </a:endParaRPr>
          </a:p>
          <a:p>
            <a:pPr marL="783590" marR="5080">
              <a:lnSpc>
                <a:spcPct val="100000"/>
              </a:lnSpc>
              <a:spcBef>
                <a:spcPts val="390"/>
              </a:spcBef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Văn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bản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1: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“Chị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ong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nâu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nâu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nâu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nâu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nầu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nâu,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chị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bay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đi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đâu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đi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đâu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về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đâu”</a:t>
            </a:r>
            <a:endParaRPr sz="2000">
              <a:latin typeface="Arial"/>
              <a:cs typeface="Arial"/>
            </a:endParaRPr>
          </a:p>
          <a:p>
            <a:pPr marL="783590" marR="210820">
              <a:lnSpc>
                <a:spcPct val="100000"/>
              </a:lnSpc>
              <a:spcBef>
                <a:spcPts val="384"/>
              </a:spcBef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Văn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bản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2: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“</a:t>
            </a:r>
            <a:r>
              <a:rPr sz="1800" dirty="0">
                <a:latin typeface="Arial"/>
                <a:cs typeface="Arial"/>
              </a:rPr>
              <a:t>Hai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bàn_tay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đây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múa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mẹ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xem.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bàn_tay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của </a:t>
            </a:r>
            <a:r>
              <a:rPr sz="1800" dirty="0">
                <a:latin typeface="Arial"/>
                <a:cs typeface="Arial"/>
              </a:rPr>
              <a:t>em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như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con_bướm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xinh_xinh”</a:t>
            </a:r>
            <a:endParaRPr sz="1800">
              <a:latin typeface="Arial"/>
              <a:cs typeface="Arial"/>
            </a:endParaRPr>
          </a:p>
          <a:p>
            <a:pPr marL="783590" marR="435609">
              <a:lnSpc>
                <a:spcPct val="100000"/>
              </a:lnSpc>
              <a:spcBef>
                <a:spcPts val="455"/>
              </a:spcBef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Từ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điển: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“Chị,</a:t>
            </a:r>
            <a:r>
              <a:rPr sz="2000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nâu,</a:t>
            </a:r>
            <a:r>
              <a:rPr sz="2000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nầu,</a:t>
            </a:r>
            <a:r>
              <a:rPr sz="2000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C55A11"/>
                </a:solidFill>
                <a:latin typeface="Arial"/>
                <a:cs typeface="Arial"/>
              </a:rPr>
              <a:t>bay,</a:t>
            </a:r>
            <a:r>
              <a:rPr sz="2000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đi,</a:t>
            </a:r>
            <a:r>
              <a:rPr sz="2000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đâu,</a:t>
            </a:r>
            <a:r>
              <a:rPr sz="2000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về,</a:t>
            </a:r>
            <a:r>
              <a:rPr sz="2000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hai,</a:t>
            </a:r>
            <a:r>
              <a:rPr sz="2000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C55A11"/>
                </a:solidFill>
                <a:latin typeface="Arial"/>
                <a:cs typeface="Arial"/>
              </a:rPr>
              <a:t>bàn_tay,</a:t>
            </a:r>
            <a:r>
              <a:rPr sz="2000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của,</a:t>
            </a:r>
            <a:r>
              <a:rPr sz="2000" spc="-4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em,</a:t>
            </a:r>
            <a:r>
              <a:rPr sz="2000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C55A11"/>
                </a:solidFill>
                <a:latin typeface="Arial"/>
                <a:cs typeface="Arial"/>
              </a:rPr>
              <a:t>đây,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múa,</a:t>
            </a:r>
            <a:r>
              <a:rPr sz="2000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cho,</a:t>
            </a:r>
            <a:r>
              <a:rPr sz="2000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mẹ,</a:t>
            </a:r>
            <a:r>
              <a:rPr sz="2000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xem,</a:t>
            </a:r>
            <a:r>
              <a:rPr sz="2000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như,</a:t>
            </a:r>
            <a:r>
              <a:rPr sz="2000" spc="-35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55A11"/>
                </a:solidFill>
                <a:latin typeface="Arial"/>
                <a:cs typeface="Arial"/>
              </a:rPr>
              <a:t>con_bướm,</a:t>
            </a:r>
            <a:r>
              <a:rPr sz="2000" spc="-40" dirty="0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55A11"/>
                </a:solidFill>
                <a:latin typeface="Arial"/>
                <a:cs typeface="Arial"/>
              </a:rPr>
              <a:t>xinh_xinh”</a:t>
            </a:r>
            <a:endParaRPr sz="2000">
              <a:latin typeface="Arial"/>
              <a:cs typeface="Arial"/>
            </a:endParaRPr>
          </a:p>
          <a:p>
            <a:pPr marL="783590">
              <a:lnSpc>
                <a:spcPct val="100000"/>
              </a:lnSpc>
              <a:spcBef>
                <a:spcPts val="384"/>
              </a:spcBef>
            </a:pP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Biểu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diễn: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vector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1: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[2,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5,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1,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1,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2,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3,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1,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85723"/>
                </a:solidFill>
                <a:latin typeface="Arial"/>
                <a:cs typeface="Arial"/>
              </a:rPr>
              <a:t>0]</a:t>
            </a:r>
            <a:endParaRPr sz="2000">
              <a:latin typeface="Arial"/>
              <a:cs typeface="Arial"/>
            </a:endParaRPr>
          </a:p>
          <a:p>
            <a:pPr marL="1974214">
              <a:lnSpc>
                <a:spcPct val="100000"/>
              </a:lnSpc>
              <a:spcBef>
                <a:spcPts val="405"/>
              </a:spcBef>
            </a:pP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Vector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2: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[0,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0,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3,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2,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1,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3,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1,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1,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1,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1,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1,</a:t>
            </a:r>
            <a:r>
              <a:rPr sz="2000" spc="-25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1,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85723"/>
                </a:solidFill>
                <a:latin typeface="Arial"/>
                <a:cs typeface="Arial"/>
              </a:rPr>
              <a:t>1,</a:t>
            </a:r>
            <a:r>
              <a:rPr sz="2000" spc="-20" dirty="0">
                <a:solidFill>
                  <a:srgbClr val="385723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85723"/>
                </a:solidFill>
                <a:latin typeface="Arial"/>
                <a:cs typeface="Arial"/>
              </a:rPr>
              <a:t>1]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Một</a:t>
            </a:r>
            <a:r>
              <a:rPr spc="-114" dirty="0"/>
              <a:t> </a:t>
            </a:r>
            <a:r>
              <a:rPr dirty="0"/>
              <a:t>số</a:t>
            </a:r>
            <a:r>
              <a:rPr spc="-114" dirty="0"/>
              <a:t> </a:t>
            </a:r>
            <a:r>
              <a:rPr dirty="0"/>
              <a:t>ví</a:t>
            </a:r>
            <a:r>
              <a:rPr spc="-110" dirty="0"/>
              <a:t> </a:t>
            </a:r>
            <a:r>
              <a:rPr dirty="0"/>
              <a:t>dụ</a:t>
            </a:r>
            <a:r>
              <a:rPr spc="-110" dirty="0"/>
              <a:t> </a:t>
            </a:r>
            <a:r>
              <a:rPr dirty="0"/>
              <a:t>về</a:t>
            </a:r>
            <a:r>
              <a:rPr spc="-110" dirty="0"/>
              <a:t> </a:t>
            </a:r>
            <a:r>
              <a:rPr spc="-25" dirty="0"/>
              <a:t>Feature</a:t>
            </a:r>
            <a:r>
              <a:rPr spc="-114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d.</a:t>
            </a:r>
            <a:r>
              <a:rPr spc="-30" dirty="0"/>
              <a:t> </a:t>
            </a:r>
            <a:r>
              <a:rPr dirty="0"/>
              <a:t>Bag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words</a:t>
            </a: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Nhược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điểm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Arial"/>
                <a:cs typeface="Arial"/>
              </a:rPr>
              <a:t>BoW:</a:t>
            </a:r>
            <a:endParaRPr sz="2400">
              <a:latin typeface="Arial"/>
              <a:cs typeface="Arial"/>
            </a:endParaRPr>
          </a:p>
          <a:p>
            <a:pPr marL="588645" marR="5080" indent="-191135">
              <a:lnSpc>
                <a:spcPct val="100800"/>
              </a:lnSpc>
              <a:spcBef>
                <a:spcPts val="405"/>
              </a:spcBef>
              <a:buChar char="•"/>
              <a:tabLst>
                <a:tab pos="589915" algn="l"/>
              </a:tabLst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Kích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thước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vector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đặc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trưng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dài,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phụ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thuộc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vào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kích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thước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5" dirty="0">
                <a:solidFill>
                  <a:srgbClr val="000000"/>
                </a:solidFill>
                <a:latin typeface="Arial"/>
                <a:cs typeface="Arial"/>
              </a:rPr>
              <a:t>từ 	</a:t>
            </a:r>
            <a:r>
              <a:rPr sz="2400" b="0" spc="-20" dirty="0">
                <a:solidFill>
                  <a:srgbClr val="000000"/>
                </a:solidFill>
                <a:latin typeface="Arial"/>
                <a:cs typeface="Arial"/>
              </a:rPr>
              <a:t>điển</a:t>
            </a:r>
            <a:endParaRPr sz="2400">
              <a:latin typeface="Arial"/>
              <a:cs typeface="Arial"/>
            </a:endParaRPr>
          </a:p>
          <a:p>
            <a:pPr marL="588645" marR="213995" indent="-191135">
              <a:lnSpc>
                <a:spcPct val="100800"/>
              </a:lnSpc>
              <a:spcBef>
                <a:spcPts val="385"/>
              </a:spcBef>
              <a:buChar char="•"/>
              <a:tabLst>
                <a:tab pos="589915" algn="l"/>
              </a:tabLst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mang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thông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tin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về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thứ</a:t>
            </a:r>
            <a:r>
              <a:rPr sz="24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tự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từ,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sự</a:t>
            </a:r>
            <a:r>
              <a:rPr sz="24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liên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kết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Arial"/>
                <a:cs typeface="Arial"/>
              </a:rPr>
              <a:t>giữa 	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câu,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đoạn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văn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trong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văn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Arial"/>
                <a:cs typeface="Arial"/>
              </a:rPr>
              <a:t>bản.</a:t>
            </a:r>
            <a:endParaRPr sz="2400">
              <a:latin typeface="Arial"/>
              <a:cs typeface="Arial"/>
            </a:endParaRPr>
          </a:p>
          <a:p>
            <a:pPr marL="783590" marR="186690" algn="just">
              <a:lnSpc>
                <a:spcPct val="100000"/>
              </a:lnSpc>
              <a:spcBef>
                <a:spcPts val="33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Ví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dụ: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“Em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yêu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anh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không?”,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“Em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không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yêu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anh”,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và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“Không,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anh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yêu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em”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biểu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diễn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bằng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BoW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cho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vector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giống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hệt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nhau,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mặc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dù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ý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nghĩa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khác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hẳn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nhau.</a:t>
            </a:r>
          </a:p>
          <a:p>
            <a:pPr marL="588645" marR="386715" indent="-191135">
              <a:lnSpc>
                <a:spcPct val="100800"/>
              </a:lnSpc>
              <a:spcBef>
                <a:spcPts val="370"/>
              </a:spcBef>
              <a:buChar char="•"/>
              <a:tabLst>
                <a:tab pos="589915" algn="l"/>
              </a:tabLst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vector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đặc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trưng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của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văn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bản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là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vector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thưa: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Vì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không 	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phải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tất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cả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từ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trong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từ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điển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đều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mặt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trong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văn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Arial"/>
                <a:cs typeface="Arial"/>
              </a:rPr>
              <a:t>bản.</a:t>
            </a:r>
            <a:endParaRPr sz="2400">
              <a:latin typeface="Arial"/>
              <a:cs typeface="Arial"/>
            </a:endParaRPr>
          </a:p>
          <a:p>
            <a:pPr marL="589280" indent="-191135">
              <a:lnSpc>
                <a:spcPct val="100000"/>
              </a:lnSpc>
              <a:spcBef>
                <a:spcPts val="405"/>
              </a:spcBef>
              <a:buChar char="•"/>
              <a:tabLst>
                <a:tab pos="589280" algn="l"/>
              </a:tabLst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Khó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xử</a:t>
            </a:r>
            <a:r>
              <a:rPr sz="24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lý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đc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từ</a:t>
            </a:r>
            <a:r>
              <a:rPr sz="24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hiếm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gặp,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chưa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trong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từ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Arial"/>
                <a:cs typeface="Arial"/>
              </a:rPr>
              <a:t>điển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Chuẩn</a:t>
            </a:r>
            <a:r>
              <a:rPr spc="-130" dirty="0"/>
              <a:t> </a:t>
            </a:r>
            <a:r>
              <a:rPr dirty="0"/>
              <a:t>hóa</a:t>
            </a:r>
            <a:r>
              <a:rPr spc="-140" dirty="0"/>
              <a:t> </a:t>
            </a:r>
            <a:r>
              <a:rPr spc="-10" dirty="0"/>
              <a:t>vector</a:t>
            </a:r>
            <a:r>
              <a:rPr spc="-130" dirty="0"/>
              <a:t> </a:t>
            </a:r>
            <a:r>
              <a:rPr dirty="0"/>
              <a:t>đặc</a:t>
            </a:r>
            <a:r>
              <a:rPr spc="-135" dirty="0"/>
              <a:t> </a:t>
            </a:r>
            <a:r>
              <a:rPr spc="-10" dirty="0"/>
              <a:t>trưng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Lý</a:t>
            </a:r>
            <a:r>
              <a:rPr spc="-50" dirty="0"/>
              <a:t> </a:t>
            </a:r>
            <a:r>
              <a:rPr dirty="0"/>
              <a:t>do</a:t>
            </a:r>
            <a:r>
              <a:rPr spc="-40" dirty="0"/>
              <a:t> </a:t>
            </a:r>
            <a:r>
              <a:rPr dirty="0"/>
              <a:t>cần</a:t>
            </a:r>
            <a:r>
              <a:rPr spc="-40" dirty="0"/>
              <a:t> </a:t>
            </a:r>
            <a:r>
              <a:rPr dirty="0"/>
              <a:t>chuẩn</a:t>
            </a:r>
            <a:r>
              <a:rPr spc="-40" dirty="0"/>
              <a:t> </a:t>
            </a:r>
            <a:r>
              <a:rPr dirty="0"/>
              <a:t>hóa</a:t>
            </a:r>
            <a:r>
              <a:rPr spc="-45" dirty="0"/>
              <a:t> </a:t>
            </a:r>
            <a:r>
              <a:rPr dirty="0"/>
              <a:t>vector</a:t>
            </a:r>
            <a:r>
              <a:rPr spc="-45" dirty="0"/>
              <a:t> </a:t>
            </a:r>
            <a:r>
              <a:rPr dirty="0"/>
              <a:t>đặc</a:t>
            </a:r>
            <a:r>
              <a:rPr spc="-45" dirty="0"/>
              <a:t> </a:t>
            </a:r>
            <a:r>
              <a:rPr spc="-10" dirty="0"/>
              <a:t>trưng:</a:t>
            </a:r>
          </a:p>
          <a:p>
            <a:pPr marL="588645" marR="85090" indent="-191135">
              <a:lnSpc>
                <a:spcPct val="100800"/>
              </a:lnSpc>
              <a:spcBef>
                <a:spcPts val="1735"/>
              </a:spcBef>
              <a:buChar char="•"/>
              <a:tabLst>
                <a:tab pos="589915" algn="l"/>
              </a:tabLst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Các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điểm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dữ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liệu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đôi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khi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được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đo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đạc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với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những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đơn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vị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Arial"/>
                <a:cs typeface="Arial"/>
              </a:rPr>
              <a:t>khác 	nhau</a:t>
            </a:r>
            <a:endParaRPr sz="2400">
              <a:latin typeface="Arial"/>
              <a:cs typeface="Arial"/>
            </a:endParaRPr>
          </a:p>
          <a:p>
            <a:pPr marL="397510">
              <a:lnSpc>
                <a:spcPct val="100000"/>
              </a:lnSpc>
              <a:spcBef>
                <a:spcPts val="42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Ví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dụ: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sz="1950" b="0" baseline="25641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sz="2000" b="0" dirty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sz="2000"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"/>
                <a:cs typeface="Arial"/>
              </a:rPr>
              <a:t>số</a:t>
            </a:r>
            <a:r>
              <a:rPr sz="2000"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Arial"/>
                <a:cs typeface="Arial"/>
              </a:rPr>
              <a:t>lượng...</a:t>
            </a:r>
            <a:endParaRPr sz="2000">
              <a:latin typeface="Arial"/>
              <a:cs typeface="Arial"/>
            </a:endParaRPr>
          </a:p>
          <a:p>
            <a:pPr marL="588645" marR="43180" indent="-191135">
              <a:lnSpc>
                <a:spcPct val="100699"/>
              </a:lnSpc>
              <a:spcBef>
                <a:spcPts val="370"/>
              </a:spcBef>
              <a:buChar char="•"/>
              <a:tabLst>
                <a:tab pos="589915" algn="l"/>
              </a:tabLst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Hoặc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có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hai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thành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phần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(của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vector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dữ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liệu)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chênh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lệch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Arial"/>
                <a:cs typeface="Arial"/>
              </a:rPr>
              <a:t>nhau 	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quá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lớn.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Ví</a:t>
            </a:r>
            <a:r>
              <a:rPr b="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dụ</a:t>
            </a:r>
            <a:r>
              <a:rPr b="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b="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thành</a:t>
            </a:r>
            <a:r>
              <a:rPr b="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phần</a:t>
            </a:r>
            <a:r>
              <a:rPr b="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có</a:t>
            </a:r>
            <a:r>
              <a:rPr b="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khoảng</a:t>
            </a:r>
            <a:r>
              <a:rPr b="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giá</a:t>
            </a:r>
            <a:r>
              <a:rPr b="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trị</a:t>
            </a:r>
            <a:r>
              <a:rPr b="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từ</a:t>
            </a:r>
            <a:r>
              <a:rPr b="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0</a:t>
            </a:r>
            <a:r>
              <a:rPr b="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đến</a:t>
            </a:r>
            <a:r>
              <a:rPr b="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1000,</a:t>
            </a:r>
            <a:r>
              <a:rPr b="0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404040"/>
                </a:solidFill>
                <a:latin typeface="Arial"/>
                <a:cs typeface="Arial"/>
              </a:rPr>
              <a:t>thành 	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phần</a:t>
            </a:r>
            <a:r>
              <a:rPr b="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kia</a:t>
            </a:r>
            <a:r>
              <a:rPr b="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chỉ</a:t>
            </a:r>
            <a:r>
              <a:rPr b="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có</a:t>
            </a:r>
            <a:r>
              <a:rPr b="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khoảng</a:t>
            </a:r>
            <a:r>
              <a:rPr b="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giá</a:t>
            </a:r>
            <a:r>
              <a:rPr b="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trị</a:t>
            </a:r>
            <a:r>
              <a:rPr b="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từ</a:t>
            </a:r>
            <a:r>
              <a:rPr b="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0</a:t>
            </a:r>
            <a:r>
              <a:rPr b="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404040"/>
                </a:solidFill>
                <a:latin typeface="Arial"/>
                <a:cs typeface="Arial"/>
              </a:rPr>
              <a:t>đến</a:t>
            </a:r>
            <a:r>
              <a:rPr b="0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b="0" spc="-50" dirty="0">
                <a:solidFill>
                  <a:srgbClr val="404040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Chuẩn</a:t>
            </a:r>
            <a:r>
              <a:rPr spc="-130" dirty="0"/>
              <a:t> </a:t>
            </a:r>
            <a:r>
              <a:rPr dirty="0"/>
              <a:t>hóa</a:t>
            </a:r>
            <a:r>
              <a:rPr spc="-135" dirty="0"/>
              <a:t> </a:t>
            </a:r>
            <a:r>
              <a:rPr spc="-10" dirty="0"/>
              <a:t>vector</a:t>
            </a:r>
            <a:r>
              <a:rPr spc="-135" dirty="0"/>
              <a:t> </a:t>
            </a:r>
            <a:r>
              <a:rPr dirty="0"/>
              <a:t>đặc</a:t>
            </a:r>
            <a:r>
              <a:rPr spc="-130" dirty="0"/>
              <a:t> </a:t>
            </a:r>
            <a:r>
              <a:rPr spc="-10" dirty="0"/>
              <a:t>trưng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740605" y="1263396"/>
            <a:ext cx="8453755" cy="128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Một</a:t>
            </a:r>
            <a:r>
              <a:rPr sz="2000" b="1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vài</a:t>
            </a:r>
            <a:r>
              <a:rPr sz="2000" b="1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kỹ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thuật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chuẩn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70C0"/>
                </a:solidFill>
                <a:latin typeface="Arial"/>
                <a:cs typeface="Arial"/>
              </a:rPr>
              <a:t>hóa</a:t>
            </a:r>
            <a:endParaRPr sz="2000" dirty="0">
              <a:latin typeface="Arial"/>
              <a:cs typeface="Arial"/>
            </a:endParaRPr>
          </a:p>
          <a:p>
            <a:pPr marL="397510" marR="5080">
              <a:lnSpc>
                <a:spcPct val="100800"/>
              </a:lnSpc>
              <a:spcBef>
                <a:spcPts val="1735"/>
              </a:spcBef>
            </a:pPr>
            <a:r>
              <a:rPr lang="en-US" sz="2400" b="1" dirty="0">
                <a:latin typeface="Arial"/>
                <a:cs typeface="Arial"/>
              </a:rPr>
              <a:t>1. </a:t>
            </a:r>
            <a:r>
              <a:rPr sz="2400" b="1" dirty="0">
                <a:latin typeface="Arial"/>
                <a:cs typeface="Arial"/>
              </a:rPr>
              <a:t>Rescaling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đặc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cùng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một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khoảng</a:t>
            </a:r>
            <a:r>
              <a:rPr sz="2400" spc="-10" dirty="0">
                <a:latin typeface="Arial"/>
                <a:cs typeface="Arial"/>
              </a:rPr>
              <a:t>, </a:t>
            </a:r>
            <a:r>
              <a:rPr sz="2400" dirty="0">
                <a:latin typeface="Arial"/>
                <a:cs typeface="Arial"/>
              </a:rPr>
              <a:t>chẳng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[0,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1]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[−1,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1]: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120798" y="4497196"/>
          <a:ext cx="685863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125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1000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18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b="1" spc="-5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9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11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200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100649" y="3343147"/>
            <a:ext cx="6102985" cy="148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dụ: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Scale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sau:</a:t>
            </a:r>
            <a:endParaRPr sz="2400" dirty="0">
              <a:latin typeface="Arial"/>
              <a:cs typeface="Arial"/>
            </a:endParaRPr>
          </a:p>
          <a:p>
            <a:pPr marL="640715" marR="55880">
              <a:lnSpc>
                <a:spcPct val="178900"/>
              </a:lnSpc>
              <a:spcBef>
                <a:spcPts val="885"/>
              </a:spcBef>
            </a:pPr>
            <a:r>
              <a:rPr sz="1800" dirty="0">
                <a:latin typeface="Arial"/>
                <a:cs typeface="Arial"/>
              </a:rPr>
              <a:t>Giả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-13888" dirty="0">
                <a:latin typeface="Arial"/>
                <a:cs typeface="Arial"/>
              </a:rPr>
              <a:t>i</a:t>
            </a:r>
            <a:r>
              <a:rPr sz="1800" spc="-15" baseline="-13888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hiện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diện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bài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toán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nhà x</a:t>
            </a:r>
            <a:r>
              <a:rPr sz="1800" spc="-37" baseline="-13888" dirty="0">
                <a:latin typeface="Arial"/>
                <a:cs typeface="Arial"/>
              </a:rPr>
              <a:t>i</a:t>
            </a:r>
            <a:endParaRPr sz="1800" baseline="-13888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2ADBF2-3AFE-ECC7-0215-66262908F10F}"/>
                  </a:ext>
                </a:extLst>
              </p:cNvPr>
              <p:cNvSpPr txBox="1"/>
              <p:nvPr/>
            </p:nvSpPr>
            <p:spPr>
              <a:xfrm>
                <a:off x="3619500" y="2535165"/>
                <a:ext cx="4151780" cy="768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2ADBF2-3AFE-ECC7-0215-66262908F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0" y="2535165"/>
                <a:ext cx="4151780" cy="7689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558" y="4033697"/>
            <a:ext cx="3009988" cy="21266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Chuẩn</a:t>
            </a:r>
            <a:r>
              <a:rPr spc="-130" dirty="0"/>
              <a:t> </a:t>
            </a:r>
            <a:r>
              <a:rPr dirty="0"/>
              <a:t>hóa</a:t>
            </a:r>
            <a:r>
              <a:rPr spc="-135" dirty="0"/>
              <a:t> </a:t>
            </a:r>
            <a:r>
              <a:rPr spc="-10" dirty="0"/>
              <a:t>vector</a:t>
            </a:r>
            <a:r>
              <a:rPr spc="-135" dirty="0"/>
              <a:t> </a:t>
            </a:r>
            <a:r>
              <a:rPr dirty="0"/>
              <a:t>đặc</a:t>
            </a:r>
            <a:r>
              <a:rPr spc="-130" dirty="0"/>
              <a:t> </a:t>
            </a:r>
            <a:r>
              <a:rPr spc="-10" dirty="0"/>
              <a:t>trưng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740605" y="1263396"/>
            <a:ext cx="8171815" cy="128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Một</a:t>
            </a:r>
            <a:r>
              <a:rPr sz="2000" b="1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vài</a:t>
            </a:r>
            <a:r>
              <a:rPr sz="2000" b="1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kỹ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thuật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chuẩn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70C0"/>
                </a:solidFill>
                <a:latin typeface="Arial"/>
                <a:cs typeface="Arial"/>
              </a:rPr>
              <a:t>hóa</a:t>
            </a:r>
            <a:endParaRPr sz="2000" dirty="0">
              <a:latin typeface="Arial"/>
              <a:cs typeface="Arial"/>
            </a:endParaRPr>
          </a:p>
          <a:p>
            <a:pPr marL="397510" marR="5080">
              <a:lnSpc>
                <a:spcPct val="100800"/>
              </a:lnSpc>
              <a:spcBef>
                <a:spcPts val="1735"/>
              </a:spcBef>
            </a:pPr>
            <a:r>
              <a:rPr lang="en-US" sz="2400" b="1" dirty="0">
                <a:latin typeface="Arial"/>
                <a:cs typeface="Arial"/>
              </a:rPr>
              <a:t>2. </a:t>
            </a:r>
            <a:r>
              <a:rPr sz="2400" b="1" dirty="0">
                <a:latin typeface="Arial"/>
                <a:cs typeface="Arial"/>
              </a:rPr>
              <a:t>Standardization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Giả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đặc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đều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phân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phối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vọng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0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phương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1: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309543" y="4209160"/>
          <a:ext cx="685863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125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1000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18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b="1" spc="-5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9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11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200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087949" y="3205988"/>
            <a:ext cx="7686040" cy="167132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60"/>
              </a:spcBef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dụ: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Standardize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sau:</a:t>
            </a:r>
            <a:endParaRPr sz="2400" dirty="0">
              <a:latin typeface="Arial"/>
              <a:cs typeface="Arial"/>
            </a:endParaRPr>
          </a:p>
          <a:p>
            <a:pPr marL="2237105">
              <a:lnSpc>
                <a:spcPct val="100000"/>
              </a:lnSpc>
              <a:spcBef>
                <a:spcPts val="650"/>
              </a:spcBef>
            </a:pPr>
            <a:r>
              <a:rPr sz="1800" dirty="0">
                <a:latin typeface="Arial"/>
                <a:cs typeface="Arial"/>
              </a:rPr>
              <a:t>Giả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-13888" dirty="0">
                <a:latin typeface="Arial"/>
                <a:cs typeface="Arial"/>
              </a:rPr>
              <a:t>i</a:t>
            </a:r>
            <a:r>
              <a:rPr sz="1800" spc="-15" baseline="-13888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hiện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diện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bài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toán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nhà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800" dirty="0">
              <a:latin typeface="Arial"/>
              <a:cs typeface="Arial"/>
            </a:endParaRPr>
          </a:p>
          <a:p>
            <a:pPr marR="1781810" algn="r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3888" dirty="0">
                <a:latin typeface="Arial"/>
                <a:cs typeface="Arial"/>
              </a:rPr>
              <a:t>i</a:t>
            </a:r>
            <a:endParaRPr sz="1800" baseline="-13888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B7772E-39E3-A2A2-8CB3-A674710A02C9}"/>
                  </a:ext>
                </a:extLst>
              </p:cNvPr>
              <p:cNvSpPr txBox="1"/>
              <p:nvPr/>
            </p:nvSpPr>
            <p:spPr>
              <a:xfrm>
                <a:off x="4268319" y="2527347"/>
                <a:ext cx="1750359" cy="786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B7772E-39E3-A2A2-8CB3-A674710A0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319" y="2527347"/>
                <a:ext cx="1750359" cy="786818"/>
              </a:xfrm>
              <a:prstGeom prst="rect">
                <a:avLst/>
              </a:prstGeom>
              <a:blipFill>
                <a:blip r:embed="rId3"/>
                <a:stretch>
                  <a:fillRect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Chuẩn</a:t>
            </a:r>
            <a:r>
              <a:rPr spc="-130" dirty="0"/>
              <a:t> </a:t>
            </a:r>
            <a:r>
              <a:rPr dirty="0"/>
              <a:t>hóa</a:t>
            </a:r>
            <a:r>
              <a:rPr spc="-135" dirty="0"/>
              <a:t> </a:t>
            </a:r>
            <a:r>
              <a:rPr spc="-10" dirty="0"/>
              <a:t>vector</a:t>
            </a:r>
            <a:r>
              <a:rPr spc="-135" dirty="0"/>
              <a:t> </a:t>
            </a:r>
            <a:r>
              <a:rPr dirty="0"/>
              <a:t>đặc</a:t>
            </a:r>
            <a:r>
              <a:rPr spc="-130" dirty="0"/>
              <a:t> </a:t>
            </a:r>
            <a:r>
              <a:rPr spc="-10" dirty="0"/>
              <a:t>trưng</a:t>
            </a:r>
          </a:p>
        </p:txBody>
      </p:sp>
      <p:sp>
        <p:nvSpPr>
          <p:cNvPr id="3" name="object 3"/>
          <p:cNvSpPr/>
          <p:nvPr/>
        </p:nvSpPr>
        <p:spPr>
          <a:xfrm>
            <a:off x="5084000" y="2872638"/>
            <a:ext cx="635000" cy="25400"/>
          </a:xfrm>
          <a:custGeom>
            <a:avLst/>
            <a:gdLst/>
            <a:ahLst/>
            <a:cxnLst/>
            <a:rect l="l" t="t" r="r" b="b"/>
            <a:pathLst>
              <a:path w="635000" h="25400">
                <a:moveTo>
                  <a:pt x="635000" y="0"/>
                </a:moveTo>
                <a:lnTo>
                  <a:pt x="0" y="0"/>
                </a:lnTo>
                <a:lnTo>
                  <a:pt x="0" y="25400"/>
                </a:lnTo>
                <a:lnTo>
                  <a:pt x="635000" y="25400"/>
                </a:lnTo>
                <a:lnTo>
                  <a:pt x="63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31510" y="2420473"/>
            <a:ext cx="220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20" dirty="0">
                <a:latin typeface="Noto Sans Math"/>
                <a:cs typeface="Noto Sans Math"/>
              </a:rPr>
              <a:t>𝑥</a:t>
            </a:r>
            <a:endParaRPr sz="2400" dirty="0">
              <a:latin typeface="Noto Sans Math"/>
              <a:cs typeface="Noto Sans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52110" y="2952584"/>
            <a:ext cx="88265" cy="277495"/>
          </a:xfrm>
          <a:custGeom>
            <a:avLst/>
            <a:gdLst/>
            <a:ahLst/>
            <a:cxnLst/>
            <a:rect l="l" t="t" r="r" b="b"/>
            <a:pathLst>
              <a:path w="88264" h="277494">
                <a:moveTo>
                  <a:pt x="22910" y="0"/>
                </a:moveTo>
                <a:lnTo>
                  <a:pt x="0" y="0"/>
                </a:lnTo>
                <a:lnTo>
                  <a:pt x="0" y="276974"/>
                </a:lnTo>
                <a:lnTo>
                  <a:pt x="22910" y="276974"/>
                </a:lnTo>
                <a:lnTo>
                  <a:pt x="22910" y="0"/>
                </a:lnTo>
                <a:close/>
              </a:path>
              <a:path w="88264" h="277494">
                <a:moveTo>
                  <a:pt x="87655" y="0"/>
                </a:moveTo>
                <a:lnTo>
                  <a:pt x="64731" y="0"/>
                </a:lnTo>
                <a:lnTo>
                  <a:pt x="64731" y="276974"/>
                </a:lnTo>
                <a:lnTo>
                  <a:pt x="87655" y="276974"/>
                </a:lnTo>
                <a:lnTo>
                  <a:pt x="876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19814" y="2952584"/>
            <a:ext cx="88265" cy="277495"/>
          </a:xfrm>
          <a:custGeom>
            <a:avLst/>
            <a:gdLst/>
            <a:ahLst/>
            <a:cxnLst/>
            <a:rect l="l" t="t" r="r" b="b"/>
            <a:pathLst>
              <a:path w="88264" h="277494">
                <a:moveTo>
                  <a:pt x="22910" y="0"/>
                </a:moveTo>
                <a:lnTo>
                  <a:pt x="0" y="0"/>
                </a:lnTo>
                <a:lnTo>
                  <a:pt x="0" y="276974"/>
                </a:lnTo>
                <a:lnTo>
                  <a:pt x="22910" y="276974"/>
                </a:lnTo>
                <a:lnTo>
                  <a:pt x="22910" y="0"/>
                </a:lnTo>
                <a:close/>
              </a:path>
              <a:path w="88264" h="277494">
                <a:moveTo>
                  <a:pt x="87655" y="0"/>
                </a:moveTo>
                <a:lnTo>
                  <a:pt x="64731" y="0"/>
                </a:lnTo>
                <a:lnTo>
                  <a:pt x="64731" y="276974"/>
                </a:lnTo>
                <a:lnTo>
                  <a:pt x="87655" y="276974"/>
                </a:lnTo>
                <a:lnTo>
                  <a:pt x="876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31510" y="2861564"/>
            <a:ext cx="220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20" dirty="0">
                <a:latin typeface="Noto Sans Math"/>
                <a:cs typeface="Noto Sans Math"/>
              </a:rPr>
              <a:t>𝑥</a:t>
            </a:r>
            <a:endParaRPr sz="2400" dirty="0">
              <a:latin typeface="Noto Sans Math"/>
              <a:cs typeface="Noto Sans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5563806" y="2998723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Noto Sans Math"/>
                <a:cs typeface="Noto Sans Math"/>
              </a:rPr>
              <a:t>2</a:t>
            </a:r>
            <a:endParaRPr sz="1800">
              <a:latin typeface="Noto Sans Math"/>
              <a:cs typeface="Noto Sans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6049" y="2657347"/>
            <a:ext cx="381952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321945" algn="l"/>
              </a:tabLst>
            </a:pPr>
            <a:r>
              <a:rPr sz="2400" spc="220" dirty="0">
                <a:latin typeface="Noto Sans Math"/>
                <a:cs typeface="Noto Sans Math"/>
              </a:rPr>
              <a:t>𝑥</a:t>
            </a:r>
            <a:r>
              <a:rPr sz="2400" dirty="0">
                <a:latin typeface="Noto Sans Math"/>
                <a:cs typeface="Noto Sans Math"/>
              </a:rPr>
              <a:t>	</a:t>
            </a:r>
            <a:r>
              <a:rPr sz="2400" spc="360" dirty="0">
                <a:latin typeface="Noto Sans Math"/>
                <a:cs typeface="Noto Sans Math"/>
              </a:rPr>
              <a:t>=</a:t>
            </a:r>
            <a:endParaRPr sz="2400">
              <a:latin typeface="Noto Sans Math"/>
              <a:cs typeface="Noto Sans Math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dụ: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Scale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sau: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605" y="1263396"/>
            <a:ext cx="8971915" cy="163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Một</a:t>
            </a:r>
            <a:r>
              <a:rPr sz="2000" b="1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vài</a:t>
            </a:r>
            <a:r>
              <a:rPr sz="2000" b="1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kỹ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thuật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chuẩn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70C0"/>
                </a:solidFill>
                <a:latin typeface="Arial"/>
                <a:cs typeface="Arial"/>
              </a:rPr>
              <a:t>hóa</a:t>
            </a:r>
            <a:endParaRPr sz="2000" dirty="0">
              <a:latin typeface="Arial"/>
              <a:cs typeface="Arial"/>
            </a:endParaRPr>
          </a:p>
          <a:p>
            <a:pPr marL="397510" marR="5080">
              <a:lnSpc>
                <a:spcPct val="100800"/>
              </a:lnSpc>
              <a:spcBef>
                <a:spcPts val="1735"/>
              </a:spcBef>
            </a:pPr>
            <a:r>
              <a:rPr lang="en-US" sz="2400" b="1" dirty="0">
                <a:latin typeface="Carlito"/>
                <a:cs typeface="Carlito"/>
              </a:rPr>
              <a:t>3. </a:t>
            </a:r>
            <a:r>
              <a:rPr sz="2400" b="1" dirty="0">
                <a:latin typeface="Carlito"/>
                <a:cs typeface="Carlito"/>
              </a:rPr>
              <a:t>Scaling</a:t>
            </a:r>
            <a:r>
              <a:rPr sz="2400" b="1" spc="-45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to</a:t>
            </a:r>
            <a:r>
              <a:rPr sz="2400" b="1" spc="-45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unit</a:t>
            </a:r>
            <a:r>
              <a:rPr sz="2400" b="1" spc="-35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length</a:t>
            </a:r>
            <a:r>
              <a:rPr sz="2400" b="1" spc="-45" dirty="0">
                <a:latin typeface="Carlito"/>
                <a:cs typeface="Carlito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hóa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vector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toàn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vector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độ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dài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Euclid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bằng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một: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032694" y="4562081"/>
          <a:ext cx="685863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125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1000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18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500" b="1" spc="-5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9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11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200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997588" y="4114292"/>
            <a:ext cx="5499735" cy="1113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Giả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baseline="-13888" dirty="0">
                <a:latin typeface="Arial"/>
                <a:cs typeface="Arial"/>
              </a:rPr>
              <a:t>i</a:t>
            </a:r>
            <a:r>
              <a:rPr sz="1800" spc="-15" baseline="-13888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hiện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diện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bài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toán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nhà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Arial"/>
              <a:cs typeface="Arial"/>
            </a:endParaRPr>
          </a:p>
          <a:p>
            <a:pPr marL="356171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x</a:t>
            </a:r>
            <a:r>
              <a:rPr sz="1800" spc="-37" baseline="-13888" dirty="0">
                <a:latin typeface="Arial"/>
                <a:cs typeface="Arial"/>
              </a:rPr>
              <a:t>i</a:t>
            </a:r>
            <a:endParaRPr sz="1800" baseline="-13888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B483-10CB-FE60-65E2-71FDD64C8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38" y="434846"/>
            <a:ext cx="8652123" cy="569387"/>
          </a:xfrm>
        </p:spPr>
        <p:txBody>
          <a:bodyPr/>
          <a:lstStyle/>
          <a:p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vector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endParaRPr lang="en-US" dirty="0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12EF943C-00A6-F1A9-9CF6-E3BB4DCBA40D}"/>
              </a:ext>
            </a:extLst>
          </p:cNvPr>
          <p:cNvSpPr txBox="1"/>
          <p:nvPr/>
        </p:nvSpPr>
        <p:spPr>
          <a:xfrm>
            <a:off x="740605" y="1263396"/>
            <a:ext cx="8971915" cy="18525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Một</a:t>
            </a:r>
            <a:r>
              <a:rPr sz="2000" b="1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vài</a:t>
            </a:r>
            <a:r>
              <a:rPr sz="2000" b="1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kỹ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thuật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Arial"/>
                <a:cs typeface="Arial"/>
              </a:rPr>
              <a:t>chuẩn</a:t>
            </a:r>
            <a:r>
              <a:rPr sz="20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70C0"/>
                </a:solidFill>
                <a:latin typeface="Arial"/>
                <a:cs typeface="Arial"/>
              </a:rPr>
              <a:t>hóa</a:t>
            </a:r>
            <a:endParaRPr sz="2000" dirty="0">
              <a:latin typeface="Arial"/>
              <a:cs typeface="Arial"/>
            </a:endParaRPr>
          </a:p>
          <a:p>
            <a:pPr marL="397510" marR="5080">
              <a:lnSpc>
                <a:spcPct val="100800"/>
              </a:lnSpc>
              <a:spcBef>
                <a:spcPts val="1735"/>
              </a:spcBef>
            </a:pPr>
            <a:r>
              <a:rPr lang="en-US" sz="2400" b="1" dirty="0">
                <a:latin typeface="Carlito"/>
                <a:cs typeface="Carlito"/>
              </a:rPr>
              <a:t>4. </a:t>
            </a:r>
            <a:r>
              <a:rPr lang="en-US" sz="2400" b="1" dirty="0" err="1">
                <a:latin typeface="Carlito"/>
                <a:cs typeface="Carlito"/>
              </a:rPr>
              <a:t>Mã</a:t>
            </a:r>
            <a:r>
              <a:rPr lang="en-US" sz="2400" b="1" dirty="0">
                <a:latin typeface="Carlito"/>
                <a:cs typeface="Carlito"/>
              </a:rPr>
              <a:t> </a:t>
            </a:r>
            <a:r>
              <a:rPr lang="en-US" sz="2400" b="1" dirty="0" err="1">
                <a:latin typeface="Carlito"/>
                <a:cs typeface="Carlito"/>
              </a:rPr>
              <a:t>hóa</a:t>
            </a:r>
            <a:r>
              <a:rPr lang="en-US" sz="2400" b="1" dirty="0">
                <a:latin typeface="Carlito"/>
                <a:cs typeface="Carlito"/>
              </a:rPr>
              <a:t> one-hot</a:t>
            </a:r>
            <a:endParaRPr lang="en-US" sz="2400" b="1" dirty="0">
              <a:latin typeface="Arial"/>
              <a:cs typeface="Arial"/>
            </a:endParaRPr>
          </a:p>
          <a:p>
            <a:pPr marL="397510" marR="5080">
              <a:lnSpc>
                <a:spcPct val="100800"/>
              </a:lnSpc>
              <a:spcBef>
                <a:spcPts val="1735"/>
              </a:spcBef>
            </a:pPr>
            <a:r>
              <a:rPr lang="en-US" sz="2400" dirty="0" err="1">
                <a:latin typeface="Arial"/>
                <a:cs typeface="Arial"/>
              </a:rPr>
              <a:t>Để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chuẩn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hóa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dữ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liệu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rời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rạc</a:t>
            </a:r>
            <a:r>
              <a:rPr lang="en-US" sz="2400" dirty="0">
                <a:latin typeface="Arial"/>
                <a:cs typeface="Arial"/>
              </a:rPr>
              <a:t> ta </a:t>
            </a:r>
            <a:r>
              <a:rPr lang="en-US" sz="2400" dirty="0" err="1">
                <a:latin typeface="Arial"/>
                <a:cs typeface="Arial"/>
              </a:rPr>
              <a:t>có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thể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áp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dụng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kỹ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thuật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mã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hóa</a:t>
            </a:r>
            <a:r>
              <a:rPr lang="en-US" sz="2400" dirty="0">
                <a:latin typeface="Arial"/>
                <a:cs typeface="Arial"/>
              </a:rPr>
              <a:t> one-hot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986FFC-D813-B161-E98B-B0A634535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001832"/>
              </p:ext>
            </p:extLst>
          </p:nvPr>
        </p:nvGraphicFramePr>
        <p:xfrm>
          <a:off x="1181100" y="4572000"/>
          <a:ext cx="7697390" cy="1463040"/>
        </p:xfrm>
        <a:graphic>
          <a:graphicData uri="http://schemas.openxmlformats.org/drawingml/2006/table">
            <a:tbl>
              <a:tblPr/>
              <a:tblGrid>
                <a:gridCol w="3848695">
                  <a:extLst>
                    <a:ext uri="{9D8B030D-6E8A-4147-A177-3AD203B41FA5}">
                      <a16:colId xmlns:a16="http://schemas.microsoft.com/office/drawing/2014/main" val="1610239471"/>
                    </a:ext>
                  </a:extLst>
                </a:gridCol>
                <a:gridCol w="3848695">
                  <a:extLst>
                    <a:ext uri="{9D8B030D-6E8A-4147-A177-3AD203B41FA5}">
                      <a16:colId xmlns:a16="http://schemas.microsoft.com/office/drawing/2014/main" val="2214648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fontAlgn="b"/>
                      <a:r>
                        <a:rPr lang="en-US">
                          <a:effectLst/>
                        </a:rPr>
                        <a:t>Giá trị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>
                          <a:effectLst/>
                        </a:rPr>
                        <a:t>Mã one-hot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620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"Sài Gòn"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[0, 0, 1]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31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"Huế"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[0, 1, 0]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"Hà Nội"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[1, 0, 0]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769363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83EF528D-6FB0-9557-CEB3-354F23A2C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3266896"/>
            <a:ext cx="8757526" cy="11541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Ví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dụ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nếu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ta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có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một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cột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là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Sài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Gòn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", 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Huế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", "Hà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Nội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thì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ta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thực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hiện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bước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sau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Xây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dựng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điển</a:t>
            </a:r>
            <a:r>
              <a:rPr lang="en-US" altLang="en-US" dirty="0">
                <a:solidFill>
                  <a:srgbClr val="333333"/>
                </a:solidFill>
                <a:latin typeface="-apple-system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["Hà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Nội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", 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Huế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", 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Sài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Gòn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"]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-apple-system"/>
            </a:endParaRPr>
          </a:p>
          <a:p>
            <a:pPr algn="just">
              <a:buFontTx/>
              <a:buAutoNum type="arabicPeriod" startAt="2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Lưu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lại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chỉ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số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của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từng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giá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trị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trong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điển</a:t>
            </a:r>
            <a:r>
              <a:rPr lang="en-US" altLang="en-US" dirty="0">
                <a:solidFill>
                  <a:srgbClr val="333333"/>
                </a:solidFill>
                <a:latin typeface="-apple-system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"Hà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Nội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": 0, 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Huế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": 1, 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Sài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Gòn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ar(--jp-code-font-family)"/>
              </a:rPr>
              <a:t>“</a:t>
            </a:r>
          </a:p>
          <a:p>
            <a:pPr algn="just">
              <a:buFontTx/>
              <a:buAutoNum type="arabicPeriod" startAt="2"/>
            </a:pPr>
            <a:r>
              <a:rPr lang="en-US" altLang="en-US" dirty="0" err="1">
                <a:solidFill>
                  <a:srgbClr val="333333"/>
                </a:solidFill>
                <a:latin typeface="var(--jp-code-font-family)"/>
              </a:rPr>
              <a:t>Mã</a:t>
            </a:r>
            <a:r>
              <a:rPr lang="en-US" altLang="en-US" dirty="0">
                <a:solidFill>
                  <a:srgbClr val="333333"/>
                </a:solidFill>
                <a:latin typeface="var(--jp-code-font-family)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var(--jp-code-font-family)"/>
              </a:rPr>
              <a:t>hóa</a:t>
            </a:r>
            <a:r>
              <a:rPr lang="en-US" altLang="en-US" dirty="0">
                <a:solidFill>
                  <a:srgbClr val="333333"/>
                </a:solidFill>
                <a:latin typeface="var(--jp-code-font-family)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var(--jp-code-font-family)"/>
            </a:endParaRPr>
          </a:p>
        </p:txBody>
      </p:sp>
    </p:spTree>
    <p:extLst>
      <p:ext uri="{BB962C8B-B14F-4D97-AF65-F5344CB8AC3E}">
        <p14:creationId xmlns:p14="http://schemas.microsoft.com/office/powerpoint/2010/main" val="1049525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A6F3-00B3-11B5-FB75-C2C95003A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38" y="434846"/>
            <a:ext cx="8652123" cy="569387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graphicFrame>
        <p:nvGraphicFramePr>
          <p:cNvPr id="177" name="Google Shape;177;p31"/>
          <p:cNvGraphicFramePr/>
          <p:nvPr>
            <p:extLst>
              <p:ext uri="{D42A27DB-BD31-4B8C-83A1-F6EECF244321}">
                <p14:modId xmlns:p14="http://schemas.microsoft.com/office/powerpoint/2010/main" val="93475956"/>
              </p:ext>
            </p:extLst>
          </p:nvPr>
        </p:nvGraphicFramePr>
        <p:xfrm>
          <a:off x="817438" y="2514600"/>
          <a:ext cx="8143876" cy="28801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35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5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5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Area </a:t>
                      </a:r>
                      <a:r>
                        <a:rPr lang="en" sz="2000" dirty="0"/>
                        <a:t>- </a:t>
                      </a:r>
                      <a:r>
                        <a:rPr lang="en" sz="2000" dirty="0">
                          <a:solidFill>
                            <a:schemeClr val="dk1"/>
                          </a:solidFill>
                        </a:rPr>
                        <a:t>𝑥₁</a:t>
                      </a:r>
                      <a:endParaRPr sz="2000" dirty="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Nr of bedrooms </a:t>
                      </a:r>
                      <a:r>
                        <a:rPr lang="en" sz="2000" dirty="0"/>
                        <a:t>- </a:t>
                      </a:r>
                      <a:r>
                        <a:rPr lang="en" sz="2000" dirty="0">
                          <a:solidFill>
                            <a:schemeClr val="dk1"/>
                          </a:solidFill>
                        </a:rPr>
                        <a:t>𝑥₂</a:t>
                      </a:r>
                      <a:endParaRPr sz="2000" dirty="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/>
                        <a:t>Location - </a:t>
                      </a:r>
                      <a:r>
                        <a:rPr lang="en" sz="2000">
                          <a:solidFill>
                            <a:schemeClr val="dk1"/>
                          </a:solidFill>
                        </a:rPr>
                        <a:t>𝑥</a:t>
                      </a:r>
                      <a:r>
                        <a:rPr lang="en" sz="2000" baseline="-25000">
                          <a:solidFill>
                            <a:schemeClr val="dk1"/>
                          </a:solidFill>
                        </a:rPr>
                        <a:t>3</a:t>
                      </a:r>
                      <a:endParaRPr sz="2000" baseline="-25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/>
                        <a:t>Price - </a:t>
                      </a:r>
                      <a:r>
                        <a:rPr lang="en" sz="2000" dirty="0"/>
                        <a:t>y</a:t>
                      </a:r>
                      <a:endParaRPr sz="2000" dirty="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210</a:t>
                      </a:r>
                      <a:endParaRPr sz="2000" dirty="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Quận Tây Hồ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400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160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Quận Tây Hồ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330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240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Quận Hoàn Kiếm</a:t>
                      </a:r>
                      <a:endParaRPr sz="18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369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141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2</a:t>
                      </a:r>
                      <a:endParaRPr sz="2000" dirty="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Quận Cầu Giấy</a:t>
                      </a:r>
                      <a:endParaRPr sz="200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/>
                        <a:t>232</a:t>
                      </a:r>
                      <a:endParaRPr sz="2000" dirty="0"/>
                    </a:p>
                  </a:txBody>
                  <a:tcPr marL="102853" marR="102853" marT="102853" marB="102853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7EED36B-1437-E9C1-FCF1-33F243BF0C4A}"/>
              </a:ext>
            </a:extLst>
          </p:cNvPr>
          <p:cNvSpPr txBox="1"/>
          <p:nvPr/>
        </p:nvSpPr>
        <p:spPr>
          <a:xfrm>
            <a:off x="723900" y="1828800"/>
            <a:ext cx="469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vector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525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130" dirty="0"/>
              <a:t> </a:t>
            </a:r>
            <a:r>
              <a:rPr dirty="0"/>
              <a:t>chia</a:t>
            </a:r>
            <a:r>
              <a:rPr spc="-135" dirty="0"/>
              <a:t> </a:t>
            </a:r>
            <a:r>
              <a:rPr dirty="0"/>
              <a:t>tập</a:t>
            </a:r>
            <a:r>
              <a:rPr spc="-125" dirty="0"/>
              <a:t> </a:t>
            </a:r>
            <a:r>
              <a:rPr dirty="0"/>
              <a:t>dữ</a:t>
            </a:r>
            <a:r>
              <a:rPr spc="-135" dirty="0"/>
              <a:t> </a:t>
            </a:r>
            <a:r>
              <a:rPr spc="-20" dirty="0"/>
              <a:t>liệu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71181" y="1407668"/>
            <a:ext cx="8554720" cy="400304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400" dirty="0">
                <a:latin typeface="Arial"/>
                <a:cs typeface="Arial"/>
              </a:rPr>
              <a:t>Đối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bài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máy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sẽ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phase:</a:t>
            </a:r>
            <a:endParaRPr sz="2400">
              <a:latin typeface="Arial"/>
              <a:cs typeface="Arial"/>
            </a:endParaRPr>
          </a:p>
          <a:p>
            <a:pPr marL="203835" indent="-191135">
              <a:lnSpc>
                <a:spcPct val="100000"/>
              </a:lnSpc>
              <a:spcBef>
                <a:spcPts val="430"/>
              </a:spcBef>
              <a:buChar char="-"/>
              <a:tabLst>
                <a:tab pos="203835" algn="l"/>
              </a:tabLst>
            </a:pPr>
            <a:r>
              <a:rPr sz="2400" dirty="0">
                <a:latin typeface="Arial"/>
                <a:cs typeface="Arial"/>
              </a:rPr>
              <a:t>Huấn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luyện: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dữ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liệu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huấn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luyện</a:t>
            </a:r>
            <a:endParaRPr sz="2400">
              <a:latin typeface="Arial"/>
              <a:cs typeface="Arial"/>
            </a:endParaRPr>
          </a:p>
          <a:p>
            <a:pPr marL="203835" indent="-191135">
              <a:lnSpc>
                <a:spcPct val="100000"/>
              </a:lnSpc>
              <a:spcBef>
                <a:spcPts val="409"/>
              </a:spcBef>
              <a:buChar char="-"/>
              <a:tabLst>
                <a:tab pos="203835" algn="l"/>
              </a:tabLst>
            </a:pPr>
            <a:r>
              <a:rPr sz="2400" dirty="0">
                <a:latin typeface="Arial"/>
                <a:cs typeface="Arial"/>
              </a:rPr>
              <a:t>Kiểm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tra: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dữ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liệu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kiểm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tra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800"/>
              </a:lnSpc>
              <a:spcBef>
                <a:spcPts val="409"/>
              </a:spcBef>
            </a:pPr>
            <a:r>
              <a:rPr sz="2400" dirty="0">
                <a:latin typeface="Arial"/>
                <a:cs typeface="Arial"/>
              </a:rPr>
              <a:t>2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tách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biệt,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liệu </a:t>
            </a:r>
            <a:r>
              <a:rPr sz="2400" dirty="0">
                <a:latin typeface="Arial"/>
                <a:cs typeface="Arial"/>
              </a:rPr>
              <a:t>huấn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luyện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lại.</a:t>
            </a:r>
            <a:endParaRPr sz="2400">
              <a:latin typeface="Arial"/>
              <a:cs typeface="Arial"/>
            </a:endParaRPr>
          </a:p>
          <a:p>
            <a:pPr marL="203835" marR="342900" indent="-191135">
              <a:lnSpc>
                <a:spcPct val="100800"/>
              </a:lnSpc>
              <a:spcBef>
                <a:spcPts val="290"/>
              </a:spcBef>
              <a:buChar char="-"/>
              <a:tabLst>
                <a:tab pos="205104" algn="l"/>
              </a:tabLst>
            </a:pPr>
            <a:r>
              <a:rPr sz="2400" dirty="0">
                <a:latin typeface="Arial"/>
                <a:cs typeface="Arial"/>
              </a:rPr>
              <a:t>Thông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thường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bài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sẽ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liệu: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Cần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phải 	</a:t>
            </a:r>
            <a:r>
              <a:rPr sz="2400" dirty="0">
                <a:latin typeface="Arial"/>
                <a:cs typeface="Arial"/>
              </a:rPr>
              <a:t>chia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tập: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Training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Test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set 	</a:t>
            </a:r>
            <a:r>
              <a:rPr sz="2400" dirty="0">
                <a:latin typeface="Arial"/>
                <a:cs typeface="Arial"/>
              </a:rPr>
              <a:t>(validation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set)</a:t>
            </a:r>
            <a:endParaRPr sz="2400">
              <a:latin typeface="Arial"/>
              <a:cs typeface="Arial"/>
            </a:endParaRPr>
          </a:p>
          <a:p>
            <a:pPr marL="203835" marR="619760" indent="-191135">
              <a:lnSpc>
                <a:spcPct val="100800"/>
              </a:lnSpc>
              <a:spcBef>
                <a:spcPts val="384"/>
              </a:spcBef>
              <a:buChar char="-"/>
              <a:tabLst>
                <a:tab pos="205104" algn="l"/>
              </a:tabLst>
            </a:pPr>
            <a:r>
              <a:rPr sz="2400" dirty="0">
                <a:latin typeface="Arial"/>
                <a:cs typeface="Arial"/>
              </a:rPr>
              <a:t>Tỉ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lệ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chia: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Tùy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bài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(30-</a:t>
            </a:r>
            <a:r>
              <a:rPr sz="2400" dirty="0">
                <a:latin typeface="Arial"/>
                <a:cs typeface="Arial"/>
              </a:rPr>
              <a:t>70,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20-</a:t>
            </a:r>
            <a:r>
              <a:rPr sz="2400" dirty="0">
                <a:latin typeface="Arial"/>
                <a:cs typeface="Arial"/>
              </a:rPr>
              <a:t>80...),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cross- 	</a:t>
            </a:r>
            <a:r>
              <a:rPr sz="2400" dirty="0">
                <a:latin typeface="Arial"/>
                <a:cs typeface="Arial"/>
              </a:rPr>
              <a:t>validation: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k-</a:t>
            </a:r>
            <a:r>
              <a:rPr sz="2400" spc="-20" dirty="0">
                <a:latin typeface="Arial"/>
                <a:cs typeface="Arial"/>
              </a:rPr>
              <a:t>fold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1795</Words>
  <Application>Microsoft Office PowerPoint</Application>
  <PresentationFormat>35mm Slides</PresentationFormat>
  <Paragraphs>229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-apple-system</vt:lpstr>
      <vt:lpstr>Arial</vt:lpstr>
      <vt:lpstr>Cambria Math</vt:lpstr>
      <vt:lpstr>Carlito</vt:lpstr>
      <vt:lpstr>Courier New</vt:lpstr>
      <vt:lpstr>Noto Sans Math</vt:lpstr>
      <vt:lpstr>Times New Roman</vt:lpstr>
      <vt:lpstr>var(--jp-code-font-family)</vt:lpstr>
      <vt:lpstr>Office Theme</vt:lpstr>
      <vt:lpstr>BỘ MÔN KHOA HỌC MÁY TÍNH www.fit.nuce.edu.vn</vt:lpstr>
      <vt:lpstr>Giới thiệu về feature engineering</vt:lpstr>
      <vt:lpstr>1. Giới thiệu</vt:lpstr>
      <vt:lpstr>1. Giới thiệu</vt:lpstr>
      <vt:lpstr>2. Mô hình chung cho các bài toán Machine Learning</vt:lpstr>
      <vt:lpstr>2. Mô hình chung cho các bài toán Machine Learning</vt:lpstr>
      <vt:lpstr>2. Mô hình chung cho các bài toán Machine Learning</vt:lpstr>
      <vt:lpstr>Một số ví dụ về Feature Engineering</vt:lpstr>
      <vt:lpstr>Một số ví dụ về Feature Engineering</vt:lpstr>
      <vt:lpstr>Một số ví dụ về Feature Engineering</vt:lpstr>
      <vt:lpstr>Một số ví dụ về Feature Engineering</vt:lpstr>
      <vt:lpstr>Một số ví dụ về Feature Engineering</vt:lpstr>
      <vt:lpstr>Chuẩn hóa vector đặc trưng</vt:lpstr>
      <vt:lpstr>Chuẩn hóa vector đặc trưng</vt:lpstr>
      <vt:lpstr>Chuẩn hóa vector đặc trưng</vt:lpstr>
      <vt:lpstr>Chuẩn hóa vector đặc trưng</vt:lpstr>
      <vt:lpstr>Chuẩn hóa vector đặc trưng</vt:lpstr>
      <vt:lpstr>Bài tập</vt:lpstr>
      <vt:lpstr>Phân chia tập dữ liệu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 Feature Engineering</dc:title>
  <cp:lastModifiedBy>Le Thi Ha Trang</cp:lastModifiedBy>
  <cp:revision>5</cp:revision>
  <dcterms:created xsi:type="dcterms:W3CDTF">2024-05-07T14:31:22Z</dcterms:created>
  <dcterms:modified xsi:type="dcterms:W3CDTF">2024-05-07T15:28:22Z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2021-07-28T00:00:00Z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2024-05-07T00:00:00Z</vt:filetime>
  </property>
  <property fmtid="{D5CDD505-2E9C-101B-9397-08002B2CF9AE}" pid="5" name="Producer">
    <vt:lpwstr>3-Heights(TM) PDF Security Shell 4.8.25.2 (http://www.pdf-tools.com)</vt:lpwstr>
  </property>
</Properties>
</file>