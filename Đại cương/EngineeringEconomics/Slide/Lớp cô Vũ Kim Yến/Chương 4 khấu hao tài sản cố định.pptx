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1"/>
  </p:notesMasterIdLst>
  <p:sldIdLst>
    <p:sldId id="256" r:id="rId2"/>
    <p:sldId id="259" r:id="rId3"/>
    <p:sldId id="258" r:id="rId4"/>
    <p:sldId id="260" r:id="rId5"/>
    <p:sldId id="261" r:id="rId6"/>
    <p:sldId id="267" r:id="rId7"/>
    <p:sldId id="262" r:id="rId8"/>
    <p:sldId id="268" r:id="rId9"/>
    <p:sldId id="263" r:id="rId10"/>
    <p:sldId id="269" r:id="rId11"/>
    <p:sldId id="274" r:id="rId12"/>
    <p:sldId id="271" r:id="rId13"/>
    <p:sldId id="276" r:id="rId14"/>
    <p:sldId id="275" r:id="rId15"/>
    <p:sldId id="277" r:id="rId16"/>
    <p:sldId id="273" r:id="rId17"/>
    <p:sldId id="279" r:id="rId18"/>
    <p:sldId id="278" r:id="rId19"/>
    <p:sldId id="26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79" d="100"/>
          <a:sy n="79" d="100"/>
        </p:scale>
        <p:origin x="104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C427E-5402-42CB-B484-1D1F1E7C3C23}" type="datetimeFigureOut">
              <a:rPr lang="en-US" smtClean="0"/>
              <a:t>2/8/2022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59085-41CA-444F-997E-74EB6A344FD0}" type="slidenum">
              <a:rPr lang="en-US" smtClean="0"/>
              <a:t>‹#›</a:t>
            </a:fld>
            <a:endParaRPr lang="en-US"/>
          </a:p>
        </p:txBody>
      </p:sp>
    </p:spTree>
    <p:extLst>
      <p:ext uri="{BB962C8B-B14F-4D97-AF65-F5344CB8AC3E}">
        <p14:creationId xmlns:p14="http://schemas.microsoft.com/office/powerpoint/2010/main" val="3289526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A36D2F8-51A1-4D88-B13D-F01453A81B41}"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29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CC46D4-9F3A-4263-9788-7A5A7DD55D13}"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141346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FC0CCE-8BF4-4FDB-913A-48CE46F77D13}"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241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9FC0034-F914-4B4C-B97E-551E34561DE8}" type="datetime1">
              <a:rPr lang="en-US" smtClean="0"/>
              <a:t>2/8/2022</a:t>
            </a:fld>
            <a:endParaRPr lang="en-US"/>
          </a:p>
        </p:txBody>
      </p:sp>
      <p:sp>
        <p:nvSpPr>
          <p:cNvPr id="6" name="Footer Placeholder 5"/>
          <p:cNvSpPr>
            <a:spLocks noGrp="1"/>
          </p:cNvSpPr>
          <p:nvPr>
            <p:ph type="ftr" sz="quarter" idx="11"/>
          </p:nvPr>
        </p:nvSpPr>
        <p:spPr/>
        <p:txBody>
          <a:bodyPr/>
          <a:lstStyle/>
          <a:p>
            <a:r>
              <a:rPr lang="en-US" smtClean="0"/>
              <a:t>GVC.TS Vũ Kim Yến</a:t>
            </a:r>
            <a:endParaRPr lang="en-US"/>
          </a:p>
        </p:txBody>
      </p:sp>
      <p:sp>
        <p:nvSpPr>
          <p:cNvPr id="7" name="Slide Number Placeholder 6"/>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545415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BC763F2-4483-406A-A4D2-6A1E87D74A05}" type="datetime1">
              <a:rPr lang="en-US" smtClean="0"/>
              <a:t>2/8/2022</a:t>
            </a:fld>
            <a:endParaRPr lang="en-US"/>
          </a:p>
        </p:txBody>
      </p:sp>
      <p:sp>
        <p:nvSpPr>
          <p:cNvPr id="8" name="Footer Placeholder 7"/>
          <p:cNvSpPr>
            <a:spLocks noGrp="1"/>
          </p:cNvSpPr>
          <p:nvPr>
            <p:ph type="ftr" sz="quarter" idx="11"/>
          </p:nvPr>
        </p:nvSpPr>
        <p:spPr/>
        <p:txBody>
          <a:bodyPr/>
          <a:lstStyle/>
          <a:p>
            <a:r>
              <a:rPr lang="en-US" smtClean="0"/>
              <a:t>GVC.TS Vũ Kim Yến</a:t>
            </a:r>
            <a:endParaRPr lang="en-US"/>
          </a:p>
        </p:txBody>
      </p:sp>
      <p:sp>
        <p:nvSpPr>
          <p:cNvPr id="9" name="Slide Number Placeholder 8"/>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339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8C80EE8-B4FF-4D21-98CF-E62D5E44071F}" type="datetime1">
              <a:rPr lang="en-US" smtClean="0"/>
              <a:t>2/8/2022</a:t>
            </a:fld>
            <a:endParaRPr lang="en-US"/>
          </a:p>
        </p:txBody>
      </p:sp>
      <p:sp>
        <p:nvSpPr>
          <p:cNvPr id="4" name="Footer Placeholder 3"/>
          <p:cNvSpPr>
            <a:spLocks noGrp="1"/>
          </p:cNvSpPr>
          <p:nvPr>
            <p:ph type="ftr" sz="quarter" idx="11"/>
          </p:nvPr>
        </p:nvSpPr>
        <p:spPr/>
        <p:txBody>
          <a:bodyPr/>
          <a:lstStyle/>
          <a:p>
            <a:r>
              <a:rPr lang="en-US" smtClean="0"/>
              <a:t>GVC.TS Vũ Kim Yến</a:t>
            </a:r>
            <a:endParaRPr lang="en-US"/>
          </a:p>
        </p:txBody>
      </p:sp>
      <p:sp>
        <p:nvSpPr>
          <p:cNvPr id="5" name="Slide Number Placeholder 4"/>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941677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E634CF2-C25A-49E1-9EAB-EC68E3ABC5BC}" type="datetime1">
              <a:rPr lang="en-US" smtClean="0"/>
              <a:t>2/8/2022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GVC.TS Vũ Kim Yến</a:t>
            </a:r>
            <a:endParaRPr lang="en-US"/>
          </a:p>
        </p:txBody>
      </p:sp>
      <p:sp>
        <p:nvSpPr>
          <p:cNvPr id="9" name="Slide Number Placeholder 8"/>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3822288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A78F47D-AF74-4DC9-9C6B-C75FED5D6AA1}" type="datetime1">
              <a:rPr lang="en-US" smtClean="0"/>
              <a:t>2/8/2022</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smtClean="0"/>
              <a:t>GVC.TS Vũ Kim Yến</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9167D6-5074-4D3B-BC37-464BA35B6DC0}" type="slidenum">
              <a:rPr lang="en-US" smtClean="0"/>
              <a:t>‹#›</a:t>
            </a:fld>
            <a:endParaRPr lang="en-US"/>
          </a:p>
        </p:txBody>
      </p:sp>
    </p:spTree>
    <p:extLst>
      <p:ext uri="{BB962C8B-B14F-4D97-AF65-F5344CB8AC3E}">
        <p14:creationId xmlns:p14="http://schemas.microsoft.com/office/powerpoint/2010/main" val="1109520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B540460-1A4A-4129-AB0A-D3335123F576}" type="datetime1">
              <a:rPr lang="en-US" smtClean="0"/>
              <a:t>2/8/2022</a:t>
            </a:fld>
            <a:endParaRPr lang="en-US"/>
          </a:p>
        </p:txBody>
      </p:sp>
      <p:sp>
        <p:nvSpPr>
          <p:cNvPr id="6" name="Footer Placeholder 5"/>
          <p:cNvSpPr>
            <a:spLocks noGrp="1"/>
          </p:cNvSpPr>
          <p:nvPr>
            <p:ph type="ftr" sz="quarter" idx="11"/>
          </p:nvPr>
        </p:nvSpPr>
        <p:spPr/>
        <p:txBody>
          <a:bodyPr/>
          <a:lstStyle/>
          <a:p>
            <a:r>
              <a:rPr lang="en-US" smtClean="0"/>
              <a:t>GVC.TS Vũ Kim Yến</a:t>
            </a:r>
            <a:endParaRPr lang="en-US"/>
          </a:p>
        </p:txBody>
      </p:sp>
      <p:sp>
        <p:nvSpPr>
          <p:cNvPr id="7" name="Slide Number Placeholder 6"/>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134011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AE31CE-AC29-49ED-A1C0-F1EBF0FAD52E}"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840751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3801B4-2DE2-402C-8507-2B507AFD09D1}"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a:t>
            </a:fld>
            <a:endParaRPr lang="en-US"/>
          </a:p>
        </p:txBody>
      </p:sp>
    </p:spTree>
    <p:extLst>
      <p:ext uri="{BB962C8B-B14F-4D97-AF65-F5344CB8AC3E}">
        <p14:creationId xmlns:p14="http://schemas.microsoft.com/office/powerpoint/2010/main" val="2703168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CA4528D-1D0F-4E1C-8AD3-83B1EF8E08D7}" type="datetime1">
              <a:rPr lang="en-US" smtClean="0"/>
              <a:t>2/8/2022</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GVC.TS Vũ Kim Yến</a:t>
            </a: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09167D6-5074-4D3B-BC37-464BA35B6DC0}"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6683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latin typeface="Times New Roman" panose="02020603050405020304" pitchFamily="18" charset="0"/>
                <a:ea typeface="Times New Roman" panose="02020603050405020304" pitchFamily="18" charset="0"/>
              </a:rPr>
              <a:t>Chương 4: </a:t>
            </a:r>
            <a:r>
              <a:rPr lang="en-US" sz="3600" b="1" dirty="0" smtClean="0">
                <a:latin typeface="Times New Roman" panose="02020603050405020304" pitchFamily="18" charset="0"/>
                <a:ea typeface="Times New Roman" panose="02020603050405020304" pitchFamily="18" charset="0"/>
              </a:rPr>
              <a:t/>
            </a:r>
            <a:br>
              <a:rPr lang="en-US" sz="3600" b="1" dirty="0" smtClean="0">
                <a:latin typeface="Times New Roman" panose="02020603050405020304" pitchFamily="18" charset="0"/>
                <a:ea typeface="Times New Roman" panose="02020603050405020304" pitchFamily="18" charset="0"/>
              </a:rPr>
            </a:br>
            <a:r>
              <a:rPr lang="en-US" sz="5400" b="1" dirty="0" err="1" smtClean="0">
                <a:latin typeface="Times New Roman" panose="02020603050405020304" pitchFamily="18" charset="0"/>
                <a:ea typeface="Times New Roman" panose="02020603050405020304" pitchFamily="18" charset="0"/>
              </a:rPr>
              <a:t>Khấu</a:t>
            </a:r>
            <a:r>
              <a:rPr lang="en-US" sz="5400" b="1" dirty="0" smtClean="0">
                <a:latin typeface="Times New Roman" panose="02020603050405020304" pitchFamily="18" charset="0"/>
                <a:ea typeface="Times New Roman" panose="02020603050405020304" pitchFamily="18" charset="0"/>
              </a:rPr>
              <a:t> </a:t>
            </a:r>
            <a:r>
              <a:rPr lang="en-US" sz="5400" b="1" dirty="0" err="1">
                <a:latin typeface="Times New Roman" panose="02020603050405020304" pitchFamily="18" charset="0"/>
                <a:ea typeface="Times New Roman" panose="02020603050405020304" pitchFamily="18" charset="0"/>
              </a:rPr>
              <a:t>hao</a:t>
            </a:r>
            <a:r>
              <a:rPr lang="en-US" sz="5400" b="1" dirty="0">
                <a:latin typeface="Times New Roman" panose="02020603050405020304" pitchFamily="18" charset="0"/>
                <a:ea typeface="Times New Roman" panose="02020603050405020304" pitchFamily="18" charset="0"/>
              </a:rPr>
              <a:t> </a:t>
            </a:r>
            <a:r>
              <a:rPr lang="en-US" sz="5400" b="1" dirty="0" err="1">
                <a:latin typeface="Times New Roman" panose="02020603050405020304" pitchFamily="18" charset="0"/>
                <a:ea typeface="Times New Roman" panose="02020603050405020304" pitchFamily="18" charset="0"/>
              </a:rPr>
              <a:t>tài</a:t>
            </a:r>
            <a:r>
              <a:rPr lang="en-US" sz="5400" b="1" dirty="0">
                <a:latin typeface="Times New Roman" panose="02020603050405020304" pitchFamily="18" charset="0"/>
                <a:ea typeface="Times New Roman" panose="02020603050405020304" pitchFamily="18" charset="0"/>
              </a:rPr>
              <a:t> </a:t>
            </a:r>
            <a:r>
              <a:rPr lang="en-US" sz="5400" b="1" dirty="0" err="1">
                <a:latin typeface="Times New Roman" panose="02020603050405020304" pitchFamily="18" charset="0"/>
                <a:ea typeface="Times New Roman" panose="02020603050405020304" pitchFamily="18" charset="0"/>
              </a:rPr>
              <a:t>sản</a:t>
            </a:r>
            <a:r>
              <a:rPr lang="en-US" sz="5400" b="1" dirty="0">
                <a:latin typeface="Times New Roman" panose="02020603050405020304" pitchFamily="18" charset="0"/>
                <a:ea typeface="Times New Roman" panose="02020603050405020304" pitchFamily="18" charset="0"/>
              </a:rPr>
              <a:t> </a:t>
            </a:r>
            <a:r>
              <a:rPr lang="en-US" sz="5400" b="1" dirty="0" err="1">
                <a:latin typeface="Times New Roman" panose="02020603050405020304" pitchFamily="18" charset="0"/>
                <a:ea typeface="Times New Roman" panose="02020603050405020304" pitchFamily="18" charset="0"/>
              </a:rPr>
              <a:t>cố</a:t>
            </a:r>
            <a:r>
              <a:rPr lang="en-US" sz="5400" b="1" dirty="0">
                <a:latin typeface="Times New Roman" panose="02020603050405020304" pitchFamily="18" charset="0"/>
                <a:ea typeface="Times New Roman" panose="02020603050405020304" pitchFamily="18" charset="0"/>
              </a:rPr>
              <a:t> </a:t>
            </a:r>
            <a:r>
              <a:rPr lang="en-US" sz="5400" b="1" dirty="0" err="1" smtClean="0">
                <a:latin typeface="Times New Roman" panose="02020603050405020304" pitchFamily="18" charset="0"/>
                <a:ea typeface="Times New Roman" panose="02020603050405020304" pitchFamily="18" charset="0"/>
              </a:rPr>
              <a:t>định</a:t>
            </a:r>
            <a:r>
              <a:rPr lang="en-US" sz="5400" b="1" dirty="0" smtClean="0">
                <a:latin typeface="Times New Roman" panose="02020603050405020304" pitchFamily="18" charset="0"/>
                <a:ea typeface="Times New Roman" panose="02020603050405020304" pitchFamily="18" charset="0"/>
              </a:rPr>
              <a:t/>
            </a:r>
            <a:br>
              <a:rPr lang="en-US" sz="5400" b="1" dirty="0" smtClean="0">
                <a:latin typeface="Times New Roman" panose="02020603050405020304" pitchFamily="18" charset="0"/>
                <a:ea typeface="Times New Roman" panose="02020603050405020304" pitchFamily="18" charset="0"/>
              </a:rPr>
            </a:br>
            <a:endParaRPr lang="en-US" sz="5400" dirty="0"/>
          </a:p>
        </p:txBody>
      </p:sp>
      <p:sp>
        <p:nvSpPr>
          <p:cNvPr id="3" name="Subtitle 2"/>
          <p:cNvSpPr>
            <a:spLocks noGrp="1"/>
          </p:cNvSpPr>
          <p:nvPr>
            <p:ph type="subTitle" idx="1"/>
          </p:nvPr>
        </p:nvSpPr>
        <p:spPr/>
        <p:txBody>
          <a:bodyPr/>
          <a:lstStyle/>
          <a:p>
            <a:r>
              <a:rPr lang="en-US" dirty="0" smtClean="0"/>
              <a:t>GVC.TS. </a:t>
            </a:r>
            <a:r>
              <a:rPr lang="en-US" dirty="0" err="1" smtClean="0"/>
              <a:t>Vũ</a:t>
            </a:r>
            <a:r>
              <a:rPr lang="en-US" dirty="0" smtClean="0"/>
              <a:t> </a:t>
            </a:r>
            <a:r>
              <a:rPr lang="en-US" dirty="0" err="1" smtClean="0"/>
              <a:t>kim</a:t>
            </a:r>
            <a:r>
              <a:rPr lang="en-US" dirty="0" smtClean="0"/>
              <a:t> </a:t>
            </a:r>
            <a:r>
              <a:rPr lang="en-US" dirty="0" err="1" smtClean="0"/>
              <a:t>yến</a:t>
            </a:r>
            <a:endParaRPr lang="en-US" dirty="0"/>
          </a:p>
        </p:txBody>
      </p:sp>
    </p:spTree>
    <p:extLst>
      <p:ext uri="{BB962C8B-B14F-4D97-AF65-F5344CB8AC3E}">
        <p14:creationId xmlns:p14="http://schemas.microsoft.com/office/powerpoint/2010/main" val="18043485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Chương 4: </a:t>
            </a:r>
            <a:r>
              <a:rPr lang="en-US" b="1" dirty="0" err="1"/>
              <a:t>Khấu</a:t>
            </a:r>
            <a:r>
              <a:rPr lang="en-US" b="1" dirty="0"/>
              <a:t> </a:t>
            </a:r>
            <a:r>
              <a:rPr lang="en-US" b="1" dirty="0" err="1"/>
              <a:t>hao</a:t>
            </a:r>
            <a:r>
              <a:rPr lang="en-US" b="1" dirty="0"/>
              <a:t> </a:t>
            </a:r>
            <a:r>
              <a:rPr lang="en-US" b="1" dirty="0" err="1"/>
              <a:t>tài</a:t>
            </a:r>
            <a:r>
              <a:rPr lang="en-US" b="1" dirty="0"/>
              <a:t> </a:t>
            </a:r>
            <a:r>
              <a:rPr lang="en-US" b="1" dirty="0" err="1"/>
              <a:t>sản</a:t>
            </a:r>
            <a:r>
              <a:rPr lang="en-US" b="1" dirty="0"/>
              <a:t> </a:t>
            </a:r>
            <a:r>
              <a:rPr lang="en-US" b="1" dirty="0" err="1"/>
              <a:t>cố</a:t>
            </a:r>
            <a:r>
              <a:rPr lang="en-US" b="1" dirty="0"/>
              <a:t> </a:t>
            </a:r>
            <a:r>
              <a:rPr lang="en-US" b="1" dirty="0" err="1"/>
              <a:t>định</a:t>
            </a:r>
            <a:endParaRPr lang="en-US" dirty="0"/>
          </a:p>
        </p:txBody>
      </p:sp>
      <p:sp>
        <p:nvSpPr>
          <p:cNvPr id="3" name="Content Placeholder 2"/>
          <p:cNvSpPr>
            <a:spLocks noGrp="1"/>
          </p:cNvSpPr>
          <p:nvPr>
            <p:ph idx="1"/>
          </p:nvPr>
        </p:nvSpPr>
        <p:spPr/>
        <p:txBody>
          <a:bodyPr>
            <a:normAutofit/>
          </a:bodyPr>
          <a:lstStyle/>
          <a:p>
            <a:pPr>
              <a:lnSpc>
                <a:spcPct val="150000"/>
              </a:lnSpc>
            </a:pPr>
            <a:r>
              <a:rPr lang="en-US" sz="2800" b="1" dirty="0" smtClean="0"/>
              <a:t>1</a:t>
            </a:r>
            <a:r>
              <a:rPr lang="en-US" sz="2800" b="1" dirty="0"/>
              <a:t>. </a:t>
            </a:r>
            <a:r>
              <a:rPr lang="en-US" sz="2800" b="1" dirty="0" err="1"/>
              <a:t>Khái</a:t>
            </a:r>
            <a:r>
              <a:rPr lang="en-US" sz="2800" b="1" dirty="0"/>
              <a:t> </a:t>
            </a:r>
            <a:r>
              <a:rPr lang="en-US" sz="2800" b="1" dirty="0" err="1"/>
              <a:t>niệm</a:t>
            </a:r>
            <a:r>
              <a:rPr lang="en-US" sz="2800" b="1" dirty="0"/>
              <a:t> </a:t>
            </a:r>
            <a:r>
              <a:rPr lang="en-US" sz="2800" b="1" dirty="0" err="1"/>
              <a:t>tài</a:t>
            </a:r>
            <a:r>
              <a:rPr lang="en-US" sz="2800" b="1" dirty="0"/>
              <a:t> </a:t>
            </a:r>
            <a:r>
              <a:rPr lang="en-US" sz="2800" b="1" dirty="0" err="1"/>
              <a:t>sản</a:t>
            </a:r>
            <a:r>
              <a:rPr lang="en-US" sz="2800" b="1" dirty="0"/>
              <a:t> </a:t>
            </a:r>
            <a:r>
              <a:rPr lang="en-US" sz="2800" b="1" dirty="0" err="1"/>
              <a:t>cố</a:t>
            </a:r>
            <a:r>
              <a:rPr lang="en-US" sz="2800" b="1" dirty="0"/>
              <a:t> </a:t>
            </a:r>
            <a:r>
              <a:rPr lang="en-US" sz="2800" b="1" dirty="0" err="1"/>
              <a:t>định</a:t>
            </a:r>
            <a:r>
              <a:rPr lang="en-US" sz="2800" dirty="0"/>
              <a:t/>
            </a:r>
            <a:br>
              <a:rPr lang="en-US" sz="2800" dirty="0"/>
            </a:br>
            <a:r>
              <a:rPr lang="en-US" sz="2800" dirty="0" smtClean="0"/>
              <a:t>2</a:t>
            </a:r>
            <a:r>
              <a:rPr lang="en-US" sz="2800" dirty="0"/>
              <a:t>. </a:t>
            </a:r>
            <a:r>
              <a:rPr lang="en-US" sz="2800" dirty="0" err="1"/>
              <a:t>Phân</a:t>
            </a:r>
            <a:r>
              <a:rPr lang="en-US" sz="2800" dirty="0"/>
              <a:t> </a:t>
            </a:r>
            <a:r>
              <a:rPr lang="en-US" sz="2800" dirty="0" err="1"/>
              <a:t>loại</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dirty="0" smtClean="0"/>
              <a:t>3</a:t>
            </a:r>
            <a:r>
              <a:rPr lang="en-US" sz="2800" dirty="0"/>
              <a:t>. </a:t>
            </a:r>
            <a:r>
              <a:rPr lang="en-US" sz="2800" dirty="0" err="1"/>
              <a:t>Khái</a:t>
            </a:r>
            <a:r>
              <a:rPr lang="en-US" sz="2800" dirty="0"/>
              <a:t> </a:t>
            </a:r>
            <a:r>
              <a:rPr lang="en-US" sz="2800" dirty="0" err="1"/>
              <a:t>niệm</a:t>
            </a:r>
            <a:r>
              <a:rPr lang="en-US" sz="2800" dirty="0"/>
              <a:t> </a:t>
            </a:r>
            <a:r>
              <a:rPr lang="en-US" sz="2800" dirty="0" err="1"/>
              <a:t>và</a:t>
            </a:r>
            <a:r>
              <a:rPr lang="en-US" sz="2800" dirty="0"/>
              <a:t> ý </a:t>
            </a:r>
            <a:r>
              <a:rPr lang="en-US" sz="2800" dirty="0" err="1"/>
              <a:t>nghĩa</a:t>
            </a:r>
            <a:r>
              <a:rPr lang="en-US" sz="2800" dirty="0"/>
              <a:t> </a:t>
            </a:r>
            <a:r>
              <a:rPr lang="en-US" sz="2800" dirty="0" err="1"/>
              <a:t>của</a:t>
            </a:r>
            <a:r>
              <a:rPr lang="en-US" sz="2800" dirty="0"/>
              <a:t> </a:t>
            </a:r>
            <a:r>
              <a:rPr lang="en-US" sz="2800" dirty="0" err="1"/>
              <a:t>khấu</a:t>
            </a:r>
            <a:r>
              <a:rPr lang="en-US" sz="2800" dirty="0"/>
              <a:t> </a:t>
            </a:r>
            <a:r>
              <a:rPr lang="en-US" sz="2800" dirty="0" err="1"/>
              <a:t>hao</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dirty="0" smtClean="0"/>
              <a:t>4</a:t>
            </a:r>
            <a:r>
              <a:rPr lang="en-US" sz="2800" dirty="0"/>
              <a:t>. </a:t>
            </a:r>
            <a:r>
              <a:rPr lang="en-US" sz="2800" dirty="0" err="1"/>
              <a:t>Các</a:t>
            </a:r>
            <a:r>
              <a:rPr lang="en-US" sz="2800" dirty="0"/>
              <a:t> </a:t>
            </a:r>
            <a:r>
              <a:rPr lang="en-US" sz="2800" dirty="0" err="1"/>
              <a:t>phương</a:t>
            </a:r>
            <a:r>
              <a:rPr lang="en-US" sz="2800" dirty="0"/>
              <a:t> </a:t>
            </a:r>
            <a:r>
              <a:rPr lang="en-US" sz="2800" dirty="0" err="1"/>
              <a:t>pháp</a:t>
            </a:r>
            <a:r>
              <a:rPr lang="en-US" sz="2800" dirty="0"/>
              <a:t> </a:t>
            </a:r>
            <a:r>
              <a:rPr lang="en-US" sz="2800" dirty="0" err="1"/>
              <a:t>tính</a:t>
            </a:r>
            <a:r>
              <a:rPr lang="en-US" sz="2800" dirty="0"/>
              <a:t> </a:t>
            </a:r>
            <a:r>
              <a:rPr lang="en-US" sz="2800" dirty="0" err="1"/>
              <a:t>khấu</a:t>
            </a:r>
            <a:r>
              <a:rPr lang="en-US" sz="2800" dirty="0"/>
              <a:t> </a:t>
            </a:r>
            <a:r>
              <a:rPr lang="en-US" sz="2800" dirty="0" err="1"/>
              <a:t>hao</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endParaRPr lang="en-US" sz="2800" dirty="0"/>
          </a:p>
        </p:txBody>
      </p:sp>
      <p:sp>
        <p:nvSpPr>
          <p:cNvPr id="4" name="Date Placeholder 3"/>
          <p:cNvSpPr>
            <a:spLocks noGrp="1"/>
          </p:cNvSpPr>
          <p:nvPr>
            <p:ph type="dt" sz="half" idx="10"/>
          </p:nvPr>
        </p:nvSpPr>
        <p:spPr/>
        <p:txBody>
          <a:bodyPr/>
          <a:lstStyle/>
          <a:p>
            <a:fld id="{26BD52E5-5746-4750-BCFA-DFF6B7B2C649}"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2</a:t>
            </a:fld>
            <a:endParaRPr lang="en-US"/>
          </a:p>
        </p:txBody>
      </p:sp>
    </p:spTree>
    <p:extLst>
      <p:ext uri="{BB962C8B-B14F-4D97-AF65-F5344CB8AC3E}">
        <p14:creationId xmlns:p14="http://schemas.microsoft.com/office/powerpoint/2010/main" val="25629270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1. </a:t>
            </a:r>
            <a:r>
              <a:rPr lang="en-US" sz="4000" b="1" dirty="0" err="1"/>
              <a:t>Khái</a:t>
            </a:r>
            <a:r>
              <a:rPr lang="en-US" sz="4000" b="1" dirty="0"/>
              <a:t> </a:t>
            </a:r>
            <a:r>
              <a:rPr lang="en-US" sz="4000" b="1" dirty="0" err="1"/>
              <a:t>niệm</a:t>
            </a:r>
            <a:r>
              <a:rPr lang="en-US" sz="4000" b="1" dirty="0"/>
              <a:t> </a:t>
            </a:r>
            <a:r>
              <a:rPr lang="en-US" sz="4000" b="1" dirty="0" err="1"/>
              <a:t>tài</a:t>
            </a:r>
            <a:r>
              <a:rPr lang="en-US" sz="4000" b="1" dirty="0"/>
              <a:t> </a:t>
            </a:r>
            <a:r>
              <a:rPr lang="en-US" sz="4000" b="1" dirty="0" err="1"/>
              <a:t>sản</a:t>
            </a:r>
            <a:r>
              <a:rPr lang="en-US" sz="4000" b="1" dirty="0"/>
              <a:t> </a:t>
            </a:r>
            <a:r>
              <a:rPr lang="en-US" sz="4000" b="1" dirty="0" err="1"/>
              <a:t>cố</a:t>
            </a:r>
            <a:r>
              <a:rPr lang="en-US" sz="4000" b="1" dirty="0"/>
              <a:t> </a:t>
            </a:r>
            <a:r>
              <a:rPr lang="en-US" sz="4000" b="1" dirty="0" err="1" smtClean="0"/>
              <a:t>định</a:t>
            </a:r>
            <a:r>
              <a:rPr lang="en-US" sz="4000" b="1" dirty="0" smtClean="0"/>
              <a:t/>
            </a:r>
            <a:br>
              <a:rPr lang="en-US" sz="4000" b="1" dirty="0" smtClean="0"/>
            </a:br>
            <a:endParaRPr lang="en-US" sz="4000" dirty="0"/>
          </a:p>
        </p:txBody>
      </p:sp>
      <p:sp>
        <p:nvSpPr>
          <p:cNvPr id="3" name="Content Placeholder 2"/>
          <p:cNvSpPr>
            <a:spLocks noGrp="1"/>
          </p:cNvSpPr>
          <p:nvPr>
            <p:ph idx="1"/>
          </p:nvPr>
        </p:nvSpPr>
        <p:spPr/>
        <p:txBody>
          <a:bodyPr>
            <a:normAutofit/>
          </a:bodyPr>
          <a:lstStyle/>
          <a:p>
            <a:pPr marL="0" marR="0" indent="514350" algn="just">
              <a:spcBef>
                <a:spcPts val="600"/>
              </a:spcBef>
              <a:spcAft>
                <a:spcPts val="600"/>
              </a:spcAft>
            </a:pPr>
            <a:r>
              <a:rPr lang="pt-BR" sz="2400" dirty="0">
                <a:latin typeface="Times New Roman" panose="02020603050405020304" pitchFamily="18" charset="0"/>
                <a:ea typeface="Times New Roman" panose="02020603050405020304" pitchFamily="18" charset="0"/>
                <a:cs typeface="Times New Roman" panose="02020603050405020304" pitchFamily="18" charset="0"/>
              </a:rPr>
              <a:t>Tài sản cố định </a:t>
            </a:r>
            <a:r>
              <a:rPr lang="pt-BR" sz="2400" dirty="0" smtClean="0">
                <a:latin typeface="Times New Roman" panose="02020603050405020304" pitchFamily="18" charset="0"/>
                <a:ea typeface="Times New Roman" panose="02020603050405020304" pitchFamily="18" charset="0"/>
                <a:cs typeface="Times New Roman" panose="02020603050405020304" pitchFamily="18" charset="0"/>
              </a:rPr>
              <a:t>là </a:t>
            </a:r>
            <a:r>
              <a:rPr lang="pt-BR" sz="2400" dirty="0">
                <a:latin typeface="Times New Roman" panose="02020603050405020304" pitchFamily="18" charset="0"/>
                <a:ea typeface="Times New Roman" panose="02020603050405020304" pitchFamily="18" charset="0"/>
                <a:cs typeface="Times New Roman" panose="02020603050405020304" pitchFamily="18" charset="0"/>
              </a:rPr>
              <a:t>một bộ phận của tư liệu sản xuất làm chức năng tư liệu lao động</a:t>
            </a:r>
            <a:r>
              <a:rPr lang="pt-BR" sz="2400" dirty="0" smtClean="0">
                <a:latin typeface="Times New Roman" panose="02020603050405020304" pitchFamily="18" charset="0"/>
                <a:ea typeface="Times New Roman" panose="02020603050405020304" pitchFamily="18" charset="0"/>
                <a:cs typeface="Times New Roman" panose="02020603050405020304" pitchFamily="18" charset="0"/>
              </a:rPr>
              <a:t>, chúng </a:t>
            </a:r>
            <a:r>
              <a:rPr lang="pt-BR" sz="2400" dirty="0">
                <a:latin typeface="Times New Roman" panose="02020603050405020304" pitchFamily="18" charset="0"/>
                <a:ea typeface="Times New Roman" panose="02020603050405020304" pitchFamily="18" charset="0"/>
                <a:cs typeface="Times New Roman" panose="02020603050405020304" pitchFamily="18" charset="0"/>
              </a:rPr>
              <a:t>đủ tiêu chuẩn là tài sản cố </a:t>
            </a:r>
            <a:r>
              <a:rPr lang="pt-BR" sz="2400" dirty="0" smtClean="0">
                <a:latin typeface="Times New Roman" panose="02020603050405020304" pitchFamily="18" charset="0"/>
                <a:ea typeface="Times New Roman" panose="02020603050405020304" pitchFamily="18" charset="0"/>
                <a:cs typeface="Times New Roman" panose="02020603050405020304" pitchFamily="18" charset="0"/>
              </a:rPr>
              <a:t>định; </a:t>
            </a:r>
            <a:r>
              <a:rPr lang="pt-BR" sz="2400" dirty="0">
                <a:latin typeface="Times New Roman" panose="02020603050405020304" pitchFamily="18" charset="0"/>
                <a:ea typeface="Times New Roman" panose="02020603050405020304" pitchFamily="18" charset="0"/>
                <a:cs typeface="Times New Roman" panose="02020603050405020304" pitchFamily="18" charset="0"/>
              </a:rPr>
              <a:t>nó tham gia vào nhiều chu kỳ kinh </a:t>
            </a:r>
            <a:r>
              <a:rPr lang="pt-BR" sz="2400" dirty="0" smtClean="0">
                <a:latin typeface="Times New Roman" panose="02020603050405020304" pitchFamily="18" charset="0"/>
                <a:ea typeface="Times New Roman" panose="02020603050405020304" pitchFamily="18" charset="0"/>
                <a:cs typeface="Times New Roman" panose="02020603050405020304" pitchFamily="18" charset="0"/>
              </a:rPr>
              <a:t>doanh, quá </a:t>
            </a:r>
            <a:r>
              <a:rPr lang="pt-BR" sz="2400" dirty="0">
                <a:latin typeface="Times New Roman" panose="02020603050405020304" pitchFamily="18" charset="0"/>
                <a:ea typeface="Times New Roman" panose="02020603050405020304" pitchFamily="18" charset="0"/>
                <a:cs typeface="Times New Roman" panose="02020603050405020304" pitchFamily="18" charset="0"/>
              </a:rPr>
              <a:t>trình tham gia vào sản xuất nó có thể bị hao </a:t>
            </a:r>
            <a:r>
              <a:rPr lang="pt-BR" sz="2400" dirty="0" smtClean="0">
                <a:latin typeface="Times New Roman" panose="02020603050405020304" pitchFamily="18" charset="0"/>
                <a:ea typeface="Times New Roman" panose="02020603050405020304" pitchFamily="18" charset="0"/>
                <a:cs typeface="Times New Roman" panose="02020603050405020304" pitchFamily="18" charset="0"/>
              </a:rPr>
              <a:t>mòn về vật chất, </a:t>
            </a:r>
            <a:r>
              <a:rPr lang="pt-BR" sz="2400" dirty="0">
                <a:latin typeface="Times New Roman" panose="02020603050405020304" pitchFamily="18" charset="0"/>
                <a:ea typeface="Times New Roman" panose="02020603050405020304" pitchFamily="18" charset="0"/>
                <a:cs typeface="Times New Roman" panose="02020603050405020304" pitchFamily="18" charset="0"/>
              </a:rPr>
              <a:t>cùng với sự hao mòn về vật chất giá trị của nó cũng giảm dần, phần giá trị giảm đó được chuyển dần vào chi phí sản xuất sản phẩm do nó làm ra.</a:t>
            </a:r>
            <a:endParaRPr lang="en-US" sz="2400" dirty="0">
              <a:latin typeface=".VnTime" panose="020B7200000000000000" pitchFamily="34" charset="0"/>
              <a:ea typeface="Times New Roman" panose="02020603050405020304" pitchFamily="18" charset="0"/>
              <a:cs typeface="Times New Roman" panose="02020603050405020304" pitchFamily="18" charset="0"/>
            </a:endParaRPr>
          </a:p>
          <a:p>
            <a:endParaRPr lang="en-US" sz="2400" dirty="0"/>
          </a:p>
        </p:txBody>
      </p:sp>
      <p:sp>
        <p:nvSpPr>
          <p:cNvPr id="4" name="Date Placeholder 3"/>
          <p:cNvSpPr>
            <a:spLocks noGrp="1"/>
          </p:cNvSpPr>
          <p:nvPr>
            <p:ph type="dt" sz="half" idx="10"/>
          </p:nvPr>
        </p:nvSpPr>
        <p:spPr/>
        <p:txBody>
          <a:bodyPr/>
          <a:lstStyle/>
          <a:p>
            <a:fld id="{CA1BB6B2-8337-47C8-88F7-00CDB852C4DD}"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3</a:t>
            </a:fld>
            <a:endParaRPr lang="en-US"/>
          </a:p>
        </p:txBody>
      </p:sp>
    </p:spTree>
    <p:extLst>
      <p:ext uri="{BB962C8B-B14F-4D97-AF65-F5344CB8AC3E}">
        <p14:creationId xmlns:p14="http://schemas.microsoft.com/office/powerpoint/2010/main" val="8712544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Chương 4: </a:t>
            </a:r>
            <a:r>
              <a:rPr lang="en-US" b="1" dirty="0" err="1"/>
              <a:t>Khấu</a:t>
            </a:r>
            <a:r>
              <a:rPr lang="en-US" b="1" dirty="0"/>
              <a:t> </a:t>
            </a:r>
            <a:r>
              <a:rPr lang="en-US" b="1" dirty="0" err="1"/>
              <a:t>hao</a:t>
            </a:r>
            <a:r>
              <a:rPr lang="en-US" b="1" dirty="0"/>
              <a:t> </a:t>
            </a:r>
            <a:r>
              <a:rPr lang="en-US" b="1" dirty="0" err="1"/>
              <a:t>tài</a:t>
            </a:r>
            <a:r>
              <a:rPr lang="en-US" b="1" dirty="0"/>
              <a:t> </a:t>
            </a:r>
            <a:r>
              <a:rPr lang="en-US" b="1" dirty="0" err="1"/>
              <a:t>sản</a:t>
            </a:r>
            <a:r>
              <a:rPr lang="en-US" b="1" dirty="0"/>
              <a:t> </a:t>
            </a:r>
            <a:r>
              <a:rPr lang="en-US" b="1" dirty="0" err="1"/>
              <a:t>cố</a:t>
            </a:r>
            <a:r>
              <a:rPr lang="en-US" b="1" dirty="0"/>
              <a:t> </a:t>
            </a:r>
            <a:r>
              <a:rPr lang="en-US" b="1" dirty="0" err="1"/>
              <a:t>định</a:t>
            </a:r>
            <a:endParaRPr lang="en-US" dirty="0"/>
          </a:p>
        </p:txBody>
      </p:sp>
      <p:sp>
        <p:nvSpPr>
          <p:cNvPr id="3" name="Content Placeholder 2"/>
          <p:cNvSpPr>
            <a:spLocks noGrp="1"/>
          </p:cNvSpPr>
          <p:nvPr>
            <p:ph idx="1"/>
          </p:nvPr>
        </p:nvSpPr>
        <p:spPr/>
        <p:txBody>
          <a:bodyPr>
            <a:normAutofit/>
          </a:bodyPr>
          <a:lstStyle/>
          <a:p>
            <a:pPr>
              <a:lnSpc>
                <a:spcPct val="150000"/>
              </a:lnSpc>
            </a:pPr>
            <a:r>
              <a:rPr lang="en-US" sz="2800" dirty="0" smtClean="0"/>
              <a:t>1</a:t>
            </a:r>
            <a:r>
              <a:rPr lang="en-US" sz="2800" dirty="0"/>
              <a:t>. </a:t>
            </a:r>
            <a:r>
              <a:rPr lang="en-US" sz="2800" dirty="0" err="1"/>
              <a:t>Khái</a:t>
            </a:r>
            <a:r>
              <a:rPr lang="en-US" sz="2800" dirty="0"/>
              <a:t> </a:t>
            </a:r>
            <a:r>
              <a:rPr lang="en-US" sz="2800" dirty="0" err="1"/>
              <a:t>niệm</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b="1" dirty="0" smtClean="0"/>
              <a:t>2</a:t>
            </a:r>
            <a:r>
              <a:rPr lang="en-US" sz="2800" b="1" dirty="0"/>
              <a:t>. </a:t>
            </a:r>
            <a:r>
              <a:rPr lang="en-US" sz="2800" b="1" dirty="0" err="1"/>
              <a:t>Phân</a:t>
            </a:r>
            <a:r>
              <a:rPr lang="en-US" sz="2800" b="1" dirty="0"/>
              <a:t> </a:t>
            </a:r>
            <a:r>
              <a:rPr lang="en-US" sz="2800" b="1" dirty="0" err="1"/>
              <a:t>loại</a:t>
            </a:r>
            <a:r>
              <a:rPr lang="en-US" sz="2800" b="1" dirty="0"/>
              <a:t> </a:t>
            </a:r>
            <a:r>
              <a:rPr lang="en-US" sz="2800" b="1" dirty="0" err="1"/>
              <a:t>tài</a:t>
            </a:r>
            <a:r>
              <a:rPr lang="en-US" sz="2800" b="1" dirty="0"/>
              <a:t> </a:t>
            </a:r>
            <a:r>
              <a:rPr lang="en-US" sz="2800" b="1" dirty="0" err="1"/>
              <a:t>sản</a:t>
            </a:r>
            <a:r>
              <a:rPr lang="en-US" sz="2800" b="1" dirty="0"/>
              <a:t> </a:t>
            </a:r>
            <a:r>
              <a:rPr lang="en-US" sz="2800" b="1" dirty="0" err="1"/>
              <a:t>cố</a:t>
            </a:r>
            <a:r>
              <a:rPr lang="en-US" sz="2800" b="1" dirty="0"/>
              <a:t> </a:t>
            </a:r>
            <a:r>
              <a:rPr lang="en-US" sz="2800" b="1" dirty="0" err="1"/>
              <a:t>định</a:t>
            </a:r>
            <a:r>
              <a:rPr lang="en-US" sz="2800" dirty="0"/>
              <a:t/>
            </a:r>
            <a:br>
              <a:rPr lang="en-US" sz="2800" dirty="0"/>
            </a:br>
            <a:r>
              <a:rPr lang="en-US" sz="2800" dirty="0" smtClean="0"/>
              <a:t>3</a:t>
            </a:r>
            <a:r>
              <a:rPr lang="en-US" sz="2800" dirty="0"/>
              <a:t>. </a:t>
            </a:r>
            <a:r>
              <a:rPr lang="en-US" sz="2800" dirty="0" err="1"/>
              <a:t>Khái</a:t>
            </a:r>
            <a:r>
              <a:rPr lang="en-US" sz="2800" dirty="0"/>
              <a:t> </a:t>
            </a:r>
            <a:r>
              <a:rPr lang="en-US" sz="2800" dirty="0" err="1"/>
              <a:t>niệm</a:t>
            </a:r>
            <a:r>
              <a:rPr lang="en-US" sz="2800" dirty="0"/>
              <a:t> </a:t>
            </a:r>
            <a:r>
              <a:rPr lang="en-US" sz="2800" dirty="0" err="1"/>
              <a:t>và</a:t>
            </a:r>
            <a:r>
              <a:rPr lang="en-US" sz="2800" dirty="0"/>
              <a:t> ý </a:t>
            </a:r>
            <a:r>
              <a:rPr lang="en-US" sz="2800" dirty="0" err="1"/>
              <a:t>nghĩa</a:t>
            </a:r>
            <a:r>
              <a:rPr lang="en-US" sz="2800" dirty="0"/>
              <a:t> </a:t>
            </a:r>
            <a:r>
              <a:rPr lang="en-US" sz="2800" dirty="0" err="1"/>
              <a:t>của</a:t>
            </a:r>
            <a:r>
              <a:rPr lang="en-US" sz="2800" dirty="0"/>
              <a:t> </a:t>
            </a:r>
            <a:r>
              <a:rPr lang="en-US" sz="2800" dirty="0" err="1"/>
              <a:t>khấu</a:t>
            </a:r>
            <a:r>
              <a:rPr lang="en-US" sz="2800" dirty="0"/>
              <a:t> </a:t>
            </a:r>
            <a:r>
              <a:rPr lang="en-US" sz="2800" dirty="0" err="1"/>
              <a:t>hao</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dirty="0" smtClean="0"/>
              <a:t>4</a:t>
            </a:r>
            <a:r>
              <a:rPr lang="en-US" sz="2800" dirty="0"/>
              <a:t>. </a:t>
            </a:r>
            <a:r>
              <a:rPr lang="en-US" sz="2800" dirty="0" err="1"/>
              <a:t>Các</a:t>
            </a:r>
            <a:r>
              <a:rPr lang="en-US" sz="2800" dirty="0"/>
              <a:t> </a:t>
            </a:r>
            <a:r>
              <a:rPr lang="en-US" sz="2800" dirty="0" err="1"/>
              <a:t>phương</a:t>
            </a:r>
            <a:r>
              <a:rPr lang="en-US" sz="2800" dirty="0"/>
              <a:t> </a:t>
            </a:r>
            <a:r>
              <a:rPr lang="en-US" sz="2800" dirty="0" err="1"/>
              <a:t>pháp</a:t>
            </a:r>
            <a:r>
              <a:rPr lang="en-US" sz="2800" dirty="0"/>
              <a:t> </a:t>
            </a:r>
            <a:r>
              <a:rPr lang="en-US" sz="2800" dirty="0" err="1"/>
              <a:t>tính</a:t>
            </a:r>
            <a:r>
              <a:rPr lang="en-US" sz="2800" dirty="0"/>
              <a:t> </a:t>
            </a:r>
            <a:r>
              <a:rPr lang="en-US" sz="2800" dirty="0" err="1"/>
              <a:t>khấu</a:t>
            </a:r>
            <a:r>
              <a:rPr lang="en-US" sz="2800" dirty="0"/>
              <a:t> </a:t>
            </a:r>
            <a:r>
              <a:rPr lang="en-US" sz="2800" dirty="0" err="1"/>
              <a:t>hao</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endParaRPr lang="en-US" sz="2800" dirty="0"/>
          </a:p>
        </p:txBody>
      </p:sp>
      <p:sp>
        <p:nvSpPr>
          <p:cNvPr id="4" name="Date Placeholder 3"/>
          <p:cNvSpPr>
            <a:spLocks noGrp="1"/>
          </p:cNvSpPr>
          <p:nvPr>
            <p:ph type="dt" sz="half" idx="10"/>
          </p:nvPr>
        </p:nvSpPr>
        <p:spPr/>
        <p:txBody>
          <a:bodyPr/>
          <a:lstStyle/>
          <a:p>
            <a:fld id="{D11A007C-E522-45AD-BAD5-9C2AD89B9D99}"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4</a:t>
            </a:fld>
            <a:endParaRPr lang="en-US"/>
          </a:p>
        </p:txBody>
      </p:sp>
    </p:spTree>
    <p:extLst>
      <p:ext uri="{BB962C8B-B14F-4D97-AF65-F5344CB8AC3E}">
        <p14:creationId xmlns:p14="http://schemas.microsoft.com/office/powerpoint/2010/main" val="770975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2. </a:t>
            </a:r>
            <a:r>
              <a:rPr lang="en-US" sz="4000" b="1" dirty="0" err="1"/>
              <a:t>Phân</a:t>
            </a:r>
            <a:r>
              <a:rPr lang="en-US" sz="4000" b="1" dirty="0"/>
              <a:t> </a:t>
            </a:r>
            <a:r>
              <a:rPr lang="en-US" sz="4000" b="1" dirty="0" err="1"/>
              <a:t>loại</a:t>
            </a:r>
            <a:r>
              <a:rPr lang="en-US" sz="4000" b="1" dirty="0"/>
              <a:t> </a:t>
            </a:r>
            <a:r>
              <a:rPr lang="en-US" sz="4000" b="1" dirty="0" err="1"/>
              <a:t>tài</a:t>
            </a:r>
            <a:r>
              <a:rPr lang="en-US" sz="4000" b="1" dirty="0"/>
              <a:t> </a:t>
            </a:r>
            <a:r>
              <a:rPr lang="en-US" sz="4000" b="1" dirty="0" err="1"/>
              <a:t>sản</a:t>
            </a:r>
            <a:r>
              <a:rPr lang="en-US" sz="4000" b="1" dirty="0"/>
              <a:t> </a:t>
            </a:r>
            <a:r>
              <a:rPr lang="en-US" sz="4000" b="1" dirty="0" err="1"/>
              <a:t>cố</a:t>
            </a:r>
            <a:r>
              <a:rPr lang="en-US" sz="4000" b="1" dirty="0"/>
              <a:t> </a:t>
            </a:r>
            <a:r>
              <a:rPr lang="en-US" sz="4000" b="1" dirty="0" err="1" smtClean="0"/>
              <a:t>định</a:t>
            </a:r>
            <a:r>
              <a:rPr lang="en-US" sz="4000" b="1" dirty="0" smtClean="0"/>
              <a:t/>
            </a:r>
            <a:br>
              <a:rPr lang="en-US" sz="4000" b="1" dirty="0" smtClean="0"/>
            </a:br>
            <a:endParaRPr lang="en-US" sz="4000" dirty="0"/>
          </a:p>
        </p:txBody>
      </p:sp>
      <p:sp>
        <p:nvSpPr>
          <p:cNvPr id="3" name="Content Placeholder 2"/>
          <p:cNvSpPr>
            <a:spLocks noGrp="1"/>
          </p:cNvSpPr>
          <p:nvPr>
            <p:ph idx="1"/>
          </p:nvPr>
        </p:nvSpPr>
        <p:spPr/>
        <p:txBody>
          <a:bodyPr/>
          <a:lstStyle/>
          <a:p>
            <a:pPr>
              <a:buFont typeface="Arial" panose="020B0604020202020204" pitchFamily="34" charset="0"/>
              <a:buChar char="•"/>
              <a:defRPr/>
            </a:pPr>
            <a:r>
              <a:rPr lang="pt-BR" altLang="en-US" sz="2400" dirty="0">
                <a:latin typeface="Times New Roman" panose="02020603050405020304" pitchFamily="18" charset="0"/>
                <a:cs typeface="Times New Roman" panose="02020603050405020304" pitchFamily="18" charset="0"/>
              </a:rPr>
              <a:t>Phân loại theo hình thái vật chất của tài sản cố định</a:t>
            </a:r>
          </a:p>
          <a:p>
            <a:pPr>
              <a:buFont typeface="Arial" panose="020B0604020202020204" pitchFamily="34" charset="0"/>
              <a:buChar char="•"/>
              <a:defRPr/>
            </a:pPr>
            <a:r>
              <a:rPr lang="pt-BR" altLang="en-US" sz="2400" dirty="0">
                <a:latin typeface="Times New Roman" panose="02020603050405020304" pitchFamily="18" charset="0"/>
                <a:cs typeface="Times New Roman" panose="02020603050405020304" pitchFamily="18" charset="0"/>
              </a:rPr>
              <a:t>Phân loại theo mục đích sử dụng của tài sản cố định</a:t>
            </a:r>
          </a:p>
          <a:p>
            <a:pPr>
              <a:buFont typeface="Arial" panose="020B0604020202020204" pitchFamily="34" charset="0"/>
              <a:buChar char="•"/>
              <a:defRPr/>
            </a:pPr>
            <a:r>
              <a:rPr lang="pt-BR" altLang="en-US" sz="2400" dirty="0">
                <a:latin typeface="Times New Roman" panose="02020603050405020304" pitchFamily="18" charset="0"/>
                <a:cs typeface="Times New Roman" panose="02020603050405020304" pitchFamily="18" charset="0"/>
              </a:rPr>
              <a:t>Phân loại tài sản theo tính chất sản xuất của tài sản khi tham gia vào quá trình sản xuất</a:t>
            </a:r>
          </a:p>
          <a:p>
            <a:pPr marL="342900" lvl="3" indent="-342900">
              <a:buSzPct val="80000"/>
              <a:buFont typeface="Arial" panose="020B0604020202020204" pitchFamily="34" charset="0"/>
              <a:buChar char="•"/>
              <a:defRPr/>
            </a:pPr>
            <a:r>
              <a:rPr lang="pt-BR" altLang="en-US" sz="2400" dirty="0">
                <a:latin typeface="Times New Roman" panose="02020603050405020304" pitchFamily="18" charset="0"/>
                <a:cs typeface="Times New Roman" panose="02020603050405020304" pitchFamily="18" charset="0"/>
              </a:rPr>
              <a:t>Phân loại tài sản theo phạm vi hoạt động sản xuất kinh doanh</a:t>
            </a:r>
            <a:endParaRPr lang="en-US" alt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defRPr/>
            </a:pPr>
            <a:r>
              <a:rPr lang="pt-BR" altLang="en-US" sz="2400" dirty="0">
                <a:latin typeface="Times New Roman" panose="02020603050405020304" pitchFamily="18" charset="0"/>
                <a:cs typeface="Times New Roman" panose="02020603050405020304" pitchFamily="18" charset="0"/>
              </a:rPr>
              <a:t>Phân loại tài sản cố định theo nguồn vốn hình thành tài sản</a:t>
            </a:r>
            <a:endParaRPr lang="en-US" altLang="en-US" sz="2400" dirty="0">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BCCB5BF5-3E4E-475C-B0C6-C27C4CF78888}"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5</a:t>
            </a:fld>
            <a:endParaRPr lang="en-US"/>
          </a:p>
        </p:txBody>
      </p:sp>
    </p:spTree>
    <p:extLst>
      <p:ext uri="{BB962C8B-B14F-4D97-AF65-F5344CB8AC3E}">
        <p14:creationId xmlns:p14="http://schemas.microsoft.com/office/powerpoint/2010/main" val="127956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Chương 4: </a:t>
            </a:r>
            <a:r>
              <a:rPr lang="en-US" b="1" dirty="0" err="1"/>
              <a:t>Khấu</a:t>
            </a:r>
            <a:r>
              <a:rPr lang="en-US" b="1" dirty="0"/>
              <a:t> </a:t>
            </a:r>
            <a:r>
              <a:rPr lang="en-US" b="1" dirty="0" err="1"/>
              <a:t>hao</a:t>
            </a:r>
            <a:r>
              <a:rPr lang="en-US" b="1" dirty="0"/>
              <a:t> </a:t>
            </a:r>
            <a:r>
              <a:rPr lang="en-US" b="1" dirty="0" err="1"/>
              <a:t>tài</a:t>
            </a:r>
            <a:r>
              <a:rPr lang="en-US" b="1" dirty="0"/>
              <a:t> </a:t>
            </a:r>
            <a:r>
              <a:rPr lang="en-US" b="1" dirty="0" err="1"/>
              <a:t>sản</a:t>
            </a:r>
            <a:r>
              <a:rPr lang="en-US" b="1" dirty="0"/>
              <a:t> </a:t>
            </a:r>
            <a:r>
              <a:rPr lang="en-US" b="1" dirty="0" err="1"/>
              <a:t>cố</a:t>
            </a:r>
            <a:r>
              <a:rPr lang="en-US" b="1" dirty="0"/>
              <a:t> </a:t>
            </a:r>
            <a:r>
              <a:rPr lang="en-US" b="1" dirty="0" err="1"/>
              <a:t>định</a:t>
            </a:r>
            <a:endParaRPr lang="en-US" dirty="0"/>
          </a:p>
        </p:txBody>
      </p:sp>
      <p:sp>
        <p:nvSpPr>
          <p:cNvPr id="3" name="Content Placeholder 2"/>
          <p:cNvSpPr>
            <a:spLocks noGrp="1"/>
          </p:cNvSpPr>
          <p:nvPr>
            <p:ph idx="1"/>
          </p:nvPr>
        </p:nvSpPr>
        <p:spPr/>
        <p:txBody>
          <a:bodyPr>
            <a:normAutofit/>
          </a:bodyPr>
          <a:lstStyle/>
          <a:p>
            <a:pPr>
              <a:lnSpc>
                <a:spcPct val="150000"/>
              </a:lnSpc>
            </a:pPr>
            <a:r>
              <a:rPr lang="en-US" sz="2800" dirty="0" smtClean="0"/>
              <a:t>1</a:t>
            </a:r>
            <a:r>
              <a:rPr lang="en-US" sz="2800" dirty="0"/>
              <a:t>. </a:t>
            </a:r>
            <a:r>
              <a:rPr lang="en-US" sz="2800" dirty="0" err="1"/>
              <a:t>Khái</a:t>
            </a:r>
            <a:r>
              <a:rPr lang="en-US" sz="2800" dirty="0"/>
              <a:t> </a:t>
            </a:r>
            <a:r>
              <a:rPr lang="en-US" sz="2800" dirty="0" err="1"/>
              <a:t>niệm</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dirty="0" smtClean="0"/>
              <a:t>2</a:t>
            </a:r>
            <a:r>
              <a:rPr lang="en-US" sz="2800" dirty="0"/>
              <a:t>. </a:t>
            </a:r>
            <a:r>
              <a:rPr lang="en-US" sz="2800" dirty="0" err="1"/>
              <a:t>Phân</a:t>
            </a:r>
            <a:r>
              <a:rPr lang="en-US" sz="2800" dirty="0"/>
              <a:t> </a:t>
            </a:r>
            <a:r>
              <a:rPr lang="en-US" sz="2800" dirty="0" err="1"/>
              <a:t>loại</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b="1" dirty="0" smtClean="0"/>
              <a:t>3</a:t>
            </a:r>
            <a:r>
              <a:rPr lang="en-US" sz="2800" b="1" dirty="0"/>
              <a:t>. </a:t>
            </a:r>
            <a:r>
              <a:rPr lang="en-US" sz="2800" b="1" dirty="0" err="1"/>
              <a:t>Khái</a:t>
            </a:r>
            <a:r>
              <a:rPr lang="en-US" sz="2800" b="1" dirty="0"/>
              <a:t> </a:t>
            </a:r>
            <a:r>
              <a:rPr lang="en-US" sz="2800" b="1" dirty="0" err="1"/>
              <a:t>niệm</a:t>
            </a:r>
            <a:r>
              <a:rPr lang="en-US" sz="2800" b="1" dirty="0"/>
              <a:t> </a:t>
            </a:r>
            <a:r>
              <a:rPr lang="en-US" sz="2800" b="1" dirty="0" err="1"/>
              <a:t>và</a:t>
            </a:r>
            <a:r>
              <a:rPr lang="en-US" sz="2800" b="1" dirty="0"/>
              <a:t> ý </a:t>
            </a:r>
            <a:r>
              <a:rPr lang="en-US" sz="2800" b="1" dirty="0" err="1"/>
              <a:t>nghĩa</a:t>
            </a:r>
            <a:r>
              <a:rPr lang="en-US" sz="2800" b="1" dirty="0"/>
              <a:t> </a:t>
            </a:r>
            <a:r>
              <a:rPr lang="en-US" sz="2800" b="1" dirty="0" err="1"/>
              <a:t>của</a:t>
            </a:r>
            <a:r>
              <a:rPr lang="en-US" sz="2800" b="1" dirty="0"/>
              <a:t> </a:t>
            </a:r>
            <a:r>
              <a:rPr lang="en-US" sz="2800" b="1" dirty="0" err="1"/>
              <a:t>khấu</a:t>
            </a:r>
            <a:r>
              <a:rPr lang="en-US" sz="2800" b="1" dirty="0"/>
              <a:t> </a:t>
            </a:r>
            <a:r>
              <a:rPr lang="en-US" sz="2800" b="1" dirty="0" err="1"/>
              <a:t>hao</a:t>
            </a:r>
            <a:r>
              <a:rPr lang="en-US" sz="2800" b="1" dirty="0"/>
              <a:t> </a:t>
            </a:r>
            <a:r>
              <a:rPr lang="en-US" sz="2800" b="1" dirty="0" err="1"/>
              <a:t>tài</a:t>
            </a:r>
            <a:r>
              <a:rPr lang="en-US" sz="2800" b="1" dirty="0"/>
              <a:t> </a:t>
            </a:r>
            <a:r>
              <a:rPr lang="en-US" sz="2800" b="1" dirty="0" err="1"/>
              <a:t>sản</a:t>
            </a:r>
            <a:r>
              <a:rPr lang="en-US" sz="2800" b="1" dirty="0"/>
              <a:t> </a:t>
            </a:r>
            <a:r>
              <a:rPr lang="en-US" sz="2800" b="1" dirty="0" err="1"/>
              <a:t>cố</a:t>
            </a:r>
            <a:r>
              <a:rPr lang="en-US" sz="2800" b="1" dirty="0"/>
              <a:t> </a:t>
            </a:r>
            <a:r>
              <a:rPr lang="en-US" sz="2800" b="1" dirty="0" err="1"/>
              <a:t>định</a:t>
            </a:r>
            <a:r>
              <a:rPr lang="en-US" sz="2800" b="1" dirty="0"/>
              <a:t/>
            </a:r>
            <a:br>
              <a:rPr lang="en-US" sz="2800" b="1" dirty="0"/>
            </a:br>
            <a:r>
              <a:rPr lang="en-US" sz="2800" dirty="0" smtClean="0"/>
              <a:t>4</a:t>
            </a:r>
            <a:r>
              <a:rPr lang="en-US" sz="2800" dirty="0"/>
              <a:t>. </a:t>
            </a:r>
            <a:r>
              <a:rPr lang="en-US" sz="2800" dirty="0" err="1"/>
              <a:t>Các</a:t>
            </a:r>
            <a:r>
              <a:rPr lang="en-US" sz="2800" dirty="0"/>
              <a:t> </a:t>
            </a:r>
            <a:r>
              <a:rPr lang="en-US" sz="2800" dirty="0" err="1"/>
              <a:t>phương</a:t>
            </a:r>
            <a:r>
              <a:rPr lang="en-US" sz="2800" dirty="0"/>
              <a:t> </a:t>
            </a:r>
            <a:r>
              <a:rPr lang="en-US" sz="2800" dirty="0" err="1"/>
              <a:t>pháp</a:t>
            </a:r>
            <a:r>
              <a:rPr lang="en-US" sz="2800" dirty="0"/>
              <a:t> </a:t>
            </a:r>
            <a:r>
              <a:rPr lang="en-US" sz="2800" dirty="0" err="1"/>
              <a:t>tính</a:t>
            </a:r>
            <a:r>
              <a:rPr lang="en-US" sz="2800" dirty="0"/>
              <a:t> </a:t>
            </a:r>
            <a:r>
              <a:rPr lang="en-US" sz="2800" dirty="0" err="1"/>
              <a:t>khấu</a:t>
            </a:r>
            <a:r>
              <a:rPr lang="en-US" sz="2800" dirty="0"/>
              <a:t> </a:t>
            </a:r>
            <a:r>
              <a:rPr lang="en-US" sz="2800" dirty="0" err="1"/>
              <a:t>hao</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endParaRPr lang="en-US" sz="2800" dirty="0"/>
          </a:p>
        </p:txBody>
      </p:sp>
      <p:sp>
        <p:nvSpPr>
          <p:cNvPr id="4" name="Date Placeholder 3"/>
          <p:cNvSpPr>
            <a:spLocks noGrp="1"/>
          </p:cNvSpPr>
          <p:nvPr>
            <p:ph type="dt" sz="half" idx="10"/>
          </p:nvPr>
        </p:nvSpPr>
        <p:spPr/>
        <p:txBody>
          <a:bodyPr/>
          <a:lstStyle/>
          <a:p>
            <a:fld id="{274937A4-1FE1-4A7C-99BB-6DE7DF746E75}"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6</a:t>
            </a:fld>
            <a:endParaRPr lang="en-US"/>
          </a:p>
        </p:txBody>
      </p:sp>
    </p:spTree>
    <p:extLst>
      <p:ext uri="{BB962C8B-B14F-4D97-AF65-F5344CB8AC3E}">
        <p14:creationId xmlns:p14="http://schemas.microsoft.com/office/powerpoint/2010/main" val="40161014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spc="0" dirty="0">
                <a:solidFill>
                  <a:srgbClr val="000000">
                    <a:lumMod val="75000"/>
                    <a:lumOff val="25000"/>
                  </a:srgbClr>
                </a:solidFill>
                <a:latin typeface="Calibri" panose="020F0502020204030204"/>
                <a:ea typeface="+mn-ea"/>
                <a:cs typeface="+mn-cs"/>
              </a:rPr>
              <a:t>3. </a:t>
            </a:r>
            <a:r>
              <a:rPr lang="en-US" sz="2800" b="1" spc="0" dirty="0" err="1">
                <a:solidFill>
                  <a:srgbClr val="000000">
                    <a:lumMod val="75000"/>
                    <a:lumOff val="25000"/>
                  </a:srgbClr>
                </a:solidFill>
                <a:latin typeface="Calibri" panose="020F0502020204030204"/>
                <a:ea typeface="+mn-ea"/>
                <a:cs typeface="+mn-cs"/>
              </a:rPr>
              <a:t>Khái</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niệm</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và</a:t>
            </a:r>
            <a:r>
              <a:rPr lang="en-US" sz="2800" b="1" spc="0" dirty="0">
                <a:solidFill>
                  <a:srgbClr val="000000">
                    <a:lumMod val="75000"/>
                    <a:lumOff val="25000"/>
                  </a:srgbClr>
                </a:solidFill>
                <a:latin typeface="Calibri" panose="020F0502020204030204"/>
                <a:ea typeface="+mn-ea"/>
                <a:cs typeface="+mn-cs"/>
              </a:rPr>
              <a:t> ý </a:t>
            </a:r>
            <a:r>
              <a:rPr lang="en-US" sz="2800" b="1" spc="0" dirty="0" err="1">
                <a:solidFill>
                  <a:srgbClr val="000000">
                    <a:lumMod val="75000"/>
                    <a:lumOff val="25000"/>
                  </a:srgbClr>
                </a:solidFill>
                <a:latin typeface="Calibri" panose="020F0502020204030204"/>
                <a:ea typeface="+mn-ea"/>
                <a:cs typeface="+mn-cs"/>
              </a:rPr>
              <a:t>nghĩa</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của</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khấu</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hao</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tài</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sản</a:t>
            </a:r>
            <a:r>
              <a:rPr lang="en-US" sz="2800" b="1" spc="0" dirty="0">
                <a:solidFill>
                  <a:srgbClr val="000000">
                    <a:lumMod val="75000"/>
                    <a:lumOff val="25000"/>
                  </a:srgbClr>
                </a:solidFill>
                <a:latin typeface="Calibri" panose="020F0502020204030204"/>
                <a:ea typeface="+mn-ea"/>
                <a:cs typeface="+mn-cs"/>
              </a:rPr>
              <a:t> </a:t>
            </a:r>
            <a:r>
              <a:rPr lang="en-US" sz="2800" b="1" spc="0" dirty="0" err="1">
                <a:solidFill>
                  <a:srgbClr val="000000">
                    <a:lumMod val="75000"/>
                    <a:lumOff val="25000"/>
                  </a:srgbClr>
                </a:solidFill>
                <a:latin typeface="Calibri" panose="020F0502020204030204"/>
                <a:ea typeface="+mn-ea"/>
                <a:cs typeface="+mn-cs"/>
              </a:rPr>
              <a:t>cố</a:t>
            </a:r>
            <a:r>
              <a:rPr lang="en-US" sz="2800" b="1" spc="0" dirty="0">
                <a:solidFill>
                  <a:srgbClr val="000000">
                    <a:lumMod val="75000"/>
                    <a:lumOff val="25000"/>
                  </a:srgbClr>
                </a:solidFill>
                <a:latin typeface="Calibri" panose="020F0502020204030204"/>
                <a:ea typeface="+mn-ea"/>
                <a:cs typeface="+mn-cs"/>
              </a:rPr>
              <a:t> </a:t>
            </a:r>
            <a:r>
              <a:rPr lang="en-US" sz="2800" b="1" spc="0" dirty="0" err="1" smtClean="0">
                <a:solidFill>
                  <a:srgbClr val="000000">
                    <a:lumMod val="75000"/>
                    <a:lumOff val="25000"/>
                  </a:srgbClr>
                </a:solidFill>
                <a:latin typeface="Calibri" panose="020F0502020204030204"/>
                <a:ea typeface="+mn-ea"/>
                <a:cs typeface="+mn-cs"/>
              </a:rPr>
              <a:t>định</a:t>
            </a:r>
            <a:r>
              <a:rPr lang="en-US" sz="2800" b="1" spc="0" dirty="0" smtClean="0">
                <a:solidFill>
                  <a:srgbClr val="000000">
                    <a:lumMod val="75000"/>
                    <a:lumOff val="25000"/>
                  </a:srgbClr>
                </a:solidFill>
                <a:latin typeface="Calibri" panose="020F0502020204030204"/>
                <a:ea typeface="+mn-ea"/>
                <a:cs typeface="+mn-cs"/>
              </a:rPr>
              <a:t/>
            </a:r>
            <a:br>
              <a:rPr lang="en-US" sz="2800" b="1" spc="0" dirty="0" smtClean="0">
                <a:solidFill>
                  <a:srgbClr val="000000">
                    <a:lumMod val="75000"/>
                    <a:lumOff val="25000"/>
                  </a:srgbClr>
                </a:solidFill>
                <a:latin typeface="Calibri" panose="020F0502020204030204"/>
                <a:ea typeface="+mn-ea"/>
                <a:cs typeface="+mn-cs"/>
              </a:rPr>
            </a:br>
            <a:endParaRPr lang="en-US" dirty="0"/>
          </a:p>
        </p:txBody>
      </p:sp>
      <p:sp>
        <p:nvSpPr>
          <p:cNvPr id="3" name="Content Placeholder 2"/>
          <p:cNvSpPr>
            <a:spLocks noGrp="1"/>
          </p:cNvSpPr>
          <p:nvPr>
            <p:ph idx="1"/>
          </p:nvPr>
        </p:nvSpPr>
        <p:spPr/>
        <p:txBody>
          <a:bodyPr>
            <a:normAutofit lnSpcReduction="10000"/>
          </a:bodyPr>
          <a:lstStyle/>
          <a:p>
            <a:r>
              <a:rPr lang="nb-NO" sz="2400" i="1" dirty="0"/>
              <a:t>a. Khái niệm khấu hao tài sản cố định</a:t>
            </a:r>
            <a:endParaRPr lang="en-US" sz="2400" dirty="0"/>
          </a:p>
          <a:p>
            <a:r>
              <a:rPr lang="nb-NO" sz="2400" dirty="0"/>
              <a:t>Khấu hao tài sản cố định là việc tính toán và phân bổ một cách có hệ thống nguyên giá hoặc nguyên giá được đánh giá lại của tài sản cố định vào chi phí sản xuất, kinh doanh trong thời gian sử dụng của tài sản cố định.</a:t>
            </a:r>
            <a:endParaRPr lang="en-US" sz="2400" dirty="0"/>
          </a:p>
          <a:p>
            <a:r>
              <a:rPr lang="nb-NO" sz="2400" i="1" dirty="0"/>
              <a:t>b. </a:t>
            </a:r>
            <a:r>
              <a:rPr lang="nb-NO" sz="2400" i="1" dirty="0" smtClean="0"/>
              <a:t>Ý nghĩa của </a:t>
            </a:r>
            <a:r>
              <a:rPr lang="nb-NO" sz="2400" i="1" dirty="0"/>
              <a:t>khấu hao tài sản cố định </a:t>
            </a:r>
            <a:r>
              <a:rPr lang="en-US" sz="2400" i="1" dirty="0" smtClean="0"/>
              <a:t> </a:t>
            </a:r>
            <a:endParaRPr lang="en-US" sz="2400" dirty="0"/>
          </a:p>
          <a:p>
            <a:r>
              <a:rPr lang="nb-NO" sz="2400" dirty="0"/>
              <a:t>Khấu hao tài sản cố định là sự chuyển dần giá trị của TSCĐ vào chi phí sản xuất sản phẩm mà nó làm ra để khi tài sản đó không còn sử dụng được nữa (tức là bị thải loại ra khỏi sản xuất) thì ta có thể thu được vốn đầu tư mua sắm ban đầu TSCĐ đó.</a:t>
            </a:r>
            <a:endParaRPr lang="en-US" sz="2400" dirty="0"/>
          </a:p>
          <a:p>
            <a:endParaRPr lang="en-US" dirty="0"/>
          </a:p>
        </p:txBody>
      </p:sp>
      <p:sp>
        <p:nvSpPr>
          <p:cNvPr id="4" name="Date Placeholder 3"/>
          <p:cNvSpPr>
            <a:spLocks noGrp="1"/>
          </p:cNvSpPr>
          <p:nvPr>
            <p:ph type="dt" sz="half" idx="10"/>
          </p:nvPr>
        </p:nvSpPr>
        <p:spPr/>
        <p:txBody>
          <a:bodyPr/>
          <a:lstStyle/>
          <a:p>
            <a:fld id="{4DF3B46B-0453-4C94-ADE3-0729BEEB3661}"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7</a:t>
            </a:fld>
            <a:endParaRPr lang="en-US"/>
          </a:p>
        </p:txBody>
      </p:sp>
    </p:spTree>
    <p:extLst>
      <p:ext uri="{BB962C8B-B14F-4D97-AF65-F5344CB8AC3E}">
        <p14:creationId xmlns:p14="http://schemas.microsoft.com/office/powerpoint/2010/main" val="10407163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Chương 4: </a:t>
            </a:r>
            <a:r>
              <a:rPr lang="en-US" b="1" dirty="0" err="1"/>
              <a:t>Khấu</a:t>
            </a:r>
            <a:r>
              <a:rPr lang="en-US" b="1" dirty="0"/>
              <a:t> </a:t>
            </a:r>
            <a:r>
              <a:rPr lang="en-US" b="1" dirty="0" err="1"/>
              <a:t>hao</a:t>
            </a:r>
            <a:r>
              <a:rPr lang="en-US" b="1" dirty="0"/>
              <a:t> </a:t>
            </a:r>
            <a:r>
              <a:rPr lang="en-US" b="1" dirty="0" err="1"/>
              <a:t>tài</a:t>
            </a:r>
            <a:r>
              <a:rPr lang="en-US" b="1" dirty="0"/>
              <a:t> </a:t>
            </a:r>
            <a:r>
              <a:rPr lang="en-US" b="1" dirty="0" err="1"/>
              <a:t>sản</a:t>
            </a:r>
            <a:r>
              <a:rPr lang="en-US" b="1" dirty="0"/>
              <a:t> </a:t>
            </a:r>
            <a:r>
              <a:rPr lang="en-US" b="1" dirty="0" err="1"/>
              <a:t>cố</a:t>
            </a:r>
            <a:r>
              <a:rPr lang="en-US" b="1" dirty="0"/>
              <a:t> </a:t>
            </a:r>
            <a:r>
              <a:rPr lang="en-US" b="1" dirty="0" err="1"/>
              <a:t>định</a:t>
            </a:r>
            <a:endParaRPr lang="en-US" dirty="0"/>
          </a:p>
        </p:txBody>
      </p:sp>
      <p:sp>
        <p:nvSpPr>
          <p:cNvPr id="3" name="Content Placeholder 2"/>
          <p:cNvSpPr>
            <a:spLocks noGrp="1"/>
          </p:cNvSpPr>
          <p:nvPr>
            <p:ph idx="1"/>
          </p:nvPr>
        </p:nvSpPr>
        <p:spPr/>
        <p:txBody>
          <a:bodyPr>
            <a:normAutofit/>
          </a:bodyPr>
          <a:lstStyle/>
          <a:p>
            <a:pPr>
              <a:lnSpc>
                <a:spcPct val="150000"/>
              </a:lnSpc>
            </a:pPr>
            <a:r>
              <a:rPr lang="en-US" sz="2800" dirty="0" smtClean="0"/>
              <a:t>1</a:t>
            </a:r>
            <a:r>
              <a:rPr lang="en-US" sz="2800" dirty="0"/>
              <a:t>. </a:t>
            </a:r>
            <a:r>
              <a:rPr lang="en-US" sz="2800" dirty="0" err="1"/>
              <a:t>Khái</a:t>
            </a:r>
            <a:r>
              <a:rPr lang="en-US" sz="2800" dirty="0"/>
              <a:t> </a:t>
            </a:r>
            <a:r>
              <a:rPr lang="en-US" sz="2800" dirty="0" err="1"/>
              <a:t>niệm</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dirty="0" smtClean="0"/>
              <a:t>2</a:t>
            </a:r>
            <a:r>
              <a:rPr lang="en-US" sz="2800" dirty="0"/>
              <a:t>. </a:t>
            </a:r>
            <a:r>
              <a:rPr lang="en-US" sz="2800" dirty="0" err="1"/>
              <a:t>Phân</a:t>
            </a:r>
            <a:r>
              <a:rPr lang="en-US" sz="2800" dirty="0"/>
              <a:t> </a:t>
            </a:r>
            <a:r>
              <a:rPr lang="en-US" sz="2800" dirty="0" err="1"/>
              <a:t>loại</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dirty="0"/>
              <a:t/>
            </a:r>
            <a:br>
              <a:rPr lang="en-US" sz="2800" dirty="0"/>
            </a:br>
            <a:r>
              <a:rPr lang="en-US" sz="2800" dirty="0" smtClean="0"/>
              <a:t>3</a:t>
            </a:r>
            <a:r>
              <a:rPr lang="en-US" sz="2800" dirty="0"/>
              <a:t>. </a:t>
            </a:r>
            <a:r>
              <a:rPr lang="en-US" sz="2800" dirty="0" err="1"/>
              <a:t>Khái</a:t>
            </a:r>
            <a:r>
              <a:rPr lang="en-US" sz="2800" dirty="0"/>
              <a:t> </a:t>
            </a:r>
            <a:r>
              <a:rPr lang="en-US" sz="2800" dirty="0" err="1"/>
              <a:t>niệm</a:t>
            </a:r>
            <a:r>
              <a:rPr lang="en-US" sz="2800" dirty="0"/>
              <a:t> </a:t>
            </a:r>
            <a:r>
              <a:rPr lang="en-US" sz="2800" dirty="0" err="1"/>
              <a:t>và</a:t>
            </a:r>
            <a:r>
              <a:rPr lang="en-US" sz="2800" dirty="0"/>
              <a:t> ý </a:t>
            </a:r>
            <a:r>
              <a:rPr lang="en-US" sz="2800" dirty="0" err="1"/>
              <a:t>nghĩa</a:t>
            </a:r>
            <a:r>
              <a:rPr lang="en-US" sz="2800" dirty="0"/>
              <a:t> </a:t>
            </a:r>
            <a:r>
              <a:rPr lang="en-US" sz="2800" dirty="0" err="1"/>
              <a:t>của</a:t>
            </a:r>
            <a:r>
              <a:rPr lang="en-US" sz="2800" dirty="0"/>
              <a:t> </a:t>
            </a:r>
            <a:r>
              <a:rPr lang="en-US" sz="2800" dirty="0" err="1"/>
              <a:t>khấu</a:t>
            </a:r>
            <a:r>
              <a:rPr lang="en-US" sz="2800" dirty="0"/>
              <a:t> </a:t>
            </a:r>
            <a:r>
              <a:rPr lang="en-US" sz="2800" dirty="0" err="1"/>
              <a:t>hao</a:t>
            </a:r>
            <a:r>
              <a:rPr lang="en-US" sz="2800" dirty="0"/>
              <a:t> </a:t>
            </a:r>
            <a:r>
              <a:rPr lang="en-US" sz="2800" dirty="0" err="1"/>
              <a:t>tài</a:t>
            </a:r>
            <a:r>
              <a:rPr lang="en-US" sz="2800" dirty="0"/>
              <a:t> </a:t>
            </a:r>
            <a:r>
              <a:rPr lang="en-US" sz="2800" dirty="0" err="1"/>
              <a:t>sản</a:t>
            </a:r>
            <a:r>
              <a:rPr lang="en-US" sz="2800" dirty="0"/>
              <a:t> </a:t>
            </a:r>
            <a:r>
              <a:rPr lang="en-US" sz="2800" dirty="0" err="1"/>
              <a:t>cố</a:t>
            </a:r>
            <a:r>
              <a:rPr lang="en-US" sz="2800" dirty="0"/>
              <a:t> </a:t>
            </a:r>
            <a:r>
              <a:rPr lang="en-US" sz="2800" dirty="0" err="1"/>
              <a:t>định</a:t>
            </a:r>
            <a:r>
              <a:rPr lang="en-US" sz="2800" b="1" dirty="0"/>
              <a:t/>
            </a:r>
            <a:br>
              <a:rPr lang="en-US" sz="2800" b="1" dirty="0"/>
            </a:br>
            <a:r>
              <a:rPr lang="en-US" sz="2800" b="1" dirty="0" smtClean="0"/>
              <a:t>4</a:t>
            </a:r>
            <a:r>
              <a:rPr lang="en-US" sz="2800" b="1" dirty="0"/>
              <a:t>. </a:t>
            </a:r>
            <a:r>
              <a:rPr lang="en-US" sz="2800" b="1" dirty="0" err="1"/>
              <a:t>Các</a:t>
            </a:r>
            <a:r>
              <a:rPr lang="en-US" sz="2800" b="1" dirty="0"/>
              <a:t> </a:t>
            </a:r>
            <a:r>
              <a:rPr lang="en-US" sz="2800" b="1" dirty="0" err="1"/>
              <a:t>phương</a:t>
            </a:r>
            <a:r>
              <a:rPr lang="en-US" sz="2800" b="1" dirty="0"/>
              <a:t> </a:t>
            </a:r>
            <a:r>
              <a:rPr lang="en-US" sz="2800" b="1" dirty="0" err="1"/>
              <a:t>pháp</a:t>
            </a:r>
            <a:r>
              <a:rPr lang="en-US" sz="2800" b="1" dirty="0"/>
              <a:t> </a:t>
            </a:r>
            <a:r>
              <a:rPr lang="en-US" sz="2800" b="1" dirty="0" err="1"/>
              <a:t>tính</a:t>
            </a:r>
            <a:r>
              <a:rPr lang="en-US" sz="2800" b="1" dirty="0"/>
              <a:t> </a:t>
            </a:r>
            <a:r>
              <a:rPr lang="en-US" sz="2800" b="1" dirty="0" err="1"/>
              <a:t>khấu</a:t>
            </a:r>
            <a:r>
              <a:rPr lang="en-US" sz="2800" b="1" dirty="0"/>
              <a:t> </a:t>
            </a:r>
            <a:r>
              <a:rPr lang="en-US" sz="2800" b="1" dirty="0" err="1"/>
              <a:t>hao</a:t>
            </a:r>
            <a:r>
              <a:rPr lang="en-US" sz="2800" b="1" dirty="0"/>
              <a:t> </a:t>
            </a:r>
            <a:r>
              <a:rPr lang="en-US" sz="2800" b="1" dirty="0" err="1"/>
              <a:t>tài</a:t>
            </a:r>
            <a:r>
              <a:rPr lang="en-US" sz="2800" b="1" dirty="0"/>
              <a:t> </a:t>
            </a:r>
            <a:r>
              <a:rPr lang="en-US" sz="2800" b="1" dirty="0" err="1"/>
              <a:t>sản</a:t>
            </a:r>
            <a:r>
              <a:rPr lang="en-US" sz="2800" b="1" dirty="0"/>
              <a:t> </a:t>
            </a:r>
            <a:r>
              <a:rPr lang="en-US" sz="2800" b="1" dirty="0" err="1"/>
              <a:t>cố</a:t>
            </a:r>
            <a:r>
              <a:rPr lang="en-US" sz="2800" b="1" dirty="0"/>
              <a:t> </a:t>
            </a:r>
            <a:r>
              <a:rPr lang="en-US" sz="2800" b="1" dirty="0" err="1"/>
              <a:t>định</a:t>
            </a:r>
            <a:r>
              <a:rPr lang="en-US" sz="2800" b="1" dirty="0"/>
              <a:t/>
            </a:r>
            <a:br>
              <a:rPr lang="en-US" sz="2800" b="1" dirty="0"/>
            </a:br>
            <a:endParaRPr lang="en-US" sz="2800" b="1" dirty="0"/>
          </a:p>
        </p:txBody>
      </p:sp>
      <p:sp>
        <p:nvSpPr>
          <p:cNvPr id="4" name="Date Placeholder 3"/>
          <p:cNvSpPr>
            <a:spLocks noGrp="1"/>
          </p:cNvSpPr>
          <p:nvPr>
            <p:ph type="dt" sz="half" idx="10"/>
          </p:nvPr>
        </p:nvSpPr>
        <p:spPr/>
        <p:txBody>
          <a:bodyPr/>
          <a:lstStyle/>
          <a:p>
            <a:fld id="{FF7162CE-D0D7-4F53-B9C3-0989B3FE3C3C}"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8</a:t>
            </a:fld>
            <a:endParaRPr lang="en-US"/>
          </a:p>
        </p:txBody>
      </p:sp>
    </p:spTree>
    <p:extLst>
      <p:ext uri="{BB962C8B-B14F-4D97-AF65-F5344CB8AC3E}">
        <p14:creationId xmlns:p14="http://schemas.microsoft.com/office/powerpoint/2010/main" val="559618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4. </a:t>
            </a:r>
            <a:r>
              <a:rPr lang="en-US" sz="3600" b="1" dirty="0" err="1"/>
              <a:t>Các</a:t>
            </a:r>
            <a:r>
              <a:rPr lang="en-US" sz="3600" b="1" dirty="0"/>
              <a:t> </a:t>
            </a:r>
            <a:r>
              <a:rPr lang="en-US" sz="3600" b="1" dirty="0" err="1"/>
              <a:t>phương</a:t>
            </a:r>
            <a:r>
              <a:rPr lang="en-US" sz="3600" b="1" dirty="0"/>
              <a:t> </a:t>
            </a:r>
            <a:r>
              <a:rPr lang="en-US" sz="3600" b="1" dirty="0" err="1"/>
              <a:t>pháp</a:t>
            </a:r>
            <a:r>
              <a:rPr lang="en-US" sz="3600" b="1" dirty="0"/>
              <a:t> </a:t>
            </a:r>
            <a:r>
              <a:rPr lang="en-US" sz="3600" b="1" dirty="0" err="1"/>
              <a:t>tính</a:t>
            </a:r>
            <a:r>
              <a:rPr lang="en-US" sz="3600" b="1" dirty="0"/>
              <a:t> </a:t>
            </a:r>
            <a:r>
              <a:rPr lang="en-US" sz="3600" b="1" dirty="0" err="1"/>
              <a:t>khấu</a:t>
            </a:r>
            <a:r>
              <a:rPr lang="en-US" sz="3600" b="1" dirty="0"/>
              <a:t> </a:t>
            </a:r>
            <a:r>
              <a:rPr lang="en-US" sz="3600" b="1" dirty="0" err="1"/>
              <a:t>hao</a:t>
            </a:r>
            <a:r>
              <a:rPr lang="en-US" sz="3600" b="1" dirty="0"/>
              <a:t> </a:t>
            </a:r>
            <a:r>
              <a:rPr lang="en-US" sz="3600" b="1" dirty="0" err="1"/>
              <a:t>tài</a:t>
            </a:r>
            <a:r>
              <a:rPr lang="en-US" sz="3600" b="1" dirty="0"/>
              <a:t> </a:t>
            </a:r>
            <a:r>
              <a:rPr lang="en-US" sz="3600" b="1" dirty="0" err="1"/>
              <a:t>sản</a:t>
            </a:r>
            <a:r>
              <a:rPr lang="en-US" sz="3600" b="1" dirty="0"/>
              <a:t> </a:t>
            </a:r>
            <a:r>
              <a:rPr lang="en-US" sz="3600" b="1" dirty="0" err="1"/>
              <a:t>cố</a:t>
            </a:r>
            <a:r>
              <a:rPr lang="en-US" sz="3600" b="1" dirty="0"/>
              <a:t> </a:t>
            </a:r>
            <a:r>
              <a:rPr lang="en-US" sz="3600" b="1" dirty="0" err="1" smtClean="0"/>
              <a:t>định</a:t>
            </a:r>
            <a:endParaRPr lang="en-US" sz="3600" dirty="0"/>
          </a:p>
        </p:txBody>
      </p:sp>
      <p:sp>
        <p:nvSpPr>
          <p:cNvPr id="3" name="Content Placeholder 2"/>
          <p:cNvSpPr>
            <a:spLocks noGrp="1"/>
          </p:cNvSpPr>
          <p:nvPr>
            <p:ph idx="1"/>
          </p:nvPr>
        </p:nvSpPr>
        <p:spPr/>
        <p:txBody>
          <a:bodyPr/>
          <a:lstStyle/>
          <a:p>
            <a:pPr>
              <a:lnSpc>
                <a:spcPct val="150000"/>
              </a:lnSpc>
              <a:spcBef>
                <a:spcPts val="0"/>
              </a:spcBef>
            </a:pPr>
            <a:r>
              <a:rPr lang="en-US" sz="2400" dirty="0">
                <a:solidFill>
                  <a:srgbClr val="FF0000"/>
                </a:solidFill>
              </a:rPr>
              <a:t>4.1. </a:t>
            </a:r>
            <a:r>
              <a:rPr lang="en-US" sz="2400" dirty="0" err="1">
                <a:solidFill>
                  <a:srgbClr val="FF0000"/>
                </a:solidFill>
              </a:rPr>
              <a:t>Phương</a:t>
            </a:r>
            <a:r>
              <a:rPr lang="en-US" sz="2400" dirty="0">
                <a:solidFill>
                  <a:srgbClr val="FF0000"/>
                </a:solidFill>
              </a:rPr>
              <a:t> </a:t>
            </a:r>
            <a:r>
              <a:rPr lang="en-US" sz="2400" dirty="0" err="1">
                <a:solidFill>
                  <a:srgbClr val="FF0000"/>
                </a:solidFill>
              </a:rPr>
              <a:t>pháp</a:t>
            </a:r>
            <a:r>
              <a:rPr lang="en-US" sz="2400" dirty="0">
                <a:solidFill>
                  <a:srgbClr val="FF0000"/>
                </a:solidFill>
              </a:rPr>
              <a:t> </a:t>
            </a:r>
            <a:r>
              <a:rPr lang="en-US" sz="2400" dirty="0" err="1">
                <a:solidFill>
                  <a:srgbClr val="FF0000"/>
                </a:solidFill>
              </a:rPr>
              <a:t>khấu</a:t>
            </a:r>
            <a:r>
              <a:rPr lang="en-US" sz="2400" dirty="0">
                <a:solidFill>
                  <a:srgbClr val="FF0000"/>
                </a:solidFill>
              </a:rPr>
              <a:t> </a:t>
            </a:r>
            <a:r>
              <a:rPr lang="en-US" sz="2400" dirty="0" err="1">
                <a:solidFill>
                  <a:srgbClr val="FF0000"/>
                </a:solidFill>
              </a:rPr>
              <a:t>hao</a:t>
            </a:r>
            <a:r>
              <a:rPr lang="en-US" sz="2400" dirty="0">
                <a:solidFill>
                  <a:srgbClr val="FF0000"/>
                </a:solidFill>
              </a:rPr>
              <a:t> </a:t>
            </a:r>
            <a:r>
              <a:rPr lang="en-US" sz="2400" dirty="0" err="1">
                <a:solidFill>
                  <a:srgbClr val="FF0000"/>
                </a:solidFill>
              </a:rPr>
              <a:t>đều</a:t>
            </a:r>
            <a:r>
              <a:rPr lang="en-US" sz="2400" dirty="0">
                <a:solidFill>
                  <a:srgbClr val="FF0000"/>
                </a:solidFill>
              </a:rPr>
              <a:t> </a:t>
            </a:r>
            <a:r>
              <a:rPr lang="en-US" sz="2400" dirty="0" err="1">
                <a:solidFill>
                  <a:srgbClr val="FF0000"/>
                </a:solidFill>
              </a:rPr>
              <a:t>theo</a:t>
            </a:r>
            <a:r>
              <a:rPr lang="en-US" sz="2400" dirty="0">
                <a:solidFill>
                  <a:srgbClr val="FF0000"/>
                </a:solidFill>
              </a:rPr>
              <a:t> </a:t>
            </a:r>
            <a:r>
              <a:rPr lang="en-US" sz="2400" dirty="0" err="1">
                <a:solidFill>
                  <a:srgbClr val="FF0000"/>
                </a:solidFill>
              </a:rPr>
              <a:t>thời</a:t>
            </a:r>
            <a:r>
              <a:rPr lang="en-US" sz="2400" dirty="0">
                <a:solidFill>
                  <a:srgbClr val="FF0000"/>
                </a:solidFill>
              </a:rPr>
              <a:t> </a:t>
            </a:r>
            <a:r>
              <a:rPr lang="en-US" sz="2400" dirty="0" err="1">
                <a:solidFill>
                  <a:srgbClr val="FF0000"/>
                </a:solidFill>
              </a:rPr>
              <a:t>gian</a:t>
            </a:r>
            <a:r>
              <a:rPr lang="en-US" sz="2400" dirty="0"/>
              <a:t/>
            </a:r>
            <a:br>
              <a:rPr lang="en-US" sz="2400" dirty="0"/>
            </a:br>
            <a:r>
              <a:rPr lang="en-US" sz="2400" dirty="0"/>
              <a:t>4.2.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smtClean="0"/>
              <a:t>theo</a:t>
            </a:r>
            <a:r>
              <a:rPr lang="en-US" sz="2400" dirty="0" smtClean="0"/>
              <a:t> </a:t>
            </a:r>
            <a:r>
              <a:rPr lang="en-US" sz="2400" dirty="0" err="1" smtClean="0"/>
              <a:t>số</a:t>
            </a:r>
            <a:r>
              <a:rPr lang="en-US" sz="2400" dirty="0" smtClean="0"/>
              <a:t> </a:t>
            </a:r>
            <a:r>
              <a:rPr lang="en-US" sz="2400" dirty="0" err="1" smtClean="0"/>
              <a:t>dư</a:t>
            </a:r>
            <a:r>
              <a:rPr lang="en-US" sz="2400" dirty="0" smtClean="0"/>
              <a:t> </a:t>
            </a:r>
            <a:r>
              <a:rPr lang="en-US" sz="2400" dirty="0" err="1" smtClean="0"/>
              <a:t>giảm</a:t>
            </a:r>
            <a:r>
              <a:rPr lang="en-US" sz="2400" dirty="0" smtClean="0"/>
              <a:t> </a:t>
            </a:r>
            <a:r>
              <a:rPr lang="en-US" sz="2400" dirty="0" err="1" smtClean="0"/>
              <a:t>dần</a:t>
            </a:r>
            <a:r>
              <a:rPr lang="en-US" sz="2400" dirty="0"/>
              <a:t/>
            </a:r>
            <a:br>
              <a:rPr lang="en-US" sz="2400" dirty="0"/>
            </a:br>
            <a:r>
              <a:rPr lang="en-US" sz="2400" dirty="0" smtClean="0"/>
              <a:t>4.3.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số</a:t>
            </a:r>
            <a:r>
              <a:rPr lang="en-US" sz="2400" dirty="0"/>
              <a:t> </a:t>
            </a:r>
            <a:r>
              <a:rPr lang="en-US" sz="2400" dirty="0" err="1"/>
              <a:t>dư</a:t>
            </a:r>
            <a:r>
              <a:rPr lang="en-US" sz="2400" dirty="0"/>
              <a:t> </a:t>
            </a:r>
            <a:r>
              <a:rPr lang="en-US" sz="2400" dirty="0" err="1"/>
              <a:t>giảm</a:t>
            </a:r>
            <a:r>
              <a:rPr lang="en-US" sz="2400" dirty="0"/>
              <a:t> </a:t>
            </a:r>
            <a:r>
              <a:rPr lang="en-US" sz="2400" dirty="0" err="1"/>
              <a:t>dần</a:t>
            </a:r>
            <a:r>
              <a:rPr lang="en-US" sz="2400" dirty="0"/>
              <a:t> </a:t>
            </a:r>
            <a:r>
              <a:rPr lang="en-US" sz="2400" dirty="0" err="1"/>
              <a:t>có</a:t>
            </a:r>
            <a:r>
              <a:rPr lang="en-US" sz="2400" dirty="0"/>
              <a:t> </a:t>
            </a:r>
            <a:r>
              <a:rPr lang="en-US" sz="2400" dirty="0" err="1"/>
              <a:t>điều</a:t>
            </a:r>
            <a:r>
              <a:rPr lang="en-US" sz="2400" dirty="0"/>
              <a:t> </a:t>
            </a:r>
            <a:r>
              <a:rPr lang="en-US" sz="2400" dirty="0" err="1"/>
              <a:t>chỉnh</a:t>
            </a:r>
            <a:r>
              <a:rPr lang="en-US" sz="2400" dirty="0"/>
              <a:t/>
            </a:r>
            <a:br>
              <a:rPr lang="en-US" sz="2400" dirty="0"/>
            </a:br>
            <a:r>
              <a:rPr lang="en-US" sz="2400" dirty="0" smtClean="0"/>
              <a:t>4.4.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tổng</a:t>
            </a:r>
            <a:r>
              <a:rPr lang="en-US" sz="2400" dirty="0"/>
              <a:t> </a:t>
            </a:r>
            <a:r>
              <a:rPr lang="en-US" sz="2400" dirty="0" err="1"/>
              <a:t>số</a:t>
            </a:r>
            <a:r>
              <a:rPr lang="en-US" sz="2400" dirty="0"/>
              <a:t> </a:t>
            </a:r>
            <a:r>
              <a:rPr lang="en-US" sz="2400" dirty="0" err="1"/>
              <a:t>thứ</a:t>
            </a:r>
            <a:r>
              <a:rPr lang="en-US" sz="2400" dirty="0"/>
              <a:t> </a:t>
            </a:r>
            <a:r>
              <a:rPr lang="en-US" sz="2400" dirty="0" err="1"/>
              <a:t>tự</a:t>
            </a:r>
            <a:r>
              <a:rPr lang="en-US" sz="2400" dirty="0"/>
              <a:t> </a:t>
            </a:r>
            <a:r>
              <a:rPr lang="en-US" sz="2400" dirty="0" err="1"/>
              <a:t>thời</a:t>
            </a:r>
            <a:r>
              <a:rPr lang="en-US" sz="2400" dirty="0"/>
              <a:t> </a:t>
            </a:r>
            <a:r>
              <a:rPr lang="en-US" sz="2400" dirty="0" err="1"/>
              <a:t>gian</a:t>
            </a:r>
            <a:r>
              <a:rPr lang="en-US" sz="2400" dirty="0"/>
              <a:t> </a:t>
            </a:r>
            <a:r>
              <a:rPr lang="en-US" sz="2400" dirty="0" err="1"/>
              <a:t>tính</a:t>
            </a:r>
            <a:r>
              <a:rPr lang="en-US" sz="2400" dirty="0"/>
              <a:t> </a:t>
            </a:r>
            <a:r>
              <a:rPr lang="en-US" sz="2400" dirty="0" err="1"/>
              <a:t>khấu</a:t>
            </a:r>
            <a:r>
              <a:rPr lang="en-US" sz="2400" dirty="0"/>
              <a:t> </a:t>
            </a:r>
            <a:r>
              <a:rPr lang="en-US" sz="2400" dirty="0" err="1"/>
              <a:t>hao</a:t>
            </a:r>
            <a:r>
              <a:rPr lang="en-US" sz="2400" dirty="0"/>
              <a:t/>
            </a:r>
            <a:br>
              <a:rPr lang="en-US" sz="2400" dirty="0"/>
            </a:br>
            <a:r>
              <a:rPr lang="en-US" sz="2400" dirty="0" smtClean="0"/>
              <a:t>4.5.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sản</a:t>
            </a:r>
            <a:r>
              <a:rPr lang="en-US" sz="2400" dirty="0"/>
              <a:t> </a:t>
            </a:r>
            <a:r>
              <a:rPr lang="en-US" sz="2400" dirty="0" err="1"/>
              <a:t>lượng</a:t>
            </a:r>
            <a:endParaRPr lang="en-US" sz="2400" dirty="0"/>
          </a:p>
          <a:p>
            <a:endParaRPr lang="en-US" dirty="0"/>
          </a:p>
        </p:txBody>
      </p:sp>
      <p:sp>
        <p:nvSpPr>
          <p:cNvPr id="4" name="Date Placeholder 3"/>
          <p:cNvSpPr>
            <a:spLocks noGrp="1"/>
          </p:cNvSpPr>
          <p:nvPr>
            <p:ph type="dt" sz="half" idx="10"/>
          </p:nvPr>
        </p:nvSpPr>
        <p:spPr/>
        <p:txBody>
          <a:bodyPr/>
          <a:lstStyle/>
          <a:p>
            <a:fld id="{427EC113-9A02-4D6D-B7E7-E43F6F6F8C8F}"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9</a:t>
            </a:fld>
            <a:endParaRPr lang="en-US"/>
          </a:p>
        </p:txBody>
      </p:sp>
    </p:spTree>
    <p:extLst>
      <p:ext uri="{BB962C8B-B14F-4D97-AF65-F5344CB8AC3E}">
        <p14:creationId xmlns:p14="http://schemas.microsoft.com/office/powerpoint/2010/main" val="500204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normAutofit/>
          </a:bodyPr>
          <a:lstStyle/>
          <a:p>
            <a:r>
              <a:rPr lang="en-US" sz="3200" dirty="0"/>
              <a:t>4.1. </a:t>
            </a:r>
            <a:r>
              <a:rPr lang="en-US" sz="3200" dirty="0" err="1"/>
              <a:t>Phương</a:t>
            </a:r>
            <a:r>
              <a:rPr lang="en-US" sz="3200" dirty="0"/>
              <a:t> </a:t>
            </a:r>
            <a:r>
              <a:rPr lang="en-US" sz="3200" dirty="0" err="1"/>
              <a:t>pháp</a:t>
            </a:r>
            <a:r>
              <a:rPr lang="en-US" sz="3200" dirty="0"/>
              <a:t> </a:t>
            </a:r>
            <a:r>
              <a:rPr lang="en-US" sz="3200" dirty="0" err="1"/>
              <a:t>khấu</a:t>
            </a:r>
            <a:r>
              <a:rPr lang="en-US" sz="3200" dirty="0"/>
              <a:t> </a:t>
            </a:r>
            <a:r>
              <a:rPr lang="en-US" sz="3200" dirty="0" err="1"/>
              <a:t>hao</a:t>
            </a:r>
            <a:r>
              <a:rPr lang="en-US" sz="3200" dirty="0"/>
              <a:t> </a:t>
            </a:r>
            <a:r>
              <a:rPr lang="en-US" sz="3200" dirty="0" err="1"/>
              <a:t>đều</a:t>
            </a:r>
            <a:r>
              <a:rPr lang="en-US" sz="3200" dirty="0"/>
              <a:t> </a:t>
            </a:r>
            <a:r>
              <a:rPr lang="en-US" sz="3200" dirty="0" err="1"/>
              <a:t>theo</a:t>
            </a:r>
            <a:r>
              <a:rPr lang="en-US" sz="3200" dirty="0"/>
              <a:t> </a:t>
            </a:r>
            <a:r>
              <a:rPr lang="en-US" sz="3200" dirty="0" err="1"/>
              <a:t>thời</a:t>
            </a:r>
            <a:r>
              <a:rPr lang="en-US" sz="3200" dirty="0"/>
              <a:t> </a:t>
            </a:r>
            <a:r>
              <a:rPr lang="en-US" sz="3200" dirty="0" err="1" smtClean="0"/>
              <a:t>gian</a:t>
            </a:r>
            <a:r>
              <a:rPr lang="en-US" sz="3200" dirty="0" smtClean="0"/>
              <a:t/>
            </a:r>
            <a:br>
              <a:rPr lang="en-US" sz="3200" dirty="0" smtClean="0"/>
            </a:br>
            <a:r>
              <a:rPr lang="en-US" sz="3200" dirty="0" smtClean="0"/>
              <a:t>(</a:t>
            </a:r>
            <a:r>
              <a:rPr lang="en-US" sz="3200" dirty="0" err="1" smtClean="0"/>
              <a:t>khấu</a:t>
            </a:r>
            <a:r>
              <a:rPr lang="en-US" sz="3200" dirty="0" smtClean="0"/>
              <a:t> </a:t>
            </a:r>
            <a:r>
              <a:rPr lang="en-US" sz="3200" dirty="0" err="1" smtClean="0"/>
              <a:t>hao</a:t>
            </a:r>
            <a:r>
              <a:rPr lang="en-US" sz="3200" dirty="0" smtClean="0"/>
              <a:t> </a:t>
            </a:r>
            <a:r>
              <a:rPr lang="en-US" sz="3200" dirty="0" err="1" smtClean="0"/>
              <a:t>tuyến</a:t>
            </a:r>
            <a:r>
              <a:rPr lang="en-US" sz="3200" dirty="0" smtClean="0"/>
              <a:t> </a:t>
            </a:r>
            <a:r>
              <a:rPr lang="en-US" sz="3200" dirty="0" err="1" smtClean="0"/>
              <a:t>tính</a:t>
            </a:r>
            <a:r>
              <a:rPr lang="en-US" sz="3200" dirty="0" smtClean="0"/>
              <a:t>)</a:t>
            </a:r>
            <a:r>
              <a:rPr lang="en-US" sz="3200" dirty="0"/>
              <a:t/>
            </a:r>
            <a:br>
              <a:rPr lang="en-US" sz="3200" dirty="0"/>
            </a:br>
            <a:endParaRPr lang="en-US" altLang="en-US" sz="3200" dirty="0" smtClean="0"/>
          </a:p>
        </p:txBody>
      </p:sp>
      <p:sp>
        <p:nvSpPr>
          <p:cNvPr id="59395" name="Content Placeholder 2"/>
          <p:cNvSpPr>
            <a:spLocks noGrp="1"/>
          </p:cNvSpPr>
          <p:nvPr>
            <p:ph idx="1"/>
          </p:nvPr>
        </p:nvSpPr>
        <p:spPr>
          <a:xfrm>
            <a:off x="609599" y="1828800"/>
            <a:ext cx="7799763" cy="4045458"/>
          </a:xfrm>
        </p:spPr>
        <p:txBody>
          <a:bodyPr/>
          <a:lstStyle/>
          <a:p>
            <a:pPr marL="0" indent="0" algn="just">
              <a:spcBef>
                <a:spcPct val="0"/>
              </a:spcBef>
              <a:buFont typeface="Wingdings" panose="05000000000000000000" pitchFamily="2" charset="2"/>
              <a:buNone/>
            </a:pPr>
            <a:r>
              <a:rPr lang="en-US" altLang="en-US" sz="2400" i="1" dirty="0" smtClean="0">
                <a:solidFill>
                  <a:srgbClr val="FF0000"/>
                </a:solidFill>
                <a:latin typeface="Times New Roman" panose="02020603050405020304" pitchFamily="18" charset="0"/>
                <a:cs typeface="Times New Roman" panose="02020603050405020304" pitchFamily="18" charset="0"/>
              </a:rPr>
              <a:t>  </a:t>
            </a:r>
            <a:endParaRPr lang="en-US" altLang="en-US" sz="2400" dirty="0" smtClean="0">
              <a:solidFill>
                <a:srgbClr val="FF0000"/>
              </a:solidFill>
              <a:latin typeface=".VnTime" panose="020B7200000000000000" pitchFamily="34" charset="0"/>
              <a:cs typeface="Times New Roman" panose="02020603050405020304" pitchFamily="18" charset="0"/>
            </a:endParaRPr>
          </a:p>
          <a:p>
            <a:pPr marL="0" indent="0" algn="just">
              <a:spcBef>
                <a:spcPct val="0"/>
              </a:spcBef>
              <a:buFont typeface="Wingdings" panose="05000000000000000000" pitchFamily="2" charset="2"/>
              <a:buNone/>
            </a:pPr>
            <a:r>
              <a:rPr lang="en-US" altLang="en-US" sz="2400" i="1" dirty="0" smtClean="0">
                <a:latin typeface="Times New Roman" panose="02020603050405020304" pitchFamily="18" charset="0"/>
                <a:cs typeface="Times New Roman" panose="02020603050405020304" pitchFamily="18" charset="0"/>
              </a:rPr>
              <a:t> </a:t>
            </a:r>
            <a:endParaRPr lang="en-US" altLang="en-US" sz="24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buFont typeface="Wingdings" panose="05000000000000000000" pitchFamily="2" charset="2"/>
              <a:buNone/>
            </a:pPr>
            <a:endParaRPr lang="en-US" altLang="en-US" sz="2800" dirty="0" smtClean="0"/>
          </a:p>
          <a:p>
            <a:pPr marL="0" indent="0" algn="just">
              <a:spcBef>
                <a:spcPts val="600"/>
              </a:spcBef>
              <a:spcAft>
                <a:spcPts val="600"/>
              </a:spcAft>
            </a:pPr>
            <a:r>
              <a:rPr lang="en-US" altLang="en-US" sz="2400" dirty="0" smtClean="0">
                <a:latin typeface="Times New Roman" panose="02020603050405020304" pitchFamily="18" charset="0"/>
                <a:cs typeface="Times New Roman" panose="02020603050405020304" pitchFamily="18" charset="0"/>
              </a:rPr>
              <a:t>A - </a:t>
            </a:r>
            <a:r>
              <a:rPr lang="en-US" altLang="en-US" sz="2400" dirty="0" err="1" smtClean="0">
                <a:latin typeface="Times New Roman" panose="02020603050405020304" pitchFamily="18" charset="0"/>
                <a:cs typeface="Times New Roman" panose="02020603050405020304" pitchFamily="18" charset="0"/>
              </a:rPr>
              <a:t>Tổng</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số</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tiền</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phải</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khấu</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hao</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sau</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cả</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đời</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tài</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sản</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cố</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định</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đơn</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vị</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tính</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đồng</a:t>
            </a:r>
            <a:r>
              <a:rPr lang="en-US" altLang="en-US" sz="2400" dirty="0" smtClean="0">
                <a:latin typeface="Times New Roman" panose="02020603050405020304" pitchFamily="18" charset="0"/>
                <a:cs typeface="Times New Roman" panose="02020603050405020304" pitchFamily="18" charset="0"/>
              </a:rPr>
              <a:t>) </a:t>
            </a:r>
            <a:endParaRPr lang="en-US" altLang="en-US" sz="24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r>
              <a:rPr lang="en-US" altLang="en-US" sz="2400" dirty="0" smtClean="0">
                <a:latin typeface="Times New Roman" panose="02020603050405020304" pitchFamily="18" charset="0"/>
                <a:cs typeface="Times New Roman" panose="02020603050405020304" pitchFamily="18" charset="0"/>
              </a:rPr>
              <a:t>A = G</a:t>
            </a:r>
            <a:r>
              <a:rPr lang="en-US" altLang="en-US" sz="2400" baseline="-25000" dirty="0" smtClean="0">
                <a:latin typeface="Times New Roman" panose="02020603050405020304" pitchFamily="18" charset="0"/>
                <a:cs typeface="Times New Roman" panose="02020603050405020304" pitchFamily="18" charset="0"/>
              </a:rPr>
              <a:t>o</a:t>
            </a:r>
            <a:r>
              <a:rPr lang="en-US" altLang="en-US" sz="2400" dirty="0" smtClean="0">
                <a:latin typeface="Times New Roman" panose="02020603050405020304" pitchFamily="18" charset="0"/>
                <a:cs typeface="Times New Roman" panose="02020603050405020304" pitchFamily="18" charset="0"/>
              </a:rPr>
              <a:t> – SV       :  </a:t>
            </a:r>
            <a:r>
              <a:rPr lang="en-US" altLang="en-US" sz="2400" dirty="0" err="1" smtClean="0">
                <a:latin typeface="Times New Roman" panose="02020603050405020304" pitchFamily="18" charset="0"/>
                <a:cs typeface="Times New Roman" panose="02020603050405020304" pitchFamily="18" charset="0"/>
              </a:rPr>
              <a:t>khấu</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hao</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theo</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giá</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trị</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hao</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mòn</a:t>
            </a:r>
            <a:endParaRPr lang="en-US" altLang="en-US" sz="24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r>
              <a:rPr lang="en-US" altLang="en-US" sz="2400" dirty="0" smtClean="0">
                <a:latin typeface="Times New Roman" panose="02020603050405020304" pitchFamily="18" charset="0"/>
                <a:cs typeface="Times New Roman" panose="02020603050405020304" pitchFamily="18" charset="0"/>
              </a:rPr>
              <a:t>A = G</a:t>
            </a:r>
            <a:r>
              <a:rPr lang="en-US" altLang="en-US" sz="2400" baseline="-25000" dirty="0" smtClean="0">
                <a:latin typeface="Times New Roman" panose="02020603050405020304" pitchFamily="18" charset="0"/>
                <a:cs typeface="Times New Roman" panose="02020603050405020304" pitchFamily="18" charset="0"/>
              </a:rPr>
              <a:t>o                         </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khấu</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hao</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theo</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toàn</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bộ</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nguyên</a:t>
            </a:r>
            <a:r>
              <a:rPr lang="en-US" altLang="en-US" sz="2400" dirty="0" smtClean="0">
                <a:latin typeface="Times New Roman" panose="02020603050405020304" pitchFamily="18" charset="0"/>
                <a:cs typeface="Times New Roman" panose="02020603050405020304" pitchFamily="18" charset="0"/>
              </a:rPr>
              <a:t> </a:t>
            </a:r>
            <a:r>
              <a:rPr lang="en-US" altLang="en-US" sz="2400" dirty="0" err="1" smtClean="0">
                <a:latin typeface="Times New Roman" panose="02020603050405020304" pitchFamily="18" charset="0"/>
                <a:cs typeface="Times New Roman" panose="02020603050405020304" pitchFamily="18" charset="0"/>
              </a:rPr>
              <a:t>giá</a:t>
            </a:r>
            <a:endParaRPr lang="en-US" altLang="en-US" sz="2400" dirty="0" smtClean="0">
              <a:latin typeface=".VnTime" panose="020B7200000000000000" pitchFamily="34" charset="0"/>
              <a:cs typeface="Times New Roman" panose="02020603050405020304" pitchFamily="18" charset="0"/>
            </a:endParaRPr>
          </a:p>
          <a:p>
            <a:pPr marL="0" indent="0">
              <a:buFont typeface="Wingdings" panose="05000000000000000000" pitchFamily="2" charset="2"/>
              <a:buNone/>
            </a:pPr>
            <a:endParaRPr lang="en-US" altLang="en-US" sz="2400" b="1" dirty="0" smtClean="0">
              <a:latin typeface="Times New Roman" panose="02020603050405020304" pitchFamily="18" charset="0"/>
              <a:cs typeface="Times New Roman" panose="02020603050405020304" pitchFamily="18" charset="0"/>
            </a:endParaRPr>
          </a:p>
        </p:txBody>
      </p:sp>
      <p:sp>
        <p:nvSpPr>
          <p:cNvPr id="59396" name="Date Placeholder 3"/>
          <p:cNvSpPr>
            <a:spLocks noGrp="1"/>
          </p:cNvSpPr>
          <p:nvPr>
            <p:ph type="dt" sz="quarter" idx="10"/>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AFCF4A6-5732-4F8B-8C42-12F4B8A76C8C}" type="datetime1">
              <a:rPr lang="en-US" altLang="en-US" sz="1200" smtClean="0">
                <a:solidFill>
                  <a:srgbClr val="000000"/>
                </a:solidFill>
              </a:rPr>
              <a:t>2/8/2022</a:t>
            </a:fld>
            <a:endParaRPr lang="en-US" altLang="en-US" sz="1200" smtClean="0">
              <a:solidFill>
                <a:srgbClr val="000000"/>
              </a:solidFill>
            </a:endParaRPr>
          </a:p>
        </p:txBody>
      </p:sp>
      <p:sp>
        <p:nvSpPr>
          <p:cNvPr id="59397" name="Slide Number Placeholder 4"/>
          <p:cNvSpPr>
            <a:spLocks noGrp="1"/>
          </p:cNvSpPr>
          <p:nvPr>
            <p:ph type="sldNum" sz="quarter" idx="12"/>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DA1C1CF-3F6E-4C82-A664-DD62F226043A}" type="slidenum">
              <a:rPr lang="en-US" altLang="en-US" sz="1200" smtClean="0">
                <a:solidFill>
                  <a:srgbClr val="000000"/>
                </a:solidFill>
                <a:latin typeface="Arial Black" panose="020B0A04020102020204" pitchFamily="34" charset="0"/>
              </a:rPr>
              <a:pPr>
                <a:spcBef>
                  <a:spcPct val="0"/>
                </a:spcBef>
                <a:buClrTx/>
                <a:buSzTx/>
                <a:buFontTx/>
                <a:buNone/>
              </a:pPr>
              <a:t>10</a:t>
            </a:fld>
            <a:endParaRPr lang="en-US" altLang="en-US" sz="1200" smtClean="0">
              <a:solidFill>
                <a:srgbClr val="000000"/>
              </a:solidFill>
              <a:latin typeface="Arial Black" panose="020B0A04020102020204" pitchFamily="34" charset="0"/>
            </a:endParaRPr>
          </a:p>
        </p:txBody>
      </p:sp>
      <p:pic>
        <p:nvPicPr>
          <p:cNvPr id="5939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8638" y="2205038"/>
            <a:ext cx="147796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205038"/>
            <a:ext cx="2259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en-US" smtClean="0"/>
              <a:t>GVC.TS Vũ Kim Yến</a:t>
            </a:r>
            <a:endParaRPr lang="en-US"/>
          </a:p>
        </p:txBody>
      </p:sp>
    </p:spTree>
    <p:extLst>
      <p:ext uri="{BB962C8B-B14F-4D97-AF65-F5344CB8AC3E}">
        <p14:creationId xmlns:p14="http://schemas.microsoft.com/office/powerpoint/2010/main" val="29417072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4. </a:t>
            </a:r>
            <a:r>
              <a:rPr lang="en-US" sz="3600" b="1" dirty="0" err="1"/>
              <a:t>Các</a:t>
            </a:r>
            <a:r>
              <a:rPr lang="en-US" sz="3600" b="1" dirty="0"/>
              <a:t> </a:t>
            </a:r>
            <a:r>
              <a:rPr lang="en-US" sz="3600" b="1" dirty="0" err="1"/>
              <a:t>phương</a:t>
            </a:r>
            <a:r>
              <a:rPr lang="en-US" sz="3600" b="1" dirty="0"/>
              <a:t> </a:t>
            </a:r>
            <a:r>
              <a:rPr lang="en-US" sz="3600" b="1" dirty="0" err="1"/>
              <a:t>pháp</a:t>
            </a:r>
            <a:r>
              <a:rPr lang="en-US" sz="3600" b="1" dirty="0"/>
              <a:t> </a:t>
            </a:r>
            <a:r>
              <a:rPr lang="en-US" sz="3600" b="1" dirty="0" err="1"/>
              <a:t>tính</a:t>
            </a:r>
            <a:r>
              <a:rPr lang="en-US" sz="3600" b="1" dirty="0"/>
              <a:t> </a:t>
            </a:r>
            <a:r>
              <a:rPr lang="en-US" sz="3600" b="1" dirty="0" err="1"/>
              <a:t>khấu</a:t>
            </a:r>
            <a:r>
              <a:rPr lang="en-US" sz="3600" b="1" dirty="0"/>
              <a:t> </a:t>
            </a:r>
            <a:r>
              <a:rPr lang="en-US" sz="3600" b="1" dirty="0" err="1"/>
              <a:t>hao</a:t>
            </a:r>
            <a:r>
              <a:rPr lang="en-US" sz="3600" b="1" dirty="0"/>
              <a:t> </a:t>
            </a:r>
            <a:r>
              <a:rPr lang="en-US" sz="3600" b="1" dirty="0" err="1"/>
              <a:t>tài</a:t>
            </a:r>
            <a:r>
              <a:rPr lang="en-US" sz="3600" b="1" dirty="0"/>
              <a:t> </a:t>
            </a:r>
            <a:r>
              <a:rPr lang="en-US" sz="3600" b="1" dirty="0" err="1"/>
              <a:t>sản</a:t>
            </a:r>
            <a:r>
              <a:rPr lang="en-US" sz="3600" b="1" dirty="0"/>
              <a:t> </a:t>
            </a:r>
            <a:r>
              <a:rPr lang="en-US" sz="3600" b="1" dirty="0" err="1"/>
              <a:t>cố</a:t>
            </a:r>
            <a:r>
              <a:rPr lang="en-US" sz="3600" b="1" dirty="0"/>
              <a:t> </a:t>
            </a:r>
            <a:r>
              <a:rPr lang="en-US" sz="3600" b="1" dirty="0" err="1" smtClean="0"/>
              <a:t>định</a:t>
            </a:r>
            <a:endParaRPr lang="en-US" sz="3600" dirty="0"/>
          </a:p>
        </p:txBody>
      </p:sp>
      <p:sp>
        <p:nvSpPr>
          <p:cNvPr id="3" name="Content Placeholder 2"/>
          <p:cNvSpPr>
            <a:spLocks noGrp="1"/>
          </p:cNvSpPr>
          <p:nvPr>
            <p:ph idx="1"/>
          </p:nvPr>
        </p:nvSpPr>
        <p:spPr/>
        <p:txBody>
          <a:bodyPr/>
          <a:lstStyle/>
          <a:p>
            <a:pPr>
              <a:lnSpc>
                <a:spcPct val="150000"/>
              </a:lnSpc>
              <a:spcBef>
                <a:spcPts val="0"/>
              </a:spcBef>
            </a:pPr>
            <a:r>
              <a:rPr lang="en-US" sz="2400" dirty="0">
                <a:solidFill>
                  <a:schemeClr val="tx1"/>
                </a:solidFill>
              </a:rPr>
              <a:t>4.1.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đều</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thời</a:t>
            </a:r>
            <a:r>
              <a:rPr lang="en-US" sz="2400" dirty="0">
                <a:solidFill>
                  <a:schemeClr val="tx1"/>
                </a:solidFill>
              </a:rPr>
              <a:t> </a:t>
            </a:r>
            <a:r>
              <a:rPr lang="en-US" sz="2400" dirty="0" err="1">
                <a:solidFill>
                  <a:schemeClr val="tx1"/>
                </a:solidFill>
              </a:rPr>
              <a:t>gian</a:t>
            </a:r>
            <a:r>
              <a:rPr lang="en-US" sz="2400" dirty="0"/>
              <a:t/>
            </a:r>
            <a:br>
              <a:rPr lang="en-US" sz="2400" dirty="0"/>
            </a:br>
            <a:r>
              <a:rPr lang="en-US" sz="2400" dirty="0">
                <a:solidFill>
                  <a:srgbClr val="FF0000"/>
                </a:solidFill>
              </a:rPr>
              <a:t>4.2. </a:t>
            </a:r>
            <a:r>
              <a:rPr lang="en-US" sz="2400" dirty="0" err="1">
                <a:solidFill>
                  <a:srgbClr val="FF0000"/>
                </a:solidFill>
              </a:rPr>
              <a:t>Phương</a:t>
            </a:r>
            <a:r>
              <a:rPr lang="en-US" sz="2400" dirty="0">
                <a:solidFill>
                  <a:srgbClr val="FF0000"/>
                </a:solidFill>
              </a:rPr>
              <a:t> </a:t>
            </a:r>
            <a:r>
              <a:rPr lang="en-US" sz="2400" dirty="0" err="1">
                <a:solidFill>
                  <a:srgbClr val="FF0000"/>
                </a:solidFill>
              </a:rPr>
              <a:t>pháp</a:t>
            </a:r>
            <a:r>
              <a:rPr lang="en-US" sz="2400" dirty="0">
                <a:solidFill>
                  <a:srgbClr val="FF0000"/>
                </a:solidFill>
              </a:rPr>
              <a:t> </a:t>
            </a:r>
            <a:r>
              <a:rPr lang="en-US" sz="2400" dirty="0" err="1">
                <a:solidFill>
                  <a:srgbClr val="FF0000"/>
                </a:solidFill>
              </a:rPr>
              <a:t>khấu</a:t>
            </a:r>
            <a:r>
              <a:rPr lang="en-US" sz="2400" dirty="0">
                <a:solidFill>
                  <a:srgbClr val="FF0000"/>
                </a:solidFill>
              </a:rPr>
              <a:t> </a:t>
            </a:r>
            <a:r>
              <a:rPr lang="en-US" sz="2400" dirty="0" err="1">
                <a:solidFill>
                  <a:srgbClr val="FF0000"/>
                </a:solidFill>
              </a:rPr>
              <a:t>hao</a:t>
            </a:r>
            <a:r>
              <a:rPr lang="en-US" sz="2400" dirty="0">
                <a:solidFill>
                  <a:srgbClr val="FF0000"/>
                </a:solidFill>
              </a:rPr>
              <a:t> </a:t>
            </a:r>
            <a:r>
              <a:rPr lang="en-US" sz="2400" dirty="0" err="1" smtClean="0">
                <a:solidFill>
                  <a:srgbClr val="FF0000"/>
                </a:solidFill>
              </a:rPr>
              <a:t>theo</a:t>
            </a:r>
            <a:r>
              <a:rPr lang="en-US" sz="2400" dirty="0" smtClean="0">
                <a:solidFill>
                  <a:srgbClr val="FF0000"/>
                </a:solidFill>
              </a:rPr>
              <a:t> </a:t>
            </a:r>
            <a:r>
              <a:rPr lang="en-US" sz="2400" dirty="0" err="1" smtClean="0">
                <a:solidFill>
                  <a:srgbClr val="FF0000"/>
                </a:solidFill>
              </a:rPr>
              <a:t>số</a:t>
            </a:r>
            <a:r>
              <a:rPr lang="en-US" sz="2400" dirty="0" smtClean="0">
                <a:solidFill>
                  <a:srgbClr val="FF0000"/>
                </a:solidFill>
              </a:rPr>
              <a:t> </a:t>
            </a:r>
            <a:r>
              <a:rPr lang="en-US" sz="2400" dirty="0" err="1" smtClean="0">
                <a:solidFill>
                  <a:srgbClr val="FF0000"/>
                </a:solidFill>
              </a:rPr>
              <a:t>dư</a:t>
            </a:r>
            <a:r>
              <a:rPr lang="en-US" sz="2400" dirty="0" smtClean="0">
                <a:solidFill>
                  <a:srgbClr val="FF0000"/>
                </a:solidFill>
              </a:rPr>
              <a:t> </a:t>
            </a:r>
            <a:r>
              <a:rPr lang="en-US" sz="2400" dirty="0" err="1" smtClean="0">
                <a:solidFill>
                  <a:srgbClr val="FF0000"/>
                </a:solidFill>
              </a:rPr>
              <a:t>giảm</a:t>
            </a:r>
            <a:r>
              <a:rPr lang="en-US" sz="2400" dirty="0" smtClean="0">
                <a:solidFill>
                  <a:srgbClr val="FF0000"/>
                </a:solidFill>
              </a:rPr>
              <a:t> </a:t>
            </a:r>
            <a:r>
              <a:rPr lang="en-US" sz="2400" dirty="0" err="1" smtClean="0">
                <a:solidFill>
                  <a:srgbClr val="FF0000"/>
                </a:solidFill>
              </a:rPr>
              <a:t>dần</a:t>
            </a:r>
            <a:r>
              <a:rPr lang="en-US" sz="2400" dirty="0"/>
              <a:t/>
            </a:r>
            <a:br>
              <a:rPr lang="en-US" sz="2400" dirty="0"/>
            </a:br>
            <a:r>
              <a:rPr lang="en-US" sz="2400" dirty="0" smtClean="0"/>
              <a:t>4.3.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số</a:t>
            </a:r>
            <a:r>
              <a:rPr lang="en-US" sz="2400" dirty="0"/>
              <a:t> </a:t>
            </a:r>
            <a:r>
              <a:rPr lang="en-US" sz="2400" dirty="0" err="1"/>
              <a:t>dư</a:t>
            </a:r>
            <a:r>
              <a:rPr lang="en-US" sz="2400" dirty="0"/>
              <a:t> </a:t>
            </a:r>
            <a:r>
              <a:rPr lang="en-US" sz="2400" dirty="0" err="1"/>
              <a:t>giảm</a:t>
            </a:r>
            <a:r>
              <a:rPr lang="en-US" sz="2400" dirty="0"/>
              <a:t> </a:t>
            </a:r>
            <a:r>
              <a:rPr lang="en-US" sz="2400" dirty="0" err="1"/>
              <a:t>dần</a:t>
            </a:r>
            <a:r>
              <a:rPr lang="en-US" sz="2400" dirty="0"/>
              <a:t> </a:t>
            </a:r>
            <a:r>
              <a:rPr lang="en-US" sz="2400" dirty="0" err="1"/>
              <a:t>có</a:t>
            </a:r>
            <a:r>
              <a:rPr lang="en-US" sz="2400" dirty="0"/>
              <a:t> </a:t>
            </a:r>
            <a:r>
              <a:rPr lang="en-US" sz="2400" dirty="0" err="1"/>
              <a:t>điều</a:t>
            </a:r>
            <a:r>
              <a:rPr lang="en-US" sz="2400" dirty="0"/>
              <a:t> </a:t>
            </a:r>
            <a:r>
              <a:rPr lang="en-US" sz="2400" dirty="0" err="1"/>
              <a:t>chỉnh</a:t>
            </a:r>
            <a:r>
              <a:rPr lang="en-US" sz="2400" dirty="0"/>
              <a:t/>
            </a:r>
            <a:br>
              <a:rPr lang="en-US" sz="2400" dirty="0"/>
            </a:br>
            <a:r>
              <a:rPr lang="en-US" sz="2400" dirty="0" smtClean="0"/>
              <a:t>4.4.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tổng</a:t>
            </a:r>
            <a:r>
              <a:rPr lang="en-US" sz="2400" dirty="0"/>
              <a:t> </a:t>
            </a:r>
            <a:r>
              <a:rPr lang="en-US" sz="2400" dirty="0" err="1"/>
              <a:t>số</a:t>
            </a:r>
            <a:r>
              <a:rPr lang="en-US" sz="2400" dirty="0"/>
              <a:t> </a:t>
            </a:r>
            <a:r>
              <a:rPr lang="en-US" sz="2400" dirty="0" err="1"/>
              <a:t>thứ</a:t>
            </a:r>
            <a:r>
              <a:rPr lang="en-US" sz="2400" dirty="0"/>
              <a:t> </a:t>
            </a:r>
            <a:r>
              <a:rPr lang="en-US" sz="2400" dirty="0" err="1"/>
              <a:t>tự</a:t>
            </a:r>
            <a:r>
              <a:rPr lang="en-US" sz="2400" dirty="0"/>
              <a:t> </a:t>
            </a:r>
            <a:r>
              <a:rPr lang="en-US" sz="2400" dirty="0" err="1"/>
              <a:t>thời</a:t>
            </a:r>
            <a:r>
              <a:rPr lang="en-US" sz="2400" dirty="0"/>
              <a:t> </a:t>
            </a:r>
            <a:r>
              <a:rPr lang="en-US" sz="2400" dirty="0" err="1"/>
              <a:t>gian</a:t>
            </a:r>
            <a:r>
              <a:rPr lang="en-US" sz="2400" dirty="0"/>
              <a:t> </a:t>
            </a:r>
            <a:r>
              <a:rPr lang="en-US" sz="2400" dirty="0" err="1"/>
              <a:t>tính</a:t>
            </a:r>
            <a:r>
              <a:rPr lang="en-US" sz="2400" dirty="0"/>
              <a:t> </a:t>
            </a:r>
            <a:r>
              <a:rPr lang="en-US" sz="2400" dirty="0" err="1"/>
              <a:t>khấu</a:t>
            </a:r>
            <a:r>
              <a:rPr lang="en-US" sz="2400" dirty="0"/>
              <a:t> </a:t>
            </a:r>
            <a:r>
              <a:rPr lang="en-US" sz="2400" dirty="0" err="1"/>
              <a:t>hao</a:t>
            </a:r>
            <a:r>
              <a:rPr lang="en-US" sz="2400" dirty="0"/>
              <a:t/>
            </a:r>
            <a:br>
              <a:rPr lang="en-US" sz="2400" dirty="0"/>
            </a:br>
            <a:r>
              <a:rPr lang="en-US" sz="2400" dirty="0" smtClean="0"/>
              <a:t>4.5.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sản</a:t>
            </a:r>
            <a:r>
              <a:rPr lang="en-US" sz="2400" dirty="0"/>
              <a:t> </a:t>
            </a:r>
            <a:r>
              <a:rPr lang="en-US" sz="2400" dirty="0" err="1"/>
              <a:t>lượng</a:t>
            </a:r>
            <a:endParaRPr lang="en-US" sz="2400" dirty="0"/>
          </a:p>
          <a:p>
            <a:endParaRPr lang="en-US" dirty="0"/>
          </a:p>
        </p:txBody>
      </p:sp>
      <p:sp>
        <p:nvSpPr>
          <p:cNvPr id="4" name="Date Placeholder 3"/>
          <p:cNvSpPr>
            <a:spLocks noGrp="1"/>
          </p:cNvSpPr>
          <p:nvPr>
            <p:ph type="dt" sz="half" idx="10"/>
          </p:nvPr>
        </p:nvSpPr>
        <p:spPr/>
        <p:txBody>
          <a:bodyPr/>
          <a:lstStyle/>
          <a:p>
            <a:fld id="{E465865A-D4AD-4491-A4C9-DD0786070356}"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11</a:t>
            </a:fld>
            <a:endParaRPr lang="en-US"/>
          </a:p>
        </p:txBody>
      </p:sp>
    </p:spTree>
    <p:extLst>
      <p:ext uri="{BB962C8B-B14F-4D97-AF65-F5344CB8AC3E}">
        <p14:creationId xmlns:p14="http://schemas.microsoft.com/office/powerpoint/2010/main" val="42866219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822960" y="286605"/>
            <a:ext cx="7543800" cy="1180246"/>
          </a:xfrm>
        </p:spPr>
        <p:txBody>
          <a:bodyPr/>
          <a:lstStyle/>
          <a:p>
            <a:r>
              <a:rPr lang="en-US" sz="2400" spc="0" dirty="0">
                <a:solidFill>
                  <a:srgbClr val="FF0000"/>
                </a:solidFill>
                <a:latin typeface="Calibri" panose="020F0502020204030204"/>
                <a:ea typeface="+mn-ea"/>
                <a:cs typeface="+mn-cs"/>
              </a:rPr>
              <a:t>4.2. </a:t>
            </a:r>
            <a:r>
              <a:rPr lang="en-US" sz="2400" spc="0" dirty="0" err="1">
                <a:solidFill>
                  <a:srgbClr val="FF0000"/>
                </a:solidFill>
                <a:latin typeface="Calibri" panose="020F0502020204030204"/>
                <a:ea typeface="+mn-ea"/>
                <a:cs typeface="+mn-cs"/>
              </a:rPr>
              <a:t>Phương</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pháp</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khấu</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hao</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theo</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số</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dư</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giảm</a:t>
            </a:r>
            <a:r>
              <a:rPr lang="en-US" sz="2400" spc="0" dirty="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dần</a:t>
            </a:r>
            <a:r>
              <a:rPr lang="en-US" sz="2400" spc="0" dirty="0" smtClean="0">
                <a:solidFill>
                  <a:srgbClr val="FF0000"/>
                </a:solidFill>
                <a:latin typeface="Calibri" panose="020F0502020204030204"/>
                <a:ea typeface="+mn-ea"/>
                <a:cs typeface="+mn-cs"/>
              </a:rPr>
              <a:t/>
            </a:r>
            <a:br>
              <a:rPr lang="en-US" sz="2400" spc="0" dirty="0" smtClean="0">
                <a:solidFill>
                  <a:srgbClr val="FF0000"/>
                </a:solidFill>
                <a:latin typeface="Calibri" panose="020F0502020204030204"/>
                <a:ea typeface="+mn-ea"/>
                <a:cs typeface="+mn-cs"/>
              </a:rPr>
            </a:br>
            <a:r>
              <a:rPr lang="en-US" sz="2400" spc="0" dirty="0" smtClean="0">
                <a:solidFill>
                  <a:srgbClr val="FF0000"/>
                </a:solidFill>
                <a:latin typeface="Calibri" panose="020F0502020204030204"/>
                <a:ea typeface="+mn-ea"/>
                <a:cs typeface="+mn-cs"/>
              </a:rPr>
              <a:t>(</a:t>
            </a:r>
            <a:r>
              <a:rPr lang="en-US" sz="2400" spc="0" dirty="0" err="1" smtClean="0">
                <a:solidFill>
                  <a:srgbClr val="FF0000"/>
                </a:solidFill>
                <a:latin typeface="Calibri" panose="020F0502020204030204"/>
                <a:ea typeface="+mn-ea"/>
                <a:cs typeface="+mn-cs"/>
              </a:rPr>
              <a:t>cân</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đối</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giảm</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dần</a:t>
            </a:r>
            <a:r>
              <a:rPr lang="en-US" sz="2400" spc="0" dirty="0" smtClean="0">
                <a:solidFill>
                  <a:srgbClr val="FF0000"/>
                </a:solidFill>
                <a:latin typeface="Calibri" panose="020F0502020204030204"/>
                <a:ea typeface="+mn-ea"/>
                <a:cs typeface="+mn-cs"/>
              </a:rPr>
              <a:t>)</a:t>
            </a:r>
            <a:endParaRPr lang="en-US" altLang="en-US" dirty="0" smtClean="0"/>
          </a:p>
        </p:txBody>
      </p:sp>
      <p:sp>
        <p:nvSpPr>
          <p:cNvPr id="61443" name="Content Placeholder 2"/>
          <p:cNvSpPr>
            <a:spLocks noGrp="1"/>
          </p:cNvSpPr>
          <p:nvPr>
            <p:ph idx="1"/>
          </p:nvPr>
        </p:nvSpPr>
        <p:spPr>
          <a:xfrm>
            <a:off x="520700" y="1831974"/>
            <a:ext cx="7924800" cy="4054475"/>
          </a:xfrm>
        </p:spPr>
        <p:txBody>
          <a:bodyPr/>
          <a:lstStyle/>
          <a:p>
            <a:pPr marL="0" indent="0" algn="just">
              <a:spcBef>
                <a:spcPct val="0"/>
              </a:spcBef>
              <a:buClr>
                <a:srgbClr val="996666"/>
              </a:buClr>
              <a:buFont typeface="Wingdings" panose="05000000000000000000" pitchFamily="2" charset="2"/>
              <a:buNone/>
            </a:pPr>
            <a:r>
              <a:rPr lang="nb-NO" altLang="en-US" sz="2400" i="1" dirty="0" smtClean="0">
                <a:solidFill>
                  <a:srgbClr val="FF0000"/>
                </a:solidFill>
                <a:latin typeface="Times New Roman" panose="02020603050405020304" pitchFamily="18" charset="0"/>
                <a:cs typeface="Times New Roman" panose="02020603050405020304" pitchFamily="18" charset="0"/>
              </a:rPr>
              <a:t> </a:t>
            </a:r>
            <a:endParaRPr lang="nb-NO" altLang="en-US" sz="2400" i="1" dirty="0" smtClean="0">
              <a:solidFill>
                <a:srgbClr val="FF0000"/>
              </a:solidFill>
              <a:latin typeface="Times New Roman" panose="02020603050405020304" pitchFamily="18" charset="0"/>
              <a:cs typeface="Times New Roman" panose="02020603050405020304" pitchFamily="18" charset="0"/>
            </a:endParaRPr>
          </a:p>
          <a:p>
            <a:pPr marL="0" indent="0" algn="just">
              <a:spcBef>
                <a:spcPts val="600"/>
              </a:spcBef>
              <a:spcAft>
                <a:spcPts val="600"/>
              </a:spcAft>
            </a:pPr>
            <a:endParaRPr lang="pt-BR" altLang="en-US" sz="2400" dirty="0" smtClean="0">
              <a:latin typeface="Times New Roman" panose="02020603050405020304" pitchFamily="18" charset="0"/>
              <a:cs typeface="Times New Roman" panose="02020603050405020304" pitchFamily="18" charset="0"/>
            </a:endParaRPr>
          </a:p>
          <a:p>
            <a:pPr marL="0" indent="0" algn="just">
              <a:spcBef>
                <a:spcPts val="600"/>
              </a:spcBef>
              <a:spcAft>
                <a:spcPts val="600"/>
              </a:spcAft>
            </a:pPr>
            <a:endParaRPr lang="pt-BR" altLang="en-US" sz="2400" dirty="0" smtClean="0">
              <a:latin typeface="Times New Roman" panose="02020603050405020304" pitchFamily="18" charset="0"/>
              <a:cs typeface="Times New Roman" panose="02020603050405020304" pitchFamily="18" charset="0"/>
            </a:endParaRPr>
          </a:p>
          <a:p>
            <a:pPr marL="0" indent="0" algn="just">
              <a:spcBef>
                <a:spcPts val="600"/>
              </a:spcBef>
              <a:spcAft>
                <a:spcPts val="600"/>
              </a:spcAft>
            </a:pPr>
            <a:endParaRPr lang="pt-BR" altLang="en-US" sz="2400" dirty="0" smtClean="0">
              <a:latin typeface="Times New Roman" panose="02020603050405020304" pitchFamily="18" charset="0"/>
              <a:cs typeface="Times New Roman" panose="02020603050405020304" pitchFamily="18" charset="0"/>
            </a:endParaRPr>
          </a:p>
          <a:p>
            <a:pPr marL="0" indent="0" algn="just">
              <a:spcBef>
                <a:spcPts val="600"/>
              </a:spcBef>
              <a:spcAft>
                <a:spcPts val="600"/>
              </a:spcAft>
            </a:pPr>
            <a:r>
              <a:rPr lang="en-US" altLang="en-US" sz="2400" dirty="0" smtClean="0">
                <a:latin typeface="Times New Roman" panose="02020603050405020304" pitchFamily="18" charset="0"/>
                <a:cs typeface="Times New Roman" panose="02020603050405020304" pitchFamily="18" charset="0"/>
              </a:rPr>
              <a:t> </a:t>
            </a:r>
            <a:endParaRPr lang="en-US" altLang="en-US" sz="2400" dirty="0" smtClean="0">
              <a:latin typeface=".VnTime" panose="020B7200000000000000" pitchFamily="34" charset="0"/>
              <a:cs typeface="Times New Roman" panose="02020603050405020304" pitchFamily="18" charset="0"/>
            </a:endParaRPr>
          </a:p>
        </p:txBody>
      </p:sp>
      <p:sp>
        <p:nvSpPr>
          <p:cNvPr id="61444" name="Date Placeholder 3"/>
          <p:cNvSpPr>
            <a:spLocks noGrp="1"/>
          </p:cNvSpPr>
          <p:nvPr>
            <p:ph type="dt" sz="quarter" idx="10"/>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50F14A-75DD-4169-8012-4C50459E193A}" type="datetime1">
              <a:rPr lang="en-US" altLang="en-US" sz="1200" smtClean="0"/>
              <a:t>2/8/2022</a:t>
            </a:fld>
            <a:endParaRPr lang="en-US" altLang="en-US" sz="1200" smtClean="0"/>
          </a:p>
        </p:txBody>
      </p:sp>
      <p:sp>
        <p:nvSpPr>
          <p:cNvPr id="61445" name="Slide Number Placeholder 4"/>
          <p:cNvSpPr>
            <a:spLocks noGrp="1"/>
          </p:cNvSpPr>
          <p:nvPr>
            <p:ph type="sldNum" sz="quarter" idx="12"/>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797CCC2-26F9-4790-AF54-E615B79FC897}" type="slidenum">
              <a:rPr lang="en-US" altLang="en-US" sz="1200" smtClean="0">
                <a:latin typeface="Arial Black" panose="020B0A04020102020204" pitchFamily="34" charset="0"/>
              </a:rPr>
              <a:pPr>
                <a:spcBef>
                  <a:spcPct val="0"/>
                </a:spcBef>
                <a:buClrTx/>
                <a:buSzTx/>
                <a:buFontTx/>
                <a:buNone/>
              </a:pPr>
              <a:t>12</a:t>
            </a:fld>
            <a:endParaRPr lang="en-US" altLang="en-US" sz="1200" smtClean="0">
              <a:latin typeface="Arial Black" panose="020B0A04020102020204" pitchFamily="34" charset="0"/>
            </a:endParaRPr>
          </a:p>
        </p:txBody>
      </p:sp>
      <p:pic>
        <p:nvPicPr>
          <p:cNvPr id="6144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46972" y="2115786"/>
            <a:ext cx="2393251" cy="591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46973" y="3067048"/>
            <a:ext cx="2559907" cy="944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en-US" smtClean="0"/>
              <a:t>GVC.TS Vũ Kim Yến</a:t>
            </a:r>
            <a:endParaRPr lang="en-US"/>
          </a:p>
        </p:txBody>
      </p:sp>
    </p:spTree>
    <p:extLst>
      <p:ext uri="{BB962C8B-B14F-4D97-AF65-F5344CB8AC3E}">
        <p14:creationId xmlns:p14="http://schemas.microsoft.com/office/powerpoint/2010/main" val="13035010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4. </a:t>
            </a:r>
            <a:r>
              <a:rPr lang="en-US" sz="3600" b="1" dirty="0" err="1"/>
              <a:t>Các</a:t>
            </a:r>
            <a:r>
              <a:rPr lang="en-US" sz="3600" b="1" dirty="0"/>
              <a:t> </a:t>
            </a:r>
            <a:r>
              <a:rPr lang="en-US" sz="3600" b="1" dirty="0" err="1"/>
              <a:t>phương</a:t>
            </a:r>
            <a:r>
              <a:rPr lang="en-US" sz="3600" b="1" dirty="0"/>
              <a:t> </a:t>
            </a:r>
            <a:r>
              <a:rPr lang="en-US" sz="3600" b="1" dirty="0" err="1"/>
              <a:t>pháp</a:t>
            </a:r>
            <a:r>
              <a:rPr lang="en-US" sz="3600" b="1" dirty="0"/>
              <a:t> </a:t>
            </a:r>
            <a:r>
              <a:rPr lang="en-US" sz="3600" b="1" dirty="0" err="1"/>
              <a:t>tính</a:t>
            </a:r>
            <a:r>
              <a:rPr lang="en-US" sz="3600" b="1" dirty="0"/>
              <a:t> </a:t>
            </a:r>
            <a:r>
              <a:rPr lang="en-US" sz="3600" b="1" dirty="0" err="1"/>
              <a:t>khấu</a:t>
            </a:r>
            <a:r>
              <a:rPr lang="en-US" sz="3600" b="1" dirty="0"/>
              <a:t> </a:t>
            </a:r>
            <a:r>
              <a:rPr lang="en-US" sz="3600" b="1" dirty="0" err="1"/>
              <a:t>hao</a:t>
            </a:r>
            <a:r>
              <a:rPr lang="en-US" sz="3600" b="1" dirty="0"/>
              <a:t> </a:t>
            </a:r>
            <a:r>
              <a:rPr lang="en-US" sz="3600" b="1" dirty="0" err="1"/>
              <a:t>tài</a:t>
            </a:r>
            <a:r>
              <a:rPr lang="en-US" sz="3600" b="1" dirty="0"/>
              <a:t> </a:t>
            </a:r>
            <a:r>
              <a:rPr lang="en-US" sz="3600" b="1" dirty="0" err="1"/>
              <a:t>sản</a:t>
            </a:r>
            <a:r>
              <a:rPr lang="en-US" sz="3600" b="1" dirty="0"/>
              <a:t> </a:t>
            </a:r>
            <a:r>
              <a:rPr lang="en-US" sz="3600" b="1" dirty="0" err="1"/>
              <a:t>cố</a:t>
            </a:r>
            <a:r>
              <a:rPr lang="en-US" sz="3600" b="1" dirty="0"/>
              <a:t> </a:t>
            </a:r>
            <a:r>
              <a:rPr lang="en-US" sz="3600" b="1" dirty="0" err="1" smtClean="0"/>
              <a:t>định</a:t>
            </a:r>
            <a:endParaRPr lang="en-US" sz="3600" dirty="0"/>
          </a:p>
        </p:txBody>
      </p:sp>
      <p:sp>
        <p:nvSpPr>
          <p:cNvPr id="3" name="Content Placeholder 2"/>
          <p:cNvSpPr>
            <a:spLocks noGrp="1"/>
          </p:cNvSpPr>
          <p:nvPr>
            <p:ph idx="1"/>
          </p:nvPr>
        </p:nvSpPr>
        <p:spPr/>
        <p:txBody>
          <a:bodyPr/>
          <a:lstStyle/>
          <a:p>
            <a:pPr>
              <a:lnSpc>
                <a:spcPct val="150000"/>
              </a:lnSpc>
              <a:spcBef>
                <a:spcPts val="0"/>
              </a:spcBef>
            </a:pPr>
            <a:r>
              <a:rPr lang="en-US" sz="2400" dirty="0">
                <a:solidFill>
                  <a:schemeClr val="tx1"/>
                </a:solidFill>
              </a:rPr>
              <a:t>4.1.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đều</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thời</a:t>
            </a:r>
            <a:r>
              <a:rPr lang="en-US" sz="2400" dirty="0">
                <a:solidFill>
                  <a:schemeClr val="tx1"/>
                </a:solidFill>
              </a:rPr>
              <a:t> </a:t>
            </a:r>
            <a:r>
              <a:rPr lang="en-US" sz="2400" dirty="0" err="1">
                <a:solidFill>
                  <a:schemeClr val="tx1"/>
                </a:solidFill>
              </a:rPr>
              <a:t>gian</a:t>
            </a:r>
            <a:r>
              <a:rPr lang="en-US" sz="2400" dirty="0"/>
              <a:t/>
            </a:r>
            <a:br>
              <a:rPr lang="en-US" sz="2400" dirty="0"/>
            </a:br>
            <a:r>
              <a:rPr lang="en-US" sz="2400" dirty="0">
                <a:solidFill>
                  <a:schemeClr val="tx1"/>
                </a:solidFill>
              </a:rPr>
              <a:t>4.2.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smtClean="0">
                <a:solidFill>
                  <a:schemeClr val="tx1"/>
                </a:solidFill>
              </a:rPr>
              <a:t>theo</a:t>
            </a:r>
            <a:r>
              <a:rPr lang="en-US" sz="2400" dirty="0" smtClean="0">
                <a:solidFill>
                  <a:schemeClr val="tx1"/>
                </a:solidFill>
              </a:rPr>
              <a:t> </a:t>
            </a:r>
            <a:r>
              <a:rPr lang="en-US" sz="2400" dirty="0" err="1" smtClean="0">
                <a:solidFill>
                  <a:schemeClr val="tx1"/>
                </a:solidFill>
              </a:rPr>
              <a:t>số</a:t>
            </a:r>
            <a:r>
              <a:rPr lang="en-US" sz="2400" dirty="0" smtClean="0">
                <a:solidFill>
                  <a:schemeClr val="tx1"/>
                </a:solidFill>
              </a:rPr>
              <a:t> </a:t>
            </a:r>
            <a:r>
              <a:rPr lang="en-US" sz="2400" dirty="0" err="1" smtClean="0">
                <a:solidFill>
                  <a:schemeClr val="tx1"/>
                </a:solidFill>
              </a:rPr>
              <a:t>dư</a:t>
            </a:r>
            <a:r>
              <a:rPr lang="en-US" sz="2400" dirty="0" smtClean="0">
                <a:solidFill>
                  <a:schemeClr val="tx1"/>
                </a:solidFill>
              </a:rPr>
              <a:t> </a:t>
            </a:r>
            <a:r>
              <a:rPr lang="en-US" sz="2400" dirty="0" err="1" smtClean="0">
                <a:solidFill>
                  <a:schemeClr val="tx1"/>
                </a:solidFill>
              </a:rPr>
              <a:t>giảm</a:t>
            </a:r>
            <a:r>
              <a:rPr lang="en-US" sz="2400" dirty="0" smtClean="0">
                <a:solidFill>
                  <a:schemeClr val="tx1"/>
                </a:solidFill>
              </a:rPr>
              <a:t> </a:t>
            </a:r>
            <a:r>
              <a:rPr lang="en-US" sz="2400" dirty="0" err="1" smtClean="0">
                <a:solidFill>
                  <a:schemeClr val="tx1"/>
                </a:solidFill>
              </a:rPr>
              <a:t>dần</a:t>
            </a:r>
            <a:r>
              <a:rPr lang="en-US" sz="2400" dirty="0"/>
              <a:t/>
            </a:r>
            <a:br>
              <a:rPr lang="en-US" sz="2400" dirty="0"/>
            </a:br>
            <a:r>
              <a:rPr lang="en-US" sz="2400" dirty="0" smtClean="0">
                <a:solidFill>
                  <a:srgbClr val="FF0000"/>
                </a:solidFill>
              </a:rPr>
              <a:t>4.3. </a:t>
            </a:r>
            <a:r>
              <a:rPr lang="en-US" sz="2400" dirty="0" err="1">
                <a:solidFill>
                  <a:srgbClr val="FF0000"/>
                </a:solidFill>
              </a:rPr>
              <a:t>Phương</a:t>
            </a:r>
            <a:r>
              <a:rPr lang="en-US" sz="2400" dirty="0">
                <a:solidFill>
                  <a:srgbClr val="FF0000"/>
                </a:solidFill>
              </a:rPr>
              <a:t> </a:t>
            </a:r>
            <a:r>
              <a:rPr lang="en-US" sz="2400" dirty="0" err="1">
                <a:solidFill>
                  <a:srgbClr val="FF0000"/>
                </a:solidFill>
              </a:rPr>
              <a:t>pháp</a:t>
            </a:r>
            <a:r>
              <a:rPr lang="en-US" sz="2400" dirty="0">
                <a:solidFill>
                  <a:srgbClr val="FF0000"/>
                </a:solidFill>
              </a:rPr>
              <a:t> </a:t>
            </a:r>
            <a:r>
              <a:rPr lang="en-US" sz="2400" dirty="0" err="1">
                <a:solidFill>
                  <a:srgbClr val="FF0000"/>
                </a:solidFill>
              </a:rPr>
              <a:t>khấu</a:t>
            </a:r>
            <a:r>
              <a:rPr lang="en-US" sz="2400" dirty="0">
                <a:solidFill>
                  <a:srgbClr val="FF0000"/>
                </a:solidFill>
              </a:rPr>
              <a:t> </a:t>
            </a:r>
            <a:r>
              <a:rPr lang="en-US" sz="2400" dirty="0" err="1">
                <a:solidFill>
                  <a:srgbClr val="FF0000"/>
                </a:solidFill>
              </a:rPr>
              <a:t>hao</a:t>
            </a:r>
            <a:r>
              <a:rPr lang="en-US" sz="2400" dirty="0">
                <a:solidFill>
                  <a:srgbClr val="FF0000"/>
                </a:solidFill>
              </a:rPr>
              <a:t> </a:t>
            </a:r>
            <a:r>
              <a:rPr lang="en-US" sz="2400" dirty="0" err="1">
                <a:solidFill>
                  <a:srgbClr val="FF0000"/>
                </a:solidFill>
              </a:rPr>
              <a:t>theo</a:t>
            </a:r>
            <a:r>
              <a:rPr lang="en-US" sz="2400" dirty="0">
                <a:solidFill>
                  <a:srgbClr val="FF0000"/>
                </a:solidFill>
              </a:rPr>
              <a:t> </a:t>
            </a:r>
            <a:r>
              <a:rPr lang="en-US" sz="2400" dirty="0" err="1">
                <a:solidFill>
                  <a:srgbClr val="FF0000"/>
                </a:solidFill>
              </a:rPr>
              <a:t>số</a:t>
            </a:r>
            <a:r>
              <a:rPr lang="en-US" sz="2400" dirty="0">
                <a:solidFill>
                  <a:srgbClr val="FF0000"/>
                </a:solidFill>
              </a:rPr>
              <a:t> </a:t>
            </a:r>
            <a:r>
              <a:rPr lang="en-US" sz="2400" dirty="0" err="1">
                <a:solidFill>
                  <a:srgbClr val="FF0000"/>
                </a:solidFill>
              </a:rPr>
              <a:t>dư</a:t>
            </a:r>
            <a:r>
              <a:rPr lang="en-US" sz="2400" dirty="0">
                <a:solidFill>
                  <a:srgbClr val="FF0000"/>
                </a:solidFill>
              </a:rPr>
              <a:t> </a:t>
            </a:r>
            <a:r>
              <a:rPr lang="en-US" sz="2400" dirty="0" err="1">
                <a:solidFill>
                  <a:srgbClr val="FF0000"/>
                </a:solidFill>
              </a:rPr>
              <a:t>giảm</a:t>
            </a:r>
            <a:r>
              <a:rPr lang="en-US" sz="2400" dirty="0">
                <a:solidFill>
                  <a:srgbClr val="FF0000"/>
                </a:solidFill>
              </a:rPr>
              <a:t> </a:t>
            </a:r>
            <a:r>
              <a:rPr lang="en-US" sz="2400" dirty="0" err="1">
                <a:solidFill>
                  <a:srgbClr val="FF0000"/>
                </a:solidFill>
              </a:rPr>
              <a:t>dần</a:t>
            </a:r>
            <a:r>
              <a:rPr lang="en-US" sz="2400" dirty="0">
                <a:solidFill>
                  <a:srgbClr val="FF0000"/>
                </a:solidFill>
              </a:rPr>
              <a:t> </a:t>
            </a:r>
            <a:r>
              <a:rPr lang="en-US" sz="2400" dirty="0" err="1">
                <a:solidFill>
                  <a:srgbClr val="FF0000"/>
                </a:solidFill>
              </a:rPr>
              <a:t>có</a:t>
            </a:r>
            <a:r>
              <a:rPr lang="en-US" sz="2400" dirty="0">
                <a:solidFill>
                  <a:srgbClr val="FF0000"/>
                </a:solidFill>
              </a:rPr>
              <a:t> </a:t>
            </a:r>
            <a:r>
              <a:rPr lang="en-US" sz="2400" dirty="0" err="1">
                <a:solidFill>
                  <a:srgbClr val="FF0000"/>
                </a:solidFill>
              </a:rPr>
              <a:t>điều</a:t>
            </a:r>
            <a:r>
              <a:rPr lang="en-US" sz="2400" dirty="0">
                <a:solidFill>
                  <a:srgbClr val="FF0000"/>
                </a:solidFill>
              </a:rPr>
              <a:t> </a:t>
            </a:r>
            <a:r>
              <a:rPr lang="en-US" sz="2400" dirty="0" err="1">
                <a:solidFill>
                  <a:srgbClr val="FF0000"/>
                </a:solidFill>
              </a:rPr>
              <a:t>chỉnh</a:t>
            </a:r>
            <a:r>
              <a:rPr lang="en-US" sz="2400" dirty="0">
                <a:solidFill>
                  <a:srgbClr val="FF0000"/>
                </a:solidFill>
              </a:rPr>
              <a:t/>
            </a:r>
            <a:br>
              <a:rPr lang="en-US" sz="2400" dirty="0">
                <a:solidFill>
                  <a:srgbClr val="FF0000"/>
                </a:solidFill>
              </a:rPr>
            </a:br>
            <a:r>
              <a:rPr lang="en-US" sz="2400" dirty="0" smtClean="0"/>
              <a:t>4.4.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tổng</a:t>
            </a:r>
            <a:r>
              <a:rPr lang="en-US" sz="2400" dirty="0"/>
              <a:t> </a:t>
            </a:r>
            <a:r>
              <a:rPr lang="en-US" sz="2400" dirty="0" err="1"/>
              <a:t>số</a:t>
            </a:r>
            <a:r>
              <a:rPr lang="en-US" sz="2400" dirty="0"/>
              <a:t> </a:t>
            </a:r>
            <a:r>
              <a:rPr lang="en-US" sz="2400" dirty="0" err="1"/>
              <a:t>thứ</a:t>
            </a:r>
            <a:r>
              <a:rPr lang="en-US" sz="2400" dirty="0"/>
              <a:t> </a:t>
            </a:r>
            <a:r>
              <a:rPr lang="en-US" sz="2400" dirty="0" err="1"/>
              <a:t>tự</a:t>
            </a:r>
            <a:r>
              <a:rPr lang="en-US" sz="2400" dirty="0"/>
              <a:t> </a:t>
            </a:r>
            <a:r>
              <a:rPr lang="en-US" sz="2400" dirty="0" err="1"/>
              <a:t>thời</a:t>
            </a:r>
            <a:r>
              <a:rPr lang="en-US" sz="2400" dirty="0"/>
              <a:t> </a:t>
            </a:r>
            <a:r>
              <a:rPr lang="en-US" sz="2400" dirty="0" err="1"/>
              <a:t>gian</a:t>
            </a:r>
            <a:r>
              <a:rPr lang="en-US" sz="2400" dirty="0"/>
              <a:t> </a:t>
            </a:r>
            <a:r>
              <a:rPr lang="en-US" sz="2400" dirty="0" err="1"/>
              <a:t>tính</a:t>
            </a:r>
            <a:r>
              <a:rPr lang="en-US" sz="2400" dirty="0"/>
              <a:t> </a:t>
            </a:r>
            <a:r>
              <a:rPr lang="en-US" sz="2400" dirty="0" err="1"/>
              <a:t>khấu</a:t>
            </a:r>
            <a:r>
              <a:rPr lang="en-US" sz="2400" dirty="0"/>
              <a:t> </a:t>
            </a:r>
            <a:r>
              <a:rPr lang="en-US" sz="2400" dirty="0" err="1"/>
              <a:t>hao</a:t>
            </a:r>
            <a:r>
              <a:rPr lang="en-US" sz="2400" dirty="0"/>
              <a:t/>
            </a:r>
            <a:br>
              <a:rPr lang="en-US" sz="2400" dirty="0"/>
            </a:br>
            <a:r>
              <a:rPr lang="en-US" sz="2400" dirty="0" smtClean="0"/>
              <a:t>4.5.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sản</a:t>
            </a:r>
            <a:r>
              <a:rPr lang="en-US" sz="2400" dirty="0"/>
              <a:t> </a:t>
            </a:r>
            <a:r>
              <a:rPr lang="en-US" sz="2400" dirty="0" err="1"/>
              <a:t>lượng</a:t>
            </a:r>
            <a:endParaRPr lang="en-US" sz="2400" dirty="0"/>
          </a:p>
          <a:p>
            <a:endParaRPr lang="en-US" dirty="0"/>
          </a:p>
        </p:txBody>
      </p:sp>
      <p:sp>
        <p:nvSpPr>
          <p:cNvPr id="4" name="Date Placeholder 3"/>
          <p:cNvSpPr>
            <a:spLocks noGrp="1"/>
          </p:cNvSpPr>
          <p:nvPr>
            <p:ph type="dt" sz="half" idx="10"/>
          </p:nvPr>
        </p:nvSpPr>
        <p:spPr/>
        <p:txBody>
          <a:bodyPr/>
          <a:lstStyle/>
          <a:p>
            <a:fld id="{AC760225-F039-4BBC-9A04-C443B3F258E4}"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13</a:t>
            </a:fld>
            <a:endParaRPr lang="en-US"/>
          </a:p>
        </p:txBody>
      </p:sp>
    </p:spTree>
    <p:extLst>
      <p:ext uri="{BB962C8B-B14F-4D97-AF65-F5344CB8AC3E}">
        <p14:creationId xmlns:p14="http://schemas.microsoft.com/office/powerpoint/2010/main" val="20909575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822960" y="286605"/>
            <a:ext cx="7543800" cy="1180246"/>
          </a:xfrm>
        </p:spPr>
        <p:txBody>
          <a:bodyPr/>
          <a:lstStyle/>
          <a:p>
            <a:r>
              <a:rPr lang="en-US" sz="2400" spc="0" dirty="0">
                <a:solidFill>
                  <a:srgbClr val="FF0000"/>
                </a:solidFill>
                <a:latin typeface="Calibri" panose="020F0502020204030204"/>
                <a:ea typeface="+mn-ea"/>
                <a:cs typeface="+mn-cs"/>
              </a:rPr>
              <a:t>4.3. </a:t>
            </a:r>
            <a:r>
              <a:rPr lang="en-US" sz="2400" spc="0" dirty="0" err="1">
                <a:solidFill>
                  <a:srgbClr val="FF0000"/>
                </a:solidFill>
                <a:latin typeface="Calibri" panose="020F0502020204030204"/>
                <a:ea typeface="+mn-ea"/>
                <a:cs typeface="+mn-cs"/>
              </a:rPr>
              <a:t>Phương</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pháp</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khấu</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hao</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theo</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số</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dư</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giảm</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dần</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có</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điều</a:t>
            </a:r>
            <a:r>
              <a:rPr lang="en-US" sz="2400" spc="0" dirty="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chỉnh</a:t>
            </a:r>
            <a:r>
              <a:rPr lang="en-US" sz="2400" spc="0" dirty="0">
                <a:solidFill>
                  <a:srgbClr val="FF0000"/>
                </a:solidFill>
                <a:latin typeface="Calibri" panose="020F0502020204030204"/>
                <a:ea typeface="+mn-ea"/>
                <a:cs typeface="+mn-cs"/>
              </a:rPr>
              <a:t> </a:t>
            </a:r>
            <a:r>
              <a:rPr lang="en-US" sz="2400" spc="0" dirty="0" smtClean="0">
                <a:solidFill>
                  <a:srgbClr val="FF0000"/>
                </a:solidFill>
                <a:latin typeface="Calibri" panose="020F0502020204030204"/>
                <a:ea typeface="+mn-ea"/>
                <a:cs typeface="+mn-cs"/>
              </a:rPr>
              <a:t>(</a:t>
            </a:r>
            <a:r>
              <a:rPr lang="en-US" sz="2400" spc="0" dirty="0" err="1" smtClean="0">
                <a:solidFill>
                  <a:srgbClr val="FF0000"/>
                </a:solidFill>
                <a:latin typeface="Calibri" panose="020F0502020204030204"/>
                <a:ea typeface="+mn-ea"/>
                <a:cs typeface="+mn-cs"/>
              </a:rPr>
              <a:t>cân</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đối</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giảm</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dần</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có</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điều</a:t>
            </a:r>
            <a:r>
              <a:rPr lang="en-US" sz="2400" spc="0" dirty="0" smtClean="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chỉnh</a:t>
            </a:r>
            <a:r>
              <a:rPr lang="en-US" sz="2400" spc="0" dirty="0" smtClean="0">
                <a:solidFill>
                  <a:srgbClr val="FF0000"/>
                </a:solidFill>
                <a:latin typeface="Calibri" panose="020F0502020204030204"/>
                <a:ea typeface="+mn-ea"/>
                <a:cs typeface="+mn-cs"/>
              </a:rPr>
              <a:t>)</a:t>
            </a:r>
            <a:endParaRPr lang="en-US" altLang="en-US" dirty="0" smtClean="0"/>
          </a:p>
        </p:txBody>
      </p:sp>
      <p:sp>
        <p:nvSpPr>
          <p:cNvPr id="61443" name="Content Placeholder 2"/>
          <p:cNvSpPr>
            <a:spLocks noGrp="1"/>
          </p:cNvSpPr>
          <p:nvPr>
            <p:ph idx="1"/>
          </p:nvPr>
        </p:nvSpPr>
        <p:spPr>
          <a:xfrm>
            <a:off x="520700" y="1831974"/>
            <a:ext cx="7924800" cy="4054475"/>
          </a:xfrm>
        </p:spPr>
        <p:txBody>
          <a:bodyPr/>
          <a:lstStyle/>
          <a:p>
            <a:pPr marL="0" indent="0" algn="just">
              <a:spcBef>
                <a:spcPct val="0"/>
              </a:spcBef>
              <a:buClr>
                <a:srgbClr val="996666"/>
              </a:buClr>
              <a:buFont typeface="Wingdings" panose="05000000000000000000" pitchFamily="2" charset="2"/>
              <a:buNone/>
            </a:pPr>
            <a:r>
              <a:rPr lang="nb-NO" altLang="en-US" sz="2400" i="1" dirty="0" smtClean="0">
                <a:solidFill>
                  <a:srgbClr val="FF0000"/>
                </a:solidFill>
                <a:latin typeface="Times New Roman" panose="02020603050405020304" pitchFamily="18" charset="0"/>
                <a:cs typeface="Times New Roman" panose="02020603050405020304" pitchFamily="18" charset="0"/>
              </a:rPr>
              <a:t> </a:t>
            </a:r>
            <a:endParaRPr lang="nb-NO" altLang="en-US" sz="2400" i="1" dirty="0" smtClean="0">
              <a:solidFill>
                <a:srgbClr val="FF0000"/>
              </a:solidFill>
              <a:latin typeface="Times New Roman" panose="02020603050405020304" pitchFamily="18" charset="0"/>
              <a:cs typeface="Times New Roman" panose="02020603050405020304" pitchFamily="18" charset="0"/>
            </a:endParaRPr>
          </a:p>
          <a:p>
            <a:pPr marL="0" indent="0" algn="just">
              <a:spcBef>
                <a:spcPts val="600"/>
              </a:spcBef>
              <a:spcAft>
                <a:spcPts val="600"/>
              </a:spcAft>
            </a:pPr>
            <a:endParaRPr lang="pt-BR" altLang="en-US" sz="2400" dirty="0" smtClean="0">
              <a:latin typeface="Times New Roman" panose="02020603050405020304" pitchFamily="18" charset="0"/>
              <a:cs typeface="Times New Roman" panose="02020603050405020304" pitchFamily="18" charset="0"/>
            </a:endParaRPr>
          </a:p>
          <a:p>
            <a:pPr marL="0" indent="0" algn="just">
              <a:spcBef>
                <a:spcPts val="600"/>
              </a:spcBef>
              <a:spcAft>
                <a:spcPts val="600"/>
              </a:spcAft>
            </a:pPr>
            <a:endParaRPr lang="pt-BR" altLang="en-US" sz="2400" dirty="0" smtClean="0">
              <a:latin typeface="Times New Roman" panose="02020603050405020304" pitchFamily="18" charset="0"/>
              <a:cs typeface="Times New Roman" panose="02020603050405020304" pitchFamily="18" charset="0"/>
            </a:endParaRPr>
          </a:p>
          <a:p>
            <a:pPr marL="0" indent="0" algn="just">
              <a:spcBef>
                <a:spcPts val="600"/>
              </a:spcBef>
              <a:spcAft>
                <a:spcPts val="600"/>
              </a:spcAft>
            </a:pPr>
            <a:r>
              <a:rPr lang="pt-BR" altLang="en-US" sz="2400" dirty="0" smtClean="0">
                <a:latin typeface="Times New Roman" panose="02020603050405020304" pitchFamily="18" charset="0"/>
                <a:cs typeface="Times New Roman" panose="02020603050405020304" pitchFamily="18" charset="0"/>
              </a:rPr>
              <a:t>Khi </a:t>
            </a:r>
            <a:r>
              <a:rPr lang="pt-BR" altLang="en-US" sz="2400" dirty="0" smtClean="0">
                <a:latin typeface="Times New Roman" panose="02020603050405020304" pitchFamily="18" charset="0"/>
                <a:cs typeface="Times New Roman" panose="02020603050405020304" pitchFamily="18" charset="0"/>
              </a:rPr>
              <a:t>K</a:t>
            </a:r>
            <a:r>
              <a:rPr lang="pt-BR" altLang="en-US" sz="2400" baseline="30000" dirty="0" smtClean="0">
                <a:latin typeface="Times New Roman" panose="02020603050405020304" pitchFamily="18" charset="0"/>
                <a:cs typeface="Times New Roman" panose="02020603050405020304" pitchFamily="18" charset="0"/>
              </a:rPr>
              <a:t>t</a:t>
            </a:r>
            <a:r>
              <a:rPr lang="pt-BR" altLang="en-US" sz="2400" baseline="-25000" dirty="0" smtClean="0">
                <a:latin typeface="Times New Roman" panose="02020603050405020304" pitchFamily="18" charset="0"/>
                <a:cs typeface="Times New Roman" panose="02020603050405020304" pitchFamily="18" charset="0"/>
              </a:rPr>
              <a:t>d</a:t>
            </a:r>
            <a:r>
              <a:rPr lang="pt-BR" altLang="en-US" sz="2400" dirty="0" smtClean="0">
                <a:latin typeface="Times New Roman" panose="02020603050405020304" pitchFamily="18" charset="0"/>
                <a:cs typeface="Times New Roman" panose="02020603050405020304" pitchFamily="18" charset="0"/>
              </a:rPr>
              <a:t> ≥ K</a:t>
            </a:r>
            <a:r>
              <a:rPr lang="pt-BR" altLang="en-US" sz="2400" baseline="30000" dirty="0" smtClean="0">
                <a:latin typeface="Times New Roman" panose="02020603050405020304" pitchFamily="18" charset="0"/>
                <a:cs typeface="Times New Roman" panose="02020603050405020304" pitchFamily="18" charset="0"/>
              </a:rPr>
              <a:t>năm</a:t>
            </a:r>
            <a:r>
              <a:rPr lang="pt-BR" altLang="en-US" sz="2400" baseline="-25000" dirty="0" smtClean="0">
                <a:latin typeface="Times New Roman" panose="02020603050405020304" pitchFamily="18" charset="0"/>
                <a:cs typeface="Times New Roman" panose="02020603050405020304" pitchFamily="18" charset="0"/>
              </a:rPr>
              <a:t>d</a:t>
            </a:r>
            <a:r>
              <a:rPr lang="pt-BR" altLang="en-US" sz="2400" dirty="0" smtClean="0">
                <a:latin typeface="Times New Roman" panose="02020603050405020304" pitchFamily="18" charset="0"/>
                <a:cs typeface="Times New Roman" panose="02020603050405020304" pitchFamily="18" charset="0"/>
              </a:rPr>
              <a:t> thì ta lấy tiền khấu hao trong năm t bằng K</a:t>
            </a:r>
            <a:r>
              <a:rPr lang="pt-BR" altLang="en-US" sz="2400" baseline="30000" dirty="0" smtClean="0">
                <a:latin typeface="Times New Roman" panose="02020603050405020304" pitchFamily="18" charset="0"/>
                <a:cs typeface="Times New Roman" panose="02020603050405020304" pitchFamily="18" charset="0"/>
              </a:rPr>
              <a:t>t</a:t>
            </a:r>
            <a:r>
              <a:rPr lang="pt-BR" altLang="en-US" sz="2400" baseline="-25000" dirty="0" smtClean="0">
                <a:latin typeface="Times New Roman" panose="02020603050405020304" pitchFamily="18" charset="0"/>
                <a:cs typeface="Times New Roman" panose="02020603050405020304" pitchFamily="18" charset="0"/>
              </a:rPr>
              <a:t>d</a:t>
            </a:r>
            <a:endParaRPr lang="en-US" altLang="en-US" sz="24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r>
              <a:rPr lang="pt-BR" altLang="en-US" sz="2400" dirty="0" smtClean="0">
                <a:latin typeface="Times New Roman" panose="02020603050405020304" pitchFamily="18" charset="0"/>
                <a:cs typeface="Times New Roman" panose="02020603050405020304" pitchFamily="18" charset="0"/>
              </a:rPr>
              <a:t>K</a:t>
            </a:r>
            <a:r>
              <a:rPr lang="pt-BR" altLang="en-US" sz="2400" baseline="30000" dirty="0" smtClean="0">
                <a:latin typeface="Times New Roman" panose="02020603050405020304" pitchFamily="18" charset="0"/>
                <a:cs typeface="Times New Roman" panose="02020603050405020304" pitchFamily="18" charset="0"/>
              </a:rPr>
              <a:t>t</a:t>
            </a:r>
            <a:r>
              <a:rPr lang="pt-BR" altLang="en-US" sz="2400" baseline="-25000" dirty="0" smtClean="0">
                <a:latin typeface="Times New Roman" panose="02020603050405020304" pitchFamily="18" charset="0"/>
                <a:cs typeface="Times New Roman" panose="02020603050405020304" pitchFamily="18" charset="0"/>
              </a:rPr>
              <a:t>d</a:t>
            </a:r>
            <a:r>
              <a:rPr lang="pt-BR" altLang="en-US" sz="2400" dirty="0" smtClean="0">
                <a:latin typeface="Times New Roman" panose="02020603050405020304" pitchFamily="18" charset="0"/>
                <a:cs typeface="Times New Roman" panose="02020603050405020304" pitchFamily="18" charset="0"/>
              </a:rPr>
              <a:t> &lt; K</a:t>
            </a:r>
            <a:r>
              <a:rPr lang="pt-BR" altLang="en-US" sz="2400" baseline="30000" dirty="0" smtClean="0">
                <a:latin typeface="Times New Roman" panose="02020603050405020304" pitchFamily="18" charset="0"/>
                <a:cs typeface="Times New Roman" panose="02020603050405020304" pitchFamily="18" charset="0"/>
              </a:rPr>
              <a:t>năm</a:t>
            </a:r>
            <a:r>
              <a:rPr lang="pt-BR" altLang="en-US" sz="2400" baseline="-25000" dirty="0" smtClean="0">
                <a:latin typeface="Times New Roman" panose="02020603050405020304" pitchFamily="18" charset="0"/>
                <a:cs typeface="Times New Roman" panose="02020603050405020304" pitchFamily="18" charset="0"/>
              </a:rPr>
              <a:t>d</a:t>
            </a:r>
            <a:r>
              <a:rPr lang="pt-BR" altLang="en-US" sz="2400" dirty="0" smtClean="0">
                <a:latin typeface="Times New Roman" panose="02020603050405020304" pitchFamily="18" charset="0"/>
                <a:cs typeface="Times New Roman" panose="02020603050405020304" pitchFamily="18" charset="0"/>
              </a:rPr>
              <a:t> thì ta lấy tiền khấu hao trong năm t bằng K</a:t>
            </a:r>
            <a:r>
              <a:rPr lang="pt-BR" altLang="en-US" sz="2400" baseline="30000" dirty="0" smtClean="0">
                <a:latin typeface="Times New Roman" panose="02020603050405020304" pitchFamily="18" charset="0"/>
                <a:cs typeface="Times New Roman" panose="02020603050405020304" pitchFamily="18" charset="0"/>
              </a:rPr>
              <a:t>năm</a:t>
            </a:r>
            <a:r>
              <a:rPr lang="pt-BR" altLang="en-US" sz="2400" baseline="-25000" dirty="0" smtClean="0">
                <a:latin typeface="Times New Roman" panose="02020603050405020304" pitchFamily="18" charset="0"/>
                <a:cs typeface="Times New Roman" panose="02020603050405020304" pitchFamily="18" charset="0"/>
              </a:rPr>
              <a:t>tc </a:t>
            </a:r>
            <a:r>
              <a:rPr lang="pt-BR" altLang="en-US" sz="2400" dirty="0" smtClean="0">
                <a:latin typeface="Times New Roman" panose="02020603050405020304" pitchFamily="18" charset="0"/>
                <a:cs typeface="Times New Roman" panose="02020603050405020304" pitchFamily="18" charset="0"/>
              </a:rPr>
              <a:t> cho những năm còn lại</a:t>
            </a:r>
            <a:endParaRPr lang="en-US" altLang="en-US" sz="2400" dirty="0" smtClean="0">
              <a:latin typeface=".VnTime" panose="020B7200000000000000" pitchFamily="34" charset="0"/>
              <a:cs typeface="Times New Roman" panose="02020603050405020304" pitchFamily="18" charset="0"/>
            </a:endParaRPr>
          </a:p>
        </p:txBody>
      </p:sp>
      <p:sp>
        <p:nvSpPr>
          <p:cNvPr id="61444" name="Date Placeholder 3"/>
          <p:cNvSpPr>
            <a:spLocks noGrp="1"/>
          </p:cNvSpPr>
          <p:nvPr>
            <p:ph type="dt" sz="quarter" idx="10"/>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5029514-A8CA-4D6F-9F5F-5E42DD0B31A3}" type="datetime1">
              <a:rPr lang="en-US" altLang="en-US" sz="1200" smtClean="0"/>
              <a:t>2/8/2022</a:t>
            </a:fld>
            <a:endParaRPr lang="en-US" altLang="en-US" sz="1200" smtClean="0"/>
          </a:p>
        </p:txBody>
      </p:sp>
      <p:sp>
        <p:nvSpPr>
          <p:cNvPr id="61445" name="Slide Number Placeholder 4"/>
          <p:cNvSpPr>
            <a:spLocks noGrp="1"/>
          </p:cNvSpPr>
          <p:nvPr>
            <p:ph type="sldNum" sz="quarter" idx="12"/>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797CCC2-26F9-4790-AF54-E615B79FC897}" type="slidenum">
              <a:rPr lang="en-US" altLang="en-US" sz="1200" smtClean="0">
                <a:latin typeface="Arial Black" panose="020B0A04020102020204" pitchFamily="34" charset="0"/>
              </a:rPr>
              <a:pPr>
                <a:spcBef>
                  <a:spcPct val="0"/>
                </a:spcBef>
                <a:buClrTx/>
                <a:buSzTx/>
                <a:buFontTx/>
                <a:buNone/>
              </a:pPr>
              <a:t>14</a:t>
            </a:fld>
            <a:endParaRPr lang="en-US" altLang="en-US" sz="1200" smtClean="0">
              <a:latin typeface="Arial Black" panose="020B0A04020102020204" pitchFamily="34" charset="0"/>
            </a:endParaRPr>
          </a:p>
        </p:txBody>
      </p:sp>
      <p:pic>
        <p:nvPicPr>
          <p:cNvPr id="6144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890713"/>
            <a:ext cx="23304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2566985"/>
            <a:ext cx="27384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9"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36888" y="4326729"/>
            <a:ext cx="19431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en-US" smtClean="0"/>
              <a:t>GVC.TS Vũ Kim Yến</a:t>
            </a:r>
            <a:endParaRPr lang="en-US"/>
          </a:p>
        </p:txBody>
      </p:sp>
    </p:spTree>
    <p:extLst>
      <p:ext uri="{BB962C8B-B14F-4D97-AF65-F5344CB8AC3E}">
        <p14:creationId xmlns:p14="http://schemas.microsoft.com/office/powerpoint/2010/main" val="9555579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4. </a:t>
            </a:r>
            <a:r>
              <a:rPr lang="en-US" sz="3600" b="1" dirty="0" err="1"/>
              <a:t>Các</a:t>
            </a:r>
            <a:r>
              <a:rPr lang="en-US" sz="3600" b="1" dirty="0"/>
              <a:t> </a:t>
            </a:r>
            <a:r>
              <a:rPr lang="en-US" sz="3600" b="1" dirty="0" err="1"/>
              <a:t>phương</a:t>
            </a:r>
            <a:r>
              <a:rPr lang="en-US" sz="3600" b="1" dirty="0"/>
              <a:t> </a:t>
            </a:r>
            <a:r>
              <a:rPr lang="en-US" sz="3600" b="1" dirty="0" err="1"/>
              <a:t>pháp</a:t>
            </a:r>
            <a:r>
              <a:rPr lang="en-US" sz="3600" b="1" dirty="0"/>
              <a:t> </a:t>
            </a:r>
            <a:r>
              <a:rPr lang="en-US" sz="3600" b="1" dirty="0" err="1"/>
              <a:t>tính</a:t>
            </a:r>
            <a:r>
              <a:rPr lang="en-US" sz="3600" b="1" dirty="0"/>
              <a:t> </a:t>
            </a:r>
            <a:r>
              <a:rPr lang="en-US" sz="3600" b="1" dirty="0" err="1"/>
              <a:t>khấu</a:t>
            </a:r>
            <a:r>
              <a:rPr lang="en-US" sz="3600" b="1" dirty="0"/>
              <a:t> </a:t>
            </a:r>
            <a:r>
              <a:rPr lang="en-US" sz="3600" b="1" dirty="0" err="1"/>
              <a:t>hao</a:t>
            </a:r>
            <a:r>
              <a:rPr lang="en-US" sz="3600" b="1" dirty="0"/>
              <a:t> </a:t>
            </a:r>
            <a:r>
              <a:rPr lang="en-US" sz="3600" b="1" dirty="0" err="1"/>
              <a:t>tài</a:t>
            </a:r>
            <a:r>
              <a:rPr lang="en-US" sz="3600" b="1" dirty="0"/>
              <a:t> </a:t>
            </a:r>
            <a:r>
              <a:rPr lang="en-US" sz="3600" b="1" dirty="0" err="1"/>
              <a:t>sản</a:t>
            </a:r>
            <a:r>
              <a:rPr lang="en-US" sz="3600" b="1" dirty="0"/>
              <a:t> </a:t>
            </a:r>
            <a:r>
              <a:rPr lang="en-US" sz="3600" b="1" dirty="0" err="1"/>
              <a:t>cố</a:t>
            </a:r>
            <a:r>
              <a:rPr lang="en-US" sz="3600" b="1" dirty="0"/>
              <a:t> </a:t>
            </a:r>
            <a:r>
              <a:rPr lang="en-US" sz="3600" b="1" dirty="0" err="1" smtClean="0"/>
              <a:t>định</a:t>
            </a:r>
            <a:endParaRPr lang="en-US" sz="3600" dirty="0"/>
          </a:p>
        </p:txBody>
      </p:sp>
      <p:sp>
        <p:nvSpPr>
          <p:cNvPr id="3" name="Content Placeholder 2"/>
          <p:cNvSpPr>
            <a:spLocks noGrp="1"/>
          </p:cNvSpPr>
          <p:nvPr>
            <p:ph idx="1"/>
          </p:nvPr>
        </p:nvSpPr>
        <p:spPr/>
        <p:txBody>
          <a:bodyPr/>
          <a:lstStyle/>
          <a:p>
            <a:pPr>
              <a:lnSpc>
                <a:spcPct val="150000"/>
              </a:lnSpc>
              <a:spcBef>
                <a:spcPts val="0"/>
              </a:spcBef>
            </a:pPr>
            <a:r>
              <a:rPr lang="en-US" sz="2400" dirty="0">
                <a:solidFill>
                  <a:schemeClr val="tx1"/>
                </a:solidFill>
              </a:rPr>
              <a:t>4.1.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đều</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thời</a:t>
            </a:r>
            <a:r>
              <a:rPr lang="en-US" sz="2400" dirty="0">
                <a:solidFill>
                  <a:schemeClr val="tx1"/>
                </a:solidFill>
              </a:rPr>
              <a:t> </a:t>
            </a:r>
            <a:r>
              <a:rPr lang="en-US" sz="2400" dirty="0" err="1">
                <a:solidFill>
                  <a:schemeClr val="tx1"/>
                </a:solidFill>
              </a:rPr>
              <a:t>gian</a:t>
            </a:r>
            <a:r>
              <a:rPr lang="en-US" sz="2400" dirty="0"/>
              <a:t/>
            </a:r>
            <a:br>
              <a:rPr lang="en-US" sz="2400" dirty="0"/>
            </a:br>
            <a:r>
              <a:rPr lang="en-US" sz="2400" dirty="0">
                <a:solidFill>
                  <a:schemeClr val="tx1"/>
                </a:solidFill>
              </a:rPr>
              <a:t>4.2.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smtClean="0">
                <a:solidFill>
                  <a:schemeClr val="tx1"/>
                </a:solidFill>
              </a:rPr>
              <a:t>theo</a:t>
            </a:r>
            <a:r>
              <a:rPr lang="en-US" sz="2400" dirty="0" smtClean="0">
                <a:solidFill>
                  <a:schemeClr val="tx1"/>
                </a:solidFill>
              </a:rPr>
              <a:t> </a:t>
            </a:r>
            <a:r>
              <a:rPr lang="en-US" sz="2400" dirty="0" err="1" smtClean="0">
                <a:solidFill>
                  <a:schemeClr val="tx1"/>
                </a:solidFill>
              </a:rPr>
              <a:t>số</a:t>
            </a:r>
            <a:r>
              <a:rPr lang="en-US" sz="2400" dirty="0" smtClean="0">
                <a:solidFill>
                  <a:schemeClr val="tx1"/>
                </a:solidFill>
              </a:rPr>
              <a:t> </a:t>
            </a:r>
            <a:r>
              <a:rPr lang="en-US" sz="2400" dirty="0" err="1" smtClean="0">
                <a:solidFill>
                  <a:schemeClr val="tx1"/>
                </a:solidFill>
              </a:rPr>
              <a:t>dư</a:t>
            </a:r>
            <a:r>
              <a:rPr lang="en-US" sz="2400" dirty="0" smtClean="0">
                <a:solidFill>
                  <a:schemeClr val="tx1"/>
                </a:solidFill>
              </a:rPr>
              <a:t> </a:t>
            </a:r>
            <a:r>
              <a:rPr lang="en-US" sz="2400" dirty="0" err="1" smtClean="0">
                <a:solidFill>
                  <a:schemeClr val="tx1"/>
                </a:solidFill>
              </a:rPr>
              <a:t>giảm</a:t>
            </a:r>
            <a:r>
              <a:rPr lang="en-US" sz="2400" dirty="0" smtClean="0">
                <a:solidFill>
                  <a:schemeClr val="tx1"/>
                </a:solidFill>
              </a:rPr>
              <a:t> </a:t>
            </a:r>
            <a:r>
              <a:rPr lang="en-US" sz="2400" dirty="0" err="1" smtClean="0">
                <a:solidFill>
                  <a:schemeClr val="tx1"/>
                </a:solidFill>
              </a:rPr>
              <a:t>dần</a:t>
            </a:r>
            <a:r>
              <a:rPr lang="en-US" sz="2400" dirty="0"/>
              <a:t/>
            </a:r>
            <a:br>
              <a:rPr lang="en-US" sz="2400" dirty="0"/>
            </a:br>
            <a:r>
              <a:rPr lang="en-US" sz="2400" dirty="0" smtClean="0">
                <a:solidFill>
                  <a:schemeClr val="tx1"/>
                </a:solidFill>
              </a:rPr>
              <a:t>4.3.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số</a:t>
            </a:r>
            <a:r>
              <a:rPr lang="en-US" sz="2400" dirty="0">
                <a:solidFill>
                  <a:schemeClr val="tx1"/>
                </a:solidFill>
              </a:rPr>
              <a:t> </a:t>
            </a:r>
            <a:r>
              <a:rPr lang="en-US" sz="2400" dirty="0" err="1">
                <a:solidFill>
                  <a:schemeClr val="tx1"/>
                </a:solidFill>
              </a:rPr>
              <a:t>dư</a:t>
            </a:r>
            <a:r>
              <a:rPr lang="en-US" sz="2400" dirty="0">
                <a:solidFill>
                  <a:schemeClr val="tx1"/>
                </a:solidFill>
              </a:rPr>
              <a:t> </a:t>
            </a:r>
            <a:r>
              <a:rPr lang="en-US" sz="2400" dirty="0" err="1">
                <a:solidFill>
                  <a:schemeClr val="tx1"/>
                </a:solidFill>
              </a:rPr>
              <a:t>giảm</a:t>
            </a:r>
            <a:r>
              <a:rPr lang="en-US" sz="2400" dirty="0">
                <a:solidFill>
                  <a:schemeClr val="tx1"/>
                </a:solidFill>
              </a:rPr>
              <a:t> </a:t>
            </a:r>
            <a:r>
              <a:rPr lang="en-US" sz="2400" dirty="0" err="1">
                <a:solidFill>
                  <a:schemeClr val="tx1"/>
                </a:solidFill>
              </a:rPr>
              <a:t>dần</a:t>
            </a:r>
            <a:r>
              <a:rPr lang="en-US" sz="2400" dirty="0">
                <a:solidFill>
                  <a:schemeClr val="tx1"/>
                </a:solidFill>
              </a:rPr>
              <a:t> </a:t>
            </a:r>
            <a:r>
              <a:rPr lang="en-US" sz="2400" dirty="0" err="1">
                <a:solidFill>
                  <a:schemeClr val="tx1"/>
                </a:solidFill>
              </a:rPr>
              <a:t>có</a:t>
            </a:r>
            <a:r>
              <a:rPr lang="en-US" sz="2400" dirty="0">
                <a:solidFill>
                  <a:schemeClr val="tx1"/>
                </a:solidFill>
              </a:rPr>
              <a:t> </a:t>
            </a:r>
            <a:r>
              <a:rPr lang="en-US" sz="2400" dirty="0" err="1">
                <a:solidFill>
                  <a:schemeClr val="tx1"/>
                </a:solidFill>
              </a:rPr>
              <a:t>điều</a:t>
            </a:r>
            <a:r>
              <a:rPr lang="en-US" sz="2400" dirty="0">
                <a:solidFill>
                  <a:schemeClr val="tx1"/>
                </a:solidFill>
              </a:rPr>
              <a:t> </a:t>
            </a:r>
            <a:r>
              <a:rPr lang="en-US" sz="2400" dirty="0" err="1">
                <a:solidFill>
                  <a:schemeClr val="tx1"/>
                </a:solidFill>
              </a:rPr>
              <a:t>chỉnh</a:t>
            </a:r>
            <a:r>
              <a:rPr lang="en-US" sz="2400" dirty="0">
                <a:solidFill>
                  <a:srgbClr val="FF0000"/>
                </a:solidFill>
              </a:rPr>
              <a:t/>
            </a:r>
            <a:br>
              <a:rPr lang="en-US" sz="2400" dirty="0">
                <a:solidFill>
                  <a:srgbClr val="FF0000"/>
                </a:solidFill>
              </a:rPr>
            </a:br>
            <a:r>
              <a:rPr lang="en-US" sz="2400" dirty="0" smtClean="0">
                <a:solidFill>
                  <a:srgbClr val="FF0000"/>
                </a:solidFill>
              </a:rPr>
              <a:t>4.4. </a:t>
            </a:r>
            <a:r>
              <a:rPr lang="en-US" sz="2400" dirty="0" err="1">
                <a:solidFill>
                  <a:srgbClr val="FF0000"/>
                </a:solidFill>
              </a:rPr>
              <a:t>Phương</a:t>
            </a:r>
            <a:r>
              <a:rPr lang="en-US" sz="2400" dirty="0">
                <a:solidFill>
                  <a:srgbClr val="FF0000"/>
                </a:solidFill>
              </a:rPr>
              <a:t> </a:t>
            </a:r>
            <a:r>
              <a:rPr lang="en-US" sz="2400" dirty="0" err="1">
                <a:solidFill>
                  <a:srgbClr val="FF0000"/>
                </a:solidFill>
              </a:rPr>
              <a:t>pháp</a:t>
            </a:r>
            <a:r>
              <a:rPr lang="en-US" sz="2400" dirty="0">
                <a:solidFill>
                  <a:srgbClr val="FF0000"/>
                </a:solidFill>
              </a:rPr>
              <a:t> </a:t>
            </a:r>
            <a:r>
              <a:rPr lang="en-US" sz="2400" dirty="0" err="1">
                <a:solidFill>
                  <a:srgbClr val="FF0000"/>
                </a:solidFill>
              </a:rPr>
              <a:t>khấu</a:t>
            </a:r>
            <a:r>
              <a:rPr lang="en-US" sz="2400" dirty="0">
                <a:solidFill>
                  <a:srgbClr val="FF0000"/>
                </a:solidFill>
              </a:rPr>
              <a:t> </a:t>
            </a:r>
            <a:r>
              <a:rPr lang="en-US" sz="2400" dirty="0" err="1">
                <a:solidFill>
                  <a:srgbClr val="FF0000"/>
                </a:solidFill>
              </a:rPr>
              <a:t>hao</a:t>
            </a:r>
            <a:r>
              <a:rPr lang="en-US" sz="2400" dirty="0">
                <a:solidFill>
                  <a:srgbClr val="FF0000"/>
                </a:solidFill>
              </a:rPr>
              <a:t> </a:t>
            </a:r>
            <a:r>
              <a:rPr lang="en-US" sz="2400" dirty="0" err="1">
                <a:solidFill>
                  <a:srgbClr val="FF0000"/>
                </a:solidFill>
              </a:rPr>
              <a:t>theo</a:t>
            </a:r>
            <a:r>
              <a:rPr lang="en-US" sz="2400" dirty="0">
                <a:solidFill>
                  <a:srgbClr val="FF0000"/>
                </a:solidFill>
              </a:rPr>
              <a:t> </a:t>
            </a:r>
            <a:r>
              <a:rPr lang="en-US" sz="2400" dirty="0" err="1">
                <a:solidFill>
                  <a:srgbClr val="FF0000"/>
                </a:solidFill>
              </a:rPr>
              <a:t>tổng</a:t>
            </a:r>
            <a:r>
              <a:rPr lang="en-US" sz="2400" dirty="0">
                <a:solidFill>
                  <a:srgbClr val="FF0000"/>
                </a:solidFill>
              </a:rPr>
              <a:t> </a:t>
            </a:r>
            <a:r>
              <a:rPr lang="en-US" sz="2400" dirty="0" err="1">
                <a:solidFill>
                  <a:srgbClr val="FF0000"/>
                </a:solidFill>
              </a:rPr>
              <a:t>số</a:t>
            </a:r>
            <a:r>
              <a:rPr lang="en-US" sz="2400" dirty="0">
                <a:solidFill>
                  <a:srgbClr val="FF0000"/>
                </a:solidFill>
              </a:rPr>
              <a:t> </a:t>
            </a:r>
            <a:r>
              <a:rPr lang="en-US" sz="2400" dirty="0" err="1">
                <a:solidFill>
                  <a:srgbClr val="FF0000"/>
                </a:solidFill>
              </a:rPr>
              <a:t>thứ</a:t>
            </a:r>
            <a:r>
              <a:rPr lang="en-US" sz="2400" dirty="0">
                <a:solidFill>
                  <a:srgbClr val="FF0000"/>
                </a:solidFill>
              </a:rPr>
              <a:t> </a:t>
            </a:r>
            <a:r>
              <a:rPr lang="en-US" sz="2400" dirty="0" err="1">
                <a:solidFill>
                  <a:srgbClr val="FF0000"/>
                </a:solidFill>
              </a:rPr>
              <a:t>tự</a:t>
            </a:r>
            <a:r>
              <a:rPr lang="en-US" sz="2400" dirty="0">
                <a:solidFill>
                  <a:srgbClr val="FF0000"/>
                </a:solidFill>
              </a:rPr>
              <a:t> </a:t>
            </a:r>
            <a:r>
              <a:rPr lang="en-US" sz="2400" dirty="0" err="1">
                <a:solidFill>
                  <a:srgbClr val="FF0000"/>
                </a:solidFill>
              </a:rPr>
              <a:t>thời</a:t>
            </a:r>
            <a:r>
              <a:rPr lang="en-US" sz="2400" dirty="0">
                <a:solidFill>
                  <a:srgbClr val="FF0000"/>
                </a:solidFill>
              </a:rPr>
              <a:t> </a:t>
            </a:r>
            <a:r>
              <a:rPr lang="en-US" sz="2400" dirty="0" err="1">
                <a:solidFill>
                  <a:srgbClr val="FF0000"/>
                </a:solidFill>
              </a:rPr>
              <a:t>gian</a:t>
            </a:r>
            <a:r>
              <a:rPr lang="en-US" sz="2400" dirty="0">
                <a:solidFill>
                  <a:srgbClr val="FF0000"/>
                </a:solidFill>
              </a:rPr>
              <a:t> </a:t>
            </a:r>
            <a:r>
              <a:rPr lang="en-US" sz="2400" dirty="0" err="1">
                <a:solidFill>
                  <a:srgbClr val="FF0000"/>
                </a:solidFill>
              </a:rPr>
              <a:t>tính</a:t>
            </a:r>
            <a:r>
              <a:rPr lang="en-US" sz="2400" dirty="0">
                <a:solidFill>
                  <a:srgbClr val="FF0000"/>
                </a:solidFill>
              </a:rPr>
              <a:t> </a:t>
            </a:r>
            <a:r>
              <a:rPr lang="en-US" sz="2400" dirty="0" err="1">
                <a:solidFill>
                  <a:srgbClr val="FF0000"/>
                </a:solidFill>
              </a:rPr>
              <a:t>khấu</a:t>
            </a:r>
            <a:r>
              <a:rPr lang="en-US" sz="2400" dirty="0">
                <a:solidFill>
                  <a:srgbClr val="FF0000"/>
                </a:solidFill>
              </a:rPr>
              <a:t> </a:t>
            </a:r>
            <a:r>
              <a:rPr lang="en-US" sz="2400" dirty="0" err="1">
                <a:solidFill>
                  <a:srgbClr val="FF0000"/>
                </a:solidFill>
              </a:rPr>
              <a:t>hao</a:t>
            </a:r>
            <a:r>
              <a:rPr lang="en-US" sz="2400" dirty="0"/>
              <a:t/>
            </a:r>
            <a:br>
              <a:rPr lang="en-US" sz="2400" dirty="0"/>
            </a:br>
            <a:r>
              <a:rPr lang="en-US" sz="2400" dirty="0" smtClean="0"/>
              <a:t>4.5. </a:t>
            </a:r>
            <a:r>
              <a:rPr lang="en-US" sz="2400" dirty="0" err="1"/>
              <a:t>Phương</a:t>
            </a:r>
            <a:r>
              <a:rPr lang="en-US" sz="2400" dirty="0"/>
              <a:t> </a:t>
            </a:r>
            <a:r>
              <a:rPr lang="en-US" sz="2400" dirty="0" err="1"/>
              <a:t>pháp</a:t>
            </a:r>
            <a:r>
              <a:rPr lang="en-US" sz="2400" dirty="0"/>
              <a:t> </a:t>
            </a:r>
            <a:r>
              <a:rPr lang="en-US" sz="2400" dirty="0" err="1"/>
              <a:t>khấu</a:t>
            </a:r>
            <a:r>
              <a:rPr lang="en-US" sz="2400" dirty="0"/>
              <a:t> </a:t>
            </a:r>
            <a:r>
              <a:rPr lang="en-US" sz="2400" dirty="0" err="1"/>
              <a:t>hao</a:t>
            </a:r>
            <a:r>
              <a:rPr lang="en-US" sz="2400" dirty="0"/>
              <a:t> </a:t>
            </a:r>
            <a:r>
              <a:rPr lang="en-US" sz="2400" dirty="0" err="1"/>
              <a:t>theo</a:t>
            </a:r>
            <a:r>
              <a:rPr lang="en-US" sz="2400" dirty="0"/>
              <a:t> </a:t>
            </a:r>
            <a:r>
              <a:rPr lang="en-US" sz="2400" dirty="0" err="1"/>
              <a:t>sản</a:t>
            </a:r>
            <a:r>
              <a:rPr lang="en-US" sz="2400" dirty="0"/>
              <a:t> </a:t>
            </a:r>
            <a:r>
              <a:rPr lang="en-US" sz="2400" dirty="0" err="1"/>
              <a:t>lượng</a:t>
            </a:r>
            <a:endParaRPr lang="en-US" sz="2400" dirty="0"/>
          </a:p>
          <a:p>
            <a:endParaRPr lang="en-US" dirty="0"/>
          </a:p>
        </p:txBody>
      </p:sp>
      <p:sp>
        <p:nvSpPr>
          <p:cNvPr id="4" name="Date Placeholder 3"/>
          <p:cNvSpPr>
            <a:spLocks noGrp="1"/>
          </p:cNvSpPr>
          <p:nvPr>
            <p:ph type="dt" sz="half" idx="10"/>
          </p:nvPr>
        </p:nvSpPr>
        <p:spPr/>
        <p:txBody>
          <a:bodyPr/>
          <a:lstStyle/>
          <a:p>
            <a:fld id="{940B36F8-6E70-45F0-8930-A328D433CF76}"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15</a:t>
            </a:fld>
            <a:endParaRPr lang="en-US"/>
          </a:p>
        </p:txBody>
      </p:sp>
    </p:spTree>
    <p:extLst>
      <p:ext uri="{BB962C8B-B14F-4D97-AF65-F5344CB8AC3E}">
        <p14:creationId xmlns:p14="http://schemas.microsoft.com/office/powerpoint/2010/main" val="28479387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z="2400" spc="0" dirty="0">
                <a:solidFill>
                  <a:srgbClr val="FF0000"/>
                </a:solidFill>
                <a:latin typeface="Calibri" panose="020F0502020204030204"/>
                <a:ea typeface="+mn-ea"/>
                <a:cs typeface="+mn-cs"/>
              </a:rPr>
              <a:t>4.4. </a:t>
            </a:r>
            <a:r>
              <a:rPr lang="en-US" sz="2400" spc="0" dirty="0" err="1">
                <a:solidFill>
                  <a:srgbClr val="FF0000"/>
                </a:solidFill>
                <a:latin typeface="Calibri" panose="020F0502020204030204"/>
                <a:ea typeface="+mn-ea"/>
                <a:cs typeface="+mn-cs"/>
              </a:rPr>
              <a:t>Phương</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pháp</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khấu</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hao</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theo</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tổng</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số</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thứ</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tự</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thời</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gian</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tính</a:t>
            </a:r>
            <a:r>
              <a:rPr lang="en-US" sz="2400" spc="0" dirty="0">
                <a:solidFill>
                  <a:srgbClr val="FF0000"/>
                </a:solidFill>
                <a:latin typeface="Calibri" panose="020F0502020204030204"/>
                <a:ea typeface="+mn-ea"/>
                <a:cs typeface="+mn-cs"/>
              </a:rPr>
              <a:t> </a:t>
            </a:r>
            <a:r>
              <a:rPr lang="en-US" sz="2400" spc="0" dirty="0" err="1">
                <a:solidFill>
                  <a:srgbClr val="FF0000"/>
                </a:solidFill>
                <a:latin typeface="Calibri" panose="020F0502020204030204"/>
                <a:ea typeface="+mn-ea"/>
                <a:cs typeface="+mn-cs"/>
              </a:rPr>
              <a:t>khấu</a:t>
            </a:r>
            <a:r>
              <a:rPr lang="en-US" sz="2400" spc="0" dirty="0">
                <a:solidFill>
                  <a:srgbClr val="FF0000"/>
                </a:solidFill>
                <a:latin typeface="Calibri" panose="020F0502020204030204"/>
                <a:ea typeface="+mn-ea"/>
                <a:cs typeface="+mn-cs"/>
              </a:rPr>
              <a:t> </a:t>
            </a:r>
            <a:r>
              <a:rPr lang="en-US" sz="2400" spc="0" dirty="0" err="1" smtClean="0">
                <a:solidFill>
                  <a:srgbClr val="FF0000"/>
                </a:solidFill>
                <a:latin typeface="Calibri" panose="020F0502020204030204"/>
                <a:ea typeface="+mn-ea"/>
                <a:cs typeface="+mn-cs"/>
              </a:rPr>
              <a:t>hao</a:t>
            </a:r>
            <a:r>
              <a:rPr lang="en-US" sz="2400" spc="0" dirty="0" smtClean="0">
                <a:solidFill>
                  <a:srgbClr val="FF0000"/>
                </a:solidFill>
                <a:latin typeface="Calibri" panose="020F0502020204030204"/>
                <a:ea typeface="+mn-ea"/>
                <a:cs typeface="+mn-cs"/>
              </a:rPr>
              <a:t/>
            </a:r>
            <a:br>
              <a:rPr lang="en-US" sz="2400" spc="0" dirty="0" smtClean="0">
                <a:solidFill>
                  <a:srgbClr val="FF0000"/>
                </a:solidFill>
                <a:latin typeface="Calibri" panose="020F0502020204030204"/>
                <a:ea typeface="+mn-ea"/>
                <a:cs typeface="+mn-cs"/>
              </a:rPr>
            </a:br>
            <a:endParaRPr lang="en-US" altLang="en-US" dirty="0" smtClean="0"/>
          </a:p>
        </p:txBody>
      </p:sp>
      <p:sp>
        <p:nvSpPr>
          <p:cNvPr id="63491" name="Content Placeholder 2"/>
          <p:cNvSpPr>
            <a:spLocks noGrp="1"/>
          </p:cNvSpPr>
          <p:nvPr>
            <p:ph idx="1"/>
          </p:nvPr>
        </p:nvSpPr>
        <p:spPr>
          <a:xfrm>
            <a:off x="239713" y="1606550"/>
            <a:ext cx="7924800" cy="4419600"/>
          </a:xfrm>
        </p:spPr>
        <p:txBody>
          <a:bodyPr/>
          <a:lstStyle/>
          <a:p>
            <a:pPr marL="0" indent="0" algn="just">
              <a:spcBef>
                <a:spcPct val="0"/>
              </a:spcBef>
              <a:buFont typeface="Wingdings" panose="05000000000000000000" pitchFamily="2" charset="2"/>
              <a:buNone/>
            </a:pPr>
            <a:r>
              <a:rPr lang="en-US" altLang="en-US" sz="2400" i="1" dirty="0" smtClean="0">
                <a:latin typeface="Times New Roman" panose="02020603050405020304" pitchFamily="18" charset="0"/>
                <a:cs typeface="Times New Roman" panose="02020603050405020304" pitchFamily="18" charset="0"/>
              </a:rPr>
              <a:t> </a:t>
            </a:r>
            <a:endParaRPr lang="en-US" altLang="en-US" sz="24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buFont typeface="Wingdings" panose="05000000000000000000" pitchFamily="2" charset="2"/>
              <a:buNone/>
            </a:pPr>
            <a:endParaRPr lang="en-US" altLang="en-US" sz="2800" dirty="0" smtClean="0"/>
          </a:p>
          <a:p>
            <a:pPr marL="0" indent="0">
              <a:buFont typeface="Wingdings" panose="05000000000000000000" pitchFamily="2" charset="2"/>
              <a:buNone/>
            </a:pPr>
            <a:endParaRPr lang="en-US" altLang="en-US" sz="2400" b="1" dirty="0" smtClean="0">
              <a:latin typeface="Times New Roman" panose="02020603050405020304" pitchFamily="18" charset="0"/>
              <a:cs typeface="Times New Roman" panose="02020603050405020304" pitchFamily="18" charset="0"/>
            </a:endParaRPr>
          </a:p>
        </p:txBody>
      </p:sp>
      <p:sp>
        <p:nvSpPr>
          <p:cNvPr id="63492" name="Date Placeholder 3"/>
          <p:cNvSpPr>
            <a:spLocks noGrp="1"/>
          </p:cNvSpPr>
          <p:nvPr>
            <p:ph type="dt" sz="quarter" idx="10"/>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F566AC4-4468-483E-B8C8-853D0B3B3B11}" type="datetime1">
              <a:rPr lang="en-US" altLang="en-US" sz="1200" smtClean="0">
                <a:solidFill>
                  <a:srgbClr val="000000"/>
                </a:solidFill>
              </a:rPr>
              <a:t>2/8/2022</a:t>
            </a:fld>
            <a:endParaRPr lang="en-US" altLang="en-US" sz="1200" smtClean="0">
              <a:solidFill>
                <a:srgbClr val="000000"/>
              </a:solidFill>
            </a:endParaRPr>
          </a:p>
        </p:txBody>
      </p:sp>
      <p:sp>
        <p:nvSpPr>
          <p:cNvPr id="63493" name="Slide Number Placeholder 4"/>
          <p:cNvSpPr>
            <a:spLocks noGrp="1"/>
          </p:cNvSpPr>
          <p:nvPr>
            <p:ph type="sldNum" sz="quarter" idx="12"/>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533AD18B-0B4F-499B-8819-CCCF42D36573}" type="slidenum">
              <a:rPr lang="en-US" altLang="en-US" sz="1200" smtClean="0">
                <a:solidFill>
                  <a:srgbClr val="000000"/>
                </a:solidFill>
                <a:latin typeface="Arial Black" panose="020B0A04020102020204" pitchFamily="34" charset="0"/>
              </a:rPr>
              <a:pPr>
                <a:spcBef>
                  <a:spcPct val="0"/>
                </a:spcBef>
                <a:buClrTx/>
                <a:buSzTx/>
                <a:buFontTx/>
                <a:buNone/>
              </a:pPr>
              <a:t>16</a:t>
            </a:fld>
            <a:endParaRPr lang="en-US" altLang="en-US" sz="1200" smtClean="0">
              <a:solidFill>
                <a:srgbClr val="000000"/>
              </a:solidFill>
              <a:latin typeface="Arial Black" panose="020B0A04020102020204" pitchFamily="34" charset="0"/>
            </a:endParaRPr>
          </a:p>
        </p:txBody>
      </p:sp>
      <p:pic>
        <p:nvPicPr>
          <p:cNvPr id="6349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3351" y="2133601"/>
            <a:ext cx="2559050" cy="84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1343" y="3151823"/>
            <a:ext cx="2597988" cy="1456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extLst>
              <p:ext uri="{D42A27DB-BD31-4B8C-83A1-F6EECF244321}">
                <p14:modId xmlns:p14="http://schemas.microsoft.com/office/powerpoint/2010/main" val="2893442255"/>
              </p:ext>
            </p:extLst>
          </p:nvPr>
        </p:nvGraphicFramePr>
        <p:xfrm>
          <a:off x="1009650" y="3090863"/>
          <a:ext cx="7523163" cy="2757487"/>
        </p:xfrm>
        <a:graphic>
          <a:graphicData uri="http://schemas.openxmlformats.org/drawingml/2006/table">
            <a:tbl>
              <a:tblPr/>
              <a:tblGrid>
                <a:gridCol w="3760788">
                  <a:extLst>
                    <a:ext uri="{9D8B030D-6E8A-4147-A177-3AD203B41FA5}">
                      <a16:colId xmlns:a16="http://schemas.microsoft.com/office/drawing/2014/main" val="2992298432"/>
                    </a:ext>
                  </a:extLst>
                </a:gridCol>
                <a:gridCol w="3762375">
                  <a:extLst>
                    <a:ext uri="{9D8B030D-6E8A-4147-A177-3AD203B41FA5}">
                      <a16:colId xmlns:a16="http://schemas.microsoft.com/office/drawing/2014/main" val="709370478"/>
                    </a:ext>
                  </a:extLst>
                </a:gridCol>
              </a:tblGrid>
              <a:tr h="2757487">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1" i="0" u="none" strike="noStrike" cap="none" normalizeH="0" baseline="0" dirty="0" smtClean="0">
                        <a:ln>
                          <a:noFill/>
                        </a:ln>
                        <a:solidFill>
                          <a:srgbClr val="FFFFFF"/>
                        </a:solidFill>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1" i="0" u="none" strike="noStrike" cap="none" normalizeH="0" baseline="0" dirty="0" smtClean="0">
                        <a:ln>
                          <a:noFill/>
                        </a:ln>
                        <a:solidFill>
                          <a:srgbClr val="FFFFFF"/>
                        </a:solidFill>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34305103"/>
                  </a:ext>
                </a:extLst>
              </a:tr>
            </a:tbl>
          </a:graphicData>
        </a:graphic>
      </p:graphicFrame>
      <p:sp>
        <p:nvSpPr>
          <p:cNvPr id="2" name="Footer Placeholder 1"/>
          <p:cNvSpPr>
            <a:spLocks noGrp="1"/>
          </p:cNvSpPr>
          <p:nvPr>
            <p:ph type="ftr" sz="quarter" idx="11"/>
          </p:nvPr>
        </p:nvSpPr>
        <p:spPr/>
        <p:txBody>
          <a:bodyPr/>
          <a:lstStyle/>
          <a:p>
            <a:r>
              <a:rPr lang="en-US" smtClean="0"/>
              <a:t>GVC.TS Vũ Kim Yến</a:t>
            </a:r>
            <a:endParaRPr lang="en-US"/>
          </a:p>
        </p:txBody>
      </p:sp>
    </p:spTree>
    <p:extLst>
      <p:ext uri="{BB962C8B-B14F-4D97-AF65-F5344CB8AC3E}">
        <p14:creationId xmlns:p14="http://schemas.microsoft.com/office/powerpoint/2010/main" val="16842782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4. </a:t>
            </a:r>
            <a:r>
              <a:rPr lang="en-US" sz="3600" b="1" dirty="0" err="1"/>
              <a:t>Các</a:t>
            </a:r>
            <a:r>
              <a:rPr lang="en-US" sz="3600" b="1" dirty="0"/>
              <a:t> </a:t>
            </a:r>
            <a:r>
              <a:rPr lang="en-US" sz="3600" b="1" dirty="0" err="1"/>
              <a:t>phương</a:t>
            </a:r>
            <a:r>
              <a:rPr lang="en-US" sz="3600" b="1" dirty="0"/>
              <a:t> </a:t>
            </a:r>
            <a:r>
              <a:rPr lang="en-US" sz="3600" b="1" dirty="0" err="1"/>
              <a:t>pháp</a:t>
            </a:r>
            <a:r>
              <a:rPr lang="en-US" sz="3600" b="1" dirty="0"/>
              <a:t> </a:t>
            </a:r>
            <a:r>
              <a:rPr lang="en-US" sz="3600" b="1" dirty="0" err="1"/>
              <a:t>tính</a:t>
            </a:r>
            <a:r>
              <a:rPr lang="en-US" sz="3600" b="1" dirty="0"/>
              <a:t> </a:t>
            </a:r>
            <a:r>
              <a:rPr lang="en-US" sz="3600" b="1" dirty="0" err="1"/>
              <a:t>khấu</a:t>
            </a:r>
            <a:r>
              <a:rPr lang="en-US" sz="3600" b="1" dirty="0"/>
              <a:t> </a:t>
            </a:r>
            <a:r>
              <a:rPr lang="en-US" sz="3600" b="1" dirty="0" err="1"/>
              <a:t>hao</a:t>
            </a:r>
            <a:r>
              <a:rPr lang="en-US" sz="3600" b="1" dirty="0"/>
              <a:t> </a:t>
            </a:r>
            <a:r>
              <a:rPr lang="en-US" sz="3600" b="1" dirty="0" err="1"/>
              <a:t>tài</a:t>
            </a:r>
            <a:r>
              <a:rPr lang="en-US" sz="3600" b="1" dirty="0"/>
              <a:t> </a:t>
            </a:r>
            <a:r>
              <a:rPr lang="en-US" sz="3600" b="1" dirty="0" err="1"/>
              <a:t>sản</a:t>
            </a:r>
            <a:r>
              <a:rPr lang="en-US" sz="3600" b="1" dirty="0"/>
              <a:t> </a:t>
            </a:r>
            <a:r>
              <a:rPr lang="en-US" sz="3600" b="1" dirty="0" err="1"/>
              <a:t>cố</a:t>
            </a:r>
            <a:r>
              <a:rPr lang="en-US" sz="3600" b="1" dirty="0"/>
              <a:t> </a:t>
            </a:r>
            <a:r>
              <a:rPr lang="en-US" sz="3600" b="1" dirty="0" err="1" smtClean="0"/>
              <a:t>định</a:t>
            </a:r>
            <a:endParaRPr lang="en-US" sz="3600" dirty="0"/>
          </a:p>
        </p:txBody>
      </p:sp>
      <p:sp>
        <p:nvSpPr>
          <p:cNvPr id="3" name="Content Placeholder 2"/>
          <p:cNvSpPr>
            <a:spLocks noGrp="1"/>
          </p:cNvSpPr>
          <p:nvPr>
            <p:ph idx="1"/>
          </p:nvPr>
        </p:nvSpPr>
        <p:spPr/>
        <p:txBody>
          <a:bodyPr/>
          <a:lstStyle/>
          <a:p>
            <a:pPr>
              <a:lnSpc>
                <a:spcPct val="150000"/>
              </a:lnSpc>
              <a:spcBef>
                <a:spcPts val="0"/>
              </a:spcBef>
            </a:pPr>
            <a:r>
              <a:rPr lang="en-US" sz="2400" dirty="0">
                <a:solidFill>
                  <a:schemeClr val="tx1"/>
                </a:solidFill>
              </a:rPr>
              <a:t>4.1.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đều</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thời</a:t>
            </a:r>
            <a:r>
              <a:rPr lang="en-US" sz="2400" dirty="0">
                <a:solidFill>
                  <a:schemeClr val="tx1"/>
                </a:solidFill>
              </a:rPr>
              <a:t> </a:t>
            </a:r>
            <a:r>
              <a:rPr lang="en-US" sz="2400" dirty="0" err="1">
                <a:solidFill>
                  <a:schemeClr val="tx1"/>
                </a:solidFill>
              </a:rPr>
              <a:t>gian</a:t>
            </a:r>
            <a:r>
              <a:rPr lang="en-US" sz="2400" dirty="0"/>
              <a:t/>
            </a:r>
            <a:br>
              <a:rPr lang="en-US" sz="2400" dirty="0"/>
            </a:br>
            <a:r>
              <a:rPr lang="en-US" sz="2400" dirty="0">
                <a:solidFill>
                  <a:schemeClr val="tx1"/>
                </a:solidFill>
              </a:rPr>
              <a:t>4.2.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smtClean="0">
                <a:solidFill>
                  <a:schemeClr val="tx1"/>
                </a:solidFill>
              </a:rPr>
              <a:t>theo</a:t>
            </a:r>
            <a:r>
              <a:rPr lang="en-US" sz="2400" dirty="0" smtClean="0">
                <a:solidFill>
                  <a:schemeClr val="tx1"/>
                </a:solidFill>
              </a:rPr>
              <a:t> </a:t>
            </a:r>
            <a:r>
              <a:rPr lang="en-US" sz="2400" dirty="0" err="1" smtClean="0">
                <a:solidFill>
                  <a:schemeClr val="tx1"/>
                </a:solidFill>
              </a:rPr>
              <a:t>số</a:t>
            </a:r>
            <a:r>
              <a:rPr lang="en-US" sz="2400" dirty="0" smtClean="0">
                <a:solidFill>
                  <a:schemeClr val="tx1"/>
                </a:solidFill>
              </a:rPr>
              <a:t> </a:t>
            </a:r>
            <a:r>
              <a:rPr lang="en-US" sz="2400" dirty="0" err="1" smtClean="0">
                <a:solidFill>
                  <a:schemeClr val="tx1"/>
                </a:solidFill>
              </a:rPr>
              <a:t>dư</a:t>
            </a:r>
            <a:r>
              <a:rPr lang="en-US" sz="2400" dirty="0" smtClean="0">
                <a:solidFill>
                  <a:schemeClr val="tx1"/>
                </a:solidFill>
              </a:rPr>
              <a:t> </a:t>
            </a:r>
            <a:r>
              <a:rPr lang="en-US" sz="2400" dirty="0" err="1" smtClean="0">
                <a:solidFill>
                  <a:schemeClr val="tx1"/>
                </a:solidFill>
              </a:rPr>
              <a:t>giảm</a:t>
            </a:r>
            <a:r>
              <a:rPr lang="en-US" sz="2400" dirty="0" smtClean="0">
                <a:solidFill>
                  <a:schemeClr val="tx1"/>
                </a:solidFill>
              </a:rPr>
              <a:t> </a:t>
            </a:r>
            <a:r>
              <a:rPr lang="en-US" sz="2400" dirty="0" err="1" smtClean="0">
                <a:solidFill>
                  <a:schemeClr val="tx1"/>
                </a:solidFill>
              </a:rPr>
              <a:t>dần</a:t>
            </a:r>
            <a:r>
              <a:rPr lang="en-US" sz="2400" dirty="0"/>
              <a:t/>
            </a:r>
            <a:br>
              <a:rPr lang="en-US" sz="2400" dirty="0"/>
            </a:br>
            <a:r>
              <a:rPr lang="en-US" sz="2400" dirty="0" smtClean="0">
                <a:solidFill>
                  <a:schemeClr val="tx1"/>
                </a:solidFill>
              </a:rPr>
              <a:t>4.3.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số</a:t>
            </a:r>
            <a:r>
              <a:rPr lang="en-US" sz="2400" dirty="0">
                <a:solidFill>
                  <a:schemeClr val="tx1"/>
                </a:solidFill>
              </a:rPr>
              <a:t> </a:t>
            </a:r>
            <a:r>
              <a:rPr lang="en-US" sz="2400" dirty="0" err="1">
                <a:solidFill>
                  <a:schemeClr val="tx1"/>
                </a:solidFill>
              </a:rPr>
              <a:t>dư</a:t>
            </a:r>
            <a:r>
              <a:rPr lang="en-US" sz="2400" dirty="0">
                <a:solidFill>
                  <a:schemeClr val="tx1"/>
                </a:solidFill>
              </a:rPr>
              <a:t> </a:t>
            </a:r>
            <a:r>
              <a:rPr lang="en-US" sz="2400" dirty="0" err="1">
                <a:solidFill>
                  <a:schemeClr val="tx1"/>
                </a:solidFill>
              </a:rPr>
              <a:t>giảm</a:t>
            </a:r>
            <a:r>
              <a:rPr lang="en-US" sz="2400" dirty="0">
                <a:solidFill>
                  <a:schemeClr val="tx1"/>
                </a:solidFill>
              </a:rPr>
              <a:t> </a:t>
            </a:r>
            <a:r>
              <a:rPr lang="en-US" sz="2400" dirty="0" err="1">
                <a:solidFill>
                  <a:schemeClr val="tx1"/>
                </a:solidFill>
              </a:rPr>
              <a:t>dần</a:t>
            </a:r>
            <a:r>
              <a:rPr lang="en-US" sz="2400" dirty="0">
                <a:solidFill>
                  <a:schemeClr val="tx1"/>
                </a:solidFill>
              </a:rPr>
              <a:t> </a:t>
            </a:r>
            <a:r>
              <a:rPr lang="en-US" sz="2400" dirty="0" err="1">
                <a:solidFill>
                  <a:schemeClr val="tx1"/>
                </a:solidFill>
              </a:rPr>
              <a:t>có</a:t>
            </a:r>
            <a:r>
              <a:rPr lang="en-US" sz="2400" dirty="0">
                <a:solidFill>
                  <a:schemeClr val="tx1"/>
                </a:solidFill>
              </a:rPr>
              <a:t> </a:t>
            </a:r>
            <a:r>
              <a:rPr lang="en-US" sz="2400" dirty="0" err="1">
                <a:solidFill>
                  <a:schemeClr val="tx1"/>
                </a:solidFill>
              </a:rPr>
              <a:t>điều</a:t>
            </a:r>
            <a:r>
              <a:rPr lang="en-US" sz="2400" dirty="0">
                <a:solidFill>
                  <a:schemeClr val="tx1"/>
                </a:solidFill>
              </a:rPr>
              <a:t> </a:t>
            </a:r>
            <a:r>
              <a:rPr lang="en-US" sz="2400" dirty="0" err="1">
                <a:solidFill>
                  <a:schemeClr val="tx1"/>
                </a:solidFill>
              </a:rPr>
              <a:t>chỉnh</a:t>
            </a:r>
            <a:r>
              <a:rPr lang="en-US" sz="2400" dirty="0">
                <a:solidFill>
                  <a:srgbClr val="FF0000"/>
                </a:solidFill>
              </a:rPr>
              <a:t/>
            </a:r>
            <a:br>
              <a:rPr lang="en-US" sz="2400" dirty="0">
                <a:solidFill>
                  <a:srgbClr val="FF0000"/>
                </a:solidFill>
              </a:rPr>
            </a:br>
            <a:r>
              <a:rPr lang="en-US" sz="2400" dirty="0" smtClean="0">
                <a:solidFill>
                  <a:schemeClr val="tx1"/>
                </a:solidFill>
              </a:rPr>
              <a:t>4.4.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solidFill>
                  <a:schemeClr val="tx1"/>
                </a:solidFill>
              </a:rPr>
              <a:t> </a:t>
            </a:r>
            <a:r>
              <a:rPr lang="en-US" sz="2400" dirty="0" err="1">
                <a:solidFill>
                  <a:schemeClr val="tx1"/>
                </a:solidFill>
              </a:rPr>
              <a:t>theo</a:t>
            </a:r>
            <a:r>
              <a:rPr lang="en-US" sz="2400" dirty="0">
                <a:solidFill>
                  <a:schemeClr val="tx1"/>
                </a:solidFill>
              </a:rPr>
              <a:t> </a:t>
            </a:r>
            <a:r>
              <a:rPr lang="en-US" sz="2400" dirty="0" err="1">
                <a:solidFill>
                  <a:schemeClr val="tx1"/>
                </a:solidFill>
              </a:rPr>
              <a:t>tổng</a:t>
            </a:r>
            <a:r>
              <a:rPr lang="en-US" sz="2400" dirty="0">
                <a:solidFill>
                  <a:schemeClr val="tx1"/>
                </a:solidFill>
              </a:rPr>
              <a:t> </a:t>
            </a:r>
            <a:r>
              <a:rPr lang="en-US" sz="2400" dirty="0" err="1">
                <a:solidFill>
                  <a:schemeClr val="tx1"/>
                </a:solidFill>
              </a:rPr>
              <a:t>số</a:t>
            </a:r>
            <a:r>
              <a:rPr lang="en-US" sz="2400" dirty="0">
                <a:solidFill>
                  <a:schemeClr val="tx1"/>
                </a:solidFill>
              </a:rPr>
              <a:t> </a:t>
            </a:r>
            <a:r>
              <a:rPr lang="en-US" sz="2400" dirty="0" err="1">
                <a:solidFill>
                  <a:schemeClr val="tx1"/>
                </a:solidFill>
              </a:rPr>
              <a:t>thứ</a:t>
            </a:r>
            <a:r>
              <a:rPr lang="en-US" sz="2400" dirty="0">
                <a:solidFill>
                  <a:schemeClr val="tx1"/>
                </a:solidFill>
              </a:rPr>
              <a:t> </a:t>
            </a:r>
            <a:r>
              <a:rPr lang="en-US" sz="2400" dirty="0" err="1">
                <a:solidFill>
                  <a:schemeClr val="tx1"/>
                </a:solidFill>
              </a:rPr>
              <a:t>tự</a:t>
            </a:r>
            <a:r>
              <a:rPr lang="en-US" sz="2400" dirty="0">
                <a:solidFill>
                  <a:schemeClr val="tx1"/>
                </a:solidFill>
              </a:rPr>
              <a:t> </a:t>
            </a:r>
            <a:r>
              <a:rPr lang="en-US" sz="2400" dirty="0" err="1">
                <a:solidFill>
                  <a:schemeClr val="tx1"/>
                </a:solidFill>
              </a:rPr>
              <a:t>thời</a:t>
            </a:r>
            <a:r>
              <a:rPr lang="en-US" sz="2400" dirty="0">
                <a:solidFill>
                  <a:schemeClr val="tx1"/>
                </a:solidFill>
              </a:rPr>
              <a:t> </a:t>
            </a:r>
            <a:r>
              <a:rPr lang="en-US" sz="2400" dirty="0" err="1">
                <a:solidFill>
                  <a:schemeClr val="tx1"/>
                </a:solidFill>
              </a:rPr>
              <a:t>gian</a:t>
            </a:r>
            <a:r>
              <a:rPr lang="en-US" sz="2400" dirty="0">
                <a:solidFill>
                  <a:schemeClr val="tx1"/>
                </a:solidFill>
              </a:rPr>
              <a:t> </a:t>
            </a:r>
            <a:r>
              <a:rPr lang="en-US" sz="2400" dirty="0" err="1">
                <a:solidFill>
                  <a:schemeClr val="tx1"/>
                </a:solidFill>
              </a:rPr>
              <a:t>tính</a:t>
            </a:r>
            <a:r>
              <a:rPr lang="en-US" sz="2400" dirty="0">
                <a:solidFill>
                  <a:schemeClr val="tx1"/>
                </a:solidFill>
              </a:rPr>
              <a:t> </a:t>
            </a:r>
            <a:r>
              <a:rPr lang="en-US" sz="2400" dirty="0" err="1">
                <a:solidFill>
                  <a:schemeClr val="tx1"/>
                </a:solidFill>
              </a:rPr>
              <a:t>khấu</a:t>
            </a:r>
            <a:r>
              <a:rPr lang="en-US" sz="2400" dirty="0">
                <a:solidFill>
                  <a:schemeClr val="tx1"/>
                </a:solidFill>
              </a:rPr>
              <a:t> </a:t>
            </a:r>
            <a:r>
              <a:rPr lang="en-US" sz="2400" dirty="0" err="1">
                <a:solidFill>
                  <a:schemeClr val="tx1"/>
                </a:solidFill>
              </a:rPr>
              <a:t>hao</a:t>
            </a:r>
            <a:r>
              <a:rPr lang="en-US" sz="2400" dirty="0"/>
              <a:t/>
            </a:r>
            <a:br>
              <a:rPr lang="en-US" sz="2400" dirty="0"/>
            </a:br>
            <a:r>
              <a:rPr lang="en-US" sz="2400" dirty="0" smtClean="0">
                <a:solidFill>
                  <a:srgbClr val="FF0000"/>
                </a:solidFill>
              </a:rPr>
              <a:t>4.5. </a:t>
            </a:r>
            <a:r>
              <a:rPr lang="en-US" sz="2400" dirty="0" err="1">
                <a:solidFill>
                  <a:srgbClr val="FF0000"/>
                </a:solidFill>
              </a:rPr>
              <a:t>Phương</a:t>
            </a:r>
            <a:r>
              <a:rPr lang="en-US" sz="2400" dirty="0">
                <a:solidFill>
                  <a:srgbClr val="FF0000"/>
                </a:solidFill>
              </a:rPr>
              <a:t> </a:t>
            </a:r>
            <a:r>
              <a:rPr lang="en-US" sz="2400" dirty="0" err="1">
                <a:solidFill>
                  <a:srgbClr val="FF0000"/>
                </a:solidFill>
              </a:rPr>
              <a:t>pháp</a:t>
            </a:r>
            <a:r>
              <a:rPr lang="en-US" sz="2400" dirty="0">
                <a:solidFill>
                  <a:srgbClr val="FF0000"/>
                </a:solidFill>
              </a:rPr>
              <a:t> </a:t>
            </a:r>
            <a:r>
              <a:rPr lang="en-US" sz="2400" dirty="0" err="1">
                <a:solidFill>
                  <a:srgbClr val="FF0000"/>
                </a:solidFill>
              </a:rPr>
              <a:t>khấu</a:t>
            </a:r>
            <a:r>
              <a:rPr lang="en-US" sz="2400" dirty="0">
                <a:solidFill>
                  <a:srgbClr val="FF0000"/>
                </a:solidFill>
              </a:rPr>
              <a:t> </a:t>
            </a:r>
            <a:r>
              <a:rPr lang="en-US" sz="2400" dirty="0" err="1">
                <a:solidFill>
                  <a:srgbClr val="FF0000"/>
                </a:solidFill>
              </a:rPr>
              <a:t>hao</a:t>
            </a:r>
            <a:r>
              <a:rPr lang="en-US" sz="2400" dirty="0">
                <a:solidFill>
                  <a:srgbClr val="FF0000"/>
                </a:solidFill>
              </a:rPr>
              <a:t> </a:t>
            </a:r>
            <a:r>
              <a:rPr lang="en-US" sz="2400" dirty="0" err="1">
                <a:solidFill>
                  <a:srgbClr val="FF0000"/>
                </a:solidFill>
              </a:rPr>
              <a:t>theo</a:t>
            </a:r>
            <a:r>
              <a:rPr lang="en-US" sz="2400" dirty="0">
                <a:solidFill>
                  <a:srgbClr val="FF0000"/>
                </a:solidFill>
              </a:rPr>
              <a:t> </a:t>
            </a:r>
            <a:r>
              <a:rPr lang="en-US" sz="2400" dirty="0" err="1">
                <a:solidFill>
                  <a:srgbClr val="FF0000"/>
                </a:solidFill>
              </a:rPr>
              <a:t>sản</a:t>
            </a:r>
            <a:r>
              <a:rPr lang="en-US" sz="2400" dirty="0">
                <a:solidFill>
                  <a:srgbClr val="FF0000"/>
                </a:solidFill>
              </a:rPr>
              <a:t> </a:t>
            </a:r>
            <a:r>
              <a:rPr lang="en-US" sz="2400" dirty="0" err="1">
                <a:solidFill>
                  <a:srgbClr val="FF0000"/>
                </a:solidFill>
              </a:rPr>
              <a:t>lượng</a:t>
            </a:r>
            <a:endParaRPr lang="en-US" sz="2400" dirty="0">
              <a:solidFill>
                <a:srgbClr val="FF0000"/>
              </a:solidFill>
            </a:endParaRPr>
          </a:p>
          <a:p>
            <a:endParaRPr lang="en-US" dirty="0"/>
          </a:p>
        </p:txBody>
      </p:sp>
      <p:sp>
        <p:nvSpPr>
          <p:cNvPr id="4" name="Date Placeholder 3"/>
          <p:cNvSpPr>
            <a:spLocks noGrp="1"/>
          </p:cNvSpPr>
          <p:nvPr>
            <p:ph type="dt" sz="half" idx="10"/>
          </p:nvPr>
        </p:nvSpPr>
        <p:spPr/>
        <p:txBody>
          <a:bodyPr/>
          <a:lstStyle/>
          <a:p>
            <a:fld id="{7FB3E6F5-737D-497A-A790-D0EE94236F5A}"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17</a:t>
            </a:fld>
            <a:endParaRPr lang="en-US"/>
          </a:p>
        </p:txBody>
      </p:sp>
    </p:spTree>
    <p:extLst>
      <p:ext uri="{BB962C8B-B14F-4D97-AF65-F5344CB8AC3E}">
        <p14:creationId xmlns:p14="http://schemas.microsoft.com/office/powerpoint/2010/main" val="11597632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z="2800" dirty="0">
                <a:solidFill>
                  <a:srgbClr val="FF0000"/>
                </a:solidFill>
                <a:latin typeface="Times New Roman" panose="02020603050405020304" pitchFamily="18" charset="0"/>
                <a:cs typeface="Times New Roman" panose="02020603050405020304" pitchFamily="18" charset="0"/>
              </a:rPr>
              <a:t>4.5. </a:t>
            </a:r>
            <a:r>
              <a:rPr lang="en-US" sz="2800" dirty="0" err="1">
                <a:solidFill>
                  <a:srgbClr val="FF0000"/>
                </a:solidFill>
                <a:latin typeface="Times New Roman" panose="02020603050405020304" pitchFamily="18" charset="0"/>
                <a:cs typeface="Times New Roman" panose="02020603050405020304" pitchFamily="18" charset="0"/>
              </a:rPr>
              <a:t>Phương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pháp</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khấu</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hao</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theo</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sản</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lượng</a:t>
            </a:r>
            <a:r>
              <a:rPr lang="en-US" sz="2400" dirty="0">
                <a:solidFill>
                  <a:srgbClr val="FF0000"/>
                </a:solidFill>
              </a:rPr>
              <a:t/>
            </a:r>
            <a:br>
              <a:rPr lang="en-US" sz="2400" dirty="0">
                <a:solidFill>
                  <a:srgbClr val="FF0000"/>
                </a:solidFill>
              </a:rPr>
            </a:br>
            <a:endParaRPr lang="en-US" altLang="en-US" dirty="0" smtClean="0"/>
          </a:p>
        </p:txBody>
      </p:sp>
      <p:sp>
        <p:nvSpPr>
          <p:cNvPr id="63491" name="Content Placeholder 2"/>
          <p:cNvSpPr>
            <a:spLocks noGrp="1"/>
          </p:cNvSpPr>
          <p:nvPr>
            <p:ph idx="1"/>
          </p:nvPr>
        </p:nvSpPr>
        <p:spPr>
          <a:xfrm>
            <a:off x="239713" y="1606550"/>
            <a:ext cx="7924800" cy="4419600"/>
          </a:xfrm>
        </p:spPr>
        <p:txBody>
          <a:bodyPr/>
          <a:lstStyle/>
          <a:p>
            <a:pPr marL="0" indent="0" algn="just">
              <a:spcBef>
                <a:spcPct val="0"/>
              </a:spcBef>
              <a:buFont typeface="Wingdings" panose="05000000000000000000" pitchFamily="2" charset="2"/>
              <a:buNone/>
            </a:pPr>
            <a:r>
              <a:rPr lang="en-US" altLang="en-US" sz="2400" i="1" dirty="0" smtClean="0">
                <a:latin typeface="Times New Roman" panose="02020603050405020304" pitchFamily="18" charset="0"/>
                <a:cs typeface="Times New Roman" panose="02020603050405020304" pitchFamily="18" charset="0"/>
              </a:rPr>
              <a:t> </a:t>
            </a:r>
            <a:endParaRPr lang="en-US" altLang="en-US" sz="24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lgn="just">
              <a:spcBef>
                <a:spcPts val="600"/>
              </a:spcBef>
              <a:spcAft>
                <a:spcPts val="600"/>
              </a:spcAft>
            </a:pPr>
            <a:endParaRPr lang="en-US" altLang="en-US" sz="2800" dirty="0" smtClean="0">
              <a:latin typeface=".VnTime" panose="020B7200000000000000" pitchFamily="34" charset="0"/>
              <a:cs typeface="Times New Roman" panose="02020603050405020304" pitchFamily="18" charset="0"/>
            </a:endParaRPr>
          </a:p>
          <a:p>
            <a:pPr marL="0" indent="0">
              <a:buFont typeface="Wingdings" panose="05000000000000000000" pitchFamily="2" charset="2"/>
              <a:buNone/>
            </a:pPr>
            <a:endParaRPr lang="en-US" altLang="en-US" sz="2800" dirty="0" smtClean="0"/>
          </a:p>
          <a:p>
            <a:pPr marL="0" indent="0">
              <a:buFont typeface="Wingdings" panose="05000000000000000000" pitchFamily="2" charset="2"/>
              <a:buNone/>
            </a:pPr>
            <a:endParaRPr lang="en-US" altLang="en-US" sz="2400" b="1" dirty="0" smtClean="0">
              <a:latin typeface="Times New Roman" panose="02020603050405020304" pitchFamily="18" charset="0"/>
              <a:cs typeface="Times New Roman" panose="02020603050405020304" pitchFamily="18" charset="0"/>
            </a:endParaRPr>
          </a:p>
        </p:txBody>
      </p:sp>
      <p:sp>
        <p:nvSpPr>
          <p:cNvPr id="63492" name="Date Placeholder 3"/>
          <p:cNvSpPr>
            <a:spLocks noGrp="1"/>
          </p:cNvSpPr>
          <p:nvPr>
            <p:ph type="dt" sz="quarter" idx="10"/>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BC0E533-7325-4349-8A36-3D90AF9A70DF}" type="datetime1">
              <a:rPr lang="en-US" altLang="en-US" sz="1200" smtClean="0">
                <a:solidFill>
                  <a:srgbClr val="000000"/>
                </a:solidFill>
              </a:rPr>
              <a:t>2/8/2022</a:t>
            </a:fld>
            <a:endParaRPr lang="en-US" altLang="en-US" sz="1200" smtClean="0">
              <a:solidFill>
                <a:srgbClr val="000000"/>
              </a:solidFill>
            </a:endParaRPr>
          </a:p>
        </p:txBody>
      </p:sp>
      <p:sp>
        <p:nvSpPr>
          <p:cNvPr id="63493" name="Slide Number Placeholder 4"/>
          <p:cNvSpPr>
            <a:spLocks noGrp="1"/>
          </p:cNvSpPr>
          <p:nvPr>
            <p:ph type="sldNum" sz="quarter" idx="12"/>
          </p:nvPr>
        </p:nvSpPr>
        <p:spPr>
          <a:noFill/>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533AD18B-0B4F-499B-8819-CCCF42D36573}" type="slidenum">
              <a:rPr lang="en-US" altLang="en-US" sz="1200" smtClean="0">
                <a:solidFill>
                  <a:srgbClr val="000000"/>
                </a:solidFill>
                <a:latin typeface="Arial Black" panose="020B0A04020102020204" pitchFamily="34" charset="0"/>
              </a:rPr>
              <a:pPr>
                <a:spcBef>
                  <a:spcPct val="0"/>
                </a:spcBef>
                <a:buClrTx/>
                <a:buSzTx/>
                <a:buFontTx/>
                <a:buNone/>
              </a:pPr>
              <a:t>18</a:t>
            </a:fld>
            <a:endParaRPr lang="en-US" altLang="en-US" sz="1200" smtClean="0">
              <a:solidFill>
                <a:srgbClr val="000000"/>
              </a:solidFill>
              <a:latin typeface="Arial Black" panose="020B0A040201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715838903"/>
              </p:ext>
            </p:extLst>
          </p:nvPr>
        </p:nvGraphicFramePr>
        <p:xfrm>
          <a:off x="1009650" y="2170997"/>
          <a:ext cx="7523163" cy="3677353"/>
        </p:xfrm>
        <a:graphic>
          <a:graphicData uri="http://schemas.openxmlformats.org/drawingml/2006/table">
            <a:tbl>
              <a:tblPr/>
              <a:tblGrid>
                <a:gridCol w="3760788">
                  <a:extLst>
                    <a:ext uri="{9D8B030D-6E8A-4147-A177-3AD203B41FA5}">
                      <a16:colId xmlns:a16="http://schemas.microsoft.com/office/drawing/2014/main" val="2992298432"/>
                    </a:ext>
                  </a:extLst>
                </a:gridCol>
                <a:gridCol w="3762375">
                  <a:extLst>
                    <a:ext uri="{9D8B030D-6E8A-4147-A177-3AD203B41FA5}">
                      <a16:colId xmlns:a16="http://schemas.microsoft.com/office/drawing/2014/main" val="709370478"/>
                    </a:ext>
                  </a:extLst>
                </a:gridCol>
              </a:tblGrid>
              <a:tr h="3677353">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1" i="0" u="none" strike="noStrike" cap="none" normalizeH="0" baseline="0" dirty="0" smtClean="0">
                        <a:ln>
                          <a:noFill/>
                        </a:ln>
                        <a:solidFill>
                          <a:srgbClr val="FFFFFF"/>
                        </a:solidFill>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1" i="0" u="none" strike="noStrike" cap="none" normalizeH="0" baseline="0" dirty="0" smtClean="0">
                        <a:ln>
                          <a:noFill/>
                        </a:ln>
                        <a:solidFill>
                          <a:srgbClr val="FFFFFF"/>
                        </a:solidFill>
                        <a:effectLst/>
                        <a:latin typeface="Arial" panose="020B060402020202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34305103"/>
                  </a:ext>
                </a:extLst>
              </a:tr>
            </a:tbl>
          </a:graphicData>
        </a:graphic>
      </p:graphicFrame>
      <p:pic>
        <p:nvPicPr>
          <p:cNvPr id="63504"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4413" y="2529396"/>
            <a:ext cx="2317474" cy="1603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en-US" smtClean="0"/>
              <a:t>GVC.TS Vũ Kim Yến</a:t>
            </a:r>
            <a:endParaRPr lang="en-US"/>
          </a:p>
        </p:txBody>
      </p:sp>
    </p:spTree>
    <p:extLst>
      <p:ext uri="{BB962C8B-B14F-4D97-AF65-F5344CB8AC3E}">
        <p14:creationId xmlns:p14="http://schemas.microsoft.com/office/powerpoint/2010/main" val="33283815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Hết</a:t>
            </a:r>
            <a:r>
              <a:rPr lang="en-US" dirty="0" smtClean="0"/>
              <a:t> </a:t>
            </a:r>
            <a:r>
              <a:rPr lang="en-US" dirty="0" err="1" smtClean="0"/>
              <a:t>chương</a:t>
            </a:r>
            <a:r>
              <a:rPr lang="en-US" dirty="0" smtClean="0"/>
              <a:t> 4</a:t>
            </a:r>
            <a:endParaRPr lang="en-US" dirty="0"/>
          </a:p>
        </p:txBody>
      </p:sp>
      <p:sp>
        <p:nvSpPr>
          <p:cNvPr id="4" name="Date Placeholder 3"/>
          <p:cNvSpPr>
            <a:spLocks noGrp="1"/>
          </p:cNvSpPr>
          <p:nvPr>
            <p:ph type="dt" sz="half" idx="10"/>
          </p:nvPr>
        </p:nvSpPr>
        <p:spPr/>
        <p:txBody>
          <a:bodyPr/>
          <a:lstStyle/>
          <a:p>
            <a:fld id="{7DAC3B64-9214-49AB-9798-07FA51A2FF82}" type="datetime1">
              <a:rPr lang="en-US" smtClean="0"/>
              <a:t>2/8/2022</a:t>
            </a:fld>
            <a:endParaRPr lang="en-US"/>
          </a:p>
        </p:txBody>
      </p:sp>
      <p:sp>
        <p:nvSpPr>
          <p:cNvPr id="5" name="Footer Placeholder 4"/>
          <p:cNvSpPr>
            <a:spLocks noGrp="1"/>
          </p:cNvSpPr>
          <p:nvPr>
            <p:ph type="ftr" sz="quarter" idx="11"/>
          </p:nvPr>
        </p:nvSpPr>
        <p:spPr/>
        <p:txBody>
          <a:bodyPr/>
          <a:lstStyle/>
          <a:p>
            <a:r>
              <a:rPr lang="en-US" smtClean="0"/>
              <a:t>GVC.TS Vũ Kim Yến</a:t>
            </a:r>
            <a:endParaRPr lang="en-US"/>
          </a:p>
        </p:txBody>
      </p:sp>
      <p:sp>
        <p:nvSpPr>
          <p:cNvPr id="6" name="Slide Number Placeholder 5"/>
          <p:cNvSpPr>
            <a:spLocks noGrp="1"/>
          </p:cNvSpPr>
          <p:nvPr>
            <p:ph type="sldNum" sz="quarter" idx="12"/>
          </p:nvPr>
        </p:nvSpPr>
        <p:spPr/>
        <p:txBody>
          <a:bodyPr/>
          <a:lstStyle/>
          <a:p>
            <a:fld id="{D09167D6-5074-4D3B-BC37-464BA35B6DC0}" type="slidenum">
              <a:rPr lang="en-US" smtClean="0"/>
              <a:t>19</a:t>
            </a:fld>
            <a:endParaRPr lang="en-US"/>
          </a:p>
        </p:txBody>
      </p:sp>
    </p:spTree>
    <p:extLst>
      <p:ext uri="{BB962C8B-B14F-4D97-AF65-F5344CB8AC3E}">
        <p14:creationId xmlns:p14="http://schemas.microsoft.com/office/powerpoint/2010/main" val="295261681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42</TotalTime>
  <Words>781</Words>
  <Application>Microsoft Office PowerPoint</Application>
  <PresentationFormat>On-screen Show (4:3)</PresentationFormat>
  <Paragraphs>118</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.VnTime</vt:lpstr>
      <vt:lpstr>Arial</vt:lpstr>
      <vt:lpstr>Arial Black</vt:lpstr>
      <vt:lpstr>Calibri</vt:lpstr>
      <vt:lpstr>Calibri Light</vt:lpstr>
      <vt:lpstr>Times New Roman</vt:lpstr>
      <vt:lpstr>Wingdings</vt:lpstr>
      <vt:lpstr>Retrospect</vt:lpstr>
      <vt:lpstr>Chương 4:  Khấu hao tài sản cố định </vt:lpstr>
      <vt:lpstr>Chương 4: Khấu hao tài sản cố định</vt:lpstr>
      <vt:lpstr>1. Khái niệm tài sản cố định </vt:lpstr>
      <vt:lpstr>Chương 4: Khấu hao tài sản cố định</vt:lpstr>
      <vt:lpstr>2. Phân loại tài sản cố định </vt:lpstr>
      <vt:lpstr>Chương 4: Khấu hao tài sản cố định</vt:lpstr>
      <vt:lpstr>3. Khái niệm và ý nghĩa của khấu hao tài sản cố định </vt:lpstr>
      <vt:lpstr>Chương 4: Khấu hao tài sản cố định</vt:lpstr>
      <vt:lpstr>4. Các phương pháp tính khấu hao tài sản cố định</vt:lpstr>
      <vt:lpstr>4.1. Phương pháp khấu hao đều theo thời gian (khấu hao tuyến tính) </vt:lpstr>
      <vt:lpstr>4. Các phương pháp tính khấu hao tài sản cố định</vt:lpstr>
      <vt:lpstr>4.2. Phương pháp khấu hao theo số dư giảm dần (cân đối giảm dần)</vt:lpstr>
      <vt:lpstr>4. Các phương pháp tính khấu hao tài sản cố định</vt:lpstr>
      <vt:lpstr>4.3. Phương pháp khấu hao theo số dư giảm dần có điều chỉnh (cân đối giảm dần có điều chỉnh)</vt:lpstr>
      <vt:lpstr>4. Các phương pháp tính khấu hao tài sản cố định</vt:lpstr>
      <vt:lpstr>4.4. Phương pháp khấu hao theo tổng số thứ tự thời gian tính khấu hao </vt:lpstr>
      <vt:lpstr>4. Các phương pháp tính khấu hao tài sản cố định</vt:lpstr>
      <vt:lpstr>4.5. Phương pháp khấu hao theo sản lượng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4:  Khấu hao tài sản cố định</dc:title>
  <dc:creator>MyPC</dc:creator>
  <cp:lastModifiedBy>MyPC</cp:lastModifiedBy>
  <cp:revision>8</cp:revision>
  <dcterms:created xsi:type="dcterms:W3CDTF">2022-02-08T07:43:47Z</dcterms:created>
  <dcterms:modified xsi:type="dcterms:W3CDTF">2022-02-08T08:26:01Z</dcterms:modified>
</cp:coreProperties>
</file>