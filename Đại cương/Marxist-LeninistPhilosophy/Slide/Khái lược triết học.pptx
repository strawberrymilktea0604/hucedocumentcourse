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7046F-B1B4-44DE-80E5-FBA7901FDC02}" type="datetimeFigureOut">
              <a:rPr lang="en-US" smtClean="0"/>
              <a:t>10/3/2021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2AAB7-E4B2-417C-ADAE-136635CFC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779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7046F-B1B4-44DE-80E5-FBA7901FDC02}" type="datetimeFigureOut">
              <a:rPr lang="en-US" smtClean="0"/>
              <a:t>10/3/2021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2AAB7-E4B2-417C-ADAE-136635CFC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196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7046F-B1B4-44DE-80E5-FBA7901FDC02}" type="datetimeFigureOut">
              <a:rPr lang="en-US" smtClean="0"/>
              <a:t>10/3/2021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2AAB7-E4B2-417C-ADAE-136635CFC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898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7046F-B1B4-44DE-80E5-FBA7901FDC02}" type="datetimeFigureOut">
              <a:rPr lang="en-US" smtClean="0"/>
              <a:t>10/3/2021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2AAB7-E4B2-417C-ADAE-136635CFC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693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7046F-B1B4-44DE-80E5-FBA7901FDC02}" type="datetimeFigureOut">
              <a:rPr lang="en-US" smtClean="0"/>
              <a:t>10/3/2021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2AAB7-E4B2-417C-ADAE-136635CFC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810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7046F-B1B4-44DE-80E5-FBA7901FDC02}" type="datetimeFigureOut">
              <a:rPr lang="en-US" smtClean="0"/>
              <a:t>10/3/2021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2AAB7-E4B2-417C-ADAE-136635CFC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246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7046F-B1B4-44DE-80E5-FBA7901FDC02}" type="datetimeFigureOut">
              <a:rPr lang="en-US" smtClean="0"/>
              <a:t>10/3/2021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2AAB7-E4B2-417C-ADAE-136635CFC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231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7046F-B1B4-44DE-80E5-FBA7901FDC02}" type="datetimeFigureOut">
              <a:rPr lang="en-US" smtClean="0"/>
              <a:t>10/3/2021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2AAB7-E4B2-417C-ADAE-136635CFC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778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7046F-B1B4-44DE-80E5-FBA7901FDC02}" type="datetimeFigureOut">
              <a:rPr lang="en-US" smtClean="0"/>
              <a:t>10/3/2021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2AAB7-E4B2-417C-ADAE-136635CFC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84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7046F-B1B4-44DE-80E5-FBA7901FDC02}" type="datetimeFigureOut">
              <a:rPr lang="en-US" smtClean="0"/>
              <a:t>10/3/2021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2AAB7-E4B2-417C-ADAE-136635CFC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025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7046F-B1B4-44DE-80E5-FBA7901FDC02}" type="datetimeFigureOut">
              <a:rPr lang="en-US" smtClean="0"/>
              <a:t>10/3/2021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2AAB7-E4B2-417C-ADAE-136635CFC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501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B7046F-B1B4-44DE-80E5-FBA7901FDC02}" type="datetimeFigureOut">
              <a:rPr lang="en-US" smtClean="0"/>
              <a:t>10/3/2021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B2AAB7-E4B2-417C-ADAE-136635CFC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296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81001"/>
            <a:ext cx="7772400" cy="533399"/>
          </a:xfrm>
        </p:spPr>
        <p:txBody>
          <a:bodyPr>
            <a:noAutofit/>
          </a:bodyPr>
          <a:lstStyle/>
          <a:p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Khái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lược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990600"/>
            <a:ext cx="6400800" cy="4648200"/>
          </a:xfrm>
        </p:spPr>
        <p:txBody>
          <a:bodyPr/>
          <a:lstStyle/>
          <a:p>
            <a:pPr algn="l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Nêu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nội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dung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cơ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bản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nguồn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gốc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Trình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bày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quan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niệm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về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lịch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sử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tư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tưởng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Nêu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nội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dung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cơ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bản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vấn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đề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cơ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bản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Phân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biệt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CNDV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CNDT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phép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biện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chứng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phép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siêu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hình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l"/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0581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CHƯƠNG I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TRIẾT HỌC VÀ VAI TRÒ CỦA TRIẾT HỌC TRONG ĐỜI SỐNG XÃ HỘI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6520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I, </a:t>
            </a:r>
            <a:r>
              <a:rPr lang="en-US" sz="3600" b="1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b="1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b="1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b="1" dirty="0" err="1" smtClean="0">
                <a:latin typeface="Times New Roman" pitchFamily="18" charset="0"/>
                <a:cs typeface="Times New Roman" pitchFamily="18" charset="0"/>
              </a:rPr>
              <a:t>vấn</a:t>
            </a: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b="1" dirty="0" err="1" smtClean="0">
                <a:latin typeface="Times New Roman" pitchFamily="18" charset="0"/>
                <a:cs typeface="Times New Roman" pitchFamily="18" charset="0"/>
              </a:rPr>
              <a:t>đề</a:t>
            </a: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b="1" dirty="0" err="1" smtClean="0">
                <a:latin typeface="Times New Roman" pitchFamily="18" charset="0"/>
                <a:cs typeface="Times New Roman" pitchFamily="18" charset="0"/>
              </a:rPr>
              <a:t>cơ</a:t>
            </a: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b="1" dirty="0" err="1" smtClean="0">
                <a:latin typeface="Times New Roman" pitchFamily="18" charset="0"/>
                <a:cs typeface="Times New Roman" pitchFamily="18" charset="0"/>
              </a:rPr>
              <a:t>bản</a:t>
            </a: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b="1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b="1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b="1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Khái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lược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về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Vấn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đề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cơ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bản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Biện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chứng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siêu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hình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3900" dirty="0" smtClean="0">
                <a:latin typeface="Times New Roman" pitchFamily="18" charset="0"/>
                <a:cs typeface="Times New Roman" pitchFamily="18" charset="0"/>
              </a:rPr>
              <a:t>    II, </a:t>
            </a:r>
            <a:r>
              <a:rPr lang="vi-VN" sz="3900" b="1" dirty="0" smtClean="0">
                <a:latin typeface="Times New Roman" pitchFamily="18" charset="0"/>
                <a:cs typeface="Times New Roman" pitchFamily="18" charset="0"/>
              </a:rPr>
              <a:t>Triết học </a:t>
            </a:r>
            <a:r>
              <a:rPr lang="en-US" sz="3900" b="1" dirty="0" err="1" smtClean="0">
                <a:latin typeface="Times New Roman" pitchFamily="18" charset="0"/>
                <a:cs typeface="Times New Roman" pitchFamily="18" charset="0"/>
              </a:rPr>
              <a:t>Mác</a:t>
            </a:r>
            <a:r>
              <a:rPr lang="en-US" sz="3900" b="1" dirty="0" smtClean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US" sz="3900" b="1" dirty="0" err="1" smtClean="0">
                <a:latin typeface="Times New Roman" pitchFamily="18" charset="0"/>
                <a:cs typeface="Times New Roman" pitchFamily="18" charset="0"/>
              </a:rPr>
              <a:t>Lênin</a:t>
            </a:r>
            <a:r>
              <a:rPr lang="en-US" sz="39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3900" b="1" dirty="0" smtClean="0">
                <a:latin typeface="Times New Roman" pitchFamily="18" charset="0"/>
                <a:cs typeface="Times New Roman" pitchFamily="18" charset="0"/>
              </a:rPr>
              <a:t>và v</a:t>
            </a:r>
            <a:r>
              <a:rPr lang="en-US" sz="3900" b="1" dirty="0" err="1" smtClean="0">
                <a:latin typeface="Times New Roman" pitchFamily="18" charset="0"/>
                <a:cs typeface="Times New Roman" pitchFamily="18" charset="0"/>
              </a:rPr>
              <a:t>ai</a:t>
            </a:r>
            <a:r>
              <a:rPr lang="en-US" sz="39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900" b="1" dirty="0" err="1" smtClean="0">
                <a:latin typeface="Times New Roman" pitchFamily="18" charset="0"/>
                <a:cs typeface="Times New Roman" pitchFamily="18" charset="0"/>
              </a:rPr>
              <a:t>trò</a:t>
            </a:r>
            <a:r>
              <a:rPr lang="en-US" sz="39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900" b="1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39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900" b="1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sz="39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900" b="1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sz="39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900" b="1" dirty="0" err="1" smtClean="0">
                <a:latin typeface="Times New Roman" pitchFamily="18" charset="0"/>
                <a:cs typeface="Times New Roman" pitchFamily="18" charset="0"/>
              </a:rPr>
              <a:t>Mác</a:t>
            </a:r>
            <a:r>
              <a:rPr lang="en-US" sz="3900" b="1" dirty="0" smtClean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US" sz="3900" b="1" dirty="0" err="1" smtClean="0">
                <a:latin typeface="Times New Roman" pitchFamily="18" charset="0"/>
                <a:cs typeface="Times New Roman" pitchFamily="18" charset="0"/>
              </a:rPr>
              <a:t>Lênin</a:t>
            </a:r>
            <a:r>
              <a:rPr lang="en-US" sz="39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900" b="1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39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900" b="1" dirty="0" err="1" smtClean="0">
                <a:latin typeface="Times New Roman" pitchFamily="18" charset="0"/>
                <a:cs typeface="Times New Roman" pitchFamily="18" charset="0"/>
              </a:rPr>
              <a:t>đời</a:t>
            </a:r>
            <a:r>
              <a:rPr lang="en-US" sz="39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900" b="1" dirty="0" err="1" smtClean="0">
                <a:latin typeface="Times New Roman" pitchFamily="18" charset="0"/>
                <a:cs typeface="Times New Roman" pitchFamily="18" charset="0"/>
              </a:rPr>
              <a:t>sống</a:t>
            </a:r>
            <a:r>
              <a:rPr lang="en-US" sz="39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900" b="1" dirty="0" err="1" smtClean="0">
                <a:latin typeface="Times New Roman" pitchFamily="18" charset="0"/>
                <a:cs typeface="Times New Roman" pitchFamily="18" charset="0"/>
              </a:rPr>
              <a:t>xã</a:t>
            </a:r>
            <a:r>
              <a:rPr lang="en-US" sz="39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900" b="1" dirty="0" err="1" smtClean="0">
                <a:latin typeface="Times New Roman" pitchFamily="18" charset="0"/>
                <a:cs typeface="Times New Roman" pitchFamily="18" charset="0"/>
              </a:rPr>
              <a:t>hội</a:t>
            </a:r>
            <a:endParaRPr lang="en-US" sz="39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Sự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đời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triển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Lênin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Đối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tượng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chức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năng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Mác-Lênin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Vai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trò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Mác-Lênin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ĐSXH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sự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nghiệp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đổi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mới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hiện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nay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0312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1.Khái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lược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về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1.1.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Nguồn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gốc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Nguồn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gốc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nhận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thức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Nguồn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gốc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xã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hội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1.2.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Khái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niệm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Quan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niệm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về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lịch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sử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tư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tưởng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Quan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niệm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chủ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nghĩa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về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1.3.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Vấn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đề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đối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tượng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lịch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sử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1.4.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lý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luận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thế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giới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quan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Thế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giới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quan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lý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luận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thế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giới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quan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5296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Nguồn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gốc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Nguồn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gốc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nhận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thức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Do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cầu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tự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nhiên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khách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quan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con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người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muốn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thích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hiểu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thế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giới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Do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thực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tiễn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cải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biến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thế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giới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khối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lượng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tri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thức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về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thế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giới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tăng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đòi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hỏi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khái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quát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hệ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thống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hóa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tri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thức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về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thế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giới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về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con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người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Xuất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hiện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cá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kiệt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xuất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năng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lực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tổng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khái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quát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hệ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thống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Nguồn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gốc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xã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hội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Phân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lao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động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xã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hội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triển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lao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động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trí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óc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lao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động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chân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tay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vai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trò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to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lớn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lao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động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trí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óc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hệ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thống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Xã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hội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phân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chia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giai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cấp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xuất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hiện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tính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đảng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tính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giai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cấp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sâu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sắc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phục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vụ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lợi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ích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giai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cấp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lực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lượng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xã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hội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7197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Khái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niệm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lịch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sử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tư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tưởng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trí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tuệ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chiêm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ngưỡng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sự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thái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con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đường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suy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ngẫm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…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sự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nhận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thức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mang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tính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khái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quát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hóa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trừu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tượng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hóa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cao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toàn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bộ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tri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thức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con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người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khoa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mọi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khoa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Hêghen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Quan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niệm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về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chủ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nghĩa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Mác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hệ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thống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quan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điểm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chung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nhất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về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thế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giới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vị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trí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con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người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thế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giới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đó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khoa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về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mọi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sự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vận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động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triển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chung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nhất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tự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nhiên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xã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hội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tư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duy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Phân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biệt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tri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thức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tri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thức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khoa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cụ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thể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3243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Vấn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đề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đối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tượng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lịch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sử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Thời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Cổ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đại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tri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thức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mọi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lĩnh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vực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Thời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Trung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cổ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kinh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viện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chịu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sự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chi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phối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tư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tưởng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Kito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giáo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Thời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Phục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hưng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tri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thức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khoa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dần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phục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hưng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tạo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cơ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sở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tri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thức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sự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triển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mới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Thế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kỷ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XVII-XVIII: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Heeghen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xây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dựng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khoa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mọi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khoa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định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đối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tượng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nghiên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cứu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mối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quan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hệ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giữa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vật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ý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thức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tồn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tại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tư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duy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trên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lập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trường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duy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vật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triệt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để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nghiên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cứu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những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luật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chung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nhất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tự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nhiên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xã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hội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tư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duy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1436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lý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luận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thế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giới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quan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Thế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giới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quan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</a:t>
            </a: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Hệ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thống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quan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điểm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về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thế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giới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về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vị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trí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con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người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thế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giới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định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nguyên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tắc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thái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độ,giá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trị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định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hướng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nhận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thức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hoạt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động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thực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tiễn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con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người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gồm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tri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thức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niềm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lý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tưởng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Loại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TGQ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tôn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giáo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TGQ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khoa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TGQ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TGQ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kinh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nghiệm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lý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luận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thế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giới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quan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Bản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thân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TGQ</a:t>
            </a: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loại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TGQ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giờ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cũng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phần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quan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trọng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cốt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lõi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ảnh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hưởng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chi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phối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định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TGQ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khác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0848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2.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Vấn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đề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cơ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bản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2.1.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Nội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dung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vấn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đề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cơ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bản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Mối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quan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hệ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giữa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vật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ý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thức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Hai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mặt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hai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câu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hỏi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lớn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vấn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đề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cơ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bản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2.2.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Chủ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nghĩa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duy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vật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chủ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nghĩa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duy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tâm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CNDV: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thức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CNDV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CNDT: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hai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thức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CNDT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2.3.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Thuyết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thể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thuyết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thể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biết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Thuyết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thể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khả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tri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luận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Thuyết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thể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bất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khả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tri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luận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3937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Nội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dung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vấn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đề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cơ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bản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Mối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quan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hệ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giữa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vật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ý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thức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vấn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đề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cơ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bản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lớn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nghiên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cứu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thế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giới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tính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chỉnh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thể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thống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nhất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gồm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vô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hạn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sự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vật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hiện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tượng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quá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trình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…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vì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vậy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phải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thê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giới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về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hữu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hạn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sự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vật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hiện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tượng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quá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trình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hiện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tượng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vật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hiện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tượng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phi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vật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còn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gọi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ý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thức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tinh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thần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…).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Mối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quan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hệ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giữa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chúng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những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đối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tượng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chủ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yếu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Đây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mối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quan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hệ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chung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lớn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nhất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trùm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nhất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Mọi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vấn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đề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đều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xoay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quoanh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phụ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thuộc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quan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hệ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này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8498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Hai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mặt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hai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câu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hỏi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lớn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vấn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đề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cơ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bản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Vật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, ý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thức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cái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nào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trước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cái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nào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cái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nào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quyết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định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cái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nào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: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Nguyên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bản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thế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giới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sự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vật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hiện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tượng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Thế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giới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quan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Đây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còn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gọi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bản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thể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luận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Con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người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khả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năng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nhận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thức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thế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giới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hay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? Hay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tư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duy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con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người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đồng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nhất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thế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giới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?</a:t>
            </a: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khám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phá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sự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vật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hiện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tượng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con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người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rằng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mình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nhận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thức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sự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vật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hiện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tượng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hay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? Tri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thức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đó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thuộc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về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?</a:t>
            </a: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Đây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còn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gọi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nhận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thức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luận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1812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2.2. CNDV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CNDT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43000"/>
            <a:ext cx="4038600" cy="4983163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CNDV: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vật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trước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quyết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định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ý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thức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3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thức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cơ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bản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CNDV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Cổ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đại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mang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tính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ngây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thơ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quan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niệm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thế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giới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nguyên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thể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nguyên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bản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ban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đầu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đât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nước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khí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nguyên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tử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CNDV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siêu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quan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niệm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thế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giới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cấu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tạo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nguyên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tử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như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cỗ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máy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khổng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lồ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bộ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phận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nhau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lắp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rps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lại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nhau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…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CNDV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biện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chứng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thế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giới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bản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vật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bộ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phận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liên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quan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hệ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chặt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chẽ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nhau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nguyên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quả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nhau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…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4038600" cy="4906963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CNDT: ý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thức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trước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quyết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định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vật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hai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thức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cơ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bản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CNDT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chủ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quan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phủ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nhận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sự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tồn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tại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khách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quan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sự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vật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hiện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tượng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Sự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vật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hiện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tượng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chỉ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phức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cảm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con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người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Đại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biểu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Hium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Beccơli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CNDT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khách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quan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tinh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thần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khách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quan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trước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tinh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thần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này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tồn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tại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độc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lập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con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người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loài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người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như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ý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niệm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tinh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thần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tuyệt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đối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tinh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thần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thế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giới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Đại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biểu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Platôn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Hêghen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CNDT </a:t>
            </a:r>
            <a:r>
              <a:rPr lang="en-US" sz="2800" b="1" dirty="0" err="1" smtClean="0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latin typeface="Times New Roman" pitchFamily="18" charset="0"/>
                <a:cs typeface="Times New Roman" pitchFamily="18" charset="0"/>
              </a:rPr>
              <a:t>hai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latin typeface="Times New Roman" pitchFamily="18" charset="0"/>
                <a:cs typeface="Times New Roman" pitchFamily="18" charset="0"/>
              </a:rPr>
              <a:t>nguồn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latin typeface="Times New Roman" pitchFamily="18" charset="0"/>
                <a:cs typeface="Times New Roman" pitchFamily="18" charset="0"/>
              </a:rPr>
              <a:t>gốc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457200" lvl="1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guồn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gốc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nhận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thức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457200" lvl="1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Nguồn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gốc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xã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hội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2807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2.3.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3600" dirty="0" err="1" smtClean="0">
                <a:latin typeface="Times New Roman" pitchFamily="18" charset="0"/>
                <a:cs typeface="Times New Roman" pitchFamily="18" charset="0"/>
              </a:rPr>
              <a:t>huyết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 smtClean="0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 smtClean="0">
                <a:latin typeface="Times New Roman" pitchFamily="18" charset="0"/>
                <a:cs typeface="Times New Roman" pitchFamily="18" charset="0"/>
              </a:rPr>
              <a:t>thể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 smtClean="0">
                <a:latin typeface="Times New Roman" pitchFamily="18" charset="0"/>
                <a:cs typeface="Times New Roman" pitchFamily="18" charset="0"/>
              </a:rPr>
              <a:t>biết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 smtClean="0">
                <a:latin typeface="Times New Roman" pitchFamily="18" charset="0"/>
                <a:cs typeface="Times New Roman" pitchFamily="18" charset="0"/>
              </a:rPr>
              <a:t>thuyết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 smtClean="0"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 smtClean="0">
                <a:latin typeface="Times New Roman" pitchFamily="18" charset="0"/>
                <a:cs typeface="Times New Roman" pitchFamily="18" charset="0"/>
              </a:rPr>
              <a:t>thể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 smtClean="0">
                <a:latin typeface="Times New Roman" pitchFamily="18" charset="0"/>
                <a:cs typeface="Times New Roman" pitchFamily="18" charset="0"/>
              </a:rPr>
              <a:t>biết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43000"/>
            <a:ext cx="4038600" cy="4983163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Thuyết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thể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biết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khả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tri)</a:t>
            </a: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Thừa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nhận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khả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năng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nhận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thức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thế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giới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con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người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CNDV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rằng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con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người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khả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năng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nhận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thức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thế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giới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tri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thức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này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khách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quan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độc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lập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ý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chí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con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người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CNDT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khách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quan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rằng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con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người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khả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năng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nhận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thức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thế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giới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nhưng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chịu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sự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định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trước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thực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thể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tinh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thần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sáng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tạo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thế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giới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4038600" cy="4983163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Thuyết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thể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biết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bất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khả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tri)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phủ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nhận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khả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năng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nhận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thức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thế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giới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con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người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Kant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rằng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con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người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nhận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thức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bằng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quan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vì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vậy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chỉ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thể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thức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vật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ta”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nhận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thức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vật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tự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nó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”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CNDT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chủ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quan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cơ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quan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cảm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con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người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nhau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nên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chung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phức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cảm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về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sự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vật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Phật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giáo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con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người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vô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minh,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nhận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thức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con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người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như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cát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biển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vô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bờ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vì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vậy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con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người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biết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476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3.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Biện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chứng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siêu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hình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3.1.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Khái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niệm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biện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chứng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siêu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lịch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sử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Phương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pháp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siêu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hình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Phương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pháp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biện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chứng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3.2.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thức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phép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biện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chứng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lịch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sử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Thứ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nhất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phép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biện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chứng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tự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thời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Cổ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đại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Thứ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hai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phép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biện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chứng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duy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tâm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Thứ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phép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biện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chứng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duy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vật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4265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3.1.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hái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niệm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biện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chứng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siêu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hình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304800" y="1219201"/>
            <a:ext cx="4267200" cy="685800"/>
          </a:xfrm>
        </p:spPr>
        <p:txBody>
          <a:bodyPr>
            <a:normAutofit fontScale="925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PHƯƠNG PHÁP BIỆN CHỨNG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457200" y="2286000"/>
            <a:ext cx="4040188" cy="3840163"/>
          </a:xfrm>
        </p:spPr>
        <p:txBody>
          <a:bodyPr/>
          <a:lstStyle/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Nhận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thức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đối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tượng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mối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liên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hệ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ảnh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hưởng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phụ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thuộc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lẫn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nhau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Nhận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thức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đối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tượng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trạng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thái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vận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động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biến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đổi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triển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chuyển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hóa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nguyên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ở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bản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thân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sự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vật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hiện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tượng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Tư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duy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linh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hoạt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mềm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dẻo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>
          <a:xfrm>
            <a:off x="4645025" y="1219201"/>
            <a:ext cx="4270375" cy="685800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PHƯƠNG PHÁP SIÊU HÌNH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Nhận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thức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đối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tượng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trạng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thái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cô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lập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tách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rời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cái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này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đến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cái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kia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Nhận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thức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đối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tượng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ở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trạng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thái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tĩnh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nếu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biến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đổi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thì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do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nguyên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bên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ngoài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Rất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cần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thiết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mới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nghiên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cứu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sự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vật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hiện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tượng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Tư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duy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cứng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nhắc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cứng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9914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3.2. </a:t>
            </a:r>
            <a:r>
              <a:rPr lang="en-US" sz="3600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 smtClean="0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 smtClean="0">
                <a:latin typeface="Times New Roman" pitchFamily="18" charset="0"/>
                <a:cs typeface="Times New Roman" pitchFamily="18" charset="0"/>
              </a:rPr>
              <a:t>thức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 smtClean="0">
                <a:latin typeface="Times New Roman" pitchFamily="18" charset="0"/>
                <a:cs typeface="Times New Roman" pitchFamily="18" charset="0"/>
              </a:rPr>
              <a:t>phép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 smtClean="0">
                <a:latin typeface="Times New Roman" pitchFamily="18" charset="0"/>
                <a:cs typeface="Times New Roman" pitchFamily="18" charset="0"/>
              </a:rPr>
              <a:t>biện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 smtClean="0">
                <a:latin typeface="Times New Roman" pitchFamily="18" charset="0"/>
                <a:cs typeface="Times New Roman" pitchFamily="18" charset="0"/>
              </a:rPr>
              <a:t>chứng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257800"/>
          </a:xfrm>
        </p:spPr>
        <p:txBody>
          <a:bodyPr>
            <a:normAutofit fontScale="85000" lnSpcReduction="20000"/>
          </a:bodyPr>
          <a:lstStyle/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Biện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chứng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Cổ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đại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</a:t>
            </a: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Nghiên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cứu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thế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giới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mối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liên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hệ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ảnh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hưởng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lẫn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nhau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quả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trực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quan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chiêm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nghiệm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thế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giới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do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khoa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chưa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biểu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diễn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bằng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câu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cách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ngôn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Biện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chứng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duy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tâm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Trình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bày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nội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dung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quan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trọng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nhất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PBC</a:t>
            </a: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Trên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cơ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sở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TGQ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duy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tâm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nên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chứa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đựng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nhiều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mâu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thuẫn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Biện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chứng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duy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vật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thuyết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về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mối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liên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hệ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phổ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biên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về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sự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triển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dưới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thức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hoàn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bị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nhất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cụ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vĩ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đại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mọi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hoạt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động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nhận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thức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thực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tiễn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con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người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sự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thống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nhất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TGQ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duy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vật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để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trở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CNDVBC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PBCDV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0306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1871</Words>
  <Application>Microsoft Office PowerPoint</Application>
  <PresentationFormat>On-screen Show (4:3)</PresentationFormat>
  <Paragraphs>126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Khái lược triết học</vt:lpstr>
      <vt:lpstr>CHƯƠNG I</vt:lpstr>
      <vt:lpstr>I, Triết học và vấn đề cơ bản của triết học</vt:lpstr>
      <vt:lpstr>1.Khái lược về triết học</vt:lpstr>
      <vt:lpstr>Nguồn gốc của triết học</vt:lpstr>
      <vt:lpstr>Khái niệm triết học</vt:lpstr>
      <vt:lpstr>Vấn đề đối tượng triết học trong lịch sử</vt:lpstr>
      <vt:lpstr>Triết học – hạt nhân lý luận của thế giới quan</vt:lpstr>
      <vt:lpstr>2. Vấn đề cơ bản của triết học</vt:lpstr>
      <vt:lpstr>Nội dung vấn đề cơ bản của triết học</vt:lpstr>
      <vt:lpstr>Hai mặt, hai câu hỏi lớn của vấn đề cơ bản của triết học</vt:lpstr>
      <vt:lpstr>2.2. CNDV và CNDT</vt:lpstr>
      <vt:lpstr>2.3. Thuyết có thể biết và thuyết không thể biết</vt:lpstr>
      <vt:lpstr>3. Biện chứng và siêu hình</vt:lpstr>
      <vt:lpstr>3.1. Khái niệm biện chứng và siêu hình</vt:lpstr>
      <vt:lpstr>3.2. Các hình thức của phép biện chứng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Khái lược triết học</dc:title>
  <dc:creator>ASUS</dc:creator>
  <cp:lastModifiedBy>ASUS</cp:lastModifiedBy>
  <cp:revision>2</cp:revision>
  <dcterms:created xsi:type="dcterms:W3CDTF">2021-10-03T15:10:16Z</dcterms:created>
  <dcterms:modified xsi:type="dcterms:W3CDTF">2021-10-03T15:22:29Z</dcterms:modified>
</cp:coreProperties>
</file>