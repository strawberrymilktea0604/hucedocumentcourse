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2B985-6C31-4D8F-AAA5-4553F1AFFB80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738FB-4441-4868-9447-91A5ACBF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35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738FB-4441-4868-9447-91A5ACBFA6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16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A738FB-4441-4868-9447-91A5ACBFA6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60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A738FB-4441-4868-9447-91A5ACBFA6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01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11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99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6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2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6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9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6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6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0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AF310-6070-4382-9580-9CD5DCD6E91B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F873C-D508-49D0-A703-65A2DC53D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7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slide" Target="slide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9144000" cy="7010400"/>
              </a:xfrm>
            </p:spPr>
            <p:txBody>
              <a:bodyPr>
                <a:noAutofit/>
              </a:bodyPr>
              <a:lstStyle/>
              <a:p>
                <a:pPr algn="just">
                  <a:spcBef>
                    <a:spcPts val="0"/>
                  </a:spcBef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MỤC ĐÍCH: 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Nghiên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cứu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chuyển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động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phân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tử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cấu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thành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nên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vật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xảy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ra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ở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bên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trong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vật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ĐẶC ĐIỂM: 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-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Xét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chuyển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động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bao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gồm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1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lớn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phân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tử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(1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mol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= 6,23.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7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700" b="1" i="1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2700" b="1" i="1" smtClean="0">
                            <a:solidFill>
                              <a:srgbClr val="002060"/>
                            </a:solidFill>
                            <a:latin typeface="Cambria Math"/>
                            <a:cs typeface="Times New Roman" pitchFamily="18" charset="0"/>
                          </a:rPr>
                          <m:t>𝟐𝟑</m:t>
                        </m:r>
                      </m:sup>
                    </m:sSup>
                  </m:oMath>
                </a14:m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phân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tử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).</a:t>
                </a: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Chuyển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động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mang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tính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ngẫu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nhiên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PHƯƠNG PHÁP KHẢO SÁT HỆ:</a:t>
                </a: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PP1: (PP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Thực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nghiệm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):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vĩ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mô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xử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: T, p, V 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định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luật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thực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nghiệm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chất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khí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).</a:t>
                </a:r>
                <a:endParaRPr lang="en-US" sz="27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PP2: (PP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lí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thuyết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–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Phương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pháp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vi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mô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):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Đưa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ra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mô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hình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cấu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tạo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xét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từng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chuyển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động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từng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dùng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quy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luật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thống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kê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tìm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ra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những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đặc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trưng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quy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luật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và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đưa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ra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khái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niệm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T, p, V 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Thuyết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động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học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phân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tử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chất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khí</a:t>
                </a:r>
                <a:r>
                  <a:rPr lang="en-US" sz="2700" b="1" i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).</a:t>
                </a: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PP3: (PP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lí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thuyết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– PP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Vĩ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mô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):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Chỉ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nhìn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toàn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bộ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môi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nào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xác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định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tính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chất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Dựa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vào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định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luật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bảo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toàn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xác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định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vĩ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mô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. PP  PP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động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học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(NLI NĐLH, NLII NĐLH).</a:t>
                </a: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endParaRPr lang="en-US" sz="27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9144000" cy="7010400"/>
              </a:xfrm>
              <a:blipFill rotWithShape="1">
                <a:blip r:embed="rId2"/>
                <a:stretch>
                  <a:fillRect l="-1067" t="-783" r="-1267" b="-3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29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52400"/>
                <a:ext cx="8763000" cy="65532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ctr"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CHƯƠNG I – NHIỆT ĐỘ VÀ THUYẾT ĐỘNG HỌC CHẤT KHÍ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/>
                      </a:rPr>
                      <m:t>§</m:t>
                    </m:r>
                  </m:oMath>
                </a14:m>
                <a:r>
                  <a:rPr lang="en-US" sz="27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1 –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khái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niệm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cơ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rPr>
                  <a:t>bản</a:t>
                </a:r>
                <a:endParaRPr lang="en-US" sz="2700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 algn="just">
                  <a:buAutoNum type="arabicPeriod"/>
                </a:pPr>
                <a:r>
                  <a:rPr lang="en-US" sz="27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và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phương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trình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9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itchFamily="18" charset="0"/>
                  </a:rPr>
                  <a:t>-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Khi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nghiên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cứu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1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vật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nếu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thấy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tính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chất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nó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thay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đổi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thì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ta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nói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rằng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vật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đã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thay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đổi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Mỗi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tính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chất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được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đặc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trưng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bởi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một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tập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hợp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đại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lượng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vật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lí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được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gọi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là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Tập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hợp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đại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lượng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vật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lí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xác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định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được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gọi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là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900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VD: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1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chiếc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lò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xo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được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xác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định</a:t>
                </a:r>
                <a:r>
                  <a:rPr lang="en-US" sz="2900" i="1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90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9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sz="2900" b="0" i="1" smtClean="0">
                        <a:solidFill>
                          <a:srgbClr val="0070C0"/>
                        </a:solidFill>
                        <a:latin typeface="Cambria Math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k, </a:t>
                </a:r>
                <a14:m>
                  <m:oMath xmlns:m="http://schemas.openxmlformats.org/officeDocument/2006/math">
                    <m:r>
                      <a:rPr lang="en-US" sz="29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∆</m:t>
                    </m:r>
                    <m:r>
                      <a:rPr lang="en-US" sz="29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ℓ</m:t>
                    </m:r>
                  </m:oMath>
                </a14:m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Đó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là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những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-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1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được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xác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định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bởi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nhiều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trong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đó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có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những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biến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đổi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độc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lập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nhau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gọi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là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độc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lập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Những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còn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lại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phụ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thuộc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vào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độc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lập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gọi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là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phụ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dirty="0" err="1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thuộc</a:t>
                </a:r>
                <a:r>
                  <a:rPr lang="en-US" sz="290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Những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thức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liên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các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thông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số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của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1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hệ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được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gọi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là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phương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trình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trạng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thái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52400"/>
                <a:ext cx="8763000" cy="6553200"/>
              </a:xfrm>
              <a:blipFill rotWithShape="1">
                <a:blip r:embed="rId3"/>
                <a:stretch>
                  <a:fillRect l="-1322" t="-1860" r="-1322" b="-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345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6200" y="0"/>
                <a:ext cx="8915400" cy="1676400"/>
              </a:xfrm>
            </p:spPr>
            <p:txBody>
              <a:bodyPr>
                <a:normAutofit fontScale="90000"/>
              </a:bodyPr>
              <a:lstStyle/>
              <a:p>
                <a:pPr algn="just"/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1hệ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bởi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V, p, T.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độc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thông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còn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lại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phụ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3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3000" b="0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PT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khối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3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200" y="0"/>
                <a:ext cx="8915400" cy="1676400"/>
              </a:xfrm>
              <a:blipFill rotWithShape="1">
                <a:blip r:embed="rId3"/>
                <a:stretch>
                  <a:fillRect l="-1300" t="-5091" r="-1300" b="-11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1752600"/>
                <a:ext cx="876300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Khái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niệm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endParaRPr lang="en-US" sz="27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lphaLcPeriod"/>
                </a:pPr>
                <a:r>
                  <a:rPr lang="en-US" sz="2700" b="1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endParaRPr lang="en-US" sz="27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𝒑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7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700" b="1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𝑭</m:t>
                          </m:r>
                        </m:num>
                        <m:den>
                          <m:r>
                            <a:rPr lang="en-US" sz="2700" b="1" i="1" smtClean="0">
                              <a:solidFill>
                                <a:srgbClr val="FF0000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  <m:t>𝑺</m:t>
                          </m:r>
                        </m:den>
                      </m:f>
                    </m:oMath>
                  </m:oMathPara>
                </a14:m>
                <a:endParaRPr lang="en-US" sz="27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vuông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(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S: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tiếp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xúc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sSup>
                          <m:sSup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hay 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Pascan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)).</a:t>
                </a:r>
              </a:p>
              <a:p>
                <a:pPr>
                  <a:buFontTx/>
                  <a:buChar char="-"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ĐV: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𝑎𝑡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9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81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𝑎𝑡𝑚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013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1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cmHg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=1360 Pa; 1 mm Hg=136 Pa</a:t>
                </a:r>
              </a:p>
              <a:p>
                <a:pPr marL="0" indent="0">
                  <a:buNone/>
                </a:pP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752600"/>
                <a:ext cx="8763000" cy="5105400"/>
              </a:xfrm>
              <a:blipFill>
                <a:blip r:embed="rId4"/>
                <a:stretch>
                  <a:fillRect l="-1321" t="-1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5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534400" cy="6858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7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endParaRPr lang="en-US" sz="27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762000"/>
                <a:ext cx="8839200" cy="5943600"/>
              </a:xfrm>
            </p:spPr>
            <p:txBody>
              <a:bodyPr>
                <a:normAutofit/>
              </a:bodyPr>
              <a:lstStyle/>
              <a:p>
                <a:pPr algn="just">
                  <a:buFontTx/>
                  <a:buChar char="-"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đại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trưng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mức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hỗn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loạn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vật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kế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độ:NK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lỏng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dẫn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qhọc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tồn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algn="just"/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bách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PrePr>
                      <m:sub/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p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</m:sPre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Celcius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Dùng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nước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đông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ước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en-US" sz="2700" baseline="30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lấy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sôi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nước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ở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điều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kiện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tiêu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chuẩn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760 mmHg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100</a:t>
                </a:r>
                <a:r>
                  <a:rPr lang="en-US" sz="2700" baseline="30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en-US" sz="2700" baseline="30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đến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100</a:t>
                </a:r>
                <a:r>
                  <a:rPr lang="en-US" sz="2700" baseline="30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chia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100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mỗi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lấy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  <a:r>
                  <a:rPr lang="en-US" sz="2700" baseline="30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</a:t>
                </a:r>
              </a:p>
              <a:p>
                <a:pPr algn="just"/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nhiêt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đối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(Kelvin): </a:t>
                </a: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</m:d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=273+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(</m:t>
                    </m:r>
                    <m:sPre>
                      <m:sPre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PrePr>
                      <m:sub/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p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𝐶</m:t>
                        </m:r>
                      </m:e>
                    </m:sPre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762000"/>
                <a:ext cx="8839200" cy="5943600"/>
              </a:xfrm>
              <a:blipFill rotWithShape="1">
                <a:blip r:embed="rId2"/>
                <a:stretch>
                  <a:fillRect l="-1103" t="-923" r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22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52400" y="0"/>
                <a:ext cx="8839200" cy="609600"/>
              </a:xfrm>
            </p:spPr>
            <p:txBody>
              <a:bodyPr>
                <a:normAutofit fontScale="90000"/>
              </a:bodyPr>
              <a:lstStyle/>
              <a:p>
                <a:br>
                  <a:rPr lang="en-US" b="1" dirty="0">
                    <a:solidFill>
                      <a:srgbClr val="C00000"/>
                    </a:solidFill>
                    <a:latin typeface="Cambria Math"/>
                  </a:rPr>
                </a:br>
                <a14:m>
                  <m:oMath xmlns:m="http://schemas.openxmlformats.org/officeDocument/2006/math">
                    <m:r>
                      <a:rPr lang="en-US" sz="3000" b="1" smtClean="0">
                        <a:solidFill>
                          <a:srgbClr val="C00000"/>
                        </a:solidFill>
                        <a:latin typeface="Cambria Math"/>
                      </a:rPr>
                      <m:t>§</m:t>
                    </m:r>
                    <m:r>
                      <a:rPr lang="en-US" sz="3000" b="1" i="0" smtClean="0">
                        <a:solidFill>
                          <a:srgbClr val="C00000"/>
                        </a:solidFill>
                        <a:latin typeface="Cambria Math"/>
                      </a:rPr>
                      <m:t>𝟐</m:t>
                    </m:r>
                    <m:r>
                      <a:rPr lang="en-US" sz="3000" b="1" i="0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en-US" sz="30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3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3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luật</a:t>
                </a:r>
                <a:r>
                  <a:rPr lang="en-US" sz="3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</a:t>
                </a:r>
                <a:r>
                  <a:rPr lang="en-US" sz="3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3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3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3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30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2400" y="0"/>
                <a:ext cx="8839200" cy="609600"/>
              </a:xfrm>
              <a:blipFill rotWithShape="1">
                <a:blip r:embed="rId2"/>
                <a:stretch>
                  <a:fillRect b="-17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85800"/>
                <a:ext cx="8763000" cy="594360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luật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Bôilơ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Mariốt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 Boyle –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Mariotte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cứu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>
                  <a:buFontTx/>
                  <a:buChar char="-"/>
                </a:pP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QT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𝑑𝑇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𝑐𝑜𝑛𝑠𝑡</m:t>
                    </m:r>
                  </m:oMath>
                </a14:m>
                <a:endParaRPr lang="en-US" sz="2700" b="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…=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7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𝐩𝐕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𝐜𝐨𝐧𝐬𝐭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OpV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hypebol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càng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12: QT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giãn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nở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21: QT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85800"/>
                <a:ext cx="8763000" cy="5943600"/>
              </a:xfrm>
              <a:blipFill>
                <a:blip r:embed="rId3"/>
                <a:stretch>
                  <a:fillRect l="-1321" t="-1026" r="-1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599" y="2133599"/>
            <a:ext cx="2565401" cy="2362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687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8991600" cy="609600"/>
          </a:xfrm>
        </p:spPr>
        <p:txBody>
          <a:bodyPr>
            <a:noAutofit/>
          </a:bodyPr>
          <a:lstStyle/>
          <a:p>
            <a:pPr algn="l"/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Gay-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Luytxắc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(Gay -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Lussac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7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7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sz="27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27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27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đẳng</a:t>
            </a:r>
            <a:r>
              <a:rPr lang="en-US" sz="27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i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7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457200"/>
                <a:ext cx="9067800" cy="6248400"/>
              </a:xfrm>
            </p:spPr>
            <p:txBody>
              <a:bodyPr>
                <a:noAutofit/>
              </a:bodyPr>
              <a:lstStyle/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b="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𝑑𝑝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𝑐𝑜𝑛𝑠𝑡</m:t>
                    </m:r>
                  </m:oMath>
                </a14:m>
                <a:endParaRPr lang="en-US" sz="2700" b="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=…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den>
                    </m:f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𝒄𝒐𝒏𝒔𝒕</m:t>
                    </m:r>
                  </m:oMath>
                </a14:m>
                <a:endParaRPr lang="en-US" sz="27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OpV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// OV.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12: QT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giãn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nở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21: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Nén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luật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Saclơ</a:t>
                </a:r>
                <a:r>
                  <a:rPr lang="en-US" sz="27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(Charles) 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Nghiên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cứu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quá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đổi</a:t>
                </a: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dV = 0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𝑐𝑜𝑛𝑠𝑡</m:t>
                    </m:r>
                  </m:oMath>
                </a14:m>
                <a:endParaRPr lang="en-US" sz="2700" b="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…=</m:t>
                    </m:r>
                    <m:f>
                      <m:fPr>
                        <m:ctrlPr>
                          <a:rPr lang="en-US" sz="27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sz="2700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  <m:f>
                      <m:fPr>
                        <m:ctrlP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𝒑</m:t>
                        </m:r>
                      </m:num>
                      <m:den>
                        <m:r>
                          <a:rPr lang="en-US" sz="27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den>
                    </m:f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1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𝒄𝒐𝒏𝒔𝒕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7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0"/>
                  </a:spcBef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OpV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// Op.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12: QT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lạnh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21: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Hơ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đẳng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457200"/>
                <a:ext cx="9067800" cy="6248400"/>
              </a:xfrm>
              <a:blipFill>
                <a:blip r:embed="rId2"/>
                <a:stretch>
                  <a:fillRect l="-1277" t="-976" r="-1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0" y="4648200"/>
            <a:ext cx="2298700" cy="185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Phóng to Trang chiếu 4">
                <a:extLst>
                  <a:ext uri="{FF2B5EF4-FFF2-40B4-BE49-F238E27FC236}">
                    <a16:creationId xmlns:a16="http://schemas.microsoft.com/office/drawing/2014/main" id="{284B687D-72DE-46E3-869F-1F2108DEA6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9095605"/>
                  </p:ext>
                </p:extLst>
              </p:nvPr>
            </p:nvGraphicFramePr>
            <p:xfrm>
              <a:off x="-2895600" y="990600"/>
              <a:ext cx="2286000" cy="1714500"/>
            </p:xfrm>
            <a:graphic>
              <a:graphicData uri="http://schemas.microsoft.com/office/powerpoint/2016/slidezoom">
                <pslz:sldZm>
                  <pslz:sldZmObj sldId="260" cId="516871557">
                    <pslz:zmPr id="{036C6B04-2BE9-41A0-96CC-A5B052AF4A27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Phóng to Trang chiếu 4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284B687D-72DE-46E3-869F-1F2108DEA6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2895600" y="990600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434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" y="0"/>
            <a:ext cx="8534400" cy="6096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lí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endParaRPr lang="en-US" sz="2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09600"/>
                <a:ext cx="9144000" cy="6019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𝑝𝑉</m:t>
                        </m:r>
                      </m:num>
                      <m:den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den>
                    </m:f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𝑐𝑜𝑛𝑠𝑡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𝑝𝑉</m:t>
                        </m:r>
                      </m:num>
                      <m:den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den>
                    </m:f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sSub>
                          <m:sSubPr>
                            <m:ctrlP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sub>
                        </m:sSub>
                        <m: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𝑛</m:t>
                    </m:r>
                    <m:f>
                      <m:fPr>
                        <m:ctrlPr>
                          <a:rPr lang="en-US" sz="27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sz="2700" dirty="0">
                  <a:solidFill>
                    <a:srgbClr val="FF0000"/>
                  </a:solidFill>
                </a:endParaRPr>
              </a:p>
              <a:p>
                <a:pPr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Đặt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31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𝑚𝑜𝑙𝐾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tưởng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Cambria Math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→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𝒑𝑽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𝒏𝑹𝑻</m:t>
                    </m:r>
                  </m:oMath>
                </a14:m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𝒑𝑽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𝑹𝑻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PT TT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KLT</a:t>
                </a:r>
              </a:p>
              <a:p>
                <a:pPr marL="0" indent="0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khối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khối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khối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khối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𝜇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mol.</a:t>
                </a: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sSup>
                          <m:sSup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, 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(K) </a:t>
                </a:r>
                <a14:m>
                  <m:oMath xmlns:m="http://schemas.openxmlformats.org/officeDocument/2006/math"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700" b="0" i="1" dirty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31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J/molK</a:t>
                </a: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atm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(K) </a:t>
                </a:r>
                <a14:m>
                  <m:oMath xmlns:m="http://schemas.openxmlformats.org/officeDocument/2006/math">
                    <m:r>
                      <a:rPr lang="en-US" sz="27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= 0,082 </a:t>
                </a:r>
                <a:r>
                  <a:rPr lang="en-US" sz="27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atm</a:t>
                </a:r>
                <a14:m>
                  <m:oMath xmlns:m="http://schemas.openxmlformats.org/officeDocument/2006/math">
                    <m: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molK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09600"/>
                <a:ext cx="9144000" cy="6019800"/>
              </a:xfrm>
              <a:blipFill rotWithShape="1">
                <a:blip r:embed="rId2"/>
                <a:stretch>
                  <a:fillRect l="-1200" r="-1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30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6200" y="0"/>
                <a:ext cx="8839200" cy="533400"/>
              </a:xfrm>
            </p:spPr>
            <p:txBody>
              <a:bodyPr>
                <a:norm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2700" b="1" smtClean="0">
                        <a:solidFill>
                          <a:srgbClr val="C00000"/>
                        </a:solidFill>
                        <a:latin typeface="Cambria Math"/>
                      </a:rPr>
                      <m:t>§</m:t>
                    </m:r>
                    <m:r>
                      <a:rPr lang="en-US" sz="2700" b="1" i="0" smtClean="0">
                        <a:solidFill>
                          <a:srgbClr val="C00000"/>
                        </a:solidFill>
                        <a:latin typeface="Cambria Math"/>
                      </a:rPr>
                      <m:t>𝟑</m:t>
                    </m:r>
                    <m:r>
                      <a:rPr lang="en-US" sz="2700" b="1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Thuyết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học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chất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tưởng</a:t>
                </a:r>
                <a:r>
                  <a:rPr lang="en-US" sz="27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7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200" y="0"/>
                <a:ext cx="8839200" cy="533400"/>
              </a:xfrm>
              <a:blipFill rotWithShape="1">
                <a:blip r:embed="rId2"/>
                <a:stretch>
                  <a:fillRect t="-681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533400"/>
            <a:ext cx="8991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endParaRPr lang="en-US" sz="2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ngừng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bé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trừ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chạm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đàn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27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84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</p:spPr>
        <p:txBody>
          <a:bodyPr>
            <a:normAutofit fontScale="90000"/>
          </a:bodyPr>
          <a:lstStyle/>
          <a:p>
            <a:b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3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381000"/>
                <a:ext cx="8763000" cy="6477000"/>
              </a:xfrm>
            </p:spPr>
            <p:txBody>
              <a:bodyPr>
                <a:noAutofit/>
              </a:bodyPr>
              <a:lstStyle/>
              <a:p>
                <a:pPr algn="just">
                  <a:buFontTx/>
                  <a:buChar char="-"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KL m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như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CĐ,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~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(0,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7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sz="2700" b="0" i="0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Ox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gây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chạm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ĐH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nảy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7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chạm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Gọi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mà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</m:acc>
                    <m:r>
                      <a:rPr lang="en-US" sz="2700" b="0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=−</m:t>
                    </m:r>
                    <m:sSup>
                      <m:sSup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về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acc>
                      <m:accPr>
                        <m:chr m:val="⃗"/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acc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𝑚</m:t>
                    </m:r>
                    <m:sSubSup>
                      <m:sSubSup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b/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sSup>
                      <m:sSup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 =</m:t>
                        </m:r>
                        <m:acc>
                          <m:accPr>
                            <m:chr m:val="⃗"/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Chiếu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Ox: 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=−</m:t>
                    </m:r>
                    <m:sSup>
                      <m:sSup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𝑚</m:t>
                        </m:r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Xét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khoảng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thời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thì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7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tốc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7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nằm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trụ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diện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đáy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chiều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dài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 ∆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thể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tích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chạm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381000"/>
                <a:ext cx="8763000" cy="6477000"/>
              </a:xfrm>
              <a:blipFill rotWithShape="1">
                <a:blip r:embed="rId2"/>
                <a:stretch>
                  <a:fillRect l="-1322" t="-847" r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1676400"/>
            <a:ext cx="248285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855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52400"/>
                <a:ext cx="8610600" cy="6553200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mật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700" i="1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700" b="0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700" b="0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=∆</m:t>
                    </m:r>
                    <m:r>
                      <a:rPr lang="en-US" sz="2700" b="0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700" b="0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.</m:t>
                    </m:r>
                    <m:sSub>
                      <m:sSubPr>
                        <m:ctrlPr>
                          <a:rPr lang="en-US" sz="27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dirty="0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700" b="0" i="1" dirty="0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700" b="0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700" b="0" i="1" dirty="0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cham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Ox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700" i="1" dirty="0">
                  <a:solidFill>
                    <a:srgbClr val="0070C0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b="0" i="1" dirty="0">
                    <a:solidFill>
                      <a:srgbClr val="0070C0"/>
                    </a:solidFill>
                    <a:latin typeface="Cambria Math"/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sSup>
                      <m:sSup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Lực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hợp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Ox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dụng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thành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bình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=(</m:t>
                    </m:r>
                    <m:nary>
                      <m:naryPr>
                        <m:chr m:val="∑"/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𝑚𝑆</m:t>
                    </m:r>
                    <m:acc>
                      <m:accPr>
                        <m:chr m:val="̅"/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7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𝑆</m:t>
                    </m:r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7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sz="27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.</m:t>
                            </m:r>
                            <m:sSup>
                              <m:sSupPr>
                                <m:ctrlP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7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7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7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n-US" sz="27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7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7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7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sub>
                            </m:sSub>
                          </m:e>
                          <m:sup>
                            <m: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sz="2700" b="0" i="1" smtClean="0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27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sz="27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</m:num>
                      <m:den>
                        <m:r>
                          <a:rPr lang="en-US" sz="2700" b="0" i="1" smtClean="0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Áp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suất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𝐩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𝐅</m:t>
                        </m:r>
                      </m:num>
                      <m:den>
                        <m:r>
                          <a:rPr lang="en-US" sz="2700" b="1" i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𝐒</m:t>
                        </m:r>
                      </m:den>
                    </m:f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 i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700" b="1" i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𝟑</m:t>
                        </m:r>
                      </m:den>
                    </m:f>
                    <m:sSub>
                      <m:sSubPr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 i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𝐧</m:t>
                        </m:r>
                      </m:e>
                      <m:sub>
                        <m:r>
                          <a:rPr lang="en-US" sz="2700" b="1" i="0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𝐦</m:t>
                    </m:r>
                    <m:r>
                      <a:rPr lang="en-US" sz="2700" b="1" i="0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acc>
                      <m:accPr>
                        <m:chr m:val="̅"/>
                        <m:ctrlPr>
                          <a:rPr lang="en-US" sz="27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7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700" b="1" i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𝐯</m:t>
                            </m:r>
                          </m:e>
                          <m:sup>
                            <m:r>
                              <a:rPr lang="en-US" sz="2700" b="1" i="0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e>
                    </m:acc>
                  </m:oMath>
                </a14:m>
                <a:endParaRPr lang="en-US" sz="27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 algn="just">
                  <a:buNone/>
                </a:pP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52400"/>
                <a:ext cx="8610600" cy="6553200"/>
              </a:xfrm>
              <a:blipFill>
                <a:blip r:embed="rId2"/>
                <a:stretch>
                  <a:fillRect l="-1345" r="-1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23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"/>
            <a:ext cx="8610600" cy="457200"/>
          </a:xfrm>
        </p:spPr>
        <p:txBody>
          <a:bodyPr>
            <a:noAutofit/>
          </a:bodyPr>
          <a:lstStyle/>
          <a:p>
            <a:pPr algn="l"/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Nhiệt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endParaRPr lang="en-US" sz="2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533400"/>
                <a:ext cx="8839200" cy="60960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</a:rPr>
                      <m:t>𝑝</m:t>
                    </m:r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𝑛𝑅𝑇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den>
                    </m:f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sz="27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700" i="1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  <m:acc>
                      <m:accPr>
                        <m:chr m:val="̅"/>
                        <m:ctrlPr>
                          <a:rPr lang="en-US" sz="27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7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700" i="1" dirty="0">
                  <a:solidFill>
                    <a:srgbClr val="FF0000"/>
                  </a:solidFill>
                  <a:latin typeface="Cambria Math"/>
                  <a:ea typeface="Cambria Math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        →</m:t>
                    </m:r>
                  </m:oMath>
                </a14:m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</m:e>
                    </m:acc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𝑚</m:t>
                    </m:r>
                    <m:acc>
                      <m:accPr>
                        <m:chr m:val="̅"/>
                        <m:ctrlPr>
                          <a:rPr lang="en-US" sz="2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𝑛</m:t>
                    </m:r>
                    <m:f>
                      <m:fPr>
                        <m:ctrlPr>
                          <a:rPr lang="en-US" sz="2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𝑅𝑇</m:t>
                        </m:r>
                      </m:num>
                      <m:den>
                        <m:sSub>
                          <m:sSubPr>
                            <m:ctrlP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𝑉</m:t>
                        </m:r>
                      </m:den>
                    </m:f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f>
                      <m:fPr>
                        <m:ctrlPr>
                          <a:rPr lang="en-US" sz="2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𝑅𝑇</m:t>
                        </m:r>
                      </m:num>
                      <m:den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sz="27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 dirty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700" i="1" dirty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en-US" sz="2700" i="1" dirty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700" b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 sz="2700" b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đ</m:t>
                        </m:r>
                      </m:sub>
                    </m:sSub>
                    <m:r>
                      <a:rPr lang="en-US" sz="2700" b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700" b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700" b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𝐁</m:t>
                        </m:r>
                      </m:sub>
                    </m:sSub>
                    <m:r>
                      <a:rPr lang="en-US" sz="2700" b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𝐓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endParaRPr lang="en-US" sz="27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de-DE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 năng tịnh tiến trung bình của phân tử khí tỉ lệ bậc nhất với nhiệt độ tuyệt đối.</a:t>
                </a:r>
                <a:r>
                  <a:rPr lang="de-DE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sz="2700" i="1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700" i="1">
                                <a:solidFill>
                                  <a:srgbClr val="0070C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en-US" sz="2700" i="1">
                        <a:solidFill>
                          <a:srgbClr val="0070C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=1,38.</m:t>
                    </m:r>
                    <m:sSup>
                      <m:sSupPr>
                        <m:ctrlPr>
                          <a:rPr lang="en-US" sz="27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−23</m:t>
                        </m:r>
                      </m:sup>
                    </m:sSup>
                    <m:f>
                      <m:fPr>
                        <m:ctrlPr>
                          <a:rPr lang="en-US" sz="27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2700" i="1">
                            <a:solidFill>
                              <a:srgbClr val="0070C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hằng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Boltzaman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de-DE" sz="270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de-DE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 độ tuyệt đối (T) đặc trưng cho mức độ chuyển động hỗn loạn của các phân tử.</a:t>
                </a:r>
                <a:endParaRPr lang="en-US" sz="2700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533400"/>
                <a:ext cx="8839200" cy="6096000"/>
              </a:xfrm>
              <a:blipFill>
                <a:blip r:embed="rId2"/>
                <a:stretch>
                  <a:fillRect l="-1310" r="-2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219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" y="0"/>
            <a:ext cx="8229600" cy="6096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lí</a:t>
            </a:r>
            <a:r>
              <a:rPr lang="en-US" sz="2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endParaRPr lang="en-US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533400"/>
                <a:ext cx="8763000" cy="6172200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 algn="just">
                  <a:buAutoNum type="alphaLcPeriod"/>
                </a:pP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(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luật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bố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</a:t>
                </a:r>
              </a:p>
              <a:p>
                <a:pPr algn="just"/>
                <a:r>
                  <a:rPr lang="en-US" sz="27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7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KN: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toạ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lập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thiết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vị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trí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gian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VD: 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đơn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lưỡng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5,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đa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nguyên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7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6.</a:t>
                </a:r>
              </a:p>
              <a:p>
                <a:pPr algn="just">
                  <a:buFontTx/>
                  <a:buChar char="-"/>
                </a:pPr>
                <a:r>
                  <a:rPr lang="en-US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700" b="1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 sz="2700" b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đ</m:t>
                        </m:r>
                      </m:sub>
                    </m:sSub>
                    <m:r>
                      <a:rPr lang="en-US" sz="2700" b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700" b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𝐤</m:t>
                        </m:r>
                      </m:e>
                      <m:sub>
                        <m:r>
                          <a:rPr lang="en-US" sz="2700" b="1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𝐁</m:t>
                        </m:r>
                      </m:sub>
                    </m:sSub>
                    <m:r>
                      <a:rPr lang="en-US" sz="2700" b="1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𝐓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de-DE" sz="27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 động tịnh tiến có 3 bậc tự do. 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Định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luật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bố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7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</a:t>
                </a:r>
              </a:p>
              <a:p>
                <a:pPr marL="0" indent="0" algn="just">
                  <a:buNone/>
                </a:pP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PB: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được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bố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đều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ứng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bậc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tự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 </a:t>
                </a:r>
                <a:r>
                  <a:rPr lang="en-US" sz="27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7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7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7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7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7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7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đ</m:t>
                            </m:r>
                          </m:sub>
                        </m:sSub>
                      </m:e>
                    </m:acc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num>
                      <m:den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sz="27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/>
                      </a:rPr>
                      <m:t>𝑇</m:t>
                    </m:r>
                  </m:oMath>
                </a14:m>
                <a:endParaRPr lang="en-US" sz="27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533400"/>
                <a:ext cx="8763000" cy="6172200"/>
              </a:xfrm>
              <a:blipFill rotWithShape="1">
                <a:blip r:embed="rId2"/>
                <a:stretch>
                  <a:fillRect l="-1252" t="-1482" r="-1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92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534400" cy="563562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27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7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7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7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lí</a:t>
            </a:r>
            <a:r>
              <a:rPr lang="en-US" sz="27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endParaRPr lang="en-US" sz="27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533400"/>
                <a:ext cx="8763000" cy="62484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Tx/>
                  <a:buChar char="-"/>
                </a:pP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lượng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đ</m:t>
                        </m:r>
                      </m:sub>
                    </m:sSub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𝑈</m:t>
                    </m:r>
                  </m:oMath>
                </a14:m>
                <a:endParaRPr lang="en-US" sz="29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Tx/>
                  <a:buChar char="-"/>
                </a:pP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gồm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thế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tương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tác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giữa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buFontTx/>
                  <a:buChar char="-"/>
                </a:pP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lí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tưởng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bằng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động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phân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tử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khí</a:t>
                </a:r>
                <a:r>
                  <a:rPr lang="en-US" sz="29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29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9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9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đ</m:t>
                            </m:r>
                          </m:sub>
                        </m:sSub>
                      </m:e>
                    </m:nary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f>
                      <m:fPr>
                        <m:ctrl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sSub>
                          <m:sSubPr>
                            <m:ctrlPr>
                              <a:rPr lang="en-US" sz="29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9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9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sz="2900" b="0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900" b="0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𝑅𝑇</m:t>
                    </m:r>
                  </m:oMath>
                </a14:m>
                <a:endParaRPr lang="en-US" sz="29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9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𝑼</m:t>
                    </m:r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𝒏</m:t>
                    </m:r>
                    <m:f>
                      <m:fPr>
                        <m:ctrlP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𝒊𝑹</m:t>
                        </m:r>
                      </m:num>
                      <m:den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𝑻</m:t>
                    </m:r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f>
                      <m:fPr>
                        <m:ctrlP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𝒊𝑹</m:t>
                        </m:r>
                      </m:num>
                      <m:den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cs typeface="Times New Roman" panose="02020603050405020304" pitchFamily="18" charset="0"/>
                      </a:rPr>
                      <m:t>𝑻</m:t>
                    </m:r>
                  </m:oMath>
                </a14:m>
                <a:r>
                  <a:rPr lang="en-US" sz="29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sz="29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tuyến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nhiệt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KLT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(NN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chỉ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phụ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thuộc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vào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đầu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cuối</a:t>
                </a: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algn="just">
                  <a:buFontTx/>
                  <a:buChar char="-"/>
                </a:pPr>
                <a:r>
                  <a:rPr lang="en-US" sz="29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29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biến</a:t>
                </a:r>
                <a:r>
                  <a:rPr lang="en-US" sz="29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thiên</a:t>
                </a:r>
                <a:r>
                  <a:rPr lang="en-US" sz="29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nội</a:t>
                </a:r>
                <a:r>
                  <a:rPr lang="en-US" sz="29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năng</a:t>
                </a:r>
                <a:r>
                  <a:rPr lang="en-US" sz="29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9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29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KLT:</a:t>
                </a:r>
              </a:p>
              <a:p>
                <a:pPr marL="0" indent="0" algn="just">
                  <a:buNone/>
                </a:pPr>
                <a:r>
                  <a:rPr lang="en-US" sz="29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𝑼</m:t>
                    </m:r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f>
                      <m:fPr>
                        <m:ctrlP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𝒊𝑹</m:t>
                        </m:r>
                      </m:num>
                      <m:den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900" b="1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29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7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533400"/>
                <a:ext cx="8763000" cy="6248400"/>
              </a:xfrm>
              <a:blipFill rotWithShape="1">
                <a:blip r:embed="rId3"/>
                <a:stretch>
                  <a:fillRect l="-1322" t="-2146" r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627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2016</Words>
  <Application>Microsoft Office PowerPoint</Application>
  <PresentationFormat>Trình chiếu Trên màn hình (4:3)</PresentationFormat>
  <Paragraphs>116</Paragraphs>
  <Slides>13</Slides>
  <Notes>3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Times New Roman</vt:lpstr>
      <vt:lpstr>Office Theme</vt:lpstr>
      <vt:lpstr>Bản trình bày PowerPoint</vt:lpstr>
      <vt:lpstr>Bản trình bày PowerPoint</vt:lpstr>
      <vt:lpstr>- 1hệ khí, trạng thái của nó được xác định bởi 3 thông số là V, p, T. Trong đó có 2 thông số biến đổi là độc lập, thông số còn lại là phụ thuộc theo quan hệ hàm số: f(p, V, T)=0 → PT trạng thái của 1 khối khí xác định.</vt:lpstr>
      <vt:lpstr>b. Nhiệt độ</vt:lpstr>
      <vt:lpstr> §2 – Các định luật thực nghiệm của chất khí  </vt:lpstr>
      <vt:lpstr>2. Định luật Gay- Luytxắc (Gay - Lussac) (Nghiên cứu quá trình đẳng áp)</vt:lpstr>
      <vt:lpstr>4. Phương trình trạng thái của khí lí tưởng</vt:lpstr>
      <vt:lpstr>§3 – Thuyết động học phân tử chất khí. Khí lí tưởng </vt:lpstr>
      <vt:lpstr> 2. Phương trình cơ bản thuyết động học phân tử chất khí  </vt:lpstr>
      <vt:lpstr>Bản trình bày PowerPoint</vt:lpstr>
      <vt:lpstr>3. Nhiệt độ theo quan điểm thuyết động học chất khí</vt:lpstr>
      <vt:lpstr>4.  Nội năng của khí lí tưởng</vt:lpstr>
      <vt:lpstr>b. Nội năng của khí lí tưởng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I – NHIỆT ĐỘ VÀ THUYẾT ĐỘNG HỌC CHẤT KHÍ</dc:title>
  <dc:creator>Admin</dc:creator>
  <cp:lastModifiedBy>Cao Trung Hieu</cp:lastModifiedBy>
  <cp:revision>62</cp:revision>
  <dcterms:created xsi:type="dcterms:W3CDTF">2019-09-21T09:37:30Z</dcterms:created>
  <dcterms:modified xsi:type="dcterms:W3CDTF">2022-05-06T04:38:20Z</dcterms:modified>
</cp:coreProperties>
</file>