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61" r:id="rId4"/>
    <p:sldId id="263" r:id="rId5"/>
    <p:sldId id="262" r:id="rId6"/>
    <p:sldId id="264" r:id="rId7"/>
    <p:sldId id="265" r:id="rId8"/>
    <p:sldId id="268" r:id="rId9"/>
    <p:sldId id="269" r:id="rId10"/>
    <p:sldId id="267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53AA0-426C-4368-BB98-210B3F79A9E3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89F57-893C-4BEE-9BEF-DE8DD1F07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0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9F57-893C-4BEE-9BEF-DE8DD1F074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09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9F57-893C-4BEE-9BEF-DE8DD1F074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61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1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8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70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0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6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8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8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9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6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26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0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CB25F-2ED1-40AA-AA0D-865CBCFD3222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9782B-1112-4D25-94BC-72FA2FE7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85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763000" cy="762000"/>
          </a:xfrm>
        </p:spPr>
        <p:txBody>
          <a:bodyPr>
            <a:noAutofit/>
          </a:bodyPr>
          <a:lstStyle/>
          <a:p>
            <a:r>
              <a:rPr lang="en-US" sz="2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II – NGUYÊN LÝ THỨ NHẤT NHIỆT ĐỘNG LỰC HỌC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762000"/>
                <a:ext cx="9144000" cy="59436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600" b="1" i="0" smtClean="0">
                        <a:solidFill>
                          <a:srgbClr val="C00000"/>
                        </a:solidFill>
                        <a:latin typeface="Cambria Math"/>
                      </a:rPr>
                      <m:t>§</m:t>
                    </m:r>
                  </m:oMath>
                </a14:m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1 –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nhiệt</a:t>
                </a:r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động</a:t>
                </a:r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và</a:t>
                </a:r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sự</a:t>
                </a:r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biến</a:t>
                </a:r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đổi</a:t>
                </a:r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một</a:t>
                </a:r>
                <a:r>
                  <a:rPr lang="en-US" sz="26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endParaRPr lang="en-US" sz="2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>
                  <a:spcBef>
                    <a:spcPts val="0"/>
                  </a:spcBef>
                  <a:buAutoNum type="arabicPeriod"/>
                </a:pPr>
                <a:r>
                  <a:rPr lang="en-US" sz="26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6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nhiệt</a:t>
                </a:r>
                <a:r>
                  <a:rPr lang="en-US" sz="26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6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động</a:t>
                </a:r>
                <a:endParaRPr lang="en-US" sz="2600" b="1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vĩ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độc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vĩ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hay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những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quanh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quanh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quanh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quanh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26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endParaRPr lang="en-US" sz="26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62000"/>
                <a:ext cx="9144000" cy="5943600"/>
              </a:xfrm>
              <a:blipFill rotWithShape="1">
                <a:blip r:embed="rId3"/>
                <a:stretch>
                  <a:fillRect l="-1133" t="-923" r="-1200" b="-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0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609600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7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endParaRPr lang="en-US" sz="27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33400"/>
            <a:ext cx="8839200" cy="6172200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US" sz="27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Tx/>
              <a:buChar char="-"/>
            </a:pP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T, p, V;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OpV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Tx/>
              <a:buChar char="-"/>
            </a:pP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7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34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6096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2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686800" cy="6096000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US" sz="27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ĐN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OpV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834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839200" cy="6705600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xylanh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pitton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</a:p>
          <a:p>
            <a:pPr marL="0" indent="0" algn="just">
              <a:buNone/>
            </a:pP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pitton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Ở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pitton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pitton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cỡ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330m/s). Do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pitton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pitton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đáy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pitton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chêch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5800" dirty="0"/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5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5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chêch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5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5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91439"/>
            <a:ext cx="2781300" cy="1642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3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04800" y="15240"/>
                <a:ext cx="8382000" cy="53340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700" b="1" smtClean="0">
                        <a:solidFill>
                          <a:srgbClr val="C00000"/>
                        </a:solidFill>
                        <a:latin typeface="Cambria Math"/>
                      </a:rPr>
                      <m:t>§</m:t>
                    </m:r>
                  </m:oMath>
                </a14:m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–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endParaRPr lang="en-US" sz="27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4800" y="15240"/>
                <a:ext cx="8382000" cy="533400"/>
              </a:xfrm>
              <a:blipFill rotWithShape="1">
                <a:blip r:embed="rId2"/>
                <a:stretch>
                  <a:fillRect t="-8046" b="-26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533400"/>
                <a:ext cx="8839200" cy="6172200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AutoNum type="arabicPeriod"/>
                </a:pP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gây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cân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vĩ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hay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gây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xúc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Do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bề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tức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xilanh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en-US" sz="27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en-US" sz="27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Ngoại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pittông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7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pitông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dịch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dx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pittông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𝑑𝑠</m:t>
                        </m:r>
                      </m:e>
                    </m:acc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Fdx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Dấu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“- ” do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dx &lt; 0,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pittông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hê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pittông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𝑝𝑆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pittông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pittông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533400"/>
                <a:ext cx="8839200" cy="6172200"/>
              </a:xfrm>
              <a:blipFill rotWithShape="1">
                <a:blip r:embed="rId3"/>
                <a:stretch>
                  <a:fillRect l="-1241" t="-1482" r="-1310" b="-1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026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52400"/>
                <a:ext cx="8839200" cy="64008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700" b="0" dirty="0">
                    <a:solidFill>
                      <a:srgbClr val="FF0000"/>
                    </a:solidFill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𝛿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=−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𝑝𝑆𝑑𝑥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→ 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𝛅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𝐀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=−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𝐩𝐝𝐕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𝑑𝑉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𝑆𝑑𝑥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buFontTx/>
                  <a:buChar char="-"/>
                </a:pP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</a:p>
              <a:p>
                <a:pPr marL="0" indent="0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  <m:sup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𝜹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𝑨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=−</m:t>
                        </m:r>
                        <m:nary>
                          <m:naryPr>
                            <m:ctrlP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</m:sup>
                          <m:e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𝒑𝒅𝑽</m:t>
                            </m:r>
                          </m:e>
                        </m:nary>
                      </m:e>
                    </m:nary>
                  </m:oMath>
                </a14:m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700" b="1" i="1" u="sng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700" b="1" i="1" u="sng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u="sng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ước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 b="0" i="0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700" b="0" i="0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700" b="0" i="0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A &lt; 0: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sz="2700" b="1" u="sng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Chú</a:t>
                </a:r>
                <a:r>
                  <a:rPr lang="en-US" sz="2700" b="1" u="sng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pOV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pOV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giới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OV.</a:t>
                </a:r>
              </a:p>
              <a:p>
                <a:pPr marL="0" indent="0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𝒕𝒓𝒂𝒐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 đố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Char char="-"/>
                </a:pP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).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700" b="0" i="1" dirty="0">
                  <a:solidFill>
                    <a:srgbClr val="FF0000"/>
                  </a:solidFill>
                  <a:latin typeface="Cambria Math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52400"/>
                <a:ext cx="8839200" cy="6400800"/>
              </a:xfrm>
              <a:blipFill rotWithShape="1">
                <a:blip r:embed="rId2"/>
                <a:stretch>
                  <a:fillRect l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86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9144000" cy="68580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 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dV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0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&gt; 0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12</m:t>
                        </m:r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giãn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dV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0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 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&lt; 0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12</m:t>
                        </m:r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hồ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&gt; 0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_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Máy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giãn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sz="26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26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4: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kim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hồ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thuận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&lt; 0 (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ô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𝑛𝑔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ệ 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𝑡h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ự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h𝑖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ệ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_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sz="2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buNone/>
                </a:pPr>
                <a:r>
                  <a:rPr lang="en-US" sz="26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6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6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6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6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endParaRPr lang="en-US" sz="26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9144000" cy="6858000"/>
              </a:xfrm>
              <a:blipFill rotWithShape="1">
                <a:blip r:embed="rId2"/>
                <a:stretch>
                  <a:fillRect l="-1067" r="-1067" b="-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28600"/>
            <a:ext cx="6933914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64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27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533400"/>
                <a:ext cx="8763000" cy="62484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tức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chuyện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dung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riêng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thiết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thêm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𝛿</m:t>
                        </m:r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𝑚𝑑𝑇</m:t>
                        </m:r>
                      </m:den>
                    </m:f>
                  </m:oMath>
                </a14:m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9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9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9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𝑚𝑐𝑑𝑇</m:t>
                    </m:r>
                  </m:oMath>
                </a14:m>
                <a:endParaRPr lang="en-US" sz="29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9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9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900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𝐾𝑔𝐾</m:t>
                        </m:r>
                      </m:den>
                    </m:f>
                  </m:oMath>
                </a14:m>
                <a:endParaRPr lang="en-US" sz="29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dung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dung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9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thêm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just">
                  <a:buNone/>
                </a:pPr>
                <a:r>
                  <a:rPr lang="en-US" sz="29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9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</m:sSub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9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9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9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9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9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9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sz="29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9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dT</a:t>
                </a:r>
              </a:p>
              <a:p>
                <a:pPr marL="0" indent="0" algn="just">
                  <a:buNone/>
                </a:pP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  <m:sup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  <m:e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𝛿</m:t>
                        </m:r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𝑄</m:t>
                        </m:r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= </m:t>
                        </m:r>
                        <m:nary>
                          <m:naryPr>
                            <m:ctrlPr>
                              <a:rPr lang="en-US" sz="29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9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9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sz="2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9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9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f>
                              <m:fPr>
                                <m:ctrlPr>
                                  <a:rPr lang="en-US" sz="2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9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sz="29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den>
                            </m:f>
                          </m:e>
                        </m:nary>
                      </m:e>
                    </m:nary>
                    <m:sSub>
                      <m:sSubPr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dT</a:t>
                </a:r>
              </a:p>
              <a:p>
                <a:pPr marL="0" indent="0" algn="just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𝑚𝑜𝑙𝐾</m:t>
                        </m:r>
                      </m:den>
                    </m:f>
                  </m:oMath>
                </a14:m>
                <a:endParaRPr lang="en-US" sz="27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533400"/>
                <a:ext cx="8763000" cy="6248400"/>
              </a:xfrm>
              <a:blipFill>
                <a:blip r:embed="rId2"/>
                <a:stretch>
                  <a:fillRect l="-1322" t="-1561" r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021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228600"/>
                <a:ext cx="8763000" cy="6248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sub>
                    </m:sSub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𝑃</m:t>
                        </m:r>
                      </m:sub>
                    </m:sSub>
                  </m:oMath>
                </a14:m>
                <a:endPara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sub>
                    </m:sSub>
                  </m:oMath>
                </a14:m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𝑽</m:t>
                        </m:r>
                      </m:sub>
                    </m:sSub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7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Char char="-"/>
                </a:pPr>
                <a:r>
                  <a:rPr lang="en-US" sz="2700" b="1" u="sng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700" b="1" u="sng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u="sng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ước</a:t>
                </a:r>
                <a:r>
                  <a:rPr lang="en-US" sz="2700" b="1" u="sng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Q &gt; 0: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Q &lt; 0: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tỏa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228600"/>
                <a:ext cx="8763000" cy="6248400"/>
              </a:xfrm>
              <a:blipFill rotWithShape="1">
                <a:blip r:embed="rId2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035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8600" y="0"/>
                <a:ext cx="8458200" cy="53340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700" b="1" smtClean="0">
                        <a:solidFill>
                          <a:srgbClr val="FF0000"/>
                        </a:solidFill>
                        <a:latin typeface="Cambria Math"/>
                      </a:rPr>
                      <m:t>§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–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8600" y="0"/>
                <a:ext cx="8458200" cy="533400"/>
              </a:xfrm>
              <a:blipFill rotWithShape="1">
                <a:blip r:embed="rId3"/>
                <a:stretch>
                  <a:fillRect t="-681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533400"/>
                <a:ext cx="8839200" cy="60960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Theo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sz="2700" b="0" i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bằng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W</m:t>
                    </m:r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− 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Q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thế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 algn="just"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ea typeface="Cambria Math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𝑼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𝑸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buNone/>
                </a:pP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PB: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533400"/>
                <a:ext cx="8839200" cy="6096000"/>
              </a:xfrm>
              <a:blipFill rotWithShape="1">
                <a:blip r:embed="rId4"/>
                <a:stretch>
                  <a:fillRect l="-1241" t="-900" r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98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52400"/>
                <a:ext cx="8686800" cy="6477000"/>
              </a:xfrm>
            </p:spPr>
            <p:txBody>
              <a:bodyPr>
                <a:normAutofit/>
              </a:bodyPr>
              <a:lstStyle/>
              <a:p>
                <a:pPr>
                  <a:buFontTx/>
                  <a:buChar char="-"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1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 NĐLH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𝑑𝑈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ước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nhân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tỏa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52400"/>
                <a:ext cx="8686800" cy="6477000"/>
              </a:xfrm>
              <a:blipFill rotWithShape="1">
                <a:blip r:embed="rId2"/>
                <a:stretch>
                  <a:fillRect l="-1263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20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534400" cy="5334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lí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533400"/>
                <a:ext cx="8763000" cy="6248400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bảo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endParaRPr lang="en-US" sz="27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=0→∆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</a:t>
                </a:r>
                <a:r>
                  <a:rPr lang="en-US" sz="27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Q</a:t>
                </a:r>
                <a:r>
                  <a:rPr lang="en-US" sz="27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toả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sz="27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0: 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=0 →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toả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hay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2800" dirty="0"/>
                  <a:t>.</a:t>
                </a:r>
              </a:p>
              <a:p>
                <a:pPr algn="just">
                  <a:buFontTx/>
                  <a:buChar char="-"/>
                </a:pP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533400"/>
                <a:ext cx="8763000" cy="6248400"/>
              </a:xfrm>
              <a:blipFill rotWithShape="1">
                <a:blip r:embed="rId2"/>
                <a:stretch>
                  <a:fillRect l="-1252" t="-1463" r="-1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083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Q</a:t>
            </a:r>
          </a:p>
          <a:p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toả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7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Q’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699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33400" y="15240"/>
                <a:ext cx="8229600" cy="97536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700" b="0">
                        <a:solidFill>
                          <a:srgbClr val="FF0000"/>
                        </a:solidFill>
                        <a:latin typeface="Cambria Math"/>
                      </a:rPr>
                      <m:t>§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 –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vân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tưởng</a:t>
                </a:r>
                <a:endPara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3400" y="15240"/>
                <a:ext cx="8229600" cy="975360"/>
              </a:xfrm>
              <a:blipFill rotWithShape="1">
                <a:blip r:embed="rId2"/>
                <a:stretch>
                  <a:fillRect t="-2500" r="-148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914400"/>
                <a:ext cx="8763000" cy="5791200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AutoNum type="arabicPeriod"/>
                </a:pP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dV = 0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=−</m:t>
                    </m:r>
                    <m:nary>
                      <m:nary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US" sz="2700" b="0" i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pdV</m:t>
                        </m:r>
                      </m:e>
                    </m:nary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7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dV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0)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den>
                        </m:f>
                      </m:e>
                    </m:nary>
                    <m:sSub>
                      <m:sSub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𝑑𝑇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𝑖𝑅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Mối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R:</a:t>
                </a:r>
              </a:p>
              <a:p>
                <a:pPr>
                  <a:buFontTx/>
                  <a:buChar char="-"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 NLI NĐLH: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sz="27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𝑖𝑅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		</a:t>
                </a:r>
                <a:r>
                  <a:rPr lang="en-US" sz="2700" dirty="0">
                    <a:solidFill>
                      <a:srgbClr val="FF0000"/>
                    </a:solidFill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𝑖𝑅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914400"/>
                <a:ext cx="8763000" cy="5791200"/>
              </a:xfrm>
              <a:blipFill rotWithShape="1">
                <a:blip r:embed="rId3"/>
                <a:stretch>
                  <a:fillRect l="-1252" t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253" y="1123533"/>
            <a:ext cx="2293148" cy="1848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1740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457200"/>
                <a:ext cx="8763000" cy="6324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𝑑𝑝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sz="27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:r>
                  <a:rPr lang="en-US" sz="27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70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=−</m:t>
                    </m:r>
                    <m:nary>
                      <m:nary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US" sz="270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pdV</m:t>
                        </m:r>
                      </m:e>
                    </m:nary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b="1" i="0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𝐀</m:t>
                    </m:r>
                    <m:r>
                      <a:rPr lang="en-US" sz="2700" b="1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0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𝐩</m:t>
                    </m:r>
                    <m:d>
                      <m:d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2700" b="1" i="0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700" b="1" i="1" dirty="0">
                  <a:solidFill>
                    <a:srgbClr val="7030A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b="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7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7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sz="27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den>
                        </m:f>
                      </m:e>
                    </m:nary>
                    <m:sSub>
                      <m:sSubPr>
                        <m:ctrlPr>
                          <a:rPr lang="en-US" sz="27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sz="27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𝑑𝑇</m:t>
                    </m:r>
                    <m:r>
                      <a:rPr lang="en-US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sSub>
                      <m:sSub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𝑼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f>
                      <m:f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𝒊𝑹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2700" b="1" i="1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2700" b="1" i="1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2700" i="1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Mối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R: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Theo NLI NĐLH: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FF0000"/>
                    </a:solidFill>
                    <a:ea typeface="Cambria Math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𝑖𝑅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𝑅</m:t>
                    </m:r>
                    <m:d>
                      <m:d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7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𝑽</m:t>
                        </m:r>
                      </m:sub>
                    </m:sSub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2700" b="1" i="0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 </m:t>
                    </m:r>
                    <m:r>
                      <a:rPr lang="en-US" sz="2700" b="1" i="0" smtClean="0">
                        <a:solidFill>
                          <a:srgbClr val="7030A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𝐑</m:t>
                    </m:r>
                  </m:oMath>
                </a14:m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7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7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457200"/>
                <a:ext cx="8763000" cy="6324600"/>
              </a:xfrm>
              <a:blipFill rotWithShape="1">
                <a:blip r:embed="rId2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499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534400" cy="5334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endParaRPr lang="en-US" sz="2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609600"/>
                <a:ext cx="8839200" cy="60198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700" b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𝑑𝑇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=0→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𝑅𝑇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7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:r>
                  <a:rPr lang="en-US" sz="27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70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=−</m:t>
                    </m:r>
                    <m:nary>
                      <m:nary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US" sz="270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pdV</m:t>
                        </m:r>
                      </m:e>
                    </m:nary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=−</m:t>
                    </m:r>
                    <m:nary>
                      <m:nary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den>
                        </m:f>
                      </m:e>
                    </m:nary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𝑅𝑇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US" sz="27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𝑹𝑻𝒍𝒏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𝑹𝑻𝒍𝒏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𝑼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f>
                      <m:f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𝒊𝑹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Theo NLI NĐLH: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700" dirty="0">
                    <a:solidFill>
                      <a:srgbClr val="FF0000"/>
                    </a:solidFill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700" b="1" dirty="0">
                    <a:solidFill>
                      <a:srgbClr val="7030A0"/>
                    </a:solidFill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1" i="0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𝐐</m:t>
                    </m:r>
                    <m:r>
                      <a:rPr lang="en-US" sz="2700" b="1" i="0" smtClean="0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sz="2700" b="1" i="1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sz="2700" b="1" i="1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r>
                      <a:rPr lang="en-US" sz="2700" b="1" i="1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𝑹𝑻𝒍𝒏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2700" b="1" i="1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7030A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r>
                      <a:rPr lang="en-US" sz="2700" b="1" i="1">
                        <a:solidFill>
                          <a:srgbClr val="7030A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𝑹𝑻𝒍𝒏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7030A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609600"/>
                <a:ext cx="8839200" cy="6019800"/>
              </a:xfrm>
              <a:blipFill rotWithShape="1">
                <a:blip r:embed="rId2"/>
                <a:stretch>
                  <a:fillRect l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371600"/>
            <a:ext cx="2566987" cy="236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0949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6096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endParaRPr lang="en-US" sz="2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85800"/>
                <a:ext cx="8839200" cy="6019800"/>
              </a:xfrm>
            </p:spPr>
            <p:txBody>
              <a:bodyPr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de-DE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một quá trình trong đó hệ không trao đổi nhiệt với bên ngoài: Q = 0, </a:t>
                </a:r>
                <a14:m>
                  <m:oMath xmlns:m="http://schemas.openxmlformats.org/officeDocument/2006/math">
                    <m:r>
                      <a:rPr lang="de-DE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 NLI NĐLH: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d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𝑑𝑈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US" sz="27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f>
                      <m:f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𝑖𝑅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𝑑𝑇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𝑝𝑑𝑉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sz="27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:r>
                  <a:rPr lang="en-US" sz="2700" dirty="0">
                    <a:solidFill>
                      <a:srgbClr val="FF0000"/>
                    </a:solidFill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𝑖𝑅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𝑑𝑇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𝑅𝑇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sz="2700" b="0" dirty="0">
                  <a:solidFill>
                    <a:srgbClr val="FF0000"/>
                  </a:solidFill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b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𝑑𝑇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sz="27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f>
                          <m:f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den>
                        </m:f>
                      </m:sup>
                    </m:sSup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𝑐𝑜𝑛𝑠𝑡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 →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𝑝𝑉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𝑛𝑅</m:t>
                        </m:r>
                      </m:den>
                    </m:f>
                    <m:sSup>
                      <m:s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f>
                          <m:f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den>
                        </m:f>
                      </m:sup>
                    </m:sSup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endParaRPr lang="en-US" sz="2700" b="0" i="1" dirty="0">
                  <a:solidFill>
                    <a:srgbClr val="FF0000"/>
                  </a:solidFill>
                  <a:latin typeface="Cambria Math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Cambria Math"/>
                    <a:ea typeface="Cambria Math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𝑝</m:t>
                    </m:r>
                    <m:sSup>
                      <m:s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f>
                          <m:f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endParaRPr lang="en-US" sz="2700" b="0" i="1" dirty="0">
                  <a:solidFill>
                    <a:srgbClr val="FF0000"/>
                  </a:solidFill>
                  <a:latin typeface="Cambria Math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b="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-</a:t>
                </a:r>
                <a:r>
                  <a:rPr lang="en-US" sz="2700" b="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Đặt</a:t>
                </a:r>
                <a:r>
                  <a:rPr lang="en-US" sz="2700" b="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en-US" sz="2700" b="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Chỉ</a:t>
                </a:r>
                <a:r>
                  <a:rPr lang="en-US" sz="2700" b="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b="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số</a:t>
                </a:r>
                <a:r>
                  <a:rPr lang="en-US" sz="2700" b="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b="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đoạn</a:t>
                </a:r>
                <a:r>
                  <a:rPr lang="en-US" sz="2700" b="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b="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nhiệt</a:t>
                </a:r>
                <a:endParaRPr lang="en-US" sz="2700" b="0" i="1" dirty="0">
                  <a:solidFill>
                    <a:srgbClr val="0070C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:endParaRPr lang="en-US" sz="27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85800"/>
                <a:ext cx="8839200" cy="6019800"/>
              </a:xfrm>
              <a:blipFill rotWithShape="1">
                <a:blip r:embed="rId2"/>
                <a:stretch>
                  <a:fillRect l="-1241" t="-912" r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905000"/>
            <a:ext cx="2743200" cy="2886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0466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228600"/>
                <a:ext cx="8839200" cy="58975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ea typeface="Cambria Math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𝒑</m:t>
                    </m:r>
                    <m:sSup>
                      <m:sSup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𝜸</m:t>
                        </m:r>
                      </m:sup>
                    </m:sSup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𝒄𝒐𝒏𝒔𝒕</m:t>
                    </m:r>
                  </m:oMath>
                </a14:m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𝑻</m:t>
                    </m:r>
                    <m:sSup>
                      <m:sSup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𝜸</m:t>
                        </m:r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𝒄𝒐𝒏𝒔𝒕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𝐓</m:t>
                    </m:r>
                    <m:sSup>
                      <m:sSup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p>
                        <m:f>
                          <m:fPr>
                            <m:ctrlP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𝜸</m:t>
                            </m:r>
                          </m:num>
                          <m:den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𝜸</m:t>
                            </m:r>
                          </m:den>
                        </m:f>
                      </m:sup>
                    </m:sSup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𝒄𝒐𝒏𝒔𝒕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	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Các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phương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trạng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thái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đoạn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nhiệt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OpV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𝒑</m:t>
                    </m:r>
                    <m:sSup>
                      <m:sSup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𝜸</m:t>
                        </m:r>
                      </m:sup>
                    </m:sSup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𝒄𝒐𝒏𝒔𝒕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hypecbol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liền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dốc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7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b="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𝑼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f>
                      <m:f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𝒊𝑹</m:t>
                        </m:r>
                      </m:num>
                      <m:den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𝒊</m:t>
                        </m:r>
                        <m:d>
                          <m:dPr>
                            <m:ctrlP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𝜸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den>
                    </m:f>
                  </m:oMath>
                </a14:m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228600"/>
                <a:ext cx="8839200" cy="5897563"/>
              </a:xfrm>
              <a:blipFill rotWithShape="1">
                <a:blip r:embed="rId2"/>
                <a:stretch>
                  <a:fillRect l="-1241" r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32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2548</Words>
  <Application>Microsoft Office PowerPoint</Application>
  <PresentationFormat>Trình chiếu Trên màn hình (4:3)</PresentationFormat>
  <Paragraphs>146</Paragraphs>
  <Slides>18</Slides>
  <Notes>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Times New Roman</vt:lpstr>
      <vt:lpstr>Office Theme</vt:lpstr>
      <vt:lpstr>CHƯƠNG II – NGUYÊN LÝ THỨ NHẤT NHIỆT ĐỘNG LỰC HỌC</vt:lpstr>
      <vt:lpstr>2. Trạng thái cân bằng của một hệ</vt:lpstr>
      <vt:lpstr>3. Quá trình cân bằng</vt:lpstr>
      <vt:lpstr>Bản trình bày PowerPoint</vt:lpstr>
      <vt:lpstr>§2 – Sự trao đổi năng lượng của một hệ</vt:lpstr>
      <vt:lpstr>Bản trình bày PowerPoint</vt:lpstr>
      <vt:lpstr>Bản trình bày PowerPoint</vt:lpstr>
      <vt:lpstr>2. Nhiệt trong quá trình cân bằng</vt:lpstr>
      <vt:lpstr>Bản trình bày PowerPoint</vt:lpstr>
      <vt:lpstr>§ 3 – Nguyên lí thứ nhất nhiệt động lực học</vt:lpstr>
      <vt:lpstr>Bản trình bày PowerPoint</vt:lpstr>
      <vt:lpstr>2. Các hệ quả của nguyên lí I nhiệt động lực học</vt:lpstr>
      <vt:lpstr>Bản trình bày PowerPoint</vt:lpstr>
      <vt:lpstr>§ 4 – Áp dụng nguyên lý thứ nhất nhiệt động lực học cho các quá trình vân bằng của khí lí tưởng</vt:lpstr>
      <vt:lpstr>2. Quá trình đẳng áp</vt:lpstr>
      <vt:lpstr>3. Quá trình đẳng nhiệt</vt:lpstr>
      <vt:lpstr>4. Quá trình đoạn nhiệt</vt:lpstr>
      <vt:lpstr>Bản trình bày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Cao Trung Hieu</cp:lastModifiedBy>
  <cp:revision>46</cp:revision>
  <dcterms:created xsi:type="dcterms:W3CDTF">2019-09-25T13:01:59Z</dcterms:created>
  <dcterms:modified xsi:type="dcterms:W3CDTF">2023-01-30T05:35:04Z</dcterms:modified>
</cp:coreProperties>
</file>