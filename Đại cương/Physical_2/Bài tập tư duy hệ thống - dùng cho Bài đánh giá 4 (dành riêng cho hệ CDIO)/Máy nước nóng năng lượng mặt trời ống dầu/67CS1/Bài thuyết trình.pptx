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24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vi-VN"/>
              <a:t>Bấm để chỉnh sửa kiểu tiêu đề phụ của Bản cái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884FB-C178-48CA-B633-F56CEBE3A9EF}" type="datetimeFigureOut">
              <a:rPr lang="vi-VN" smtClean="0"/>
              <a:t>30/03/2023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A4930-17FC-4519-8FDB-574E64B07961}" type="slidenum">
              <a:rPr lang="vi-VN" smtClean="0"/>
              <a:t>‹#›</a:t>
            </a:fld>
            <a:endParaRPr lang="vi-V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9805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884FB-C178-48CA-B633-F56CEBE3A9EF}" type="datetimeFigureOut">
              <a:rPr lang="vi-VN" smtClean="0"/>
              <a:t>30/03/2023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A4930-17FC-4519-8FDB-574E64B0796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51173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Đầu trang của Phầ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884FB-C178-48CA-B633-F56CEBE3A9EF}" type="datetimeFigureOut">
              <a:rPr lang="vi-VN" smtClean="0"/>
              <a:t>30/03/2023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A4930-17FC-4519-8FDB-574E64B07961}" type="slidenum">
              <a:rPr lang="vi-VN" smtClean="0"/>
              <a:t>‹#›</a:t>
            </a:fld>
            <a:endParaRPr lang="vi-V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0041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884FB-C178-48CA-B633-F56CEBE3A9EF}" type="datetimeFigureOut">
              <a:rPr lang="vi-VN" smtClean="0"/>
              <a:t>30/03/2023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A4930-17FC-4519-8FDB-574E64B0796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8108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884FB-C178-48CA-B633-F56CEBE3A9EF}" type="datetimeFigureOut">
              <a:rPr lang="vi-VN" smtClean="0"/>
              <a:t>30/03/2023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A4930-17FC-4519-8FDB-574E64B0796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26128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884FB-C178-48CA-B633-F56CEBE3A9EF}" type="datetimeFigureOut">
              <a:rPr lang="vi-VN" smtClean="0"/>
              <a:t>30/03/2023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A4930-17FC-4519-8FDB-574E64B0796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81723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884FB-C178-48CA-B633-F56CEBE3A9EF}" type="datetimeFigureOut">
              <a:rPr lang="vi-VN" smtClean="0"/>
              <a:t>30/03/2023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A4930-17FC-4519-8FDB-574E64B0796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1432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76D884FB-C178-48CA-B633-F56CEBE3A9EF}" type="datetimeFigureOut">
              <a:rPr lang="vi-VN" smtClean="0"/>
              <a:t>30/03/2023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1CA4930-17FC-4519-8FDB-574E64B0796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638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vi-VN"/>
              <a:t>Bấm biểu tượng để thêm hình ảnh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884FB-C178-48CA-B633-F56CEBE3A9EF}" type="datetimeFigureOut">
              <a:rPr lang="vi-VN" smtClean="0"/>
              <a:t>30/03/2023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A4930-17FC-4519-8FDB-574E64B0796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82639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884FB-C178-48CA-B633-F56CEBE3A9EF}" type="datetimeFigureOut">
              <a:rPr lang="vi-VN" smtClean="0"/>
              <a:t>30/03/2023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A4930-17FC-4519-8FDB-574E64B0796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43084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884FB-C178-48CA-B633-F56CEBE3A9EF}" type="datetimeFigureOut">
              <a:rPr lang="vi-VN" smtClean="0"/>
              <a:t>30/03/2023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A4930-17FC-4519-8FDB-574E64B0796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42332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6D884FB-C178-48CA-B633-F56CEBE3A9EF}" type="datetimeFigureOut">
              <a:rPr lang="vi-VN" smtClean="0"/>
              <a:t>30/03/2023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1CA4930-17FC-4519-8FDB-574E64B07961}" type="slidenum">
              <a:rPr lang="vi-VN" smtClean="0"/>
              <a:t>‹#›</a:t>
            </a:fld>
            <a:endParaRPr lang="vi-V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1946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5" Type="http://schemas.openxmlformats.org/officeDocument/2006/relationships/slide" Target="slide8.xml"/><Relationship Id="rId4" Type="http://schemas.openxmlformats.org/officeDocument/2006/relationships/slide" Target="slide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ebp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79A7DEC1-305F-16DE-B04A-45E32C878A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0051" y="255870"/>
            <a:ext cx="10058400" cy="4432481"/>
          </a:xfrm>
        </p:spPr>
        <p:txBody>
          <a:bodyPr>
            <a:normAutofit/>
          </a:bodyPr>
          <a:lstStyle/>
          <a:p>
            <a:r>
              <a:rPr lang="vi-VN" sz="4400" b="1" dirty="0">
                <a:latin typeface="Bahnschrift SemiBold" panose="020B0502040204020203" pitchFamily="34" charset="0"/>
              </a:rPr>
              <a:t>Bài thuyết trình</a:t>
            </a:r>
            <a:br>
              <a:rPr lang="vi-VN" b="1" dirty="0"/>
            </a:br>
            <a:r>
              <a:rPr lang="vi-VN" sz="7200" b="1" dirty="0">
                <a:latin typeface="Arial Nova Cond" panose="020B0506020202020204" pitchFamily="34" charset="0"/>
              </a:rPr>
              <a:t>Tư duy Vật lý kỹ thuật 2 </a:t>
            </a:r>
            <a:br>
              <a:rPr lang="vi-VN" sz="7200" b="1" dirty="0">
                <a:latin typeface="Arial Nova Cond" panose="020B0506020202020204" pitchFamily="34" charset="0"/>
              </a:rPr>
            </a:br>
            <a:r>
              <a:rPr lang="vi-VN" altLang="en-US" sz="2000" b="1" dirty="0"/>
              <a:t>Máy nước nóng năng lượng mặt trời ống dầu </a:t>
            </a:r>
            <a:endParaRPr lang="vi-VN" b="1" dirty="0">
              <a:latin typeface="Arial Nova Cond" panose="020B0506020202020204" pitchFamily="34" charset="0"/>
            </a:endParaRPr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DA8DB9F2-2B15-3CF5-981E-3AD37B6AE7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285922"/>
            <a:ext cx="10058400" cy="1143000"/>
          </a:xfrm>
        </p:spPr>
        <p:txBody>
          <a:bodyPr/>
          <a:lstStyle/>
          <a:p>
            <a:r>
              <a:rPr lang="vi-VN" dirty="0"/>
              <a:t>XIN CHÀO CÁC BẠN!</a:t>
            </a:r>
          </a:p>
          <a:p>
            <a:r>
              <a:rPr lang="vi-VN" dirty="0"/>
              <a:t>CHÚNG MÌNH LÀ THÀNH VIÊN TỪ NHÓM 3 – LỚP </a:t>
            </a:r>
            <a:r>
              <a:rPr lang="vi-VN" dirty="0" err="1"/>
              <a:t>67CS1</a:t>
            </a:r>
            <a:endParaRPr lang="vi-VN" dirty="0"/>
          </a:p>
        </p:txBody>
      </p:sp>
      <p:pic>
        <p:nvPicPr>
          <p:cNvPr id="8196" name="Picture 4" descr="Atomic structure - Free shapes icons">
            <a:extLst>
              <a:ext uri="{FF2B5EF4-FFF2-40B4-BE49-F238E27FC236}">
                <a16:creationId xmlns:a16="http://schemas.microsoft.com/office/drawing/2014/main" id="{CA38EA98-D8EB-4928-CAC5-1D02A2DA4A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736867">
            <a:off x="993059" y="5198806"/>
            <a:ext cx="806245" cy="806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Heating - Free weather icons">
            <a:extLst>
              <a:ext uri="{FF2B5EF4-FFF2-40B4-BE49-F238E27FC236}">
                <a16:creationId xmlns:a16="http://schemas.microsoft.com/office/drawing/2014/main" id="{039C8362-1BC4-F683-C91B-334BDDA8B4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02627">
            <a:off x="10433097" y="1615365"/>
            <a:ext cx="831112" cy="831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0" name="Picture 8" descr="Optics - Free edit tools icons">
            <a:extLst>
              <a:ext uri="{FF2B5EF4-FFF2-40B4-BE49-F238E27FC236}">
                <a16:creationId xmlns:a16="http://schemas.microsoft.com/office/drawing/2014/main" id="{AA7D1648-C4BA-57F4-EC9F-C520CE8789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14" y="285922"/>
            <a:ext cx="727587" cy="727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329995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2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F530172-C6F9-ABF2-FCFA-60E88ED07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 dirty="0">
                <a:latin typeface="VNF-Caviar Dreams" panose="02000503020000020003" pitchFamily="2" charset="0"/>
              </a:rPr>
              <a:t>TỔNG QUAN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8DD7F7BC-855A-A139-3350-C6DD40B4F7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vi-VN" sz="2800" dirty="0"/>
              <a:t>I) Giới thiệu thành viên</a:t>
            </a:r>
          </a:p>
          <a:p>
            <a:pPr marL="0" indent="0">
              <a:buNone/>
            </a:pPr>
            <a:r>
              <a:rPr lang="vi-VN" sz="2800" dirty="0" err="1"/>
              <a:t>II</a:t>
            </a:r>
            <a:r>
              <a:rPr lang="vi-VN" sz="2800" dirty="0"/>
              <a:t>) Cấu tạo</a:t>
            </a:r>
          </a:p>
          <a:p>
            <a:pPr marL="0" indent="0">
              <a:buNone/>
            </a:pPr>
            <a:r>
              <a:rPr lang="vi-VN" sz="2800" dirty="0" err="1"/>
              <a:t>III</a:t>
            </a:r>
            <a:r>
              <a:rPr lang="vi-VN" sz="2800" dirty="0"/>
              <a:t>) Cấu tạo và nguyên lý làm việc của ống chân không thu nhiệt</a:t>
            </a:r>
          </a:p>
          <a:p>
            <a:pPr marL="0" indent="0">
              <a:buNone/>
            </a:pPr>
            <a:r>
              <a:rPr lang="vi-VN" sz="2800" dirty="0" err="1"/>
              <a:t>IV</a:t>
            </a:r>
            <a:r>
              <a:rPr lang="vi-VN" sz="2800" dirty="0"/>
              <a:t>) Cấu tạo bình chứa nước nóng </a:t>
            </a:r>
          </a:p>
          <a:p>
            <a:pPr marL="0" indent="0">
              <a:buNone/>
            </a:pPr>
            <a:r>
              <a:rPr lang="vi-VN" sz="2800" dirty="0"/>
              <a:t>V) Sơ đồ lắp đặt</a:t>
            </a:r>
          </a:p>
          <a:p>
            <a:pPr marL="0" indent="0">
              <a:buNone/>
            </a:pPr>
            <a:r>
              <a:rPr lang="vi-VN" sz="2800" dirty="0"/>
              <a:t>VI) Một số cách để nâng cao khả năng giữ nhiệt của bình </a:t>
            </a:r>
          </a:p>
        </p:txBody>
      </p:sp>
    </p:spTree>
    <p:extLst>
      <p:ext uri="{BB962C8B-B14F-4D97-AF65-F5344CB8AC3E}">
        <p14:creationId xmlns:p14="http://schemas.microsoft.com/office/powerpoint/2010/main" val="356941932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0D4DE35D-0386-7127-E3AC-A13A630DC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 dirty="0">
                <a:latin typeface="VNF-Caviar Dreams" panose="02000503020000020003" pitchFamily="2" charset="0"/>
              </a:rPr>
              <a:t>GIỚI THIỆU THÀNH VIÊN </a:t>
            </a:r>
            <a:endParaRPr lang="vi-VN" dirty="0"/>
          </a:p>
        </p:txBody>
      </p:sp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8400F1C2-9F40-97E6-97DC-4B68023B9625}"/>
              </a:ext>
            </a:extLst>
          </p:cNvPr>
          <p:cNvSpPr/>
          <p:nvPr/>
        </p:nvSpPr>
        <p:spPr>
          <a:xfrm>
            <a:off x="3580086" y="1860331"/>
            <a:ext cx="5031828" cy="7462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Nhóm trưởng: Mai Quang Nguyên</a:t>
            </a:r>
          </a:p>
        </p:txBody>
      </p:sp>
      <p:cxnSp>
        <p:nvCxnSpPr>
          <p:cNvPr id="6" name="Đường nối Thẳng 5">
            <a:extLst>
              <a:ext uri="{FF2B5EF4-FFF2-40B4-BE49-F238E27FC236}">
                <a16:creationId xmlns:a16="http://schemas.microsoft.com/office/drawing/2014/main" id="{9D073ABB-10FC-9E2E-2022-1F7B21DDEB16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6096000" y="2606565"/>
            <a:ext cx="0" cy="25224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Hình tự do: Hình 12">
            <a:extLst>
              <a:ext uri="{FF2B5EF4-FFF2-40B4-BE49-F238E27FC236}">
                <a16:creationId xmlns:a16="http://schemas.microsoft.com/office/drawing/2014/main" id="{9D0866A6-C511-7F1F-2197-50323C70742F}"/>
              </a:ext>
            </a:extLst>
          </p:cNvPr>
          <p:cNvSpPr/>
          <p:nvPr/>
        </p:nvSpPr>
        <p:spPr>
          <a:xfrm>
            <a:off x="2088522" y="2846146"/>
            <a:ext cx="4003441" cy="647952"/>
          </a:xfrm>
          <a:custGeom>
            <a:avLst/>
            <a:gdLst>
              <a:gd name="connsiteX0" fmla="*/ 4003441 w 4003441"/>
              <a:gd name="connsiteY0" fmla="*/ 0 h 647952"/>
              <a:gd name="connsiteX1" fmla="*/ 2313920 w 4003441"/>
              <a:gd name="connsiteY1" fmla="*/ 24222 h 647952"/>
              <a:gd name="connsiteX2" fmla="*/ 2132252 w 4003441"/>
              <a:gd name="connsiteY2" fmla="*/ 54500 h 647952"/>
              <a:gd name="connsiteX3" fmla="*/ 1986916 w 4003441"/>
              <a:gd name="connsiteY3" fmla="*/ 84779 h 647952"/>
              <a:gd name="connsiteX4" fmla="*/ 1920304 w 4003441"/>
              <a:gd name="connsiteY4" fmla="*/ 102945 h 647952"/>
              <a:gd name="connsiteX5" fmla="*/ 1793136 w 4003441"/>
              <a:gd name="connsiteY5" fmla="*/ 109001 h 647952"/>
              <a:gd name="connsiteX6" fmla="*/ 1684135 w 4003441"/>
              <a:gd name="connsiteY6" fmla="*/ 115057 h 647952"/>
              <a:gd name="connsiteX7" fmla="*/ 1133073 w 4003441"/>
              <a:gd name="connsiteY7" fmla="*/ 157446 h 647952"/>
              <a:gd name="connsiteX8" fmla="*/ 866625 w 4003441"/>
              <a:gd name="connsiteY8" fmla="*/ 169557 h 647952"/>
              <a:gd name="connsiteX9" fmla="*/ 733401 w 4003441"/>
              <a:gd name="connsiteY9" fmla="*/ 193780 h 647952"/>
              <a:gd name="connsiteX10" fmla="*/ 666789 w 4003441"/>
              <a:gd name="connsiteY10" fmla="*/ 211947 h 647952"/>
              <a:gd name="connsiteX11" fmla="*/ 454842 w 4003441"/>
              <a:gd name="connsiteY11" fmla="*/ 242225 h 647952"/>
              <a:gd name="connsiteX12" fmla="*/ 370063 w 4003441"/>
              <a:gd name="connsiteY12" fmla="*/ 260392 h 647952"/>
              <a:gd name="connsiteX13" fmla="*/ 303452 w 4003441"/>
              <a:gd name="connsiteY13" fmla="*/ 272503 h 647952"/>
              <a:gd name="connsiteX14" fmla="*/ 242895 w 4003441"/>
              <a:gd name="connsiteY14" fmla="*/ 314892 h 647952"/>
              <a:gd name="connsiteX15" fmla="*/ 109671 w 4003441"/>
              <a:gd name="connsiteY15" fmla="*/ 387560 h 647952"/>
              <a:gd name="connsiteX16" fmla="*/ 67282 w 4003441"/>
              <a:gd name="connsiteY16" fmla="*/ 448116 h 647952"/>
              <a:gd name="connsiteX17" fmla="*/ 24893 w 4003441"/>
              <a:gd name="connsiteY17" fmla="*/ 496561 h 647952"/>
              <a:gd name="connsiteX18" fmla="*/ 12781 w 4003441"/>
              <a:gd name="connsiteY18" fmla="*/ 551062 h 647952"/>
              <a:gd name="connsiteX19" fmla="*/ 6726 w 4003441"/>
              <a:gd name="connsiteY19" fmla="*/ 575284 h 647952"/>
              <a:gd name="connsiteX20" fmla="*/ 670 w 4003441"/>
              <a:gd name="connsiteY20" fmla="*/ 593451 h 647952"/>
              <a:gd name="connsiteX21" fmla="*/ 670 w 4003441"/>
              <a:gd name="connsiteY21" fmla="*/ 647952 h 647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4003441" h="647952">
                <a:moveTo>
                  <a:pt x="4003441" y="0"/>
                </a:moveTo>
                <a:lnTo>
                  <a:pt x="2313920" y="24222"/>
                </a:lnTo>
                <a:cubicBezTo>
                  <a:pt x="2228362" y="27050"/>
                  <a:pt x="2210243" y="38251"/>
                  <a:pt x="2132252" y="54500"/>
                </a:cubicBezTo>
                <a:cubicBezTo>
                  <a:pt x="2018838" y="78129"/>
                  <a:pt x="2111861" y="53544"/>
                  <a:pt x="1986916" y="84779"/>
                </a:cubicBezTo>
                <a:cubicBezTo>
                  <a:pt x="1964588" y="90361"/>
                  <a:pt x="1943141" y="100090"/>
                  <a:pt x="1920304" y="102945"/>
                </a:cubicBezTo>
                <a:cubicBezTo>
                  <a:pt x="1878194" y="108209"/>
                  <a:pt x="1835518" y="106827"/>
                  <a:pt x="1793136" y="109001"/>
                </a:cubicBezTo>
                <a:lnTo>
                  <a:pt x="1684135" y="115057"/>
                </a:lnTo>
                <a:cubicBezTo>
                  <a:pt x="1474212" y="167537"/>
                  <a:pt x="1638655" y="129580"/>
                  <a:pt x="1133073" y="157446"/>
                </a:cubicBezTo>
                <a:lnTo>
                  <a:pt x="866625" y="169557"/>
                </a:lnTo>
                <a:cubicBezTo>
                  <a:pt x="822217" y="177631"/>
                  <a:pt x="777555" y="184414"/>
                  <a:pt x="733401" y="193780"/>
                </a:cubicBezTo>
                <a:cubicBezTo>
                  <a:pt x="710887" y="198556"/>
                  <a:pt x="689464" y="208004"/>
                  <a:pt x="666789" y="211947"/>
                </a:cubicBezTo>
                <a:cubicBezTo>
                  <a:pt x="596478" y="224175"/>
                  <a:pt x="525276" y="230726"/>
                  <a:pt x="454842" y="242225"/>
                </a:cubicBezTo>
                <a:cubicBezTo>
                  <a:pt x="426318" y="246882"/>
                  <a:pt x="398403" y="254724"/>
                  <a:pt x="370063" y="260392"/>
                </a:cubicBezTo>
                <a:cubicBezTo>
                  <a:pt x="347934" y="264818"/>
                  <a:pt x="325656" y="268466"/>
                  <a:pt x="303452" y="272503"/>
                </a:cubicBezTo>
                <a:cubicBezTo>
                  <a:pt x="283266" y="286633"/>
                  <a:pt x="263621" y="301568"/>
                  <a:pt x="242895" y="314892"/>
                </a:cubicBezTo>
                <a:cubicBezTo>
                  <a:pt x="136173" y="383499"/>
                  <a:pt x="173370" y="371635"/>
                  <a:pt x="109671" y="387560"/>
                </a:cubicBezTo>
                <a:cubicBezTo>
                  <a:pt x="41750" y="472463"/>
                  <a:pt x="125198" y="365380"/>
                  <a:pt x="67282" y="448116"/>
                </a:cubicBezTo>
                <a:cubicBezTo>
                  <a:pt x="50034" y="472756"/>
                  <a:pt x="44032" y="477421"/>
                  <a:pt x="24893" y="496561"/>
                </a:cubicBezTo>
                <a:cubicBezTo>
                  <a:pt x="13108" y="531914"/>
                  <a:pt x="23437" y="497780"/>
                  <a:pt x="12781" y="551062"/>
                </a:cubicBezTo>
                <a:cubicBezTo>
                  <a:pt x="11149" y="559223"/>
                  <a:pt x="9012" y="567282"/>
                  <a:pt x="6726" y="575284"/>
                </a:cubicBezTo>
                <a:cubicBezTo>
                  <a:pt x="4972" y="581422"/>
                  <a:pt x="1200" y="587090"/>
                  <a:pt x="670" y="593451"/>
                </a:cubicBezTo>
                <a:cubicBezTo>
                  <a:pt x="-839" y="611555"/>
                  <a:pt x="670" y="629785"/>
                  <a:pt x="670" y="647952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4" name="Hình tự do: Hình 13">
            <a:extLst>
              <a:ext uri="{FF2B5EF4-FFF2-40B4-BE49-F238E27FC236}">
                <a16:creationId xmlns:a16="http://schemas.microsoft.com/office/drawing/2014/main" id="{827DC920-24EB-B072-41E3-DC648D54D77A}"/>
              </a:ext>
            </a:extLst>
          </p:cNvPr>
          <p:cNvSpPr/>
          <p:nvPr/>
        </p:nvSpPr>
        <p:spPr>
          <a:xfrm>
            <a:off x="4335830" y="2852201"/>
            <a:ext cx="1768244" cy="702453"/>
          </a:xfrm>
          <a:custGeom>
            <a:avLst/>
            <a:gdLst>
              <a:gd name="connsiteX0" fmla="*/ 1768244 w 1768244"/>
              <a:gd name="connsiteY0" fmla="*/ 0 h 702453"/>
              <a:gd name="connsiteX1" fmla="*/ 1677410 w 1768244"/>
              <a:gd name="connsiteY1" fmla="*/ 12112 h 702453"/>
              <a:gd name="connsiteX2" fmla="*/ 1598687 w 1768244"/>
              <a:gd name="connsiteY2" fmla="*/ 36334 h 702453"/>
              <a:gd name="connsiteX3" fmla="*/ 1550242 w 1768244"/>
              <a:gd name="connsiteY3" fmla="*/ 48445 h 702453"/>
              <a:gd name="connsiteX4" fmla="*/ 1447296 w 1768244"/>
              <a:gd name="connsiteY4" fmla="*/ 115057 h 702453"/>
              <a:gd name="connsiteX5" fmla="*/ 1277738 w 1768244"/>
              <a:gd name="connsiteY5" fmla="*/ 157447 h 702453"/>
              <a:gd name="connsiteX6" fmla="*/ 1186904 w 1768244"/>
              <a:gd name="connsiteY6" fmla="*/ 211947 h 702453"/>
              <a:gd name="connsiteX7" fmla="*/ 1150570 w 1768244"/>
              <a:gd name="connsiteY7" fmla="*/ 242225 h 702453"/>
              <a:gd name="connsiteX8" fmla="*/ 1077902 w 1768244"/>
              <a:gd name="connsiteY8" fmla="*/ 266448 h 702453"/>
              <a:gd name="connsiteX9" fmla="*/ 1053680 w 1768244"/>
              <a:gd name="connsiteY9" fmla="*/ 272504 h 702453"/>
              <a:gd name="connsiteX10" fmla="*/ 1029457 w 1768244"/>
              <a:gd name="connsiteY10" fmla="*/ 284615 h 702453"/>
              <a:gd name="connsiteX11" fmla="*/ 944679 w 1768244"/>
              <a:gd name="connsiteY11" fmla="*/ 296726 h 702453"/>
              <a:gd name="connsiteX12" fmla="*/ 896234 w 1768244"/>
              <a:gd name="connsiteY12" fmla="*/ 314893 h 702453"/>
              <a:gd name="connsiteX13" fmla="*/ 829622 w 1768244"/>
              <a:gd name="connsiteY13" fmla="*/ 327004 h 702453"/>
              <a:gd name="connsiteX14" fmla="*/ 769065 w 1768244"/>
              <a:gd name="connsiteY14" fmla="*/ 357282 h 702453"/>
              <a:gd name="connsiteX15" fmla="*/ 726676 w 1768244"/>
              <a:gd name="connsiteY15" fmla="*/ 369394 h 702453"/>
              <a:gd name="connsiteX16" fmla="*/ 666120 w 1768244"/>
              <a:gd name="connsiteY16" fmla="*/ 381505 h 702453"/>
              <a:gd name="connsiteX17" fmla="*/ 545007 w 1768244"/>
              <a:gd name="connsiteY17" fmla="*/ 411783 h 702453"/>
              <a:gd name="connsiteX18" fmla="*/ 520785 w 1768244"/>
              <a:gd name="connsiteY18" fmla="*/ 423894 h 702453"/>
              <a:gd name="connsiteX19" fmla="*/ 472340 w 1768244"/>
              <a:gd name="connsiteY19" fmla="*/ 429950 h 702453"/>
              <a:gd name="connsiteX20" fmla="*/ 442061 w 1768244"/>
              <a:gd name="connsiteY20" fmla="*/ 436006 h 702453"/>
              <a:gd name="connsiteX21" fmla="*/ 345171 w 1768244"/>
              <a:gd name="connsiteY21" fmla="*/ 460228 h 702453"/>
              <a:gd name="connsiteX22" fmla="*/ 296726 w 1768244"/>
              <a:gd name="connsiteY22" fmla="*/ 472339 h 702453"/>
              <a:gd name="connsiteX23" fmla="*/ 236170 w 1768244"/>
              <a:gd name="connsiteY23" fmla="*/ 484451 h 702453"/>
              <a:gd name="connsiteX24" fmla="*/ 121113 w 1768244"/>
              <a:gd name="connsiteY24" fmla="*/ 538951 h 702453"/>
              <a:gd name="connsiteX25" fmla="*/ 84779 w 1768244"/>
              <a:gd name="connsiteY25" fmla="*/ 545007 h 702453"/>
              <a:gd name="connsiteX26" fmla="*/ 30279 w 1768244"/>
              <a:gd name="connsiteY26" fmla="*/ 623730 h 702453"/>
              <a:gd name="connsiteX27" fmla="*/ 12112 w 1768244"/>
              <a:gd name="connsiteY27" fmla="*/ 635841 h 702453"/>
              <a:gd name="connsiteX28" fmla="*/ 0 w 1768244"/>
              <a:gd name="connsiteY28" fmla="*/ 702453 h 702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68244" h="702453">
                <a:moveTo>
                  <a:pt x="1768244" y="0"/>
                </a:moveTo>
                <a:cubicBezTo>
                  <a:pt x="1737966" y="4037"/>
                  <a:pt x="1707278" y="5712"/>
                  <a:pt x="1677410" y="12112"/>
                </a:cubicBezTo>
                <a:cubicBezTo>
                  <a:pt x="1650564" y="17865"/>
                  <a:pt x="1625086" y="28792"/>
                  <a:pt x="1598687" y="36334"/>
                </a:cubicBezTo>
                <a:cubicBezTo>
                  <a:pt x="1582682" y="40907"/>
                  <a:pt x="1566390" y="44408"/>
                  <a:pt x="1550242" y="48445"/>
                </a:cubicBezTo>
                <a:cubicBezTo>
                  <a:pt x="1515927" y="70649"/>
                  <a:pt x="1486948" y="105144"/>
                  <a:pt x="1447296" y="115057"/>
                </a:cubicBezTo>
                <a:lnTo>
                  <a:pt x="1277738" y="157447"/>
                </a:lnTo>
                <a:cubicBezTo>
                  <a:pt x="1247460" y="175614"/>
                  <a:pt x="1211872" y="186979"/>
                  <a:pt x="1186904" y="211947"/>
                </a:cubicBezTo>
                <a:cubicBezTo>
                  <a:pt x="1176817" y="222034"/>
                  <a:pt x="1164622" y="236604"/>
                  <a:pt x="1150570" y="242225"/>
                </a:cubicBezTo>
                <a:cubicBezTo>
                  <a:pt x="1126863" y="251708"/>
                  <a:pt x="1102672" y="260255"/>
                  <a:pt x="1077902" y="266448"/>
                </a:cubicBezTo>
                <a:cubicBezTo>
                  <a:pt x="1069828" y="268467"/>
                  <a:pt x="1061473" y="269582"/>
                  <a:pt x="1053680" y="272504"/>
                </a:cubicBezTo>
                <a:cubicBezTo>
                  <a:pt x="1045227" y="275674"/>
                  <a:pt x="1038104" y="282021"/>
                  <a:pt x="1029457" y="284615"/>
                </a:cubicBezTo>
                <a:cubicBezTo>
                  <a:pt x="1016977" y="288359"/>
                  <a:pt x="952414" y="295759"/>
                  <a:pt x="944679" y="296726"/>
                </a:cubicBezTo>
                <a:cubicBezTo>
                  <a:pt x="928531" y="302782"/>
                  <a:pt x="912913" y="310504"/>
                  <a:pt x="896234" y="314893"/>
                </a:cubicBezTo>
                <a:cubicBezTo>
                  <a:pt x="874409" y="320636"/>
                  <a:pt x="851032" y="319867"/>
                  <a:pt x="829622" y="327004"/>
                </a:cubicBezTo>
                <a:cubicBezTo>
                  <a:pt x="808212" y="334141"/>
                  <a:pt x="789933" y="348689"/>
                  <a:pt x="769065" y="357282"/>
                </a:cubicBezTo>
                <a:cubicBezTo>
                  <a:pt x="755477" y="362877"/>
                  <a:pt x="740853" y="365527"/>
                  <a:pt x="726676" y="369394"/>
                </a:cubicBezTo>
                <a:cubicBezTo>
                  <a:pt x="698296" y="377134"/>
                  <a:pt x="699222" y="375988"/>
                  <a:pt x="666120" y="381505"/>
                </a:cubicBezTo>
                <a:cubicBezTo>
                  <a:pt x="601821" y="420085"/>
                  <a:pt x="667824" y="385927"/>
                  <a:pt x="545007" y="411783"/>
                </a:cubicBezTo>
                <a:cubicBezTo>
                  <a:pt x="536174" y="413643"/>
                  <a:pt x="529542" y="421705"/>
                  <a:pt x="520785" y="423894"/>
                </a:cubicBezTo>
                <a:cubicBezTo>
                  <a:pt x="504997" y="427841"/>
                  <a:pt x="488425" y="427475"/>
                  <a:pt x="472340" y="429950"/>
                </a:cubicBezTo>
                <a:cubicBezTo>
                  <a:pt x="462167" y="431515"/>
                  <a:pt x="452074" y="433622"/>
                  <a:pt x="442061" y="436006"/>
                </a:cubicBezTo>
                <a:cubicBezTo>
                  <a:pt x="409676" y="443717"/>
                  <a:pt x="377468" y="452154"/>
                  <a:pt x="345171" y="460228"/>
                </a:cubicBezTo>
                <a:cubicBezTo>
                  <a:pt x="329023" y="464265"/>
                  <a:pt x="313048" y="469074"/>
                  <a:pt x="296726" y="472339"/>
                </a:cubicBezTo>
                <a:cubicBezTo>
                  <a:pt x="276541" y="476376"/>
                  <a:pt x="255963" y="478796"/>
                  <a:pt x="236170" y="484451"/>
                </a:cubicBezTo>
                <a:cubicBezTo>
                  <a:pt x="80929" y="528806"/>
                  <a:pt x="246604" y="485169"/>
                  <a:pt x="121113" y="538951"/>
                </a:cubicBezTo>
                <a:cubicBezTo>
                  <a:pt x="109827" y="543788"/>
                  <a:pt x="96890" y="542988"/>
                  <a:pt x="84779" y="545007"/>
                </a:cubicBezTo>
                <a:cubicBezTo>
                  <a:pt x="71104" y="572356"/>
                  <a:pt x="55955" y="606613"/>
                  <a:pt x="30279" y="623730"/>
                </a:cubicBezTo>
                <a:lnTo>
                  <a:pt x="12112" y="635841"/>
                </a:lnTo>
                <a:lnTo>
                  <a:pt x="0" y="702453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5" name="Hình tự do: Hình 14">
            <a:extLst>
              <a:ext uri="{FF2B5EF4-FFF2-40B4-BE49-F238E27FC236}">
                <a16:creationId xmlns:a16="http://schemas.microsoft.com/office/drawing/2014/main" id="{BB51F589-34C3-ED17-3E88-2CF0F81967F3}"/>
              </a:ext>
            </a:extLst>
          </p:cNvPr>
          <p:cNvSpPr/>
          <p:nvPr/>
        </p:nvSpPr>
        <p:spPr>
          <a:xfrm>
            <a:off x="6085907" y="2846146"/>
            <a:ext cx="1277738" cy="684286"/>
          </a:xfrm>
          <a:custGeom>
            <a:avLst/>
            <a:gdLst>
              <a:gd name="connsiteX0" fmla="*/ 0 w 1277738"/>
              <a:gd name="connsiteY0" fmla="*/ 0 h 684286"/>
              <a:gd name="connsiteX1" fmla="*/ 36334 w 1277738"/>
              <a:gd name="connsiteY1" fmla="*/ 18167 h 684286"/>
              <a:gd name="connsiteX2" fmla="*/ 145335 w 1277738"/>
              <a:gd name="connsiteY2" fmla="*/ 36333 h 684286"/>
              <a:gd name="connsiteX3" fmla="*/ 187725 w 1277738"/>
              <a:gd name="connsiteY3" fmla="*/ 48445 h 684286"/>
              <a:gd name="connsiteX4" fmla="*/ 320949 w 1277738"/>
              <a:gd name="connsiteY4" fmla="*/ 121112 h 684286"/>
              <a:gd name="connsiteX5" fmla="*/ 369394 w 1277738"/>
              <a:gd name="connsiteY5" fmla="*/ 151390 h 684286"/>
              <a:gd name="connsiteX6" fmla="*/ 569229 w 1277738"/>
              <a:gd name="connsiteY6" fmla="*/ 205891 h 684286"/>
              <a:gd name="connsiteX7" fmla="*/ 617674 w 1277738"/>
              <a:gd name="connsiteY7" fmla="*/ 242225 h 684286"/>
              <a:gd name="connsiteX8" fmla="*/ 635841 w 1277738"/>
              <a:gd name="connsiteY8" fmla="*/ 272503 h 684286"/>
              <a:gd name="connsiteX9" fmla="*/ 647953 w 1277738"/>
              <a:gd name="connsiteY9" fmla="*/ 296726 h 684286"/>
              <a:gd name="connsiteX10" fmla="*/ 708509 w 1277738"/>
              <a:gd name="connsiteY10" fmla="*/ 357282 h 684286"/>
              <a:gd name="connsiteX11" fmla="*/ 726676 w 1277738"/>
              <a:gd name="connsiteY11" fmla="*/ 375449 h 684286"/>
              <a:gd name="connsiteX12" fmla="*/ 756954 w 1277738"/>
              <a:gd name="connsiteY12" fmla="*/ 393616 h 684286"/>
              <a:gd name="connsiteX13" fmla="*/ 781176 w 1277738"/>
              <a:gd name="connsiteY13" fmla="*/ 411782 h 684286"/>
              <a:gd name="connsiteX14" fmla="*/ 823566 w 1277738"/>
              <a:gd name="connsiteY14" fmla="*/ 423894 h 684286"/>
              <a:gd name="connsiteX15" fmla="*/ 1023402 w 1277738"/>
              <a:gd name="connsiteY15" fmla="*/ 478394 h 684286"/>
              <a:gd name="connsiteX16" fmla="*/ 1096069 w 1277738"/>
              <a:gd name="connsiteY16" fmla="*/ 514728 h 684286"/>
              <a:gd name="connsiteX17" fmla="*/ 1162681 w 1277738"/>
              <a:gd name="connsiteY17" fmla="*/ 526839 h 684286"/>
              <a:gd name="connsiteX18" fmla="*/ 1211126 w 1277738"/>
              <a:gd name="connsiteY18" fmla="*/ 569229 h 684286"/>
              <a:gd name="connsiteX19" fmla="*/ 1253516 w 1277738"/>
              <a:gd name="connsiteY19" fmla="*/ 611618 h 684286"/>
              <a:gd name="connsiteX20" fmla="*/ 1271682 w 1277738"/>
              <a:gd name="connsiteY20" fmla="*/ 666119 h 684286"/>
              <a:gd name="connsiteX21" fmla="*/ 1277738 w 1277738"/>
              <a:gd name="connsiteY21" fmla="*/ 684286 h 684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277738" h="684286">
                <a:moveTo>
                  <a:pt x="0" y="0"/>
                </a:moveTo>
                <a:cubicBezTo>
                  <a:pt x="12111" y="6056"/>
                  <a:pt x="23197" y="14883"/>
                  <a:pt x="36334" y="18167"/>
                </a:cubicBezTo>
                <a:cubicBezTo>
                  <a:pt x="72069" y="27101"/>
                  <a:pt x="109215" y="29109"/>
                  <a:pt x="145335" y="36333"/>
                </a:cubicBezTo>
                <a:cubicBezTo>
                  <a:pt x="159745" y="39215"/>
                  <a:pt x="173595" y="44408"/>
                  <a:pt x="187725" y="48445"/>
                </a:cubicBezTo>
                <a:cubicBezTo>
                  <a:pt x="273143" y="109458"/>
                  <a:pt x="183898" y="49608"/>
                  <a:pt x="320949" y="121112"/>
                </a:cubicBezTo>
                <a:cubicBezTo>
                  <a:pt x="337832" y="129921"/>
                  <a:pt x="351713" y="144318"/>
                  <a:pt x="369394" y="151390"/>
                </a:cubicBezTo>
                <a:cubicBezTo>
                  <a:pt x="409076" y="167263"/>
                  <a:pt x="526244" y="195145"/>
                  <a:pt x="569229" y="205891"/>
                </a:cubicBezTo>
                <a:cubicBezTo>
                  <a:pt x="590305" y="218536"/>
                  <a:pt x="603224" y="222958"/>
                  <a:pt x="617674" y="242225"/>
                </a:cubicBezTo>
                <a:cubicBezTo>
                  <a:pt x="624736" y="251641"/>
                  <a:pt x="630125" y="262214"/>
                  <a:pt x="635841" y="272503"/>
                </a:cubicBezTo>
                <a:cubicBezTo>
                  <a:pt x="640225" y="280394"/>
                  <a:pt x="642078" y="289872"/>
                  <a:pt x="647953" y="296726"/>
                </a:cubicBezTo>
                <a:cubicBezTo>
                  <a:pt x="666531" y="318400"/>
                  <a:pt x="688324" y="337097"/>
                  <a:pt x="708509" y="357282"/>
                </a:cubicBezTo>
                <a:cubicBezTo>
                  <a:pt x="714565" y="363338"/>
                  <a:pt x="719332" y="371043"/>
                  <a:pt x="726676" y="375449"/>
                </a:cubicBezTo>
                <a:cubicBezTo>
                  <a:pt x="736769" y="381505"/>
                  <a:pt x="747161" y="387087"/>
                  <a:pt x="756954" y="393616"/>
                </a:cubicBezTo>
                <a:cubicBezTo>
                  <a:pt x="765351" y="399214"/>
                  <a:pt x="771988" y="407606"/>
                  <a:pt x="781176" y="411782"/>
                </a:cubicBezTo>
                <a:cubicBezTo>
                  <a:pt x="794554" y="417863"/>
                  <a:pt x="809346" y="420185"/>
                  <a:pt x="823566" y="423894"/>
                </a:cubicBezTo>
                <a:cubicBezTo>
                  <a:pt x="853055" y="431587"/>
                  <a:pt x="998220" y="465803"/>
                  <a:pt x="1023402" y="478394"/>
                </a:cubicBezTo>
                <a:cubicBezTo>
                  <a:pt x="1047624" y="490505"/>
                  <a:pt x="1069356" y="510276"/>
                  <a:pt x="1096069" y="514728"/>
                </a:cubicBezTo>
                <a:cubicBezTo>
                  <a:pt x="1142555" y="522476"/>
                  <a:pt x="1120363" y="518376"/>
                  <a:pt x="1162681" y="526839"/>
                </a:cubicBezTo>
                <a:cubicBezTo>
                  <a:pt x="1185962" y="544300"/>
                  <a:pt x="1191167" y="546419"/>
                  <a:pt x="1211126" y="569229"/>
                </a:cubicBezTo>
                <a:cubicBezTo>
                  <a:pt x="1247090" y="610331"/>
                  <a:pt x="1209478" y="578590"/>
                  <a:pt x="1253516" y="611618"/>
                </a:cubicBezTo>
                <a:cubicBezTo>
                  <a:pt x="1273663" y="651913"/>
                  <a:pt x="1259943" y="619160"/>
                  <a:pt x="1271682" y="666119"/>
                </a:cubicBezTo>
                <a:cubicBezTo>
                  <a:pt x="1273230" y="672312"/>
                  <a:pt x="1277738" y="684286"/>
                  <a:pt x="1277738" y="684286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6" name="Hình tự do: Hình 15">
            <a:extLst>
              <a:ext uri="{FF2B5EF4-FFF2-40B4-BE49-F238E27FC236}">
                <a16:creationId xmlns:a16="http://schemas.microsoft.com/office/drawing/2014/main" id="{FC6F8A6B-7A0C-F4E4-5053-2E80F6CC6504}"/>
              </a:ext>
            </a:extLst>
          </p:cNvPr>
          <p:cNvSpPr/>
          <p:nvPr/>
        </p:nvSpPr>
        <p:spPr>
          <a:xfrm>
            <a:off x="6091963" y="2710595"/>
            <a:ext cx="3560786" cy="710835"/>
          </a:xfrm>
          <a:custGeom>
            <a:avLst/>
            <a:gdLst>
              <a:gd name="connsiteX0" fmla="*/ 0 w 3560786"/>
              <a:gd name="connsiteY0" fmla="*/ 147662 h 710835"/>
              <a:gd name="connsiteX1" fmla="*/ 121112 w 3560786"/>
              <a:gd name="connsiteY1" fmla="*/ 111328 h 710835"/>
              <a:gd name="connsiteX2" fmla="*/ 199836 w 3560786"/>
              <a:gd name="connsiteY2" fmla="*/ 99217 h 710835"/>
              <a:gd name="connsiteX3" fmla="*/ 248281 w 3560786"/>
              <a:gd name="connsiteY3" fmla="*/ 68939 h 710835"/>
              <a:gd name="connsiteX4" fmla="*/ 339115 w 3560786"/>
              <a:gd name="connsiteY4" fmla="*/ 56828 h 710835"/>
              <a:gd name="connsiteX5" fmla="*/ 756954 w 3560786"/>
              <a:gd name="connsiteY5" fmla="*/ 50772 h 710835"/>
              <a:gd name="connsiteX6" fmla="*/ 1465462 w 3560786"/>
              <a:gd name="connsiteY6" fmla="*/ 32605 h 710835"/>
              <a:gd name="connsiteX7" fmla="*/ 1628964 w 3560786"/>
              <a:gd name="connsiteY7" fmla="*/ 50772 h 710835"/>
              <a:gd name="connsiteX8" fmla="*/ 2058914 w 3560786"/>
              <a:gd name="connsiteY8" fmla="*/ 68939 h 710835"/>
              <a:gd name="connsiteX9" fmla="*/ 2149748 w 3560786"/>
              <a:gd name="connsiteY9" fmla="*/ 87106 h 710835"/>
              <a:gd name="connsiteX10" fmla="*/ 2234527 w 3560786"/>
              <a:gd name="connsiteY10" fmla="*/ 117384 h 710835"/>
              <a:gd name="connsiteX11" fmla="*/ 2295083 w 3560786"/>
              <a:gd name="connsiteY11" fmla="*/ 123439 h 710835"/>
              <a:gd name="connsiteX12" fmla="*/ 2337473 w 3560786"/>
              <a:gd name="connsiteY12" fmla="*/ 129495 h 710835"/>
              <a:gd name="connsiteX13" fmla="*/ 2464641 w 3560786"/>
              <a:gd name="connsiteY13" fmla="*/ 159773 h 710835"/>
              <a:gd name="connsiteX14" fmla="*/ 2712922 w 3560786"/>
              <a:gd name="connsiteY14" fmla="*/ 208218 h 710835"/>
              <a:gd name="connsiteX15" fmla="*/ 2767422 w 3560786"/>
              <a:gd name="connsiteY15" fmla="*/ 220330 h 710835"/>
              <a:gd name="connsiteX16" fmla="*/ 2791645 w 3560786"/>
              <a:gd name="connsiteY16" fmla="*/ 226385 h 710835"/>
              <a:gd name="connsiteX17" fmla="*/ 2900646 w 3560786"/>
              <a:gd name="connsiteY17" fmla="*/ 274830 h 710835"/>
              <a:gd name="connsiteX18" fmla="*/ 2997536 w 3560786"/>
              <a:gd name="connsiteY18" fmla="*/ 305108 h 710835"/>
              <a:gd name="connsiteX19" fmla="*/ 3112593 w 3560786"/>
              <a:gd name="connsiteY19" fmla="*/ 341442 h 710835"/>
              <a:gd name="connsiteX20" fmla="*/ 3197372 w 3560786"/>
              <a:gd name="connsiteY20" fmla="*/ 408054 h 710835"/>
              <a:gd name="connsiteX21" fmla="*/ 3239762 w 3560786"/>
              <a:gd name="connsiteY21" fmla="*/ 438332 h 710835"/>
              <a:gd name="connsiteX22" fmla="*/ 3294262 w 3560786"/>
              <a:gd name="connsiteY22" fmla="*/ 468610 h 710835"/>
              <a:gd name="connsiteX23" fmla="*/ 3385097 w 3560786"/>
              <a:gd name="connsiteY23" fmla="*/ 523111 h 710835"/>
              <a:gd name="connsiteX24" fmla="*/ 3409319 w 3560786"/>
              <a:gd name="connsiteY24" fmla="*/ 559445 h 710835"/>
              <a:gd name="connsiteX25" fmla="*/ 3451709 w 3560786"/>
              <a:gd name="connsiteY25" fmla="*/ 613945 h 710835"/>
              <a:gd name="connsiteX26" fmla="*/ 3506209 w 3560786"/>
              <a:gd name="connsiteY26" fmla="*/ 644224 h 710835"/>
              <a:gd name="connsiteX27" fmla="*/ 3548599 w 3560786"/>
              <a:gd name="connsiteY27" fmla="*/ 674502 h 710835"/>
              <a:gd name="connsiteX28" fmla="*/ 3560710 w 3560786"/>
              <a:gd name="connsiteY28" fmla="*/ 710835 h 710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3560786" h="710835">
                <a:moveTo>
                  <a:pt x="0" y="147662"/>
                </a:moveTo>
                <a:cubicBezTo>
                  <a:pt x="40371" y="135551"/>
                  <a:pt x="80150" y="121258"/>
                  <a:pt x="121112" y="111328"/>
                </a:cubicBezTo>
                <a:cubicBezTo>
                  <a:pt x="146915" y="105073"/>
                  <a:pt x="174648" y="107613"/>
                  <a:pt x="199836" y="99217"/>
                </a:cubicBezTo>
                <a:cubicBezTo>
                  <a:pt x="217902" y="93195"/>
                  <a:pt x="230063" y="74484"/>
                  <a:pt x="248281" y="68939"/>
                </a:cubicBezTo>
                <a:cubicBezTo>
                  <a:pt x="277504" y="60045"/>
                  <a:pt x="308589" y="57918"/>
                  <a:pt x="339115" y="56828"/>
                </a:cubicBezTo>
                <a:cubicBezTo>
                  <a:pt x="478321" y="51856"/>
                  <a:pt x="617674" y="52791"/>
                  <a:pt x="756954" y="50772"/>
                </a:cubicBezTo>
                <a:cubicBezTo>
                  <a:pt x="1026148" y="-38962"/>
                  <a:pt x="841881" y="13708"/>
                  <a:pt x="1465462" y="32605"/>
                </a:cubicBezTo>
                <a:cubicBezTo>
                  <a:pt x="1520273" y="34266"/>
                  <a:pt x="1574361" y="45716"/>
                  <a:pt x="1628964" y="50772"/>
                </a:cubicBezTo>
                <a:cubicBezTo>
                  <a:pt x="1814235" y="67927"/>
                  <a:pt x="1846464" y="64110"/>
                  <a:pt x="2058914" y="68939"/>
                </a:cubicBezTo>
                <a:cubicBezTo>
                  <a:pt x="2089192" y="74995"/>
                  <a:pt x="2119982" y="78895"/>
                  <a:pt x="2149748" y="87106"/>
                </a:cubicBezTo>
                <a:cubicBezTo>
                  <a:pt x="2178675" y="95086"/>
                  <a:pt x="2205415" y="110106"/>
                  <a:pt x="2234527" y="117384"/>
                </a:cubicBezTo>
                <a:cubicBezTo>
                  <a:pt x="2254207" y="122304"/>
                  <a:pt x="2274936" y="121069"/>
                  <a:pt x="2295083" y="123439"/>
                </a:cubicBezTo>
                <a:cubicBezTo>
                  <a:pt x="2309259" y="125107"/>
                  <a:pt x="2323444" y="126865"/>
                  <a:pt x="2337473" y="129495"/>
                </a:cubicBezTo>
                <a:cubicBezTo>
                  <a:pt x="2413340" y="143720"/>
                  <a:pt x="2377952" y="141523"/>
                  <a:pt x="2464641" y="159773"/>
                </a:cubicBezTo>
                <a:cubicBezTo>
                  <a:pt x="2473755" y="161692"/>
                  <a:pt x="2672902" y="199324"/>
                  <a:pt x="2712922" y="208218"/>
                </a:cubicBezTo>
                <a:lnTo>
                  <a:pt x="2767422" y="220330"/>
                </a:lnTo>
                <a:cubicBezTo>
                  <a:pt x="2775532" y="222201"/>
                  <a:pt x="2783749" y="223753"/>
                  <a:pt x="2791645" y="226385"/>
                </a:cubicBezTo>
                <a:cubicBezTo>
                  <a:pt x="2825535" y="237681"/>
                  <a:pt x="2873795" y="264645"/>
                  <a:pt x="2900646" y="274830"/>
                </a:cubicBezTo>
                <a:cubicBezTo>
                  <a:pt x="2932283" y="286830"/>
                  <a:pt x="2965547" y="294078"/>
                  <a:pt x="2997536" y="305108"/>
                </a:cubicBezTo>
                <a:cubicBezTo>
                  <a:pt x="3107861" y="343151"/>
                  <a:pt x="3039732" y="329297"/>
                  <a:pt x="3112593" y="341442"/>
                </a:cubicBezTo>
                <a:cubicBezTo>
                  <a:pt x="3160717" y="389566"/>
                  <a:pt x="3113482" y="345137"/>
                  <a:pt x="3197372" y="408054"/>
                </a:cubicBezTo>
                <a:cubicBezTo>
                  <a:pt x="3209000" y="416775"/>
                  <a:pt x="3226478" y="430583"/>
                  <a:pt x="3239762" y="438332"/>
                </a:cubicBezTo>
                <a:cubicBezTo>
                  <a:pt x="3257713" y="448803"/>
                  <a:pt x="3276592" y="457671"/>
                  <a:pt x="3294262" y="468610"/>
                </a:cubicBezTo>
                <a:cubicBezTo>
                  <a:pt x="3385237" y="524928"/>
                  <a:pt x="3336462" y="506899"/>
                  <a:pt x="3385097" y="523111"/>
                </a:cubicBezTo>
                <a:cubicBezTo>
                  <a:pt x="3408112" y="569141"/>
                  <a:pt x="3385543" y="530386"/>
                  <a:pt x="3409319" y="559445"/>
                </a:cubicBezTo>
                <a:cubicBezTo>
                  <a:pt x="3423893" y="577257"/>
                  <a:pt x="3429875" y="606666"/>
                  <a:pt x="3451709" y="613945"/>
                </a:cubicBezTo>
                <a:cubicBezTo>
                  <a:pt x="3478467" y="622865"/>
                  <a:pt x="3476462" y="620427"/>
                  <a:pt x="3506209" y="644224"/>
                </a:cubicBezTo>
                <a:cubicBezTo>
                  <a:pt x="3547260" y="677065"/>
                  <a:pt x="3512715" y="662540"/>
                  <a:pt x="3548599" y="674502"/>
                </a:cubicBezTo>
                <a:cubicBezTo>
                  <a:pt x="3562515" y="702335"/>
                  <a:pt x="3560710" y="689697"/>
                  <a:pt x="3560710" y="710835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7" name="Hình chữ nhật 16">
            <a:extLst>
              <a:ext uri="{FF2B5EF4-FFF2-40B4-BE49-F238E27FC236}">
                <a16:creationId xmlns:a16="http://schemas.microsoft.com/office/drawing/2014/main" id="{7969FD6B-3D6B-22F1-4B9C-5B7B8FE4FA47}"/>
              </a:ext>
            </a:extLst>
          </p:cNvPr>
          <p:cNvSpPr/>
          <p:nvPr/>
        </p:nvSpPr>
        <p:spPr>
          <a:xfrm>
            <a:off x="1040107" y="3494098"/>
            <a:ext cx="2013238" cy="21376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8" name="Hình chữ nhật 17">
            <a:extLst>
              <a:ext uri="{FF2B5EF4-FFF2-40B4-BE49-F238E27FC236}">
                <a16:creationId xmlns:a16="http://schemas.microsoft.com/office/drawing/2014/main" id="{864CC507-3D15-0708-CB2F-2C299A9F502F}"/>
              </a:ext>
            </a:extLst>
          </p:cNvPr>
          <p:cNvSpPr/>
          <p:nvPr/>
        </p:nvSpPr>
        <p:spPr>
          <a:xfrm>
            <a:off x="3346069" y="3554655"/>
            <a:ext cx="2113414" cy="21376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9" name="Hình chữ nhật 18">
            <a:extLst>
              <a:ext uri="{FF2B5EF4-FFF2-40B4-BE49-F238E27FC236}">
                <a16:creationId xmlns:a16="http://schemas.microsoft.com/office/drawing/2014/main" id="{291A4ED3-28F8-8462-2C76-00212DAE4B27}"/>
              </a:ext>
            </a:extLst>
          </p:cNvPr>
          <p:cNvSpPr/>
          <p:nvPr/>
        </p:nvSpPr>
        <p:spPr>
          <a:xfrm>
            <a:off x="8774608" y="3421430"/>
            <a:ext cx="2289104" cy="22103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0" name="Hình chữ nhật 19">
            <a:extLst>
              <a:ext uri="{FF2B5EF4-FFF2-40B4-BE49-F238E27FC236}">
                <a16:creationId xmlns:a16="http://schemas.microsoft.com/office/drawing/2014/main" id="{439018EE-50BE-A6F3-3F39-688B99FD8469}"/>
              </a:ext>
            </a:extLst>
          </p:cNvPr>
          <p:cNvSpPr/>
          <p:nvPr/>
        </p:nvSpPr>
        <p:spPr>
          <a:xfrm>
            <a:off x="6368469" y="3530432"/>
            <a:ext cx="2006541" cy="21618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1" name="Hộp Văn bản 20">
            <a:extLst>
              <a:ext uri="{FF2B5EF4-FFF2-40B4-BE49-F238E27FC236}">
                <a16:creationId xmlns:a16="http://schemas.microsoft.com/office/drawing/2014/main" id="{7DBF8543-37A1-F1AA-DDF2-BBE312E38C15}"/>
              </a:ext>
            </a:extLst>
          </p:cNvPr>
          <p:cNvSpPr txBox="1"/>
          <p:nvPr/>
        </p:nvSpPr>
        <p:spPr>
          <a:xfrm>
            <a:off x="1065637" y="3654976"/>
            <a:ext cx="201323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400" b="1" dirty="0">
                <a:solidFill>
                  <a:schemeClr val="bg1"/>
                </a:solidFill>
                <a:cs typeface="Times New Roman" panose="02020603050405020304" pitchFamily="18" charset="0"/>
                <a:sym typeface="+mn-ea"/>
              </a:rPr>
              <a:t>* Lê Hải Lân</a:t>
            </a:r>
            <a:br>
              <a:rPr lang="vi-VN" sz="1400" b="1" dirty="0">
                <a:solidFill>
                  <a:schemeClr val="bg1"/>
                </a:solidFill>
                <a:cs typeface="Times New Roman" panose="02020603050405020304" pitchFamily="18" charset="0"/>
                <a:sym typeface="+mn-ea"/>
              </a:rPr>
            </a:br>
            <a:r>
              <a:rPr lang="vi-VN" sz="1400" b="1" dirty="0">
                <a:solidFill>
                  <a:schemeClr val="bg1"/>
                </a:solidFill>
                <a:cs typeface="Times New Roman" panose="02020603050405020304" pitchFamily="18" charset="0"/>
                <a:sym typeface="+mn-ea"/>
              </a:rPr>
              <a:t>* Nguyễn Anh Quân</a:t>
            </a:r>
            <a:br>
              <a:rPr lang="vi-VN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lang="vi-VN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Nhiệm vụ : Cùng nhau  tìm hiểu cấu tạo và kể tên các bộ phận chỉ của máy nước nóng năng lượng mặt trời mô hình của hình </a:t>
            </a:r>
            <a:r>
              <a:rPr lang="vi-VN" sz="1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3A</a:t>
            </a:r>
            <a:endParaRPr lang="vi-VN" sz="1400" dirty="0">
              <a:solidFill>
                <a:schemeClr val="bg1"/>
              </a:solidFill>
            </a:endParaRPr>
          </a:p>
        </p:txBody>
      </p:sp>
      <p:sp>
        <p:nvSpPr>
          <p:cNvPr id="22" name="Hộp Văn bản 21">
            <a:extLst>
              <a:ext uri="{FF2B5EF4-FFF2-40B4-BE49-F238E27FC236}">
                <a16:creationId xmlns:a16="http://schemas.microsoft.com/office/drawing/2014/main" id="{56FE19CE-B776-CD09-7038-19E86CB5EC32}"/>
              </a:ext>
            </a:extLst>
          </p:cNvPr>
          <p:cNvSpPr txBox="1"/>
          <p:nvPr/>
        </p:nvSpPr>
        <p:spPr>
          <a:xfrm>
            <a:off x="3346069" y="3615211"/>
            <a:ext cx="2113414" cy="2200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050" b="1" dirty="0">
                <a:solidFill>
                  <a:schemeClr val="bg1"/>
                </a:solidFill>
                <a:cs typeface="Times New Roman" panose="02020603050405020304" pitchFamily="18" charset="0"/>
                <a:sym typeface="+mn-ea"/>
              </a:rPr>
              <a:t>* Nguyễn Bá Minh</a:t>
            </a:r>
            <a:br>
              <a:rPr lang="vi-VN" sz="1050" b="1" dirty="0">
                <a:solidFill>
                  <a:schemeClr val="bg1"/>
                </a:solidFill>
                <a:cs typeface="Times New Roman" panose="02020603050405020304" pitchFamily="18" charset="0"/>
                <a:sym typeface="+mn-ea"/>
              </a:rPr>
            </a:br>
            <a:r>
              <a:rPr lang="vi-VN" sz="1050" b="1" dirty="0">
                <a:solidFill>
                  <a:schemeClr val="bg1"/>
                </a:solidFill>
                <a:cs typeface="Times New Roman" panose="02020603050405020304" pitchFamily="18" charset="0"/>
                <a:sym typeface="+mn-ea"/>
              </a:rPr>
              <a:t>* Nguyễn Văn Long</a:t>
            </a:r>
          </a:p>
          <a:p>
            <a:r>
              <a:rPr lang="vi-VN" sz="1050" b="1" dirty="0">
                <a:solidFill>
                  <a:schemeClr val="bg1"/>
                </a:solidFill>
                <a:cs typeface="Times New Roman" panose="02020603050405020304" pitchFamily="18" charset="0"/>
                <a:sym typeface="+mn-ea"/>
              </a:rPr>
              <a:t>* Lã Minh Khánh</a:t>
            </a:r>
            <a:br>
              <a:rPr lang="vi-VN" sz="10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lang="vi-VN" sz="10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Nhiệm vụ : Cùng nhau tìm hiểu cấu tạo và nguyên lý làm việc của ống chân không ống nhiệt hiệu quả cao của máy nước nóng năng lượng mặt trời (Hình </a:t>
            </a:r>
            <a:r>
              <a:rPr lang="vi-VN" sz="105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3B</a:t>
            </a:r>
            <a:r>
              <a:rPr lang="vi-VN" sz="10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-C). Hãy đề xuất một ý tưởng để nâng cao hiệu suất chuyển đổi năng lượng bức xạ mặt trời thành nhiệt của ống chân không ống nhiệt trên</a:t>
            </a:r>
            <a:b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endParaRPr lang="vi-VN" sz="1100" dirty="0">
              <a:solidFill>
                <a:schemeClr val="bg1"/>
              </a:solidFill>
            </a:endParaRPr>
          </a:p>
        </p:txBody>
      </p:sp>
      <p:sp>
        <p:nvSpPr>
          <p:cNvPr id="23" name="Hộp Văn bản 22">
            <a:extLst>
              <a:ext uri="{FF2B5EF4-FFF2-40B4-BE49-F238E27FC236}">
                <a16:creationId xmlns:a16="http://schemas.microsoft.com/office/drawing/2014/main" id="{538E4707-288F-5A06-C818-7C669FABF492}"/>
              </a:ext>
            </a:extLst>
          </p:cNvPr>
          <p:cNvSpPr txBox="1"/>
          <p:nvPr/>
        </p:nvSpPr>
        <p:spPr>
          <a:xfrm>
            <a:off x="6387973" y="3703421"/>
            <a:ext cx="201323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400" b="1" dirty="0">
                <a:solidFill>
                  <a:schemeClr val="bg1"/>
                </a:solidFill>
                <a:cs typeface="Times New Roman" panose="02020603050405020304" pitchFamily="18" charset="0"/>
                <a:sym typeface="+mn-ea"/>
              </a:rPr>
              <a:t>* Nguyễn Nam Phong</a:t>
            </a:r>
            <a:br>
              <a:rPr lang="vi-VN" sz="1400" b="1" dirty="0">
                <a:solidFill>
                  <a:schemeClr val="bg1"/>
                </a:solidFill>
                <a:cs typeface="Times New Roman" panose="02020603050405020304" pitchFamily="18" charset="0"/>
                <a:sym typeface="+mn-ea"/>
              </a:rPr>
            </a:br>
            <a:r>
              <a:rPr lang="vi-VN" sz="1400" b="1" dirty="0">
                <a:solidFill>
                  <a:schemeClr val="bg1"/>
                </a:solidFill>
                <a:cs typeface="Times New Roman" panose="02020603050405020304" pitchFamily="18" charset="0"/>
                <a:sym typeface="+mn-ea"/>
              </a:rPr>
              <a:t>* Nguyễn Trung Kiên</a:t>
            </a:r>
            <a:br>
              <a:rPr lang="vi-VN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lang="vi-VN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Nhiệm vụ :Cùng tìm hiểu cấu tạo của bình chứa nước nóng. Làm thế nào để nâng cao khả năng giữa nhiệt của bình?</a:t>
            </a:r>
            <a:endParaRPr lang="vi-VN" sz="1400" dirty="0">
              <a:solidFill>
                <a:schemeClr val="bg1"/>
              </a:solidFill>
            </a:endParaRPr>
          </a:p>
        </p:txBody>
      </p:sp>
      <p:sp>
        <p:nvSpPr>
          <p:cNvPr id="24" name="Hộp Văn bản 23">
            <a:extLst>
              <a:ext uri="{FF2B5EF4-FFF2-40B4-BE49-F238E27FC236}">
                <a16:creationId xmlns:a16="http://schemas.microsoft.com/office/drawing/2014/main" id="{FC788F48-315C-86D4-A88F-9AB48FBF70D1}"/>
              </a:ext>
            </a:extLst>
          </p:cNvPr>
          <p:cNvSpPr txBox="1"/>
          <p:nvPr/>
        </p:nvSpPr>
        <p:spPr>
          <a:xfrm>
            <a:off x="8879725" y="3618642"/>
            <a:ext cx="224663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600" b="1" dirty="0">
                <a:solidFill>
                  <a:schemeClr val="bg1"/>
                </a:solidFill>
                <a:cs typeface="Times New Roman" panose="02020603050405020304" pitchFamily="18" charset="0"/>
                <a:sym typeface="+mn-ea"/>
              </a:rPr>
              <a:t>* Tạ Long Khánh</a:t>
            </a:r>
            <a:br>
              <a:rPr lang="vi-VN" sz="1600" b="1" dirty="0">
                <a:solidFill>
                  <a:schemeClr val="bg1"/>
                </a:solidFill>
                <a:cs typeface="Times New Roman" panose="02020603050405020304" pitchFamily="18" charset="0"/>
                <a:sym typeface="+mn-ea"/>
              </a:rPr>
            </a:br>
            <a:r>
              <a:rPr lang="vi-VN" sz="1600" b="1" dirty="0">
                <a:solidFill>
                  <a:schemeClr val="bg1"/>
                </a:solidFill>
                <a:cs typeface="Times New Roman" panose="02020603050405020304" pitchFamily="18" charset="0"/>
                <a:sym typeface="+mn-ea"/>
              </a:rPr>
              <a:t>*  Nguyễn Hoài Nam</a:t>
            </a:r>
            <a:br>
              <a:rPr lang="vi-V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lang="vi-V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Nhiệm vụ :phân tích cách lắp đặt như hình </a:t>
            </a:r>
            <a:r>
              <a:rPr lang="vi-VN" sz="1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2D</a:t>
            </a:r>
            <a:r>
              <a:rPr lang="vi-V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là sơ đồ lắp đặt hệ thống máy nước nóng năng lượng mặt trời</a:t>
            </a:r>
            <a:endParaRPr lang="vi-VN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055853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C3B9ED1-297A-C399-14BB-4847DB51F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798798" cy="1450757"/>
          </a:xfrm>
        </p:spPr>
        <p:txBody>
          <a:bodyPr/>
          <a:lstStyle/>
          <a:p>
            <a:r>
              <a:rPr lang="vi-VN" b="1" dirty="0">
                <a:latin typeface="VNF-Caviar Dreams" panose="02000503020000020003" pitchFamily="2" charset="0"/>
              </a:rPr>
              <a:t>CẤU TẠO VÀ NGUYÊN LÝ HOẠT ĐỘNG</a:t>
            </a:r>
            <a:endParaRPr lang="vi-VN" dirty="0"/>
          </a:p>
        </p:txBody>
      </p:sp>
      <p:pic>
        <p:nvPicPr>
          <p:cNvPr id="4" name="Content Placeholder 5" descr="images (1)">
            <a:extLst>
              <a:ext uri="{FF2B5EF4-FFF2-40B4-BE49-F238E27FC236}">
                <a16:creationId xmlns:a16="http://schemas.microsoft.com/office/drawing/2014/main" id="{7FD71733-3EAB-5933-791F-03C1CEE492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355" y="2354697"/>
            <a:ext cx="3979416" cy="3020461"/>
          </a:xfrm>
          <a:prstGeom prst="rect">
            <a:avLst/>
          </a:prstGeom>
        </p:spPr>
      </p:pic>
      <p:pic>
        <p:nvPicPr>
          <p:cNvPr id="5" name="Content Placeholder 8" descr="images">
            <a:extLst>
              <a:ext uri="{FF2B5EF4-FFF2-40B4-BE49-F238E27FC236}">
                <a16:creationId xmlns:a16="http://schemas.microsoft.com/office/drawing/2014/main" id="{543CEA03-2D0E-5AE1-D419-ED987C1620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1794" y="2531109"/>
            <a:ext cx="3449320" cy="2667635"/>
          </a:xfrm>
          <a:prstGeom prst="rect">
            <a:avLst/>
          </a:prstGeom>
        </p:spPr>
      </p:pic>
      <p:pic>
        <p:nvPicPr>
          <p:cNvPr id="7" name="Picture 9" descr="images (1)">
            <a:extLst>
              <a:ext uri="{FF2B5EF4-FFF2-40B4-BE49-F238E27FC236}">
                <a16:creationId xmlns:a16="http://schemas.microsoft.com/office/drawing/2014/main" id="{8BC44CCA-A616-073F-A184-C68C2F39FE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7137" y="2531109"/>
            <a:ext cx="3979416" cy="2543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35478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414F681E-A676-8630-DE5F-D0AE99E71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 dirty="0">
                <a:latin typeface="VNF-Caviar Dreams" panose="02000503020000020003" pitchFamily="2" charset="0"/>
              </a:rPr>
              <a:t>CẤU TẠO</a:t>
            </a:r>
            <a:endParaRPr lang="vi-VN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83ECBE4-6893-D1B5-8C75-060411E82A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6781" y="2224596"/>
            <a:ext cx="3896556" cy="3896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Đường nối Thẳng 4">
            <a:extLst>
              <a:ext uri="{FF2B5EF4-FFF2-40B4-BE49-F238E27FC236}">
                <a16:creationId xmlns:a16="http://schemas.microsoft.com/office/drawing/2014/main" id="{B3AE80AE-08CD-85BA-0977-6513692386AD}"/>
              </a:ext>
            </a:extLst>
          </p:cNvPr>
          <p:cNvCxnSpPr>
            <a:cxnSpLocks/>
          </p:cNvCxnSpPr>
          <p:nvPr/>
        </p:nvCxnSpPr>
        <p:spPr>
          <a:xfrm flipV="1">
            <a:off x="6818050" y="2663301"/>
            <a:ext cx="905523" cy="38174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Đường nối Thẳng 7">
            <a:extLst>
              <a:ext uri="{FF2B5EF4-FFF2-40B4-BE49-F238E27FC236}">
                <a16:creationId xmlns:a16="http://schemas.microsoft.com/office/drawing/2014/main" id="{C0D5D980-2905-6D0C-DC04-9E358C3975B6}"/>
              </a:ext>
            </a:extLst>
          </p:cNvPr>
          <p:cNvCxnSpPr/>
          <p:nvPr/>
        </p:nvCxnSpPr>
        <p:spPr>
          <a:xfrm>
            <a:off x="3728621" y="3568823"/>
            <a:ext cx="914400" cy="9144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Đường nối Thẳng 9">
            <a:extLst>
              <a:ext uri="{FF2B5EF4-FFF2-40B4-BE49-F238E27FC236}">
                <a16:creationId xmlns:a16="http://schemas.microsoft.com/office/drawing/2014/main" id="{377D8F21-A644-95E9-432A-1DA419477FDC}"/>
              </a:ext>
            </a:extLst>
          </p:cNvPr>
          <p:cNvCxnSpPr/>
          <p:nvPr/>
        </p:nvCxnSpPr>
        <p:spPr>
          <a:xfrm>
            <a:off x="6818050" y="4358936"/>
            <a:ext cx="914400" cy="9144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Hình chữ nhật 10">
            <a:hlinkClick r:id="rId3" action="ppaction://hlinksldjump"/>
            <a:extLst>
              <a:ext uri="{FF2B5EF4-FFF2-40B4-BE49-F238E27FC236}">
                <a16:creationId xmlns:a16="http://schemas.microsoft.com/office/drawing/2014/main" id="{FC0A8E7F-5325-4560-0A9F-9399F6E44CE2}"/>
              </a:ext>
            </a:extLst>
          </p:cNvPr>
          <p:cNvSpPr/>
          <p:nvPr/>
        </p:nvSpPr>
        <p:spPr>
          <a:xfrm>
            <a:off x="2601157" y="3076113"/>
            <a:ext cx="1757778" cy="5237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Bộ phận hấp thụ nhiệt</a:t>
            </a:r>
          </a:p>
        </p:txBody>
      </p:sp>
      <p:sp>
        <p:nvSpPr>
          <p:cNvPr id="12" name="Hình chữ nhật 11">
            <a:hlinkClick r:id="rId4" action="ppaction://hlinksldjump"/>
            <a:extLst>
              <a:ext uri="{FF2B5EF4-FFF2-40B4-BE49-F238E27FC236}">
                <a16:creationId xmlns:a16="http://schemas.microsoft.com/office/drawing/2014/main" id="{12F03396-EE83-1F5C-2971-1DEE8921C6AC}"/>
              </a:ext>
            </a:extLst>
          </p:cNvPr>
          <p:cNvSpPr/>
          <p:nvPr/>
        </p:nvSpPr>
        <p:spPr>
          <a:xfrm>
            <a:off x="7617041" y="2494625"/>
            <a:ext cx="1429305" cy="3817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Bình bảo ôn</a:t>
            </a:r>
          </a:p>
        </p:txBody>
      </p:sp>
      <p:sp>
        <p:nvSpPr>
          <p:cNvPr id="13" name="Hình chữ nhật 12">
            <a:hlinkClick r:id="rId5" action="ppaction://hlinksldjump"/>
            <a:extLst>
              <a:ext uri="{FF2B5EF4-FFF2-40B4-BE49-F238E27FC236}">
                <a16:creationId xmlns:a16="http://schemas.microsoft.com/office/drawing/2014/main" id="{5E32888F-CC0E-8966-F66F-9855B8E0969F}"/>
              </a:ext>
            </a:extLst>
          </p:cNvPr>
          <p:cNvSpPr/>
          <p:nvPr/>
        </p:nvSpPr>
        <p:spPr>
          <a:xfrm>
            <a:off x="7554897" y="5184559"/>
            <a:ext cx="1615736" cy="4705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Giá đỡ </a:t>
            </a:r>
            <a:r>
              <a:rPr lang="vi-VN" dirty="0" err="1"/>
              <a:t>Inox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22844570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 animBg="1"/>
      <p:bldP spid="12" grpId="0" animBg="1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EADF6605-F7AB-1568-6513-10A10A322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 dirty="0">
                <a:latin typeface="VNF-Caviar Dreams" panose="02000503020000020003" pitchFamily="2" charset="0"/>
              </a:rPr>
              <a:t>BỘ PHẬN HẤP THỤ NHIỆT</a:t>
            </a:r>
            <a:endParaRPr lang="vi-VN" dirty="0"/>
          </a:p>
        </p:txBody>
      </p:sp>
      <p:pic>
        <p:nvPicPr>
          <p:cNvPr id="2050" name="Picture 2" descr="Tấm thu nhiệt trên máy nước nóng năng lượng mặt trời là gì?">
            <a:extLst>
              <a:ext uri="{FF2B5EF4-FFF2-40B4-BE49-F238E27FC236}">
                <a16:creationId xmlns:a16="http://schemas.microsoft.com/office/drawing/2014/main" id="{B7E5FF5F-64F2-B3E1-FA26-086495E36D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2773" y="2263804"/>
            <a:ext cx="4920380" cy="3033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6960F148-0C5D-77E3-1CE8-3C46B022195E}"/>
              </a:ext>
            </a:extLst>
          </p:cNvPr>
          <p:cNvSpPr txBox="1"/>
          <p:nvPr/>
        </p:nvSpPr>
        <p:spPr>
          <a:xfrm>
            <a:off x="1097280" y="2129685"/>
            <a:ext cx="4176056" cy="3630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46380">
              <a:lnSpc>
                <a:spcPct val="109000"/>
              </a:lnSpc>
              <a:spcBef>
                <a:spcPts val="95"/>
              </a:spcBef>
            </a:pPr>
            <a:r>
              <a:rPr lang="vi-VN" sz="1800" b="1" dirty="0">
                <a:latin typeface="Calibri" panose="020F0502020204030204"/>
                <a:cs typeface="Calibri" panose="020F0502020204030204"/>
              </a:rPr>
              <a:t>Bộ</a:t>
            </a:r>
            <a:r>
              <a:rPr lang="vi-VN" sz="18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b="1" dirty="0">
                <a:latin typeface="Calibri" panose="020F0502020204030204"/>
                <a:cs typeface="Calibri" panose="020F0502020204030204"/>
              </a:rPr>
              <a:t>phận</a:t>
            </a:r>
            <a:r>
              <a:rPr lang="vi-VN" sz="18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b="1" dirty="0">
                <a:latin typeface="Calibri" panose="020F0502020204030204"/>
                <a:cs typeface="Calibri" panose="020F0502020204030204"/>
              </a:rPr>
              <a:t>hấp</a:t>
            </a:r>
            <a:r>
              <a:rPr lang="vi-VN" sz="18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b="1" dirty="0">
                <a:latin typeface="Calibri" panose="020F0502020204030204"/>
                <a:cs typeface="Calibri" panose="020F0502020204030204"/>
              </a:rPr>
              <a:t>thụ</a:t>
            </a:r>
            <a:r>
              <a:rPr lang="vi-VN" sz="18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b="1" dirty="0">
                <a:latin typeface="Calibri" panose="020F0502020204030204"/>
                <a:cs typeface="Calibri" panose="020F0502020204030204"/>
              </a:rPr>
              <a:t>nhiệt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: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gồm</a:t>
            </a:r>
            <a:r>
              <a:rPr lang="vi-VN" sz="18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nhiều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ống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hấp</a:t>
            </a:r>
            <a:r>
              <a:rPr lang="vi-VN"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thụ</a:t>
            </a:r>
            <a:r>
              <a:rPr lang="vi-VN"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nhiệt</a:t>
            </a:r>
            <a:r>
              <a:rPr lang="vi-VN" sz="18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hoặc</a:t>
            </a:r>
            <a:r>
              <a:rPr lang="vi-VN"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các</a:t>
            </a:r>
            <a:r>
              <a:rPr lang="vi-VN"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loại</a:t>
            </a:r>
            <a:r>
              <a:rPr lang="vi-VN"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tấm</a:t>
            </a:r>
            <a:r>
              <a:rPr lang="vi-VN"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 err="1">
                <a:latin typeface="Calibri" panose="020F0502020204030204"/>
                <a:cs typeface="Calibri" panose="020F0502020204030204"/>
              </a:rPr>
              <a:t>phẳng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để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hấp</a:t>
            </a:r>
            <a:r>
              <a:rPr lang="vi-VN"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thụ</a:t>
            </a:r>
            <a:r>
              <a:rPr lang="vi-VN"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ánh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sáng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mặt</a:t>
            </a:r>
            <a:r>
              <a:rPr lang="vi-VN" sz="18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trời</a:t>
            </a:r>
            <a:r>
              <a:rPr lang="vi-VN"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giúp</a:t>
            </a:r>
            <a:r>
              <a:rPr lang="vi-VN" sz="1800" spc="-25" dirty="0">
                <a:latin typeface="Calibri" panose="020F0502020204030204"/>
                <a:cs typeface="Calibri" panose="020F0502020204030204"/>
              </a:rPr>
              <a:t> thu </a:t>
            </a:r>
            <a:r>
              <a:rPr lang="vi-VN" sz="1800" dirty="0" err="1">
                <a:latin typeface="Calibri" panose="020F0502020204030204"/>
                <a:cs typeface="Calibri" panose="020F0502020204030204"/>
              </a:rPr>
              <a:t>nhiêt</a:t>
            </a:r>
            <a:r>
              <a:rPr lang="vi-VN"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và</a:t>
            </a:r>
            <a:r>
              <a:rPr lang="vi-VN"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truyền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nhiệt</a:t>
            </a:r>
            <a:r>
              <a:rPr lang="vi-VN"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để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làm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nóng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nước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hoặc</a:t>
            </a:r>
            <a:r>
              <a:rPr lang="vi-VN"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hơi môi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chất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bên</a:t>
            </a:r>
            <a:r>
              <a:rPr lang="vi-VN"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trong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spc="-25" dirty="0">
                <a:latin typeface="Calibri" panose="020F0502020204030204"/>
                <a:cs typeface="Calibri" panose="020F0502020204030204"/>
              </a:rPr>
              <a:t>ống</a:t>
            </a:r>
            <a:endParaRPr lang="vi-VN" sz="1800" dirty="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lang="vi-VN" sz="1800" dirty="0">
                <a:latin typeface="Calibri" panose="020F0502020204030204"/>
                <a:cs typeface="Calibri" panose="020F0502020204030204"/>
              </a:rPr>
              <a:t>Gồm</a:t>
            </a:r>
            <a:r>
              <a:rPr lang="vi-VN"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3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loại</a:t>
            </a:r>
            <a:r>
              <a:rPr lang="vi-VN"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: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chân</a:t>
            </a:r>
            <a:r>
              <a:rPr lang="vi-VN"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không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,</a:t>
            </a:r>
            <a:r>
              <a:rPr lang="vi-VN"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ống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dầu,</a:t>
            </a:r>
            <a:r>
              <a:rPr lang="vi-VN"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tấm</a:t>
            </a:r>
            <a:r>
              <a:rPr lang="vi-VN"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spc="-10" dirty="0" err="1">
                <a:latin typeface="Calibri" panose="020F0502020204030204"/>
                <a:cs typeface="Calibri" panose="020F0502020204030204"/>
              </a:rPr>
              <a:t>phẳng</a:t>
            </a:r>
            <a:endParaRPr lang="vi-VN" sz="1800" dirty="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920"/>
              </a:spcBef>
            </a:pPr>
            <a:r>
              <a:rPr lang="vi-VN" sz="1800" dirty="0">
                <a:latin typeface="Calibri" panose="020F0502020204030204"/>
                <a:cs typeface="Calibri" panose="020F0502020204030204"/>
              </a:rPr>
              <a:t>Ống</a:t>
            </a:r>
            <a:r>
              <a:rPr lang="vi-VN"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dầu</a:t>
            </a:r>
            <a:r>
              <a:rPr lang="vi-VN"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:Sử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dụng</a:t>
            </a:r>
            <a:r>
              <a:rPr lang="vi-VN" sz="18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ống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dầu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là</a:t>
            </a:r>
            <a:r>
              <a:rPr lang="vi-VN"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bộ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phận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hấp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thụ</a:t>
            </a:r>
            <a:r>
              <a:rPr lang="vi-VN" sz="18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nhiệt,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được</a:t>
            </a:r>
            <a:r>
              <a:rPr lang="vi-VN"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phủ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3</a:t>
            </a:r>
            <a:r>
              <a:rPr lang="vi-VN" sz="18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lớp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đồng,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bạc,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 err="1">
                <a:latin typeface="Calibri" panose="020F0502020204030204"/>
                <a:cs typeface="Calibri" panose="020F0502020204030204"/>
              </a:rPr>
              <a:t>titan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giúp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hấp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thụ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nhiệt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tốt.</a:t>
            </a:r>
            <a:endParaRPr lang="vi-VN" sz="1800" dirty="0">
              <a:latin typeface="Calibri" panose="020F0502020204030204"/>
              <a:cs typeface="Calibri" panose="020F0502020204030204"/>
            </a:endParaRPr>
          </a:p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38110105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C88823B-D70D-7A29-F5FC-330D4A20A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 dirty="0">
                <a:latin typeface="VNF-Caviar Dreams" panose="02000503020000020003" pitchFamily="2" charset="0"/>
              </a:rPr>
              <a:t>BÌNH BẢO ÔN</a:t>
            </a:r>
            <a:endParaRPr lang="vi-VN" dirty="0"/>
          </a:p>
        </p:txBody>
      </p:sp>
      <p:pic>
        <p:nvPicPr>
          <p:cNvPr id="4" name="Hình ảnh 3">
            <a:extLst>
              <a:ext uri="{FF2B5EF4-FFF2-40B4-BE49-F238E27FC236}">
                <a16:creationId xmlns:a16="http://schemas.microsoft.com/office/drawing/2014/main" id="{9C2A62AC-33AC-F6A3-6B00-7E2801F3AE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7949" y="2128326"/>
            <a:ext cx="4886632" cy="3334108"/>
          </a:xfrm>
          <a:prstGeom prst="rect">
            <a:avLst/>
          </a:prstGeom>
        </p:spPr>
      </p:pic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C21433D4-08ED-51D9-C23B-0F130A38A0D8}"/>
              </a:ext>
            </a:extLst>
          </p:cNvPr>
          <p:cNvSpPr txBox="1"/>
          <p:nvPr/>
        </p:nvSpPr>
        <p:spPr>
          <a:xfrm>
            <a:off x="1097280" y="2499512"/>
            <a:ext cx="6096000" cy="1295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105410" indent="30480">
              <a:lnSpc>
                <a:spcPct val="110000"/>
              </a:lnSpc>
              <a:spcBef>
                <a:spcPts val="805"/>
              </a:spcBef>
            </a:pPr>
            <a:r>
              <a:rPr lang="vi-VN" sz="1800" b="1" dirty="0">
                <a:latin typeface="Calibri" panose="020F0502020204030204"/>
                <a:cs typeface="Calibri" panose="020F0502020204030204"/>
              </a:rPr>
              <a:t>Bình</a:t>
            </a:r>
            <a:r>
              <a:rPr lang="vi-VN" sz="1800" b="1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b="1" dirty="0">
                <a:latin typeface="Calibri" panose="020F0502020204030204"/>
                <a:cs typeface="Calibri" panose="020F0502020204030204"/>
              </a:rPr>
              <a:t>bảo</a:t>
            </a:r>
            <a:r>
              <a:rPr lang="vi-VN" sz="18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b="1" dirty="0">
                <a:latin typeface="Calibri" panose="020F0502020204030204"/>
                <a:cs typeface="Calibri" panose="020F0502020204030204"/>
              </a:rPr>
              <a:t>ôn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: là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bình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chứa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nước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nóng,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chế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tạo</a:t>
            </a:r>
            <a:r>
              <a:rPr lang="vi-VN" sz="18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từ</a:t>
            </a:r>
            <a:r>
              <a:rPr lang="vi-VN"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các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chất</a:t>
            </a:r>
            <a:r>
              <a:rPr lang="vi-VN" sz="18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liệu</a:t>
            </a:r>
            <a:r>
              <a:rPr lang="vi-VN"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 err="1">
                <a:latin typeface="Calibri" panose="020F0502020204030204"/>
                <a:cs typeface="Calibri" panose="020F0502020204030204"/>
              </a:rPr>
              <a:t>inox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bền</a:t>
            </a:r>
            <a:r>
              <a:rPr lang="vi-VN"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bỉ</a:t>
            </a:r>
            <a:r>
              <a:rPr lang="vi-VN"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và</a:t>
            </a:r>
            <a:r>
              <a:rPr lang="vi-VN"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các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chất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bảo</a:t>
            </a:r>
            <a:r>
              <a:rPr lang="vi-VN"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ôn phức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hợp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giúp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cách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spc="-10" dirty="0">
                <a:latin typeface="Calibri" panose="020F0502020204030204"/>
                <a:cs typeface="Calibri" panose="020F0502020204030204"/>
              </a:rPr>
              <a:t>nhiệt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và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giữ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nhiệt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lâu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dài,</a:t>
            </a:r>
            <a:r>
              <a:rPr lang="vi-VN"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trên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binh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có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một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số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lỗ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để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gắn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các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đường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ống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nước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ra</a:t>
            </a:r>
            <a:r>
              <a:rPr lang="vi-VN"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vào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và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ống</a:t>
            </a:r>
            <a:r>
              <a:rPr lang="vi-VN" sz="18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thông</a:t>
            </a:r>
            <a:r>
              <a:rPr lang="vi-VN"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spc="-25" dirty="0">
                <a:latin typeface="Calibri" panose="020F0502020204030204"/>
                <a:cs typeface="Calibri" panose="020F0502020204030204"/>
              </a:rPr>
              <a:t>hơi</a:t>
            </a:r>
            <a:endParaRPr lang="vi-VN" sz="1800" dirty="0">
              <a:latin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61185771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7EFC7C62-674B-75A7-C06F-1F55B0875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 dirty="0">
                <a:latin typeface="VNF-Caviar Dreams" panose="02000503020000020003" pitchFamily="2" charset="0"/>
              </a:rPr>
              <a:t>GIÁ ĐỠ</a:t>
            </a:r>
            <a:endParaRPr lang="vi-VN" dirty="0"/>
          </a:p>
        </p:txBody>
      </p:sp>
      <p:pic>
        <p:nvPicPr>
          <p:cNvPr id="1026" name="Picture 2" descr="Máy nước nóng năng lượng mặt trời CKASUN 130 lít - Máy năng lượng mặt trời">
            <a:extLst>
              <a:ext uri="{FF2B5EF4-FFF2-40B4-BE49-F238E27FC236}">
                <a16:creationId xmlns:a16="http://schemas.microsoft.com/office/drawing/2014/main" id="{5BF756C1-E367-7585-47E4-A1C06704F0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9138" y="2450383"/>
            <a:ext cx="3333750" cy="333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DB862E40-B79A-8A0B-76A7-01817FF4B65C}"/>
              </a:ext>
            </a:extLst>
          </p:cNvPr>
          <p:cNvSpPr txBox="1"/>
          <p:nvPr/>
        </p:nvSpPr>
        <p:spPr>
          <a:xfrm>
            <a:off x="1097280" y="2100233"/>
            <a:ext cx="4693920" cy="2209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 indent="30480" algn="just">
              <a:lnSpc>
                <a:spcPct val="110000"/>
              </a:lnSpc>
              <a:spcBef>
                <a:spcPts val="795"/>
              </a:spcBef>
            </a:pPr>
            <a:r>
              <a:rPr lang="vi-VN" sz="1800" b="1" dirty="0">
                <a:latin typeface="Calibri" panose="020F0502020204030204"/>
                <a:cs typeface="Calibri" panose="020F0502020204030204"/>
              </a:rPr>
              <a:t>Giá</a:t>
            </a:r>
            <a:r>
              <a:rPr lang="vi-VN" sz="1800" b="1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b="1" dirty="0">
                <a:latin typeface="Calibri" panose="020F0502020204030204"/>
                <a:cs typeface="Calibri" panose="020F0502020204030204"/>
              </a:rPr>
              <a:t>đỡ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: được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làm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từ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thép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không</a:t>
            </a:r>
            <a:r>
              <a:rPr lang="vi-VN" sz="18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gỉ hoặc</a:t>
            </a:r>
            <a:r>
              <a:rPr lang="vi-VN"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 err="1">
                <a:latin typeface="Calibri" panose="020F0502020204030204"/>
                <a:cs typeface="Calibri" panose="020F0502020204030204"/>
              </a:rPr>
              <a:t>inox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.</a:t>
            </a:r>
            <a:r>
              <a:rPr lang="vi-VN"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Bộ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phận</a:t>
            </a:r>
            <a:r>
              <a:rPr lang="vi-VN"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này</a:t>
            </a:r>
            <a:r>
              <a:rPr lang="vi-VN" sz="18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được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thiết</a:t>
            </a:r>
            <a:r>
              <a:rPr lang="vi-VN"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kế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một</a:t>
            </a:r>
            <a:r>
              <a:rPr lang="vi-VN"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cách</a:t>
            </a:r>
            <a:r>
              <a:rPr lang="vi-VN"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đặc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biệt</a:t>
            </a:r>
            <a:r>
              <a:rPr lang="vi-VN"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với</a:t>
            </a:r>
            <a:r>
              <a:rPr lang="vi-VN"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góc</a:t>
            </a:r>
            <a:r>
              <a:rPr lang="vi-VN"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nghiêng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thích</a:t>
            </a:r>
            <a:r>
              <a:rPr lang="vi-VN"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hợp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spc="-25" dirty="0">
                <a:latin typeface="Calibri" panose="020F0502020204030204"/>
                <a:cs typeface="Calibri" panose="020F0502020204030204"/>
              </a:rPr>
              <a:t>để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đón</a:t>
            </a:r>
            <a:r>
              <a:rPr lang="vi-VN"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lấy</a:t>
            </a:r>
            <a:r>
              <a:rPr lang="vi-VN" sz="18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ánh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sáng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mặt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trời</a:t>
            </a:r>
            <a:r>
              <a:rPr lang="vi-VN"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tại</a:t>
            </a:r>
            <a:r>
              <a:rPr lang="vi-VN"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vị</a:t>
            </a:r>
            <a:r>
              <a:rPr lang="vi-VN"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trí</a:t>
            </a:r>
            <a:r>
              <a:rPr lang="vi-VN"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tốt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nhất,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giúp</a:t>
            </a:r>
            <a:r>
              <a:rPr lang="vi-VN"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hấp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thụ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nhiệt</a:t>
            </a:r>
            <a:r>
              <a:rPr lang="vi-VN" sz="18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tối</a:t>
            </a:r>
            <a:r>
              <a:rPr lang="vi-VN"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ưu,</a:t>
            </a:r>
            <a:r>
              <a:rPr lang="vi-VN"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giúp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gắn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kết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các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bộ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phận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khác</a:t>
            </a:r>
            <a:r>
              <a:rPr lang="vi-VN"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trên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máy,</a:t>
            </a:r>
            <a:r>
              <a:rPr lang="vi-VN"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tạo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ra</a:t>
            </a:r>
            <a:r>
              <a:rPr lang="vi-VN" sz="18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spc="-25" dirty="0">
                <a:latin typeface="Calibri" panose="020F0502020204030204"/>
                <a:cs typeface="Calibri" panose="020F0502020204030204"/>
              </a:rPr>
              <a:t>cấu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trúc</a:t>
            </a:r>
            <a:r>
              <a:rPr lang="vi-VN"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chắc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chắn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đồng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thời</a:t>
            </a:r>
            <a:r>
              <a:rPr lang="vi-VN"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đảm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bảo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an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toàn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trong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quá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trình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sử</a:t>
            </a:r>
            <a:r>
              <a:rPr lang="vi-VN"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spc="-10" dirty="0">
                <a:latin typeface="Calibri" panose="020F0502020204030204"/>
                <a:cs typeface="Calibri" panose="020F0502020204030204"/>
              </a:rPr>
              <a:t>dụng.</a:t>
            </a:r>
            <a:endParaRPr lang="vi-VN" sz="1800" dirty="0">
              <a:latin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25674299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8EE4A07D-DE43-1A85-9FB8-957CE5291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sz="2400" b="1" dirty="0">
                <a:latin typeface="VNF-Caviar Dreams" panose="02000503020000020003" pitchFamily="2" charset="0"/>
              </a:rPr>
              <a:t>CẤU TẠO VÀ NGUYÊN LÝ HOẠT ĐỘNG CỦA ỐNG CHÂN KHÔNG THU NHIỆT</a:t>
            </a:r>
            <a:endParaRPr lang="vi-VN" sz="2400" dirty="0"/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A945A754-49E1-8B1E-06E9-7D1664B52D8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7280" y="2341108"/>
            <a:ext cx="4561332" cy="3144011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3EEC0D23-0EFE-57CA-4179-02F3CB6ED31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34439" y="2446263"/>
            <a:ext cx="3744468" cy="293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34244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7CAD76AD-6814-1B72-4F5E-2385039BB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sz="4000" b="1" dirty="0">
                <a:latin typeface="VNF-Caviar Dreams" panose="02000503020000020003" pitchFamily="2" charset="0"/>
              </a:rPr>
              <a:t>CẤU TẠO ỐNG CHÂN KHÔNG THU NHIỆT </a:t>
            </a:r>
            <a:endParaRPr lang="vi-VN" sz="4000" dirty="0"/>
          </a:p>
        </p:txBody>
      </p:sp>
      <p:pic>
        <p:nvPicPr>
          <p:cNvPr id="2050" name="Picture 2" descr="Ống Chân Không Thu Nhiệt: Cấu Tạo, Vai Trò Và Quy Trình Sản Xuất - Cty  HCTECH chuyên nhập khẩu-phân phối-sửa chữa-bán phụ kiện bơm hút chân không  đa rạng nhất thị">
            <a:extLst>
              <a:ext uri="{FF2B5EF4-FFF2-40B4-BE49-F238E27FC236}">
                <a16:creationId xmlns:a16="http://schemas.microsoft.com/office/drawing/2014/main" id="{F2AA5603-F7DF-5C65-F4C6-9C23D3E060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9832" y="2088526"/>
            <a:ext cx="4017706" cy="3696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ADAADDFB-E90A-C741-1DFF-E91E4A324EB1}"/>
              </a:ext>
            </a:extLst>
          </p:cNvPr>
          <p:cNvSpPr txBox="1"/>
          <p:nvPr/>
        </p:nvSpPr>
        <p:spPr>
          <a:xfrm>
            <a:off x="1097280" y="1924613"/>
            <a:ext cx="6096000" cy="4261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vi-VN" sz="1400" dirty="0">
                <a:latin typeface="Calibri" panose="020F0502020204030204"/>
                <a:cs typeface="Calibri" panose="020F0502020204030204"/>
              </a:rPr>
              <a:t>Là</a:t>
            </a:r>
            <a:r>
              <a:rPr lang="vi-VN" sz="1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ống</a:t>
            </a:r>
            <a:r>
              <a:rPr lang="vi-VN" sz="1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thủy</a:t>
            </a:r>
            <a:r>
              <a:rPr lang="vi-VN" sz="1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tinh</a:t>
            </a:r>
            <a:r>
              <a:rPr lang="vi-VN" sz="1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2</a:t>
            </a:r>
            <a:r>
              <a:rPr lang="vi-VN" sz="14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lớp </a:t>
            </a:r>
            <a:r>
              <a:rPr lang="vi-VN" sz="1400" spc="-50" dirty="0">
                <a:latin typeface="Calibri" panose="020F0502020204030204"/>
                <a:cs typeface="Calibri" panose="020F0502020204030204"/>
              </a:rPr>
              <a:t>:</a:t>
            </a:r>
            <a:endParaRPr lang="vi-VN" sz="1400" dirty="0">
              <a:latin typeface="Calibri" panose="020F0502020204030204"/>
              <a:cs typeface="Calibri" panose="020F0502020204030204"/>
            </a:endParaRPr>
          </a:p>
          <a:p>
            <a:pPr marL="12700" marR="5080" indent="74930">
              <a:lnSpc>
                <a:spcPct val="110000"/>
              </a:lnSpc>
              <a:spcBef>
                <a:spcPts val="790"/>
              </a:spcBef>
              <a:buChar char="-"/>
              <a:tabLst>
                <a:tab pos="87630" algn="l"/>
              </a:tabLst>
            </a:pPr>
            <a:r>
              <a:rPr lang="vi-VN" sz="1400" dirty="0">
                <a:latin typeface="Calibri" panose="020F0502020204030204"/>
                <a:cs typeface="Calibri" panose="020F0502020204030204"/>
              </a:rPr>
              <a:t>(1), (2) 2</a:t>
            </a:r>
            <a:r>
              <a:rPr lang="vi-VN" sz="14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lớp</a:t>
            </a:r>
            <a:r>
              <a:rPr lang="vi-VN" sz="1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bên</a:t>
            </a:r>
            <a:r>
              <a:rPr lang="vi-VN" sz="1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ngoài</a:t>
            </a:r>
            <a:r>
              <a:rPr lang="vi-VN" sz="1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ống</a:t>
            </a:r>
            <a:r>
              <a:rPr lang="vi-VN" sz="1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chân</a:t>
            </a:r>
            <a:r>
              <a:rPr lang="vi-VN" sz="1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không</a:t>
            </a:r>
            <a:r>
              <a:rPr lang="vi-VN" sz="1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thường</a:t>
            </a:r>
            <a:r>
              <a:rPr lang="vi-VN" sz="1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làm</a:t>
            </a:r>
            <a:r>
              <a:rPr lang="vi-VN" sz="1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bằng</a:t>
            </a:r>
            <a:r>
              <a:rPr lang="vi-VN" sz="1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thủy</a:t>
            </a:r>
            <a:r>
              <a:rPr lang="vi-VN" sz="1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tinh</a:t>
            </a:r>
            <a:r>
              <a:rPr lang="vi-VN" sz="1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cao</a:t>
            </a:r>
            <a:r>
              <a:rPr lang="vi-VN" sz="1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cấp(thường</a:t>
            </a:r>
            <a:r>
              <a:rPr lang="vi-VN" sz="1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được</a:t>
            </a:r>
            <a:r>
              <a:rPr lang="vi-VN" sz="1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làm</a:t>
            </a:r>
            <a:r>
              <a:rPr lang="vi-VN" sz="1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từ</a:t>
            </a:r>
            <a:r>
              <a:rPr lang="vi-VN" sz="14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chất</a:t>
            </a:r>
            <a:r>
              <a:rPr lang="vi-VN" sz="1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liệu</a:t>
            </a:r>
            <a:r>
              <a:rPr lang="vi-VN" sz="1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thủy</a:t>
            </a:r>
            <a:r>
              <a:rPr lang="vi-VN" sz="1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tinh</a:t>
            </a:r>
            <a:r>
              <a:rPr lang="vi-VN" sz="1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gọi</a:t>
            </a:r>
            <a:r>
              <a:rPr lang="vi-VN" sz="1400" spc="-25" dirty="0">
                <a:latin typeface="Calibri" panose="020F0502020204030204"/>
                <a:cs typeface="Calibri" panose="020F0502020204030204"/>
              </a:rPr>
              <a:t> là </a:t>
            </a:r>
            <a:r>
              <a:rPr lang="vi-VN" sz="1400" spc="-10" dirty="0" err="1">
                <a:latin typeface="Calibri" panose="020F0502020204030204"/>
                <a:cs typeface="Calibri" panose="020F0502020204030204"/>
              </a:rPr>
              <a:t>Borosilicate</a:t>
            </a:r>
            <a:r>
              <a:rPr lang="vi-VN" sz="1400" spc="-10" dirty="0">
                <a:latin typeface="Calibri" panose="020F0502020204030204"/>
                <a:cs typeface="Calibri" panose="020F0502020204030204"/>
              </a:rPr>
              <a:t>).</a:t>
            </a:r>
            <a:r>
              <a:rPr lang="vi-VN" sz="14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Mặt</a:t>
            </a:r>
            <a:r>
              <a:rPr lang="vi-VN" sz="14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ngoài</a:t>
            </a:r>
            <a:r>
              <a:rPr lang="vi-VN" sz="14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thì</a:t>
            </a:r>
            <a:r>
              <a:rPr lang="vi-VN" sz="1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trong</a:t>
            </a:r>
            <a:r>
              <a:rPr lang="vi-VN" sz="1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suốt</a:t>
            </a:r>
            <a:r>
              <a:rPr lang="vi-VN" sz="1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còn</a:t>
            </a:r>
            <a:r>
              <a:rPr lang="vi-VN" sz="1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mặt</a:t>
            </a:r>
            <a:r>
              <a:rPr lang="vi-VN" sz="14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bên</a:t>
            </a:r>
            <a:r>
              <a:rPr lang="vi-VN" sz="14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trong</a:t>
            </a:r>
            <a:r>
              <a:rPr lang="vi-VN" sz="1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được</a:t>
            </a:r>
            <a:r>
              <a:rPr lang="vi-VN" sz="14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phủ</a:t>
            </a:r>
            <a:r>
              <a:rPr lang="vi-VN" sz="1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một</a:t>
            </a:r>
            <a:r>
              <a:rPr lang="vi-VN" sz="1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lớp</a:t>
            </a:r>
            <a:r>
              <a:rPr lang="vi-VN" sz="1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sơn</a:t>
            </a:r>
            <a:r>
              <a:rPr lang="vi-VN" sz="1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hoặc</a:t>
            </a:r>
            <a:r>
              <a:rPr lang="vi-VN" sz="1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mạ</a:t>
            </a:r>
            <a:r>
              <a:rPr lang="vi-VN" sz="14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 err="1">
                <a:latin typeface="Calibri" panose="020F0502020204030204"/>
                <a:cs typeface="Calibri" panose="020F0502020204030204"/>
              </a:rPr>
              <a:t>titan</a:t>
            </a:r>
            <a:r>
              <a:rPr lang="vi-VN" sz="1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để</a:t>
            </a:r>
            <a:r>
              <a:rPr lang="vi-VN" sz="1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chống</a:t>
            </a:r>
            <a:r>
              <a:rPr lang="vi-VN" sz="1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phản</a:t>
            </a:r>
            <a:r>
              <a:rPr lang="vi-VN" sz="1400" spc="-10" dirty="0">
                <a:latin typeface="Calibri" panose="020F0502020204030204"/>
                <a:cs typeface="Calibri" panose="020F0502020204030204"/>
              </a:rPr>
              <a:t> quang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ngược</a:t>
            </a:r>
            <a:r>
              <a:rPr lang="vi-VN" sz="1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lại,</a:t>
            </a:r>
            <a:r>
              <a:rPr lang="vi-VN" sz="1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điều</a:t>
            </a:r>
            <a:r>
              <a:rPr lang="vi-VN" sz="14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này</a:t>
            </a:r>
            <a:r>
              <a:rPr lang="vi-VN" sz="1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sẽ</a:t>
            </a:r>
            <a:r>
              <a:rPr lang="vi-VN" sz="1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giúp</a:t>
            </a:r>
            <a:r>
              <a:rPr lang="vi-VN" sz="1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ống</a:t>
            </a:r>
            <a:r>
              <a:rPr lang="vi-VN" sz="1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hấp</a:t>
            </a:r>
            <a:r>
              <a:rPr lang="vi-VN" sz="1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thu</a:t>
            </a:r>
            <a:r>
              <a:rPr lang="vi-VN" sz="1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nhiệt</a:t>
            </a:r>
            <a:r>
              <a:rPr lang="vi-VN" sz="1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và</a:t>
            </a:r>
            <a:r>
              <a:rPr lang="vi-VN" sz="1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ánh</a:t>
            </a:r>
            <a:r>
              <a:rPr lang="vi-VN" sz="1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sáng dễ</a:t>
            </a:r>
            <a:r>
              <a:rPr lang="vi-VN" sz="14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dàng</a:t>
            </a:r>
            <a:r>
              <a:rPr lang="vi-VN" sz="1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nhưng</a:t>
            </a:r>
            <a:r>
              <a:rPr lang="vi-VN" sz="1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lại</a:t>
            </a:r>
            <a:r>
              <a:rPr lang="vi-VN" sz="1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hạn</a:t>
            </a:r>
            <a:r>
              <a:rPr lang="vi-VN" sz="1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chế</a:t>
            </a:r>
            <a:r>
              <a:rPr lang="vi-VN" sz="1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tối</a:t>
            </a:r>
            <a:r>
              <a:rPr lang="vi-VN" sz="1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đa</a:t>
            </a:r>
            <a:r>
              <a:rPr lang="vi-VN" sz="1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phản</a:t>
            </a:r>
            <a:r>
              <a:rPr lang="vi-VN" sz="1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lại</a:t>
            </a:r>
            <a:r>
              <a:rPr lang="vi-VN" sz="14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ra</a:t>
            </a:r>
            <a:r>
              <a:rPr lang="vi-VN" sz="1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ngoài</a:t>
            </a:r>
            <a:r>
              <a:rPr lang="vi-VN" sz="1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môi</a:t>
            </a:r>
            <a:r>
              <a:rPr lang="vi-VN" sz="1400" spc="-10" dirty="0">
                <a:latin typeface="Calibri" panose="020F0502020204030204"/>
                <a:cs typeface="Calibri" panose="020F0502020204030204"/>
              </a:rPr>
              <a:t> trường.</a:t>
            </a:r>
            <a:endParaRPr lang="vi-VN" sz="1400" dirty="0">
              <a:latin typeface="Calibri" panose="020F0502020204030204"/>
              <a:cs typeface="Calibri" panose="020F0502020204030204"/>
            </a:endParaRPr>
          </a:p>
          <a:p>
            <a:pPr marL="12700" marR="58420" indent="74930">
              <a:lnSpc>
                <a:spcPct val="110000"/>
              </a:lnSpc>
              <a:spcBef>
                <a:spcPts val="790"/>
              </a:spcBef>
              <a:buChar char="-"/>
              <a:tabLst>
                <a:tab pos="87630" algn="l"/>
              </a:tabLst>
            </a:pPr>
            <a:r>
              <a:rPr lang="vi-VN" sz="1400" dirty="0">
                <a:latin typeface="Calibri" panose="020F0502020204030204"/>
                <a:cs typeface="Calibri" panose="020F0502020204030204"/>
              </a:rPr>
              <a:t>(3), (4) Lớp</a:t>
            </a:r>
            <a:r>
              <a:rPr lang="vi-VN" sz="1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hấp</a:t>
            </a:r>
            <a:r>
              <a:rPr lang="vi-VN" sz="1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thụ</a:t>
            </a:r>
            <a:r>
              <a:rPr lang="vi-VN" sz="1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nhiệt</a:t>
            </a:r>
            <a:r>
              <a:rPr lang="vi-VN" sz="1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một</a:t>
            </a:r>
            <a:r>
              <a:rPr lang="vi-VN" sz="1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cách</a:t>
            </a:r>
            <a:r>
              <a:rPr lang="vi-VN" sz="1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tối</a:t>
            </a:r>
            <a:r>
              <a:rPr lang="vi-VN" sz="1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đa.</a:t>
            </a:r>
            <a:r>
              <a:rPr lang="vi-VN" sz="1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Ở</a:t>
            </a:r>
            <a:r>
              <a:rPr lang="vi-VN" sz="1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lớp</a:t>
            </a:r>
            <a:r>
              <a:rPr lang="vi-VN" sz="1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này</a:t>
            </a:r>
            <a:r>
              <a:rPr lang="vi-VN" sz="1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các</a:t>
            </a:r>
            <a:r>
              <a:rPr lang="vi-VN" sz="14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nhà</a:t>
            </a:r>
            <a:r>
              <a:rPr lang="vi-VN" sz="1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sản</a:t>
            </a:r>
            <a:r>
              <a:rPr lang="vi-VN" sz="1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xuất</a:t>
            </a:r>
            <a:r>
              <a:rPr lang="vi-VN" sz="1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thường</a:t>
            </a:r>
            <a:r>
              <a:rPr lang="vi-VN" sz="1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sử</a:t>
            </a:r>
            <a:r>
              <a:rPr lang="vi-VN" sz="1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dụng</a:t>
            </a:r>
            <a:r>
              <a:rPr lang="vi-VN" sz="1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hợp</a:t>
            </a:r>
            <a:r>
              <a:rPr lang="vi-VN" sz="1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kim</a:t>
            </a:r>
            <a:r>
              <a:rPr lang="vi-VN" sz="14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của</a:t>
            </a:r>
            <a:r>
              <a:rPr lang="vi-VN" sz="14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nhôm</a:t>
            </a:r>
            <a:r>
              <a:rPr lang="vi-VN" sz="1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nhằm</a:t>
            </a:r>
            <a:r>
              <a:rPr lang="vi-VN" sz="1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hấp</a:t>
            </a:r>
            <a:r>
              <a:rPr lang="vi-VN" sz="1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thụ</a:t>
            </a:r>
            <a:r>
              <a:rPr lang="vi-VN" sz="1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spc="-10" dirty="0">
                <a:latin typeface="Calibri" panose="020F0502020204030204"/>
                <a:cs typeface="Calibri" panose="020F0502020204030204"/>
              </a:rPr>
              <a:t>nhiệt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tối</a:t>
            </a:r>
            <a:r>
              <a:rPr lang="vi-VN" sz="14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đa</a:t>
            </a:r>
            <a:r>
              <a:rPr lang="vi-VN" sz="1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giúp</a:t>
            </a:r>
            <a:r>
              <a:rPr lang="vi-VN" sz="1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làm</a:t>
            </a:r>
            <a:r>
              <a:rPr lang="vi-VN" sz="1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nóng</a:t>
            </a:r>
            <a:r>
              <a:rPr lang="vi-VN" sz="14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nước</a:t>
            </a:r>
            <a:r>
              <a:rPr lang="vi-VN" sz="1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nhanh</a:t>
            </a:r>
            <a:r>
              <a:rPr lang="vi-VN" sz="1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spc="-20" dirty="0">
                <a:latin typeface="Calibri" panose="020F0502020204030204"/>
                <a:cs typeface="Calibri" panose="020F0502020204030204"/>
              </a:rPr>
              <a:t>hơn.</a:t>
            </a:r>
            <a:endParaRPr lang="vi-VN" sz="1400" dirty="0">
              <a:latin typeface="Calibri" panose="020F0502020204030204"/>
              <a:cs typeface="Calibri" panose="020F0502020204030204"/>
            </a:endParaRPr>
          </a:p>
          <a:p>
            <a:pPr marL="12700" marR="193675" indent="74930">
              <a:lnSpc>
                <a:spcPct val="110000"/>
              </a:lnSpc>
              <a:spcBef>
                <a:spcPts val="795"/>
              </a:spcBef>
              <a:buChar char="-"/>
              <a:tabLst>
                <a:tab pos="87630" algn="l"/>
              </a:tabLst>
            </a:pPr>
            <a:r>
              <a:rPr lang="vi-VN" sz="1400" dirty="0">
                <a:latin typeface="Calibri" panose="020F0502020204030204"/>
                <a:cs typeface="Calibri" panose="020F0502020204030204"/>
              </a:rPr>
              <a:t>(5) Lớp</a:t>
            </a:r>
            <a:r>
              <a:rPr lang="vi-VN" sz="14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truyền</a:t>
            </a:r>
            <a:r>
              <a:rPr lang="vi-VN" sz="1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nhiệt</a:t>
            </a:r>
            <a:r>
              <a:rPr lang="vi-VN" sz="1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là</a:t>
            </a:r>
            <a:r>
              <a:rPr lang="vi-VN" sz="1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lớp</a:t>
            </a:r>
            <a:r>
              <a:rPr lang="vi-VN" sz="1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thường</a:t>
            </a:r>
            <a:r>
              <a:rPr lang="vi-VN" sz="1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được</a:t>
            </a:r>
            <a:r>
              <a:rPr lang="vi-VN" sz="1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sử</a:t>
            </a:r>
            <a:r>
              <a:rPr lang="vi-VN" sz="1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dụng</a:t>
            </a:r>
            <a:r>
              <a:rPr lang="vi-VN" sz="1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bằng</a:t>
            </a:r>
            <a:r>
              <a:rPr lang="vi-VN" sz="1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đồng,</a:t>
            </a:r>
            <a:r>
              <a:rPr lang="vi-VN" sz="1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giúp</a:t>
            </a:r>
            <a:r>
              <a:rPr lang="vi-VN" sz="1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truyền</a:t>
            </a:r>
            <a:r>
              <a:rPr lang="vi-VN" sz="1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nhiệt</a:t>
            </a:r>
            <a:r>
              <a:rPr lang="vi-VN" sz="14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từ</a:t>
            </a:r>
            <a:r>
              <a:rPr lang="vi-VN" sz="1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bên</a:t>
            </a:r>
            <a:r>
              <a:rPr lang="vi-VN" sz="1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ngoài</a:t>
            </a:r>
            <a:r>
              <a:rPr lang="vi-VN" sz="1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vào</a:t>
            </a:r>
            <a:r>
              <a:rPr lang="vi-VN" sz="1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bên</a:t>
            </a:r>
            <a:r>
              <a:rPr lang="vi-VN" sz="1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trong</a:t>
            </a:r>
            <a:r>
              <a:rPr lang="vi-VN" sz="1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để</a:t>
            </a:r>
            <a:r>
              <a:rPr lang="vi-VN" sz="1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làm</a:t>
            </a:r>
            <a:r>
              <a:rPr lang="vi-VN" sz="1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spc="-20" dirty="0">
                <a:latin typeface="Calibri" panose="020F0502020204030204"/>
                <a:cs typeface="Calibri" panose="020F0502020204030204"/>
              </a:rPr>
              <a:t>nóng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nước</a:t>
            </a:r>
            <a:r>
              <a:rPr lang="vi-VN" sz="1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hiệu</a:t>
            </a:r>
            <a:r>
              <a:rPr lang="vi-VN" sz="1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quả</a:t>
            </a:r>
            <a:r>
              <a:rPr lang="vi-VN" sz="1400" spc="-20" dirty="0">
                <a:latin typeface="Calibri" panose="020F0502020204030204"/>
                <a:cs typeface="Calibri" panose="020F0502020204030204"/>
              </a:rPr>
              <a:t> hơn.</a:t>
            </a:r>
            <a:endParaRPr lang="vi-VN" sz="1400" dirty="0">
              <a:latin typeface="Calibri" panose="020F0502020204030204"/>
              <a:cs typeface="Calibri" panose="020F0502020204030204"/>
            </a:endParaRPr>
          </a:p>
          <a:p>
            <a:pPr marL="12700" marR="112395" indent="74930">
              <a:lnSpc>
                <a:spcPct val="110000"/>
              </a:lnSpc>
              <a:spcBef>
                <a:spcPts val="810"/>
              </a:spcBef>
              <a:buChar char="-"/>
              <a:tabLst>
                <a:tab pos="87630" algn="l"/>
              </a:tabLst>
            </a:pPr>
            <a:r>
              <a:rPr lang="vi-VN" sz="1400" dirty="0">
                <a:latin typeface="Calibri" panose="020F0502020204030204"/>
                <a:cs typeface="Calibri" panose="020F0502020204030204"/>
              </a:rPr>
              <a:t>Bên</a:t>
            </a:r>
            <a:r>
              <a:rPr lang="vi-VN" sz="14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trong</a:t>
            </a:r>
            <a:r>
              <a:rPr lang="vi-VN" sz="1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ống</a:t>
            </a:r>
            <a:r>
              <a:rPr lang="vi-VN" sz="1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chân</a:t>
            </a:r>
            <a:r>
              <a:rPr lang="vi-VN" sz="1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không</a:t>
            </a:r>
            <a:r>
              <a:rPr lang="vi-VN" sz="1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thu</a:t>
            </a:r>
            <a:r>
              <a:rPr lang="vi-VN" sz="1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nhiệt</a:t>
            </a:r>
            <a:r>
              <a:rPr lang="vi-VN" sz="1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của</a:t>
            </a:r>
            <a:r>
              <a:rPr lang="vi-VN" sz="1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máy</a:t>
            </a:r>
            <a:r>
              <a:rPr lang="vi-VN" sz="1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năng</a:t>
            </a:r>
            <a:r>
              <a:rPr lang="vi-VN" sz="1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lượng</a:t>
            </a:r>
            <a:r>
              <a:rPr lang="vi-VN" sz="14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mặt</a:t>
            </a:r>
            <a:r>
              <a:rPr lang="vi-VN" sz="1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trời</a:t>
            </a:r>
            <a:r>
              <a:rPr lang="vi-VN" sz="1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ống</a:t>
            </a:r>
            <a:r>
              <a:rPr lang="vi-VN" sz="1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dầu</a:t>
            </a:r>
            <a:r>
              <a:rPr lang="vi-VN" sz="1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sẽ</a:t>
            </a:r>
            <a:r>
              <a:rPr lang="vi-VN" sz="1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chứa</a:t>
            </a:r>
            <a:r>
              <a:rPr lang="vi-VN" sz="1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dầu</a:t>
            </a:r>
            <a:r>
              <a:rPr lang="vi-VN" sz="1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thay</a:t>
            </a:r>
            <a:r>
              <a:rPr lang="vi-VN" sz="1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vì</a:t>
            </a:r>
            <a:r>
              <a:rPr lang="vi-VN" sz="1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nước</a:t>
            </a:r>
            <a:r>
              <a:rPr lang="vi-VN" sz="1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–</a:t>
            </a:r>
            <a:r>
              <a:rPr lang="vi-VN" sz="1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một</a:t>
            </a:r>
            <a:r>
              <a:rPr lang="vi-VN" sz="1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loại</a:t>
            </a:r>
            <a:r>
              <a:rPr lang="vi-VN" sz="1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spc="-20" dirty="0">
                <a:latin typeface="Calibri" panose="020F0502020204030204"/>
                <a:cs typeface="Calibri" panose="020F0502020204030204"/>
              </a:rPr>
              <a:t>dung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môi</a:t>
            </a:r>
            <a:r>
              <a:rPr lang="vi-VN" sz="1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trung</a:t>
            </a:r>
            <a:r>
              <a:rPr lang="vi-VN" sz="1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gian</a:t>
            </a:r>
            <a:r>
              <a:rPr lang="vi-VN" sz="1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có</a:t>
            </a:r>
            <a:r>
              <a:rPr lang="vi-VN" sz="1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nhiệt</a:t>
            </a:r>
            <a:r>
              <a:rPr lang="vi-VN" sz="1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độ</a:t>
            </a:r>
            <a:r>
              <a:rPr lang="vi-VN" sz="1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sôi</a:t>
            </a:r>
            <a:r>
              <a:rPr lang="vi-VN" sz="1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thấp</a:t>
            </a:r>
            <a:r>
              <a:rPr lang="vi-VN" sz="1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hơn</a:t>
            </a:r>
            <a:r>
              <a:rPr lang="vi-VN" sz="1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nhiều</a:t>
            </a:r>
            <a:r>
              <a:rPr lang="vi-VN" sz="1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so</a:t>
            </a:r>
            <a:r>
              <a:rPr lang="vi-VN" sz="1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với</a:t>
            </a:r>
            <a:r>
              <a:rPr lang="vi-VN" sz="1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nước.</a:t>
            </a:r>
            <a:r>
              <a:rPr lang="vi-VN" sz="1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dung</a:t>
            </a:r>
            <a:r>
              <a:rPr lang="vi-VN" sz="1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môi</a:t>
            </a:r>
            <a:r>
              <a:rPr lang="vi-VN" sz="1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này</a:t>
            </a:r>
            <a:r>
              <a:rPr lang="vi-VN" sz="1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sẽ</a:t>
            </a:r>
            <a:r>
              <a:rPr lang="vi-VN" sz="1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hấp</a:t>
            </a:r>
            <a:r>
              <a:rPr lang="vi-VN" sz="1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thụ</a:t>
            </a:r>
            <a:r>
              <a:rPr lang="vi-VN" sz="1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nhiệt</a:t>
            </a:r>
            <a:r>
              <a:rPr lang="vi-VN" sz="14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từ</a:t>
            </a:r>
            <a:r>
              <a:rPr lang="vi-VN" sz="1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ánh</a:t>
            </a:r>
            <a:r>
              <a:rPr lang="vi-VN" sz="1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nắng</a:t>
            </a:r>
            <a:r>
              <a:rPr lang="vi-VN" sz="1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mặt</a:t>
            </a:r>
            <a:r>
              <a:rPr lang="vi-VN" sz="1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trời</a:t>
            </a:r>
            <a:r>
              <a:rPr lang="vi-VN" sz="1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rồi</a:t>
            </a:r>
            <a:r>
              <a:rPr lang="vi-VN" sz="1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spc="-25" dirty="0">
                <a:latin typeface="Calibri" panose="020F0502020204030204"/>
                <a:cs typeface="Calibri" panose="020F0502020204030204"/>
              </a:rPr>
              <a:t>bay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hơi</a:t>
            </a:r>
            <a:r>
              <a:rPr lang="vi-VN" sz="14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lên</a:t>
            </a:r>
            <a:r>
              <a:rPr lang="vi-VN" sz="1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phía</a:t>
            </a:r>
            <a:r>
              <a:rPr lang="vi-VN" sz="1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trên</a:t>
            </a:r>
            <a:r>
              <a:rPr lang="vi-VN" sz="1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đầu</a:t>
            </a:r>
            <a:r>
              <a:rPr lang="vi-VN" sz="1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ống</a:t>
            </a:r>
            <a:r>
              <a:rPr lang="vi-VN" sz="1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kín</a:t>
            </a:r>
            <a:r>
              <a:rPr lang="vi-VN" sz="1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bằng</a:t>
            </a:r>
            <a:r>
              <a:rPr lang="vi-VN" sz="1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thủy</a:t>
            </a:r>
            <a:r>
              <a:rPr lang="vi-VN" sz="1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tinh</a:t>
            </a:r>
            <a:r>
              <a:rPr lang="vi-VN" sz="1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và</a:t>
            </a:r>
            <a:r>
              <a:rPr lang="vi-VN" sz="1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truyền</a:t>
            </a:r>
            <a:r>
              <a:rPr lang="vi-VN" sz="1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nhiệt</a:t>
            </a:r>
            <a:r>
              <a:rPr lang="vi-VN" sz="1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cho</a:t>
            </a:r>
            <a:r>
              <a:rPr lang="vi-VN" sz="1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nước</a:t>
            </a:r>
            <a:r>
              <a:rPr lang="vi-VN" sz="1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bên</a:t>
            </a:r>
            <a:r>
              <a:rPr lang="vi-VN" sz="1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trong</a:t>
            </a:r>
            <a:r>
              <a:rPr lang="vi-VN" sz="1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bình</a:t>
            </a:r>
            <a:r>
              <a:rPr lang="vi-VN" sz="1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dirty="0">
                <a:latin typeface="Calibri" panose="020F0502020204030204"/>
                <a:cs typeface="Calibri" panose="020F0502020204030204"/>
              </a:rPr>
              <a:t>bảo</a:t>
            </a:r>
            <a:r>
              <a:rPr lang="vi-VN" sz="1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400" spc="-25" dirty="0">
                <a:latin typeface="Calibri" panose="020F0502020204030204"/>
                <a:cs typeface="Calibri" panose="020F0502020204030204"/>
              </a:rPr>
              <a:t>ôn.</a:t>
            </a:r>
            <a:endParaRPr lang="vi-VN" sz="1400" dirty="0">
              <a:latin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35999446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7A88F69-2B08-1ACD-FF21-F7ACC1DF5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sz="4000" b="1" dirty="0">
                <a:latin typeface="VNF-Caviar Dreams" panose="02000503020000020003" pitchFamily="2" charset="0"/>
              </a:rPr>
              <a:t>NGUYÊN LÝ ỐNG CHÂN KHÔNG THU NHIỆT</a:t>
            </a:r>
            <a:endParaRPr lang="vi-VN" sz="4000" dirty="0"/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F902E244-4649-8977-6E6C-2B249BB47C9B}"/>
              </a:ext>
            </a:extLst>
          </p:cNvPr>
          <p:cNvSpPr txBox="1"/>
          <p:nvPr/>
        </p:nvSpPr>
        <p:spPr>
          <a:xfrm>
            <a:off x="3364107" y="3244334"/>
            <a:ext cx="5524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Mời các </a:t>
            </a:r>
            <a:r>
              <a:rPr lang="vi-VN"/>
              <a:t>bạn và thầy cô </a:t>
            </a:r>
            <a:r>
              <a:rPr lang="vi-VN" dirty="0"/>
              <a:t>xem đoạn </a:t>
            </a:r>
            <a:r>
              <a:rPr lang="vi-VN" dirty="0" err="1"/>
              <a:t>clip</a:t>
            </a:r>
            <a:r>
              <a:rPr lang="vi-VN" dirty="0"/>
              <a:t> ngay sau đây:</a:t>
            </a:r>
          </a:p>
        </p:txBody>
      </p:sp>
    </p:spTree>
    <p:extLst>
      <p:ext uri="{BB962C8B-B14F-4D97-AF65-F5344CB8AC3E}">
        <p14:creationId xmlns:p14="http://schemas.microsoft.com/office/powerpoint/2010/main" val="276081607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1">
            <a:hlinkClick r:id="" action="ppaction://media"/>
            <a:extLst>
              <a:ext uri="{FF2B5EF4-FFF2-40B4-BE49-F238E27FC236}">
                <a16:creationId xmlns:a16="http://schemas.microsoft.com/office/drawing/2014/main" id="{12A3F686-DEFA-B1A6-425A-FFCE1BE844D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2284" y="0"/>
            <a:ext cx="11287432" cy="6349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21263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729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67FB8E1B-23AA-5473-6273-39E0C35172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3059" y="557707"/>
            <a:ext cx="10585409" cy="459439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vi-VN" sz="2000" b="1" dirty="0">
                <a:latin typeface="Calibri" panose="020F0502020204030204"/>
                <a:cs typeface="Calibri" panose="020F0502020204030204"/>
              </a:rPr>
              <a:t>Hoạt</a:t>
            </a:r>
            <a:r>
              <a:rPr lang="vi-VN" sz="2000" b="1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động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của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máy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nước</a:t>
            </a:r>
            <a:r>
              <a:rPr lang="vi-VN" sz="20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nóng</a:t>
            </a:r>
            <a:r>
              <a:rPr lang="vi-VN" sz="20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năng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lượng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mặt</a:t>
            </a:r>
            <a:r>
              <a:rPr lang="vi-VN" sz="20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trời</a:t>
            </a:r>
            <a:r>
              <a:rPr lang="vi-VN" sz="2000" b="1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ống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thu</a:t>
            </a:r>
            <a:r>
              <a:rPr lang="vi-VN" sz="2000" b="1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nhiệt</a:t>
            </a:r>
            <a:r>
              <a:rPr lang="vi-VN" sz="2000" b="1" spc="-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ống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dầu</a:t>
            </a:r>
            <a:r>
              <a:rPr lang="vi-VN" sz="20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khá</a:t>
            </a:r>
            <a:r>
              <a:rPr lang="vi-VN" sz="20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đặc</a:t>
            </a:r>
            <a:r>
              <a:rPr lang="vi-VN" sz="20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biệt,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nước</a:t>
            </a:r>
            <a:r>
              <a:rPr lang="vi-VN" sz="20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được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chảy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trực</a:t>
            </a:r>
            <a:r>
              <a:rPr lang="vi-VN" sz="20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tiếp</a:t>
            </a:r>
            <a:r>
              <a:rPr lang="vi-VN" sz="2000" b="1" spc="-25" dirty="0">
                <a:latin typeface="Calibri" panose="020F0502020204030204"/>
                <a:cs typeface="Calibri" panose="020F0502020204030204"/>
              </a:rPr>
              <a:t> vào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trong</a:t>
            </a:r>
            <a:r>
              <a:rPr lang="vi-VN" sz="2000" b="1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bình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bảo</a:t>
            </a:r>
            <a:r>
              <a:rPr lang="vi-VN" sz="20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ôn</a:t>
            </a:r>
            <a:r>
              <a:rPr lang="vi-VN" sz="2000" b="1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chứ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không</a:t>
            </a:r>
            <a:r>
              <a:rPr lang="vi-VN" sz="20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chảy</a:t>
            </a:r>
            <a:r>
              <a:rPr lang="vi-VN" sz="2000" b="1" spc="-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trực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tiếp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vào</a:t>
            </a:r>
            <a:r>
              <a:rPr lang="vi-VN" sz="2000" b="1" spc="-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trong</a:t>
            </a:r>
            <a:r>
              <a:rPr lang="vi-VN" sz="20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ống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năng</a:t>
            </a:r>
            <a:r>
              <a:rPr lang="vi-VN" sz="20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lượng.</a:t>
            </a:r>
            <a:r>
              <a:rPr lang="vi-VN" sz="20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Hoạt</a:t>
            </a:r>
            <a:r>
              <a:rPr lang="vi-VN" sz="20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động</a:t>
            </a:r>
            <a:r>
              <a:rPr lang="vi-VN" sz="20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theo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nguyên</a:t>
            </a:r>
            <a:r>
              <a:rPr lang="vi-VN" sz="20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lý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đối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lưu</a:t>
            </a:r>
            <a:r>
              <a:rPr lang="vi-VN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nhiệt</a:t>
            </a:r>
            <a:r>
              <a:rPr lang="vi-VN" sz="20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tự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spc="-10" dirty="0">
                <a:latin typeface="Calibri" panose="020F0502020204030204"/>
                <a:cs typeface="Calibri" panose="020F0502020204030204"/>
              </a:rPr>
              <a:t>nhiên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và</a:t>
            </a:r>
            <a:r>
              <a:rPr lang="vi-VN" sz="2000" b="1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hiện</a:t>
            </a:r>
            <a:r>
              <a:rPr lang="vi-VN" sz="20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tượng</a:t>
            </a:r>
            <a:r>
              <a:rPr lang="vi-VN" sz="20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hiệu</a:t>
            </a:r>
            <a:r>
              <a:rPr lang="vi-VN" sz="20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ứng</a:t>
            </a:r>
            <a:r>
              <a:rPr lang="vi-VN" sz="20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lồng</a:t>
            </a:r>
            <a:r>
              <a:rPr lang="vi-VN" sz="20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kính,</a:t>
            </a:r>
            <a:r>
              <a:rPr lang="vi-VN" sz="2000" b="1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giúp</a:t>
            </a:r>
            <a:r>
              <a:rPr lang="vi-VN" sz="2000" b="1" spc="-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biến</a:t>
            </a:r>
            <a:r>
              <a:rPr lang="vi-VN" sz="20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đổi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quang</a:t>
            </a:r>
            <a:r>
              <a:rPr lang="vi-VN" sz="20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năng</a:t>
            </a:r>
            <a:r>
              <a:rPr lang="vi-VN" sz="20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thành</a:t>
            </a:r>
            <a:r>
              <a:rPr lang="vi-VN" sz="2000" b="1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nhiệt</a:t>
            </a:r>
            <a:r>
              <a:rPr lang="vi-VN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spc="-10" dirty="0">
                <a:latin typeface="Calibri" panose="020F0502020204030204"/>
                <a:cs typeface="Calibri" panose="020F0502020204030204"/>
              </a:rPr>
              <a:t>năng.</a:t>
            </a:r>
            <a:endParaRPr lang="vi-VN" sz="2000" b="1" dirty="0">
              <a:latin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00000"/>
              </a:lnSpc>
              <a:spcBef>
                <a:spcPts val="105"/>
              </a:spcBef>
              <a:buNone/>
            </a:pPr>
            <a:r>
              <a:rPr lang="vi-VN" sz="2000" b="1" dirty="0">
                <a:latin typeface="Calibri" panose="020F0502020204030204"/>
                <a:cs typeface="Calibri" panose="020F0502020204030204"/>
              </a:rPr>
              <a:t>Sau</a:t>
            </a:r>
            <a:r>
              <a:rPr lang="vi-VN" sz="2000" b="1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khi</a:t>
            </a:r>
            <a:r>
              <a:rPr lang="vi-VN" sz="2000" b="1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nước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được</a:t>
            </a:r>
            <a:r>
              <a:rPr lang="vi-VN" sz="20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cấp</a:t>
            </a:r>
            <a:r>
              <a:rPr lang="vi-VN" sz="20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vào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bồn</a:t>
            </a:r>
            <a:r>
              <a:rPr lang="vi-VN" sz="20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chứa,</a:t>
            </a:r>
            <a:r>
              <a:rPr lang="vi-VN" sz="20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nước</a:t>
            </a:r>
            <a:r>
              <a:rPr lang="vi-VN" sz="2000" b="1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sẽ</a:t>
            </a:r>
            <a:r>
              <a:rPr lang="vi-VN" sz="2000" b="1" spc="-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không</a:t>
            </a:r>
            <a:r>
              <a:rPr lang="vi-VN" sz="2000" b="1" spc="-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thể</a:t>
            </a:r>
            <a:r>
              <a:rPr lang="vi-VN" sz="20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chảy</a:t>
            </a:r>
            <a:r>
              <a:rPr lang="vi-VN" sz="20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xuống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ống</a:t>
            </a:r>
            <a:r>
              <a:rPr lang="vi-VN" sz="20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mà</a:t>
            </a:r>
            <a:r>
              <a:rPr lang="vi-VN" sz="20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nguyên</a:t>
            </a:r>
            <a:r>
              <a:rPr lang="vi-VN" sz="20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tại</a:t>
            </a:r>
            <a:r>
              <a:rPr lang="vi-VN" sz="2000" b="1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bình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spc="-10" dirty="0">
                <a:latin typeface="Calibri" panose="020F0502020204030204"/>
                <a:cs typeface="Calibri" panose="020F0502020204030204"/>
              </a:rPr>
              <a:t>chứa.</a:t>
            </a:r>
            <a:endParaRPr lang="vi-VN" sz="2000" b="1" dirty="0">
              <a:latin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00000"/>
              </a:lnSpc>
              <a:spcBef>
                <a:spcPts val="925"/>
              </a:spcBef>
              <a:buNone/>
            </a:pPr>
            <a:r>
              <a:rPr lang="vi-VN" sz="2000" b="1" dirty="0">
                <a:latin typeface="Calibri" panose="020F0502020204030204"/>
                <a:cs typeface="Calibri" panose="020F0502020204030204"/>
              </a:rPr>
              <a:t>Lúc</a:t>
            </a:r>
            <a:r>
              <a:rPr lang="vi-VN" sz="20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chưa</a:t>
            </a:r>
            <a:r>
              <a:rPr lang="vi-VN" sz="2000" b="1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có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ánh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nắng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mặt</a:t>
            </a:r>
            <a:r>
              <a:rPr lang="vi-VN" sz="2000" b="1" spc="-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trời</a:t>
            </a:r>
            <a:r>
              <a:rPr lang="vi-VN" sz="20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thì</a:t>
            </a:r>
            <a:r>
              <a:rPr lang="vi-VN" sz="20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nhiệt</a:t>
            </a:r>
            <a:r>
              <a:rPr lang="vi-VN" sz="20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độ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của</a:t>
            </a:r>
            <a:r>
              <a:rPr lang="vi-VN" sz="20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dầu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bên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trong</a:t>
            </a:r>
            <a:r>
              <a:rPr lang="vi-VN" sz="2000" b="1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ống</a:t>
            </a:r>
            <a:r>
              <a:rPr lang="vi-VN" sz="2000" b="1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sẽ</a:t>
            </a:r>
            <a:r>
              <a:rPr lang="vi-VN" sz="2000" b="1" spc="-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bằng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với</a:t>
            </a:r>
            <a:r>
              <a:rPr lang="vi-VN" sz="20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nhiệt</a:t>
            </a:r>
            <a:r>
              <a:rPr lang="vi-VN" sz="20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độ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của</a:t>
            </a:r>
            <a:r>
              <a:rPr lang="vi-VN" sz="20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nước</a:t>
            </a:r>
            <a:r>
              <a:rPr lang="vi-VN" sz="20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trong</a:t>
            </a:r>
            <a:r>
              <a:rPr lang="vi-VN" sz="2000" b="1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bồn</a:t>
            </a:r>
            <a:r>
              <a:rPr lang="vi-VN" sz="2000" b="1" spc="-10" dirty="0">
                <a:latin typeface="Calibri" panose="020F0502020204030204"/>
                <a:cs typeface="Calibri" panose="020F0502020204030204"/>
              </a:rPr>
              <a:t> chứa.</a:t>
            </a:r>
            <a:endParaRPr lang="vi-VN" sz="2000" b="1" dirty="0">
              <a:latin typeface="Calibri" panose="020F0502020204030204"/>
              <a:cs typeface="Calibri" panose="020F0502020204030204"/>
            </a:endParaRPr>
          </a:p>
          <a:p>
            <a:pPr marL="12700" marR="5080" indent="0">
              <a:lnSpc>
                <a:spcPct val="110000"/>
              </a:lnSpc>
              <a:spcBef>
                <a:spcPts val="805"/>
              </a:spcBef>
              <a:buNone/>
            </a:pPr>
            <a:r>
              <a:rPr lang="vi-VN" sz="2000" b="1" dirty="0">
                <a:latin typeface="Calibri" panose="020F0502020204030204"/>
                <a:cs typeface="Calibri" panose="020F0502020204030204"/>
              </a:rPr>
              <a:t>Khi</a:t>
            </a:r>
            <a:r>
              <a:rPr lang="vi-VN" sz="20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ánh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nắng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mặt</a:t>
            </a:r>
            <a:r>
              <a:rPr lang="vi-VN" sz="2000" b="1" spc="-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trời</a:t>
            </a:r>
            <a:r>
              <a:rPr lang="vi-VN" sz="2000" b="1" spc="-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lên,</a:t>
            </a:r>
            <a:r>
              <a:rPr lang="vi-VN" sz="20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các</a:t>
            </a:r>
            <a:r>
              <a:rPr lang="vi-VN" sz="20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ống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thủy</a:t>
            </a:r>
            <a:r>
              <a:rPr lang="vi-VN" sz="20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tinh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có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tính năng</a:t>
            </a:r>
            <a:r>
              <a:rPr lang="vi-VN" sz="20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hấp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thụ</a:t>
            </a:r>
            <a:r>
              <a:rPr lang="vi-VN" sz="2000" b="1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nhiệt</a:t>
            </a:r>
            <a:r>
              <a:rPr lang="vi-VN" sz="2000" b="1" spc="-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cao</a:t>
            </a:r>
            <a:r>
              <a:rPr lang="vi-VN" sz="20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do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có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chất</a:t>
            </a:r>
            <a:r>
              <a:rPr lang="vi-VN" sz="20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liệu</a:t>
            </a:r>
            <a:r>
              <a:rPr lang="vi-VN" sz="20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hấp</a:t>
            </a:r>
            <a:r>
              <a:rPr lang="vi-VN" sz="2000" b="1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thụ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nhiệt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có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tỉ</a:t>
            </a:r>
            <a:r>
              <a:rPr lang="vi-VN" sz="20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lệ</a:t>
            </a:r>
            <a:r>
              <a:rPr lang="vi-VN" sz="20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phát </a:t>
            </a:r>
            <a:r>
              <a:rPr lang="vi-VN" sz="2000" b="1" spc="-25" dirty="0">
                <a:latin typeface="Calibri" panose="020F0502020204030204"/>
                <a:cs typeface="Calibri" panose="020F0502020204030204"/>
              </a:rPr>
              <a:t>xạ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thấp</a:t>
            </a:r>
            <a:r>
              <a:rPr lang="vi-VN" sz="2000" b="1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sẽ</a:t>
            </a:r>
            <a:r>
              <a:rPr lang="vi-VN" sz="2000" b="1" spc="-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hấp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thụ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bức</a:t>
            </a:r>
            <a:r>
              <a:rPr lang="vi-VN" sz="20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xạ</a:t>
            </a:r>
            <a:r>
              <a:rPr lang="vi-VN" sz="20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ánh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sáng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mặt</a:t>
            </a:r>
            <a:r>
              <a:rPr lang="vi-VN" sz="20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trời</a:t>
            </a:r>
            <a:r>
              <a:rPr lang="vi-VN" sz="2000" b="1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và</a:t>
            </a:r>
            <a:r>
              <a:rPr lang="vi-VN" sz="20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chuyển</a:t>
            </a:r>
            <a:r>
              <a:rPr lang="vi-VN" sz="2000" b="1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hóa</a:t>
            </a:r>
            <a:r>
              <a:rPr lang="vi-VN" sz="20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thành</a:t>
            </a:r>
            <a:r>
              <a:rPr lang="vi-VN" sz="20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nhiệt</a:t>
            </a:r>
            <a:r>
              <a:rPr lang="vi-VN" sz="2000" b="1" spc="-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năng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làm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nóng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lớp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thủy</a:t>
            </a:r>
            <a:r>
              <a:rPr lang="vi-VN" sz="2000" b="1" spc="-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tinh</a:t>
            </a:r>
            <a:r>
              <a:rPr lang="vi-VN" sz="2000" b="1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ngoài,</a:t>
            </a:r>
            <a:r>
              <a:rPr lang="vi-VN" sz="20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sau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đó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spc="-10" dirty="0">
                <a:latin typeface="Calibri" panose="020F0502020204030204"/>
                <a:cs typeface="Calibri" panose="020F0502020204030204"/>
              </a:rPr>
              <a:t>truyền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vào</a:t>
            </a:r>
            <a:r>
              <a:rPr lang="vi-VN" sz="2000" b="1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ống</a:t>
            </a:r>
            <a:r>
              <a:rPr lang="vi-VN" sz="2000" b="1" spc="-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dầu</a:t>
            </a:r>
            <a:r>
              <a:rPr lang="vi-VN" sz="2000" b="1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làm</a:t>
            </a:r>
            <a:r>
              <a:rPr lang="vi-VN" sz="20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ống</a:t>
            </a:r>
            <a:r>
              <a:rPr lang="vi-VN" sz="20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thủy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tinh</a:t>
            </a:r>
            <a:r>
              <a:rPr lang="vi-VN" sz="20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phía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trong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nóng</a:t>
            </a:r>
            <a:r>
              <a:rPr lang="vi-VN" sz="20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lên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và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truyền</a:t>
            </a:r>
            <a:r>
              <a:rPr lang="vi-VN" sz="20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nhiệt</a:t>
            </a:r>
            <a:r>
              <a:rPr lang="vi-VN" sz="2000" b="1" spc="-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lên</a:t>
            </a:r>
            <a:r>
              <a:rPr lang="vi-VN" sz="20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trên</a:t>
            </a:r>
            <a:r>
              <a:rPr lang="vi-VN" sz="20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bình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ngưng</a:t>
            </a:r>
            <a:r>
              <a:rPr lang="vi-VN" sz="20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ống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dầu</a:t>
            </a:r>
            <a:r>
              <a:rPr lang="vi-VN" sz="20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bằng</a:t>
            </a:r>
            <a:r>
              <a:rPr lang="vi-VN" sz="20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thủy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tinh</a:t>
            </a:r>
            <a:r>
              <a:rPr lang="vi-VN" sz="20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rồi</a:t>
            </a:r>
            <a:r>
              <a:rPr lang="vi-VN" sz="20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spc="-25" dirty="0">
                <a:latin typeface="Calibri" panose="020F0502020204030204"/>
                <a:cs typeface="Calibri" panose="020F0502020204030204"/>
              </a:rPr>
              <a:t>làm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nóng</a:t>
            </a:r>
            <a:r>
              <a:rPr lang="vi-VN" sz="2000" b="1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vào</a:t>
            </a:r>
            <a:r>
              <a:rPr lang="vi-VN" sz="2000" b="1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nước</a:t>
            </a:r>
            <a:r>
              <a:rPr lang="vi-VN" sz="20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chứa</a:t>
            </a:r>
            <a:r>
              <a:rPr lang="vi-VN" sz="20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bên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trong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bình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bảo</a:t>
            </a:r>
            <a:r>
              <a:rPr lang="vi-VN" sz="20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ôn.</a:t>
            </a:r>
            <a:r>
              <a:rPr lang="vi-VN" sz="20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Cụ thể,</a:t>
            </a:r>
            <a:r>
              <a:rPr lang="vi-VN" sz="20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lúc</a:t>
            </a:r>
            <a:r>
              <a:rPr lang="vi-VN" sz="20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này</a:t>
            </a:r>
            <a:r>
              <a:rPr lang="vi-VN" sz="20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hơi</a:t>
            </a:r>
            <a:r>
              <a:rPr lang="vi-VN" sz="2000" b="1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môi</a:t>
            </a:r>
            <a:r>
              <a:rPr lang="vi-VN" sz="20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chất</a:t>
            </a:r>
            <a:r>
              <a:rPr lang="vi-VN" sz="20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nóng lên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sẽ</a:t>
            </a:r>
            <a:r>
              <a:rPr lang="vi-VN" sz="20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di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chuyển</a:t>
            </a:r>
            <a:r>
              <a:rPr lang="vi-VN" sz="2000" b="1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lên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trên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ở</a:t>
            </a:r>
            <a:r>
              <a:rPr lang="vi-VN" sz="20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phần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ngưng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spc="-25" dirty="0">
                <a:latin typeface="Calibri" panose="020F0502020204030204"/>
                <a:cs typeface="Calibri" panose="020F0502020204030204"/>
              </a:rPr>
              <a:t>tụ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và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phần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hơi</a:t>
            </a:r>
            <a:r>
              <a:rPr lang="vi-VN" sz="20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môi</a:t>
            </a:r>
            <a:r>
              <a:rPr lang="vi-VN" sz="2000" b="1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nhả</a:t>
            </a:r>
            <a:r>
              <a:rPr lang="vi-VN" sz="20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nhiệt</a:t>
            </a:r>
            <a:r>
              <a:rPr lang="vi-VN" sz="2000" b="1" spc="-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sẽ</a:t>
            </a:r>
            <a:r>
              <a:rPr lang="vi-VN" sz="2000" b="1" spc="-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di</a:t>
            </a:r>
            <a:r>
              <a:rPr lang="vi-VN" sz="20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chuyển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xuống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dưới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về</a:t>
            </a:r>
            <a:r>
              <a:rPr lang="vi-VN" sz="2000" b="1" spc="-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phía</a:t>
            </a:r>
            <a:r>
              <a:rPr lang="vi-VN" sz="20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đáy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ống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theo</a:t>
            </a:r>
            <a:r>
              <a:rPr lang="vi-VN" sz="2000" b="1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nguyên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lí</a:t>
            </a:r>
            <a:r>
              <a:rPr lang="vi-VN" sz="20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đối</a:t>
            </a:r>
            <a:r>
              <a:rPr lang="vi-VN" sz="2000" b="1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lưu</a:t>
            </a:r>
            <a:r>
              <a:rPr lang="vi-VN" sz="2000" b="1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nhiệt,</a:t>
            </a:r>
            <a:r>
              <a:rPr lang="vi-VN" sz="20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quy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trình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cứ</a:t>
            </a:r>
            <a:r>
              <a:rPr lang="vi-VN" sz="20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diễn</a:t>
            </a:r>
            <a:r>
              <a:rPr lang="vi-VN" sz="20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spc="-25" dirty="0">
                <a:latin typeface="Calibri" panose="020F0502020204030204"/>
                <a:cs typeface="Calibri" panose="020F0502020204030204"/>
              </a:rPr>
              <a:t>ra</a:t>
            </a:r>
            <a:r>
              <a:rPr lang="vi-VN" sz="2000" b="1" spc="50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luân</a:t>
            </a:r>
            <a:r>
              <a:rPr lang="vi-VN" sz="2000" b="1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phiên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đến</a:t>
            </a:r>
            <a:r>
              <a:rPr lang="vi-VN" sz="20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khi</a:t>
            </a:r>
            <a:r>
              <a:rPr lang="vi-VN" sz="2000" b="1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nhiệt</a:t>
            </a:r>
            <a:r>
              <a:rPr lang="vi-VN" sz="2000" b="1" spc="-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độ</a:t>
            </a:r>
            <a:r>
              <a:rPr lang="vi-VN" sz="2000" b="1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trong</a:t>
            </a:r>
            <a:r>
              <a:rPr lang="vi-VN" sz="2000" b="1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bình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chứa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bằng với</a:t>
            </a:r>
            <a:r>
              <a:rPr lang="vi-VN" sz="20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nhiệt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độ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của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dầu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trong</a:t>
            </a:r>
            <a:r>
              <a:rPr lang="vi-VN" sz="2000" b="1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ống</a:t>
            </a:r>
            <a:r>
              <a:rPr lang="vi-VN" sz="20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thì</a:t>
            </a:r>
            <a:r>
              <a:rPr lang="vi-VN" sz="2000" b="1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quá</a:t>
            </a:r>
            <a:r>
              <a:rPr lang="vi-VN" sz="20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trình</a:t>
            </a:r>
            <a:r>
              <a:rPr lang="vi-VN" sz="20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này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kết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spc="-10" dirty="0">
                <a:latin typeface="Calibri" panose="020F0502020204030204"/>
                <a:cs typeface="Calibri" panose="020F0502020204030204"/>
              </a:rPr>
              <a:t>thúc.</a:t>
            </a:r>
            <a:endParaRPr lang="vi-VN" sz="2000" b="1" dirty="0">
              <a:latin typeface="Calibri" panose="020F0502020204030204"/>
              <a:cs typeface="Calibri" panose="020F0502020204030204"/>
            </a:endParaRPr>
          </a:p>
          <a:p>
            <a:pPr marL="12700" marR="138430" indent="0">
              <a:lnSpc>
                <a:spcPct val="109000"/>
              </a:lnSpc>
              <a:spcBef>
                <a:spcPts val="820"/>
              </a:spcBef>
              <a:buNone/>
            </a:pPr>
            <a:r>
              <a:rPr lang="vi-VN" sz="2000" b="1" dirty="0">
                <a:latin typeface="Calibri" panose="020F0502020204030204"/>
                <a:cs typeface="Calibri" panose="020F0502020204030204"/>
              </a:rPr>
              <a:t>Do</a:t>
            </a:r>
            <a:r>
              <a:rPr lang="vi-VN" sz="2000" b="1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ống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nhiệt</a:t>
            </a:r>
            <a:r>
              <a:rPr lang="vi-VN" sz="2000" b="1" spc="-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truyền</a:t>
            </a:r>
            <a:r>
              <a:rPr lang="vi-VN" sz="2000" b="1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nhiệt</a:t>
            </a:r>
            <a:r>
              <a:rPr lang="vi-VN" sz="2000" b="1" spc="-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thông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qua</a:t>
            </a:r>
            <a:r>
              <a:rPr lang="vi-VN" sz="20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trao</a:t>
            </a:r>
            <a:r>
              <a:rPr lang="vi-VN" sz="20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đổi</a:t>
            </a:r>
            <a:r>
              <a:rPr lang="vi-VN" sz="2000" b="1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nhiệt</a:t>
            </a:r>
            <a:r>
              <a:rPr lang="vi-VN" sz="2000" b="1" spc="-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của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dung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dịch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lỏng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nằm</a:t>
            </a:r>
            <a:r>
              <a:rPr lang="vi-VN" sz="20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bên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trong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ống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nhiệt(</a:t>
            </a:r>
            <a:r>
              <a:rPr lang="vi-VN" sz="2000" b="1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dầu),</a:t>
            </a:r>
            <a:r>
              <a:rPr lang="vi-VN" sz="20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theo</a:t>
            </a:r>
            <a:r>
              <a:rPr lang="vi-VN" sz="2000" b="1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đó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tốc</a:t>
            </a:r>
            <a:r>
              <a:rPr lang="vi-VN" sz="20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spc="-25" dirty="0">
                <a:latin typeface="Calibri" panose="020F0502020204030204"/>
                <a:cs typeface="Calibri" panose="020F0502020204030204"/>
              </a:rPr>
              <a:t>độ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truyền</a:t>
            </a:r>
            <a:r>
              <a:rPr lang="vi-VN" sz="20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nhiệt</a:t>
            </a:r>
            <a:r>
              <a:rPr lang="vi-VN" sz="2000" b="1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nhanh</a:t>
            </a:r>
            <a:r>
              <a:rPr lang="vi-VN" sz="20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gấp</a:t>
            </a:r>
            <a:r>
              <a:rPr lang="vi-VN" sz="2000" b="1" spc="2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nhiều</a:t>
            </a:r>
            <a:r>
              <a:rPr lang="vi-VN" sz="20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lần</a:t>
            </a:r>
            <a:r>
              <a:rPr lang="vi-VN" sz="2000" b="1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so</a:t>
            </a:r>
            <a:r>
              <a:rPr lang="vi-VN" sz="20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với</a:t>
            </a:r>
            <a:r>
              <a:rPr lang="vi-VN" sz="20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các</a:t>
            </a:r>
            <a:r>
              <a:rPr lang="vi-VN"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phương</a:t>
            </a:r>
            <a:r>
              <a:rPr lang="vi-VN" sz="20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pháp</a:t>
            </a:r>
            <a:r>
              <a:rPr lang="vi-VN" sz="20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truyền</a:t>
            </a:r>
            <a:r>
              <a:rPr lang="vi-VN" sz="20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nhiệt</a:t>
            </a:r>
            <a:r>
              <a:rPr lang="vi-VN" sz="20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dirty="0">
                <a:latin typeface="Calibri" panose="020F0502020204030204"/>
                <a:cs typeface="Calibri" panose="020F0502020204030204"/>
              </a:rPr>
              <a:t>thông</a:t>
            </a:r>
            <a:r>
              <a:rPr lang="vi-VN" sz="20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2000" b="1" spc="-10" dirty="0">
                <a:latin typeface="Calibri" panose="020F0502020204030204"/>
                <a:cs typeface="Calibri" panose="020F0502020204030204"/>
              </a:rPr>
              <a:t>thường.</a:t>
            </a:r>
            <a:endParaRPr lang="vi-VN" sz="2000" b="1" dirty="0">
              <a:latin typeface="Calibri" panose="020F0502020204030204"/>
              <a:cs typeface="Calibri" panose="020F0502020204030204"/>
            </a:endParaRPr>
          </a:p>
          <a:p>
            <a:endParaRPr lang="vi-VN" b="1" dirty="0"/>
          </a:p>
        </p:txBody>
      </p:sp>
    </p:spTree>
    <p:extLst>
      <p:ext uri="{BB962C8B-B14F-4D97-AF65-F5344CB8AC3E}">
        <p14:creationId xmlns:p14="http://schemas.microsoft.com/office/powerpoint/2010/main" val="325341237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0D96317D-56FF-77DE-2628-A240E45D9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sz="4800" b="1" dirty="0">
                <a:latin typeface="VNF-Caviar Dreams" panose="02000503020000020003" pitchFamily="2" charset="0"/>
              </a:rPr>
              <a:t>CẤU TẠO BÌNH CHỨA NƯỚC NÓNG</a:t>
            </a:r>
            <a:endParaRPr lang="vi-VN" dirty="0"/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6C391373-8A63-2B06-432C-E9CC618C6B5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 rot="16200000">
            <a:off x="4154553" y="1718460"/>
            <a:ext cx="3882894" cy="4610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69220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ấu tạo và nguyên lý hoạt động các loại Thái Dương Năng Sơn Hà">
            <a:extLst>
              <a:ext uri="{FF2B5EF4-FFF2-40B4-BE49-F238E27FC236}">
                <a16:creationId xmlns:a16="http://schemas.microsoft.com/office/drawing/2014/main" id="{FB7B705F-9FA2-392A-5B29-1ABC49712E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4154" y="1889761"/>
            <a:ext cx="5304503" cy="4276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1A1C6E59-524E-8B4A-27ED-0B99BE5A4AF6}"/>
              </a:ext>
            </a:extLst>
          </p:cNvPr>
          <p:cNvSpPr txBox="1"/>
          <p:nvPr/>
        </p:nvSpPr>
        <p:spPr>
          <a:xfrm>
            <a:off x="108154" y="284336"/>
            <a:ext cx="6096000" cy="6048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194310">
              <a:lnSpc>
                <a:spcPct val="109000"/>
              </a:lnSpc>
              <a:spcBef>
                <a:spcPts val="95"/>
              </a:spcBef>
            </a:pPr>
            <a:r>
              <a:rPr lang="vi-VN" sz="1700" b="1" dirty="0">
                <a:latin typeface="Calibri" panose="020F0502020204030204"/>
                <a:cs typeface="Calibri" panose="020F0502020204030204"/>
              </a:rPr>
              <a:t>+</a:t>
            </a:r>
            <a:r>
              <a:rPr lang="vi-VN" sz="1700" b="1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Lớp vỏ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bình:</a:t>
            </a:r>
            <a:r>
              <a:rPr lang="vi-VN" sz="1700" b="1" spc="-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Thường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được</a:t>
            </a:r>
            <a:r>
              <a:rPr lang="vi-VN" sz="17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làm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bằng</a:t>
            </a:r>
            <a:r>
              <a:rPr lang="vi-VN" sz="17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 err="1">
                <a:latin typeface="Calibri" panose="020F0502020204030204"/>
                <a:cs typeface="Calibri" panose="020F0502020204030204"/>
              </a:rPr>
              <a:t>Inox</a:t>
            </a:r>
            <a:r>
              <a:rPr lang="vi-VN" sz="17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chịu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sự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ăn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mòn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của</a:t>
            </a:r>
            <a:r>
              <a:rPr lang="vi-VN" sz="17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thời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tiết</a:t>
            </a:r>
            <a:r>
              <a:rPr lang="vi-VN" sz="17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khắc</a:t>
            </a:r>
            <a:r>
              <a:rPr lang="vi-VN" sz="17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nghiệt</a:t>
            </a:r>
            <a:r>
              <a:rPr lang="vi-VN" sz="1700" b="1" spc="-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của</a:t>
            </a:r>
            <a:r>
              <a:rPr lang="vi-VN" sz="17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nước</a:t>
            </a:r>
            <a:r>
              <a:rPr lang="vi-VN" sz="17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ta.</a:t>
            </a:r>
            <a:r>
              <a:rPr lang="vi-VN" sz="17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Nó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có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spc="-20" dirty="0">
                <a:latin typeface="Calibri" panose="020F0502020204030204"/>
                <a:cs typeface="Calibri" panose="020F0502020204030204"/>
              </a:rPr>
              <a:t>chức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năng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bao</a:t>
            </a:r>
            <a:r>
              <a:rPr lang="vi-VN" sz="17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bọc</a:t>
            </a:r>
            <a:r>
              <a:rPr lang="vi-VN" sz="17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và</a:t>
            </a:r>
            <a:r>
              <a:rPr lang="vi-VN" sz="1700" b="1" spc="-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bảo</a:t>
            </a:r>
            <a:r>
              <a:rPr lang="vi-VN" sz="17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vệ</a:t>
            </a:r>
            <a:r>
              <a:rPr lang="vi-VN" sz="17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lớp</a:t>
            </a:r>
            <a:r>
              <a:rPr lang="vi-VN" sz="17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cách</a:t>
            </a:r>
            <a:r>
              <a:rPr lang="vi-VN" sz="17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spc="-10" dirty="0">
                <a:latin typeface="Calibri" panose="020F0502020204030204"/>
                <a:cs typeface="Calibri" panose="020F0502020204030204"/>
              </a:rPr>
              <a:t>nhiệt.</a:t>
            </a:r>
            <a:endParaRPr lang="vi-VN" sz="1700" b="1" dirty="0">
              <a:latin typeface="Calibri" panose="020F0502020204030204"/>
              <a:cs typeface="Calibri" panose="020F0502020204030204"/>
            </a:endParaRPr>
          </a:p>
          <a:p>
            <a:pPr marL="12700" marR="37465">
              <a:lnSpc>
                <a:spcPct val="110000"/>
              </a:lnSpc>
            </a:pPr>
            <a:r>
              <a:rPr lang="vi-VN" sz="1700" b="1" dirty="0">
                <a:latin typeface="Calibri" panose="020F0502020204030204"/>
                <a:cs typeface="Calibri" panose="020F0502020204030204"/>
              </a:rPr>
              <a:t>+</a:t>
            </a:r>
            <a:r>
              <a:rPr lang="vi-VN" sz="1700" b="1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Lớp cách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nhiệt</a:t>
            </a:r>
            <a:r>
              <a:rPr lang="vi-VN" sz="17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(lớp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bảo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ôn):</a:t>
            </a:r>
            <a:r>
              <a:rPr lang="vi-VN" sz="1700" b="1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Lớp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này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chủ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yếu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được</a:t>
            </a:r>
            <a:r>
              <a:rPr lang="vi-VN" sz="17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làm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từ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hợp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chất</a:t>
            </a:r>
            <a:r>
              <a:rPr lang="vi-VN" sz="17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 err="1">
                <a:latin typeface="Calibri" panose="020F0502020204030204"/>
                <a:cs typeface="Calibri" panose="020F0502020204030204"/>
              </a:rPr>
              <a:t>PolyUrethane</a:t>
            </a:r>
            <a:r>
              <a:rPr lang="vi-VN" sz="17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bọt</a:t>
            </a:r>
            <a:r>
              <a:rPr lang="vi-VN" sz="17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 err="1">
                <a:latin typeface="Calibri" panose="020F0502020204030204"/>
                <a:cs typeface="Calibri" panose="020F0502020204030204"/>
              </a:rPr>
              <a:t>PU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.</a:t>
            </a:r>
            <a:r>
              <a:rPr lang="vi-VN" sz="1700" b="1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Trong</a:t>
            </a:r>
            <a:r>
              <a:rPr lang="vi-VN" sz="17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điều</a:t>
            </a:r>
            <a:r>
              <a:rPr lang="vi-VN" sz="1700" b="1" spc="-20" dirty="0">
                <a:latin typeface="Calibri" panose="020F0502020204030204"/>
                <a:cs typeface="Calibri" panose="020F0502020204030204"/>
              </a:rPr>
              <a:t> kiện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nhiệt</a:t>
            </a:r>
            <a:r>
              <a:rPr lang="vi-VN" sz="1700" b="1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độ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ổn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định,</a:t>
            </a:r>
            <a:r>
              <a:rPr lang="vi-VN" sz="17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lớp</a:t>
            </a:r>
            <a:r>
              <a:rPr lang="vi-VN" sz="1700" b="1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bảo</a:t>
            </a:r>
            <a:r>
              <a:rPr lang="vi-VN" sz="1700" b="1" spc="-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ôn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cho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phép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cách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nhiệt</a:t>
            </a:r>
            <a:r>
              <a:rPr lang="vi-VN" sz="17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rất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tốt</a:t>
            </a:r>
            <a:r>
              <a:rPr lang="vi-VN" sz="17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và</a:t>
            </a:r>
            <a:r>
              <a:rPr lang="vi-VN" sz="17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giữ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được</a:t>
            </a:r>
            <a:r>
              <a:rPr lang="vi-VN" sz="17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nhiệt</a:t>
            </a:r>
            <a:r>
              <a:rPr lang="vi-VN" sz="1700" b="1" spc="-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độ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rất</a:t>
            </a:r>
            <a:r>
              <a:rPr lang="vi-VN" sz="1700" b="1" spc="-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lâu,</a:t>
            </a:r>
            <a:r>
              <a:rPr lang="vi-VN" sz="17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khả</a:t>
            </a:r>
            <a:r>
              <a:rPr lang="vi-VN" sz="17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năng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thất</a:t>
            </a:r>
            <a:r>
              <a:rPr lang="vi-VN" sz="17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thoát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spc="-10" dirty="0">
                <a:latin typeface="Calibri" panose="020F0502020204030204"/>
                <a:cs typeface="Calibri" panose="020F0502020204030204"/>
              </a:rPr>
              <a:t>nhiệt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là</a:t>
            </a:r>
            <a:r>
              <a:rPr lang="vi-VN" sz="1700" b="1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không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đáng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kể.</a:t>
            </a:r>
            <a:r>
              <a:rPr lang="vi-VN" sz="17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Giữa</a:t>
            </a:r>
            <a:r>
              <a:rPr lang="vi-VN" sz="17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lớp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vỏ</a:t>
            </a:r>
            <a:r>
              <a:rPr lang="vi-VN" sz="17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và</a:t>
            </a:r>
            <a:r>
              <a:rPr lang="vi-VN" sz="17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ruột</a:t>
            </a:r>
            <a:r>
              <a:rPr lang="vi-VN" sz="17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bình</a:t>
            </a:r>
            <a:r>
              <a:rPr lang="vi-VN" sz="17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có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một</a:t>
            </a:r>
            <a:r>
              <a:rPr lang="vi-VN" sz="17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lớp</a:t>
            </a:r>
            <a:r>
              <a:rPr lang="vi-VN" sz="17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bảo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ôn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phức</a:t>
            </a:r>
            <a:r>
              <a:rPr lang="vi-VN" sz="1700" b="1" spc="-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hợp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với</a:t>
            </a:r>
            <a:r>
              <a:rPr lang="vi-VN" sz="17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độ</a:t>
            </a:r>
            <a:r>
              <a:rPr lang="vi-VN" sz="17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dày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hơn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50</a:t>
            </a:r>
            <a:r>
              <a:rPr lang="vi-VN" sz="17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spc="-25" dirty="0" err="1">
                <a:latin typeface="Calibri" panose="020F0502020204030204"/>
                <a:cs typeface="Calibri" panose="020F0502020204030204"/>
              </a:rPr>
              <a:t>mm</a:t>
            </a:r>
            <a:endParaRPr lang="vi-VN" sz="1700" b="1" dirty="0">
              <a:latin typeface="Calibri" panose="020F0502020204030204"/>
              <a:cs typeface="Calibri" panose="020F0502020204030204"/>
            </a:endParaRPr>
          </a:p>
          <a:p>
            <a:pPr marL="12700" marR="17145">
              <a:lnSpc>
                <a:spcPct val="110000"/>
              </a:lnSpc>
              <a:spcBef>
                <a:spcPts val="10"/>
              </a:spcBef>
            </a:pPr>
            <a:r>
              <a:rPr lang="vi-VN" sz="1700" b="1" dirty="0">
                <a:latin typeface="Calibri" panose="020F0502020204030204"/>
                <a:cs typeface="Calibri" panose="020F0502020204030204"/>
              </a:rPr>
              <a:t>+</a:t>
            </a:r>
            <a:r>
              <a:rPr lang="vi-VN" sz="1700" b="1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Lớp ruột</a:t>
            </a:r>
            <a:r>
              <a:rPr lang="vi-VN" sz="17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bình: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Bộ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phận</a:t>
            </a:r>
            <a:r>
              <a:rPr lang="vi-VN" sz="17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này</a:t>
            </a:r>
            <a:r>
              <a:rPr lang="vi-VN" sz="1700" b="1" spc="-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thường</a:t>
            </a:r>
            <a:r>
              <a:rPr lang="vi-VN" sz="17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được</a:t>
            </a:r>
            <a:r>
              <a:rPr lang="vi-VN" sz="17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chế</a:t>
            </a:r>
            <a:r>
              <a:rPr lang="vi-VN" sz="17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tạo</a:t>
            </a:r>
            <a:r>
              <a:rPr lang="vi-VN" sz="17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từ</a:t>
            </a:r>
            <a:r>
              <a:rPr lang="vi-VN" sz="1700" b="1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thép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không</a:t>
            </a:r>
            <a:r>
              <a:rPr lang="vi-VN" sz="17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gỉ</a:t>
            </a:r>
            <a:r>
              <a:rPr lang="vi-VN" sz="17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hoặc</a:t>
            </a:r>
            <a:r>
              <a:rPr lang="vi-VN" sz="17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bình</a:t>
            </a:r>
            <a:r>
              <a:rPr lang="vi-VN" sz="17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tráng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men</a:t>
            </a:r>
            <a:r>
              <a:rPr lang="vi-VN" sz="17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dùng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trong</a:t>
            </a:r>
            <a:r>
              <a:rPr lang="vi-VN" sz="1700" b="1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công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spc="-20" dirty="0">
                <a:latin typeface="Calibri" panose="020F0502020204030204"/>
                <a:cs typeface="Calibri" panose="020F0502020204030204"/>
              </a:rPr>
              <a:t>nghệ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thực</a:t>
            </a:r>
            <a:r>
              <a:rPr lang="vi-VN" sz="1700" b="1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phẩm,</a:t>
            </a:r>
            <a:r>
              <a:rPr lang="vi-VN" sz="1700" b="1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được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hàn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bằng</a:t>
            </a:r>
            <a:r>
              <a:rPr lang="vi-VN" sz="17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phương</a:t>
            </a:r>
            <a:r>
              <a:rPr lang="vi-VN" sz="17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pháp</a:t>
            </a:r>
            <a:r>
              <a:rPr lang="vi-VN" sz="1700" b="1" spc="-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hàn</a:t>
            </a:r>
            <a:r>
              <a:rPr lang="vi-VN" sz="1700" b="1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cao</a:t>
            </a:r>
            <a:r>
              <a:rPr lang="vi-VN" sz="17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tần,</a:t>
            </a:r>
            <a:r>
              <a:rPr lang="vi-VN" sz="1700" b="1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áp</a:t>
            </a:r>
            <a:r>
              <a:rPr lang="vi-VN" sz="17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dụng công</a:t>
            </a:r>
            <a:r>
              <a:rPr lang="vi-VN" sz="17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nghệ</a:t>
            </a:r>
            <a:r>
              <a:rPr lang="vi-VN" sz="17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hàn</a:t>
            </a:r>
            <a:r>
              <a:rPr lang="vi-VN" sz="1700" b="1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lăn</a:t>
            </a:r>
            <a:r>
              <a:rPr lang="vi-VN" sz="1700" b="1" spc="-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tự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động.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Nhờ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đó,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ruột</a:t>
            </a:r>
            <a:r>
              <a:rPr lang="vi-VN" sz="1700" b="1" spc="-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spc="-20" dirty="0">
                <a:latin typeface="Calibri" panose="020F0502020204030204"/>
                <a:cs typeface="Calibri" panose="020F0502020204030204"/>
              </a:rPr>
              <a:t>bình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đảm</a:t>
            </a:r>
            <a:r>
              <a:rPr lang="vi-VN" sz="1700" b="1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bảo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giữ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được</a:t>
            </a:r>
            <a:r>
              <a:rPr lang="vi-VN" sz="17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thành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phần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của</a:t>
            </a:r>
            <a:r>
              <a:rPr lang="vi-VN" sz="1700" b="1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nước</a:t>
            </a:r>
            <a:r>
              <a:rPr lang="vi-VN" sz="17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khi</a:t>
            </a:r>
            <a:r>
              <a:rPr lang="vi-VN" sz="17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sử</a:t>
            </a:r>
            <a:r>
              <a:rPr lang="vi-VN" sz="1700" b="1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dụng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mà</a:t>
            </a:r>
            <a:r>
              <a:rPr lang="vi-VN" sz="17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không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bị</a:t>
            </a:r>
            <a:r>
              <a:rPr lang="vi-VN" sz="17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thay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đổi</a:t>
            </a:r>
            <a:r>
              <a:rPr lang="vi-VN" sz="17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do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xúc</a:t>
            </a:r>
            <a:r>
              <a:rPr lang="vi-VN" sz="17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tác</a:t>
            </a:r>
            <a:r>
              <a:rPr lang="vi-VN" sz="17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nhiệt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spc="-25" dirty="0">
                <a:latin typeface="Calibri" panose="020F0502020204030204"/>
                <a:cs typeface="Calibri" panose="020F0502020204030204"/>
              </a:rPr>
              <a:t>độ.</a:t>
            </a:r>
            <a:endParaRPr lang="vi-VN" sz="1700" b="1" dirty="0">
              <a:latin typeface="Calibri" panose="020F0502020204030204"/>
              <a:cs typeface="Calibri" panose="020F0502020204030204"/>
            </a:endParaRPr>
          </a:p>
          <a:p>
            <a:pPr marL="12700" marR="5080">
              <a:lnSpc>
                <a:spcPct val="110000"/>
              </a:lnSpc>
            </a:pPr>
            <a:r>
              <a:rPr lang="vi-VN" sz="1700" b="1" dirty="0">
                <a:latin typeface="Calibri" panose="020F0502020204030204"/>
                <a:cs typeface="Calibri" panose="020F0502020204030204"/>
              </a:rPr>
              <a:t>+</a:t>
            </a:r>
            <a:r>
              <a:rPr lang="vi-VN" sz="1700" b="1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Các</a:t>
            </a:r>
            <a:r>
              <a:rPr lang="vi-VN" sz="17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ống</a:t>
            </a:r>
            <a:r>
              <a:rPr lang="vi-VN" sz="17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cấp</a:t>
            </a:r>
            <a:r>
              <a:rPr lang="vi-VN" sz="1700" b="1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nước</a:t>
            </a:r>
            <a:r>
              <a:rPr lang="vi-VN" sz="17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ra</a:t>
            </a:r>
            <a:r>
              <a:rPr lang="vi-VN" sz="1700" b="1" spc="-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vào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ống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thông</a:t>
            </a:r>
            <a:r>
              <a:rPr lang="vi-VN" sz="17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hơi: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Là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những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ti</a:t>
            </a:r>
            <a:r>
              <a:rPr lang="vi-VN" sz="1700" b="1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rỗng</a:t>
            </a:r>
            <a:r>
              <a:rPr lang="vi-VN" sz="17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làm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bằng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 err="1">
                <a:latin typeface="Calibri" panose="020F0502020204030204"/>
                <a:cs typeface="Calibri" panose="020F0502020204030204"/>
              </a:rPr>
              <a:t>Inox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.</a:t>
            </a:r>
            <a:r>
              <a:rPr lang="vi-VN" sz="1700" b="1" spc="-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Một</a:t>
            </a:r>
            <a:r>
              <a:rPr lang="vi-VN" sz="17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đầu</a:t>
            </a:r>
            <a:r>
              <a:rPr lang="vi-VN" sz="1700" b="1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đút vào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bình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bảo</a:t>
            </a:r>
            <a:r>
              <a:rPr lang="vi-VN" sz="17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ôn,</a:t>
            </a:r>
            <a:r>
              <a:rPr lang="vi-VN" sz="17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đầu</a:t>
            </a:r>
            <a:r>
              <a:rPr lang="vi-VN" sz="17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spc="-25" dirty="0">
                <a:latin typeface="Calibri" panose="020F0502020204030204"/>
                <a:cs typeface="Calibri" panose="020F0502020204030204"/>
              </a:rPr>
              <a:t>kia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có</a:t>
            </a:r>
            <a:r>
              <a:rPr lang="vi-VN" sz="1700" b="1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ren</a:t>
            </a:r>
            <a:r>
              <a:rPr lang="vi-VN" sz="17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dùng</a:t>
            </a:r>
            <a:r>
              <a:rPr lang="vi-VN" sz="17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để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kết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nối</a:t>
            </a:r>
            <a:r>
              <a:rPr lang="vi-VN" sz="1700" b="1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với</a:t>
            </a:r>
            <a:r>
              <a:rPr lang="vi-VN" sz="17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các</a:t>
            </a:r>
            <a:r>
              <a:rPr lang="vi-VN" sz="1700" b="1" spc="-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đường</a:t>
            </a:r>
            <a:r>
              <a:rPr lang="vi-VN" sz="17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ống</a:t>
            </a:r>
            <a:r>
              <a:rPr lang="vi-VN" sz="17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spc="-20" dirty="0">
                <a:latin typeface="Calibri" panose="020F0502020204030204"/>
                <a:cs typeface="Calibri" panose="020F0502020204030204"/>
              </a:rPr>
              <a:t>nước</a:t>
            </a:r>
            <a:endParaRPr lang="vi-VN" sz="1700" b="1" dirty="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vi-VN" sz="1700" b="1" dirty="0">
                <a:latin typeface="Calibri" panose="020F0502020204030204"/>
                <a:cs typeface="Calibri" panose="020F0502020204030204"/>
              </a:rPr>
              <a:t>+</a:t>
            </a:r>
            <a:r>
              <a:rPr lang="vi-VN" sz="1700" b="1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 err="1">
                <a:latin typeface="Calibri" panose="020F0502020204030204"/>
                <a:cs typeface="Calibri" panose="020F0502020204030204"/>
              </a:rPr>
              <a:t>Roon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 err="1">
                <a:latin typeface="Calibri" panose="020F0502020204030204"/>
                <a:cs typeface="Calibri" panose="020F0502020204030204"/>
              </a:rPr>
              <a:t>silicon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: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Cấu</a:t>
            </a:r>
            <a:r>
              <a:rPr lang="vi-VN" sz="1700" b="1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tạo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từ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 err="1">
                <a:latin typeface="Calibri" panose="020F0502020204030204"/>
                <a:cs typeface="Calibri" panose="020F0502020204030204"/>
              </a:rPr>
              <a:t>silicon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cao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cấp,</a:t>
            </a:r>
            <a:r>
              <a:rPr lang="vi-VN" sz="17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chức</a:t>
            </a:r>
            <a:r>
              <a:rPr lang="vi-VN" sz="17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năng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của</a:t>
            </a:r>
            <a:r>
              <a:rPr lang="vi-VN" sz="17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nó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là</a:t>
            </a:r>
            <a:r>
              <a:rPr lang="vi-VN" sz="17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để</a:t>
            </a:r>
            <a:r>
              <a:rPr lang="vi-VN" sz="17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ngăn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không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cho</a:t>
            </a:r>
            <a:r>
              <a:rPr lang="vi-VN" sz="1700" b="1" spc="-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nước</a:t>
            </a:r>
            <a:r>
              <a:rPr lang="vi-VN" sz="17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rỉ</a:t>
            </a:r>
            <a:r>
              <a:rPr lang="vi-VN" sz="17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ra</a:t>
            </a:r>
            <a:r>
              <a:rPr lang="vi-VN" sz="17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theo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các</a:t>
            </a:r>
            <a:r>
              <a:rPr lang="vi-VN" sz="17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đầu</a:t>
            </a:r>
            <a:r>
              <a:rPr lang="vi-VN" sz="17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spc="-20" dirty="0">
                <a:latin typeface="Calibri" panose="020F0502020204030204"/>
                <a:cs typeface="Calibri" panose="020F0502020204030204"/>
              </a:rPr>
              <a:t>ống.</a:t>
            </a:r>
            <a:endParaRPr lang="vi-VN" sz="1700" b="1" dirty="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vi-VN" sz="1700" b="1" dirty="0">
                <a:latin typeface="Calibri" panose="020F0502020204030204"/>
                <a:cs typeface="Calibri" panose="020F0502020204030204"/>
              </a:rPr>
              <a:t>+</a:t>
            </a:r>
            <a:r>
              <a:rPr lang="vi-VN" sz="1700" b="1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 err="1">
                <a:latin typeface="Calibri" panose="020F0502020204030204"/>
                <a:cs typeface="Calibri" panose="020F0502020204030204"/>
              </a:rPr>
              <a:t>Roon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cao</a:t>
            </a:r>
            <a:r>
              <a:rPr lang="vi-VN" sz="1700" b="1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su: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Cấu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tạo</a:t>
            </a:r>
            <a:r>
              <a:rPr lang="vi-VN" sz="17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từ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cao</a:t>
            </a:r>
            <a:r>
              <a:rPr lang="vi-VN" sz="1700" b="1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su</a:t>
            </a:r>
            <a:r>
              <a:rPr lang="vi-VN" sz="17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dùng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để</a:t>
            </a:r>
            <a:r>
              <a:rPr lang="vi-VN" sz="17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bít các</a:t>
            </a:r>
            <a:r>
              <a:rPr lang="vi-VN" sz="17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lỗ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chân</a:t>
            </a:r>
            <a:r>
              <a:rPr lang="vi-VN" sz="17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ông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nhiệt</a:t>
            </a:r>
            <a:r>
              <a:rPr lang="vi-VN" sz="1700" b="1" spc="-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và</a:t>
            </a:r>
            <a:r>
              <a:rPr lang="vi-VN" sz="1700" b="1" spc="-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ống</a:t>
            </a:r>
            <a:r>
              <a:rPr lang="vi-VN" sz="17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nước</a:t>
            </a:r>
            <a:r>
              <a:rPr lang="vi-VN" sz="17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dirty="0">
                <a:latin typeface="Calibri" panose="020F0502020204030204"/>
                <a:cs typeface="Calibri" panose="020F0502020204030204"/>
              </a:rPr>
              <a:t>vào</a:t>
            </a:r>
            <a:r>
              <a:rPr lang="vi-VN" sz="17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700" b="1" spc="-25" dirty="0">
                <a:latin typeface="Calibri" panose="020F0502020204030204"/>
                <a:cs typeface="Calibri" panose="020F0502020204030204"/>
              </a:rPr>
              <a:t>ra.</a:t>
            </a:r>
            <a:endParaRPr lang="vi-VN" sz="1700" b="1" dirty="0">
              <a:latin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97740070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BCA5986-9F38-CE15-6459-417C6B9D1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 dirty="0">
                <a:latin typeface="VNF-Caviar Dreams" panose="02000503020000020003" pitchFamily="2" charset="0"/>
              </a:rPr>
              <a:t>SƠ ĐỒ LẮP ĐẶT</a:t>
            </a:r>
            <a:endParaRPr lang="vi-VN" dirty="0"/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F5FDD794-17EF-C7C2-B89E-DBF44CF360E3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9488129" y="1933367"/>
            <a:ext cx="1740309" cy="4192563"/>
          </a:xfrm>
          <a:prstGeom prst="rect">
            <a:avLst/>
          </a:prstGeom>
        </p:spPr>
      </p:pic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CEE60CC1-935E-5B53-AEA6-2048A746B43C}"/>
              </a:ext>
            </a:extLst>
          </p:cNvPr>
          <p:cNvSpPr txBox="1"/>
          <p:nvPr/>
        </p:nvSpPr>
        <p:spPr>
          <a:xfrm>
            <a:off x="530943" y="2115701"/>
            <a:ext cx="6440128" cy="3631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25780">
              <a:lnSpc>
                <a:spcPts val="1285"/>
              </a:lnSpc>
            </a:pPr>
            <a:r>
              <a:rPr lang="vi-VN" sz="1800" b="1" dirty="0">
                <a:latin typeface="Calibri" panose="020F0502020204030204"/>
                <a:cs typeface="Calibri" panose="020F0502020204030204"/>
              </a:rPr>
              <a:t>Ở</a:t>
            </a:r>
            <a:r>
              <a:rPr lang="vi-VN" sz="18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b="1" dirty="0">
                <a:latin typeface="Calibri" panose="020F0502020204030204"/>
                <a:cs typeface="Calibri" panose="020F0502020204030204"/>
              </a:rPr>
              <a:t>trên</a:t>
            </a:r>
            <a:r>
              <a:rPr lang="vi-VN" sz="18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b="1" dirty="0">
                <a:latin typeface="Calibri" panose="020F0502020204030204"/>
                <a:cs typeface="Calibri" panose="020F0502020204030204"/>
              </a:rPr>
              <a:t>mái</a:t>
            </a:r>
            <a:r>
              <a:rPr lang="vi-VN" sz="18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b="1" spc="-20" dirty="0">
                <a:latin typeface="Calibri" panose="020F0502020204030204"/>
                <a:cs typeface="Calibri" panose="020F0502020204030204"/>
              </a:rPr>
              <a:t>nhà:</a:t>
            </a:r>
            <a:endParaRPr lang="vi-VN" sz="1800" dirty="0">
              <a:latin typeface="Calibri" panose="020F0502020204030204"/>
              <a:cs typeface="Calibri" panose="020F0502020204030204"/>
            </a:endParaRPr>
          </a:p>
          <a:p>
            <a:pPr marL="525780" marR="73025" indent="74930">
              <a:lnSpc>
                <a:spcPct val="102000"/>
              </a:lnSpc>
              <a:buChar char="-"/>
              <a:tabLst>
                <a:tab pos="600710" algn="l"/>
              </a:tabLst>
            </a:pPr>
            <a:r>
              <a:rPr lang="vi-VN" sz="1800" dirty="0">
                <a:latin typeface="Calibri" panose="020F0502020204030204"/>
                <a:cs typeface="Calibri" panose="020F0502020204030204"/>
              </a:rPr>
              <a:t>Bồn</a:t>
            </a:r>
            <a:r>
              <a:rPr lang="vi-VN"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và</a:t>
            </a:r>
            <a:r>
              <a:rPr lang="vi-VN"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máy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nước</a:t>
            </a:r>
            <a:r>
              <a:rPr lang="vi-VN"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nóng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đặt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cùng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trên</a:t>
            </a:r>
            <a:r>
              <a:rPr lang="vi-VN"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mái</a:t>
            </a:r>
            <a:r>
              <a:rPr lang="vi-VN" sz="1800" spc="-25" dirty="0">
                <a:latin typeface="Calibri" panose="020F0502020204030204"/>
                <a:cs typeface="Calibri" panose="020F0502020204030204"/>
              </a:rPr>
              <a:t> và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bồn</a:t>
            </a:r>
            <a:r>
              <a:rPr lang="vi-VN"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luôn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được</a:t>
            </a:r>
            <a:r>
              <a:rPr lang="vi-VN"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đặt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ở</a:t>
            </a:r>
            <a:r>
              <a:rPr lang="vi-VN"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vị</a:t>
            </a:r>
            <a:r>
              <a:rPr lang="vi-VN"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trí</a:t>
            </a:r>
            <a:r>
              <a:rPr lang="vi-VN"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cao hơn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bình</a:t>
            </a:r>
            <a:r>
              <a:rPr lang="vi-VN"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năng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lượng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để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áp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lực</a:t>
            </a:r>
            <a:r>
              <a:rPr lang="vi-VN"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nước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xuống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đủ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mạnh</a:t>
            </a:r>
            <a:r>
              <a:rPr lang="vi-VN" sz="1800" spc="50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thường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là</a:t>
            </a:r>
            <a:r>
              <a:rPr lang="vi-VN"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đáy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bồn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cao</a:t>
            </a:r>
            <a:r>
              <a:rPr lang="vi-VN"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bằng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đỉnh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máy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nước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nóng</a:t>
            </a:r>
            <a:r>
              <a:rPr lang="vi-VN"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năng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spc="-10" dirty="0">
                <a:latin typeface="Calibri" panose="020F0502020204030204"/>
                <a:cs typeface="Calibri" panose="020F0502020204030204"/>
              </a:rPr>
              <a:t>lượng</a:t>
            </a:r>
            <a:endParaRPr lang="vi-VN" sz="1800" dirty="0">
              <a:latin typeface="Calibri" panose="020F0502020204030204"/>
              <a:cs typeface="Calibri" panose="020F0502020204030204"/>
            </a:endParaRPr>
          </a:p>
          <a:p>
            <a:pPr marL="525780" marR="153670" indent="74930">
              <a:lnSpc>
                <a:spcPct val="101000"/>
              </a:lnSpc>
              <a:spcBef>
                <a:spcPts val="5"/>
              </a:spcBef>
              <a:buChar char="-"/>
              <a:tabLst>
                <a:tab pos="600710" algn="l"/>
              </a:tabLst>
            </a:pPr>
            <a:r>
              <a:rPr lang="vi-VN" sz="1800" dirty="0">
                <a:latin typeface="Calibri" panose="020F0502020204030204"/>
                <a:cs typeface="Calibri" panose="020F0502020204030204"/>
              </a:rPr>
              <a:t>Trên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đường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ống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dẫn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nước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từ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bồn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vào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bình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năng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lượng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luôn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cần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có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một</a:t>
            </a:r>
            <a:r>
              <a:rPr lang="vi-VN" sz="18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 err="1">
                <a:latin typeface="Calibri" panose="020F0502020204030204"/>
                <a:cs typeface="Calibri" panose="020F0502020204030204"/>
              </a:rPr>
              <a:t>răc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co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để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khi</a:t>
            </a:r>
            <a:r>
              <a:rPr lang="vi-VN"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spc="-25" dirty="0">
                <a:latin typeface="Calibri" panose="020F0502020204030204"/>
                <a:cs typeface="Calibri" panose="020F0502020204030204"/>
              </a:rPr>
              <a:t>ta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cần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bảo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trì,</a:t>
            </a:r>
            <a:r>
              <a:rPr lang="vi-VN"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bảo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dưỡng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cũng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vô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cùng</a:t>
            </a:r>
            <a:r>
              <a:rPr lang="vi-VN"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thuận tiện</a:t>
            </a:r>
            <a:endParaRPr lang="vi-VN" sz="1800" dirty="0">
              <a:latin typeface="Calibri" panose="020F0502020204030204"/>
              <a:cs typeface="Calibri" panose="020F0502020204030204"/>
            </a:endParaRPr>
          </a:p>
          <a:p>
            <a:pPr marL="525780" marR="100965" indent="74930">
              <a:lnSpc>
                <a:spcPct val="102000"/>
              </a:lnSpc>
              <a:buChar char="-"/>
              <a:tabLst>
                <a:tab pos="600710" algn="l"/>
              </a:tabLst>
            </a:pPr>
            <a:r>
              <a:rPr lang="vi-VN" sz="1800" dirty="0">
                <a:latin typeface="Calibri" panose="020F0502020204030204"/>
                <a:cs typeface="Calibri" panose="020F0502020204030204"/>
              </a:rPr>
              <a:t>Đường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ống</a:t>
            </a:r>
            <a:r>
              <a:rPr lang="vi-VN"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nước</a:t>
            </a:r>
            <a:r>
              <a:rPr lang="vi-VN"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lạnh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từ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bồn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sẽ</a:t>
            </a:r>
            <a:r>
              <a:rPr lang="vi-VN" sz="18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trực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tiếp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spc="-25" dirty="0">
                <a:latin typeface="Calibri" panose="020F0502020204030204"/>
                <a:cs typeface="Calibri" panose="020F0502020204030204"/>
              </a:rPr>
              <a:t>đi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tới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các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vòi</a:t>
            </a:r>
            <a:r>
              <a:rPr lang="vi-VN"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nước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để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sử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dụng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bình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spc="-10" dirty="0">
                <a:latin typeface="Calibri" panose="020F0502020204030204"/>
                <a:cs typeface="Calibri" panose="020F0502020204030204"/>
              </a:rPr>
              <a:t>thường</a:t>
            </a:r>
            <a:endParaRPr lang="vi-VN" sz="1800" dirty="0">
              <a:latin typeface="Calibri" panose="020F0502020204030204"/>
              <a:cs typeface="Calibri" panose="020F0502020204030204"/>
            </a:endParaRPr>
          </a:p>
          <a:p>
            <a:pPr marL="525780" marR="100330" indent="74930">
              <a:lnSpc>
                <a:spcPct val="102000"/>
              </a:lnSpc>
              <a:buChar char="-"/>
              <a:tabLst>
                <a:tab pos="600710" algn="l"/>
              </a:tabLst>
            </a:pPr>
            <a:r>
              <a:rPr lang="vi-VN" sz="1800" dirty="0">
                <a:latin typeface="Calibri" panose="020F0502020204030204"/>
                <a:cs typeface="Calibri" panose="020F0502020204030204"/>
              </a:rPr>
              <a:t>Đường</a:t>
            </a:r>
            <a:r>
              <a:rPr lang="vi-VN"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nước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từ</a:t>
            </a:r>
            <a:r>
              <a:rPr lang="vi-VN"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bình</a:t>
            </a:r>
            <a:r>
              <a:rPr lang="vi-VN"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năng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lượng</a:t>
            </a:r>
            <a:r>
              <a:rPr lang="vi-VN"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sẽ</a:t>
            </a:r>
            <a:r>
              <a:rPr lang="vi-VN"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được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chia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thành</a:t>
            </a:r>
            <a:r>
              <a:rPr lang="vi-VN"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nhiều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nhánh</a:t>
            </a:r>
            <a:r>
              <a:rPr lang="vi-VN"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và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dẫn</a:t>
            </a:r>
            <a:r>
              <a:rPr lang="vi-VN"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vào</a:t>
            </a:r>
            <a:r>
              <a:rPr lang="vi-VN"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bình</a:t>
            </a:r>
            <a:r>
              <a:rPr lang="vi-VN"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điện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của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các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tầng</a:t>
            </a:r>
            <a:r>
              <a:rPr lang="vi-VN"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theo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kiểu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khác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nhau</a:t>
            </a:r>
            <a:endParaRPr lang="vi-VN" sz="1800" dirty="0">
              <a:latin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52045317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D2D770D-9ED6-235F-3F3D-8EBDB8C4B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 dirty="0">
                <a:latin typeface="VNF-Caviar Dreams" panose="02000503020000020003" pitchFamily="2" charset="0"/>
              </a:rPr>
              <a:t>SƠ ĐỒ LẮP ĐẶT</a:t>
            </a:r>
            <a:endParaRPr lang="vi-VN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125DC78C-F01A-B609-C953-DE6FA5B8A6A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2241" y="1963550"/>
            <a:ext cx="3650327" cy="3978200"/>
          </a:xfrm>
          <a:prstGeom prst="rect">
            <a:avLst/>
          </a:prstGeom>
        </p:spPr>
      </p:pic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B95CACF4-B27F-D4B3-5F8E-26A7A554E8DA}"/>
              </a:ext>
            </a:extLst>
          </p:cNvPr>
          <p:cNvSpPr txBox="1"/>
          <p:nvPr/>
        </p:nvSpPr>
        <p:spPr>
          <a:xfrm>
            <a:off x="4857136" y="1963550"/>
            <a:ext cx="6096000" cy="419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25780">
              <a:lnSpc>
                <a:spcPts val="1290"/>
              </a:lnSpc>
            </a:pPr>
            <a:r>
              <a:rPr lang="vi-VN" sz="1800" b="1" dirty="0">
                <a:latin typeface="Calibri" panose="020F0502020204030204"/>
                <a:cs typeface="Calibri" panose="020F0502020204030204"/>
              </a:rPr>
              <a:t>Ở</a:t>
            </a:r>
            <a:r>
              <a:rPr lang="vi-VN" sz="18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b="1" dirty="0">
                <a:latin typeface="Calibri" panose="020F0502020204030204"/>
                <a:cs typeface="Calibri" panose="020F0502020204030204"/>
              </a:rPr>
              <a:t>phòng</a:t>
            </a:r>
            <a:r>
              <a:rPr lang="vi-VN" sz="18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b="1" dirty="0">
                <a:latin typeface="Calibri" panose="020F0502020204030204"/>
                <a:cs typeface="Calibri" panose="020F0502020204030204"/>
              </a:rPr>
              <a:t>tắm</a:t>
            </a:r>
            <a:r>
              <a:rPr lang="vi-VN" sz="18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b="1" dirty="0">
                <a:latin typeface="Calibri" panose="020F0502020204030204"/>
                <a:cs typeface="Calibri" panose="020F0502020204030204"/>
              </a:rPr>
              <a:t>1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:</a:t>
            </a:r>
            <a:r>
              <a:rPr lang="vi-VN"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Nước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từ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bình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năng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lượng</a:t>
            </a:r>
            <a:endParaRPr lang="vi-VN" sz="1800" dirty="0">
              <a:latin typeface="Calibri" panose="020F0502020204030204"/>
              <a:cs typeface="Calibri" panose="020F0502020204030204"/>
            </a:endParaRPr>
          </a:p>
          <a:p>
            <a:pPr marL="525780">
              <a:lnSpc>
                <a:spcPct val="100000"/>
              </a:lnSpc>
              <a:spcBef>
                <a:spcPts val="25"/>
              </a:spcBef>
            </a:pPr>
            <a:r>
              <a:rPr lang="vi-VN" sz="1800" dirty="0">
                <a:latin typeface="Calibri" panose="020F0502020204030204"/>
                <a:cs typeface="Calibri" panose="020F0502020204030204"/>
              </a:rPr>
              <a:t>được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đi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qua</a:t>
            </a:r>
            <a:r>
              <a:rPr lang="vi-VN"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hai</a:t>
            </a:r>
            <a:r>
              <a:rPr lang="vi-VN" sz="18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khóa</a:t>
            </a:r>
            <a:r>
              <a:rPr lang="vi-VN"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van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 err="1">
                <a:latin typeface="Calibri" panose="020F0502020204030204"/>
                <a:cs typeface="Calibri" panose="020F0502020204030204"/>
              </a:rPr>
              <a:t>V1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và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 err="1">
                <a:latin typeface="Calibri" panose="020F0502020204030204"/>
                <a:cs typeface="Calibri" panose="020F0502020204030204"/>
              </a:rPr>
              <a:t>V2</a:t>
            </a:r>
            <a:r>
              <a:rPr lang="vi-VN" sz="18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như</a:t>
            </a:r>
            <a:r>
              <a:rPr lang="vi-VN"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hình</a:t>
            </a:r>
            <a:endParaRPr lang="vi-VN" sz="1800" dirty="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lang="vi-VN" sz="1800" dirty="0">
              <a:latin typeface="Times New Roman" panose="02020603050405020304"/>
              <a:cs typeface="Times New Roman" panose="02020603050405020304"/>
            </a:endParaRPr>
          </a:p>
          <a:p>
            <a:pPr marL="525780" marR="60960">
              <a:lnSpc>
                <a:spcPct val="102000"/>
              </a:lnSpc>
            </a:pPr>
            <a:r>
              <a:rPr lang="vi-VN" sz="1800" spc="-10" dirty="0">
                <a:latin typeface="Calibri" panose="020F0502020204030204"/>
                <a:cs typeface="Calibri" panose="020F0502020204030204"/>
              </a:rPr>
              <a:t>-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Những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ngày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thời</a:t>
            </a:r>
            <a:r>
              <a:rPr lang="vi-VN"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tiết</a:t>
            </a:r>
            <a:r>
              <a:rPr lang="vi-VN"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nắng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nóng,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nước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trong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bình</a:t>
            </a:r>
            <a:r>
              <a:rPr lang="vi-VN"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năng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lượng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có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nhiệt</a:t>
            </a:r>
            <a:r>
              <a:rPr lang="vi-VN" sz="18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độ</a:t>
            </a:r>
            <a:r>
              <a:rPr lang="vi-VN"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cao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sẽ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chảy</a:t>
            </a:r>
            <a:r>
              <a:rPr lang="vi-VN"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spc="-25" dirty="0">
                <a:latin typeface="Calibri" panose="020F0502020204030204"/>
                <a:cs typeface="Calibri" panose="020F0502020204030204"/>
              </a:rPr>
              <a:t>qua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đường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dẫn</a:t>
            </a:r>
            <a:r>
              <a:rPr lang="vi-VN" sz="18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nước</a:t>
            </a:r>
            <a:r>
              <a:rPr lang="vi-VN"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nóng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xuống,</a:t>
            </a:r>
            <a:r>
              <a:rPr lang="vi-VN"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khi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đó</a:t>
            </a:r>
            <a:r>
              <a:rPr lang="vi-VN"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chúng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spc="-25" dirty="0">
                <a:latin typeface="Calibri" panose="020F0502020204030204"/>
                <a:cs typeface="Calibri" panose="020F0502020204030204"/>
              </a:rPr>
              <a:t>ta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sẽ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đóng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van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 err="1">
                <a:latin typeface="Calibri" panose="020F0502020204030204"/>
                <a:cs typeface="Calibri" panose="020F0502020204030204"/>
              </a:rPr>
              <a:t>V1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để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nước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không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chảy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lên</a:t>
            </a:r>
            <a:r>
              <a:rPr lang="vi-VN"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bình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điện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và</a:t>
            </a:r>
            <a:r>
              <a:rPr lang="vi-VN"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mở</a:t>
            </a:r>
            <a:r>
              <a:rPr lang="vi-VN"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van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 err="1">
                <a:latin typeface="Calibri" panose="020F0502020204030204"/>
                <a:cs typeface="Calibri" panose="020F0502020204030204"/>
              </a:rPr>
              <a:t>V2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để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nước</a:t>
            </a:r>
            <a:r>
              <a:rPr lang="vi-VN"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nóng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sẽ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chảy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xuống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và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dùng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trực</a:t>
            </a:r>
            <a:r>
              <a:rPr lang="vi-VN"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tiếp</a:t>
            </a:r>
            <a:endParaRPr lang="vi-VN" sz="1800" dirty="0">
              <a:latin typeface="Calibri" panose="020F0502020204030204"/>
              <a:cs typeface="Calibri" panose="020F0502020204030204"/>
            </a:endParaRPr>
          </a:p>
          <a:p>
            <a:pPr marL="525780" marR="64770">
              <a:lnSpc>
                <a:spcPct val="102000"/>
              </a:lnSpc>
              <a:spcBef>
                <a:spcPts val="5"/>
              </a:spcBef>
            </a:pPr>
            <a:r>
              <a:rPr lang="vi-VN" sz="1800" spc="-10" dirty="0">
                <a:latin typeface="Calibri" panose="020F0502020204030204"/>
                <a:cs typeface="Calibri" panose="020F0502020204030204"/>
              </a:rPr>
              <a:t>-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Những</a:t>
            </a:r>
            <a:r>
              <a:rPr lang="vi-VN"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ngày</a:t>
            </a:r>
            <a:r>
              <a:rPr lang="vi-VN"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nắng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ấm,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nước</a:t>
            </a:r>
            <a:r>
              <a:rPr lang="vi-VN"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trong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bình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năng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lượng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chưa</a:t>
            </a:r>
            <a:r>
              <a:rPr lang="vi-VN"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đủ</a:t>
            </a:r>
            <a:r>
              <a:rPr lang="vi-VN"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nóng,</a:t>
            </a:r>
            <a:r>
              <a:rPr lang="vi-VN"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khóa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van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 err="1">
                <a:latin typeface="Calibri" panose="020F0502020204030204"/>
                <a:cs typeface="Calibri" panose="020F0502020204030204"/>
              </a:rPr>
              <a:t>V2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,</a:t>
            </a:r>
            <a:r>
              <a:rPr lang="vi-VN"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mở</a:t>
            </a:r>
            <a:r>
              <a:rPr lang="vi-VN"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van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spc="-25" dirty="0" err="1">
                <a:latin typeface="Calibri" panose="020F0502020204030204"/>
                <a:cs typeface="Calibri" panose="020F0502020204030204"/>
              </a:rPr>
              <a:t>V1</a:t>
            </a:r>
            <a:r>
              <a:rPr lang="vi-VN"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để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nước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cấp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vào</a:t>
            </a:r>
            <a:r>
              <a:rPr lang="vi-VN"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đường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lạnh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của</a:t>
            </a:r>
            <a:r>
              <a:rPr lang="vi-VN"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bình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điện.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Nước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được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làm</a:t>
            </a:r>
            <a:r>
              <a:rPr lang="vi-VN"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nóng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thêm</a:t>
            </a:r>
            <a:r>
              <a:rPr lang="vi-VN"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trong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bình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điện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đến</a:t>
            </a:r>
            <a:r>
              <a:rPr lang="vi-VN"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nhiệt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độ</a:t>
            </a:r>
            <a:r>
              <a:rPr lang="vi-VN"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yêu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cầu</a:t>
            </a:r>
            <a:r>
              <a:rPr lang="vi-VN"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và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chảy</a:t>
            </a:r>
            <a:r>
              <a:rPr lang="vi-VN"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ra</a:t>
            </a:r>
            <a:r>
              <a:rPr lang="vi-VN"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theo</a:t>
            </a:r>
            <a:r>
              <a:rPr lang="vi-VN"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đường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ống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nóng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của</a:t>
            </a:r>
            <a:r>
              <a:rPr lang="vi-VN"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bình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điện</a:t>
            </a:r>
            <a:r>
              <a:rPr lang="vi-VN"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để</a:t>
            </a:r>
            <a:r>
              <a:rPr lang="vi-VN" sz="18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sử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dụng </a:t>
            </a:r>
            <a:r>
              <a:rPr lang="vi-VN" sz="1800" spc="-10" dirty="0">
                <a:latin typeface="Calibri" panose="020F0502020204030204"/>
                <a:cs typeface="Calibri" panose="020F0502020204030204"/>
              </a:rPr>
              <a:t>(bình</a:t>
            </a:r>
            <a:r>
              <a:rPr lang="vi-VN" sz="1800" spc="50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điện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có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khả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năng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bảo</a:t>
            </a:r>
            <a:r>
              <a:rPr lang="vi-VN"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ôn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giữ</a:t>
            </a:r>
            <a:r>
              <a:rPr lang="vi-VN"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nhiệt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trong</a:t>
            </a:r>
            <a:r>
              <a:rPr lang="vi-VN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spc="-25" dirty="0">
                <a:latin typeface="Calibri" panose="020F0502020204030204"/>
                <a:cs typeface="Calibri" panose="020F0502020204030204"/>
              </a:rPr>
              <a:t>một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thời</a:t>
            </a:r>
            <a:r>
              <a:rPr lang="vi-VN"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gian</a:t>
            </a:r>
            <a:r>
              <a:rPr lang="vi-VN"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để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giúp</a:t>
            </a:r>
            <a:r>
              <a:rPr lang="vi-VN"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ta</a:t>
            </a:r>
            <a:r>
              <a:rPr lang="vi-VN" sz="18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sử</a:t>
            </a:r>
            <a:r>
              <a:rPr lang="vi-VN"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dụng</a:t>
            </a:r>
            <a:r>
              <a:rPr lang="vi-VN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nếu</a:t>
            </a:r>
            <a:r>
              <a:rPr lang="vi-VN"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dirty="0">
                <a:latin typeface="Calibri" panose="020F0502020204030204"/>
                <a:cs typeface="Calibri" panose="020F0502020204030204"/>
              </a:rPr>
              <a:t>như</a:t>
            </a:r>
            <a:r>
              <a:rPr lang="vi-VN"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vi-VN" sz="1800" spc="-25" dirty="0">
                <a:latin typeface="Calibri" panose="020F0502020204030204"/>
                <a:cs typeface="Calibri" panose="020F0502020204030204"/>
              </a:rPr>
              <a:t>hết </a:t>
            </a:r>
            <a:r>
              <a:rPr lang="vi-VN" sz="1800" spc="-10" dirty="0">
                <a:latin typeface="Calibri" panose="020F0502020204030204"/>
                <a:cs typeface="Calibri" panose="020F0502020204030204"/>
              </a:rPr>
              <a:t>nắng)</a:t>
            </a:r>
            <a:endParaRPr lang="vi-VN" sz="1800" dirty="0">
              <a:latin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82087406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2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2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3" dur="2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A80BC864-58F5-13F5-4BB1-AB9F43833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 dirty="0">
                <a:latin typeface="VNF-Caviar Dreams" panose="02000503020000020003" pitchFamily="2" charset="0"/>
              </a:rPr>
              <a:t>SƠ ĐỒ LẮP ĐẶT</a:t>
            </a:r>
            <a:endParaRPr lang="vi-VN" dirty="0"/>
          </a:p>
        </p:txBody>
      </p:sp>
      <p:sp>
        <p:nvSpPr>
          <p:cNvPr id="4" name="object 6">
            <a:extLst>
              <a:ext uri="{FF2B5EF4-FFF2-40B4-BE49-F238E27FC236}">
                <a16:creationId xmlns:a16="http://schemas.microsoft.com/office/drawing/2014/main" id="{8E7614A5-6369-6E0E-249E-5AB322E8C2E6}"/>
              </a:ext>
            </a:extLst>
          </p:cNvPr>
          <p:cNvSpPr txBox="1"/>
          <p:nvPr/>
        </p:nvSpPr>
        <p:spPr>
          <a:xfrm>
            <a:off x="2167910" y="1934414"/>
            <a:ext cx="7917139" cy="3939924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0"/>
              </a:spcBef>
            </a:pPr>
            <a:r>
              <a:rPr sz="2000" b="1" dirty="0">
                <a:latin typeface="Calibri" panose="020F0502020204030204"/>
                <a:cs typeface="Calibri" panose="020F0502020204030204"/>
              </a:rPr>
              <a:t>Ở</a:t>
            </a:r>
            <a:r>
              <a:rPr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b="1" dirty="0">
                <a:latin typeface="Calibri" panose="020F0502020204030204"/>
                <a:cs typeface="Calibri" panose="020F0502020204030204"/>
              </a:rPr>
              <a:t>phòng</a:t>
            </a:r>
            <a:r>
              <a:rPr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b="1" dirty="0">
                <a:latin typeface="Calibri" panose="020F0502020204030204"/>
                <a:cs typeface="Calibri" panose="020F0502020204030204"/>
              </a:rPr>
              <a:t>tắm</a:t>
            </a:r>
            <a:r>
              <a:rPr sz="20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b="1" spc="-50" dirty="0">
                <a:latin typeface="Calibri" panose="020F0502020204030204"/>
                <a:cs typeface="Calibri" panose="020F0502020204030204"/>
              </a:rPr>
              <a:t>2</a:t>
            </a:r>
            <a:endParaRPr sz="2000" dirty="0">
              <a:latin typeface="Calibri" panose="020F0502020204030204"/>
              <a:cs typeface="Calibri" panose="020F0502020204030204"/>
            </a:endParaRPr>
          </a:p>
          <a:p>
            <a:pPr marL="12700" marR="5080" indent="105410">
              <a:lnSpc>
                <a:spcPct val="110000"/>
              </a:lnSpc>
              <a:spcBef>
                <a:spcPts val="5"/>
              </a:spcBef>
              <a:buChar char="-"/>
              <a:tabLst>
                <a:tab pos="118110" algn="l"/>
              </a:tabLst>
            </a:pPr>
            <a:r>
              <a:rPr sz="2000" dirty="0">
                <a:latin typeface="Calibri" panose="020F0502020204030204"/>
                <a:cs typeface="Calibri" panose="020F0502020204030204"/>
              </a:rPr>
              <a:t>Cách</a:t>
            </a:r>
            <a:r>
              <a:rPr sz="20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lắp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đặt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các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đường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dẫn</a:t>
            </a:r>
            <a:r>
              <a:rPr sz="20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ở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phòng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tắm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2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như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phòng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tắm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1,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điểm</a:t>
            </a:r>
            <a:r>
              <a:rPr sz="20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khác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là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ở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các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đường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cấp</a:t>
            </a:r>
            <a:r>
              <a:rPr sz="20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nóng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và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lạnh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trên </a:t>
            </a:r>
            <a:r>
              <a:rPr sz="2000" dirty="0">
                <a:latin typeface="Calibri" panose="020F0502020204030204"/>
                <a:cs typeface="Calibri" panose="020F0502020204030204"/>
              </a:rPr>
              <a:t>đường</a:t>
            </a:r>
            <a:r>
              <a:rPr sz="20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dẫn nước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nóng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có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thêm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2 rắc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co</a:t>
            </a:r>
            <a:r>
              <a:rPr sz="20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ở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các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đầu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vào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ra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của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bình</a:t>
            </a:r>
            <a:r>
              <a:rPr sz="20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nóng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lạnh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để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khi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không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sử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dụng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đến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nước </a:t>
            </a:r>
            <a:r>
              <a:rPr sz="2000" dirty="0">
                <a:latin typeface="Calibri" panose="020F0502020204030204"/>
                <a:cs typeface="Calibri" panose="020F0502020204030204"/>
              </a:rPr>
              <a:t>nóng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có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thể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khóa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lại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để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chỉ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sử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dụng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nước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lạnh.</a:t>
            </a:r>
            <a:endParaRPr sz="2000" dirty="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000" b="1" dirty="0">
                <a:latin typeface="Calibri" panose="020F0502020204030204"/>
                <a:cs typeface="Calibri" panose="020F0502020204030204"/>
              </a:rPr>
              <a:t>Ở</a:t>
            </a:r>
            <a:r>
              <a:rPr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b="1" dirty="0">
                <a:latin typeface="Calibri" panose="020F0502020204030204"/>
                <a:cs typeface="Calibri" panose="020F0502020204030204"/>
              </a:rPr>
              <a:t>phòng</a:t>
            </a:r>
            <a:r>
              <a:rPr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b="1" spc="-25" dirty="0">
                <a:latin typeface="Calibri" panose="020F0502020204030204"/>
                <a:cs typeface="Calibri" panose="020F0502020204030204"/>
              </a:rPr>
              <a:t>bếp</a:t>
            </a:r>
            <a:endParaRPr sz="2000" dirty="0">
              <a:latin typeface="Calibri" panose="020F0502020204030204"/>
              <a:cs typeface="Calibri" panose="020F0502020204030204"/>
            </a:endParaRPr>
          </a:p>
          <a:p>
            <a:pPr marL="12700" marR="179070" indent="74930">
              <a:lnSpc>
                <a:spcPct val="110000"/>
              </a:lnSpc>
              <a:buChar char="-"/>
              <a:tabLst>
                <a:tab pos="87630" algn="l"/>
              </a:tabLst>
            </a:pPr>
            <a:r>
              <a:rPr sz="2000" dirty="0">
                <a:latin typeface="Calibri" panose="020F0502020204030204"/>
                <a:cs typeface="Calibri" panose="020F0502020204030204"/>
              </a:rPr>
              <a:t>Đường</a:t>
            </a:r>
            <a:r>
              <a:rPr sz="20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nước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từ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bình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năng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lượng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được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chảy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trực</a:t>
            </a:r>
            <a:r>
              <a:rPr sz="20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tiếp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tới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vòi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để</a:t>
            </a:r>
            <a:r>
              <a:rPr sz="20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sử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dụng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nước</a:t>
            </a:r>
            <a:r>
              <a:rPr sz="20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nóng,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nước</a:t>
            </a:r>
            <a:r>
              <a:rPr sz="20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lạnh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từ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bồn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được </a:t>
            </a:r>
            <a:r>
              <a:rPr sz="2000" dirty="0">
                <a:latin typeface="Calibri" panose="020F0502020204030204"/>
                <a:cs typeface="Calibri" panose="020F0502020204030204"/>
              </a:rPr>
              <a:t>dùng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trực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tiếp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theo</a:t>
            </a:r>
            <a:r>
              <a:rPr sz="2000" spc="-25" dirty="0">
                <a:latin typeface="Calibri" panose="020F0502020204030204"/>
                <a:cs typeface="Calibri" panose="020F0502020204030204"/>
              </a:rPr>
              <a:t> ống</a:t>
            </a:r>
            <a:endParaRPr sz="2000" dirty="0">
              <a:latin typeface="Calibri" panose="020F0502020204030204"/>
              <a:cs typeface="Calibri" panose="020F0502020204030204"/>
            </a:endParaRPr>
          </a:p>
          <a:p>
            <a:pPr marL="12700" marR="88900" indent="105410">
              <a:lnSpc>
                <a:spcPts val="1450"/>
              </a:lnSpc>
              <a:spcBef>
                <a:spcPts val="60"/>
              </a:spcBef>
              <a:buChar char="-"/>
              <a:tabLst>
                <a:tab pos="118110" algn="l"/>
              </a:tabLst>
            </a:pPr>
            <a:endParaRPr lang="vi-VN" sz="2000" dirty="0">
              <a:latin typeface="Calibri" panose="020F0502020204030204"/>
              <a:cs typeface="Calibri" panose="020F0502020204030204"/>
            </a:endParaRPr>
          </a:p>
          <a:p>
            <a:pPr marL="12700" marR="88900" indent="105410">
              <a:lnSpc>
                <a:spcPts val="1450"/>
              </a:lnSpc>
              <a:spcBef>
                <a:spcPts val="60"/>
              </a:spcBef>
              <a:buChar char="-"/>
              <a:tabLst>
                <a:tab pos="118110" algn="l"/>
              </a:tabLst>
            </a:pPr>
            <a:r>
              <a:rPr sz="2000" dirty="0" err="1">
                <a:latin typeface="Calibri" panose="020F0502020204030204"/>
                <a:cs typeface="Calibri" panose="020F0502020204030204"/>
              </a:rPr>
              <a:t>Ưu</a:t>
            </a:r>
            <a:r>
              <a:rPr sz="20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điểm</a:t>
            </a:r>
            <a:r>
              <a:rPr sz="20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của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việc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sử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dụng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nước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nóng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từ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bình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năng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lượng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là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giúp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không </a:t>
            </a:r>
            <a:r>
              <a:rPr sz="2000" dirty="0" err="1">
                <a:latin typeface="Calibri" panose="020F0502020204030204"/>
                <a:cs typeface="Calibri" panose="020F0502020204030204"/>
              </a:rPr>
              <a:t>tốn</a:t>
            </a:r>
            <a:r>
              <a:rPr sz="2000" spc="-30" dirty="0">
                <a:latin typeface="Calibri" panose="020F0502020204030204"/>
                <a:cs typeface="Calibri" panose="020F0502020204030204"/>
              </a:rPr>
              <a:t> </a:t>
            </a:r>
            <a:endParaRPr lang="vi-VN" sz="2000" spc="-30" dirty="0">
              <a:latin typeface="Calibri" panose="020F0502020204030204"/>
              <a:cs typeface="Calibri" panose="020F0502020204030204"/>
            </a:endParaRPr>
          </a:p>
          <a:p>
            <a:pPr marL="12700" marR="88900">
              <a:lnSpc>
                <a:spcPts val="1450"/>
              </a:lnSpc>
              <a:spcBef>
                <a:spcPts val="60"/>
              </a:spcBef>
              <a:tabLst>
                <a:tab pos="118110" algn="l"/>
              </a:tabLst>
            </a:pPr>
            <a:endParaRPr lang="vi-VN" sz="2000" dirty="0">
              <a:latin typeface="Calibri" panose="020F0502020204030204"/>
              <a:cs typeface="Calibri" panose="020F0502020204030204"/>
            </a:endParaRPr>
          </a:p>
          <a:p>
            <a:pPr marL="12700" marR="88900">
              <a:lnSpc>
                <a:spcPts val="1450"/>
              </a:lnSpc>
              <a:spcBef>
                <a:spcPts val="60"/>
              </a:spcBef>
              <a:tabLst>
                <a:tab pos="118110" algn="l"/>
              </a:tabLst>
            </a:pPr>
            <a:r>
              <a:rPr sz="2000" dirty="0" err="1">
                <a:latin typeface="Calibri" panose="020F0502020204030204"/>
                <a:cs typeface="Calibri" panose="020F0502020204030204"/>
              </a:rPr>
              <a:t>kém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và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diện</a:t>
            </a:r>
            <a:r>
              <a:rPr sz="20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tích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phòng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bếp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rộng </a:t>
            </a:r>
            <a:r>
              <a:rPr sz="2000" dirty="0">
                <a:latin typeface="Calibri" panose="020F0502020204030204"/>
                <a:cs typeface="Calibri" panose="020F0502020204030204"/>
              </a:rPr>
              <a:t>hơn</a:t>
            </a:r>
            <a:r>
              <a:rPr sz="2000" spc="20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Nhược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điểm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là</a:t>
            </a:r>
            <a:r>
              <a:rPr sz="20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vào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những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ngày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 err="1">
                <a:latin typeface="Calibri" panose="020F0502020204030204"/>
                <a:cs typeface="Calibri" panose="020F0502020204030204"/>
              </a:rPr>
              <a:t>nắng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 </a:t>
            </a:r>
            <a:endParaRPr lang="vi-VN" sz="2000" spc="-20" dirty="0">
              <a:latin typeface="Calibri" panose="020F0502020204030204"/>
              <a:cs typeface="Calibri" panose="020F0502020204030204"/>
            </a:endParaRPr>
          </a:p>
          <a:p>
            <a:pPr marL="12700" marR="88900">
              <a:lnSpc>
                <a:spcPts val="1450"/>
              </a:lnSpc>
              <a:spcBef>
                <a:spcPts val="60"/>
              </a:spcBef>
              <a:tabLst>
                <a:tab pos="118110" algn="l"/>
              </a:tabLst>
            </a:pPr>
            <a:endParaRPr lang="vi-VN" sz="2000" spc="-20" dirty="0">
              <a:latin typeface="Calibri" panose="020F0502020204030204"/>
              <a:cs typeface="Calibri" panose="020F0502020204030204"/>
            </a:endParaRPr>
          </a:p>
          <a:p>
            <a:pPr marL="12700" marR="88900">
              <a:lnSpc>
                <a:spcPts val="1450"/>
              </a:lnSpc>
              <a:spcBef>
                <a:spcPts val="60"/>
              </a:spcBef>
              <a:tabLst>
                <a:tab pos="118110" algn="l"/>
              </a:tabLst>
            </a:pPr>
            <a:r>
              <a:rPr sz="2000" dirty="0" err="1">
                <a:latin typeface="Calibri" panose="020F0502020204030204"/>
                <a:cs typeface="Calibri" panose="020F0502020204030204"/>
              </a:rPr>
              <a:t>ít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thì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phải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dùng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nước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lạnh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từ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25" dirty="0">
                <a:latin typeface="Calibri" panose="020F0502020204030204"/>
                <a:cs typeface="Calibri" panose="020F0502020204030204"/>
              </a:rPr>
              <a:t>bồn</a:t>
            </a:r>
            <a:endParaRPr sz="2000" dirty="0">
              <a:latin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94543734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57DB09E-9828-18D5-BE7F-BC49DE5F8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sz="3000" b="1" dirty="0">
                <a:latin typeface="VNF-Caviar Dreams" panose="02000503020000020003" pitchFamily="2" charset="0"/>
              </a:rPr>
              <a:t>MỘT SỐ CÁCH NÂNG CAO KHẢ NĂNG GIỮ NHIỆT CỦA BÌNH</a:t>
            </a:r>
            <a:endParaRPr lang="vi-VN" sz="3000" dirty="0"/>
          </a:p>
        </p:txBody>
      </p:sp>
      <p:pic>
        <p:nvPicPr>
          <p:cNvPr id="4098" name="Picture 2" descr="Bình bảo ôn máy năng lượng mặt trời Olympic">
            <a:extLst>
              <a:ext uri="{FF2B5EF4-FFF2-40B4-BE49-F238E27FC236}">
                <a16:creationId xmlns:a16="http://schemas.microsoft.com/office/drawing/2014/main" id="{B7F3B9D7-6A53-6686-6758-F3DD414F75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0533" y="1863195"/>
            <a:ext cx="2925147" cy="4296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4ED997E5-DD73-B7A4-2CC2-B4B84DB5128E}"/>
              </a:ext>
            </a:extLst>
          </p:cNvPr>
          <p:cNvSpPr txBox="1"/>
          <p:nvPr/>
        </p:nvSpPr>
        <p:spPr>
          <a:xfrm>
            <a:off x="1097280" y="2601760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Bình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nước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nóng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thường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thép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gỉ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nhôm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ôn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mỏng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hơn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Bình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thường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van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nước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van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xả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nước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bình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còn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vòi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phun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nước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sưởi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nước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nâng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bình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96577472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513A1D8-1734-8392-652B-6501A3096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sz="3000" b="1" dirty="0">
                <a:latin typeface="VNF-Caviar Dreams" panose="02000503020000020003" pitchFamily="2" charset="0"/>
              </a:rPr>
              <a:t>MỘT SỐ CÁCH NÂNG CAO KHẢ NĂNG GIỮ NHIỆT CỦA BÌNH</a:t>
            </a:r>
            <a:endParaRPr lang="vi-VN" sz="3000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8E68D62A-1B85-5186-28F2-3AA577F19F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1" y="2369575"/>
            <a:ext cx="5059680" cy="2959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BA952A98-0098-F439-96A9-0AFC040E2F69}"/>
              </a:ext>
            </a:extLst>
          </p:cNvPr>
          <p:cNvSpPr txBox="1"/>
          <p:nvPr/>
        </p:nvSpPr>
        <p:spPr>
          <a:xfrm>
            <a:off x="1058688" y="2015612"/>
            <a:ext cx="449924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chịu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inox.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ngoài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chống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nóng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âm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bề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mặt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Mặt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phủ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chống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dính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tránh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cặn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nước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muốn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nước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nóng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dài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hãy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chặt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nắp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nóng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thoát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ngoài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8351793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182F1DBA-DA90-8BE9-529E-A2078DF0D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sz="3000" b="1" dirty="0">
                <a:latin typeface="VNF-Caviar Dreams" panose="02000503020000020003" pitchFamily="2" charset="0"/>
              </a:rPr>
              <a:t>MỘT SỐ CÁCH NÂNG CAO KHẢ NĂNG GIỮ NHIỆT CỦA BÌNH</a:t>
            </a:r>
            <a:endParaRPr lang="vi-VN" sz="3000" dirty="0"/>
          </a:p>
        </p:txBody>
      </p:sp>
      <p:pic>
        <p:nvPicPr>
          <p:cNvPr id="6146" name="Picture 2" descr="Thường xuyên vệ sinh bồn chứa nước">
            <a:extLst>
              <a:ext uri="{FF2B5EF4-FFF2-40B4-BE49-F238E27FC236}">
                <a16:creationId xmlns:a16="http://schemas.microsoft.com/office/drawing/2014/main" id="{F6B8D028-0764-BC81-F4D5-96AEB2165A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" y="2487562"/>
            <a:ext cx="4616112" cy="2429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575FF96C-5140-CC42-6FA0-3840D3F59B80}"/>
              </a:ext>
            </a:extLst>
          </p:cNvPr>
          <p:cNvSpPr txBox="1"/>
          <p:nvPr/>
        </p:nvSpPr>
        <p:spPr>
          <a:xfrm>
            <a:off x="6652506" y="2132569"/>
            <a:ext cx="450317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ôn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thủy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vùng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xúc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nước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xoay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cặn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nước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(Ag)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titan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tránh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cặn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2165604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067E0580-B88B-5EB6-0B69-BF1144FD6834}"/>
              </a:ext>
            </a:extLst>
          </p:cNvPr>
          <p:cNvSpPr txBox="1"/>
          <p:nvPr/>
        </p:nvSpPr>
        <p:spPr>
          <a:xfrm>
            <a:off x="1524000" y="3167390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800" b="1" dirty="0">
                <a:latin typeface="Bahnschrift SemiBold" panose="020B0502040204020203" pitchFamily="34" charset="0"/>
              </a:rPr>
              <a:t>CẢM ƠN TẤT CẢ CÁC BẠN VÀ THẦY CÔ ĐÃ LẮNG NGHE!</a:t>
            </a:r>
            <a:endParaRPr lang="vi-VN" sz="2800" dirty="0">
              <a:latin typeface="Bahnschrift SemiBold" panose="020B0502040204020203" pitchFamily="34" charset="0"/>
            </a:endParaRPr>
          </a:p>
        </p:txBody>
      </p:sp>
      <p:pic>
        <p:nvPicPr>
          <p:cNvPr id="7170" name="Picture 2" descr="via GIPHY | Fireworks gif, Overlays picsart, Fireworks animation">
            <a:extLst>
              <a:ext uri="{FF2B5EF4-FFF2-40B4-BE49-F238E27FC236}">
                <a16:creationId xmlns:a16="http://schemas.microsoft.com/office/drawing/2014/main" id="{B2F56AFA-CDD7-FB99-F8F0-430F2A28A2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444" y="-618664"/>
            <a:ext cx="10881111" cy="7004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0603913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Hoài niệm">
  <a:themeElements>
    <a:clrScheme name="Hoài niệm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Hoài niệm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oài niệm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725</TotalTime>
  <Words>2143</Words>
  <Application>Microsoft Office PowerPoint</Application>
  <PresentationFormat>Màn hình rộng</PresentationFormat>
  <Paragraphs>93</Paragraphs>
  <Slides>22</Slides>
  <Notes>0</Notes>
  <HiddenSlides>0</HiddenSlides>
  <MMClips>1</MMClips>
  <ScaleCrop>false</ScaleCrop>
  <HeadingPairs>
    <vt:vector size="6" baseType="variant">
      <vt:variant>
        <vt:lpstr>Phông được Dùng</vt:lpstr>
      </vt:variant>
      <vt:variant>
        <vt:i4>7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22</vt:i4>
      </vt:variant>
    </vt:vector>
  </HeadingPairs>
  <TitlesOfParts>
    <vt:vector size="30" baseType="lpstr">
      <vt:lpstr>Arial</vt:lpstr>
      <vt:lpstr>Arial Nova Cond</vt:lpstr>
      <vt:lpstr>Bahnschrift SemiBold</vt:lpstr>
      <vt:lpstr>Calibri</vt:lpstr>
      <vt:lpstr>Calibri Light</vt:lpstr>
      <vt:lpstr>Times New Roman</vt:lpstr>
      <vt:lpstr>VNF-Caviar Dreams</vt:lpstr>
      <vt:lpstr>Hoài niệm</vt:lpstr>
      <vt:lpstr>Bài thuyết trình Tư duy Vật lý kỹ thuật 2  Máy nước nóng năng lượng mặt trời ống dầu </vt:lpstr>
      <vt:lpstr>TỔNG QUAN</vt:lpstr>
      <vt:lpstr>GIỚI THIỆU THÀNH VIÊN </vt:lpstr>
      <vt:lpstr>CẤU TẠO VÀ NGUYÊN LÝ HOẠT ĐỘNG</vt:lpstr>
      <vt:lpstr>CẤU TẠO</vt:lpstr>
      <vt:lpstr>BỘ PHẬN HẤP THỤ NHIỆT</vt:lpstr>
      <vt:lpstr>BÌNH BẢO ÔN</vt:lpstr>
      <vt:lpstr>GIÁ ĐỠ</vt:lpstr>
      <vt:lpstr>CẤU TẠO VÀ NGUYÊN LÝ HOẠT ĐỘNG CỦA ỐNG CHÂN KHÔNG THU NHIỆT</vt:lpstr>
      <vt:lpstr>CẤU TẠO ỐNG CHÂN KHÔNG THU NHIỆT </vt:lpstr>
      <vt:lpstr>NGUYÊN LÝ ỐNG CHÂN KHÔNG THU NHIỆT</vt:lpstr>
      <vt:lpstr>Bản trình bày PowerPoint</vt:lpstr>
      <vt:lpstr>Bản trình bày PowerPoint</vt:lpstr>
      <vt:lpstr>CẤU TẠO BÌNH CHỨA NƯỚC NÓNG</vt:lpstr>
      <vt:lpstr>Bản trình bày PowerPoint</vt:lpstr>
      <vt:lpstr>SƠ ĐỒ LẮP ĐẶT</vt:lpstr>
      <vt:lpstr>SƠ ĐỒ LẮP ĐẶT</vt:lpstr>
      <vt:lpstr>SƠ ĐỒ LẮP ĐẶT</vt:lpstr>
      <vt:lpstr>MỘT SỐ CÁCH NÂNG CAO KHẢ NĂNG GIỮ NHIỆT CỦA BÌNH</vt:lpstr>
      <vt:lpstr>MỘT SỐ CÁCH NÂNG CAO KHẢ NĂNG GIỮ NHIỆT CỦA BÌNH</vt:lpstr>
      <vt:lpstr>MỘT SỐ CÁCH NÂNG CAO KHẢ NĂNG GIỮ NHIỆT CỦA BÌNH</vt:lpstr>
      <vt:lpstr>Bản trình bày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Bài thuyết trình Tư duy Vật lý kỹ thuật 2  Máy nước nóng bằng năng lượng mặt trời</dc:title>
  <dc:creator>Lã Minh Khánh</dc:creator>
  <cp:lastModifiedBy>Lã Minh Khánh</cp:lastModifiedBy>
  <cp:revision>2</cp:revision>
  <dcterms:created xsi:type="dcterms:W3CDTF">2023-03-30T02:18:59Z</dcterms:created>
  <dcterms:modified xsi:type="dcterms:W3CDTF">2023-03-30T14:25:20Z</dcterms:modified>
</cp:coreProperties>
</file>